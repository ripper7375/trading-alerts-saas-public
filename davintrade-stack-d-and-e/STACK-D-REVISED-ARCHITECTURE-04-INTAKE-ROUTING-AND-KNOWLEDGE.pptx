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4 of the section series. From here on, work happens per user question and only reads the cycle snapshot that Sections 1-3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is the first per-question section. It never recomputes market readings; it selects from the latest complete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file A §3 pillar 1 (gating: PRO tier, Redis token quota, active thread XAUUSD) and pillar 2 (Engine 4 profile); §4.4 (router_compiler.py compiles TRADING_ROUTER.md from mcdX_output.json, under 5 KB and 300 bytes per module; dispatch = 0.60 x Embed(question) + 0.40 x Embed(live commentary); cosine &gt;= 0.72 or top 3; MCD1 included when direction matters); §4.5 (five knowledge domains; build: split Markdown on ## / ###, YAML front-matter mcd_id, domain, timeframe, strategy_tag, scenario_id; all-MiniLM embeddings; Faiss HNSW + SQLite; request: metadata pre-filter, then BM25 + dense 70/30, top 3-5, 1,500-2,500 tokens). File D §6: instant prompts INSTANT_M5_INSPECT and INSTANT_M15_INSPECT bypass the ambiguity clarification gate; §6.2 scope guardrail for symbols other than XAUUSD and timeframes other than M5 / M15. Seed RAG design §2.4: the retrieval query is constructed from context, not the user’s raw chat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1 file A line 464 (all-MiniLM) and the 16 app languages. 2 file A lines 332-359 (alpha, theta) and lines 305-306 (router rows for MCD2 / MCD3 describe modules that were not built). 3 router keeps cosine &gt;= 0.72 or top 3. 4 txtai embeddings/base.py search() has no filter argument; file A lines 369 and 490 use different domain names. 5 knowledge-corpus folders exist only in the planned file tree. 6 file A line 487 passes query=user_prompt. 7 file A pillar 1 checks tier and quota, not data freshness; the trader type selects the synthesis view since decision 028. 8 entitlements: file A (PRO only), D (Free 50k tokens), I (Free 20 queries/day), deployed UI (conversational AI PRO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before step 5 is cheap and deterministic except one small model call (step 2), which returns language, English text, intent and any symbols or timeframes mentioned in one JSON reply. Steps 5-8 only read the cycle snapshot. Nothing here writes market data or re-runs a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pivot: one English corpus and one index serve all 16 languages, and the knowledge you write once is the knowledge every user gets. The glossary keeps trading terms stable across languages, which matters for both routing and the final answer. Section 5 writes the answer in the detected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from the 18 Sep example cycle (test data) for a Day Trader. Each line is the envelope’s status plus summary_line (decision 017), about 30-50 tokens; fifteen sensors plus synthesis is roughly 600-800 tokens. The board answers "what does every sensor say?"; M* only decides which sensors also get their full reading and which knowledge chunks are retrieved.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dispatch matrix replaces vector routing for version 1. It is a small versioned table like the synthesis rules. Vector routing can be added later as a tie-breaker only if it beats the rules on the labelled question set. Report 2 requests bypass the LLM routing entirely and open the Section 6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follows the seed RAG design (whole sections; merge under 200 tokens, split over 1,500). The index is rebuilt on every deploy as local txtai files (decision 005) and gets a build id that travels with every retrieved chunk. The content of D2 and D3 is trading know-how, so each domain is approved by you before its first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txtai’s search signature is search(query, limit, weights, index, parameters, graph): there is no filter argument, so filtering is done in SQL alongside similar(). Bind parameters carry the query text and each whitelisted id. The retrieval query is constructed (seed RAG design) from an intent template, the relevant state codes and the English question. Before encoding file A’s 70/30 hybrid weighting, check which side txtai’s weights value applies to in the installed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labelled set is the single test asset for Sections 4 and 5: each question has its expected intent, expected M*, and the chunk ids a good answer needs. Thresholds are starting values (decision 4.9), to raise as the corpus matures.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revised intake, routing and knowledge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intake packet is the single input to Section 5’s prompt assembler; Section 5 does not reach back into market tables or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eleven were settled on 29 Sep by adopting the suggestion; they are entries 036-046 in the decision log. 4.4 keeps latency to one round trip. 4.7: each knowledge domain is approved by you before its first build. 4.9 thresholds are starting values and can be tightened after the first full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checks for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640080" y="1188720"/>
            <a:ext cx="6583680" cy="274320"/>
          </a:xfrm>
          <a:prstGeom prst="rect">
            <a:avLst/>
          </a:prstGeom>
          <a:noFill/>
          <a:ln/>
        </p:spPr>
        <p:txBody>
          <a:bodyPr wrap="square" lIns="0" tIns="0" rIns="0" bIns="0" rtlCol="0" anchor="t"/>
          <a:lstStyle/>
          <a:p>
            <a:pPr indent="0" marL="0">
              <a:buNone/>
            </a:pPr>
            <a:r>
              <a:rPr lang="en-US" sz="1200" b="1" spc="300" kern="0" dirty="0">
                <a:solidFill>
                  <a:srgbClr val="E2B54E"/>
                </a:solidFill>
                <a:latin typeface="Calibri" pitchFamily="34" charset="0"/>
                <a:ea typeface="Calibri" pitchFamily="34" charset="-122"/>
                <a:cs typeface="Calibri" pitchFamily="34" charset="-120"/>
              </a:rPr>
              <a:t>STACK D  ·  REVISED ARCHITECTURE  ·  DECK 4 OF 7</a:t>
            </a:r>
            <a:endParaRPr lang="en-US" sz="1200" dirty="0"/>
          </a:p>
        </p:txBody>
      </p:sp>
      <p:sp>
        <p:nvSpPr>
          <p:cNvPr id="3" name="Text 1"/>
          <p:cNvSpPr txBox="1"/>
          <p:nvPr/>
        </p:nvSpPr>
        <p:spPr>
          <a:xfrm>
            <a:off x="640080" y="1572768"/>
            <a:ext cx="6035040" cy="1554480"/>
          </a:xfrm>
          <a:prstGeom prst="rect">
            <a:avLst/>
          </a:prstGeom>
          <a:noFill/>
          <a:ln/>
        </p:spPr>
        <p:txBody>
          <a:bodyPr wrap="square" lIns="0" tIns="0" rIns="0" bIns="0" rtlCol="0" anchor="t"/>
          <a:lstStyle/>
          <a:p>
            <a:pPr indent="0" marL="0">
              <a:buNone/>
            </a:pPr>
            <a:r>
              <a:rPr lang="en-US" sz="4000" b="1" dirty="0">
                <a:solidFill>
                  <a:srgbClr val="EEF1F4"/>
                </a:solidFill>
                <a:latin typeface="Cambria" pitchFamily="34" charset="0"/>
                <a:ea typeface="Cambria" pitchFamily="34" charset="-122"/>
                <a:cs typeface="Cambria" pitchFamily="34" charset="-120"/>
              </a:rPr>
              <a:t>Section 4 · Intake, routing &amp; knowledge</a:t>
            </a:r>
            <a:endParaRPr lang="en-US" sz="4000" dirty="0"/>
          </a:p>
        </p:txBody>
      </p:sp>
      <p:sp>
        <p:nvSpPr>
          <p:cNvPr id="4" name="Text 2"/>
          <p:cNvSpPr txBox="1"/>
          <p:nvPr/>
        </p:nvSpPr>
        <p:spPr>
          <a:xfrm>
            <a:off x="640080" y="3291840"/>
            <a:ext cx="5760720" cy="1280160"/>
          </a:xfrm>
          <a:prstGeom prst="rect">
            <a:avLst/>
          </a:prstGeom>
          <a:noFill/>
          <a:ln/>
        </p:spPr>
        <p:txBody>
          <a:bodyPr wrap="square" lIns="0" tIns="0" rIns="0" bIns="0" rtlCol="0" anchor="t"/>
          <a:lstStyle/>
          <a:p>
            <a:pPr indent="0" marL="0">
              <a:buNone/>
            </a:pPr>
            <a:r>
              <a:rPr lang="en-US" sz="1700" dirty="0">
                <a:solidFill>
                  <a:srgbClr val="A3AEBB"/>
                </a:solidFill>
                <a:latin typeface="Calibri" pitchFamily="34" charset="0"/>
                <a:ea typeface="Calibri" pitchFamily="34" charset="-122"/>
                <a:cs typeface="Calibri" pitchFamily="34" charset="-120"/>
              </a:rPr>
              <a:t>The first half of every request: check who is asking and what they may use, understand the question in any of 16 languages, and gather exactly the sensors and knowledge it needs.</a:t>
            </a:r>
            <a:endParaRPr lang="en-US" sz="1700" dirty="0"/>
          </a:p>
        </p:txBody>
      </p:sp>
      <p:sp>
        <p:nvSpPr>
          <p:cNvPr id="5" name="Text 3"/>
          <p:cNvSpPr txBox="1"/>
          <p:nvPr/>
        </p:nvSpPr>
        <p:spPr>
          <a:xfrm>
            <a:off x="640080" y="4754880"/>
            <a:ext cx="5943600" cy="1371600"/>
          </a:xfrm>
          <a:prstGeom prst="rect">
            <a:avLst/>
          </a:prstGeom>
          <a:noFill/>
          <a:ln/>
        </p:spPr>
        <p:txBody>
          <a:bodyPr wrap="square" lIns="0" tIns="0" rIns="0" bIns="0" rtlCol="0" anchor="t"/>
          <a:lstStyle/>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Decisions 4.1–4.11 settled 29 September 2026</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Recommendations landing here: B1 · B3 (P1) · B2 · B4 · B5</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Builds on Sections 1–3 (settled 29 September)</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Sources: file A (Engine 1.5E, Engine 2, pillars 1–2) · file D §6 (instant prompts, scope guardrail) · txtai seed code · seed RAG design</a:t>
            </a:r>
            <a:endParaRPr lang="en-US" sz="1200" dirty="0"/>
          </a:p>
        </p:txBody>
      </p:sp>
      <p:sp>
        <p:nvSpPr>
          <p:cNvPr id="6" name="Shape 4"/>
          <p:cNvSpPr/>
          <p:nvPr/>
        </p:nvSpPr>
        <p:spPr>
          <a:xfrm>
            <a:off x="6903720" y="1188720"/>
            <a:ext cx="4846320" cy="1700784"/>
          </a:xfrm>
          <a:prstGeom prst="roundRect">
            <a:avLst>
              <a:gd name="adj" fmla="val 3226"/>
            </a:avLst>
          </a:prstGeom>
          <a:solidFill>
            <a:srgbClr val="15302D"/>
          </a:solidFill>
          <a:ln w="9525">
            <a:solidFill>
              <a:srgbClr val="15302D"/>
            </a:solidFill>
            <a:prstDash val="solid"/>
          </a:ln>
        </p:spPr>
      </p:sp>
      <p:sp>
        <p:nvSpPr>
          <p:cNvPr id="7" name="Text 5"/>
          <p:cNvSpPr txBox="1"/>
          <p:nvPr/>
        </p:nvSpPr>
        <p:spPr>
          <a:xfrm>
            <a:off x="7031736" y="1261872"/>
            <a:ext cx="3004718"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8" name="Text 6"/>
          <p:cNvSpPr txBox="1"/>
          <p:nvPr/>
        </p:nvSpPr>
        <p:spPr>
          <a:xfrm>
            <a:off x="9084564" y="1261872"/>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9" name="Shape 7"/>
          <p:cNvSpPr/>
          <p:nvPr/>
        </p:nvSpPr>
        <p:spPr>
          <a:xfrm>
            <a:off x="7031736" y="1554480"/>
            <a:ext cx="1347216" cy="1207008"/>
          </a:xfrm>
          <a:prstGeom prst="roundRect">
            <a:avLst>
              <a:gd name="adj" fmla="val 5303"/>
            </a:avLst>
          </a:prstGeom>
          <a:solidFill>
            <a:srgbClr val="161C24"/>
          </a:solidFill>
          <a:ln w="9525">
            <a:solidFill>
              <a:srgbClr val="161C24"/>
            </a:solidFill>
            <a:prstDash val="solid"/>
          </a:ln>
        </p:spPr>
      </p:sp>
      <p:sp>
        <p:nvSpPr>
          <p:cNvPr id="10" name="Shape 8"/>
          <p:cNvSpPr/>
          <p:nvPr/>
        </p:nvSpPr>
        <p:spPr>
          <a:xfrm>
            <a:off x="7123176" y="1965960"/>
            <a:ext cx="384048" cy="384048"/>
          </a:xfrm>
          <a:prstGeom prst="ellipse">
            <a:avLst/>
          </a:prstGeom>
          <a:solidFill>
            <a:srgbClr val="6E7A88"/>
          </a:solidFill>
          <a:ln w="15875">
            <a:solidFill>
              <a:srgbClr val="6E7A88"/>
            </a:solidFill>
            <a:prstDash val="solid"/>
          </a:ln>
        </p:spPr>
      </p:sp>
      <p:sp>
        <p:nvSpPr>
          <p:cNvPr id="11" name="Text 9"/>
          <p:cNvSpPr txBox="1"/>
          <p:nvPr/>
        </p:nvSpPr>
        <p:spPr>
          <a:xfrm>
            <a:off x="7123176"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598664"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Market data &amp; chart</a:t>
            </a:r>
            <a:endParaRPr lang="en-US" sz="1000" dirty="0"/>
          </a:p>
        </p:txBody>
      </p:sp>
      <p:sp>
        <p:nvSpPr>
          <p:cNvPr id="13" name="Shape 11"/>
          <p:cNvSpPr/>
          <p:nvPr/>
        </p:nvSpPr>
        <p:spPr>
          <a:xfrm>
            <a:off x="8415528" y="2157984"/>
            <a:ext cx="201168" cy="0"/>
          </a:xfrm>
          <a:prstGeom prst="line">
            <a:avLst/>
          </a:prstGeom>
          <a:noFill/>
          <a:ln w="15875">
            <a:solidFill>
              <a:srgbClr val="323C49"/>
            </a:solidFill>
            <a:prstDash val="solid"/>
            <a:tailEnd type="triangle"/>
          </a:ln>
        </p:spPr>
      </p:sp>
      <p:sp>
        <p:nvSpPr>
          <p:cNvPr id="14" name="Shape 12"/>
          <p:cNvSpPr/>
          <p:nvPr/>
        </p:nvSpPr>
        <p:spPr>
          <a:xfrm>
            <a:off x="8653272" y="1554480"/>
            <a:ext cx="1347216" cy="1207008"/>
          </a:xfrm>
          <a:prstGeom prst="roundRect">
            <a:avLst>
              <a:gd name="adj" fmla="val 5303"/>
            </a:avLst>
          </a:prstGeom>
          <a:solidFill>
            <a:srgbClr val="161C24"/>
          </a:solidFill>
          <a:ln w="9525">
            <a:solidFill>
              <a:srgbClr val="161C24"/>
            </a:solidFill>
            <a:prstDash val="solid"/>
          </a:ln>
        </p:spPr>
      </p:sp>
      <p:sp>
        <p:nvSpPr>
          <p:cNvPr id="15" name="Shape 13"/>
          <p:cNvSpPr/>
          <p:nvPr/>
        </p:nvSpPr>
        <p:spPr>
          <a:xfrm>
            <a:off x="8744712" y="1965960"/>
            <a:ext cx="384048" cy="384048"/>
          </a:xfrm>
          <a:prstGeom prst="ellipse">
            <a:avLst/>
          </a:prstGeom>
          <a:solidFill>
            <a:srgbClr val="6E7A88"/>
          </a:solidFill>
          <a:ln w="15875">
            <a:solidFill>
              <a:srgbClr val="6E7A88"/>
            </a:solidFill>
            <a:prstDash val="solid"/>
          </a:ln>
        </p:spPr>
      </p:sp>
      <p:sp>
        <p:nvSpPr>
          <p:cNvPr id="16" name="Text 14"/>
          <p:cNvSpPr txBox="1"/>
          <p:nvPr/>
        </p:nvSpPr>
        <p:spPr>
          <a:xfrm>
            <a:off x="8744712"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9220200"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Sensors (MCDs)</a:t>
            </a:r>
            <a:endParaRPr lang="en-US" sz="1000" dirty="0"/>
          </a:p>
        </p:txBody>
      </p:sp>
      <p:sp>
        <p:nvSpPr>
          <p:cNvPr id="18" name="Shape 16"/>
          <p:cNvSpPr/>
          <p:nvPr/>
        </p:nvSpPr>
        <p:spPr>
          <a:xfrm>
            <a:off x="10037064" y="2157984"/>
            <a:ext cx="201168" cy="0"/>
          </a:xfrm>
          <a:prstGeom prst="line">
            <a:avLst/>
          </a:prstGeom>
          <a:noFill/>
          <a:ln w="15875">
            <a:solidFill>
              <a:srgbClr val="323C49"/>
            </a:solidFill>
            <a:prstDash val="solid"/>
            <a:tailEnd type="triangle"/>
          </a:ln>
        </p:spPr>
      </p:sp>
      <p:sp>
        <p:nvSpPr>
          <p:cNvPr id="19" name="Shape 17"/>
          <p:cNvSpPr/>
          <p:nvPr/>
        </p:nvSpPr>
        <p:spPr>
          <a:xfrm>
            <a:off x="10274808" y="1554480"/>
            <a:ext cx="1347216" cy="1207008"/>
          </a:xfrm>
          <a:prstGeom prst="roundRect">
            <a:avLst>
              <a:gd name="adj" fmla="val 5303"/>
            </a:avLst>
          </a:prstGeom>
          <a:solidFill>
            <a:srgbClr val="161C24"/>
          </a:solidFill>
          <a:ln w="9525">
            <a:solidFill>
              <a:srgbClr val="161C24"/>
            </a:solidFill>
            <a:prstDash val="solid"/>
          </a:ln>
        </p:spPr>
      </p:sp>
      <p:sp>
        <p:nvSpPr>
          <p:cNvPr id="20" name="Shape 18"/>
          <p:cNvSpPr/>
          <p:nvPr/>
        </p:nvSpPr>
        <p:spPr>
          <a:xfrm>
            <a:off x="10366248" y="1965960"/>
            <a:ext cx="384048" cy="384048"/>
          </a:xfrm>
          <a:prstGeom prst="ellipse">
            <a:avLst/>
          </a:prstGeom>
          <a:solidFill>
            <a:srgbClr val="6E7A88"/>
          </a:solidFill>
          <a:ln w="15875">
            <a:solidFill>
              <a:srgbClr val="6E7A88"/>
            </a:solidFill>
            <a:prstDash val="solid"/>
          </a:ln>
        </p:spPr>
      </p:sp>
      <p:sp>
        <p:nvSpPr>
          <p:cNvPr id="21" name="Text 19"/>
          <p:cNvSpPr txBox="1"/>
          <p:nvPr/>
        </p:nvSpPr>
        <p:spPr>
          <a:xfrm>
            <a:off x="10366248"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10841736"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Synthesis &amp; entry zones</a:t>
            </a:r>
            <a:endParaRPr lang="en-US" sz="1000" dirty="0"/>
          </a:p>
        </p:txBody>
      </p:sp>
      <p:sp>
        <p:nvSpPr>
          <p:cNvPr id="23" name="Shape 21"/>
          <p:cNvSpPr/>
          <p:nvPr/>
        </p:nvSpPr>
        <p:spPr>
          <a:xfrm>
            <a:off x="6903720" y="3273552"/>
            <a:ext cx="4846320" cy="1700784"/>
          </a:xfrm>
          <a:prstGeom prst="roundRect">
            <a:avLst>
              <a:gd name="adj" fmla="val 3226"/>
            </a:avLst>
          </a:prstGeom>
          <a:solidFill>
            <a:srgbClr val="17243A"/>
          </a:solidFill>
          <a:ln w="9525">
            <a:solidFill>
              <a:srgbClr val="17243A"/>
            </a:solidFill>
            <a:prstDash val="solid"/>
          </a:ln>
        </p:spPr>
      </p:sp>
      <p:sp>
        <p:nvSpPr>
          <p:cNvPr id="24" name="Text 22"/>
          <p:cNvSpPr txBox="1"/>
          <p:nvPr/>
        </p:nvSpPr>
        <p:spPr>
          <a:xfrm>
            <a:off x="7031736" y="3346704"/>
            <a:ext cx="3004718"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5" name="Text 23"/>
          <p:cNvSpPr txBox="1"/>
          <p:nvPr/>
        </p:nvSpPr>
        <p:spPr>
          <a:xfrm>
            <a:off x="9084564" y="3346704"/>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6" name="Shape 24"/>
          <p:cNvSpPr/>
          <p:nvPr/>
        </p:nvSpPr>
        <p:spPr>
          <a:xfrm>
            <a:off x="7031736" y="3639312"/>
            <a:ext cx="1347216" cy="1207008"/>
          </a:xfrm>
          <a:prstGeom prst="roundRect">
            <a:avLst>
              <a:gd name="adj" fmla="val 5303"/>
            </a:avLst>
          </a:prstGeom>
          <a:solidFill>
            <a:srgbClr val="1D242E"/>
          </a:solidFill>
          <a:ln w="22225">
            <a:solidFill>
              <a:srgbClr val="E2B54E"/>
            </a:solidFill>
            <a:prstDash val="solid"/>
          </a:ln>
        </p:spPr>
      </p:sp>
      <p:sp>
        <p:nvSpPr>
          <p:cNvPr id="27" name="Shape 25"/>
          <p:cNvSpPr/>
          <p:nvPr/>
        </p:nvSpPr>
        <p:spPr>
          <a:xfrm>
            <a:off x="7123176" y="4050792"/>
            <a:ext cx="384048" cy="384048"/>
          </a:xfrm>
          <a:prstGeom prst="ellipse">
            <a:avLst/>
          </a:prstGeom>
          <a:solidFill>
            <a:srgbClr val="E2B54E"/>
          </a:solidFill>
          <a:ln w="15875">
            <a:solidFill>
              <a:srgbClr val="E2B54E"/>
            </a:solidFill>
            <a:prstDash val="solid"/>
          </a:ln>
        </p:spPr>
      </p:sp>
      <p:sp>
        <p:nvSpPr>
          <p:cNvPr id="28" name="Text 26"/>
          <p:cNvSpPr txBox="1"/>
          <p:nvPr/>
        </p:nvSpPr>
        <p:spPr>
          <a:xfrm>
            <a:off x="7123176"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29" name="Text 27"/>
          <p:cNvSpPr txBox="1"/>
          <p:nvPr/>
        </p:nvSpPr>
        <p:spPr>
          <a:xfrm>
            <a:off x="7598664" y="3639312"/>
            <a:ext cx="72542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Intake, routing &amp; knowledge</a:t>
            </a:r>
            <a:endParaRPr lang="en-US" sz="1000" dirty="0"/>
          </a:p>
        </p:txBody>
      </p:sp>
      <p:sp>
        <p:nvSpPr>
          <p:cNvPr id="30" name="Shape 28"/>
          <p:cNvSpPr/>
          <p:nvPr/>
        </p:nvSpPr>
        <p:spPr>
          <a:xfrm>
            <a:off x="8415528" y="4242816"/>
            <a:ext cx="201168" cy="0"/>
          </a:xfrm>
          <a:prstGeom prst="line">
            <a:avLst/>
          </a:prstGeom>
          <a:noFill/>
          <a:ln w="15875">
            <a:solidFill>
              <a:srgbClr val="7D8A99"/>
            </a:solidFill>
            <a:prstDash val="solid"/>
            <a:tailEnd type="triangle"/>
          </a:ln>
        </p:spPr>
      </p:sp>
      <p:sp>
        <p:nvSpPr>
          <p:cNvPr id="31" name="Shape 29"/>
          <p:cNvSpPr/>
          <p:nvPr/>
        </p:nvSpPr>
        <p:spPr>
          <a:xfrm>
            <a:off x="8653272" y="3639312"/>
            <a:ext cx="1347216" cy="1207008"/>
          </a:xfrm>
          <a:prstGeom prst="roundRect">
            <a:avLst>
              <a:gd name="adj" fmla="val 5303"/>
            </a:avLst>
          </a:prstGeom>
          <a:solidFill>
            <a:srgbClr val="161C24"/>
          </a:solidFill>
          <a:ln w="9525">
            <a:solidFill>
              <a:srgbClr val="161C24"/>
            </a:solidFill>
            <a:prstDash val="solid"/>
          </a:ln>
        </p:spPr>
      </p:sp>
      <p:sp>
        <p:nvSpPr>
          <p:cNvPr id="32" name="Shape 30"/>
          <p:cNvSpPr/>
          <p:nvPr/>
        </p:nvSpPr>
        <p:spPr>
          <a:xfrm>
            <a:off x="8744712" y="4050792"/>
            <a:ext cx="384048" cy="384048"/>
          </a:xfrm>
          <a:prstGeom prst="ellipse">
            <a:avLst/>
          </a:prstGeom>
          <a:solidFill>
            <a:srgbClr val="6E7A88"/>
          </a:solidFill>
          <a:ln w="15875">
            <a:solidFill>
              <a:srgbClr val="6E7A88"/>
            </a:solidFill>
            <a:prstDash val="solid"/>
          </a:ln>
        </p:spPr>
      </p:sp>
      <p:sp>
        <p:nvSpPr>
          <p:cNvPr id="33" name="Text 31"/>
          <p:cNvSpPr txBox="1"/>
          <p:nvPr/>
        </p:nvSpPr>
        <p:spPr>
          <a:xfrm>
            <a:off x="8744712"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4" name="Text 32"/>
          <p:cNvSpPr txBox="1"/>
          <p:nvPr/>
        </p:nvSpPr>
        <p:spPr>
          <a:xfrm>
            <a:off x="9220200"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Prompt &amp; AI reply</a:t>
            </a:r>
            <a:endParaRPr lang="en-US" sz="1000" dirty="0"/>
          </a:p>
        </p:txBody>
      </p:sp>
      <p:sp>
        <p:nvSpPr>
          <p:cNvPr id="35" name="Shape 33"/>
          <p:cNvSpPr/>
          <p:nvPr/>
        </p:nvSpPr>
        <p:spPr>
          <a:xfrm>
            <a:off x="10037064" y="4242816"/>
            <a:ext cx="201168" cy="0"/>
          </a:xfrm>
          <a:prstGeom prst="line">
            <a:avLst/>
          </a:prstGeom>
          <a:noFill/>
          <a:ln w="15875">
            <a:solidFill>
              <a:srgbClr val="323C49"/>
            </a:solidFill>
            <a:prstDash val="solid"/>
            <a:tailEnd type="triangle"/>
          </a:ln>
        </p:spPr>
      </p:sp>
      <p:sp>
        <p:nvSpPr>
          <p:cNvPr id="36" name="Shape 34"/>
          <p:cNvSpPr/>
          <p:nvPr/>
        </p:nvSpPr>
        <p:spPr>
          <a:xfrm>
            <a:off x="10274808" y="3639312"/>
            <a:ext cx="1347216" cy="1207008"/>
          </a:xfrm>
          <a:prstGeom prst="roundRect">
            <a:avLst>
              <a:gd name="adj" fmla="val 5303"/>
            </a:avLst>
          </a:prstGeom>
          <a:solidFill>
            <a:srgbClr val="161C24"/>
          </a:solidFill>
          <a:ln w="9525">
            <a:solidFill>
              <a:srgbClr val="161C24"/>
            </a:solidFill>
            <a:prstDash val="solid"/>
          </a:ln>
        </p:spPr>
      </p:sp>
      <p:sp>
        <p:nvSpPr>
          <p:cNvPr id="37" name="Shape 35"/>
          <p:cNvSpPr/>
          <p:nvPr/>
        </p:nvSpPr>
        <p:spPr>
          <a:xfrm>
            <a:off x="10366248" y="4050792"/>
            <a:ext cx="384048" cy="384048"/>
          </a:xfrm>
          <a:prstGeom prst="ellipse">
            <a:avLst/>
          </a:prstGeom>
          <a:solidFill>
            <a:srgbClr val="6E7A88"/>
          </a:solidFill>
          <a:ln w="15875">
            <a:solidFill>
              <a:srgbClr val="6E7A88"/>
            </a:solidFill>
            <a:prstDash val="solid"/>
          </a:ln>
        </p:spPr>
      </p:sp>
      <p:sp>
        <p:nvSpPr>
          <p:cNvPr id="38" name="Text 36"/>
          <p:cNvSpPr txBox="1"/>
          <p:nvPr/>
        </p:nvSpPr>
        <p:spPr>
          <a:xfrm>
            <a:off x="10366248"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39" name="Text 37"/>
          <p:cNvSpPr txBox="1"/>
          <p:nvPr/>
        </p:nvSpPr>
        <p:spPr>
          <a:xfrm>
            <a:off x="10841736"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Engine 4 &amp; Report 2</a:t>
            </a:r>
            <a:endParaRPr lang="en-US" sz="1000" dirty="0"/>
          </a:p>
        </p:txBody>
      </p:sp>
      <p:sp>
        <p:nvSpPr>
          <p:cNvPr id="40" name="Shape 38"/>
          <p:cNvSpPr/>
          <p:nvPr/>
        </p:nvSpPr>
        <p:spPr>
          <a:xfrm>
            <a:off x="9326880" y="2916936"/>
            <a:ext cx="0" cy="329184"/>
          </a:xfrm>
          <a:prstGeom prst="line">
            <a:avLst/>
          </a:prstGeom>
          <a:noFill/>
          <a:ln w="15875">
            <a:solidFill>
              <a:srgbClr val="7D8A99"/>
            </a:solidFill>
            <a:prstDash val="solid"/>
            <a:tailEnd type="triangle"/>
          </a:ln>
        </p:spPr>
      </p:sp>
      <p:sp>
        <p:nvSpPr>
          <p:cNvPr id="41" name="Text 39"/>
          <p:cNvSpPr txBox="1"/>
          <p:nvPr/>
        </p:nvSpPr>
        <p:spPr>
          <a:xfrm>
            <a:off x="9418320" y="2916936"/>
            <a:ext cx="224028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2" name="Shape 40"/>
          <p:cNvSpPr/>
          <p:nvPr/>
        </p:nvSpPr>
        <p:spPr>
          <a:xfrm>
            <a:off x="6903720" y="5102352"/>
            <a:ext cx="4846320" cy="566928"/>
          </a:xfrm>
          <a:prstGeom prst="roundRect">
            <a:avLst>
              <a:gd name="adj" fmla="val 9677"/>
            </a:avLst>
          </a:prstGeom>
          <a:solidFill>
            <a:srgbClr val="231E33"/>
          </a:solidFill>
          <a:ln w="9525">
            <a:solidFill>
              <a:srgbClr val="231E33"/>
            </a:solidFill>
            <a:prstDash val="solid"/>
          </a:ln>
        </p:spPr>
      </p:sp>
      <p:sp>
        <p:nvSpPr>
          <p:cNvPr id="43" name="Shape 41"/>
          <p:cNvSpPr/>
          <p:nvPr/>
        </p:nvSpPr>
        <p:spPr>
          <a:xfrm>
            <a:off x="7031736" y="5210068"/>
            <a:ext cx="351495" cy="351495"/>
          </a:xfrm>
          <a:prstGeom prst="ellipse">
            <a:avLst/>
          </a:prstGeom>
          <a:solidFill>
            <a:srgbClr val="6E7A88"/>
          </a:solidFill>
          <a:ln w="15875">
            <a:solidFill>
              <a:srgbClr val="6E7A88"/>
            </a:solidFill>
            <a:prstDash val="solid"/>
          </a:ln>
        </p:spPr>
      </p:sp>
      <p:sp>
        <p:nvSpPr>
          <p:cNvPr id="44" name="Text 42"/>
          <p:cNvSpPr txBox="1"/>
          <p:nvPr/>
        </p:nvSpPr>
        <p:spPr>
          <a:xfrm>
            <a:off x="7031736" y="521006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5" name="Text 43"/>
          <p:cNvSpPr txBox="1"/>
          <p:nvPr/>
        </p:nvSpPr>
        <p:spPr>
          <a:xfrm>
            <a:off x="7492959" y="5102352"/>
            <a:ext cx="4037625" cy="56692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Section 4 owns, and what it depends on</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457200" y="1371600"/>
            <a:ext cx="4937760" cy="1700784"/>
          </a:xfrm>
          <a:prstGeom prst="roundRect">
            <a:avLst>
              <a:gd name="adj" fmla="val 3226"/>
            </a:avLst>
          </a:prstGeom>
          <a:solidFill>
            <a:srgbClr val="15302D"/>
          </a:solidFill>
          <a:ln w="9525">
            <a:solidFill>
              <a:srgbClr val="15302D"/>
            </a:solidFill>
            <a:prstDash val="solid"/>
          </a:ln>
        </p:spPr>
      </p:sp>
      <p:sp>
        <p:nvSpPr>
          <p:cNvPr id="9" name="Text 6"/>
          <p:cNvSpPr txBox="1"/>
          <p:nvPr/>
        </p:nvSpPr>
        <p:spPr>
          <a:xfrm>
            <a:off x="585216" y="1444752"/>
            <a:ext cx="3061411"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10" name="Text 7"/>
          <p:cNvSpPr txBox="1"/>
          <p:nvPr/>
        </p:nvSpPr>
        <p:spPr>
          <a:xfrm>
            <a:off x="2679192" y="1444752"/>
            <a:ext cx="2587752"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11" name="Shape 8"/>
          <p:cNvSpPr/>
          <p:nvPr/>
        </p:nvSpPr>
        <p:spPr>
          <a:xfrm>
            <a:off x="585216" y="1737360"/>
            <a:ext cx="1377696" cy="1207008"/>
          </a:xfrm>
          <a:prstGeom prst="roundRect">
            <a:avLst>
              <a:gd name="adj" fmla="val 5303"/>
            </a:avLst>
          </a:prstGeom>
          <a:solidFill>
            <a:srgbClr val="161C24"/>
          </a:solidFill>
          <a:ln w="9525">
            <a:solidFill>
              <a:srgbClr val="161C24"/>
            </a:solidFill>
            <a:prstDash val="solid"/>
          </a:ln>
        </p:spPr>
      </p:sp>
      <p:sp>
        <p:nvSpPr>
          <p:cNvPr id="12" name="Shape 9"/>
          <p:cNvSpPr/>
          <p:nvPr/>
        </p:nvSpPr>
        <p:spPr>
          <a:xfrm>
            <a:off x="676656" y="2148840"/>
            <a:ext cx="384048" cy="384048"/>
          </a:xfrm>
          <a:prstGeom prst="ellipse">
            <a:avLst/>
          </a:prstGeom>
          <a:solidFill>
            <a:srgbClr val="6E7A88"/>
          </a:solidFill>
          <a:ln w="15875">
            <a:solidFill>
              <a:srgbClr val="6E7A88"/>
            </a:solidFill>
            <a:prstDash val="solid"/>
          </a:ln>
        </p:spPr>
      </p:sp>
      <p:sp>
        <p:nvSpPr>
          <p:cNvPr id="13" name="Text 10"/>
          <p:cNvSpPr txBox="1"/>
          <p:nvPr/>
        </p:nvSpPr>
        <p:spPr>
          <a:xfrm>
            <a:off x="676656"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4" name="Text 11"/>
          <p:cNvSpPr txBox="1"/>
          <p:nvPr/>
        </p:nvSpPr>
        <p:spPr>
          <a:xfrm>
            <a:off x="1152144"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Market data &amp; chart</a:t>
            </a:r>
            <a:endParaRPr lang="en-US" sz="1000" dirty="0"/>
          </a:p>
        </p:txBody>
      </p:sp>
      <p:sp>
        <p:nvSpPr>
          <p:cNvPr id="15" name="Shape 12"/>
          <p:cNvSpPr/>
          <p:nvPr/>
        </p:nvSpPr>
        <p:spPr>
          <a:xfrm>
            <a:off x="1999488" y="2340864"/>
            <a:ext cx="201168" cy="0"/>
          </a:xfrm>
          <a:prstGeom prst="line">
            <a:avLst/>
          </a:prstGeom>
          <a:noFill/>
          <a:ln w="15875">
            <a:solidFill>
              <a:srgbClr val="323C49"/>
            </a:solidFill>
            <a:prstDash val="solid"/>
            <a:tailEnd type="triangle"/>
          </a:ln>
        </p:spPr>
      </p:sp>
      <p:sp>
        <p:nvSpPr>
          <p:cNvPr id="16" name="Shape 13"/>
          <p:cNvSpPr/>
          <p:nvPr/>
        </p:nvSpPr>
        <p:spPr>
          <a:xfrm>
            <a:off x="2237232" y="1737360"/>
            <a:ext cx="1377696" cy="1207008"/>
          </a:xfrm>
          <a:prstGeom prst="roundRect">
            <a:avLst>
              <a:gd name="adj" fmla="val 5303"/>
            </a:avLst>
          </a:prstGeom>
          <a:solidFill>
            <a:srgbClr val="161C24"/>
          </a:solidFill>
          <a:ln w="9525">
            <a:solidFill>
              <a:srgbClr val="161C24"/>
            </a:solidFill>
            <a:prstDash val="solid"/>
          </a:ln>
        </p:spPr>
      </p:sp>
      <p:sp>
        <p:nvSpPr>
          <p:cNvPr id="17" name="Shape 14"/>
          <p:cNvSpPr/>
          <p:nvPr/>
        </p:nvSpPr>
        <p:spPr>
          <a:xfrm>
            <a:off x="2328672" y="2148840"/>
            <a:ext cx="384048" cy="384048"/>
          </a:xfrm>
          <a:prstGeom prst="ellipse">
            <a:avLst/>
          </a:prstGeom>
          <a:solidFill>
            <a:srgbClr val="6E7A88"/>
          </a:solidFill>
          <a:ln w="15875">
            <a:solidFill>
              <a:srgbClr val="6E7A88"/>
            </a:solidFill>
            <a:prstDash val="solid"/>
          </a:ln>
        </p:spPr>
      </p:sp>
      <p:sp>
        <p:nvSpPr>
          <p:cNvPr id="18" name="Text 15"/>
          <p:cNvSpPr txBox="1"/>
          <p:nvPr/>
        </p:nvSpPr>
        <p:spPr>
          <a:xfrm>
            <a:off x="2328672"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9" name="Text 16"/>
          <p:cNvSpPr txBox="1"/>
          <p:nvPr/>
        </p:nvSpPr>
        <p:spPr>
          <a:xfrm>
            <a:off x="2804160"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Sensors (MCDs)</a:t>
            </a:r>
            <a:endParaRPr lang="en-US" sz="1000" dirty="0"/>
          </a:p>
        </p:txBody>
      </p:sp>
      <p:sp>
        <p:nvSpPr>
          <p:cNvPr id="20" name="Shape 17"/>
          <p:cNvSpPr/>
          <p:nvPr/>
        </p:nvSpPr>
        <p:spPr>
          <a:xfrm>
            <a:off x="3651504" y="2340864"/>
            <a:ext cx="201168" cy="0"/>
          </a:xfrm>
          <a:prstGeom prst="line">
            <a:avLst/>
          </a:prstGeom>
          <a:noFill/>
          <a:ln w="15875">
            <a:solidFill>
              <a:srgbClr val="323C49"/>
            </a:solidFill>
            <a:prstDash val="solid"/>
            <a:tailEnd type="triangle"/>
          </a:ln>
        </p:spPr>
      </p:sp>
      <p:sp>
        <p:nvSpPr>
          <p:cNvPr id="21" name="Shape 18"/>
          <p:cNvSpPr/>
          <p:nvPr/>
        </p:nvSpPr>
        <p:spPr>
          <a:xfrm>
            <a:off x="3889248" y="1737360"/>
            <a:ext cx="1377696" cy="1207008"/>
          </a:xfrm>
          <a:prstGeom prst="roundRect">
            <a:avLst>
              <a:gd name="adj" fmla="val 5303"/>
            </a:avLst>
          </a:prstGeom>
          <a:solidFill>
            <a:srgbClr val="161C24"/>
          </a:solidFill>
          <a:ln w="9525">
            <a:solidFill>
              <a:srgbClr val="161C24"/>
            </a:solidFill>
            <a:prstDash val="solid"/>
          </a:ln>
        </p:spPr>
      </p:sp>
      <p:sp>
        <p:nvSpPr>
          <p:cNvPr id="22" name="Shape 19"/>
          <p:cNvSpPr/>
          <p:nvPr/>
        </p:nvSpPr>
        <p:spPr>
          <a:xfrm>
            <a:off x="3980688" y="2148840"/>
            <a:ext cx="384048" cy="384048"/>
          </a:xfrm>
          <a:prstGeom prst="ellipse">
            <a:avLst/>
          </a:prstGeom>
          <a:solidFill>
            <a:srgbClr val="6E7A88"/>
          </a:solidFill>
          <a:ln w="15875">
            <a:solidFill>
              <a:srgbClr val="6E7A88"/>
            </a:solidFill>
            <a:prstDash val="solid"/>
          </a:ln>
        </p:spPr>
      </p:sp>
      <p:sp>
        <p:nvSpPr>
          <p:cNvPr id="23" name="Text 20"/>
          <p:cNvSpPr txBox="1"/>
          <p:nvPr/>
        </p:nvSpPr>
        <p:spPr>
          <a:xfrm>
            <a:off x="3980688"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4" name="Text 21"/>
          <p:cNvSpPr txBox="1"/>
          <p:nvPr/>
        </p:nvSpPr>
        <p:spPr>
          <a:xfrm>
            <a:off x="4456176"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Synthesis &amp; entry zones</a:t>
            </a:r>
            <a:endParaRPr lang="en-US" sz="1000" dirty="0"/>
          </a:p>
        </p:txBody>
      </p:sp>
      <p:sp>
        <p:nvSpPr>
          <p:cNvPr id="25" name="Shape 22"/>
          <p:cNvSpPr/>
          <p:nvPr/>
        </p:nvSpPr>
        <p:spPr>
          <a:xfrm>
            <a:off x="457200" y="3456432"/>
            <a:ext cx="4937760" cy="1700784"/>
          </a:xfrm>
          <a:prstGeom prst="roundRect">
            <a:avLst>
              <a:gd name="adj" fmla="val 3226"/>
            </a:avLst>
          </a:prstGeom>
          <a:solidFill>
            <a:srgbClr val="17243A"/>
          </a:solidFill>
          <a:ln w="9525">
            <a:solidFill>
              <a:srgbClr val="17243A"/>
            </a:solidFill>
            <a:prstDash val="solid"/>
          </a:ln>
        </p:spPr>
      </p:sp>
      <p:sp>
        <p:nvSpPr>
          <p:cNvPr id="26" name="Text 23"/>
          <p:cNvSpPr txBox="1"/>
          <p:nvPr/>
        </p:nvSpPr>
        <p:spPr>
          <a:xfrm>
            <a:off x="585216" y="3529584"/>
            <a:ext cx="3061411"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7" name="Text 24"/>
          <p:cNvSpPr txBox="1"/>
          <p:nvPr/>
        </p:nvSpPr>
        <p:spPr>
          <a:xfrm>
            <a:off x="2679192" y="3529584"/>
            <a:ext cx="2587752"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8" name="Shape 25"/>
          <p:cNvSpPr/>
          <p:nvPr/>
        </p:nvSpPr>
        <p:spPr>
          <a:xfrm>
            <a:off x="585216" y="3822192"/>
            <a:ext cx="1377696" cy="1207008"/>
          </a:xfrm>
          <a:prstGeom prst="roundRect">
            <a:avLst>
              <a:gd name="adj" fmla="val 5303"/>
            </a:avLst>
          </a:prstGeom>
          <a:solidFill>
            <a:srgbClr val="1D242E"/>
          </a:solidFill>
          <a:ln w="22225">
            <a:solidFill>
              <a:srgbClr val="E2B54E"/>
            </a:solidFill>
            <a:prstDash val="solid"/>
          </a:ln>
        </p:spPr>
      </p:sp>
      <p:sp>
        <p:nvSpPr>
          <p:cNvPr id="29" name="Shape 26"/>
          <p:cNvSpPr/>
          <p:nvPr/>
        </p:nvSpPr>
        <p:spPr>
          <a:xfrm>
            <a:off x="676656" y="4233672"/>
            <a:ext cx="384048" cy="384048"/>
          </a:xfrm>
          <a:prstGeom prst="ellipse">
            <a:avLst/>
          </a:prstGeom>
          <a:solidFill>
            <a:srgbClr val="E2B54E"/>
          </a:solidFill>
          <a:ln w="15875">
            <a:solidFill>
              <a:srgbClr val="E2B54E"/>
            </a:solidFill>
            <a:prstDash val="solid"/>
          </a:ln>
        </p:spPr>
      </p:sp>
      <p:sp>
        <p:nvSpPr>
          <p:cNvPr id="30" name="Text 27"/>
          <p:cNvSpPr txBox="1"/>
          <p:nvPr/>
        </p:nvSpPr>
        <p:spPr>
          <a:xfrm>
            <a:off x="676656"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31" name="Text 28"/>
          <p:cNvSpPr txBox="1"/>
          <p:nvPr/>
        </p:nvSpPr>
        <p:spPr>
          <a:xfrm>
            <a:off x="1152144" y="3822192"/>
            <a:ext cx="75590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Intake, routing &amp; knowledge</a:t>
            </a:r>
            <a:endParaRPr lang="en-US" sz="1000" dirty="0"/>
          </a:p>
        </p:txBody>
      </p:sp>
      <p:sp>
        <p:nvSpPr>
          <p:cNvPr id="32" name="Shape 29"/>
          <p:cNvSpPr/>
          <p:nvPr/>
        </p:nvSpPr>
        <p:spPr>
          <a:xfrm>
            <a:off x="1999488" y="4425696"/>
            <a:ext cx="201168" cy="0"/>
          </a:xfrm>
          <a:prstGeom prst="line">
            <a:avLst/>
          </a:prstGeom>
          <a:noFill/>
          <a:ln w="15875">
            <a:solidFill>
              <a:srgbClr val="7D8A99"/>
            </a:solidFill>
            <a:prstDash val="solid"/>
            <a:tailEnd type="triangle"/>
          </a:ln>
        </p:spPr>
      </p:sp>
      <p:sp>
        <p:nvSpPr>
          <p:cNvPr id="33" name="Shape 30"/>
          <p:cNvSpPr/>
          <p:nvPr/>
        </p:nvSpPr>
        <p:spPr>
          <a:xfrm>
            <a:off x="2237232" y="3822192"/>
            <a:ext cx="1377696" cy="1207008"/>
          </a:xfrm>
          <a:prstGeom prst="roundRect">
            <a:avLst>
              <a:gd name="adj" fmla="val 5303"/>
            </a:avLst>
          </a:prstGeom>
          <a:solidFill>
            <a:srgbClr val="161C24"/>
          </a:solidFill>
          <a:ln w="9525">
            <a:solidFill>
              <a:srgbClr val="161C24"/>
            </a:solidFill>
            <a:prstDash val="solid"/>
          </a:ln>
        </p:spPr>
      </p:sp>
      <p:sp>
        <p:nvSpPr>
          <p:cNvPr id="34" name="Shape 31"/>
          <p:cNvSpPr/>
          <p:nvPr/>
        </p:nvSpPr>
        <p:spPr>
          <a:xfrm>
            <a:off x="2328672" y="4233672"/>
            <a:ext cx="384048" cy="384048"/>
          </a:xfrm>
          <a:prstGeom prst="ellipse">
            <a:avLst/>
          </a:prstGeom>
          <a:solidFill>
            <a:srgbClr val="6E7A88"/>
          </a:solidFill>
          <a:ln w="15875">
            <a:solidFill>
              <a:srgbClr val="6E7A88"/>
            </a:solidFill>
            <a:prstDash val="solid"/>
          </a:ln>
        </p:spPr>
      </p:sp>
      <p:sp>
        <p:nvSpPr>
          <p:cNvPr id="35" name="Text 32"/>
          <p:cNvSpPr txBox="1"/>
          <p:nvPr/>
        </p:nvSpPr>
        <p:spPr>
          <a:xfrm>
            <a:off x="2328672"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6" name="Text 33"/>
          <p:cNvSpPr txBox="1"/>
          <p:nvPr/>
        </p:nvSpPr>
        <p:spPr>
          <a:xfrm>
            <a:off x="2804160"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Prompt &amp; AI reply</a:t>
            </a:r>
            <a:endParaRPr lang="en-US" sz="1000" dirty="0"/>
          </a:p>
        </p:txBody>
      </p:sp>
      <p:sp>
        <p:nvSpPr>
          <p:cNvPr id="37" name="Shape 34"/>
          <p:cNvSpPr/>
          <p:nvPr/>
        </p:nvSpPr>
        <p:spPr>
          <a:xfrm>
            <a:off x="3651504" y="4425696"/>
            <a:ext cx="201168" cy="0"/>
          </a:xfrm>
          <a:prstGeom prst="line">
            <a:avLst/>
          </a:prstGeom>
          <a:noFill/>
          <a:ln w="15875">
            <a:solidFill>
              <a:srgbClr val="323C49"/>
            </a:solidFill>
            <a:prstDash val="solid"/>
            <a:tailEnd type="triangle"/>
          </a:ln>
        </p:spPr>
      </p:sp>
      <p:sp>
        <p:nvSpPr>
          <p:cNvPr id="38" name="Shape 35"/>
          <p:cNvSpPr/>
          <p:nvPr/>
        </p:nvSpPr>
        <p:spPr>
          <a:xfrm>
            <a:off x="3889248" y="3822192"/>
            <a:ext cx="1377696" cy="1207008"/>
          </a:xfrm>
          <a:prstGeom prst="roundRect">
            <a:avLst>
              <a:gd name="adj" fmla="val 5303"/>
            </a:avLst>
          </a:prstGeom>
          <a:solidFill>
            <a:srgbClr val="161C24"/>
          </a:solidFill>
          <a:ln w="9525">
            <a:solidFill>
              <a:srgbClr val="161C24"/>
            </a:solidFill>
            <a:prstDash val="solid"/>
          </a:ln>
        </p:spPr>
      </p:sp>
      <p:sp>
        <p:nvSpPr>
          <p:cNvPr id="39" name="Shape 36"/>
          <p:cNvSpPr/>
          <p:nvPr/>
        </p:nvSpPr>
        <p:spPr>
          <a:xfrm>
            <a:off x="3980688" y="4233672"/>
            <a:ext cx="384048" cy="384048"/>
          </a:xfrm>
          <a:prstGeom prst="ellipse">
            <a:avLst/>
          </a:prstGeom>
          <a:solidFill>
            <a:srgbClr val="6E7A88"/>
          </a:solidFill>
          <a:ln w="15875">
            <a:solidFill>
              <a:srgbClr val="6E7A88"/>
            </a:solidFill>
            <a:prstDash val="solid"/>
          </a:ln>
        </p:spPr>
      </p:sp>
      <p:sp>
        <p:nvSpPr>
          <p:cNvPr id="40" name="Text 37"/>
          <p:cNvSpPr txBox="1"/>
          <p:nvPr/>
        </p:nvSpPr>
        <p:spPr>
          <a:xfrm>
            <a:off x="3980688"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41" name="Text 38"/>
          <p:cNvSpPr txBox="1"/>
          <p:nvPr/>
        </p:nvSpPr>
        <p:spPr>
          <a:xfrm>
            <a:off x="4456176"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Engine 4 &amp; Report 2</a:t>
            </a:r>
            <a:endParaRPr lang="en-US" sz="1000" dirty="0"/>
          </a:p>
        </p:txBody>
      </p:sp>
      <p:sp>
        <p:nvSpPr>
          <p:cNvPr id="42" name="Shape 39"/>
          <p:cNvSpPr/>
          <p:nvPr/>
        </p:nvSpPr>
        <p:spPr>
          <a:xfrm>
            <a:off x="2926080" y="3099816"/>
            <a:ext cx="0" cy="329184"/>
          </a:xfrm>
          <a:prstGeom prst="line">
            <a:avLst/>
          </a:prstGeom>
          <a:noFill/>
          <a:ln w="15875">
            <a:solidFill>
              <a:srgbClr val="7D8A99"/>
            </a:solidFill>
            <a:prstDash val="solid"/>
            <a:tailEnd type="triangle"/>
          </a:ln>
        </p:spPr>
      </p:sp>
      <p:sp>
        <p:nvSpPr>
          <p:cNvPr id="43" name="Text 40"/>
          <p:cNvSpPr txBox="1"/>
          <p:nvPr/>
        </p:nvSpPr>
        <p:spPr>
          <a:xfrm>
            <a:off x="3017520" y="3099816"/>
            <a:ext cx="228600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4" name="Shape 41"/>
          <p:cNvSpPr/>
          <p:nvPr/>
        </p:nvSpPr>
        <p:spPr>
          <a:xfrm>
            <a:off x="457200" y="5285232"/>
            <a:ext cx="4937760" cy="566928"/>
          </a:xfrm>
          <a:prstGeom prst="roundRect">
            <a:avLst>
              <a:gd name="adj" fmla="val 9677"/>
            </a:avLst>
          </a:prstGeom>
          <a:solidFill>
            <a:srgbClr val="231E33"/>
          </a:solidFill>
          <a:ln w="9525">
            <a:solidFill>
              <a:srgbClr val="231E33"/>
            </a:solidFill>
            <a:prstDash val="solid"/>
          </a:ln>
        </p:spPr>
      </p:sp>
      <p:sp>
        <p:nvSpPr>
          <p:cNvPr id="45" name="Shape 42"/>
          <p:cNvSpPr/>
          <p:nvPr/>
        </p:nvSpPr>
        <p:spPr>
          <a:xfrm>
            <a:off x="585216" y="5392948"/>
            <a:ext cx="351495" cy="351495"/>
          </a:xfrm>
          <a:prstGeom prst="ellipse">
            <a:avLst/>
          </a:prstGeom>
          <a:solidFill>
            <a:srgbClr val="6E7A88"/>
          </a:solidFill>
          <a:ln w="15875">
            <a:solidFill>
              <a:srgbClr val="6E7A88"/>
            </a:solidFill>
            <a:prstDash val="solid"/>
          </a:ln>
        </p:spPr>
      </p:sp>
      <p:sp>
        <p:nvSpPr>
          <p:cNvPr id="46" name="Text 43"/>
          <p:cNvSpPr txBox="1"/>
          <p:nvPr/>
        </p:nvSpPr>
        <p:spPr>
          <a:xfrm>
            <a:off x="585216" y="539294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7" name="Text 44"/>
          <p:cNvSpPr txBox="1"/>
          <p:nvPr/>
        </p:nvSpPr>
        <p:spPr>
          <a:xfrm>
            <a:off x="1046439" y="5285232"/>
            <a:ext cx="4129065" cy="56692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
        <p:nvSpPr>
          <p:cNvPr id="48" name="Text 45"/>
          <p:cNvSpPr txBox="1"/>
          <p:nvPr/>
        </p:nvSpPr>
        <p:spPr>
          <a:xfrm>
            <a:off x="5806440" y="1325880"/>
            <a:ext cx="27432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OWNS</a:t>
            </a:r>
            <a:endParaRPr lang="en-US" sz="1000" dirty="0"/>
          </a:p>
        </p:txBody>
      </p:sp>
      <p:sp>
        <p:nvSpPr>
          <p:cNvPr id="49" name="Text 46"/>
          <p:cNvSpPr txBox="1"/>
          <p:nvPr/>
        </p:nvSpPr>
        <p:spPr>
          <a:xfrm>
            <a:off x="5806440" y="1609344"/>
            <a:ext cx="5897880" cy="34747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Session gate  </a:t>
            </a:r>
            <a:pPr indent="0" marL="0">
              <a:buNone/>
            </a:pPr>
            <a:r>
              <a:rPr lang="en-US" sz="1150" dirty="0">
                <a:solidFill>
                  <a:srgbClr val="A3AEBB"/>
                </a:solidFill>
                <a:latin typeface="Calibri" pitchFamily="34" charset="0"/>
                <a:ea typeface="Calibri" pitchFamily="34" charset="-122"/>
                <a:cs typeface="Calibri" pitchFamily="34" charset="-120"/>
              </a:rPr>
              <a:t>sign-in, tier, quota pre-check, thread, scope</a:t>
            </a:r>
            <a:endParaRPr lang="en-US" sz="1150" dirty="0"/>
          </a:p>
        </p:txBody>
      </p:sp>
      <p:sp>
        <p:nvSpPr>
          <p:cNvPr id="50" name="Text 47"/>
          <p:cNvSpPr txBox="1"/>
          <p:nvPr/>
        </p:nvSpPr>
        <p:spPr>
          <a:xfrm>
            <a:off x="5806440" y="1975104"/>
            <a:ext cx="5897880" cy="34747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Language handling  </a:t>
            </a:r>
            <a:pPr indent="0" marL="0">
              <a:buNone/>
            </a:pPr>
            <a:r>
              <a:rPr lang="en-US" sz="1150" dirty="0">
                <a:solidFill>
                  <a:srgbClr val="A3AEBB"/>
                </a:solidFill>
                <a:latin typeface="Calibri" pitchFamily="34" charset="0"/>
                <a:ea typeface="Calibri" pitchFamily="34" charset="-122"/>
                <a:cs typeface="Calibri" pitchFamily="34" charset="-120"/>
              </a:rPr>
              <a:t>detect, translate to English, keep the answer language</a:t>
            </a:r>
            <a:endParaRPr lang="en-US" sz="1150" dirty="0"/>
          </a:p>
        </p:txBody>
      </p:sp>
      <p:sp>
        <p:nvSpPr>
          <p:cNvPr id="51" name="Text 48"/>
          <p:cNvSpPr txBox="1"/>
          <p:nvPr/>
        </p:nvSpPr>
        <p:spPr>
          <a:xfrm>
            <a:off x="5806440" y="2340864"/>
            <a:ext cx="5897880" cy="34747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Intent  </a:t>
            </a:r>
            <a:pPr indent="0" marL="0">
              <a:buNone/>
            </a:pPr>
            <a:r>
              <a:rPr lang="en-US" sz="1150" dirty="0">
                <a:solidFill>
                  <a:srgbClr val="A3AEBB"/>
                </a:solidFill>
                <a:latin typeface="Calibri" pitchFamily="34" charset="0"/>
                <a:ea typeface="Calibri" pitchFamily="34" charset="-122"/>
                <a:cs typeface="Calibri" pitchFamily="34" charset="-120"/>
              </a:rPr>
              <a:t>one label from a fixed list; instant prompts carry theirs</a:t>
            </a:r>
            <a:endParaRPr lang="en-US" sz="1150" dirty="0"/>
          </a:p>
        </p:txBody>
      </p:sp>
      <p:sp>
        <p:nvSpPr>
          <p:cNvPr id="52" name="Text 49"/>
          <p:cNvSpPr txBox="1"/>
          <p:nvPr/>
        </p:nvSpPr>
        <p:spPr>
          <a:xfrm>
            <a:off x="5806440" y="2706624"/>
            <a:ext cx="5897880" cy="34747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Sensor board + routing  </a:t>
            </a:r>
            <a:pPr indent="0" marL="0">
              <a:buNone/>
            </a:pPr>
            <a:r>
              <a:rPr lang="en-US" sz="1150" dirty="0">
                <a:solidFill>
                  <a:srgbClr val="A3AEBB"/>
                </a:solidFill>
                <a:latin typeface="Calibri" pitchFamily="34" charset="0"/>
                <a:ea typeface="Calibri" pitchFamily="34" charset="-122"/>
                <a:cs typeface="Calibri" pitchFamily="34" charset="-120"/>
              </a:rPr>
              <a:t>every sensor in one line; M* in full</a:t>
            </a:r>
            <a:endParaRPr lang="en-US" sz="1150" dirty="0"/>
          </a:p>
        </p:txBody>
      </p:sp>
      <p:sp>
        <p:nvSpPr>
          <p:cNvPr id="53" name="Text 50"/>
          <p:cNvSpPr txBox="1"/>
          <p:nvPr/>
        </p:nvSpPr>
        <p:spPr>
          <a:xfrm>
            <a:off x="5806440" y="3072384"/>
            <a:ext cx="5897880" cy="347472"/>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Engine 2  </a:t>
            </a:r>
            <a:pPr indent="0" marL="0">
              <a:buNone/>
            </a:pPr>
            <a:r>
              <a:rPr lang="en-US" sz="1150" dirty="0">
                <a:solidFill>
                  <a:srgbClr val="A3AEBB"/>
                </a:solidFill>
                <a:latin typeface="Calibri" pitchFamily="34" charset="0"/>
                <a:ea typeface="Calibri" pitchFamily="34" charset="-122"/>
                <a:cs typeface="Calibri" pitchFamily="34" charset="-120"/>
              </a:rPr>
              <a:t>the knowledge corpus, the index and retrieval</a:t>
            </a:r>
            <a:endParaRPr lang="en-US" sz="1150" dirty="0"/>
          </a:p>
        </p:txBody>
      </p:sp>
      <p:sp>
        <p:nvSpPr>
          <p:cNvPr id="54" name="Text 51"/>
          <p:cNvSpPr txBox="1"/>
          <p:nvPr/>
        </p:nvSpPr>
        <p:spPr>
          <a:xfrm>
            <a:off x="5806440" y="3520440"/>
            <a:ext cx="36576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RECEIVES</a:t>
            </a:r>
            <a:endParaRPr lang="en-US" sz="1000" dirty="0"/>
          </a:p>
        </p:txBody>
      </p:sp>
      <p:sp>
        <p:nvSpPr>
          <p:cNvPr id="55" name="Text 52"/>
          <p:cNvSpPr txBox="1"/>
          <p:nvPr/>
        </p:nvSpPr>
        <p:spPr>
          <a:xfrm>
            <a:off x="5806440" y="3794760"/>
            <a:ext cx="5897880" cy="603504"/>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Latest complete cycle and its data status (1) · sensor readings and state register (2) · synthesis reading for the trader’s type (3) · the trader’s Engine 4 profile (6) · the entitlement table (7)</a:t>
            </a:r>
            <a:endParaRPr lang="en-US" sz="1150" dirty="0"/>
          </a:p>
        </p:txBody>
      </p:sp>
      <p:sp>
        <p:nvSpPr>
          <p:cNvPr id="56" name="Text 53"/>
          <p:cNvSpPr txBox="1"/>
          <p:nvPr/>
        </p:nvSpPr>
        <p:spPr>
          <a:xfrm>
            <a:off x="5806440" y="4498848"/>
            <a:ext cx="27432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HANDS ON TO</a:t>
            </a:r>
            <a:endParaRPr lang="en-US" sz="1000" dirty="0"/>
          </a:p>
        </p:txBody>
      </p:sp>
      <p:sp>
        <p:nvSpPr>
          <p:cNvPr id="57" name="Shape 54"/>
          <p:cNvSpPr/>
          <p:nvPr/>
        </p:nvSpPr>
        <p:spPr>
          <a:xfrm>
            <a:off x="5806440" y="4837176"/>
            <a:ext cx="310896" cy="310896"/>
          </a:xfrm>
          <a:prstGeom prst="ellipse">
            <a:avLst/>
          </a:prstGeom>
          <a:solidFill>
            <a:srgbClr val="7FA8E8"/>
          </a:solidFill>
          <a:ln w="15875">
            <a:solidFill>
              <a:srgbClr val="7FA8E8"/>
            </a:solidFill>
            <a:prstDash val="solid"/>
          </a:ln>
        </p:spPr>
      </p:sp>
      <p:sp>
        <p:nvSpPr>
          <p:cNvPr id="58" name="Text 55"/>
          <p:cNvSpPr txBox="1"/>
          <p:nvPr/>
        </p:nvSpPr>
        <p:spPr>
          <a:xfrm>
            <a:off x="5806440" y="483717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59" name="Text 56"/>
          <p:cNvSpPr txBox="1"/>
          <p:nvPr/>
        </p:nvSpPr>
        <p:spPr>
          <a:xfrm>
            <a:off x="6245352" y="4791456"/>
            <a:ext cx="5486400" cy="42062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Prompt &amp; AI reply  </a:t>
            </a:r>
            <a:pPr indent="0" marL="0">
              <a:buNone/>
            </a:pPr>
            <a:r>
              <a:rPr lang="en-US" sz="1150" dirty="0">
                <a:solidFill>
                  <a:srgbClr val="A3AEBB"/>
                </a:solidFill>
                <a:latin typeface="Calibri" pitchFamily="34" charset="0"/>
                <a:ea typeface="Calibri" pitchFamily="34" charset="-122"/>
                <a:cs typeface="Calibri" pitchFamily="34" charset="-120"/>
              </a:rPr>
              <a:t>the intake packet: question, intent, board, readings, knowledge</a:t>
            </a:r>
            <a:endParaRPr lang="en-US" sz="1150" dirty="0"/>
          </a:p>
        </p:txBody>
      </p:sp>
      <p:sp>
        <p:nvSpPr>
          <p:cNvPr id="60" name="Shape 57"/>
          <p:cNvSpPr/>
          <p:nvPr/>
        </p:nvSpPr>
        <p:spPr>
          <a:xfrm>
            <a:off x="5806440" y="5294376"/>
            <a:ext cx="310896" cy="310896"/>
          </a:xfrm>
          <a:prstGeom prst="ellipse">
            <a:avLst/>
          </a:prstGeom>
          <a:solidFill>
            <a:srgbClr val="B7A3E0"/>
          </a:solidFill>
          <a:ln w="15875">
            <a:solidFill>
              <a:srgbClr val="B7A3E0"/>
            </a:solidFill>
            <a:prstDash val="solid"/>
          </a:ln>
        </p:spPr>
      </p:sp>
      <p:sp>
        <p:nvSpPr>
          <p:cNvPr id="61" name="Text 58"/>
          <p:cNvSpPr txBox="1"/>
          <p:nvPr/>
        </p:nvSpPr>
        <p:spPr>
          <a:xfrm>
            <a:off x="5806440" y="529437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7</a:t>
            </a:r>
            <a:endParaRPr lang="en-US" sz="1100" dirty="0"/>
          </a:p>
        </p:txBody>
      </p:sp>
      <p:sp>
        <p:nvSpPr>
          <p:cNvPr id="62" name="Text 59"/>
          <p:cNvSpPr txBox="1"/>
          <p:nvPr/>
        </p:nvSpPr>
        <p:spPr>
          <a:xfrm>
            <a:off x="6245352" y="5248656"/>
            <a:ext cx="5486400" cy="42062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Platform &amp; governance  </a:t>
            </a:r>
            <a:pPr indent="0" marL="0">
              <a:buNone/>
            </a:pPr>
            <a:r>
              <a:rPr lang="en-US" sz="1150" dirty="0">
                <a:solidFill>
                  <a:srgbClr val="A3AEBB"/>
                </a:solidFill>
                <a:latin typeface="Calibri" pitchFamily="34" charset="0"/>
                <a:ea typeface="Calibri" pitchFamily="34" charset="-122"/>
                <a:cs typeface="Calibri" pitchFamily="34" charset="-120"/>
              </a:rPr>
              <a:t>trace: language, intent, M*, chunk ids, index build</a:t>
            </a:r>
            <a:endParaRPr lang="en-US" sz="1150" dirty="0"/>
          </a:p>
        </p:txBody>
      </p:sp>
      <p:sp>
        <p:nvSpPr>
          <p:cNvPr id="63" name="Shape 60"/>
          <p:cNvSpPr/>
          <p:nvPr/>
        </p:nvSpPr>
        <p:spPr>
          <a:xfrm>
            <a:off x="5806440" y="5870448"/>
            <a:ext cx="5925312" cy="411480"/>
          </a:xfrm>
          <a:prstGeom prst="roundRect">
            <a:avLst>
              <a:gd name="adj" fmla="val 15556"/>
            </a:avLst>
          </a:prstGeom>
          <a:solidFill>
            <a:srgbClr val="2E2715"/>
          </a:solidFill>
          <a:ln w="9525">
            <a:solidFill>
              <a:srgbClr val="2E2715"/>
            </a:solidFill>
            <a:prstDash val="solid"/>
          </a:ln>
        </p:spPr>
      </p:sp>
      <p:sp>
        <p:nvSpPr>
          <p:cNvPr id="64" name="Text 61"/>
          <p:cNvSpPr txBox="1"/>
          <p:nvPr/>
        </p:nvSpPr>
        <p:spPr>
          <a:xfrm>
            <a:off x="5943600" y="5870448"/>
            <a:ext cx="5760720" cy="411480"/>
          </a:xfrm>
          <a:prstGeom prst="rect">
            <a:avLst/>
          </a:prstGeom>
          <a:noFill/>
          <a:ln/>
        </p:spPr>
        <p:txBody>
          <a:bodyPr wrap="square" lIns="0" tIns="0" rIns="0" bIns="0" rtlCol="0" anchor="ctr"/>
          <a:lstStyle/>
          <a:p>
            <a:pPr indent="0" marL="0">
              <a:buNone/>
            </a:pPr>
            <a:r>
              <a:rPr lang="en-US" sz="1100" b="1" dirty="0">
                <a:solidFill>
                  <a:srgbClr val="E2B54E"/>
                </a:solidFill>
                <a:latin typeface="Calibri" pitchFamily="34" charset="0"/>
                <a:ea typeface="Calibri" pitchFamily="34" charset="-122"/>
                <a:cs typeface="Calibri" pitchFamily="34" charset="-120"/>
              </a:rPr>
              <a:t>Recommendations here:  </a:t>
            </a:r>
            <a:pPr indent="0" marL="0">
              <a:buNone/>
            </a:pPr>
            <a:r>
              <a:rPr lang="en-US" sz="1100" dirty="0">
                <a:solidFill>
                  <a:srgbClr val="EEF1F4"/>
                </a:solidFill>
                <a:latin typeface="Calibri" pitchFamily="34" charset="0"/>
                <a:ea typeface="Calibri" pitchFamily="34" charset="-122"/>
                <a:cs typeface="Calibri" pitchFamily="34" charset="-120"/>
              </a:rPr>
              <a:t>B1 board · B2 routing · B3 languages · B4 txtai · B5 corpus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ORIGINAL DESIGN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intake and routing path as documented</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457200" y="1371600"/>
            <a:ext cx="2103120" cy="1417320"/>
          </a:xfrm>
          <a:prstGeom prst="roundRect">
            <a:avLst>
              <a:gd name="adj" fmla="val 4516"/>
            </a:avLst>
          </a:prstGeom>
          <a:solidFill>
            <a:srgbClr val="1D242E"/>
          </a:solidFill>
          <a:ln w="9525">
            <a:solidFill>
              <a:srgbClr val="323C49"/>
            </a:solidFill>
            <a:prstDash val="solid"/>
          </a:ln>
        </p:spPr>
      </p:sp>
      <p:sp>
        <p:nvSpPr>
          <p:cNvPr id="9" name="Shape 6"/>
          <p:cNvSpPr/>
          <p:nvPr/>
        </p:nvSpPr>
        <p:spPr>
          <a:xfrm>
            <a:off x="566928" y="1463040"/>
            <a:ext cx="365760" cy="365760"/>
          </a:xfrm>
          <a:prstGeom prst="ellipse">
            <a:avLst/>
          </a:prstGeom>
          <a:solidFill>
            <a:srgbClr val="7FA8E8"/>
          </a:solidFill>
          <a:ln w="15875">
            <a:solidFill>
              <a:srgbClr val="7FA8E8"/>
            </a:solidFill>
            <a:prstDash val="solid"/>
          </a:ln>
        </p:spPr>
      </p:sp>
      <p:sp>
        <p:nvSpPr>
          <p:cNvPr id="10" name="Text 7"/>
          <p:cNvSpPr txBox="1"/>
          <p:nvPr/>
        </p:nvSpPr>
        <p:spPr>
          <a:xfrm>
            <a:off x="566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1</a:t>
            </a:r>
            <a:endParaRPr lang="en-US" sz="1200" dirty="0"/>
          </a:p>
        </p:txBody>
      </p:sp>
      <p:sp>
        <p:nvSpPr>
          <p:cNvPr id="11" name="Text 8"/>
          <p:cNvSpPr txBox="1"/>
          <p:nvPr/>
        </p:nvSpPr>
        <p:spPr>
          <a:xfrm>
            <a:off x="1005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Gate</a:t>
            </a:r>
            <a:endParaRPr lang="en-US" sz="1200" dirty="0"/>
          </a:p>
        </p:txBody>
      </p:sp>
      <p:sp>
        <p:nvSpPr>
          <p:cNvPr id="12" name="Text 9"/>
          <p:cNvSpPr txBox="1"/>
          <p:nvPr/>
        </p:nvSpPr>
        <p:spPr>
          <a:xfrm>
            <a:off x="585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PRO tier · Redis quota · active XAUUSD thread</a:t>
            </a:r>
            <a:endParaRPr lang="en-US" sz="1050" dirty="0"/>
          </a:p>
        </p:txBody>
      </p:sp>
      <p:sp>
        <p:nvSpPr>
          <p:cNvPr id="13" name="Shape 10"/>
          <p:cNvSpPr/>
          <p:nvPr/>
        </p:nvSpPr>
        <p:spPr>
          <a:xfrm>
            <a:off x="2578608" y="2075688"/>
            <a:ext cx="146304" cy="0"/>
          </a:xfrm>
          <a:prstGeom prst="line">
            <a:avLst/>
          </a:prstGeom>
          <a:noFill/>
          <a:ln w="15875">
            <a:solidFill>
              <a:srgbClr val="7D8A99"/>
            </a:solidFill>
            <a:prstDash val="solid"/>
            <a:tailEnd type="triangle"/>
          </a:ln>
        </p:spPr>
      </p:sp>
      <p:sp>
        <p:nvSpPr>
          <p:cNvPr id="14" name="Shape 11"/>
          <p:cNvSpPr/>
          <p:nvPr/>
        </p:nvSpPr>
        <p:spPr>
          <a:xfrm>
            <a:off x="2743200" y="1371600"/>
            <a:ext cx="2103120" cy="1417320"/>
          </a:xfrm>
          <a:prstGeom prst="roundRect">
            <a:avLst>
              <a:gd name="adj" fmla="val 4516"/>
            </a:avLst>
          </a:prstGeom>
          <a:solidFill>
            <a:srgbClr val="1D242E"/>
          </a:solidFill>
          <a:ln w="9525">
            <a:solidFill>
              <a:srgbClr val="323C49"/>
            </a:solidFill>
            <a:prstDash val="solid"/>
          </a:ln>
        </p:spPr>
      </p:sp>
      <p:sp>
        <p:nvSpPr>
          <p:cNvPr id="15" name="Shape 12"/>
          <p:cNvSpPr/>
          <p:nvPr/>
        </p:nvSpPr>
        <p:spPr>
          <a:xfrm>
            <a:off x="2852928" y="1463040"/>
            <a:ext cx="365760" cy="365760"/>
          </a:xfrm>
          <a:prstGeom prst="ellipse">
            <a:avLst/>
          </a:prstGeom>
          <a:solidFill>
            <a:srgbClr val="7FA8E8"/>
          </a:solidFill>
          <a:ln w="15875">
            <a:solidFill>
              <a:srgbClr val="7FA8E8"/>
            </a:solidFill>
            <a:prstDash val="solid"/>
          </a:ln>
        </p:spPr>
      </p:sp>
      <p:sp>
        <p:nvSpPr>
          <p:cNvPr id="16" name="Text 13"/>
          <p:cNvSpPr txBox="1"/>
          <p:nvPr/>
        </p:nvSpPr>
        <p:spPr>
          <a:xfrm>
            <a:off x="2852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2</a:t>
            </a:r>
            <a:endParaRPr lang="en-US" sz="1200" dirty="0"/>
          </a:p>
        </p:txBody>
      </p:sp>
      <p:sp>
        <p:nvSpPr>
          <p:cNvPr id="17" name="Text 14"/>
          <p:cNvSpPr txBox="1"/>
          <p:nvPr/>
        </p:nvSpPr>
        <p:spPr>
          <a:xfrm>
            <a:off x="3291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Profile</a:t>
            </a:r>
            <a:endParaRPr lang="en-US" sz="1200" dirty="0"/>
          </a:p>
        </p:txBody>
      </p:sp>
      <p:sp>
        <p:nvSpPr>
          <p:cNvPr id="18" name="Text 15"/>
          <p:cNvSpPr txBox="1"/>
          <p:nvPr/>
        </p:nvSpPr>
        <p:spPr>
          <a:xfrm>
            <a:off x="2871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Engine 4: trader type, style, risk limits</a:t>
            </a:r>
            <a:endParaRPr lang="en-US" sz="1050" dirty="0"/>
          </a:p>
        </p:txBody>
      </p:sp>
      <p:sp>
        <p:nvSpPr>
          <p:cNvPr id="19" name="Shape 16"/>
          <p:cNvSpPr/>
          <p:nvPr/>
        </p:nvSpPr>
        <p:spPr>
          <a:xfrm>
            <a:off x="4864608" y="2075688"/>
            <a:ext cx="146304" cy="0"/>
          </a:xfrm>
          <a:prstGeom prst="line">
            <a:avLst/>
          </a:prstGeom>
          <a:noFill/>
          <a:ln w="15875">
            <a:solidFill>
              <a:srgbClr val="7D8A99"/>
            </a:solidFill>
            <a:prstDash val="solid"/>
            <a:tailEnd type="triangle"/>
          </a:ln>
        </p:spPr>
      </p:sp>
      <p:sp>
        <p:nvSpPr>
          <p:cNvPr id="20" name="Shape 17"/>
          <p:cNvSpPr/>
          <p:nvPr/>
        </p:nvSpPr>
        <p:spPr>
          <a:xfrm>
            <a:off x="5029200" y="1371600"/>
            <a:ext cx="2103120" cy="1417320"/>
          </a:xfrm>
          <a:prstGeom prst="roundRect">
            <a:avLst>
              <a:gd name="adj" fmla="val 4516"/>
            </a:avLst>
          </a:prstGeom>
          <a:solidFill>
            <a:srgbClr val="1D242E"/>
          </a:solidFill>
          <a:ln w="9525">
            <a:solidFill>
              <a:srgbClr val="323C49"/>
            </a:solidFill>
            <a:prstDash val="solid"/>
          </a:ln>
        </p:spPr>
      </p:sp>
      <p:sp>
        <p:nvSpPr>
          <p:cNvPr id="21" name="Shape 18"/>
          <p:cNvSpPr/>
          <p:nvPr/>
        </p:nvSpPr>
        <p:spPr>
          <a:xfrm>
            <a:off x="5138928" y="1463040"/>
            <a:ext cx="365760" cy="365760"/>
          </a:xfrm>
          <a:prstGeom prst="ellipse">
            <a:avLst/>
          </a:prstGeom>
          <a:solidFill>
            <a:srgbClr val="7FA8E8"/>
          </a:solidFill>
          <a:ln w="15875">
            <a:solidFill>
              <a:srgbClr val="7FA8E8"/>
            </a:solidFill>
            <a:prstDash val="solid"/>
          </a:ln>
        </p:spPr>
      </p:sp>
      <p:sp>
        <p:nvSpPr>
          <p:cNvPr id="22" name="Text 19"/>
          <p:cNvSpPr txBox="1"/>
          <p:nvPr/>
        </p:nvSpPr>
        <p:spPr>
          <a:xfrm>
            <a:off x="5138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3</a:t>
            </a:r>
            <a:endParaRPr lang="en-US" sz="1200" dirty="0"/>
          </a:p>
        </p:txBody>
      </p:sp>
      <p:sp>
        <p:nvSpPr>
          <p:cNvPr id="23" name="Text 20"/>
          <p:cNvSpPr txBox="1"/>
          <p:nvPr/>
        </p:nvSpPr>
        <p:spPr>
          <a:xfrm>
            <a:off x="5577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Scope guardrail</a:t>
            </a:r>
            <a:endParaRPr lang="en-US" sz="1200" dirty="0"/>
          </a:p>
        </p:txBody>
      </p:sp>
      <p:sp>
        <p:nvSpPr>
          <p:cNvPr id="24" name="Text 21"/>
          <p:cNvSpPr txBox="1"/>
          <p:nvPr/>
        </p:nvSpPr>
        <p:spPr>
          <a:xfrm>
            <a:off x="5157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XAUUSD only · M5 / M15 only; fixed replies</a:t>
            </a:r>
            <a:endParaRPr lang="en-US" sz="1050" dirty="0"/>
          </a:p>
        </p:txBody>
      </p:sp>
      <p:sp>
        <p:nvSpPr>
          <p:cNvPr id="25" name="Shape 22"/>
          <p:cNvSpPr/>
          <p:nvPr/>
        </p:nvSpPr>
        <p:spPr>
          <a:xfrm>
            <a:off x="7150608" y="2075688"/>
            <a:ext cx="146304" cy="0"/>
          </a:xfrm>
          <a:prstGeom prst="line">
            <a:avLst/>
          </a:prstGeom>
          <a:noFill/>
          <a:ln w="15875">
            <a:solidFill>
              <a:srgbClr val="7D8A99"/>
            </a:solidFill>
            <a:prstDash val="solid"/>
            <a:tailEnd type="triangle"/>
          </a:ln>
        </p:spPr>
      </p:sp>
      <p:sp>
        <p:nvSpPr>
          <p:cNvPr id="26" name="Shape 23"/>
          <p:cNvSpPr/>
          <p:nvPr/>
        </p:nvSpPr>
        <p:spPr>
          <a:xfrm>
            <a:off x="7315200" y="1371600"/>
            <a:ext cx="2103120" cy="1417320"/>
          </a:xfrm>
          <a:prstGeom prst="roundRect">
            <a:avLst>
              <a:gd name="adj" fmla="val 4516"/>
            </a:avLst>
          </a:prstGeom>
          <a:solidFill>
            <a:srgbClr val="1D242E"/>
          </a:solidFill>
          <a:ln w="9525">
            <a:solidFill>
              <a:srgbClr val="323C49"/>
            </a:solidFill>
            <a:prstDash val="solid"/>
          </a:ln>
        </p:spPr>
      </p:sp>
      <p:sp>
        <p:nvSpPr>
          <p:cNvPr id="27" name="Shape 24"/>
          <p:cNvSpPr/>
          <p:nvPr/>
        </p:nvSpPr>
        <p:spPr>
          <a:xfrm>
            <a:off x="7424928" y="1463040"/>
            <a:ext cx="365760" cy="365760"/>
          </a:xfrm>
          <a:prstGeom prst="ellipse">
            <a:avLst/>
          </a:prstGeom>
          <a:solidFill>
            <a:srgbClr val="7FA8E8"/>
          </a:solidFill>
          <a:ln w="15875">
            <a:solidFill>
              <a:srgbClr val="7FA8E8"/>
            </a:solidFill>
            <a:prstDash val="solid"/>
          </a:ln>
        </p:spPr>
      </p:sp>
      <p:sp>
        <p:nvSpPr>
          <p:cNvPr id="28" name="Text 25"/>
          <p:cNvSpPr txBox="1"/>
          <p:nvPr/>
        </p:nvSpPr>
        <p:spPr>
          <a:xfrm>
            <a:off x="7424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4</a:t>
            </a:r>
            <a:endParaRPr lang="en-US" sz="1200" dirty="0"/>
          </a:p>
        </p:txBody>
      </p:sp>
      <p:sp>
        <p:nvSpPr>
          <p:cNvPr id="29" name="Text 26"/>
          <p:cNvSpPr txBox="1"/>
          <p:nvPr/>
        </p:nvSpPr>
        <p:spPr>
          <a:xfrm>
            <a:off x="7863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Router (1.5E)</a:t>
            </a:r>
            <a:endParaRPr lang="en-US" sz="1200" dirty="0"/>
          </a:p>
        </p:txBody>
      </p:sp>
      <p:sp>
        <p:nvSpPr>
          <p:cNvPr id="30" name="Text 27"/>
          <p:cNvSpPr txBox="1"/>
          <p:nvPr/>
        </p:nvSpPr>
        <p:spPr>
          <a:xfrm>
            <a:off x="7443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0.60 × question + 0.40 × commentary; cosine ≥ 0.72 or top 3</a:t>
            </a:r>
            <a:endParaRPr lang="en-US" sz="1050" dirty="0"/>
          </a:p>
        </p:txBody>
      </p:sp>
      <p:sp>
        <p:nvSpPr>
          <p:cNvPr id="31" name="Shape 28"/>
          <p:cNvSpPr/>
          <p:nvPr/>
        </p:nvSpPr>
        <p:spPr>
          <a:xfrm>
            <a:off x="9436608" y="2075688"/>
            <a:ext cx="146304" cy="0"/>
          </a:xfrm>
          <a:prstGeom prst="line">
            <a:avLst/>
          </a:prstGeom>
          <a:noFill/>
          <a:ln w="15875">
            <a:solidFill>
              <a:srgbClr val="7D8A99"/>
            </a:solidFill>
            <a:prstDash val="solid"/>
            <a:tailEnd type="triangle"/>
          </a:ln>
        </p:spPr>
      </p:sp>
      <p:sp>
        <p:nvSpPr>
          <p:cNvPr id="32" name="Shape 29"/>
          <p:cNvSpPr/>
          <p:nvPr/>
        </p:nvSpPr>
        <p:spPr>
          <a:xfrm>
            <a:off x="9601200" y="1371600"/>
            <a:ext cx="2103120" cy="1417320"/>
          </a:xfrm>
          <a:prstGeom prst="roundRect">
            <a:avLst>
              <a:gd name="adj" fmla="val 4516"/>
            </a:avLst>
          </a:prstGeom>
          <a:solidFill>
            <a:srgbClr val="1D242E"/>
          </a:solidFill>
          <a:ln w="9525">
            <a:solidFill>
              <a:srgbClr val="323C49"/>
            </a:solidFill>
            <a:prstDash val="solid"/>
          </a:ln>
        </p:spPr>
      </p:sp>
      <p:sp>
        <p:nvSpPr>
          <p:cNvPr id="33" name="Shape 30"/>
          <p:cNvSpPr/>
          <p:nvPr/>
        </p:nvSpPr>
        <p:spPr>
          <a:xfrm>
            <a:off x="9710928" y="1463040"/>
            <a:ext cx="365760" cy="365760"/>
          </a:xfrm>
          <a:prstGeom prst="ellipse">
            <a:avLst/>
          </a:prstGeom>
          <a:solidFill>
            <a:srgbClr val="7FA8E8"/>
          </a:solidFill>
          <a:ln w="15875">
            <a:solidFill>
              <a:srgbClr val="7FA8E8"/>
            </a:solidFill>
            <a:prstDash val="solid"/>
          </a:ln>
        </p:spPr>
      </p:sp>
      <p:sp>
        <p:nvSpPr>
          <p:cNvPr id="34" name="Text 31"/>
          <p:cNvSpPr txBox="1"/>
          <p:nvPr/>
        </p:nvSpPr>
        <p:spPr>
          <a:xfrm>
            <a:off x="9710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5</a:t>
            </a:r>
            <a:endParaRPr lang="en-US" sz="1200" dirty="0"/>
          </a:p>
        </p:txBody>
      </p:sp>
      <p:sp>
        <p:nvSpPr>
          <p:cNvPr id="35" name="Text 32"/>
          <p:cNvSpPr txBox="1"/>
          <p:nvPr/>
        </p:nvSpPr>
        <p:spPr>
          <a:xfrm>
            <a:off x="10149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Engine 2</a:t>
            </a:r>
            <a:endParaRPr lang="en-US" sz="1200" dirty="0"/>
          </a:p>
        </p:txBody>
      </p:sp>
      <p:sp>
        <p:nvSpPr>
          <p:cNvPr id="36" name="Text 33"/>
          <p:cNvSpPr txBox="1"/>
          <p:nvPr/>
        </p:nvSpPr>
        <p:spPr>
          <a:xfrm>
            <a:off x="9729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filter by M* + shared domains; BM25 + dense 70 / 30; top 3–5</a:t>
            </a:r>
            <a:endParaRPr lang="en-US" sz="1050" dirty="0"/>
          </a:p>
        </p:txBody>
      </p:sp>
      <p:sp>
        <p:nvSpPr>
          <p:cNvPr id="37" name="Shape 34"/>
          <p:cNvSpPr/>
          <p:nvPr/>
        </p:nvSpPr>
        <p:spPr>
          <a:xfrm>
            <a:off x="457200" y="3063240"/>
            <a:ext cx="5513832" cy="1481328"/>
          </a:xfrm>
          <a:prstGeom prst="roundRect">
            <a:avLst>
              <a:gd name="adj" fmla="val 4321"/>
            </a:avLst>
          </a:prstGeom>
          <a:solidFill>
            <a:srgbClr val="1D242E"/>
          </a:solidFill>
          <a:ln w="9525">
            <a:solidFill>
              <a:srgbClr val="323C49"/>
            </a:solidFill>
            <a:prstDash val="solid"/>
          </a:ln>
        </p:spPr>
      </p:sp>
      <p:sp>
        <p:nvSpPr>
          <p:cNvPr id="38" name="Text 35"/>
          <p:cNvSpPr txBox="1"/>
          <p:nvPr/>
        </p:nvSpPr>
        <p:spPr>
          <a:xfrm>
            <a:off x="640080" y="317296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INSTANT PROMPTS (FILE D)</a:t>
            </a:r>
            <a:endParaRPr lang="en-US" sz="950" dirty="0"/>
          </a:p>
        </p:txBody>
      </p:sp>
      <p:sp>
        <p:nvSpPr>
          <p:cNvPr id="39" name="Text 36"/>
          <p:cNvSpPr txBox="1"/>
          <p:nvPr/>
        </p:nvSpPr>
        <p:spPr>
          <a:xfrm>
            <a:off x="640080" y="3474720"/>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One click under each chart sends a preset question (“current M5 SSA trend &amp; EDT channel situation…”), tagged INSTANT_M5_INSPECT or INSTANT_M15_INSPECT, and skips the ambiguity check.</a:t>
            </a:r>
            <a:endParaRPr lang="en-US" sz="1150" dirty="0"/>
          </a:p>
        </p:txBody>
      </p:sp>
      <p:sp>
        <p:nvSpPr>
          <p:cNvPr id="40" name="Shape 37"/>
          <p:cNvSpPr/>
          <p:nvPr/>
        </p:nvSpPr>
        <p:spPr>
          <a:xfrm>
            <a:off x="6126480" y="3063240"/>
            <a:ext cx="5513832" cy="1481328"/>
          </a:xfrm>
          <a:prstGeom prst="roundRect">
            <a:avLst>
              <a:gd name="adj" fmla="val 4321"/>
            </a:avLst>
          </a:prstGeom>
          <a:solidFill>
            <a:srgbClr val="1D242E"/>
          </a:solidFill>
          <a:ln w="9525">
            <a:solidFill>
              <a:srgbClr val="323C49"/>
            </a:solidFill>
            <a:prstDash val="solid"/>
          </a:ln>
        </p:spPr>
      </p:sp>
      <p:sp>
        <p:nvSpPr>
          <p:cNvPr id="41" name="Text 38"/>
          <p:cNvSpPr txBox="1"/>
          <p:nvPr/>
        </p:nvSpPr>
        <p:spPr>
          <a:xfrm>
            <a:off x="6309360" y="317296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ROUTER FILE (FILE A)</a:t>
            </a:r>
            <a:endParaRPr lang="en-US" sz="950" dirty="0"/>
          </a:p>
        </p:txBody>
      </p:sp>
      <p:sp>
        <p:nvSpPr>
          <p:cNvPr id="42" name="Text 39"/>
          <p:cNvSpPr txBox="1"/>
          <p:nvPr/>
        </p:nvSpPr>
        <p:spPr>
          <a:xfrm>
            <a:off x="6309360" y="3474720"/>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TRADING_ROUTER.md is compiled from each MCD’s output and spec: under 5 KB, under 300 bytes per module; module, domain, keywords, intents.</a:t>
            </a:r>
            <a:endParaRPr lang="en-US" sz="1150" dirty="0"/>
          </a:p>
        </p:txBody>
      </p:sp>
      <p:sp>
        <p:nvSpPr>
          <p:cNvPr id="43" name="Shape 40"/>
          <p:cNvSpPr/>
          <p:nvPr/>
        </p:nvSpPr>
        <p:spPr>
          <a:xfrm>
            <a:off x="457200" y="4690872"/>
            <a:ext cx="5513832" cy="1481328"/>
          </a:xfrm>
          <a:prstGeom prst="roundRect">
            <a:avLst>
              <a:gd name="adj" fmla="val 4321"/>
            </a:avLst>
          </a:prstGeom>
          <a:solidFill>
            <a:srgbClr val="1D242E"/>
          </a:solidFill>
          <a:ln w="9525">
            <a:solidFill>
              <a:srgbClr val="323C49"/>
            </a:solidFill>
            <a:prstDash val="solid"/>
          </a:ln>
        </p:spPr>
      </p:sp>
      <p:sp>
        <p:nvSpPr>
          <p:cNvPr id="44" name="Text 41"/>
          <p:cNvSpPr txBox="1"/>
          <p:nvPr/>
        </p:nvSpPr>
        <p:spPr>
          <a:xfrm>
            <a:off x="640080" y="4800600"/>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KNOWLEDGE DOMAINS (FILE A)</a:t>
            </a:r>
            <a:endParaRPr lang="en-US" sz="950" dirty="0"/>
          </a:p>
        </p:txBody>
      </p:sp>
      <p:sp>
        <p:nvSpPr>
          <p:cNvPr id="45" name="Text 42"/>
          <p:cNvSpPr txBox="1"/>
          <p:nvPr/>
        </p:nvSpPr>
        <p:spPr>
          <a:xfrm>
            <a:off x="640080" y="5102352"/>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D1 foundations · D2 single-MCD playbooks · D3 synthesis and conflict · D4 risk · D5 governance. Built from Markdown split on ## / ###, embedded with all-MiniLM, stored as Faiss + SQLite.</a:t>
            </a:r>
            <a:endParaRPr lang="en-US" sz="1150" dirty="0"/>
          </a:p>
        </p:txBody>
      </p:sp>
      <p:sp>
        <p:nvSpPr>
          <p:cNvPr id="46" name="Shape 43"/>
          <p:cNvSpPr/>
          <p:nvPr/>
        </p:nvSpPr>
        <p:spPr>
          <a:xfrm>
            <a:off x="6126480" y="4690872"/>
            <a:ext cx="5513832" cy="1481328"/>
          </a:xfrm>
          <a:prstGeom prst="roundRect">
            <a:avLst>
              <a:gd name="adj" fmla="val 4321"/>
            </a:avLst>
          </a:prstGeom>
          <a:solidFill>
            <a:srgbClr val="1D242E"/>
          </a:solidFill>
          <a:ln w="9525">
            <a:solidFill>
              <a:srgbClr val="323C49"/>
            </a:solidFill>
            <a:prstDash val="solid"/>
          </a:ln>
        </p:spPr>
      </p:sp>
      <p:sp>
        <p:nvSpPr>
          <p:cNvPr id="47" name="Text 44"/>
          <p:cNvSpPr txBox="1"/>
          <p:nvPr/>
        </p:nvSpPr>
        <p:spPr>
          <a:xfrm>
            <a:off x="6309360" y="4800600"/>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SEED RAG DESIGN</a:t>
            </a:r>
            <a:endParaRPr lang="en-US" sz="950" dirty="0"/>
          </a:p>
        </p:txBody>
      </p:sp>
      <p:sp>
        <p:nvSpPr>
          <p:cNvPr id="48" name="Text 45"/>
          <p:cNvSpPr txBox="1"/>
          <p:nvPr/>
        </p:nvSpPr>
        <p:spPr>
          <a:xfrm>
            <a:off x="6309360" y="5102352"/>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The retrieval query is built from the evaluation context, not the user’s raw message; chunks carry state and topic tags; related chunks are pulled in by cross-reference.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WHAT’S MISSING</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Eight gaps on the way from question to context</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4</a:t>
            </a:r>
            <a:endParaRPr lang="en-US" sz="1000" dirty="0"/>
          </a:p>
        </p:txBody>
      </p:sp>
      <p:sp>
        <p:nvSpPr>
          <p:cNvPr id="8" name="Shape 5"/>
          <p:cNvSpPr/>
          <p:nvPr/>
        </p:nvSpPr>
        <p:spPr>
          <a:xfrm>
            <a:off x="457200" y="1371600"/>
            <a:ext cx="2697480" cy="2359152"/>
          </a:xfrm>
          <a:prstGeom prst="roundRect">
            <a:avLst>
              <a:gd name="adj" fmla="val 2713"/>
            </a:avLst>
          </a:prstGeom>
          <a:solidFill>
            <a:srgbClr val="33201F"/>
          </a:solidFill>
          <a:ln w="15875">
            <a:solidFill>
              <a:srgbClr val="E5746A"/>
            </a:solidFill>
            <a:prstDash val="solid"/>
          </a:ln>
        </p:spPr>
      </p:sp>
      <p:sp>
        <p:nvSpPr>
          <p:cNvPr id="9" name="Shape 6"/>
          <p:cNvSpPr/>
          <p:nvPr/>
        </p:nvSpPr>
        <p:spPr>
          <a:xfrm>
            <a:off x="585216" y="1499616"/>
            <a:ext cx="438912" cy="438912"/>
          </a:xfrm>
          <a:prstGeom prst="ellipse">
            <a:avLst/>
          </a:prstGeom>
          <a:solidFill>
            <a:srgbClr val="0F1318"/>
          </a:solidFill>
          <a:ln w="12700">
            <a:solidFill>
              <a:srgbClr val="0F1318"/>
            </a:solidFill>
            <a:prstDash val="solid"/>
          </a:ln>
        </p:spPr>
      </p:sp>
      <p:pic>
        <p:nvPicPr>
          <p:cNvPr id="10" name="Image 0" descr="preencoded.png">    </p:cNvPr>
          <p:cNvPicPr>
            <a:picLocks noChangeAspect="1"/>
          </p:cNvPicPr>
          <p:nvPr/>
        </p:nvPicPr>
        <p:blipFill>
          <a:blip r:embed="rId1"/>
          <a:stretch>
            <a:fillRect/>
          </a:stretch>
        </p:blipFill>
        <p:spPr>
          <a:xfrm>
            <a:off x="686166" y="1600566"/>
            <a:ext cx="237012" cy="237012"/>
          </a:xfrm>
          <a:prstGeom prst="rect">
            <a:avLst/>
          </a:prstGeom>
        </p:spPr>
      </p:pic>
      <p:sp>
        <p:nvSpPr>
          <p:cNvPr id="11" name="Text 7"/>
          <p:cNvSpPr txBox="1"/>
          <p:nvPr/>
        </p:nvSpPr>
        <p:spPr>
          <a:xfrm>
            <a:off x="111556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English-only embedding</a:t>
            </a:r>
            <a:endParaRPr lang="en-US" sz="1200" dirty="0"/>
          </a:p>
        </p:txBody>
      </p:sp>
      <p:sp>
        <p:nvSpPr>
          <p:cNvPr id="12" name="Text 8"/>
          <p:cNvSpPr txBox="1"/>
          <p:nvPr/>
        </p:nvSpPr>
        <p:spPr>
          <a:xfrm>
            <a:off x="603504" y="2048256"/>
            <a:ext cx="2432304" cy="1097280"/>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all-MiniLM is English; questions arrive in 16 languages. Word-based keyword search also differs by script.</a:t>
            </a:r>
            <a:endParaRPr lang="en-US" sz="1050" dirty="0"/>
          </a:p>
        </p:txBody>
      </p:sp>
      <p:sp>
        <p:nvSpPr>
          <p:cNvPr id="13" name="Text 9"/>
          <p:cNvSpPr txBox="1"/>
          <p:nvPr/>
        </p:nvSpPr>
        <p:spPr>
          <a:xfrm>
            <a:off x="60350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Most users’ questions route badly.</a:t>
            </a:r>
            <a:endParaRPr lang="en-US" sz="1000" dirty="0"/>
          </a:p>
        </p:txBody>
      </p:sp>
      <p:sp>
        <p:nvSpPr>
          <p:cNvPr id="14" name="Shape 10"/>
          <p:cNvSpPr/>
          <p:nvPr/>
        </p:nvSpPr>
        <p:spPr>
          <a:xfrm>
            <a:off x="3291840" y="1371600"/>
            <a:ext cx="2697480" cy="2359152"/>
          </a:xfrm>
          <a:prstGeom prst="roundRect">
            <a:avLst>
              <a:gd name="adj" fmla="val 2713"/>
            </a:avLst>
          </a:prstGeom>
          <a:solidFill>
            <a:srgbClr val="1D242E"/>
          </a:solidFill>
          <a:ln w="9525">
            <a:solidFill>
              <a:srgbClr val="323C49"/>
            </a:solidFill>
            <a:prstDash val="solid"/>
          </a:ln>
        </p:spPr>
      </p:sp>
      <p:sp>
        <p:nvSpPr>
          <p:cNvPr id="15" name="Shape 11"/>
          <p:cNvSpPr/>
          <p:nvPr/>
        </p:nvSpPr>
        <p:spPr>
          <a:xfrm>
            <a:off x="3419856" y="1499616"/>
            <a:ext cx="438912" cy="438912"/>
          </a:xfrm>
          <a:prstGeom prst="ellipse">
            <a:avLst/>
          </a:prstGeom>
          <a:solidFill>
            <a:srgbClr val="0F1318"/>
          </a:solidFill>
          <a:ln w="12700">
            <a:solidFill>
              <a:srgbClr val="0F1318"/>
            </a:solidFill>
            <a:prstDash val="solid"/>
          </a:ln>
        </p:spPr>
      </p:sp>
      <p:pic>
        <p:nvPicPr>
          <p:cNvPr id="16" name="Image 1" descr="preencoded.png">    </p:cNvPr>
          <p:cNvPicPr>
            <a:picLocks noChangeAspect="1"/>
          </p:cNvPicPr>
          <p:nvPr/>
        </p:nvPicPr>
        <p:blipFill>
          <a:blip r:embed="rId2"/>
          <a:stretch>
            <a:fillRect/>
          </a:stretch>
        </p:blipFill>
        <p:spPr>
          <a:xfrm>
            <a:off x="3520806" y="1600566"/>
            <a:ext cx="237012" cy="237012"/>
          </a:xfrm>
          <a:prstGeom prst="rect">
            <a:avLst/>
          </a:prstGeom>
        </p:spPr>
      </p:pic>
      <p:sp>
        <p:nvSpPr>
          <p:cNvPr id="17" name="Text 12"/>
          <p:cNvSpPr txBox="1"/>
          <p:nvPr/>
        </p:nvSpPr>
        <p:spPr>
          <a:xfrm>
            <a:off x="395020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Router on raw numbers</a:t>
            </a:r>
            <a:endParaRPr lang="en-US" sz="1200" dirty="0"/>
          </a:p>
        </p:txBody>
      </p:sp>
      <p:sp>
        <p:nvSpPr>
          <p:cNvPr id="18" name="Text 13"/>
          <p:cNvSpPr txBox="1"/>
          <p:nvPr/>
        </p:nvSpPr>
        <p:spPr>
          <a:xfrm>
            <a:off x="343814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Embeds commentary like “angle −29.72°”. α = 0.60 and θ = 0.72 have no basis; router rows describe MCDs never built.</a:t>
            </a:r>
            <a:endParaRPr lang="en-US" sz="1050" dirty="0"/>
          </a:p>
        </p:txBody>
      </p:sp>
      <p:sp>
        <p:nvSpPr>
          <p:cNvPr id="19" name="Text 14"/>
          <p:cNvSpPr txBox="1"/>
          <p:nvPr/>
        </p:nvSpPr>
        <p:spPr>
          <a:xfrm>
            <a:off x="343814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Routing can’t be tested or explained.</a:t>
            </a:r>
            <a:endParaRPr lang="en-US" sz="1000" dirty="0"/>
          </a:p>
        </p:txBody>
      </p:sp>
      <p:sp>
        <p:nvSpPr>
          <p:cNvPr id="20" name="Shape 15"/>
          <p:cNvSpPr/>
          <p:nvPr/>
        </p:nvSpPr>
        <p:spPr>
          <a:xfrm>
            <a:off x="6126480" y="1371600"/>
            <a:ext cx="2697480" cy="2359152"/>
          </a:xfrm>
          <a:prstGeom prst="roundRect">
            <a:avLst>
              <a:gd name="adj" fmla="val 2713"/>
            </a:avLst>
          </a:prstGeom>
          <a:solidFill>
            <a:srgbClr val="1D242E"/>
          </a:solidFill>
          <a:ln w="9525">
            <a:solidFill>
              <a:srgbClr val="323C49"/>
            </a:solidFill>
            <a:prstDash val="solid"/>
          </a:ln>
        </p:spPr>
      </p:sp>
      <p:sp>
        <p:nvSpPr>
          <p:cNvPr id="21" name="Shape 16"/>
          <p:cNvSpPr/>
          <p:nvPr/>
        </p:nvSpPr>
        <p:spPr>
          <a:xfrm>
            <a:off x="6254496" y="1499616"/>
            <a:ext cx="438912" cy="438912"/>
          </a:xfrm>
          <a:prstGeom prst="ellipse">
            <a:avLst/>
          </a:prstGeom>
          <a:solidFill>
            <a:srgbClr val="0F1318"/>
          </a:solidFill>
          <a:ln w="12700">
            <a:solidFill>
              <a:srgbClr val="0F1318"/>
            </a:solidFill>
            <a:prstDash val="solid"/>
          </a:ln>
        </p:spPr>
      </p:sp>
      <p:pic>
        <p:nvPicPr>
          <p:cNvPr id="22" name="Image 2" descr="preencoded.png">    </p:cNvPr>
          <p:cNvPicPr>
            <a:picLocks noChangeAspect="1"/>
          </p:cNvPicPr>
          <p:nvPr/>
        </p:nvPicPr>
        <p:blipFill>
          <a:blip r:embed="rId3"/>
          <a:stretch>
            <a:fillRect/>
          </a:stretch>
        </p:blipFill>
        <p:spPr>
          <a:xfrm>
            <a:off x="6355446" y="1600566"/>
            <a:ext cx="237012" cy="237012"/>
          </a:xfrm>
          <a:prstGeom prst="rect">
            <a:avLst/>
          </a:prstGeom>
        </p:spPr>
      </p:pic>
      <p:sp>
        <p:nvSpPr>
          <p:cNvPr id="23" name="Text 17"/>
          <p:cNvSpPr txBox="1"/>
          <p:nvPr/>
        </p:nvSpPr>
        <p:spPr>
          <a:xfrm>
            <a:off x="678484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Routed-out sensors vanish</a:t>
            </a:r>
            <a:endParaRPr lang="en-US" sz="1200" dirty="0"/>
          </a:p>
        </p:txBody>
      </p:sp>
      <p:sp>
        <p:nvSpPr>
          <p:cNvPr id="24" name="Text 18"/>
          <p:cNvSpPr txBox="1"/>
          <p:nvPr/>
        </p:nvSpPr>
        <p:spPr>
          <a:xfrm>
            <a:off x="627278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Only M* reaches the prompt. A stand-aside from a sensor outside M* is never seen.</a:t>
            </a:r>
            <a:endParaRPr lang="en-US" sz="1050" dirty="0"/>
          </a:p>
        </p:txBody>
      </p:sp>
      <p:sp>
        <p:nvSpPr>
          <p:cNvPr id="25" name="Text 19"/>
          <p:cNvSpPr txBox="1"/>
          <p:nvPr/>
        </p:nvSpPr>
        <p:spPr>
          <a:xfrm>
            <a:off x="627278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The AI can miss a warning.</a:t>
            </a:r>
            <a:endParaRPr lang="en-US" sz="1000" dirty="0"/>
          </a:p>
        </p:txBody>
      </p:sp>
      <p:sp>
        <p:nvSpPr>
          <p:cNvPr id="26" name="Shape 20"/>
          <p:cNvSpPr/>
          <p:nvPr/>
        </p:nvSpPr>
        <p:spPr>
          <a:xfrm>
            <a:off x="8961120" y="1371600"/>
            <a:ext cx="2697480" cy="2359152"/>
          </a:xfrm>
          <a:prstGeom prst="roundRect">
            <a:avLst>
              <a:gd name="adj" fmla="val 2713"/>
            </a:avLst>
          </a:prstGeom>
          <a:solidFill>
            <a:srgbClr val="1D242E"/>
          </a:solidFill>
          <a:ln w="9525">
            <a:solidFill>
              <a:srgbClr val="323C49"/>
            </a:solidFill>
            <a:prstDash val="solid"/>
          </a:ln>
        </p:spPr>
      </p:sp>
      <p:sp>
        <p:nvSpPr>
          <p:cNvPr id="27" name="Shape 21"/>
          <p:cNvSpPr/>
          <p:nvPr/>
        </p:nvSpPr>
        <p:spPr>
          <a:xfrm>
            <a:off x="9089136" y="1499616"/>
            <a:ext cx="438912" cy="438912"/>
          </a:xfrm>
          <a:prstGeom prst="ellipse">
            <a:avLst/>
          </a:prstGeom>
          <a:solidFill>
            <a:srgbClr val="0F1318"/>
          </a:solidFill>
          <a:ln w="12700">
            <a:solidFill>
              <a:srgbClr val="0F1318"/>
            </a:solidFill>
            <a:prstDash val="solid"/>
          </a:ln>
        </p:spPr>
      </p:sp>
      <p:pic>
        <p:nvPicPr>
          <p:cNvPr id="28" name="Image 3" descr="preencoded.png">    </p:cNvPr>
          <p:cNvPicPr>
            <a:picLocks noChangeAspect="1"/>
          </p:cNvPicPr>
          <p:nvPr/>
        </p:nvPicPr>
        <p:blipFill>
          <a:blip r:embed="rId4"/>
          <a:stretch>
            <a:fillRect/>
          </a:stretch>
        </p:blipFill>
        <p:spPr>
          <a:xfrm>
            <a:off x="9190086" y="1600566"/>
            <a:ext cx="237012" cy="237012"/>
          </a:xfrm>
          <a:prstGeom prst="rect">
            <a:avLst/>
          </a:prstGeom>
        </p:spPr>
      </p:pic>
      <p:sp>
        <p:nvSpPr>
          <p:cNvPr id="29" name="Text 22"/>
          <p:cNvSpPr txBox="1"/>
          <p:nvPr/>
        </p:nvSpPr>
        <p:spPr>
          <a:xfrm>
            <a:off x="961948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txtai used wrongly</a:t>
            </a:r>
            <a:endParaRPr lang="en-US" sz="1200" dirty="0"/>
          </a:p>
        </p:txBody>
      </p:sp>
      <p:sp>
        <p:nvSpPr>
          <p:cNvPr id="30" name="Text 23"/>
          <p:cNvSpPr txBox="1"/>
          <p:nvPr/>
        </p:nvSpPr>
        <p:spPr>
          <a:xfrm>
            <a:off x="910742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The pseudo-code passes a filter argument txtai doesn’t have; tag names differ (“risk” vs “risk_management”).</a:t>
            </a:r>
            <a:endParaRPr lang="en-US" sz="1050" dirty="0"/>
          </a:p>
        </p:txBody>
      </p:sp>
      <p:sp>
        <p:nvSpPr>
          <p:cNvPr id="31" name="Text 24"/>
          <p:cNvSpPr txBox="1"/>
          <p:nvPr/>
        </p:nvSpPr>
        <p:spPr>
          <a:xfrm>
            <a:off x="910742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Filtered retrieval would fail at first run.</a:t>
            </a:r>
            <a:endParaRPr lang="en-US" sz="1000" dirty="0"/>
          </a:p>
        </p:txBody>
      </p:sp>
      <p:sp>
        <p:nvSpPr>
          <p:cNvPr id="32" name="Shape 25"/>
          <p:cNvSpPr/>
          <p:nvPr/>
        </p:nvSpPr>
        <p:spPr>
          <a:xfrm>
            <a:off x="457200" y="3858768"/>
            <a:ext cx="2697480" cy="2359152"/>
          </a:xfrm>
          <a:prstGeom prst="roundRect">
            <a:avLst>
              <a:gd name="adj" fmla="val 2713"/>
            </a:avLst>
          </a:prstGeom>
          <a:solidFill>
            <a:srgbClr val="1D242E"/>
          </a:solidFill>
          <a:ln w="9525">
            <a:solidFill>
              <a:srgbClr val="323C49"/>
            </a:solidFill>
            <a:prstDash val="solid"/>
          </a:ln>
        </p:spPr>
      </p:sp>
      <p:sp>
        <p:nvSpPr>
          <p:cNvPr id="33" name="Shape 26"/>
          <p:cNvSpPr/>
          <p:nvPr/>
        </p:nvSpPr>
        <p:spPr>
          <a:xfrm>
            <a:off x="585216" y="3986784"/>
            <a:ext cx="438912" cy="438912"/>
          </a:xfrm>
          <a:prstGeom prst="ellipse">
            <a:avLst/>
          </a:prstGeom>
          <a:solidFill>
            <a:srgbClr val="0F1318"/>
          </a:solidFill>
          <a:ln w="12700">
            <a:solidFill>
              <a:srgbClr val="0F1318"/>
            </a:solidFill>
            <a:prstDash val="solid"/>
          </a:ln>
        </p:spPr>
      </p:sp>
      <p:pic>
        <p:nvPicPr>
          <p:cNvPr id="34" name="Image 4" descr="preencoded.png">    </p:cNvPr>
          <p:cNvPicPr>
            <a:picLocks noChangeAspect="1"/>
          </p:cNvPicPr>
          <p:nvPr/>
        </p:nvPicPr>
        <p:blipFill>
          <a:blip r:embed="rId5"/>
          <a:stretch>
            <a:fillRect/>
          </a:stretch>
        </p:blipFill>
        <p:spPr>
          <a:xfrm>
            <a:off x="686166" y="4087734"/>
            <a:ext cx="237012" cy="237012"/>
          </a:xfrm>
          <a:prstGeom prst="rect">
            <a:avLst/>
          </a:prstGeom>
        </p:spPr>
      </p:pic>
      <p:sp>
        <p:nvSpPr>
          <p:cNvPr id="35" name="Text 27"/>
          <p:cNvSpPr txBox="1"/>
          <p:nvPr/>
        </p:nvSpPr>
        <p:spPr>
          <a:xfrm>
            <a:off x="111556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No corpus, no tests</a:t>
            </a:r>
            <a:endParaRPr lang="en-US" sz="1200" dirty="0"/>
          </a:p>
        </p:txBody>
      </p:sp>
      <p:sp>
        <p:nvSpPr>
          <p:cNvPr id="36" name="Text 28"/>
          <p:cNvSpPr txBox="1"/>
          <p:nvPr/>
        </p:nvSpPr>
        <p:spPr>
          <a:xfrm>
            <a:off x="60350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The five domains are folders in a plan. Nothing measures whether retrieval finds the right chunk.</a:t>
            </a:r>
            <a:endParaRPr lang="en-US" sz="1050" dirty="0"/>
          </a:p>
        </p:txBody>
      </p:sp>
      <p:sp>
        <p:nvSpPr>
          <p:cNvPr id="37" name="Text 29"/>
          <p:cNvSpPr txBox="1"/>
          <p:nvPr/>
        </p:nvSpPr>
        <p:spPr>
          <a:xfrm>
            <a:off x="60350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Quality is unknown until users complain.</a:t>
            </a:r>
            <a:endParaRPr lang="en-US" sz="1000" dirty="0"/>
          </a:p>
        </p:txBody>
      </p:sp>
      <p:sp>
        <p:nvSpPr>
          <p:cNvPr id="38" name="Shape 30"/>
          <p:cNvSpPr/>
          <p:nvPr/>
        </p:nvSpPr>
        <p:spPr>
          <a:xfrm>
            <a:off x="3291840" y="3858768"/>
            <a:ext cx="2697480" cy="2359152"/>
          </a:xfrm>
          <a:prstGeom prst="roundRect">
            <a:avLst>
              <a:gd name="adj" fmla="val 2713"/>
            </a:avLst>
          </a:prstGeom>
          <a:solidFill>
            <a:srgbClr val="1D242E"/>
          </a:solidFill>
          <a:ln w="9525">
            <a:solidFill>
              <a:srgbClr val="323C49"/>
            </a:solidFill>
            <a:prstDash val="solid"/>
          </a:ln>
        </p:spPr>
      </p:sp>
      <p:sp>
        <p:nvSpPr>
          <p:cNvPr id="39" name="Shape 31"/>
          <p:cNvSpPr/>
          <p:nvPr/>
        </p:nvSpPr>
        <p:spPr>
          <a:xfrm>
            <a:off x="3419856" y="3986784"/>
            <a:ext cx="438912" cy="438912"/>
          </a:xfrm>
          <a:prstGeom prst="ellipse">
            <a:avLst/>
          </a:prstGeom>
          <a:solidFill>
            <a:srgbClr val="0F1318"/>
          </a:solidFill>
          <a:ln w="12700">
            <a:solidFill>
              <a:srgbClr val="0F1318"/>
            </a:solidFill>
            <a:prstDash val="solid"/>
          </a:ln>
        </p:spPr>
      </p:sp>
      <p:pic>
        <p:nvPicPr>
          <p:cNvPr id="40" name="Image 5" descr="preencoded.png">    </p:cNvPr>
          <p:cNvPicPr>
            <a:picLocks noChangeAspect="1"/>
          </p:cNvPicPr>
          <p:nvPr/>
        </p:nvPicPr>
        <p:blipFill>
          <a:blip r:embed="rId6"/>
          <a:stretch>
            <a:fillRect/>
          </a:stretch>
        </p:blipFill>
        <p:spPr>
          <a:xfrm>
            <a:off x="3520806" y="4087734"/>
            <a:ext cx="237012" cy="237012"/>
          </a:xfrm>
          <a:prstGeom prst="rect">
            <a:avLst/>
          </a:prstGeom>
        </p:spPr>
      </p:pic>
      <p:sp>
        <p:nvSpPr>
          <p:cNvPr id="41" name="Text 32"/>
          <p:cNvSpPr txBox="1"/>
          <p:nvPr/>
        </p:nvSpPr>
        <p:spPr>
          <a:xfrm>
            <a:off x="395020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Raw message as the query</a:t>
            </a:r>
            <a:endParaRPr lang="en-US" sz="1200" dirty="0"/>
          </a:p>
        </p:txBody>
      </p:sp>
      <p:sp>
        <p:nvSpPr>
          <p:cNvPr id="42" name="Text 33"/>
          <p:cNvSpPr txBox="1"/>
          <p:nvPr/>
        </p:nvSpPr>
        <p:spPr>
          <a:xfrm>
            <a:off x="343814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File A searches with the user’s own words; the seed design builds the query from context.</a:t>
            </a:r>
            <a:endParaRPr lang="en-US" sz="1050" dirty="0"/>
          </a:p>
        </p:txBody>
      </p:sp>
      <p:sp>
        <p:nvSpPr>
          <p:cNvPr id="43" name="Text 34"/>
          <p:cNvSpPr txBox="1"/>
          <p:nvPr/>
        </p:nvSpPr>
        <p:spPr>
          <a:xfrm>
            <a:off x="343814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Chatty questions retrieve noise.</a:t>
            </a:r>
            <a:endParaRPr lang="en-US" sz="1000" dirty="0"/>
          </a:p>
        </p:txBody>
      </p:sp>
      <p:sp>
        <p:nvSpPr>
          <p:cNvPr id="44" name="Shape 35"/>
          <p:cNvSpPr/>
          <p:nvPr/>
        </p:nvSpPr>
        <p:spPr>
          <a:xfrm>
            <a:off x="6126480" y="3858768"/>
            <a:ext cx="2697480" cy="2359152"/>
          </a:xfrm>
          <a:prstGeom prst="roundRect">
            <a:avLst>
              <a:gd name="adj" fmla="val 2713"/>
            </a:avLst>
          </a:prstGeom>
          <a:solidFill>
            <a:srgbClr val="1D242E"/>
          </a:solidFill>
          <a:ln w="9525">
            <a:solidFill>
              <a:srgbClr val="323C49"/>
            </a:solidFill>
            <a:prstDash val="solid"/>
          </a:ln>
        </p:spPr>
      </p:sp>
      <p:sp>
        <p:nvSpPr>
          <p:cNvPr id="45" name="Shape 36"/>
          <p:cNvSpPr/>
          <p:nvPr/>
        </p:nvSpPr>
        <p:spPr>
          <a:xfrm>
            <a:off x="6254496" y="3986784"/>
            <a:ext cx="438912" cy="438912"/>
          </a:xfrm>
          <a:prstGeom prst="ellipse">
            <a:avLst/>
          </a:prstGeom>
          <a:solidFill>
            <a:srgbClr val="0F1318"/>
          </a:solidFill>
          <a:ln w="12700">
            <a:solidFill>
              <a:srgbClr val="0F1318"/>
            </a:solidFill>
            <a:prstDash val="solid"/>
          </a:ln>
        </p:spPr>
      </p:sp>
      <p:pic>
        <p:nvPicPr>
          <p:cNvPr id="46" name="Image 6" descr="preencoded.png">    </p:cNvPr>
          <p:cNvPicPr>
            <a:picLocks noChangeAspect="1"/>
          </p:cNvPicPr>
          <p:nvPr/>
        </p:nvPicPr>
        <p:blipFill>
          <a:blip r:embed="rId7"/>
          <a:stretch>
            <a:fillRect/>
          </a:stretch>
        </p:blipFill>
        <p:spPr>
          <a:xfrm>
            <a:off x="6355446" y="4087734"/>
            <a:ext cx="237012" cy="237012"/>
          </a:xfrm>
          <a:prstGeom prst="rect">
            <a:avLst/>
          </a:prstGeom>
        </p:spPr>
      </p:pic>
      <p:sp>
        <p:nvSpPr>
          <p:cNvPr id="47" name="Text 37"/>
          <p:cNvSpPr txBox="1"/>
          <p:nvPr/>
        </p:nvSpPr>
        <p:spPr>
          <a:xfrm>
            <a:off x="678484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Intake ignores the snapshot</a:t>
            </a:r>
            <a:endParaRPr lang="en-US" sz="1200" dirty="0"/>
          </a:p>
        </p:txBody>
      </p:sp>
      <p:sp>
        <p:nvSpPr>
          <p:cNvPr id="48" name="Text 38"/>
          <p:cNvSpPr txBox="1"/>
          <p:nvPr/>
        </p:nvSpPr>
        <p:spPr>
          <a:xfrm>
            <a:off x="627278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The gate checks tier and quota, not data status, and doesn’t pick the trader-type synthesis.</a:t>
            </a:r>
            <a:endParaRPr lang="en-US" sz="1050" dirty="0"/>
          </a:p>
        </p:txBody>
      </p:sp>
      <p:sp>
        <p:nvSpPr>
          <p:cNvPr id="49" name="Text 39"/>
          <p:cNvSpPr txBox="1"/>
          <p:nvPr/>
        </p:nvSpPr>
        <p:spPr>
          <a:xfrm>
            <a:off x="627278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Stale or mismatched context slips through.</a:t>
            </a:r>
            <a:endParaRPr lang="en-US" sz="1000" dirty="0"/>
          </a:p>
        </p:txBody>
      </p:sp>
      <p:sp>
        <p:nvSpPr>
          <p:cNvPr id="50" name="Shape 40"/>
          <p:cNvSpPr/>
          <p:nvPr/>
        </p:nvSpPr>
        <p:spPr>
          <a:xfrm>
            <a:off x="8961120" y="3858768"/>
            <a:ext cx="2697480" cy="2359152"/>
          </a:xfrm>
          <a:prstGeom prst="roundRect">
            <a:avLst>
              <a:gd name="adj" fmla="val 2713"/>
            </a:avLst>
          </a:prstGeom>
          <a:solidFill>
            <a:srgbClr val="1D242E"/>
          </a:solidFill>
          <a:ln w="9525">
            <a:solidFill>
              <a:srgbClr val="323C49"/>
            </a:solidFill>
            <a:prstDash val="solid"/>
          </a:ln>
        </p:spPr>
      </p:sp>
      <p:sp>
        <p:nvSpPr>
          <p:cNvPr id="51" name="Shape 41"/>
          <p:cNvSpPr/>
          <p:nvPr/>
        </p:nvSpPr>
        <p:spPr>
          <a:xfrm>
            <a:off x="9089136" y="3986784"/>
            <a:ext cx="438912" cy="438912"/>
          </a:xfrm>
          <a:prstGeom prst="ellipse">
            <a:avLst/>
          </a:prstGeom>
          <a:solidFill>
            <a:srgbClr val="0F1318"/>
          </a:solidFill>
          <a:ln w="12700">
            <a:solidFill>
              <a:srgbClr val="0F1318"/>
            </a:solidFill>
            <a:prstDash val="solid"/>
          </a:ln>
        </p:spPr>
      </p:sp>
      <p:pic>
        <p:nvPicPr>
          <p:cNvPr id="52" name="Image 7" descr="preencoded.png">    </p:cNvPr>
          <p:cNvPicPr>
            <a:picLocks noChangeAspect="1"/>
          </p:cNvPicPr>
          <p:nvPr/>
        </p:nvPicPr>
        <p:blipFill>
          <a:blip r:embed="rId8"/>
          <a:stretch>
            <a:fillRect/>
          </a:stretch>
        </p:blipFill>
        <p:spPr>
          <a:xfrm>
            <a:off x="9190086" y="4087734"/>
            <a:ext cx="237012" cy="237012"/>
          </a:xfrm>
          <a:prstGeom prst="rect">
            <a:avLst/>
          </a:prstGeom>
        </p:spPr>
      </p:pic>
      <p:sp>
        <p:nvSpPr>
          <p:cNvPr id="53" name="Text 42"/>
          <p:cNvSpPr txBox="1"/>
          <p:nvPr/>
        </p:nvSpPr>
        <p:spPr>
          <a:xfrm>
            <a:off x="961948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Tier rules disagree</a:t>
            </a:r>
            <a:endParaRPr lang="en-US" sz="1200" dirty="0"/>
          </a:p>
        </p:txBody>
      </p:sp>
      <p:sp>
        <p:nvSpPr>
          <p:cNvPr id="54" name="Text 43"/>
          <p:cNvSpPr txBox="1"/>
          <p:nvPr/>
        </p:nvSpPr>
        <p:spPr>
          <a:xfrm>
            <a:off x="910742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PRO only (A, deployed UI) vs Free 50k tokens (D) vs Free 20 a day (I).</a:t>
            </a:r>
            <a:endParaRPr lang="en-US" sz="1050" dirty="0"/>
          </a:p>
        </p:txBody>
      </p:sp>
      <p:sp>
        <p:nvSpPr>
          <p:cNvPr id="55" name="Text 44"/>
          <p:cNvSpPr txBox="1"/>
          <p:nvPr/>
        </p:nvSpPr>
        <p:spPr>
          <a:xfrm>
            <a:off x="910742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The gate can’t be built yet (Section 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REVISED DESIGN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request path, step by step</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457200" y="1371600"/>
            <a:ext cx="2697480" cy="2286000"/>
          </a:xfrm>
          <a:prstGeom prst="roundRect">
            <a:avLst>
              <a:gd name="adj" fmla="val 2800"/>
            </a:avLst>
          </a:prstGeom>
          <a:solidFill>
            <a:srgbClr val="1D242E"/>
          </a:solidFill>
          <a:ln w="9525">
            <a:solidFill>
              <a:srgbClr val="323C49"/>
            </a:solidFill>
            <a:prstDash val="solid"/>
          </a:ln>
        </p:spPr>
      </p:sp>
      <p:sp>
        <p:nvSpPr>
          <p:cNvPr id="9" name="Shape 6"/>
          <p:cNvSpPr/>
          <p:nvPr/>
        </p:nvSpPr>
        <p:spPr>
          <a:xfrm>
            <a:off x="585216" y="1499616"/>
            <a:ext cx="420624" cy="420624"/>
          </a:xfrm>
          <a:prstGeom prst="ellipse">
            <a:avLst/>
          </a:prstGeom>
          <a:solidFill>
            <a:srgbClr val="E2B54E"/>
          </a:solidFill>
          <a:ln w="15875">
            <a:solidFill>
              <a:srgbClr val="E2B54E"/>
            </a:solidFill>
            <a:prstDash val="solid"/>
          </a:ln>
        </p:spPr>
      </p:sp>
      <p:sp>
        <p:nvSpPr>
          <p:cNvPr id="10" name="Text 7"/>
          <p:cNvSpPr txBox="1"/>
          <p:nvPr/>
        </p:nvSpPr>
        <p:spPr>
          <a:xfrm>
            <a:off x="58521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1</a:t>
            </a:r>
            <a:endParaRPr lang="en-US" sz="1400" dirty="0"/>
          </a:p>
        </p:txBody>
      </p:sp>
      <p:sp>
        <p:nvSpPr>
          <p:cNvPr id="11" name="Text 8"/>
          <p:cNvSpPr txBox="1"/>
          <p:nvPr/>
        </p:nvSpPr>
        <p:spPr>
          <a:xfrm>
            <a:off x="111556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Gate</a:t>
            </a:r>
            <a:endParaRPr lang="en-US" sz="1400" dirty="0"/>
          </a:p>
        </p:txBody>
      </p:sp>
      <p:sp>
        <p:nvSpPr>
          <p:cNvPr id="12" name="Text 9"/>
          <p:cNvSpPr txBox="1"/>
          <p:nvPr/>
        </p:nvSpPr>
        <p:spPr>
          <a:xfrm>
            <a:off x="62179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Signed in · tier allows it (Section 7 table) · quota pre-check · XAUUSD thread · Engine 4 profile confirmed</a:t>
            </a:r>
            <a:endParaRPr lang="en-US" sz="1250" dirty="0"/>
          </a:p>
        </p:txBody>
      </p:sp>
      <p:sp>
        <p:nvSpPr>
          <p:cNvPr id="13" name="Shape 10"/>
          <p:cNvSpPr/>
          <p:nvPr/>
        </p:nvSpPr>
        <p:spPr>
          <a:xfrm>
            <a:off x="3172968" y="1709928"/>
            <a:ext cx="100584" cy="0"/>
          </a:xfrm>
          <a:prstGeom prst="line">
            <a:avLst/>
          </a:prstGeom>
          <a:noFill/>
          <a:ln w="15875">
            <a:solidFill>
              <a:srgbClr val="E2B54E"/>
            </a:solidFill>
            <a:prstDash val="solid"/>
            <a:tailEnd type="triangle"/>
          </a:ln>
        </p:spPr>
      </p:sp>
      <p:sp>
        <p:nvSpPr>
          <p:cNvPr id="14" name="Shape 11"/>
          <p:cNvSpPr/>
          <p:nvPr/>
        </p:nvSpPr>
        <p:spPr>
          <a:xfrm>
            <a:off x="3291840" y="1371600"/>
            <a:ext cx="2697480" cy="2286000"/>
          </a:xfrm>
          <a:prstGeom prst="roundRect">
            <a:avLst>
              <a:gd name="adj" fmla="val 2800"/>
            </a:avLst>
          </a:prstGeom>
          <a:solidFill>
            <a:srgbClr val="1D242E"/>
          </a:solidFill>
          <a:ln w="15875">
            <a:solidFill>
              <a:srgbClr val="E2B54E"/>
            </a:solidFill>
            <a:prstDash val="solid"/>
          </a:ln>
        </p:spPr>
      </p:sp>
      <p:sp>
        <p:nvSpPr>
          <p:cNvPr id="15" name="Shape 12"/>
          <p:cNvSpPr/>
          <p:nvPr/>
        </p:nvSpPr>
        <p:spPr>
          <a:xfrm>
            <a:off x="3419856" y="1499616"/>
            <a:ext cx="420624" cy="420624"/>
          </a:xfrm>
          <a:prstGeom prst="ellipse">
            <a:avLst/>
          </a:prstGeom>
          <a:solidFill>
            <a:srgbClr val="E2B54E"/>
          </a:solidFill>
          <a:ln w="15875">
            <a:solidFill>
              <a:srgbClr val="E2B54E"/>
            </a:solidFill>
            <a:prstDash val="solid"/>
          </a:ln>
        </p:spPr>
      </p:sp>
      <p:sp>
        <p:nvSpPr>
          <p:cNvPr id="16" name="Text 13"/>
          <p:cNvSpPr txBox="1"/>
          <p:nvPr/>
        </p:nvSpPr>
        <p:spPr>
          <a:xfrm>
            <a:off x="341985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395020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Understand</a:t>
            </a:r>
            <a:endParaRPr lang="en-US" sz="1400" dirty="0"/>
          </a:p>
        </p:txBody>
      </p:sp>
      <p:sp>
        <p:nvSpPr>
          <p:cNvPr id="18" name="Text 15"/>
          <p:cNvSpPr txBox="1"/>
          <p:nvPr/>
        </p:nvSpPr>
        <p:spPr>
          <a:xfrm>
            <a:off x="345643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One small model call returns: language, English text, intent label, symbols and timeframes mentioned</a:t>
            </a:r>
            <a:endParaRPr lang="en-US" sz="1250" dirty="0"/>
          </a:p>
        </p:txBody>
      </p:sp>
      <p:sp>
        <p:nvSpPr>
          <p:cNvPr id="19" name="Shape 16"/>
          <p:cNvSpPr/>
          <p:nvPr/>
        </p:nvSpPr>
        <p:spPr>
          <a:xfrm>
            <a:off x="6007608" y="1709928"/>
            <a:ext cx="100584" cy="0"/>
          </a:xfrm>
          <a:prstGeom prst="line">
            <a:avLst/>
          </a:prstGeom>
          <a:noFill/>
          <a:ln w="15875">
            <a:solidFill>
              <a:srgbClr val="E2B54E"/>
            </a:solidFill>
            <a:prstDash val="solid"/>
            <a:tailEnd type="triangle"/>
          </a:ln>
        </p:spPr>
      </p:sp>
      <p:sp>
        <p:nvSpPr>
          <p:cNvPr id="20" name="Shape 17"/>
          <p:cNvSpPr/>
          <p:nvPr/>
        </p:nvSpPr>
        <p:spPr>
          <a:xfrm>
            <a:off x="6126480" y="1371600"/>
            <a:ext cx="2697480" cy="2286000"/>
          </a:xfrm>
          <a:prstGeom prst="roundRect">
            <a:avLst>
              <a:gd name="adj" fmla="val 2800"/>
            </a:avLst>
          </a:prstGeom>
          <a:solidFill>
            <a:srgbClr val="1D242E"/>
          </a:solidFill>
          <a:ln w="9525">
            <a:solidFill>
              <a:srgbClr val="323C49"/>
            </a:solidFill>
            <a:prstDash val="solid"/>
          </a:ln>
        </p:spPr>
      </p:sp>
      <p:sp>
        <p:nvSpPr>
          <p:cNvPr id="21" name="Shape 18"/>
          <p:cNvSpPr/>
          <p:nvPr/>
        </p:nvSpPr>
        <p:spPr>
          <a:xfrm>
            <a:off x="6254496" y="1499616"/>
            <a:ext cx="420624" cy="420624"/>
          </a:xfrm>
          <a:prstGeom prst="ellipse">
            <a:avLst/>
          </a:prstGeom>
          <a:solidFill>
            <a:srgbClr val="E2B54E"/>
          </a:solidFill>
          <a:ln w="15875">
            <a:solidFill>
              <a:srgbClr val="E2B54E"/>
            </a:solidFill>
            <a:prstDash val="solid"/>
          </a:ln>
        </p:spPr>
      </p:sp>
      <p:sp>
        <p:nvSpPr>
          <p:cNvPr id="22" name="Text 19"/>
          <p:cNvSpPr txBox="1"/>
          <p:nvPr/>
        </p:nvSpPr>
        <p:spPr>
          <a:xfrm>
            <a:off x="625449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3</a:t>
            </a:r>
            <a:endParaRPr lang="en-US" sz="1400" dirty="0"/>
          </a:p>
        </p:txBody>
      </p:sp>
      <p:sp>
        <p:nvSpPr>
          <p:cNvPr id="23" name="Text 20"/>
          <p:cNvSpPr txBox="1"/>
          <p:nvPr/>
        </p:nvSpPr>
        <p:spPr>
          <a:xfrm>
            <a:off x="678484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Scope</a:t>
            </a:r>
            <a:endParaRPr lang="en-US" sz="1400" dirty="0"/>
          </a:p>
        </p:txBody>
      </p:sp>
      <p:sp>
        <p:nvSpPr>
          <p:cNvPr id="24" name="Text 21"/>
          <p:cNvSpPr txBox="1"/>
          <p:nvPr/>
        </p:nvSpPr>
        <p:spPr>
          <a:xfrm>
            <a:off x="629107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Other symbol or timeframe → fixed reply in the user’s language; nothing else runs</a:t>
            </a:r>
            <a:endParaRPr lang="en-US" sz="1250" dirty="0"/>
          </a:p>
        </p:txBody>
      </p:sp>
      <p:sp>
        <p:nvSpPr>
          <p:cNvPr id="25" name="Shape 22"/>
          <p:cNvSpPr/>
          <p:nvPr/>
        </p:nvSpPr>
        <p:spPr>
          <a:xfrm>
            <a:off x="8842248" y="1709928"/>
            <a:ext cx="100584" cy="0"/>
          </a:xfrm>
          <a:prstGeom prst="line">
            <a:avLst/>
          </a:prstGeom>
          <a:noFill/>
          <a:ln w="15875">
            <a:solidFill>
              <a:srgbClr val="E2B54E"/>
            </a:solidFill>
            <a:prstDash val="solid"/>
            <a:tailEnd type="triangle"/>
          </a:ln>
        </p:spPr>
      </p:sp>
      <p:sp>
        <p:nvSpPr>
          <p:cNvPr id="26" name="Shape 23"/>
          <p:cNvSpPr/>
          <p:nvPr/>
        </p:nvSpPr>
        <p:spPr>
          <a:xfrm>
            <a:off x="8961120" y="1371600"/>
            <a:ext cx="2697480" cy="2286000"/>
          </a:xfrm>
          <a:prstGeom prst="roundRect">
            <a:avLst>
              <a:gd name="adj" fmla="val 2800"/>
            </a:avLst>
          </a:prstGeom>
          <a:solidFill>
            <a:srgbClr val="1D242E"/>
          </a:solidFill>
          <a:ln w="9525">
            <a:solidFill>
              <a:srgbClr val="323C49"/>
            </a:solidFill>
            <a:prstDash val="solid"/>
          </a:ln>
        </p:spPr>
      </p:sp>
      <p:sp>
        <p:nvSpPr>
          <p:cNvPr id="27" name="Shape 24"/>
          <p:cNvSpPr/>
          <p:nvPr/>
        </p:nvSpPr>
        <p:spPr>
          <a:xfrm>
            <a:off x="9089136" y="1499616"/>
            <a:ext cx="420624" cy="420624"/>
          </a:xfrm>
          <a:prstGeom prst="ellipse">
            <a:avLst/>
          </a:prstGeom>
          <a:solidFill>
            <a:srgbClr val="E2B54E"/>
          </a:solidFill>
          <a:ln w="15875">
            <a:solidFill>
              <a:srgbClr val="E2B54E"/>
            </a:solidFill>
            <a:prstDash val="solid"/>
          </a:ln>
        </p:spPr>
      </p:sp>
      <p:sp>
        <p:nvSpPr>
          <p:cNvPr id="28" name="Text 25"/>
          <p:cNvSpPr txBox="1"/>
          <p:nvPr/>
        </p:nvSpPr>
        <p:spPr>
          <a:xfrm>
            <a:off x="908913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4</a:t>
            </a:r>
            <a:endParaRPr lang="en-US" sz="1400" dirty="0"/>
          </a:p>
        </p:txBody>
      </p:sp>
      <p:sp>
        <p:nvSpPr>
          <p:cNvPr id="29" name="Text 26"/>
          <p:cNvSpPr txBox="1"/>
          <p:nvPr/>
        </p:nvSpPr>
        <p:spPr>
          <a:xfrm>
            <a:off x="961948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Snapshot</a:t>
            </a:r>
            <a:endParaRPr lang="en-US" sz="1400" dirty="0"/>
          </a:p>
        </p:txBody>
      </p:sp>
      <p:sp>
        <p:nvSpPr>
          <p:cNvPr id="30" name="Text 27"/>
          <p:cNvSpPr txBox="1"/>
          <p:nvPr/>
        </p:nvSpPr>
        <p:spPr>
          <a:xfrm>
            <a:off x="912571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Latest complete cycle and its data status; synthesis for the trader’s type; profile snapshot</a:t>
            </a:r>
            <a:endParaRPr lang="en-US" sz="1250" dirty="0"/>
          </a:p>
        </p:txBody>
      </p:sp>
      <p:sp>
        <p:nvSpPr>
          <p:cNvPr id="31" name="Shape 28"/>
          <p:cNvSpPr/>
          <p:nvPr/>
        </p:nvSpPr>
        <p:spPr>
          <a:xfrm>
            <a:off x="457200" y="3858768"/>
            <a:ext cx="2697480" cy="2286000"/>
          </a:xfrm>
          <a:prstGeom prst="roundRect">
            <a:avLst>
              <a:gd name="adj" fmla="val 2800"/>
            </a:avLst>
          </a:prstGeom>
          <a:solidFill>
            <a:srgbClr val="1D242E"/>
          </a:solidFill>
          <a:ln w="15875">
            <a:solidFill>
              <a:srgbClr val="E2B54E"/>
            </a:solidFill>
            <a:prstDash val="solid"/>
          </a:ln>
        </p:spPr>
      </p:sp>
      <p:sp>
        <p:nvSpPr>
          <p:cNvPr id="32" name="Shape 29"/>
          <p:cNvSpPr/>
          <p:nvPr/>
        </p:nvSpPr>
        <p:spPr>
          <a:xfrm>
            <a:off x="585216" y="3986784"/>
            <a:ext cx="420624" cy="420624"/>
          </a:xfrm>
          <a:prstGeom prst="ellipse">
            <a:avLst/>
          </a:prstGeom>
          <a:solidFill>
            <a:srgbClr val="E2B54E"/>
          </a:solidFill>
          <a:ln w="15875">
            <a:solidFill>
              <a:srgbClr val="E2B54E"/>
            </a:solidFill>
            <a:prstDash val="solid"/>
          </a:ln>
        </p:spPr>
      </p:sp>
      <p:sp>
        <p:nvSpPr>
          <p:cNvPr id="33" name="Text 30"/>
          <p:cNvSpPr txBox="1"/>
          <p:nvPr/>
        </p:nvSpPr>
        <p:spPr>
          <a:xfrm>
            <a:off x="58521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5</a:t>
            </a:r>
            <a:endParaRPr lang="en-US" sz="1400" dirty="0"/>
          </a:p>
        </p:txBody>
      </p:sp>
      <p:sp>
        <p:nvSpPr>
          <p:cNvPr id="34" name="Text 31"/>
          <p:cNvSpPr txBox="1"/>
          <p:nvPr/>
        </p:nvSpPr>
        <p:spPr>
          <a:xfrm>
            <a:off x="111556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Sensor board</a:t>
            </a:r>
            <a:endParaRPr lang="en-US" sz="1400" dirty="0"/>
          </a:p>
        </p:txBody>
      </p:sp>
      <p:sp>
        <p:nvSpPr>
          <p:cNvPr id="35" name="Text 32"/>
          <p:cNvSpPr txBox="1"/>
          <p:nvPr/>
        </p:nvSpPr>
        <p:spPr>
          <a:xfrm>
            <a:off x="62179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Synthesis line + one line per sensor, INVALID ones listed as unavailable</a:t>
            </a:r>
            <a:endParaRPr lang="en-US" sz="1250" dirty="0"/>
          </a:p>
        </p:txBody>
      </p:sp>
      <p:sp>
        <p:nvSpPr>
          <p:cNvPr id="36" name="Shape 33"/>
          <p:cNvSpPr/>
          <p:nvPr/>
        </p:nvSpPr>
        <p:spPr>
          <a:xfrm>
            <a:off x="3172968" y="4197096"/>
            <a:ext cx="100584" cy="0"/>
          </a:xfrm>
          <a:prstGeom prst="line">
            <a:avLst/>
          </a:prstGeom>
          <a:noFill/>
          <a:ln w="15875">
            <a:solidFill>
              <a:srgbClr val="E2B54E"/>
            </a:solidFill>
            <a:prstDash val="solid"/>
            <a:tailEnd type="triangle"/>
          </a:ln>
        </p:spPr>
      </p:sp>
      <p:sp>
        <p:nvSpPr>
          <p:cNvPr id="37" name="Shape 34"/>
          <p:cNvSpPr/>
          <p:nvPr/>
        </p:nvSpPr>
        <p:spPr>
          <a:xfrm>
            <a:off x="3291840" y="3858768"/>
            <a:ext cx="2697480" cy="2286000"/>
          </a:xfrm>
          <a:prstGeom prst="roundRect">
            <a:avLst>
              <a:gd name="adj" fmla="val 2800"/>
            </a:avLst>
          </a:prstGeom>
          <a:solidFill>
            <a:srgbClr val="1D242E"/>
          </a:solidFill>
          <a:ln w="15875">
            <a:solidFill>
              <a:srgbClr val="E2B54E"/>
            </a:solidFill>
            <a:prstDash val="solid"/>
          </a:ln>
        </p:spPr>
      </p:sp>
      <p:sp>
        <p:nvSpPr>
          <p:cNvPr id="38" name="Shape 35"/>
          <p:cNvSpPr/>
          <p:nvPr/>
        </p:nvSpPr>
        <p:spPr>
          <a:xfrm>
            <a:off x="3419856" y="3986784"/>
            <a:ext cx="420624" cy="420624"/>
          </a:xfrm>
          <a:prstGeom prst="ellipse">
            <a:avLst/>
          </a:prstGeom>
          <a:solidFill>
            <a:srgbClr val="E2B54E"/>
          </a:solidFill>
          <a:ln w="15875">
            <a:solidFill>
              <a:srgbClr val="E2B54E"/>
            </a:solidFill>
            <a:prstDash val="solid"/>
          </a:ln>
        </p:spPr>
      </p:sp>
      <p:sp>
        <p:nvSpPr>
          <p:cNvPr id="39" name="Text 36"/>
          <p:cNvSpPr txBox="1"/>
          <p:nvPr/>
        </p:nvSpPr>
        <p:spPr>
          <a:xfrm>
            <a:off x="341985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6</a:t>
            </a:r>
            <a:endParaRPr lang="en-US" sz="1400" dirty="0"/>
          </a:p>
        </p:txBody>
      </p:sp>
      <p:sp>
        <p:nvSpPr>
          <p:cNvPr id="40" name="Text 37"/>
          <p:cNvSpPr txBox="1"/>
          <p:nvPr/>
        </p:nvSpPr>
        <p:spPr>
          <a:xfrm>
            <a:off x="395020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Route</a:t>
            </a:r>
            <a:endParaRPr lang="en-US" sz="1400" dirty="0"/>
          </a:p>
        </p:txBody>
      </p:sp>
      <p:sp>
        <p:nvSpPr>
          <p:cNvPr id="41" name="Text 38"/>
          <p:cNvSpPr txBox="1"/>
          <p:nvPr/>
        </p:nvSpPr>
        <p:spPr>
          <a:xfrm>
            <a:off x="345643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Dispatch matrix: intent × states → M* in full + knowledge domains</a:t>
            </a:r>
            <a:endParaRPr lang="en-US" sz="1250" dirty="0"/>
          </a:p>
        </p:txBody>
      </p:sp>
      <p:sp>
        <p:nvSpPr>
          <p:cNvPr id="42" name="Shape 39"/>
          <p:cNvSpPr/>
          <p:nvPr/>
        </p:nvSpPr>
        <p:spPr>
          <a:xfrm>
            <a:off x="6007608" y="4197096"/>
            <a:ext cx="100584" cy="0"/>
          </a:xfrm>
          <a:prstGeom prst="line">
            <a:avLst/>
          </a:prstGeom>
          <a:noFill/>
          <a:ln w="15875">
            <a:solidFill>
              <a:srgbClr val="E2B54E"/>
            </a:solidFill>
            <a:prstDash val="solid"/>
            <a:tailEnd type="triangle"/>
          </a:ln>
        </p:spPr>
      </p:sp>
      <p:sp>
        <p:nvSpPr>
          <p:cNvPr id="43" name="Shape 40"/>
          <p:cNvSpPr/>
          <p:nvPr/>
        </p:nvSpPr>
        <p:spPr>
          <a:xfrm>
            <a:off x="6126480" y="3858768"/>
            <a:ext cx="2697480" cy="2286000"/>
          </a:xfrm>
          <a:prstGeom prst="roundRect">
            <a:avLst>
              <a:gd name="adj" fmla="val 2800"/>
            </a:avLst>
          </a:prstGeom>
          <a:solidFill>
            <a:srgbClr val="1D242E"/>
          </a:solidFill>
          <a:ln w="9525">
            <a:solidFill>
              <a:srgbClr val="323C49"/>
            </a:solidFill>
            <a:prstDash val="solid"/>
          </a:ln>
        </p:spPr>
      </p:sp>
      <p:sp>
        <p:nvSpPr>
          <p:cNvPr id="44" name="Shape 41"/>
          <p:cNvSpPr/>
          <p:nvPr/>
        </p:nvSpPr>
        <p:spPr>
          <a:xfrm>
            <a:off x="6254496" y="3986784"/>
            <a:ext cx="420624" cy="420624"/>
          </a:xfrm>
          <a:prstGeom prst="ellipse">
            <a:avLst/>
          </a:prstGeom>
          <a:solidFill>
            <a:srgbClr val="E2B54E"/>
          </a:solidFill>
          <a:ln w="15875">
            <a:solidFill>
              <a:srgbClr val="E2B54E"/>
            </a:solidFill>
            <a:prstDash val="solid"/>
          </a:ln>
        </p:spPr>
      </p:sp>
      <p:sp>
        <p:nvSpPr>
          <p:cNvPr id="45" name="Text 42"/>
          <p:cNvSpPr txBox="1"/>
          <p:nvPr/>
        </p:nvSpPr>
        <p:spPr>
          <a:xfrm>
            <a:off x="625449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7</a:t>
            </a:r>
            <a:endParaRPr lang="en-US" sz="1400" dirty="0"/>
          </a:p>
        </p:txBody>
      </p:sp>
      <p:sp>
        <p:nvSpPr>
          <p:cNvPr id="46" name="Text 43"/>
          <p:cNvSpPr txBox="1"/>
          <p:nvPr/>
        </p:nvSpPr>
        <p:spPr>
          <a:xfrm>
            <a:off x="678484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Retrieve</a:t>
            </a:r>
            <a:endParaRPr lang="en-US" sz="1400" dirty="0"/>
          </a:p>
        </p:txBody>
      </p:sp>
      <p:sp>
        <p:nvSpPr>
          <p:cNvPr id="47" name="Text 44"/>
          <p:cNvSpPr txBox="1"/>
          <p:nvPr/>
        </p:nvSpPr>
        <p:spPr>
          <a:xfrm>
            <a:off x="629107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Query built from intent + state codes + English question; txtai with metadata filter; top 4</a:t>
            </a:r>
            <a:endParaRPr lang="en-US" sz="1250" dirty="0"/>
          </a:p>
        </p:txBody>
      </p:sp>
      <p:sp>
        <p:nvSpPr>
          <p:cNvPr id="48" name="Shape 45"/>
          <p:cNvSpPr/>
          <p:nvPr/>
        </p:nvSpPr>
        <p:spPr>
          <a:xfrm>
            <a:off x="8842248" y="4197096"/>
            <a:ext cx="100584" cy="0"/>
          </a:xfrm>
          <a:prstGeom prst="line">
            <a:avLst/>
          </a:prstGeom>
          <a:noFill/>
          <a:ln w="15875">
            <a:solidFill>
              <a:srgbClr val="E2B54E"/>
            </a:solidFill>
            <a:prstDash val="solid"/>
            <a:tailEnd type="triangle"/>
          </a:ln>
        </p:spPr>
      </p:sp>
      <p:sp>
        <p:nvSpPr>
          <p:cNvPr id="49" name="Shape 46"/>
          <p:cNvSpPr/>
          <p:nvPr/>
        </p:nvSpPr>
        <p:spPr>
          <a:xfrm>
            <a:off x="8961120" y="3858768"/>
            <a:ext cx="2697480" cy="2286000"/>
          </a:xfrm>
          <a:prstGeom prst="roundRect">
            <a:avLst>
              <a:gd name="adj" fmla="val 2800"/>
            </a:avLst>
          </a:prstGeom>
          <a:solidFill>
            <a:srgbClr val="1D242E"/>
          </a:solidFill>
          <a:ln w="9525">
            <a:solidFill>
              <a:srgbClr val="323C49"/>
            </a:solidFill>
            <a:prstDash val="solid"/>
          </a:ln>
        </p:spPr>
      </p:sp>
      <p:sp>
        <p:nvSpPr>
          <p:cNvPr id="50" name="Shape 47"/>
          <p:cNvSpPr/>
          <p:nvPr/>
        </p:nvSpPr>
        <p:spPr>
          <a:xfrm>
            <a:off x="9089136" y="3986784"/>
            <a:ext cx="420624" cy="420624"/>
          </a:xfrm>
          <a:prstGeom prst="ellipse">
            <a:avLst/>
          </a:prstGeom>
          <a:solidFill>
            <a:srgbClr val="E2B54E"/>
          </a:solidFill>
          <a:ln w="15875">
            <a:solidFill>
              <a:srgbClr val="E2B54E"/>
            </a:solidFill>
            <a:prstDash val="solid"/>
          </a:ln>
        </p:spPr>
      </p:sp>
      <p:sp>
        <p:nvSpPr>
          <p:cNvPr id="51" name="Text 48"/>
          <p:cNvSpPr txBox="1"/>
          <p:nvPr/>
        </p:nvSpPr>
        <p:spPr>
          <a:xfrm>
            <a:off x="908913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8</a:t>
            </a:r>
            <a:endParaRPr lang="en-US" sz="1400" dirty="0"/>
          </a:p>
        </p:txBody>
      </p:sp>
      <p:sp>
        <p:nvSpPr>
          <p:cNvPr id="52" name="Text 49"/>
          <p:cNvSpPr txBox="1"/>
          <p:nvPr/>
        </p:nvSpPr>
        <p:spPr>
          <a:xfrm>
            <a:off x="961948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Hand on</a:t>
            </a:r>
            <a:endParaRPr lang="en-US" sz="1400" dirty="0"/>
          </a:p>
        </p:txBody>
      </p:sp>
      <p:sp>
        <p:nvSpPr>
          <p:cNvPr id="53" name="Text 50"/>
          <p:cNvSpPr txBox="1"/>
          <p:nvPr/>
        </p:nvSpPr>
        <p:spPr>
          <a:xfrm>
            <a:off x="912571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Intake packet to Section 5; trace fields to Section 7</a:t>
            </a:r>
            <a:endParaRPr lang="en-US" sz="1250" dirty="0"/>
          </a:p>
        </p:txBody>
      </p:sp>
      <p:sp>
        <p:nvSpPr>
          <p:cNvPr id="54" name="Text 51"/>
          <p:cNvSpPr txBox="1"/>
          <p:nvPr/>
        </p:nvSpPr>
        <p:spPr>
          <a:xfrm>
            <a:off x="457200" y="6373368"/>
            <a:ext cx="10972800" cy="274320"/>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Gold outline = new in this design. Instant prompts enter at step 4 with their label already set.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16 LANGUAGES (B3)</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One pivot language inside, the user’s language outside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6</a:t>
            </a:r>
            <a:endParaRPr lang="en-US" sz="1000" dirty="0"/>
          </a:p>
        </p:txBody>
      </p:sp>
      <p:sp>
        <p:nvSpPr>
          <p:cNvPr id="8" name="Shape 5"/>
          <p:cNvSpPr/>
          <p:nvPr/>
        </p:nvSpPr>
        <p:spPr>
          <a:xfrm>
            <a:off x="457200" y="1371600"/>
            <a:ext cx="2606040" cy="1188720"/>
          </a:xfrm>
          <a:prstGeom prst="roundRect">
            <a:avLst>
              <a:gd name="adj" fmla="val 5385"/>
            </a:avLst>
          </a:prstGeom>
          <a:solidFill>
            <a:srgbClr val="1D242E"/>
          </a:solidFill>
          <a:ln w="9525">
            <a:solidFill>
              <a:srgbClr val="323C49"/>
            </a:solidFill>
            <a:prstDash val="solid"/>
          </a:ln>
        </p:spPr>
      </p:sp>
      <p:sp>
        <p:nvSpPr>
          <p:cNvPr id="9" name="Text 6"/>
          <p:cNvSpPr txBox="1"/>
          <p:nvPr/>
        </p:nvSpPr>
        <p:spPr>
          <a:xfrm>
            <a:off x="59436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Question</a:t>
            </a:r>
            <a:endParaRPr lang="en-US" sz="1400" dirty="0"/>
          </a:p>
        </p:txBody>
      </p:sp>
      <p:sp>
        <p:nvSpPr>
          <p:cNvPr id="10" name="Text 7"/>
          <p:cNvSpPr txBox="1"/>
          <p:nvPr/>
        </p:nvSpPr>
        <p:spPr>
          <a:xfrm>
            <a:off x="594360" y="1865376"/>
            <a:ext cx="233172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in any of the 16 languages</a:t>
            </a:r>
            <a:endParaRPr lang="en-US" sz="1150" dirty="0"/>
          </a:p>
        </p:txBody>
      </p:sp>
      <p:sp>
        <p:nvSpPr>
          <p:cNvPr id="11" name="Shape 8"/>
          <p:cNvSpPr/>
          <p:nvPr/>
        </p:nvSpPr>
        <p:spPr>
          <a:xfrm>
            <a:off x="3081528" y="1965960"/>
            <a:ext cx="192024" cy="0"/>
          </a:xfrm>
          <a:prstGeom prst="line">
            <a:avLst/>
          </a:prstGeom>
          <a:noFill/>
          <a:ln w="15875">
            <a:solidFill>
              <a:srgbClr val="7D8A99"/>
            </a:solidFill>
            <a:prstDash val="solid"/>
            <a:tailEnd type="triangle"/>
          </a:ln>
        </p:spPr>
      </p:sp>
      <p:sp>
        <p:nvSpPr>
          <p:cNvPr id="12" name="Shape 9"/>
          <p:cNvSpPr/>
          <p:nvPr/>
        </p:nvSpPr>
        <p:spPr>
          <a:xfrm>
            <a:off x="3291840" y="1371600"/>
            <a:ext cx="2606040" cy="1188720"/>
          </a:xfrm>
          <a:prstGeom prst="roundRect">
            <a:avLst>
              <a:gd name="adj" fmla="val 5385"/>
            </a:avLst>
          </a:prstGeom>
          <a:solidFill>
            <a:srgbClr val="1D242E"/>
          </a:solidFill>
          <a:ln w="15875">
            <a:solidFill>
              <a:srgbClr val="E2B54E"/>
            </a:solidFill>
            <a:prstDash val="solid"/>
          </a:ln>
        </p:spPr>
      </p:sp>
      <p:sp>
        <p:nvSpPr>
          <p:cNvPr id="13" name="Text 10"/>
          <p:cNvSpPr txBox="1"/>
          <p:nvPr/>
        </p:nvSpPr>
        <p:spPr>
          <a:xfrm>
            <a:off x="3429000" y="1463040"/>
            <a:ext cx="2331720" cy="384048"/>
          </a:xfrm>
          <a:prstGeom prst="rect">
            <a:avLst/>
          </a:prstGeom>
          <a:noFill/>
          <a:ln/>
        </p:spPr>
        <p:txBody>
          <a:bodyPr wrap="square" lIns="0" tIns="0" rIns="0" bIns="0" rtlCol="0" anchor="t"/>
          <a:lstStyle/>
          <a:p>
            <a:pPr indent="0" marL="0">
              <a:buNone/>
            </a:pPr>
            <a:r>
              <a:rPr lang="en-US" sz="1400" b="1" dirty="0">
                <a:solidFill>
                  <a:srgbClr val="E2B54E"/>
                </a:solidFill>
                <a:latin typeface="Calibri" pitchFamily="34" charset="0"/>
                <a:ea typeface="Calibri" pitchFamily="34" charset="-122"/>
                <a:cs typeface="Calibri" pitchFamily="34" charset="-120"/>
              </a:rPr>
              <a:t>Translate</a:t>
            </a:r>
            <a:endParaRPr lang="en-US" sz="1400" dirty="0"/>
          </a:p>
        </p:txBody>
      </p:sp>
      <p:sp>
        <p:nvSpPr>
          <p:cNvPr id="14" name="Text 11"/>
          <p:cNvSpPr txBox="1"/>
          <p:nvPr/>
        </p:nvSpPr>
        <p:spPr>
          <a:xfrm>
            <a:off x="3429000" y="1865376"/>
            <a:ext cx="233172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to English with a fixed trading glossary</a:t>
            </a:r>
            <a:endParaRPr lang="en-US" sz="1150" dirty="0"/>
          </a:p>
        </p:txBody>
      </p:sp>
      <p:sp>
        <p:nvSpPr>
          <p:cNvPr id="15" name="Shape 12"/>
          <p:cNvSpPr/>
          <p:nvPr/>
        </p:nvSpPr>
        <p:spPr>
          <a:xfrm>
            <a:off x="5916168" y="1965960"/>
            <a:ext cx="192024" cy="0"/>
          </a:xfrm>
          <a:prstGeom prst="line">
            <a:avLst/>
          </a:prstGeom>
          <a:noFill/>
          <a:ln w="15875">
            <a:solidFill>
              <a:srgbClr val="7D8A99"/>
            </a:solidFill>
            <a:prstDash val="solid"/>
            <a:tailEnd type="triangle"/>
          </a:ln>
        </p:spPr>
      </p:sp>
      <p:sp>
        <p:nvSpPr>
          <p:cNvPr id="16" name="Shape 13"/>
          <p:cNvSpPr/>
          <p:nvPr/>
        </p:nvSpPr>
        <p:spPr>
          <a:xfrm>
            <a:off x="6126480" y="1371600"/>
            <a:ext cx="2606040" cy="1188720"/>
          </a:xfrm>
          <a:prstGeom prst="roundRect">
            <a:avLst>
              <a:gd name="adj" fmla="val 5385"/>
            </a:avLst>
          </a:prstGeom>
          <a:solidFill>
            <a:srgbClr val="1D242E"/>
          </a:solidFill>
          <a:ln w="9525">
            <a:solidFill>
              <a:srgbClr val="323C49"/>
            </a:solidFill>
            <a:prstDash val="solid"/>
          </a:ln>
        </p:spPr>
      </p:sp>
      <p:sp>
        <p:nvSpPr>
          <p:cNvPr id="17" name="Text 14"/>
          <p:cNvSpPr txBox="1"/>
          <p:nvPr/>
        </p:nvSpPr>
        <p:spPr>
          <a:xfrm>
            <a:off x="626364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Route + retrieve</a:t>
            </a:r>
            <a:endParaRPr lang="en-US" sz="1400" dirty="0"/>
          </a:p>
        </p:txBody>
      </p:sp>
      <p:sp>
        <p:nvSpPr>
          <p:cNvPr id="18" name="Text 15"/>
          <p:cNvSpPr txBox="1"/>
          <p:nvPr/>
        </p:nvSpPr>
        <p:spPr>
          <a:xfrm>
            <a:off x="6263640" y="1865376"/>
            <a:ext cx="233172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in English, against one English corpus</a:t>
            </a:r>
            <a:endParaRPr lang="en-US" sz="1150" dirty="0"/>
          </a:p>
        </p:txBody>
      </p:sp>
      <p:sp>
        <p:nvSpPr>
          <p:cNvPr id="19" name="Shape 16"/>
          <p:cNvSpPr/>
          <p:nvPr/>
        </p:nvSpPr>
        <p:spPr>
          <a:xfrm>
            <a:off x="8750808" y="1965960"/>
            <a:ext cx="192024" cy="0"/>
          </a:xfrm>
          <a:prstGeom prst="line">
            <a:avLst/>
          </a:prstGeom>
          <a:noFill/>
          <a:ln w="15875">
            <a:solidFill>
              <a:srgbClr val="7D8A99"/>
            </a:solidFill>
            <a:prstDash val="solid"/>
            <a:tailEnd type="triangle"/>
          </a:ln>
        </p:spPr>
      </p:sp>
      <p:sp>
        <p:nvSpPr>
          <p:cNvPr id="20" name="Shape 17"/>
          <p:cNvSpPr/>
          <p:nvPr/>
        </p:nvSpPr>
        <p:spPr>
          <a:xfrm>
            <a:off x="8961120" y="1371600"/>
            <a:ext cx="2606040" cy="1188720"/>
          </a:xfrm>
          <a:prstGeom prst="roundRect">
            <a:avLst>
              <a:gd name="adj" fmla="val 5385"/>
            </a:avLst>
          </a:prstGeom>
          <a:solidFill>
            <a:srgbClr val="1D242E"/>
          </a:solidFill>
          <a:ln w="9525">
            <a:solidFill>
              <a:srgbClr val="323C49"/>
            </a:solidFill>
            <a:prstDash val="solid"/>
          </a:ln>
        </p:spPr>
      </p:sp>
      <p:sp>
        <p:nvSpPr>
          <p:cNvPr id="21" name="Text 18"/>
          <p:cNvSpPr txBox="1"/>
          <p:nvPr/>
        </p:nvSpPr>
        <p:spPr>
          <a:xfrm>
            <a:off x="909828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Answer</a:t>
            </a:r>
            <a:endParaRPr lang="en-US" sz="1400" dirty="0"/>
          </a:p>
        </p:txBody>
      </p:sp>
      <p:sp>
        <p:nvSpPr>
          <p:cNvPr id="22" name="Text 19"/>
          <p:cNvSpPr txBox="1"/>
          <p:nvPr/>
        </p:nvSpPr>
        <p:spPr>
          <a:xfrm>
            <a:off x="9098280" y="1865376"/>
            <a:ext cx="233172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written in the user’s language (Section 5)</a:t>
            </a:r>
            <a:endParaRPr lang="en-US" sz="1150" dirty="0"/>
          </a:p>
        </p:txBody>
      </p:sp>
      <p:sp>
        <p:nvSpPr>
          <p:cNvPr id="23" name="Shape 20"/>
          <p:cNvSpPr/>
          <p:nvPr/>
        </p:nvSpPr>
        <p:spPr>
          <a:xfrm>
            <a:off x="457200" y="2834640"/>
            <a:ext cx="3639312" cy="3429000"/>
          </a:xfrm>
          <a:prstGeom prst="roundRect">
            <a:avLst>
              <a:gd name="adj" fmla="val 1867"/>
            </a:avLst>
          </a:prstGeom>
          <a:solidFill>
            <a:srgbClr val="1D242E"/>
          </a:solidFill>
          <a:ln w="9525">
            <a:solidFill>
              <a:srgbClr val="323C49"/>
            </a:solidFill>
            <a:prstDash val="solid"/>
          </a:ln>
        </p:spPr>
      </p:sp>
      <p:sp>
        <p:nvSpPr>
          <p:cNvPr id="24" name="Shape 21"/>
          <p:cNvSpPr/>
          <p:nvPr/>
        </p:nvSpPr>
        <p:spPr>
          <a:xfrm>
            <a:off x="621792" y="2999232"/>
            <a:ext cx="2103120" cy="274320"/>
          </a:xfrm>
          <a:prstGeom prst="roundRect">
            <a:avLst>
              <a:gd name="adj" fmla="val 50000"/>
            </a:avLst>
          </a:prstGeom>
          <a:solidFill>
            <a:srgbClr val="E2B54E"/>
          </a:solidFill>
          <a:ln w="9525">
            <a:solidFill>
              <a:srgbClr val="E2B54E"/>
            </a:solidFill>
            <a:prstDash val="solid"/>
          </a:ln>
        </p:spPr>
      </p:sp>
      <p:sp>
        <p:nvSpPr>
          <p:cNvPr id="25" name="Text 22"/>
          <p:cNvSpPr txBox="1"/>
          <p:nvPr/>
        </p:nvSpPr>
        <p:spPr>
          <a:xfrm>
            <a:off x="621792" y="2999232"/>
            <a:ext cx="2103120" cy="274320"/>
          </a:xfrm>
          <a:prstGeom prst="rect">
            <a:avLst/>
          </a:prstGeom>
          <a:noFill/>
          <a:ln/>
        </p:spPr>
        <p:txBody>
          <a:bodyPr wrap="square" lIns="0" tIns="0" rIns="0" bIns="0" rtlCol="0" anchor="ctr"/>
          <a:lstStyle/>
          <a:p>
            <a:pPr algn="ctr" indent="0" marL="0">
              <a:buNone/>
            </a:pPr>
            <a:r>
              <a:rPr lang="en-US" sz="900" b="1" spc="100" kern="0" dirty="0">
                <a:solidFill>
                  <a:srgbClr val="0F1318"/>
                </a:solidFill>
                <a:latin typeface="Calibri" pitchFamily="34" charset="0"/>
                <a:ea typeface="Calibri" pitchFamily="34" charset="-122"/>
                <a:cs typeface="Calibri" pitchFamily="34" charset="-120"/>
              </a:rPr>
              <a:t>NEVER TRANSLATED</a:t>
            </a:r>
            <a:endParaRPr lang="en-US" sz="900" dirty="0"/>
          </a:p>
        </p:txBody>
      </p:sp>
      <p:sp>
        <p:nvSpPr>
          <p:cNvPr id="26" name="Shape 23"/>
          <p:cNvSpPr/>
          <p:nvPr/>
        </p:nvSpPr>
        <p:spPr>
          <a:xfrm>
            <a:off x="658368" y="3602736"/>
            <a:ext cx="100584" cy="100584"/>
          </a:xfrm>
          <a:prstGeom prst="ellipse">
            <a:avLst/>
          </a:prstGeom>
          <a:solidFill>
            <a:srgbClr val="E2B54E"/>
          </a:solidFill>
          <a:ln w="12700">
            <a:solidFill>
              <a:srgbClr val="E2B54E"/>
            </a:solidFill>
            <a:prstDash val="solid"/>
          </a:ln>
        </p:spPr>
      </p:sp>
      <p:sp>
        <p:nvSpPr>
          <p:cNvPr id="27" name="Text 24"/>
          <p:cNvSpPr txBox="1"/>
          <p:nvPr/>
        </p:nvSpPr>
        <p:spPr>
          <a:xfrm>
            <a:off x="859536" y="347472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Prices and numbers</a:t>
            </a:r>
            <a:endParaRPr lang="en-US" sz="1200" dirty="0"/>
          </a:p>
        </p:txBody>
      </p:sp>
      <p:sp>
        <p:nvSpPr>
          <p:cNvPr id="28" name="Shape 25"/>
          <p:cNvSpPr/>
          <p:nvPr/>
        </p:nvSpPr>
        <p:spPr>
          <a:xfrm>
            <a:off x="658368" y="4242816"/>
            <a:ext cx="100584" cy="100584"/>
          </a:xfrm>
          <a:prstGeom prst="ellipse">
            <a:avLst/>
          </a:prstGeom>
          <a:solidFill>
            <a:srgbClr val="E2B54E"/>
          </a:solidFill>
          <a:ln w="12700">
            <a:solidFill>
              <a:srgbClr val="E2B54E"/>
            </a:solidFill>
            <a:prstDash val="solid"/>
          </a:ln>
        </p:spPr>
      </p:sp>
      <p:sp>
        <p:nvSpPr>
          <p:cNvPr id="29" name="Text 26"/>
          <p:cNvSpPr txBox="1"/>
          <p:nvPr/>
        </p:nvSpPr>
        <p:spPr>
          <a:xfrm>
            <a:off x="859536" y="411480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Level names: UOEDT, LOEDT, baseline, sr_1…</a:t>
            </a:r>
            <a:endParaRPr lang="en-US" sz="1200" dirty="0"/>
          </a:p>
        </p:txBody>
      </p:sp>
      <p:sp>
        <p:nvSpPr>
          <p:cNvPr id="30" name="Shape 27"/>
          <p:cNvSpPr/>
          <p:nvPr/>
        </p:nvSpPr>
        <p:spPr>
          <a:xfrm>
            <a:off x="658368" y="4882896"/>
            <a:ext cx="100584" cy="100584"/>
          </a:xfrm>
          <a:prstGeom prst="ellipse">
            <a:avLst/>
          </a:prstGeom>
          <a:solidFill>
            <a:srgbClr val="E2B54E"/>
          </a:solidFill>
          <a:ln w="12700">
            <a:solidFill>
              <a:srgbClr val="E2B54E"/>
            </a:solidFill>
            <a:prstDash val="solid"/>
          </a:ln>
        </p:spPr>
      </p:sp>
      <p:sp>
        <p:nvSpPr>
          <p:cNvPr id="31" name="Text 28"/>
          <p:cNvSpPr txBox="1"/>
          <p:nvPr/>
        </p:nvSpPr>
        <p:spPr>
          <a:xfrm>
            <a:off x="859536" y="475488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State codes and rule ids</a:t>
            </a:r>
            <a:endParaRPr lang="en-US" sz="1200" dirty="0"/>
          </a:p>
        </p:txBody>
      </p:sp>
      <p:sp>
        <p:nvSpPr>
          <p:cNvPr id="32" name="Shape 29"/>
          <p:cNvSpPr/>
          <p:nvPr/>
        </p:nvSpPr>
        <p:spPr>
          <a:xfrm>
            <a:off x="658368" y="5522976"/>
            <a:ext cx="100584" cy="100584"/>
          </a:xfrm>
          <a:prstGeom prst="ellipse">
            <a:avLst/>
          </a:prstGeom>
          <a:solidFill>
            <a:srgbClr val="E2B54E"/>
          </a:solidFill>
          <a:ln w="12700">
            <a:solidFill>
              <a:srgbClr val="E2B54E"/>
            </a:solidFill>
            <a:prstDash val="solid"/>
          </a:ln>
        </p:spPr>
      </p:sp>
      <p:sp>
        <p:nvSpPr>
          <p:cNvPr id="33" name="Text 30"/>
          <p:cNvSpPr txBox="1"/>
          <p:nvPr/>
        </p:nvSpPr>
        <p:spPr>
          <a:xfrm>
            <a:off x="859536" y="539496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Symbol and timeframe names</a:t>
            </a:r>
            <a:endParaRPr lang="en-US" sz="1200" dirty="0"/>
          </a:p>
        </p:txBody>
      </p:sp>
      <p:sp>
        <p:nvSpPr>
          <p:cNvPr id="34" name="Shape 31"/>
          <p:cNvSpPr/>
          <p:nvPr/>
        </p:nvSpPr>
        <p:spPr>
          <a:xfrm>
            <a:off x="4261104" y="2834640"/>
            <a:ext cx="3639312" cy="3429000"/>
          </a:xfrm>
          <a:prstGeom prst="roundRect">
            <a:avLst>
              <a:gd name="adj" fmla="val 1867"/>
            </a:avLst>
          </a:prstGeom>
          <a:solidFill>
            <a:srgbClr val="1D242E"/>
          </a:solidFill>
          <a:ln w="9525">
            <a:solidFill>
              <a:srgbClr val="323C49"/>
            </a:solidFill>
            <a:prstDash val="solid"/>
          </a:ln>
        </p:spPr>
      </p:sp>
      <p:sp>
        <p:nvSpPr>
          <p:cNvPr id="35" name="Shape 32"/>
          <p:cNvSpPr/>
          <p:nvPr/>
        </p:nvSpPr>
        <p:spPr>
          <a:xfrm>
            <a:off x="4425696" y="2999232"/>
            <a:ext cx="2103120" cy="274320"/>
          </a:xfrm>
          <a:prstGeom prst="roundRect">
            <a:avLst>
              <a:gd name="adj" fmla="val 50000"/>
            </a:avLst>
          </a:prstGeom>
          <a:solidFill>
            <a:srgbClr val="5CC2B2"/>
          </a:solidFill>
          <a:ln w="9525">
            <a:solidFill>
              <a:srgbClr val="5CC2B2"/>
            </a:solidFill>
            <a:prstDash val="solid"/>
          </a:ln>
        </p:spPr>
      </p:sp>
      <p:sp>
        <p:nvSpPr>
          <p:cNvPr id="36" name="Text 33"/>
          <p:cNvSpPr txBox="1"/>
          <p:nvPr/>
        </p:nvSpPr>
        <p:spPr>
          <a:xfrm>
            <a:off x="4425696" y="2999232"/>
            <a:ext cx="2103120" cy="274320"/>
          </a:xfrm>
          <a:prstGeom prst="rect">
            <a:avLst/>
          </a:prstGeom>
          <a:noFill/>
          <a:ln/>
        </p:spPr>
        <p:txBody>
          <a:bodyPr wrap="square" lIns="0" tIns="0" rIns="0" bIns="0" rtlCol="0" anchor="ctr"/>
          <a:lstStyle/>
          <a:p>
            <a:pPr algn="ctr" indent="0" marL="0">
              <a:buNone/>
            </a:pPr>
            <a:r>
              <a:rPr lang="en-US" sz="900" b="1" spc="100" kern="0" dirty="0">
                <a:solidFill>
                  <a:srgbClr val="0F1318"/>
                </a:solidFill>
                <a:latin typeface="Calibri" pitchFamily="34" charset="0"/>
                <a:ea typeface="Calibri" pitchFamily="34" charset="-122"/>
                <a:cs typeface="Calibri" pitchFamily="34" charset="-120"/>
              </a:rPr>
              <a:t>THE GLOSSARY</a:t>
            </a:r>
            <a:endParaRPr lang="en-US" sz="900" dirty="0"/>
          </a:p>
        </p:txBody>
      </p:sp>
      <p:sp>
        <p:nvSpPr>
          <p:cNvPr id="37" name="Shape 34"/>
          <p:cNvSpPr/>
          <p:nvPr/>
        </p:nvSpPr>
        <p:spPr>
          <a:xfrm>
            <a:off x="4462272" y="3602736"/>
            <a:ext cx="100584" cy="100584"/>
          </a:xfrm>
          <a:prstGeom prst="ellipse">
            <a:avLst/>
          </a:prstGeom>
          <a:solidFill>
            <a:srgbClr val="5CC2B2"/>
          </a:solidFill>
          <a:ln w="12700">
            <a:solidFill>
              <a:srgbClr val="5CC2B2"/>
            </a:solidFill>
            <a:prstDash val="solid"/>
          </a:ln>
        </p:spPr>
      </p:sp>
      <p:sp>
        <p:nvSpPr>
          <p:cNvPr id="38" name="Text 35"/>
          <p:cNvSpPr txBox="1"/>
          <p:nvPr/>
        </p:nvSpPr>
        <p:spPr>
          <a:xfrm>
            <a:off x="4663440" y="347472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One entry per trading term, per language</a:t>
            </a:r>
            <a:endParaRPr lang="en-US" sz="1200" dirty="0"/>
          </a:p>
        </p:txBody>
      </p:sp>
      <p:sp>
        <p:nvSpPr>
          <p:cNvPr id="39" name="Shape 36"/>
          <p:cNvSpPr/>
          <p:nvPr/>
        </p:nvSpPr>
        <p:spPr>
          <a:xfrm>
            <a:off x="4462272" y="4242816"/>
            <a:ext cx="100584" cy="100584"/>
          </a:xfrm>
          <a:prstGeom prst="ellipse">
            <a:avLst/>
          </a:prstGeom>
          <a:solidFill>
            <a:srgbClr val="5CC2B2"/>
          </a:solidFill>
          <a:ln w="12700">
            <a:solidFill>
              <a:srgbClr val="5CC2B2"/>
            </a:solidFill>
            <a:prstDash val="solid"/>
          </a:ln>
        </p:spPr>
      </p:sp>
      <p:sp>
        <p:nvSpPr>
          <p:cNvPr id="40" name="Text 37"/>
          <p:cNvSpPr txBox="1"/>
          <p:nvPr/>
        </p:nvSpPr>
        <p:spPr>
          <a:xfrm>
            <a:off x="4663440" y="411480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Buy / sell, stop loss, take profit, entry zone, stand aside…</a:t>
            </a:r>
            <a:endParaRPr lang="en-US" sz="1200" dirty="0"/>
          </a:p>
        </p:txBody>
      </p:sp>
      <p:sp>
        <p:nvSpPr>
          <p:cNvPr id="41" name="Shape 38"/>
          <p:cNvSpPr/>
          <p:nvPr/>
        </p:nvSpPr>
        <p:spPr>
          <a:xfrm>
            <a:off x="4462272" y="4882896"/>
            <a:ext cx="100584" cy="100584"/>
          </a:xfrm>
          <a:prstGeom prst="ellipse">
            <a:avLst/>
          </a:prstGeom>
          <a:solidFill>
            <a:srgbClr val="5CC2B2"/>
          </a:solidFill>
          <a:ln w="12700">
            <a:solidFill>
              <a:srgbClr val="5CC2B2"/>
            </a:solidFill>
            <a:prstDash val="solid"/>
          </a:ln>
        </p:spPr>
      </p:sp>
      <p:sp>
        <p:nvSpPr>
          <p:cNvPr id="42" name="Text 39"/>
          <p:cNvSpPr txBox="1"/>
          <p:nvPr/>
        </p:nvSpPr>
        <p:spPr>
          <a:xfrm>
            <a:off x="4663440" y="475488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Used both ways: into English and back</a:t>
            </a:r>
            <a:endParaRPr lang="en-US" sz="1200" dirty="0"/>
          </a:p>
        </p:txBody>
      </p:sp>
      <p:sp>
        <p:nvSpPr>
          <p:cNvPr id="43" name="Shape 40"/>
          <p:cNvSpPr/>
          <p:nvPr/>
        </p:nvSpPr>
        <p:spPr>
          <a:xfrm>
            <a:off x="4462272" y="5522976"/>
            <a:ext cx="100584" cy="100584"/>
          </a:xfrm>
          <a:prstGeom prst="ellipse">
            <a:avLst/>
          </a:prstGeom>
          <a:solidFill>
            <a:srgbClr val="5CC2B2"/>
          </a:solidFill>
          <a:ln w="12700">
            <a:solidFill>
              <a:srgbClr val="5CC2B2"/>
            </a:solidFill>
            <a:prstDash val="solid"/>
          </a:ln>
        </p:spPr>
      </p:sp>
      <p:sp>
        <p:nvSpPr>
          <p:cNvPr id="44" name="Text 41"/>
          <p:cNvSpPr txBox="1"/>
          <p:nvPr/>
        </p:nvSpPr>
        <p:spPr>
          <a:xfrm>
            <a:off x="4663440" y="539496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Versioned with the corpus</a:t>
            </a:r>
            <a:endParaRPr lang="en-US" sz="1200" dirty="0"/>
          </a:p>
        </p:txBody>
      </p:sp>
      <p:sp>
        <p:nvSpPr>
          <p:cNvPr id="45" name="Shape 42"/>
          <p:cNvSpPr/>
          <p:nvPr/>
        </p:nvSpPr>
        <p:spPr>
          <a:xfrm>
            <a:off x="8065008" y="2834640"/>
            <a:ext cx="3639312" cy="3429000"/>
          </a:xfrm>
          <a:prstGeom prst="roundRect">
            <a:avLst>
              <a:gd name="adj" fmla="val 1867"/>
            </a:avLst>
          </a:prstGeom>
          <a:solidFill>
            <a:srgbClr val="1D242E"/>
          </a:solidFill>
          <a:ln w="9525">
            <a:solidFill>
              <a:srgbClr val="323C49"/>
            </a:solidFill>
            <a:prstDash val="solid"/>
          </a:ln>
        </p:spPr>
      </p:sp>
      <p:sp>
        <p:nvSpPr>
          <p:cNvPr id="46" name="Shape 43"/>
          <p:cNvSpPr/>
          <p:nvPr/>
        </p:nvSpPr>
        <p:spPr>
          <a:xfrm>
            <a:off x="8229600" y="2999232"/>
            <a:ext cx="2103120" cy="274320"/>
          </a:xfrm>
          <a:prstGeom prst="roundRect">
            <a:avLst>
              <a:gd name="adj" fmla="val 50000"/>
            </a:avLst>
          </a:prstGeom>
          <a:solidFill>
            <a:srgbClr val="7FA8E8"/>
          </a:solidFill>
          <a:ln w="9525">
            <a:solidFill>
              <a:srgbClr val="7FA8E8"/>
            </a:solidFill>
            <a:prstDash val="solid"/>
          </a:ln>
        </p:spPr>
      </p:sp>
      <p:sp>
        <p:nvSpPr>
          <p:cNvPr id="47" name="Text 44"/>
          <p:cNvSpPr txBox="1"/>
          <p:nvPr/>
        </p:nvSpPr>
        <p:spPr>
          <a:xfrm>
            <a:off x="8229600" y="2999232"/>
            <a:ext cx="2103120" cy="274320"/>
          </a:xfrm>
          <a:prstGeom prst="rect">
            <a:avLst/>
          </a:prstGeom>
          <a:noFill/>
          <a:ln/>
        </p:spPr>
        <p:txBody>
          <a:bodyPr wrap="square" lIns="0" tIns="0" rIns="0" bIns="0" rtlCol="0" anchor="ctr"/>
          <a:lstStyle/>
          <a:p>
            <a:pPr algn="ctr" indent="0" marL="0">
              <a:buNone/>
            </a:pPr>
            <a:r>
              <a:rPr lang="en-US" sz="900" b="1" spc="100" kern="0" dirty="0">
                <a:solidFill>
                  <a:srgbClr val="0F1318"/>
                </a:solidFill>
                <a:latin typeface="Calibri" pitchFamily="34" charset="0"/>
                <a:ea typeface="Calibri" pitchFamily="34" charset="-122"/>
                <a:cs typeface="Calibri" pitchFamily="34" charset="-120"/>
              </a:rPr>
              <a:t>TESTED PER LANGUAGE</a:t>
            </a:r>
            <a:endParaRPr lang="en-US" sz="900" dirty="0"/>
          </a:p>
        </p:txBody>
      </p:sp>
      <p:sp>
        <p:nvSpPr>
          <p:cNvPr id="48" name="Shape 45"/>
          <p:cNvSpPr/>
          <p:nvPr/>
        </p:nvSpPr>
        <p:spPr>
          <a:xfrm>
            <a:off x="8266176" y="3602736"/>
            <a:ext cx="100584" cy="100584"/>
          </a:xfrm>
          <a:prstGeom prst="ellipse">
            <a:avLst/>
          </a:prstGeom>
          <a:solidFill>
            <a:srgbClr val="7FA8E8"/>
          </a:solidFill>
          <a:ln w="12700">
            <a:solidFill>
              <a:srgbClr val="7FA8E8"/>
            </a:solidFill>
            <a:prstDash val="solid"/>
          </a:ln>
        </p:spPr>
      </p:sp>
      <p:sp>
        <p:nvSpPr>
          <p:cNvPr id="49" name="Text 46"/>
          <p:cNvSpPr txBox="1"/>
          <p:nvPr/>
        </p:nvSpPr>
        <p:spPr>
          <a:xfrm>
            <a:off x="8467344" y="347472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The labelled question set covers all 16</a:t>
            </a:r>
            <a:endParaRPr lang="en-US" sz="1200" dirty="0"/>
          </a:p>
        </p:txBody>
      </p:sp>
      <p:sp>
        <p:nvSpPr>
          <p:cNvPr id="50" name="Shape 47"/>
          <p:cNvSpPr/>
          <p:nvPr/>
        </p:nvSpPr>
        <p:spPr>
          <a:xfrm>
            <a:off x="8266176" y="4242816"/>
            <a:ext cx="100584" cy="100584"/>
          </a:xfrm>
          <a:prstGeom prst="ellipse">
            <a:avLst/>
          </a:prstGeom>
          <a:solidFill>
            <a:srgbClr val="7FA8E8"/>
          </a:solidFill>
          <a:ln w="12700">
            <a:solidFill>
              <a:srgbClr val="7FA8E8"/>
            </a:solidFill>
            <a:prstDash val="solid"/>
          </a:ln>
        </p:spPr>
      </p:sp>
      <p:sp>
        <p:nvSpPr>
          <p:cNvPr id="51" name="Text 48"/>
          <p:cNvSpPr txBox="1"/>
          <p:nvPr/>
        </p:nvSpPr>
        <p:spPr>
          <a:xfrm>
            <a:off x="8467344" y="411480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Routing accuracy and retrieval recall per language</a:t>
            </a:r>
            <a:endParaRPr lang="en-US" sz="1200" dirty="0"/>
          </a:p>
        </p:txBody>
      </p:sp>
      <p:sp>
        <p:nvSpPr>
          <p:cNvPr id="52" name="Shape 49"/>
          <p:cNvSpPr/>
          <p:nvPr/>
        </p:nvSpPr>
        <p:spPr>
          <a:xfrm>
            <a:off x="8266176" y="4882896"/>
            <a:ext cx="100584" cy="100584"/>
          </a:xfrm>
          <a:prstGeom prst="ellipse">
            <a:avLst/>
          </a:prstGeom>
          <a:solidFill>
            <a:srgbClr val="7FA8E8"/>
          </a:solidFill>
          <a:ln w="12700">
            <a:solidFill>
              <a:srgbClr val="7FA8E8"/>
            </a:solidFill>
            <a:prstDash val="solid"/>
          </a:ln>
        </p:spPr>
      </p:sp>
      <p:sp>
        <p:nvSpPr>
          <p:cNvPr id="53" name="Text 50"/>
          <p:cNvSpPr txBox="1"/>
          <p:nvPr/>
        </p:nvSpPr>
        <p:spPr>
          <a:xfrm>
            <a:off x="8467344" y="475488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Each language within 5 points of English</a:t>
            </a:r>
            <a:endParaRPr lang="en-US" sz="1200" dirty="0"/>
          </a:p>
        </p:txBody>
      </p:sp>
      <p:sp>
        <p:nvSpPr>
          <p:cNvPr id="54" name="Shape 51"/>
          <p:cNvSpPr/>
          <p:nvPr/>
        </p:nvSpPr>
        <p:spPr>
          <a:xfrm>
            <a:off x="8266176" y="5522976"/>
            <a:ext cx="100584" cy="100584"/>
          </a:xfrm>
          <a:prstGeom prst="ellipse">
            <a:avLst/>
          </a:prstGeom>
          <a:solidFill>
            <a:srgbClr val="7FA8E8"/>
          </a:solidFill>
          <a:ln w="12700">
            <a:solidFill>
              <a:srgbClr val="7FA8E8"/>
            </a:solidFill>
            <a:prstDash val="solid"/>
          </a:ln>
        </p:spPr>
      </p:sp>
      <p:sp>
        <p:nvSpPr>
          <p:cNvPr id="55" name="Text 52"/>
          <p:cNvSpPr txBox="1"/>
          <p:nvPr/>
        </p:nvSpPr>
        <p:spPr>
          <a:xfrm>
            <a:off x="8467344" y="5394960"/>
            <a:ext cx="3108960" cy="58521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A language failing the bar is flagged in CI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SENSOR BOARD (B1)</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Every sensor in one line, every time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7</a:t>
            </a:r>
            <a:endParaRPr lang="en-US" sz="1000" dirty="0"/>
          </a:p>
        </p:txBody>
      </p:sp>
      <p:sp>
        <p:nvSpPr>
          <p:cNvPr id="8" name="Shape 5"/>
          <p:cNvSpPr/>
          <p:nvPr/>
        </p:nvSpPr>
        <p:spPr>
          <a:xfrm>
            <a:off x="457200" y="1325880"/>
            <a:ext cx="6583680" cy="4956048"/>
          </a:xfrm>
          <a:prstGeom prst="roundRect">
            <a:avLst>
              <a:gd name="adj" fmla="val 1292"/>
            </a:avLst>
          </a:prstGeom>
          <a:solidFill>
            <a:srgbClr val="161C24"/>
          </a:solidFill>
          <a:ln w="9525">
            <a:solidFill>
              <a:srgbClr val="323C49"/>
            </a:solidFill>
            <a:prstDash val="solid"/>
          </a:ln>
        </p:spPr>
      </p:sp>
      <p:sp>
        <p:nvSpPr>
          <p:cNvPr id="9" name="Text 6"/>
          <p:cNvSpPr txBox="1"/>
          <p:nvPr/>
        </p:nvSpPr>
        <p:spPr>
          <a:xfrm>
            <a:off x="640080" y="1444752"/>
            <a:ext cx="6217920" cy="256032"/>
          </a:xfrm>
          <a:prstGeom prst="rect">
            <a:avLst/>
          </a:prstGeom>
          <a:noFill/>
          <a:ln/>
        </p:spPr>
        <p:txBody>
          <a:bodyPr wrap="square" lIns="0" tIns="0" rIns="0" bIns="0" rtlCol="0" anchor="t"/>
          <a:lstStyle/>
          <a:p>
            <a:pPr indent="0" marL="0">
              <a:buNone/>
            </a:pPr>
            <a:r>
              <a:rPr lang="en-US" sz="950" b="1" spc="150" kern="0" dirty="0">
                <a:solidFill>
                  <a:srgbClr val="A3AEBB"/>
                </a:solidFill>
                <a:latin typeface="Calibri" pitchFamily="34" charset="0"/>
                <a:ea typeface="Calibri" pitchFamily="34" charset="-122"/>
                <a:cs typeface="Calibri" pitchFamily="34" charset="-120"/>
              </a:rPr>
              <a:t>SENSOR BOARD · XAUUSD · 18 SEP 20:55 · DAY TRADER</a:t>
            </a:r>
            <a:endParaRPr lang="en-US" sz="950" dirty="0"/>
          </a:p>
        </p:txBody>
      </p:sp>
      <p:sp>
        <p:nvSpPr>
          <p:cNvPr id="10" name="Text 7"/>
          <p:cNvSpPr txBox="1"/>
          <p:nvPr/>
        </p:nvSpPr>
        <p:spPr>
          <a:xfrm>
            <a:off x="640080" y="1874520"/>
            <a:ext cx="822960" cy="548640"/>
          </a:xfrm>
          <a:prstGeom prst="rect">
            <a:avLst/>
          </a:prstGeom>
          <a:noFill/>
          <a:ln/>
        </p:spPr>
        <p:txBody>
          <a:bodyPr wrap="square" lIns="0" tIns="0" rIns="0" bIns="0" rtlCol="0" anchor="ctr"/>
          <a:lstStyle/>
          <a:p>
            <a:pPr indent="0" marL="0">
              <a:buNone/>
            </a:pPr>
            <a:r>
              <a:rPr lang="en-US" sz="1200" b="1" dirty="0">
                <a:solidFill>
                  <a:srgbClr val="E2B54E"/>
                </a:solidFill>
                <a:latin typeface="Courier New" pitchFamily="34" charset="0"/>
                <a:ea typeface="Courier New" pitchFamily="34" charset="-122"/>
                <a:cs typeface="Courier New" pitchFamily="34" charset="-120"/>
              </a:rPr>
              <a:t>SYN</a:t>
            </a:r>
            <a:endParaRPr lang="en-US" sz="1200" dirty="0"/>
          </a:p>
        </p:txBody>
      </p:sp>
      <p:sp>
        <p:nvSpPr>
          <p:cNvPr id="11" name="Shape 8"/>
          <p:cNvSpPr/>
          <p:nvPr/>
        </p:nvSpPr>
        <p:spPr>
          <a:xfrm>
            <a:off x="1508760" y="2011680"/>
            <a:ext cx="822960" cy="274320"/>
          </a:xfrm>
          <a:prstGeom prst="roundRect">
            <a:avLst>
              <a:gd name="adj" fmla="val 50000"/>
            </a:avLst>
          </a:prstGeom>
          <a:solidFill>
            <a:srgbClr val="262F3B"/>
          </a:solidFill>
          <a:ln w="9525">
            <a:solidFill>
              <a:srgbClr val="262F3B"/>
            </a:solidFill>
            <a:prstDash val="solid"/>
          </a:ln>
        </p:spPr>
      </p:sp>
      <p:sp>
        <p:nvSpPr>
          <p:cNvPr id="12" name="Text 9"/>
          <p:cNvSpPr txBox="1"/>
          <p:nvPr/>
        </p:nvSpPr>
        <p:spPr>
          <a:xfrm>
            <a:off x="1508760" y="2011680"/>
            <a:ext cx="822960" cy="274320"/>
          </a:xfrm>
          <a:prstGeom prst="rect">
            <a:avLst/>
          </a:prstGeom>
          <a:noFill/>
          <a:ln/>
        </p:spPr>
        <p:txBody>
          <a:bodyPr wrap="square" lIns="0" tIns="0" rIns="0" bIns="0" rtlCol="0" anchor="ctr"/>
          <a:lstStyle/>
          <a:p>
            <a:pPr algn="ctr" indent="0" marL="0">
              <a:buNone/>
            </a:pPr>
            <a:r>
              <a:rPr lang="en-US" sz="850" b="1" spc="100" kern="0" dirty="0">
                <a:solidFill>
                  <a:srgbClr val="5CC2B2"/>
                </a:solidFill>
                <a:latin typeface="Calibri" pitchFamily="34" charset="0"/>
                <a:ea typeface="Calibri" pitchFamily="34" charset="-122"/>
                <a:cs typeface="Calibri" pitchFamily="34" charset="-120"/>
              </a:rPr>
              <a:t>VALID</a:t>
            </a:r>
            <a:endParaRPr lang="en-US" sz="850" dirty="0"/>
          </a:p>
        </p:txBody>
      </p:sp>
      <p:sp>
        <p:nvSpPr>
          <p:cNvPr id="13" name="Text 10"/>
          <p:cNvSpPr txBox="1"/>
          <p:nvPr/>
        </p:nvSpPr>
        <p:spPr>
          <a:xfrm>
            <a:off x="2468880" y="1874520"/>
            <a:ext cx="4480560" cy="548640"/>
          </a:xfrm>
          <a:prstGeom prst="rect">
            <a:avLst/>
          </a:prstGeom>
          <a:noFill/>
          <a:ln/>
        </p:spPr>
        <p:txBody>
          <a:bodyPr wrap="square" lIns="0" tIns="0" rIns="0" bIns="0" rtlCol="0" anchor="ctr"/>
          <a:lstStyle/>
          <a:p>
            <a:pPr indent="0" marL="0">
              <a:buNone/>
            </a:pPr>
            <a:r>
              <a:rPr lang="en-US" sz="1200" dirty="0">
                <a:solidFill>
                  <a:srgbClr val="E2B54E"/>
                </a:solidFill>
                <a:latin typeface="Calibri" pitchFamily="34" charset="0"/>
                <a:ea typeface="Calibri" pitchFamily="34" charset="-122"/>
                <a:cs typeface="Calibri" pitchFamily="34" charset="-120"/>
              </a:rPr>
              <a:t>Rule 1 · C counter-trend rally · LONG · counter-trend</a:t>
            </a:r>
            <a:endParaRPr lang="en-US" sz="1200" dirty="0"/>
          </a:p>
        </p:txBody>
      </p:sp>
      <p:sp>
        <p:nvSpPr>
          <p:cNvPr id="14" name="Text 11"/>
          <p:cNvSpPr txBox="1"/>
          <p:nvPr/>
        </p:nvSpPr>
        <p:spPr>
          <a:xfrm>
            <a:off x="640080" y="2587752"/>
            <a:ext cx="822960" cy="548640"/>
          </a:xfrm>
          <a:prstGeom prst="rect">
            <a:avLst/>
          </a:prstGeom>
          <a:noFill/>
          <a:ln/>
        </p:spPr>
        <p:txBody>
          <a:bodyPr wrap="square" lIns="0" tIns="0" rIns="0" bIns="0" rtlCol="0" anchor="ctr"/>
          <a:lstStyle/>
          <a:p>
            <a:pPr indent="0" marL="0">
              <a:buNone/>
            </a:pPr>
            <a:r>
              <a:rPr lang="en-US" sz="1200" b="1" dirty="0">
                <a:solidFill>
                  <a:srgbClr val="E2B54E"/>
                </a:solidFill>
                <a:latin typeface="Courier New" pitchFamily="34" charset="0"/>
                <a:ea typeface="Courier New" pitchFamily="34" charset="-122"/>
                <a:cs typeface="Courier New" pitchFamily="34" charset="-120"/>
              </a:rPr>
              <a:t>MCD1</a:t>
            </a:r>
            <a:endParaRPr lang="en-US" sz="1200" dirty="0"/>
          </a:p>
        </p:txBody>
      </p:sp>
      <p:sp>
        <p:nvSpPr>
          <p:cNvPr id="15" name="Shape 12"/>
          <p:cNvSpPr/>
          <p:nvPr/>
        </p:nvSpPr>
        <p:spPr>
          <a:xfrm>
            <a:off x="1508760" y="2724912"/>
            <a:ext cx="822960" cy="274320"/>
          </a:xfrm>
          <a:prstGeom prst="roundRect">
            <a:avLst>
              <a:gd name="adj" fmla="val 50000"/>
            </a:avLst>
          </a:prstGeom>
          <a:solidFill>
            <a:srgbClr val="262F3B"/>
          </a:solidFill>
          <a:ln w="9525">
            <a:solidFill>
              <a:srgbClr val="262F3B"/>
            </a:solidFill>
            <a:prstDash val="solid"/>
          </a:ln>
        </p:spPr>
      </p:sp>
      <p:sp>
        <p:nvSpPr>
          <p:cNvPr id="16" name="Text 13"/>
          <p:cNvSpPr txBox="1"/>
          <p:nvPr/>
        </p:nvSpPr>
        <p:spPr>
          <a:xfrm>
            <a:off x="1508760" y="2724912"/>
            <a:ext cx="822960" cy="274320"/>
          </a:xfrm>
          <a:prstGeom prst="rect">
            <a:avLst/>
          </a:prstGeom>
          <a:noFill/>
          <a:ln/>
        </p:spPr>
        <p:txBody>
          <a:bodyPr wrap="square" lIns="0" tIns="0" rIns="0" bIns="0" rtlCol="0" anchor="ctr"/>
          <a:lstStyle/>
          <a:p>
            <a:pPr algn="ctr" indent="0" marL="0">
              <a:buNone/>
            </a:pPr>
            <a:r>
              <a:rPr lang="en-US" sz="850" b="1" spc="100" kern="0" dirty="0">
                <a:solidFill>
                  <a:srgbClr val="5CC2B2"/>
                </a:solidFill>
                <a:latin typeface="Calibri" pitchFamily="34" charset="0"/>
                <a:ea typeface="Calibri" pitchFamily="34" charset="-122"/>
                <a:cs typeface="Calibri" pitchFamily="34" charset="-120"/>
              </a:rPr>
              <a:t>VALID</a:t>
            </a:r>
            <a:endParaRPr lang="en-US" sz="850" dirty="0"/>
          </a:p>
        </p:txBody>
      </p:sp>
      <p:sp>
        <p:nvSpPr>
          <p:cNvPr id="17" name="Text 14"/>
          <p:cNvSpPr txBox="1"/>
          <p:nvPr/>
        </p:nvSpPr>
        <p:spPr>
          <a:xfrm>
            <a:off x="2468880" y="2587752"/>
            <a:ext cx="4480560" cy="548640"/>
          </a:xfrm>
          <a:prstGeom prst="rect">
            <a:avLst/>
          </a:prstGeom>
          <a:noFill/>
          <a:ln/>
        </p:spPr>
        <p:txBody>
          <a:bodyPr wrap="square" lIns="0" tIns="0" rIns="0" bIns="0" rtlCol="0" anchor="ctr"/>
          <a:lstStyle/>
          <a:p>
            <a:pPr indent="0" marL="0">
              <a:buNone/>
            </a:pPr>
            <a:r>
              <a:rPr lang="en-US" sz="1200" dirty="0">
                <a:solidFill>
                  <a:srgbClr val="EEF1F4"/>
                </a:solidFill>
                <a:latin typeface="Calibri" pitchFamily="34" charset="0"/>
                <a:ea typeface="Calibri" pitchFamily="34" charset="-122"/>
                <a:cs typeface="Calibri" pitchFamily="34" charset="-120"/>
              </a:rPr>
              <a:t>M15 downtrend; sustained breach above the upper band</a:t>
            </a:r>
            <a:endParaRPr lang="en-US" sz="1200" dirty="0"/>
          </a:p>
        </p:txBody>
      </p:sp>
      <p:sp>
        <p:nvSpPr>
          <p:cNvPr id="18" name="Text 15"/>
          <p:cNvSpPr txBox="1"/>
          <p:nvPr/>
        </p:nvSpPr>
        <p:spPr>
          <a:xfrm>
            <a:off x="640080" y="3300984"/>
            <a:ext cx="822960" cy="548640"/>
          </a:xfrm>
          <a:prstGeom prst="rect">
            <a:avLst/>
          </a:prstGeom>
          <a:noFill/>
          <a:ln/>
        </p:spPr>
        <p:txBody>
          <a:bodyPr wrap="square" lIns="0" tIns="0" rIns="0" bIns="0" rtlCol="0" anchor="ctr"/>
          <a:lstStyle/>
          <a:p>
            <a:pPr indent="0" marL="0">
              <a:buNone/>
            </a:pPr>
            <a:r>
              <a:rPr lang="en-US" sz="1200" b="1" dirty="0">
                <a:solidFill>
                  <a:srgbClr val="E2B54E"/>
                </a:solidFill>
                <a:latin typeface="Courier New" pitchFamily="34" charset="0"/>
                <a:ea typeface="Courier New" pitchFamily="34" charset="-122"/>
                <a:cs typeface="Courier New" pitchFamily="34" charset="-120"/>
              </a:rPr>
              <a:t>MCD2</a:t>
            </a:r>
            <a:endParaRPr lang="en-US" sz="1200" dirty="0"/>
          </a:p>
        </p:txBody>
      </p:sp>
      <p:sp>
        <p:nvSpPr>
          <p:cNvPr id="19" name="Shape 16"/>
          <p:cNvSpPr/>
          <p:nvPr/>
        </p:nvSpPr>
        <p:spPr>
          <a:xfrm>
            <a:off x="1508760" y="3438144"/>
            <a:ext cx="822960" cy="274320"/>
          </a:xfrm>
          <a:prstGeom prst="roundRect">
            <a:avLst>
              <a:gd name="adj" fmla="val 50000"/>
            </a:avLst>
          </a:prstGeom>
          <a:solidFill>
            <a:srgbClr val="262F3B"/>
          </a:solidFill>
          <a:ln w="9525">
            <a:solidFill>
              <a:srgbClr val="262F3B"/>
            </a:solidFill>
            <a:prstDash val="solid"/>
          </a:ln>
        </p:spPr>
      </p:sp>
      <p:sp>
        <p:nvSpPr>
          <p:cNvPr id="20" name="Text 17"/>
          <p:cNvSpPr txBox="1"/>
          <p:nvPr/>
        </p:nvSpPr>
        <p:spPr>
          <a:xfrm>
            <a:off x="1508760" y="3438144"/>
            <a:ext cx="822960" cy="274320"/>
          </a:xfrm>
          <a:prstGeom prst="rect">
            <a:avLst/>
          </a:prstGeom>
          <a:noFill/>
          <a:ln/>
        </p:spPr>
        <p:txBody>
          <a:bodyPr wrap="square" lIns="0" tIns="0" rIns="0" bIns="0" rtlCol="0" anchor="ctr"/>
          <a:lstStyle/>
          <a:p>
            <a:pPr algn="ctr" indent="0" marL="0">
              <a:buNone/>
            </a:pPr>
            <a:r>
              <a:rPr lang="en-US" sz="850" b="1" spc="100" kern="0" dirty="0">
                <a:solidFill>
                  <a:srgbClr val="5CC2B2"/>
                </a:solidFill>
                <a:latin typeface="Calibri" pitchFamily="34" charset="0"/>
                <a:ea typeface="Calibri" pitchFamily="34" charset="-122"/>
                <a:cs typeface="Calibri" pitchFamily="34" charset="-120"/>
              </a:rPr>
              <a:t>VALID</a:t>
            </a:r>
            <a:endParaRPr lang="en-US" sz="850" dirty="0"/>
          </a:p>
        </p:txBody>
      </p:sp>
      <p:sp>
        <p:nvSpPr>
          <p:cNvPr id="21" name="Text 18"/>
          <p:cNvSpPr txBox="1"/>
          <p:nvPr/>
        </p:nvSpPr>
        <p:spPr>
          <a:xfrm>
            <a:off x="2468880" y="3300984"/>
            <a:ext cx="4480560" cy="548640"/>
          </a:xfrm>
          <a:prstGeom prst="rect">
            <a:avLst/>
          </a:prstGeom>
          <a:noFill/>
          <a:ln/>
        </p:spPr>
        <p:txBody>
          <a:bodyPr wrap="square" lIns="0" tIns="0" rIns="0" bIns="0" rtlCol="0" anchor="ctr"/>
          <a:lstStyle/>
          <a:p>
            <a:pPr indent="0" marL="0">
              <a:buNone/>
            </a:pPr>
            <a:r>
              <a:rPr lang="en-US" sz="1200" dirty="0">
                <a:solidFill>
                  <a:srgbClr val="EEF1F4"/>
                </a:solidFill>
                <a:latin typeface="Calibri" pitchFamily="34" charset="0"/>
                <a:ea typeface="Calibri" pitchFamily="34" charset="-122"/>
                <a:cs typeface="Calibri" pitchFamily="34" charset="-120"/>
              </a:rPr>
              <a:t>M5 uptrend; price inside the corridor</a:t>
            </a:r>
            <a:endParaRPr lang="en-US" sz="1200" dirty="0"/>
          </a:p>
        </p:txBody>
      </p:sp>
      <p:sp>
        <p:nvSpPr>
          <p:cNvPr id="22" name="Text 19"/>
          <p:cNvSpPr txBox="1"/>
          <p:nvPr/>
        </p:nvSpPr>
        <p:spPr>
          <a:xfrm>
            <a:off x="640080" y="4014216"/>
            <a:ext cx="822960" cy="548640"/>
          </a:xfrm>
          <a:prstGeom prst="rect">
            <a:avLst/>
          </a:prstGeom>
          <a:noFill/>
          <a:ln/>
        </p:spPr>
        <p:txBody>
          <a:bodyPr wrap="square" lIns="0" tIns="0" rIns="0" bIns="0" rtlCol="0" anchor="ctr"/>
          <a:lstStyle/>
          <a:p>
            <a:pPr indent="0" marL="0">
              <a:buNone/>
            </a:pPr>
            <a:r>
              <a:rPr lang="en-US" sz="1200" b="1" dirty="0">
                <a:solidFill>
                  <a:srgbClr val="E2B54E"/>
                </a:solidFill>
                <a:latin typeface="Courier New" pitchFamily="34" charset="0"/>
                <a:ea typeface="Courier New" pitchFamily="34" charset="-122"/>
                <a:cs typeface="Courier New" pitchFamily="34" charset="-120"/>
              </a:rPr>
              <a:t>MCD3</a:t>
            </a:r>
            <a:endParaRPr lang="en-US" sz="1200" dirty="0"/>
          </a:p>
        </p:txBody>
      </p:sp>
      <p:sp>
        <p:nvSpPr>
          <p:cNvPr id="23" name="Shape 20"/>
          <p:cNvSpPr/>
          <p:nvPr/>
        </p:nvSpPr>
        <p:spPr>
          <a:xfrm>
            <a:off x="1508760" y="4151376"/>
            <a:ext cx="822960" cy="274320"/>
          </a:xfrm>
          <a:prstGeom prst="roundRect">
            <a:avLst>
              <a:gd name="adj" fmla="val 50000"/>
            </a:avLst>
          </a:prstGeom>
          <a:solidFill>
            <a:srgbClr val="262F3B"/>
          </a:solidFill>
          <a:ln w="9525">
            <a:solidFill>
              <a:srgbClr val="262F3B"/>
            </a:solidFill>
            <a:prstDash val="solid"/>
          </a:ln>
        </p:spPr>
      </p:sp>
      <p:sp>
        <p:nvSpPr>
          <p:cNvPr id="24" name="Text 21"/>
          <p:cNvSpPr txBox="1"/>
          <p:nvPr/>
        </p:nvSpPr>
        <p:spPr>
          <a:xfrm>
            <a:off x="1508760" y="4151376"/>
            <a:ext cx="822960" cy="274320"/>
          </a:xfrm>
          <a:prstGeom prst="rect">
            <a:avLst/>
          </a:prstGeom>
          <a:noFill/>
          <a:ln/>
        </p:spPr>
        <p:txBody>
          <a:bodyPr wrap="square" lIns="0" tIns="0" rIns="0" bIns="0" rtlCol="0" anchor="ctr"/>
          <a:lstStyle/>
          <a:p>
            <a:pPr algn="ctr" indent="0" marL="0">
              <a:buNone/>
            </a:pPr>
            <a:r>
              <a:rPr lang="en-US" sz="850" b="1" spc="100" kern="0" dirty="0">
                <a:solidFill>
                  <a:srgbClr val="5CC2B2"/>
                </a:solidFill>
                <a:latin typeface="Calibri" pitchFamily="34" charset="0"/>
                <a:ea typeface="Calibri" pitchFamily="34" charset="-122"/>
                <a:cs typeface="Calibri" pitchFamily="34" charset="-120"/>
              </a:rPr>
              <a:t>VALID</a:t>
            </a:r>
            <a:endParaRPr lang="en-US" sz="850" dirty="0"/>
          </a:p>
        </p:txBody>
      </p:sp>
      <p:sp>
        <p:nvSpPr>
          <p:cNvPr id="25" name="Text 22"/>
          <p:cNvSpPr txBox="1"/>
          <p:nvPr/>
        </p:nvSpPr>
        <p:spPr>
          <a:xfrm>
            <a:off x="2468880" y="4014216"/>
            <a:ext cx="4480560" cy="548640"/>
          </a:xfrm>
          <a:prstGeom prst="rect">
            <a:avLst/>
          </a:prstGeom>
          <a:noFill/>
          <a:ln/>
        </p:spPr>
        <p:txBody>
          <a:bodyPr wrap="square" lIns="0" tIns="0" rIns="0" bIns="0" rtlCol="0" anchor="ctr"/>
          <a:lstStyle/>
          <a:p>
            <a:pPr indent="0" marL="0">
              <a:buNone/>
            </a:pPr>
            <a:r>
              <a:rPr lang="en-US" sz="1200" dirty="0">
                <a:solidFill>
                  <a:srgbClr val="EEF1F4"/>
                </a:solidFill>
                <a:latin typeface="Calibri" pitchFamily="34" charset="0"/>
                <a:ea typeface="Calibri" pitchFamily="34" charset="-122"/>
                <a:cs typeface="Calibri" pitchFamily="34" charset="-120"/>
              </a:rPr>
              <a:t>M15 and M5 trends disagree; stand aside on its own</a:t>
            </a:r>
            <a:endParaRPr lang="en-US" sz="1200" dirty="0"/>
          </a:p>
        </p:txBody>
      </p:sp>
      <p:sp>
        <p:nvSpPr>
          <p:cNvPr id="26" name="Text 23"/>
          <p:cNvSpPr txBox="1"/>
          <p:nvPr/>
        </p:nvSpPr>
        <p:spPr>
          <a:xfrm>
            <a:off x="640080" y="4727448"/>
            <a:ext cx="822960" cy="548640"/>
          </a:xfrm>
          <a:prstGeom prst="rect">
            <a:avLst/>
          </a:prstGeom>
          <a:noFill/>
          <a:ln/>
        </p:spPr>
        <p:txBody>
          <a:bodyPr wrap="square" lIns="0" tIns="0" rIns="0" bIns="0" rtlCol="0" anchor="ctr"/>
          <a:lstStyle/>
          <a:p>
            <a:pPr indent="0" marL="0">
              <a:buNone/>
            </a:pPr>
            <a:r>
              <a:rPr lang="en-US" sz="1200" b="1" dirty="0">
                <a:solidFill>
                  <a:srgbClr val="6E7A88"/>
                </a:solidFill>
                <a:latin typeface="Courier New" pitchFamily="34" charset="0"/>
                <a:ea typeface="Courier New" pitchFamily="34" charset="-122"/>
                <a:cs typeface="Courier New" pitchFamily="34" charset="-120"/>
              </a:rPr>
              <a:t>MCD4…</a:t>
            </a:r>
            <a:endParaRPr lang="en-US" sz="1200" dirty="0"/>
          </a:p>
        </p:txBody>
      </p:sp>
      <p:sp>
        <p:nvSpPr>
          <p:cNvPr id="27" name="Text 24"/>
          <p:cNvSpPr txBox="1"/>
          <p:nvPr/>
        </p:nvSpPr>
        <p:spPr>
          <a:xfrm>
            <a:off x="2468880" y="4727448"/>
            <a:ext cx="4480560" cy="548640"/>
          </a:xfrm>
          <a:prstGeom prst="rect">
            <a:avLst/>
          </a:prstGeom>
          <a:noFill/>
          <a:ln/>
        </p:spPr>
        <p:txBody>
          <a:bodyPr wrap="square" lIns="0" tIns="0" rIns="0" bIns="0" rtlCol="0" anchor="ctr"/>
          <a:lstStyle/>
          <a:p>
            <a:pPr indent="0" marL="0">
              <a:buNone/>
            </a:pPr>
            <a:r>
              <a:rPr lang="en-US" sz="1200" dirty="0">
                <a:solidFill>
                  <a:srgbClr val="6E7A88"/>
                </a:solidFill>
                <a:latin typeface="Calibri" pitchFamily="34" charset="0"/>
                <a:ea typeface="Calibri" pitchFamily="34" charset="-122"/>
                <a:cs typeface="Calibri" pitchFamily="34" charset="-120"/>
              </a:rPr>
              <a:t>future sensors appear here as they are switched on</a:t>
            </a:r>
            <a:endParaRPr lang="en-US" sz="1200" dirty="0"/>
          </a:p>
        </p:txBody>
      </p:sp>
      <p:sp>
        <p:nvSpPr>
          <p:cNvPr id="28" name="Text 25"/>
          <p:cNvSpPr txBox="1"/>
          <p:nvPr/>
        </p:nvSpPr>
        <p:spPr>
          <a:xfrm>
            <a:off x="640080" y="5440680"/>
            <a:ext cx="822960" cy="548640"/>
          </a:xfrm>
          <a:prstGeom prst="rect">
            <a:avLst/>
          </a:prstGeom>
          <a:noFill/>
          <a:ln/>
        </p:spPr>
        <p:txBody>
          <a:bodyPr wrap="square" lIns="0" tIns="0" rIns="0" bIns="0" rtlCol="0" anchor="ctr"/>
          <a:lstStyle/>
          <a:p>
            <a:pPr indent="0" marL="0">
              <a:buNone/>
            </a:pPr>
            <a:r>
              <a:rPr lang="en-US" sz="1200" b="1" dirty="0">
                <a:solidFill>
                  <a:srgbClr val="E2B54E"/>
                </a:solidFill>
                <a:latin typeface="Courier New" pitchFamily="34" charset="0"/>
                <a:ea typeface="Courier New" pitchFamily="34" charset="-122"/>
                <a:cs typeface="Courier New" pitchFamily="34" charset="-120"/>
              </a:rPr>
              <a:t>DATA</a:t>
            </a:r>
            <a:endParaRPr lang="en-US" sz="1200" dirty="0"/>
          </a:p>
        </p:txBody>
      </p:sp>
      <p:sp>
        <p:nvSpPr>
          <p:cNvPr id="29" name="Shape 26"/>
          <p:cNvSpPr/>
          <p:nvPr/>
        </p:nvSpPr>
        <p:spPr>
          <a:xfrm>
            <a:off x="1508760" y="5577840"/>
            <a:ext cx="822960" cy="274320"/>
          </a:xfrm>
          <a:prstGeom prst="roundRect">
            <a:avLst>
              <a:gd name="adj" fmla="val 50000"/>
            </a:avLst>
          </a:prstGeom>
          <a:solidFill>
            <a:srgbClr val="5CC2B2"/>
          </a:solidFill>
          <a:ln w="9525">
            <a:solidFill>
              <a:srgbClr val="5CC2B2"/>
            </a:solidFill>
            <a:prstDash val="solid"/>
          </a:ln>
        </p:spPr>
      </p:sp>
      <p:sp>
        <p:nvSpPr>
          <p:cNvPr id="30" name="Text 27"/>
          <p:cNvSpPr txBox="1"/>
          <p:nvPr/>
        </p:nvSpPr>
        <p:spPr>
          <a:xfrm>
            <a:off x="1508760" y="5577840"/>
            <a:ext cx="822960" cy="274320"/>
          </a:xfrm>
          <a:prstGeom prst="rect">
            <a:avLst/>
          </a:prstGeom>
          <a:noFill/>
          <a:ln/>
        </p:spPr>
        <p:txBody>
          <a:bodyPr wrap="square" lIns="0" tIns="0" rIns="0" bIns="0" rtlCol="0" anchor="ctr"/>
          <a:lstStyle/>
          <a:p>
            <a:pPr algn="ctr" indent="0" marL="0">
              <a:buNone/>
            </a:pPr>
            <a:r>
              <a:rPr lang="en-US" sz="850" b="1" spc="100" kern="0" dirty="0">
                <a:solidFill>
                  <a:srgbClr val="0F1318"/>
                </a:solidFill>
                <a:latin typeface="Calibri" pitchFamily="34" charset="0"/>
                <a:ea typeface="Calibri" pitchFamily="34" charset="-122"/>
                <a:cs typeface="Calibri" pitchFamily="34" charset="-120"/>
              </a:rPr>
              <a:t>FRESH</a:t>
            </a:r>
            <a:endParaRPr lang="en-US" sz="850" dirty="0"/>
          </a:p>
        </p:txBody>
      </p:sp>
      <p:sp>
        <p:nvSpPr>
          <p:cNvPr id="31" name="Text 28"/>
          <p:cNvSpPr txBox="1"/>
          <p:nvPr/>
        </p:nvSpPr>
        <p:spPr>
          <a:xfrm>
            <a:off x="2468880" y="5440680"/>
            <a:ext cx="4480560" cy="548640"/>
          </a:xfrm>
          <a:prstGeom prst="rect">
            <a:avLst/>
          </a:prstGeom>
          <a:noFill/>
          <a:ln/>
        </p:spPr>
        <p:txBody>
          <a:bodyPr wrap="square" lIns="0" tIns="0" rIns="0" bIns="0" rtlCol="0" anchor="ctr"/>
          <a:lstStyle/>
          <a:p>
            <a:pPr indent="0" marL="0">
              <a:buNone/>
            </a:pPr>
            <a:r>
              <a:rPr lang="en-US" sz="1200" dirty="0">
                <a:solidFill>
                  <a:srgbClr val="A3AEBB"/>
                </a:solidFill>
                <a:latin typeface="Calibri" pitchFamily="34" charset="0"/>
                <a:ea typeface="Calibri" pitchFamily="34" charset="-122"/>
                <a:cs typeface="Calibri" pitchFamily="34" charset="-120"/>
              </a:rPr>
              <a:t>cycle 20:55 · last price 4377.99 at 20:55:05</a:t>
            </a:r>
            <a:endParaRPr lang="en-US" sz="1200" dirty="0"/>
          </a:p>
        </p:txBody>
      </p:sp>
      <p:sp>
        <p:nvSpPr>
          <p:cNvPr id="32" name="Shape 29"/>
          <p:cNvSpPr/>
          <p:nvPr/>
        </p:nvSpPr>
        <p:spPr>
          <a:xfrm>
            <a:off x="7269480" y="1325880"/>
            <a:ext cx="4462272" cy="1133856"/>
          </a:xfrm>
          <a:prstGeom prst="roundRect">
            <a:avLst>
              <a:gd name="adj" fmla="val 5645"/>
            </a:avLst>
          </a:prstGeom>
          <a:solidFill>
            <a:srgbClr val="1D242E"/>
          </a:solidFill>
          <a:ln w="9525">
            <a:solidFill>
              <a:srgbClr val="323C49"/>
            </a:solidFill>
            <a:prstDash val="solid"/>
          </a:ln>
        </p:spPr>
      </p:sp>
      <p:sp>
        <p:nvSpPr>
          <p:cNvPr id="33" name="Shape 30"/>
          <p:cNvSpPr/>
          <p:nvPr/>
        </p:nvSpPr>
        <p:spPr>
          <a:xfrm>
            <a:off x="7406640" y="1453896"/>
            <a:ext cx="329184" cy="329184"/>
          </a:xfrm>
          <a:prstGeom prst="ellipse">
            <a:avLst/>
          </a:prstGeom>
          <a:solidFill>
            <a:srgbClr val="E2B54E"/>
          </a:solidFill>
          <a:ln w="15875">
            <a:solidFill>
              <a:srgbClr val="E2B54E"/>
            </a:solidFill>
            <a:prstDash val="solid"/>
          </a:ln>
        </p:spPr>
      </p:sp>
      <p:sp>
        <p:nvSpPr>
          <p:cNvPr id="34" name="Text 31"/>
          <p:cNvSpPr txBox="1"/>
          <p:nvPr/>
        </p:nvSpPr>
        <p:spPr>
          <a:xfrm>
            <a:off x="7406640" y="1453896"/>
            <a:ext cx="329184" cy="329184"/>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35" name="Text 32"/>
          <p:cNvSpPr txBox="1"/>
          <p:nvPr/>
        </p:nvSpPr>
        <p:spPr>
          <a:xfrm>
            <a:off x="7845552" y="1417320"/>
            <a:ext cx="3794760" cy="38404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Always sent</a:t>
            </a:r>
            <a:endParaRPr lang="en-US" sz="1250" dirty="0"/>
          </a:p>
        </p:txBody>
      </p:sp>
      <p:sp>
        <p:nvSpPr>
          <p:cNvPr id="36" name="Text 33"/>
          <p:cNvSpPr txBox="1"/>
          <p:nvPr/>
        </p:nvSpPr>
        <p:spPr>
          <a:xfrm>
            <a:off x="7406640" y="1837944"/>
            <a:ext cx="4206240" cy="58521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Every request carries the whole board, about 600–800 tokens for 15 sensors.</a:t>
            </a:r>
            <a:endParaRPr lang="en-US" sz="1100" dirty="0"/>
          </a:p>
        </p:txBody>
      </p:sp>
      <p:sp>
        <p:nvSpPr>
          <p:cNvPr id="37" name="Shape 34"/>
          <p:cNvSpPr/>
          <p:nvPr/>
        </p:nvSpPr>
        <p:spPr>
          <a:xfrm>
            <a:off x="7269480" y="2578608"/>
            <a:ext cx="4462272" cy="1133856"/>
          </a:xfrm>
          <a:prstGeom prst="roundRect">
            <a:avLst>
              <a:gd name="adj" fmla="val 5645"/>
            </a:avLst>
          </a:prstGeom>
          <a:solidFill>
            <a:srgbClr val="1D242E"/>
          </a:solidFill>
          <a:ln w="9525">
            <a:solidFill>
              <a:srgbClr val="323C49"/>
            </a:solidFill>
            <a:prstDash val="solid"/>
          </a:ln>
        </p:spPr>
      </p:sp>
      <p:sp>
        <p:nvSpPr>
          <p:cNvPr id="38" name="Shape 35"/>
          <p:cNvSpPr/>
          <p:nvPr/>
        </p:nvSpPr>
        <p:spPr>
          <a:xfrm>
            <a:off x="7406640" y="2706624"/>
            <a:ext cx="329184" cy="329184"/>
          </a:xfrm>
          <a:prstGeom prst="ellipse">
            <a:avLst/>
          </a:prstGeom>
          <a:solidFill>
            <a:srgbClr val="E2B54E"/>
          </a:solidFill>
          <a:ln w="15875">
            <a:solidFill>
              <a:srgbClr val="E2B54E"/>
            </a:solidFill>
            <a:prstDash val="solid"/>
          </a:ln>
        </p:spPr>
      </p:sp>
      <p:sp>
        <p:nvSpPr>
          <p:cNvPr id="39" name="Text 36"/>
          <p:cNvSpPr txBox="1"/>
          <p:nvPr/>
        </p:nvSpPr>
        <p:spPr>
          <a:xfrm>
            <a:off x="7406640" y="2706624"/>
            <a:ext cx="329184" cy="329184"/>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40" name="Text 37"/>
          <p:cNvSpPr txBox="1"/>
          <p:nvPr/>
        </p:nvSpPr>
        <p:spPr>
          <a:xfrm>
            <a:off x="7845552" y="2670048"/>
            <a:ext cx="3794760" cy="38404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Warnings can’t be routed out</a:t>
            </a:r>
            <a:endParaRPr lang="en-US" sz="1250" dirty="0"/>
          </a:p>
        </p:txBody>
      </p:sp>
      <p:sp>
        <p:nvSpPr>
          <p:cNvPr id="41" name="Text 38"/>
          <p:cNvSpPr txBox="1"/>
          <p:nvPr/>
        </p:nvSpPr>
        <p:spPr>
          <a:xfrm>
            <a:off x="7406640" y="3090672"/>
            <a:ext cx="4206240" cy="58521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Any sensor opposing the synthesis bias, or saying stand aside, also gets its full reading.</a:t>
            </a:r>
            <a:endParaRPr lang="en-US" sz="1100" dirty="0"/>
          </a:p>
        </p:txBody>
      </p:sp>
      <p:sp>
        <p:nvSpPr>
          <p:cNvPr id="42" name="Shape 39"/>
          <p:cNvSpPr/>
          <p:nvPr/>
        </p:nvSpPr>
        <p:spPr>
          <a:xfrm>
            <a:off x="7269480" y="3831336"/>
            <a:ext cx="4462272" cy="1133856"/>
          </a:xfrm>
          <a:prstGeom prst="roundRect">
            <a:avLst>
              <a:gd name="adj" fmla="val 5645"/>
            </a:avLst>
          </a:prstGeom>
          <a:solidFill>
            <a:srgbClr val="1D242E"/>
          </a:solidFill>
          <a:ln w="9525">
            <a:solidFill>
              <a:srgbClr val="323C49"/>
            </a:solidFill>
            <a:prstDash val="solid"/>
          </a:ln>
        </p:spPr>
      </p:sp>
      <p:sp>
        <p:nvSpPr>
          <p:cNvPr id="43" name="Shape 40"/>
          <p:cNvSpPr/>
          <p:nvPr/>
        </p:nvSpPr>
        <p:spPr>
          <a:xfrm>
            <a:off x="7406640" y="3959352"/>
            <a:ext cx="329184" cy="329184"/>
          </a:xfrm>
          <a:prstGeom prst="ellipse">
            <a:avLst/>
          </a:prstGeom>
          <a:solidFill>
            <a:srgbClr val="E2B54E"/>
          </a:solidFill>
          <a:ln w="15875">
            <a:solidFill>
              <a:srgbClr val="E2B54E"/>
            </a:solidFill>
            <a:prstDash val="solid"/>
          </a:ln>
        </p:spPr>
      </p:sp>
      <p:sp>
        <p:nvSpPr>
          <p:cNvPr id="44" name="Text 41"/>
          <p:cNvSpPr txBox="1"/>
          <p:nvPr/>
        </p:nvSpPr>
        <p:spPr>
          <a:xfrm>
            <a:off x="7406640" y="3959352"/>
            <a:ext cx="329184" cy="329184"/>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45" name="Text 42"/>
          <p:cNvSpPr txBox="1"/>
          <p:nvPr/>
        </p:nvSpPr>
        <p:spPr>
          <a:xfrm>
            <a:off x="7845552" y="3922776"/>
            <a:ext cx="3794760" cy="38404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Primary sensor always in full</a:t>
            </a:r>
            <a:endParaRPr lang="en-US" sz="1250" dirty="0"/>
          </a:p>
        </p:txBody>
      </p:sp>
      <p:sp>
        <p:nvSpPr>
          <p:cNvPr id="46" name="Text 43"/>
          <p:cNvSpPr txBox="1"/>
          <p:nvPr/>
        </p:nvSpPr>
        <p:spPr>
          <a:xfrm>
            <a:off x="7406640" y="4343400"/>
            <a:ext cx="4206240" cy="58521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MCD1 for Day Traders, MCD2 for Scalpers.</a:t>
            </a:r>
            <a:endParaRPr lang="en-US" sz="1100" dirty="0"/>
          </a:p>
        </p:txBody>
      </p:sp>
      <p:sp>
        <p:nvSpPr>
          <p:cNvPr id="47" name="Shape 44"/>
          <p:cNvSpPr/>
          <p:nvPr/>
        </p:nvSpPr>
        <p:spPr>
          <a:xfrm>
            <a:off x="7269480" y="5084064"/>
            <a:ext cx="4462272" cy="1133856"/>
          </a:xfrm>
          <a:prstGeom prst="roundRect">
            <a:avLst>
              <a:gd name="adj" fmla="val 5645"/>
            </a:avLst>
          </a:prstGeom>
          <a:solidFill>
            <a:srgbClr val="1D242E"/>
          </a:solidFill>
          <a:ln w="9525">
            <a:solidFill>
              <a:srgbClr val="323C49"/>
            </a:solidFill>
            <a:prstDash val="solid"/>
          </a:ln>
        </p:spPr>
      </p:sp>
      <p:sp>
        <p:nvSpPr>
          <p:cNvPr id="48" name="Shape 45"/>
          <p:cNvSpPr/>
          <p:nvPr/>
        </p:nvSpPr>
        <p:spPr>
          <a:xfrm>
            <a:off x="7406640" y="5212080"/>
            <a:ext cx="329184" cy="329184"/>
          </a:xfrm>
          <a:prstGeom prst="ellipse">
            <a:avLst/>
          </a:prstGeom>
          <a:solidFill>
            <a:srgbClr val="E2B54E"/>
          </a:solidFill>
          <a:ln w="15875">
            <a:solidFill>
              <a:srgbClr val="E2B54E"/>
            </a:solidFill>
            <a:prstDash val="solid"/>
          </a:ln>
        </p:spPr>
      </p:sp>
      <p:sp>
        <p:nvSpPr>
          <p:cNvPr id="49" name="Text 46"/>
          <p:cNvSpPr txBox="1"/>
          <p:nvPr/>
        </p:nvSpPr>
        <p:spPr>
          <a:xfrm>
            <a:off x="7406640" y="5212080"/>
            <a:ext cx="329184" cy="329184"/>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50" name="Text 47"/>
          <p:cNvSpPr txBox="1"/>
          <p:nvPr/>
        </p:nvSpPr>
        <p:spPr>
          <a:xfrm>
            <a:off x="7845552" y="5175504"/>
            <a:ext cx="3794760" cy="38404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Unavailable is said out loud</a:t>
            </a:r>
            <a:endParaRPr lang="en-US" sz="1250" dirty="0"/>
          </a:p>
        </p:txBody>
      </p:sp>
      <p:sp>
        <p:nvSpPr>
          <p:cNvPr id="51" name="Text 48"/>
          <p:cNvSpPr txBox="1"/>
          <p:nvPr/>
        </p:nvSpPr>
        <p:spPr>
          <a:xfrm>
            <a:off x="7406640" y="5596128"/>
            <a:ext cx="4206240" cy="58521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INVALID and STALE sensors are listed as unavailable, never dropped.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ROUTING V1 (B2)</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Rules first: intent decides what gets loaded</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1554480"/>
                <a:gridCol w="2331720"/>
                <a:gridCol w="4023360"/>
                <a:gridCol w="3364992"/>
              </a:tblGrid>
              <a:tr h="32918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Intent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Example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Sensors in full (M*)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Knowledge domains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502920">
                <a:tc>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Direction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i="1" dirty="0">
                          <a:solidFill>
                            <a:srgbClr val="A3AEBB"/>
                          </a:solidFill>
                          <a:latin typeface="Calibri" pitchFamily="34" charset="0"/>
                          <a:ea typeface="Calibri" pitchFamily="34" charset="-122"/>
                          <a:cs typeface="Calibri" pitchFamily="34" charset="-120"/>
                        </a:rPr>
                        <a:t>“Buy or sell now?”</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Primary sensor + any opposing or stand-aside sensor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D3 synthesis · D2 playbooks for M* · D5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02920">
                <a:tc>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Entry timing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i="1" dirty="0">
                          <a:solidFill>
                            <a:srgbClr val="A3AEBB"/>
                          </a:solidFill>
                          <a:latin typeface="Calibri" pitchFamily="34" charset="0"/>
                          <a:ea typeface="Calibri" pitchFamily="34" charset="-122"/>
                          <a:cs typeface="Calibri" pitchFamily="34" charset="-120"/>
                        </a:rPr>
                        <a:t>“Where should I enter?”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Sensors that supplied the zones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D2 playbooks · D3</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502920">
                <a:tc>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Exit / targets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i="1" dirty="0">
                          <a:solidFill>
                            <a:srgbClr val="A3AEBB"/>
                          </a:solidFill>
                          <a:latin typeface="Calibri" pitchFamily="34" charset="0"/>
                          <a:ea typeface="Calibri" pitchFamily="34" charset="-122"/>
                          <a:cs typeface="Calibri" pitchFamily="34" charset="-120"/>
                        </a:rPr>
                        <a:t>“Where do I take profit?”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Sensors with levels on the target side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D2 · D4 risk</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02920">
                <a:tc>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Risk / sizing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i="1" dirty="0">
                          <a:solidFill>
                            <a:srgbClr val="A3AEBB"/>
                          </a:solidFill>
                          <a:latin typeface="Calibri" pitchFamily="34" charset="0"/>
                          <a:ea typeface="Calibri" pitchFamily="34" charset="-122"/>
                          <a:cs typeface="Calibri" pitchFamily="34" charset="-120"/>
                        </a:rPr>
                        <a:t>“How big should I go?”</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Board only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D4 risk · D5 governance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502920">
                <a:tc>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Explain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i="1" dirty="0">
                          <a:solidFill>
                            <a:srgbClr val="A3AEBB"/>
                          </a:solidFill>
                          <a:latin typeface="Calibri" pitchFamily="34" charset="0"/>
                          <a:ea typeface="Calibri" pitchFamily="34" charset="-122"/>
                          <a:cs typeface="Calibri" pitchFamily="34" charset="-120"/>
                        </a:rPr>
                        <a:t>“What is LOEDT?”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The sensor that owns the term</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D1 foundations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02920">
                <a:tc>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News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i="1" dirty="0">
                          <a:solidFill>
                            <a:srgbClr val="A3AEBB"/>
                          </a:solidFill>
                          <a:latin typeface="Calibri" pitchFamily="34" charset="0"/>
                          <a:ea typeface="Calibri" pitchFamily="34" charset="-122"/>
                          <a:cs typeface="Calibri" pitchFamily="34" charset="-120"/>
                        </a:rPr>
                        <a:t>“Anything big today?”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Board + upcoming events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D5 blackout protocol</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502920">
                <a:tc>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Report 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i="1" dirty="0">
                          <a:solidFill>
                            <a:srgbClr val="A3AEBB"/>
                          </a:solidFill>
                          <a:latin typeface="Calibri" pitchFamily="34" charset="0"/>
                          <a:ea typeface="Calibri" pitchFamily="34" charset="-122"/>
                          <a:cs typeface="Calibri" pitchFamily="34" charset="-120"/>
                        </a:rPr>
                        <a:t>“Make the trade setup”</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Opens the Section 6 flow</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02920">
                <a:tc>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Out of scope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i="1" dirty="0">
                          <a:solidFill>
                            <a:srgbClr val="A3AEBB"/>
                          </a:solidFill>
                          <a:latin typeface="Calibri" pitchFamily="34" charset="0"/>
                          <a:ea typeface="Calibri" pitchFamily="34" charset="-122"/>
                          <a:cs typeface="Calibri" pitchFamily="34" charset="-120"/>
                        </a:rPr>
                        <a:t>“Analyse BTC on H4”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Nothing: fixed reply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
        <p:nvSpPr>
          <p:cNvPr id="9" name="Shape 5"/>
          <p:cNvSpPr/>
          <p:nvPr/>
        </p:nvSpPr>
        <p:spPr>
          <a:xfrm>
            <a:off x="457200" y="5806440"/>
            <a:ext cx="11274552" cy="475488"/>
          </a:xfrm>
          <a:prstGeom prst="roundRect">
            <a:avLst>
              <a:gd name="adj" fmla="val 13462"/>
            </a:avLst>
          </a:prstGeom>
          <a:solidFill>
            <a:srgbClr val="2E2715"/>
          </a:solidFill>
          <a:ln w="9525">
            <a:solidFill>
              <a:srgbClr val="2E2715"/>
            </a:solidFill>
            <a:prstDash val="solid"/>
          </a:ln>
        </p:spPr>
      </p:sp>
      <p:sp>
        <p:nvSpPr>
          <p:cNvPr id="10" name="Text 6"/>
          <p:cNvSpPr txBox="1"/>
          <p:nvPr/>
        </p:nvSpPr>
        <p:spPr>
          <a:xfrm>
            <a:off x="640080" y="5806440"/>
            <a:ext cx="10972800" cy="475488"/>
          </a:xfrm>
          <a:prstGeom prst="rect">
            <a:avLst/>
          </a:prstGeom>
          <a:noFill/>
          <a:ln/>
        </p:spPr>
        <p:txBody>
          <a:bodyPr wrap="square" lIns="0" tIns="0" rIns="0" bIns="0" rtlCol="0" anchor="ctr"/>
          <a:lstStyle/>
          <a:p>
            <a:pPr indent="0" marL="0">
              <a:buNone/>
            </a:pPr>
            <a:r>
              <a:rPr lang="en-US" sz="1150" b="1" dirty="0">
                <a:solidFill>
                  <a:srgbClr val="E2B54E"/>
                </a:solidFill>
                <a:latin typeface="Calibri" pitchFamily="34" charset="0"/>
                <a:ea typeface="Calibri" pitchFamily="34" charset="-122"/>
                <a:cs typeface="Calibri" pitchFamily="34" charset="-120"/>
              </a:rPr>
              <a:t>Plus always:  </a:t>
            </a:r>
            <a:pPr indent="0" marL="0">
              <a:buNone/>
            </a:pPr>
            <a:r>
              <a:rPr lang="en-US" sz="1150" dirty="0">
                <a:solidFill>
                  <a:srgbClr val="EEF1F4"/>
                </a:solidFill>
                <a:latin typeface="Calibri" pitchFamily="34" charset="0"/>
                <a:ea typeface="Calibri" pitchFamily="34" charset="-122"/>
                <a:cs typeface="Calibri" pitchFamily="34" charset="-120"/>
              </a:rPr>
              <a:t>the whole sensor board and the synthesis reading. Instant prompts arrive with intent “Explain” scoped to M5 or M15.</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KNOWLEDGE CORPUS (B5)</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corpus is written from specs you already have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9</a:t>
            </a:r>
            <a:endParaRPr lang="en-US" sz="1000" dirty="0"/>
          </a:p>
        </p:txBody>
      </p:sp>
      <p:sp>
        <p:nvSpPr>
          <p:cNvPr id="8" name="Shape 5"/>
          <p:cNvSpPr/>
          <p:nvPr/>
        </p:nvSpPr>
        <p:spPr>
          <a:xfrm>
            <a:off x="457200" y="1325880"/>
            <a:ext cx="5577840" cy="877824"/>
          </a:xfrm>
          <a:prstGeom prst="roundRect">
            <a:avLst>
              <a:gd name="adj" fmla="val 7292"/>
            </a:avLst>
          </a:prstGeom>
          <a:solidFill>
            <a:srgbClr val="1D242E"/>
          </a:solidFill>
          <a:ln w="9525">
            <a:solidFill>
              <a:srgbClr val="323C49"/>
            </a:solidFill>
            <a:prstDash val="solid"/>
          </a:ln>
        </p:spPr>
      </p:sp>
      <p:sp>
        <p:nvSpPr>
          <p:cNvPr id="9" name="Text 6"/>
          <p:cNvSpPr txBox="1"/>
          <p:nvPr/>
        </p:nvSpPr>
        <p:spPr>
          <a:xfrm>
            <a:off x="594360" y="1325880"/>
            <a:ext cx="640080" cy="877824"/>
          </a:xfrm>
          <a:prstGeom prst="rect">
            <a:avLst/>
          </a:prstGeom>
          <a:noFill/>
          <a:ln/>
        </p:spPr>
        <p:txBody>
          <a:bodyPr wrap="square" lIns="0" tIns="0" rIns="0" bIns="0" rtlCol="0" anchor="ctr"/>
          <a:lstStyle/>
          <a:p>
            <a:pPr indent="0" marL="0">
              <a:buNone/>
            </a:pPr>
            <a:r>
              <a:rPr lang="en-US" sz="2000" b="1" dirty="0">
                <a:solidFill>
                  <a:srgbClr val="E2B54E"/>
                </a:solidFill>
                <a:latin typeface="Cambria" pitchFamily="34" charset="0"/>
                <a:ea typeface="Cambria" pitchFamily="34" charset="-122"/>
                <a:cs typeface="Cambria" pitchFamily="34" charset="-120"/>
              </a:rPr>
              <a:t>D1</a:t>
            </a:r>
            <a:endParaRPr lang="en-US" sz="2000" dirty="0"/>
          </a:p>
        </p:txBody>
      </p:sp>
      <p:sp>
        <p:nvSpPr>
          <p:cNvPr id="10" name="Text 7"/>
          <p:cNvSpPr txBox="1"/>
          <p:nvPr/>
        </p:nvSpPr>
        <p:spPr>
          <a:xfrm>
            <a:off x="1280160" y="1399032"/>
            <a:ext cx="4572000" cy="347472"/>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Foundations</a:t>
            </a:r>
            <a:endParaRPr lang="en-US" sz="1300" dirty="0"/>
          </a:p>
        </p:txBody>
      </p:sp>
      <p:sp>
        <p:nvSpPr>
          <p:cNvPr id="11" name="Text 8"/>
          <p:cNvSpPr txBox="1"/>
          <p:nvPr/>
        </p:nvSpPr>
        <p:spPr>
          <a:xfrm>
            <a:off x="1280160" y="1764792"/>
            <a:ext cx="4663440" cy="384048"/>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MCD specs, the 103-column reference, indicator maths</a:t>
            </a:r>
            <a:endParaRPr lang="en-US" sz="1100" dirty="0"/>
          </a:p>
        </p:txBody>
      </p:sp>
      <p:sp>
        <p:nvSpPr>
          <p:cNvPr id="12" name="Shape 9"/>
          <p:cNvSpPr/>
          <p:nvPr/>
        </p:nvSpPr>
        <p:spPr>
          <a:xfrm>
            <a:off x="457200" y="2313432"/>
            <a:ext cx="5577840" cy="877824"/>
          </a:xfrm>
          <a:prstGeom prst="roundRect">
            <a:avLst>
              <a:gd name="adj" fmla="val 7292"/>
            </a:avLst>
          </a:prstGeom>
          <a:solidFill>
            <a:srgbClr val="1D242E"/>
          </a:solidFill>
          <a:ln w="9525">
            <a:solidFill>
              <a:srgbClr val="323C49"/>
            </a:solidFill>
            <a:prstDash val="solid"/>
          </a:ln>
        </p:spPr>
      </p:sp>
      <p:sp>
        <p:nvSpPr>
          <p:cNvPr id="13" name="Text 10"/>
          <p:cNvSpPr txBox="1"/>
          <p:nvPr/>
        </p:nvSpPr>
        <p:spPr>
          <a:xfrm>
            <a:off x="594360" y="2313432"/>
            <a:ext cx="640080" cy="877824"/>
          </a:xfrm>
          <a:prstGeom prst="rect">
            <a:avLst/>
          </a:prstGeom>
          <a:noFill/>
          <a:ln/>
        </p:spPr>
        <p:txBody>
          <a:bodyPr wrap="square" lIns="0" tIns="0" rIns="0" bIns="0" rtlCol="0" anchor="ctr"/>
          <a:lstStyle/>
          <a:p>
            <a:pPr indent="0" marL="0">
              <a:buNone/>
            </a:pPr>
            <a:r>
              <a:rPr lang="en-US" sz="2000" b="1" dirty="0">
                <a:solidFill>
                  <a:srgbClr val="E2B54E"/>
                </a:solidFill>
                <a:latin typeface="Cambria" pitchFamily="34" charset="0"/>
                <a:ea typeface="Cambria" pitchFamily="34" charset="-122"/>
                <a:cs typeface="Cambria" pitchFamily="34" charset="-120"/>
              </a:rPr>
              <a:t>D2</a:t>
            </a:r>
            <a:endParaRPr lang="en-US" sz="2000" dirty="0"/>
          </a:p>
        </p:txBody>
      </p:sp>
      <p:sp>
        <p:nvSpPr>
          <p:cNvPr id="14" name="Text 11"/>
          <p:cNvSpPr txBox="1"/>
          <p:nvPr/>
        </p:nvSpPr>
        <p:spPr>
          <a:xfrm>
            <a:off x="1280160" y="2386584"/>
            <a:ext cx="4572000" cy="347472"/>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Single-MCD playbooks</a:t>
            </a:r>
            <a:endParaRPr lang="en-US" sz="1300" dirty="0"/>
          </a:p>
        </p:txBody>
      </p:sp>
      <p:sp>
        <p:nvSpPr>
          <p:cNvPr id="15" name="Text 12"/>
          <p:cNvSpPr txBox="1"/>
          <p:nvPr/>
        </p:nvSpPr>
        <p:spPr>
          <a:xfrm>
            <a:off x="1280160" y="2752344"/>
            <a:ext cx="4663440" cy="384048"/>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one playbook per MCD, from its spec and state register</a:t>
            </a:r>
            <a:endParaRPr lang="en-US" sz="1100" dirty="0"/>
          </a:p>
        </p:txBody>
      </p:sp>
      <p:sp>
        <p:nvSpPr>
          <p:cNvPr id="16" name="Shape 13"/>
          <p:cNvSpPr/>
          <p:nvPr/>
        </p:nvSpPr>
        <p:spPr>
          <a:xfrm>
            <a:off x="457200" y="3300984"/>
            <a:ext cx="5577840" cy="877824"/>
          </a:xfrm>
          <a:prstGeom prst="roundRect">
            <a:avLst>
              <a:gd name="adj" fmla="val 7292"/>
            </a:avLst>
          </a:prstGeom>
          <a:solidFill>
            <a:srgbClr val="1D242E"/>
          </a:solidFill>
          <a:ln w="9525">
            <a:solidFill>
              <a:srgbClr val="323C49"/>
            </a:solidFill>
            <a:prstDash val="solid"/>
          </a:ln>
        </p:spPr>
      </p:sp>
      <p:sp>
        <p:nvSpPr>
          <p:cNvPr id="17" name="Text 14"/>
          <p:cNvSpPr txBox="1"/>
          <p:nvPr/>
        </p:nvSpPr>
        <p:spPr>
          <a:xfrm>
            <a:off x="594360" y="3300984"/>
            <a:ext cx="640080" cy="877824"/>
          </a:xfrm>
          <a:prstGeom prst="rect">
            <a:avLst/>
          </a:prstGeom>
          <a:noFill/>
          <a:ln/>
        </p:spPr>
        <p:txBody>
          <a:bodyPr wrap="square" lIns="0" tIns="0" rIns="0" bIns="0" rtlCol="0" anchor="ctr"/>
          <a:lstStyle/>
          <a:p>
            <a:pPr indent="0" marL="0">
              <a:buNone/>
            </a:pPr>
            <a:r>
              <a:rPr lang="en-US" sz="2000" b="1" dirty="0">
                <a:solidFill>
                  <a:srgbClr val="E2B54E"/>
                </a:solidFill>
                <a:latin typeface="Cambria" pitchFamily="34" charset="0"/>
                <a:ea typeface="Cambria" pitchFamily="34" charset="-122"/>
                <a:cs typeface="Cambria" pitchFamily="34" charset="-120"/>
              </a:rPr>
              <a:t>D3</a:t>
            </a:r>
            <a:endParaRPr lang="en-US" sz="2000" dirty="0"/>
          </a:p>
        </p:txBody>
      </p:sp>
      <p:sp>
        <p:nvSpPr>
          <p:cNvPr id="18" name="Text 15"/>
          <p:cNvSpPr txBox="1"/>
          <p:nvPr/>
        </p:nvSpPr>
        <p:spPr>
          <a:xfrm>
            <a:off x="1280160" y="3374136"/>
            <a:ext cx="4572000" cy="347472"/>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Synthesis</a:t>
            </a:r>
            <a:endParaRPr lang="en-US" sz="1300" dirty="0"/>
          </a:p>
        </p:txBody>
      </p:sp>
      <p:sp>
        <p:nvSpPr>
          <p:cNvPr id="19" name="Text 16"/>
          <p:cNvSpPr txBox="1"/>
          <p:nvPr/>
        </p:nvSpPr>
        <p:spPr>
          <a:xfrm>
            <a:off x="1280160" y="3739896"/>
            <a:ext cx="4663440" cy="384048"/>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the rules table explained, archetypes, conflicts</a:t>
            </a:r>
            <a:endParaRPr lang="en-US" sz="1100" dirty="0"/>
          </a:p>
        </p:txBody>
      </p:sp>
      <p:sp>
        <p:nvSpPr>
          <p:cNvPr id="20" name="Shape 17"/>
          <p:cNvSpPr/>
          <p:nvPr/>
        </p:nvSpPr>
        <p:spPr>
          <a:xfrm>
            <a:off x="457200" y="4288536"/>
            <a:ext cx="5577840" cy="877824"/>
          </a:xfrm>
          <a:prstGeom prst="roundRect">
            <a:avLst>
              <a:gd name="adj" fmla="val 7292"/>
            </a:avLst>
          </a:prstGeom>
          <a:solidFill>
            <a:srgbClr val="1D242E"/>
          </a:solidFill>
          <a:ln w="9525">
            <a:solidFill>
              <a:srgbClr val="323C49"/>
            </a:solidFill>
            <a:prstDash val="solid"/>
          </a:ln>
        </p:spPr>
      </p:sp>
      <p:sp>
        <p:nvSpPr>
          <p:cNvPr id="21" name="Text 18"/>
          <p:cNvSpPr txBox="1"/>
          <p:nvPr/>
        </p:nvSpPr>
        <p:spPr>
          <a:xfrm>
            <a:off x="594360" y="4288536"/>
            <a:ext cx="640080" cy="877824"/>
          </a:xfrm>
          <a:prstGeom prst="rect">
            <a:avLst/>
          </a:prstGeom>
          <a:noFill/>
          <a:ln/>
        </p:spPr>
        <p:txBody>
          <a:bodyPr wrap="square" lIns="0" tIns="0" rIns="0" bIns="0" rtlCol="0" anchor="ctr"/>
          <a:lstStyle/>
          <a:p>
            <a:pPr indent="0" marL="0">
              <a:buNone/>
            </a:pPr>
            <a:r>
              <a:rPr lang="en-US" sz="2000" b="1" dirty="0">
                <a:solidFill>
                  <a:srgbClr val="E2B54E"/>
                </a:solidFill>
                <a:latin typeface="Cambria" pitchFamily="34" charset="0"/>
                <a:ea typeface="Cambria" pitchFamily="34" charset="-122"/>
                <a:cs typeface="Cambria" pitchFamily="34" charset="-120"/>
              </a:rPr>
              <a:t>D4</a:t>
            </a:r>
            <a:endParaRPr lang="en-US" sz="2000" dirty="0"/>
          </a:p>
        </p:txBody>
      </p:sp>
      <p:sp>
        <p:nvSpPr>
          <p:cNvPr id="22" name="Text 19"/>
          <p:cNvSpPr txBox="1"/>
          <p:nvPr/>
        </p:nvSpPr>
        <p:spPr>
          <a:xfrm>
            <a:off x="1280160" y="4361688"/>
            <a:ext cx="4572000" cy="347472"/>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Risk</a:t>
            </a:r>
            <a:endParaRPr lang="en-US" sz="1300" dirty="0"/>
          </a:p>
        </p:txBody>
      </p:sp>
      <p:sp>
        <p:nvSpPr>
          <p:cNvPr id="23" name="Text 20"/>
          <p:cNvSpPr txBox="1"/>
          <p:nvPr/>
        </p:nvSpPr>
        <p:spPr>
          <a:xfrm>
            <a:off x="1280160" y="4727448"/>
            <a:ext cx="4663440" cy="384048"/>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Engine 4 maths, stops behind structure, caution sizing</a:t>
            </a:r>
            <a:endParaRPr lang="en-US" sz="1100" dirty="0"/>
          </a:p>
        </p:txBody>
      </p:sp>
      <p:sp>
        <p:nvSpPr>
          <p:cNvPr id="24" name="Shape 21"/>
          <p:cNvSpPr/>
          <p:nvPr/>
        </p:nvSpPr>
        <p:spPr>
          <a:xfrm>
            <a:off x="457200" y="5276088"/>
            <a:ext cx="5577840" cy="877824"/>
          </a:xfrm>
          <a:prstGeom prst="roundRect">
            <a:avLst>
              <a:gd name="adj" fmla="val 7292"/>
            </a:avLst>
          </a:prstGeom>
          <a:solidFill>
            <a:srgbClr val="1D242E"/>
          </a:solidFill>
          <a:ln w="9525">
            <a:solidFill>
              <a:srgbClr val="323C49"/>
            </a:solidFill>
            <a:prstDash val="solid"/>
          </a:ln>
        </p:spPr>
      </p:sp>
      <p:sp>
        <p:nvSpPr>
          <p:cNvPr id="25" name="Text 22"/>
          <p:cNvSpPr txBox="1"/>
          <p:nvPr/>
        </p:nvSpPr>
        <p:spPr>
          <a:xfrm>
            <a:off x="594360" y="5276088"/>
            <a:ext cx="640080" cy="877824"/>
          </a:xfrm>
          <a:prstGeom prst="rect">
            <a:avLst/>
          </a:prstGeom>
          <a:noFill/>
          <a:ln/>
        </p:spPr>
        <p:txBody>
          <a:bodyPr wrap="square" lIns="0" tIns="0" rIns="0" bIns="0" rtlCol="0" anchor="ctr"/>
          <a:lstStyle/>
          <a:p>
            <a:pPr indent="0" marL="0">
              <a:buNone/>
            </a:pPr>
            <a:r>
              <a:rPr lang="en-US" sz="2000" b="1" dirty="0">
                <a:solidFill>
                  <a:srgbClr val="E2B54E"/>
                </a:solidFill>
                <a:latin typeface="Cambria" pitchFamily="34" charset="0"/>
                <a:ea typeface="Cambria" pitchFamily="34" charset="-122"/>
                <a:cs typeface="Cambria" pitchFamily="34" charset="-120"/>
              </a:rPr>
              <a:t>D5</a:t>
            </a:r>
            <a:endParaRPr lang="en-US" sz="2000" dirty="0"/>
          </a:p>
        </p:txBody>
      </p:sp>
      <p:sp>
        <p:nvSpPr>
          <p:cNvPr id="26" name="Text 23"/>
          <p:cNvSpPr txBox="1"/>
          <p:nvPr/>
        </p:nvSpPr>
        <p:spPr>
          <a:xfrm>
            <a:off x="1280160" y="5349240"/>
            <a:ext cx="4572000" cy="347472"/>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Governance</a:t>
            </a:r>
            <a:endParaRPr lang="en-US" sz="1300" dirty="0"/>
          </a:p>
        </p:txBody>
      </p:sp>
      <p:sp>
        <p:nvSpPr>
          <p:cNvPr id="27" name="Text 24"/>
          <p:cNvSpPr txBox="1"/>
          <p:nvPr/>
        </p:nvSpPr>
        <p:spPr>
          <a:xfrm>
            <a:off x="1280160" y="5715000"/>
            <a:ext cx="4663440" cy="384048"/>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invariants, single-order scope, news blackouts</a:t>
            </a:r>
            <a:endParaRPr lang="en-US" sz="1100" dirty="0"/>
          </a:p>
        </p:txBody>
      </p:sp>
      <p:sp>
        <p:nvSpPr>
          <p:cNvPr id="28" name="Shape 25"/>
          <p:cNvSpPr/>
          <p:nvPr/>
        </p:nvSpPr>
        <p:spPr>
          <a:xfrm>
            <a:off x="6263640" y="1325880"/>
            <a:ext cx="5468112" cy="4956048"/>
          </a:xfrm>
          <a:prstGeom prst="roundRect">
            <a:avLst>
              <a:gd name="adj" fmla="val 1292"/>
            </a:avLst>
          </a:prstGeom>
          <a:solidFill>
            <a:srgbClr val="1D242E"/>
          </a:solidFill>
          <a:ln w="15875">
            <a:solidFill>
              <a:srgbClr val="E2B54E"/>
            </a:solidFill>
            <a:prstDash val="solid"/>
          </a:ln>
        </p:spPr>
      </p:sp>
      <p:sp>
        <p:nvSpPr>
          <p:cNvPr id="29" name="Text 26"/>
          <p:cNvSpPr txBox="1"/>
          <p:nvPr/>
        </p:nvSpPr>
        <p:spPr>
          <a:xfrm>
            <a:off x="6446520" y="1435608"/>
            <a:ext cx="50292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BUILD ON EVERY DEPLOY</a:t>
            </a:r>
            <a:endParaRPr lang="en-US" sz="950" dirty="0"/>
          </a:p>
        </p:txBody>
      </p:sp>
      <p:sp>
        <p:nvSpPr>
          <p:cNvPr id="30" name="Shape 27"/>
          <p:cNvSpPr/>
          <p:nvPr/>
        </p:nvSpPr>
        <p:spPr>
          <a:xfrm>
            <a:off x="6446520" y="1847088"/>
            <a:ext cx="310896" cy="310896"/>
          </a:xfrm>
          <a:prstGeom prst="ellipse">
            <a:avLst/>
          </a:prstGeom>
          <a:solidFill>
            <a:srgbClr val="E2B54E"/>
          </a:solidFill>
          <a:ln w="15875">
            <a:solidFill>
              <a:srgbClr val="E2B54E"/>
            </a:solidFill>
            <a:prstDash val="solid"/>
          </a:ln>
        </p:spPr>
      </p:sp>
      <p:sp>
        <p:nvSpPr>
          <p:cNvPr id="31" name="Text 28"/>
          <p:cNvSpPr txBox="1"/>
          <p:nvPr/>
        </p:nvSpPr>
        <p:spPr>
          <a:xfrm>
            <a:off x="6446520" y="1847088"/>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32" name="Text 29"/>
          <p:cNvSpPr txBox="1"/>
          <p:nvPr/>
        </p:nvSpPr>
        <p:spPr>
          <a:xfrm>
            <a:off x="6876288" y="1810512"/>
            <a:ext cx="470916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Front-matter on every chunk</a:t>
            </a:r>
            <a:endParaRPr lang="en-US" sz="1250" dirty="0"/>
          </a:p>
        </p:txBody>
      </p:sp>
      <p:sp>
        <p:nvSpPr>
          <p:cNvPr id="33" name="Text 30"/>
          <p:cNvSpPr txBox="1"/>
          <p:nvPr/>
        </p:nvSpPr>
        <p:spPr>
          <a:xfrm>
            <a:off x="6876288" y="2139696"/>
            <a:ext cx="4709160" cy="49377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id · domain · mcd_id · state_codes · timeframe · version</a:t>
            </a:r>
            <a:endParaRPr lang="en-US" sz="1100" dirty="0"/>
          </a:p>
        </p:txBody>
      </p:sp>
      <p:sp>
        <p:nvSpPr>
          <p:cNvPr id="34" name="Shape 31"/>
          <p:cNvSpPr/>
          <p:nvPr/>
        </p:nvSpPr>
        <p:spPr>
          <a:xfrm>
            <a:off x="6446520" y="2724912"/>
            <a:ext cx="310896" cy="310896"/>
          </a:xfrm>
          <a:prstGeom prst="ellipse">
            <a:avLst/>
          </a:prstGeom>
          <a:solidFill>
            <a:srgbClr val="E2B54E"/>
          </a:solidFill>
          <a:ln w="15875">
            <a:solidFill>
              <a:srgbClr val="E2B54E"/>
            </a:solidFill>
            <a:prstDash val="solid"/>
          </a:ln>
        </p:spPr>
      </p:sp>
      <p:sp>
        <p:nvSpPr>
          <p:cNvPr id="35" name="Text 32"/>
          <p:cNvSpPr txBox="1"/>
          <p:nvPr/>
        </p:nvSpPr>
        <p:spPr>
          <a:xfrm>
            <a:off x="6446520" y="2724912"/>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36" name="Text 33"/>
          <p:cNvSpPr txBox="1"/>
          <p:nvPr/>
        </p:nvSpPr>
        <p:spPr>
          <a:xfrm>
            <a:off x="6876288" y="2688336"/>
            <a:ext cx="470916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One tag list (tags.yaml)</a:t>
            </a:r>
            <a:endParaRPr lang="en-US" sz="1250" dirty="0"/>
          </a:p>
        </p:txBody>
      </p:sp>
      <p:sp>
        <p:nvSpPr>
          <p:cNvPr id="37" name="Text 34"/>
          <p:cNvSpPr txBox="1"/>
          <p:nvPr/>
        </p:nvSpPr>
        <p:spPr>
          <a:xfrm>
            <a:off x="6876288" y="3017520"/>
            <a:ext cx="4709160" cy="49377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the build fails on any unknown domain, MCD or state code</a:t>
            </a:r>
            <a:endParaRPr lang="en-US" sz="1100" dirty="0"/>
          </a:p>
        </p:txBody>
      </p:sp>
      <p:sp>
        <p:nvSpPr>
          <p:cNvPr id="38" name="Shape 35"/>
          <p:cNvSpPr/>
          <p:nvPr/>
        </p:nvSpPr>
        <p:spPr>
          <a:xfrm>
            <a:off x="6446520" y="3602736"/>
            <a:ext cx="310896" cy="310896"/>
          </a:xfrm>
          <a:prstGeom prst="ellipse">
            <a:avLst/>
          </a:prstGeom>
          <a:solidFill>
            <a:srgbClr val="E2B54E"/>
          </a:solidFill>
          <a:ln w="15875">
            <a:solidFill>
              <a:srgbClr val="E2B54E"/>
            </a:solidFill>
            <a:prstDash val="solid"/>
          </a:ln>
        </p:spPr>
      </p:sp>
      <p:sp>
        <p:nvSpPr>
          <p:cNvPr id="39" name="Text 36"/>
          <p:cNvSpPr txBox="1"/>
          <p:nvPr/>
        </p:nvSpPr>
        <p:spPr>
          <a:xfrm>
            <a:off x="6446520" y="360273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40" name="Text 37"/>
          <p:cNvSpPr txBox="1"/>
          <p:nvPr/>
        </p:nvSpPr>
        <p:spPr>
          <a:xfrm>
            <a:off x="6876288" y="3566160"/>
            <a:ext cx="470916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Whole sections</a:t>
            </a:r>
            <a:endParaRPr lang="en-US" sz="1250" dirty="0"/>
          </a:p>
        </p:txBody>
      </p:sp>
      <p:sp>
        <p:nvSpPr>
          <p:cNvPr id="41" name="Text 38"/>
          <p:cNvSpPr txBox="1"/>
          <p:nvPr/>
        </p:nvSpPr>
        <p:spPr>
          <a:xfrm>
            <a:off x="6876288" y="3895344"/>
            <a:ext cx="4709160" cy="49377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split on ## / ###; merge under 200 tokens, split over 1,500</a:t>
            </a:r>
            <a:endParaRPr lang="en-US" sz="1100" dirty="0"/>
          </a:p>
        </p:txBody>
      </p:sp>
      <p:sp>
        <p:nvSpPr>
          <p:cNvPr id="42" name="Shape 39"/>
          <p:cNvSpPr/>
          <p:nvPr/>
        </p:nvSpPr>
        <p:spPr>
          <a:xfrm>
            <a:off x="6446520" y="4480560"/>
            <a:ext cx="310896" cy="310896"/>
          </a:xfrm>
          <a:prstGeom prst="ellipse">
            <a:avLst/>
          </a:prstGeom>
          <a:solidFill>
            <a:srgbClr val="E2B54E"/>
          </a:solidFill>
          <a:ln w="15875">
            <a:solidFill>
              <a:srgbClr val="E2B54E"/>
            </a:solidFill>
            <a:prstDash val="solid"/>
          </a:ln>
        </p:spPr>
      </p:sp>
      <p:sp>
        <p:nvSpPr>
          <p:cNvPr id="43" name="Text 40"/>
          <p:cNvSpPr txBox="1"/>
          <p:nvPr/>
        </p:nvSpPr>
        <p:spPr>
          <a:xfrm>
            <a:off x="6446520" y="4480560"/>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44" name="Text 41"/>
          <p:cNvSpPr txBox="1"/>
          <p:nvPr/>
        </p:nvSpPr>
        <p:spPr>
          <a:xfrm>
            <a:off x="6876288" y="4443984"/>
            <a:ext cx="470916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Local files</a:t>
            </a:r>
            <a:endParaRPr lang="en-US" sz="1250" dirty="0"/>
          </a:p>
        </p:txBody>
      </p:sp>
      <p:sp>
        <p:nvSpPr>
          <p:cNvPr id="45" name="Text 42"/>
          <p:cNvSpPr txBox="1"/>
          <p:nvPr/>
        </p:nvSpPr>
        <p:spPr>
          <a:xfrm>
            <a:off x="6876288" y="4773168"/>
            <a:ext cx="4709160" cy="49377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txtai content + hybrid index, saved with a build id (decision 005)</a:t>
            </a:r>
            <a:endParaRPr lang="en-US" sz="1100" dirty="0"/>
          </a:p>
        </p:txBody>
      </p:sp>
      <p:sp>
        <p:nvSpPr>
          <p:cNvPr id="46" name="Shape 43"/>
          <p:cNvSpPr/>
          <p:nvPr/>
        </p:nvSpPr>
        <p:spPr>
          <a:xfrm>
            <a:off x="6446520" y="5358384"/>
            <a:ext cx="310896" cy="310896"/>
          </a:xfrm>
          <a:prstGeom prst="ellipse">
            <a:avLst/>
          </a:prstGeom>
          <a:solidFill>
            <a:srgbClr val="E2B54E"/>
          </a:solidFill>
          <a:ln w="15875">
            <a:solidFill>
              <a:srgbClr val="E2B54E"/>
            </a:solidFill>
            <a:prstDash val="solid"/>
          </a:ln>
        </p:spPr>
      </p:sp>
      <p:sp>
        <p:nvSpPr>
          <p:cNvPr id="47" name="Text 44"/>
          <p:cNvSpPr txBox="1"/>
          <p:nvPr/>
        </p:nvSpPr>
        <p:spPr>
          <a:xfrm>
            <a:off x="6446520" y="5358384"/>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48" name="Text 45"/>
          <p:cNvSpPr txBox="1"/>
          <p:nvPr/>
        </p:nvSpPr>
        <p:spPr>
          <a:xfrm>
            <a:off x="6876288" y="5321808"/>
            <a:ext cx="470916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Tests before release</a:t>
            </a:r>
            <a:endParaRPr lang="en-US" sz="1250" dirty="0"/>
          </a:p>
        </p:txBody>
      </p:sp>
      <p:sp>
        <p:nvSpPr>
          <p:cNvPr id="49" name="Text 46"/>
          <p:cNvSpPr txBox="1"/>
          <p:nvPr/>
        </p:nvSpPr>
        <p:spPr>
          <a:xfrm>
            <a:off x="6876288" y="5650992"/>
            <a:ext cx="4709160" cy="493776"/>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retrieval and routing checks run; below the bar, the deploy stops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RETRIEVAL (B4)</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Retrieval at request time, written the way txtai works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10</a:t>
            </a:r>
            <a:endParaRPr lang="en-US" sz="1000" dirty="0"/>
          </a:p>
        </p:txBody>
      </p:sp>
      <p:sp>
        <p:nvSpPr>
          <p:cNvPr id="8" name="Shape 5"/>
          <p:cNvSpPr/>
          <p:nvPr/>
        </p:nvSpPr>
        <p:spPr>
          <a:xfrm>
            <a:off x="457200" y="1325880"/>
            <a:ext cx="6720840" cy="4956048"/>
          </a:xfrm>
          <a:prstGeom prst="roundRect">
            <a:avLst>
              <a:gd name="adj" fmla="val 1292"/>
            </a:avLst>
          </a:prstGeom>
          <a:solidFill>
            <a:srgbClr val="161C24"/>
          </a:solidFill>
          <a:ln w="9525">
            <a:solidFill>
              <a:srgbClr val="323C49"/>
            </a:solidFill>
            <a:prstDash val="solid"/>
          </a:ln>
        </p:spPr>
      </p:sp>
      <p:sp>
        <p:nvSpPr>
          <p:cNvPr id="9" name="Text 6"/>
          <p:cNvSpPr txBox="1"/>
          <p:nvPr/>
        </p:nvSpPr>
        <p:spPr>
          <a:xfrm>
            <a:off x="640080" y="1463040"/>
            <a:ext cx="6400800" cy="4754880"/>
          </a:xfrm>
          <a:prstGeom prst="rect">
            <a:avLst/>
          </a:prstGeom>
          <a:noFill/>
          <a:ln/>
        </p:spPr>
        <p:txBody>
          <a:bodyPr wrap="square" lIns="0" tIns="0" rIns="0" bIns="0" rtlCol="0" anchor="t"/>
          <a:lstStyle/>
          <a:p>
            <a:pPr indent="0" marL="0">
              <a:buNone/>
            </a:pPr>
            <a:r>
              <a:rPr lang="en-US" sz="1150" dirty="0">
                <a:solidFill>
                  <a:srgbClr val="EEF1F4"/>
                </a:solidFill>
                <a:latin typeface="Courier New" pitchFamily="34" charset="0"/>
                <a:ea typeface="Courier New" pitchFamily="34" charset="-122"/>
                <a:cs typeface="Courier New" pitchFamily="34" charset="-120"/>
              </a:rPr>
              <a:t># 1. constructed query, not the raw message</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q = f"{INTENT_TEMPLATE[intent]} | {state_codes} | {question_en}"</a:t>
            </a:r>
            <a:endParaRPr lang="en-US" sz="1150" dirty="0"/>
          </a:p>
          <a:p>
            <a:pPr indent="0" marL="0">
              <a:buNone/>
            </a:pP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 2. whitelisted ids only, each bound separately</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ids = [m for m in m_star if m in MCD_REGISTRY]</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doms = DOMAINS_FOR[intent]            # from tags.yaml</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p = {"q": q, **{f"m{i}": m for i, m in enumerate(ids)},</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            **{f"d{i}": d for i, d in enumerate(doms)}}</a:t>
            </a:r>
            <a:endParaRPr lang="en-US" sz="1150" dirty="0"/>
          </a:p>
          <a:p>
            <a:pPr indent="0" marL="0">
              <a:buNone/>
            </a:pP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 3. filter in SQL alongside similar()</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sql = f"""SELECT id, text, mcd_id, domain, score</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  FROM txtai WHERE similar(:q, 40)</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  AND (mcd_id IN ({ph("m", ids)})</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       OR domain IN ({ph("d", doms)}))</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  LIMIT 4"""</a:t>
            </a:r>
            <a:endParaRPr lang="en-US" sz="1150" dirty="0"/>
          </a:p>
          <a:p>
            <a:pPr indent="0" marL="0">
              <a:buNone/>
            </a:pPr>
            <a:r>
              <a:rPr lang="en-US" sz="1150" dirty="0">
                <a:solidFill>
                  <a:srgbClr val="EEF1F4"/>
                </a:solidFill>
                <a:latin typeface="Courier New" pitchFamily="34" charset="0"/>
                <a:ea typeface="Courier New" pitchFamily="34" charset="-122"/>
                <a:cs typeface="Courier New" pitchFamily="34" charset="-120"/>
              </a:rPr>
              <a:t>hits = embeddings.search(sql, parameters=p)</a:t>
            </a:r>
            <a:endParaRPr lang="en-US" sz="1150" dirty="0"/>
          </a:p>
        </p:txBody>
      </p:sp>
      <p:sp>
        <p:nvSpPr>
          <p:cNvPr id="10" name="Shape 7"/>
          <p:cNvSpPr/>
          <p:nvPr/>
        </p:nvSpPr>
        <p:spPr>
          <a:xfrm>
            <a:off x="7406640" y="1325880"/>
            <a:ext cx="4325112" cy="1133856"/>
          </a:xfrm>
          <a:prstGeom prst="roundRect">
            <a:avLst>
              <a:gd name="adj" fmla="val 5645"/>
            </a:avLst>
          </a:prstGeom>
          <a:solidFill>
            <a:srgbClr val="1D242E"/>
          </a:solidFill>
          <a:ln w="9525">
            <a:solidFill>
              <a:srgbClr val="323C49"/>
            </a:solidFill>
            <a:prstDash val="solid"/>
          </a:ln>
        </p:spPr>
      </p:sp>
      <p:sp>
        <p:nvSpPr>
          <p:cNvPr id="11" name="Text 8"/>
          <p:cNvSpPr txBox="1"/>
          <p:nvPr/>
        </p:nvSpPr>
        <p:spPr>
          <a:xfrm>
            <a:off x="7571232" y="1417320"/>
            <a:ext cx="40233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Constructed query</a:t>
            </a:r>
            <a:endParaRPr lang="en-US" sz="1250" dirty="0"/>
          </a:p>
        </p:txBody>
      </p:sp>
      <p:sp>
        <p:nvSpPr>
          <p:cNvPr id="12" name="Text 9"/>
          <p:cNvSpPr txBox="1"/>
          <p:nvPr/>
        </p:nvSpPr>
        <p:spPr>
          <a:xfrm>
            <a:off x="7571232" y="1783080"/>
            <a:ext cx="402336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Intent template + state codes + the English question, so chatty wording doesn’t steer retrieval.</a:t>
            </a:r>
            <a:endParaRPr lang="en-US" sz="1100" dirty="0"/>
          </a:p>
        </p:txBody>
      </p:sp>
      <p:sp>
        <p:nvSpPr>
          <p:cNvPr id="13" name="Shape 10"/>
          <p:cNvSpPr/>
          <p:nvPr/>
        </p:nvSpPr>
        <p:spPr>
          <a:xfrm>
            <a:off x="7406640" y="2578608"/>
            <a:ext cx="4325112" cy="1133856"/>
          </a:xfrm>
          <a:prstGeom prst="roundRect">
            <a:avLst>
              <a:gd name="adj" fmla="val 5645"/>
            </a:avLst>
          </a:prstGeom>
          <a:solidFill>
            <a:srgbClr val="1D242E"/>
          </a:solidFill>
          <a:ln w="9525">
            <a:solidFill>
              <a:srgbClr val="323C49"/>
            </a:solidFill>
            <a:prstDash val="solid"/>
          </a:ln>
        </p:spPr>
      </p:sp>
      <p:sp>
        <p:nvSpPr>
          <p:cNvPr id="14" name="Text 11"/>
          <p:cNvSpPr txBox="1"/>
          <p:nvPr/>
        </p:nvSpPr>
        <p:spPr>
          <a:xfrm>
            <a:off x="7571232" y="2670048"/>
            <a:ext cx="40233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Whitelisted, bound</a:t>
            </a:r>
            <a:endParaRPr lang="en-US" sz="1250" dirty="0"/>
          </a:p>
        </p:txBody>
      </p:sp>
      <p:sp>
        <p:nvSpPr>
          <p:cNvPr id="15" name="Text 12"/>
          <p:cNvSpPr txBox="1"/>
          <p:nvPr/>
        </p:nvSpPr>
        <p:spPr>
          <a:xfrm>
            <a:off x="7571232" y="3035808"/>
            <a:ext cx="402336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Only ids from the registry and tag list enter the SQL; every value is a bound parameter.</a:t>
            </a:r>
            <a:endParaRPr lang="en-US" sz="1100" dirty="0"/>
          </a:p>
        </p:txBody>
      </p:sp>
      <p:sp>
        <p:nvSpPr>
          <p:cNvPr id="16" name="Shape 13"/>
          <p:cNvSpPr/>
          <p:nvPr/>
        </p:nvSpPr>
        <p:spPr>
          <a:xfrm>
            <a:off x="7406640" y="3831336"/>
            <a:ext cx="4325112" cy="1133856"/>
          </a:xfrm>
          <a:prstGeom prst="roundRect">
            <a:avLst>
              <a:gd name="adj" fmla="val 5645"/>
            </a:avLst>
          </a:prstGeom>
          <a:solidFill>
            <a:srgbClr val="1D242E"/>
          </a:solidFill>
          <a:ln w="9525">
            <a:solidFill>
              <a:srgbClr val="323C49"/>
            </a:solidFill>
            <a:prstDash val="solid"/>
          </a:ln>
        </p:spPr>
      </p:sp>
      <p:sp>
        <p:nvSpPr>
          <p:cNvPr id="17" name="Text 14"/>
          <p:cNvSpPr txBox="1"/>
          <p:nvPr/>
        </p:nvSpPr>
        <p:spPr>
          <a:xfrm>
            <a:off x="7571232" y="3922776"/>
            <a:ext cx="40233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Top 4, then expand</a:t>
            </a:r>
            <a:endParaRPr lang="en-US" sz="1250" dirty="0"/>
          </a:p>
        </p:txBody>
      </p:sp>
      <p:sp>
        <p:nvSpPr>
          <p:cNvPr id="18" name="Text 15"/>
          <p:cNvSpPr txBox="1"/>
          <p:nvPr/>
        </p:nvSpPr>
        <p:spPr>
          <a:xfrm>
            <a:off x="7571232" y="4288536"/>
            <a:ext cx="402336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Cross-referenced chunks are added only while the knowledge budget (Section 5) allows.</a:t>
            </a:r>
            <a:endParaRPr lang="en-US" sz="1100" dirty="0"/>
          </a:p>
        </p:txBody>
      </p:sp>
      <p:sp>
        <p:nvSpPr>
          <p:cNvPr id="19" name="Shape 16"/>
          <p:cNvSpPr/>
          <p:nvPr/>
        </p:nvSpPr>
        <p:spPr>
          <a:xfrm>
            <a:off x="7406640" y="5084064"/>
            <a:ext cx="4325112" cy="1133856"/>
          </a:xfrm>
          <a:prstGeom prst="roundRect">
            <a:avLst>
              <a:gd name="adj" fmla="val 5645"/>
            </a:avLst>
          </a:prstGeom>
          <a:solidFill>
            <a:srgbClr val="1D242E"/>
          </a:solidFill>
          <a:ln w="9525">
            <a:solidFill>
              <a:srgbClr val="323C49"/>
            </a:solidFill>
            <a:prstDash val="solid"/>
          </a:ln>
        </p:spPr>
      </p:sp>
      <p:sp>
        <p:nvSpPr>
          <p:cNvPr id="20" name="Text 17"/>
          <p:cNvSpPr txBox="1"/>
          <p:nvPr/>
        </p:nvSpPr>
        <p:spPr>
          <a:xfrm>
            <a:off x="7571232" y="5175504"/>
            <a:ext cx="4023360" cy="347472"/>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Ordered, traceable</a:t>
            </a:r>
            <a:endParaRPr lang="en-US" sz="1250" dirty="0"/>
          </a:p>
        </p:txBody>
      </p:sp>
      <p:sp>
        <p:nvSpPr>
          <p:cNvPr id="21" name="Text 18"/>
          <p:cNvSpPr txBox="1"/>
          <p:nvPr/>
        </p:nvSpPr>
        <p:spPr>
          <a:xfrm>
            <a:off x="7571232" y="5541264"/>
            <a:ext cx="4023360" cy="64008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Foundations → playbook → synthesis → risk; each chunk keeps its id and the index build id.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MEASURING IT</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A labelled question set keeps routing and retrieval honest</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11</a:t>
            </a:r>
            <a:endParaRPr lang="en-US" sz="1000" dirty="0"/>
          </a:p>
        </p:txBody>
      </p:sp>
      <p:sp>
        <p:nvSpPr>
          <p:cNvPr id="8" name="Shape 5"/>
          <p:cNvSpPr/>
          <p:nvPr/>
        </p:nvSpPr>
        <p:spPr>
          <a:xfrm>
            <a:off x="457200" y="1371600"/>
            <a:ext cx="2606040" cy="1188720"/>
          </a:xfrm>
          <a:prstGeom prst="roundRect">
            <a:avLst>
              <a:gd name="adj" fmla="val 5385"/>
            </a:avLst>
          </a:prstGeom>
          <a:solidFill>
            <a:srgbClr val="1D242E"/>
          </a:solidFill>
          <a:ln w="9525">
            <a:solidFill>
              <a:srgbClr val="323C49"/>
            </a:solidFill>
            <a:prstDash val="solid"/>
          </a:ln>
        </p:spPr>
      </p:sp>
      <p:sp>
        <p:nvSpPr>
          <p:cNvPr id="9" name="Text 6"/>
          <p:cNvSpPr txBox="1"/>
          <p:nvPr/>
        </p:nvSpPr>
        <p:spPr>
          <a:xfrm>
            <a:off x="59436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Real questions</a:t>
            </a:r>
            <a:endParaRPr lang="en-US" sz="1400" dirty="0"/>
          </a:p>
        </p:txBody>
      </p:sp>
      <p:sp>
        <p:nvSpPr>
          <p:cNvPr id="10" name="Text 7"/>
          <p:cNvSpPr txBox="1"/>
          <p:nvPr/>
        </p:nvSpPr>
        <p:spPr>
          <a:xfrm>
            <a:off x="594360" y="1865376"/>
            <a:ext cx="233172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from beta users and your own, in all 16 languages</a:t>
            </a:r>
            <a:endParaRPr lang="en-US" sz="1150" dirty="0"/>
          </a:p>
        </p:txBody>
      </p:sp>
      <p:sp>
        <p:nvSpPr>
          <p:cNvPr id="11" name="Shape 8"/>
          <p:cNvSpPr/>
          <p:nvPr/>
        </p:nvSpPr>
        <p:spPr>
          <a:xfrm>
            <a:off x="3081528" y="1965960"/>
            <a:ext cx="192024" cy="0"/>
          </a:xfrm>
          <a:prstGeom prst="line">
            <a:avLst/>
          </a:prstGeom>
          <a:noFill/>
          <a:ln w="15875">
            <a:solidFill>
              <a:srgbClr val="7D8A99"/>
            </a:solidFill>
            <a:prstDash val="solid"/>
            <a:tailEnd type="triangle"/>
          </a:ln>
        </p:spPr>
      </p:sp>
      <p:sp>
        <p:nvSpPr>
          <p:cNvPr id="12" name="Shape 9"/>
          <p:cNvSpPr/>
          <p:nvPr/>
        </p:nvSpPr>
        <p:spPr>
          <a:xfrm>
            <a:off x="3291840" y="1371600"/>
            <a:ext cx="2606040" cy="1188720"/>
          </a:xfrm>
          <a:prstGeom prst="roundRect">
            <a:avLst>
              <a:gd name="adj" fmla="val 5385"/>
            </a:avLst>
          </a:prstGeom>
          <a:solidFill>
            <a:srgbClr val="1D242E"/>
          </a:solidFill>
          <a:ln w="9525">
            <a:solidFill>
              <a:srgbClr val="323C49"/>
            </a:solidFill>
            <a:prstDash val="solid"/>
          </a:ln>
        </p:spPr>
      </p:sp>
      <p:sp>
        <p:nvSpPr>
          <p:cNvPr id="13" name="Text 10"/>
          <p:cNvSpPr txBox="1"/>
          <p:nvPr/>
        </p:nvSpPr>
        <p:spPr>
          <a:xfrm>
            <a:off x="342900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Labelled</a:t>
            </a:r>
            <a:endParaRPr lang="en-US" sz="1400" dirty="0"/>
          </a:p>
        </p:txBody>
      </p:sp>
      <p:sp>
        <p:nvSpPr>
          <p:cNvPr id="14" name="Text 11"/>
          <p:cNvSpPr txBox="1"/>
          <p:nvPr/>
        </p:nvSpPr>
        <p:spPr>
          <a:xfrm>
            <a:off x="3429000" y="1865376"/>
            <a:ext cx="233172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expected intent, M* and chunk ids</a:t>
            </a:r>
            <a:endParaRPr lang="en-US" sz="1150" dirty="0"/>
          </a:p>
        </p:txBody>
      </p:sp>
      <p:sp>
        <p:nvSpPr>
          <p:cNvPr id="15" name="Shape 12"/>
          <p:cNvSpPr/>
          <p:nvPr/>
        </p:nvSpPr>
        <p:spPr>
          <a:xfrm>
            <a:off x="5916168" y="1965960"/>
            <a:ext cx="192024" cy="0"/>
          </a:xfrm>
          <a:prstGeom prst="line">
            <a:avLst/>
          </a:prstGeom>
          <a:noFill/>
          <a:ln w="15875">
            <a:solidFill>
              <a:srgbClr val="7D8A99"/>
            </a:solidFill>
            <a:prstDash val="solid"/>
            <a:tailEnd type="triangle"/>
          </a:ln>
        </p:spPr>
      </p:sp>
      <p:sp>
        <p:nvSpPr>
          <p:cNvPr id="16" name="Shape 13"/>
          <p:cNvSpPr/>
          <p:nvPr/>
        </p:nvSpPr>
        <p:spPr>
          <a:xfrm>
            <a:off x="6126480" y="1371600"/>
            <a:ext cx="2606040" cy="1188720"/>
          </a:xfrm>
          <a:prstGeom prst="roundRect">
            <a:avLst>
              <a:gd name="adj" fmla="val 5385"/>
            </a:avLst>
          </a:prstGeom>
          <a:solidFill>
            <a:srgbClr val="1D242E"/>
          </a:solidFill>
          <a:ln w="9525">
            <a:solidFill>
              <a:srgbClr val="323C49"/>
            </a:solidFill>
            <a:prstDash val="solid"/>
          </a:ln>
        </p:spPr>
      </p:sp>
      <p:sp>
        <p:nvSpPr>
          <p:cNvPr id="17" name="Text 14"/>
          <p:cNvSpPr txBox="1"/>
          <p:nvPr/>
        </p:nvSpPr>
        <p:spPr>
          <a:xfrm>
            <a:off x="626364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Run on every deploy</a:t>
            </a:r>
            <a:endParaRPr lang="en-US" sz="1400" dirty="0"/>
          </a:p>
        </p:txBody>
      </p:sp>
      <p:sp>
        <p:nvSpPr>
          <p:cNvPr id="18" name="Text 15"/>
          <p:cNvSpPr txBox="1"/>
          <p:nvPr/>
        </p:nvSpPr>
        <p:spPr>
          <a:xfrm>
            <a:off x="6263640" y="1865376"/>
            <a:ext cx="233172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against the new index and dispatch matrix</a:t>
            </a:r>
            <a:endParaRPr lang="en-US" sz="1150" dirty="0"/>
          </a:p>
        </p:txBody>
      </p:sp>
      <p:sp>
        <p:nvSpPr>
          <p:cNvPr id="19" name="Shape 16"/>
          <p:cNvSpPr/>
          <p:nvPr/>
        </p:nvSpPr>
        <p:spPr>
          <a:xfrm>
            <a:off x="8750808" y="1965960"/>
            <a:ext cx="192024" cy="0"/>
          </a:xfrm>
          <a:prstGeom prst="line">
            <a:avLst/>
          </a:prstGeom>
          <a:noFill/>
          <a:ln w="15875">
            <a:solidFill>
              <a:srgbClr val="7D8A99"/>
            </a:solidFill>
            <a:prstDash val="solid"/>
            <a:tailEnd type="triangle"/>
          </a:ln>
        </p:spPr>
      </p:sp>
      <p:sp>
        <p:nvSpPr>
          <p:cNvPr id="20" name="Shape 17"/>
          <p:cNvSpPr/>
          <p:nvPr/>
        </p:nvSpPr>
        <p:spPr>
          <a:xfrm>
            <a:off x="8961120" y="1371600"/>
            <a:ext cx="2606040" cy="1188720"/>
          </a:xfrm>
          <a:prstGeom prst="roundRect">
            <a:avLst>
              <a:gd name="adj" fmla="val 5385"/>
            </a:avLst>
          </a:prstGeom>
          <a:solidFill>
            <a:srgbClr val="1D242E"/>
          </a:solidFill>
          <a:ln w="15875">
            <a:solidFill>
              <a:srgbClr val="E2B54E"/>
            </a:solidFill>
            <a:prstDash val="solid"/>
          </a:ln>
        </p:spPr>
      </p:sp>
      <p:sp>
        <p:nvSpPr>
          <p:cNvPr id="21" name="Text 18"/>
          <p:cNvSpPr txBox="1"/>
          <p:nvPr/>
        </p:nvSpPr>
        <p:spPr>
          <a:xfrm>
            <a:off x="9098280" y="1463040"/>
            <a:ext cx="2331720" cy="384048"/>
          </a:xfrm>
          <a:prstGeom prst="rect">
            <a:avLst/>
          </a:prstGeom>
          <a:noFill/>
          <a:ln/>
        </p:spPr>
        <p:txBody>
          <a:bodyPr wrap="square" lIns="0" tIns="0" rIns="0" bIns="0" rtlCol="0" anchor="t"/>
          <a:lstStyle/>
          <a:p>
            <a:pPr indent="0" marL="0">
              <a:buNone/>
            </a:pPr>
            <a:r>
              <a:rPr lang="en-US" sz="1400" b="1" dirty="0">
                <a:solidFill>
                  <a:srgbClr val="E2B54E"/>
                </a:solidFill>
                <a:latin typeface="Calibri" pitchFamily="34" charset="0"/>
                <a:ea typeface="Calibri" pitchFamily="34" charset="-122"/>
                <a:cs typeface="Calibri" pitchFamily="34" charset="-120"/>
              </a:rPr>
              <a:t>Gate</a:t>
            </a:r>
            <a:endParaRPr lang="en-US" sz="1400" dirty="0"/>
          </a:p>
        </p:txBody>
      </p:sp>
      <p:sp>
        <p:nvSpPr>
          <p:cNvPr id="22" name="Text 19"/>
          <p:cNvSpPr txBox="1"/>
          <p:nvPr/>
        </p:nvSpPr>
        <p:spPr>
          <a:xfrm>
            <a:off x="9098280" y="1865376"/>
            <a:ext cx="233172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below the bar, the deploy stops</a:t>
            </a:r>
            <a:endParaRPr lang="en-US" sz="1150" dirty="0"/>
          </a:p>
        </p:txBody>
      </p:sp>
      <p:sp>
        <p:nvSpPr>
          <p:cNvPr id="23" name="Shape 20"/>
          <p:cNvSpPr/>
          <p:nvPr/>
        </p:nvSpPr>
        <p:spPr>
          <a:xfrm>
            <a:off x="457200" y="2880360"/>
            <a:ext cx="2606040" cy="2148840"/>
          </a:xfrm>
          <a:prstGeom prst="roundRect">
            <a:avLst>
              <a:gd name="adj" fmla="val 2979"/>
            </a:avLst>
          </a:prstGeom>
          <a:solidFill>
            <a:srgbClr val="1D242E"/>
          </a:solidFill>
          <a:ln w="9525">
            <a:solidFill>
              <a:srgbClr val="323C49"/>
            </a:solidFill>
            <a:prstDash val="solid"/>
          </a:ln>
        </p:spPr>
      </p:sp>
      <p:sp>
        <p:nvSpPr>
          <p:cNvPr id="24" name="Text 21"/>
          <p:cNvSpPr txBox="1"/>
          <p:nvPr/>
        </p:nvSpPr>
        <p:spPr>
          <a:xfrm>
            <a:off x="640080" y="3063240"/>
            <a:ext cx="2286000" cy="822960"/>
          </a:xfrm>
          <a:prstGeom prst="rect">
            <a:avLst/>
          </a:prstGeom>
          <a:noFill/>
          <a:ln/>
        </p:spPr>
        <p:txBody>
          <a:bodyPr wrap="square" lIns="0" tIns="0" rIns="0" bIns="0" rtlCol="0" anchor="ctr"/>
          <a:lstStyle/>
          <a:p>
            <a:pPr indent="0" marL="0">
              <a:buNone/>
            </a:pPr>
            <a:r>
              <a:rPr lang="en-US" sz="3400" b="1" dirty="0">
                <a:solidFill>
                  <a:srgbClr val="E2B54E"/>
                </a:solidFill>
                <a:latin typeface="Cambria" pitchFamily="34" charset="0"/>
                <a:ea typeface="Cambria" pitchFamily="34" charset="-122"/>
                <a:cs typeface="Cambria" pitchFamily="34" charset="-120"/>
              </a:rPr>
              <a:t>≥ 90%</a:t>
            </a:r>
            <a:endParaRPr lang="en-US" sz="3400" dirty="0"/>
          </a:p>
        </p:txBody>
      </p:sp>
      <p:sp>
        <p:nvSpPr>
          <p:cNvPr id="25" name="Text 22"/>
          <p:cNvSpPr txBox="1"/>
          <p:nvPr/>
        </p:nvSpPr>
        <p:spPr>
          <a:xfrm>
            <a:off x="640080" y="3977640"/>
            <a:ext cx="2286000" cy="96012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intent and M* match the label</a:t>
            </a:r>
            <a:endParaRPr lang="en-US" sz="1200" dirty="0"/>
          </a:p>
        </p:txBody>
      </p:sp>
      <p:sp>
        <p:nvSpPr>
          <p:cNvPr id="26" name="Shape 23"/>
          <p:cNvSpPr/>
          <p:nvPr/>
        </p:nvSpPr>
        <p:spPr>
          <a:xfrm>
            <a:off x="3291840" y="2880360"/>
            <a:ext cx="2606040" cy="2148840"/>
          </a:xfrm>
          <a:prstGeom prst="roundRect">
            <a:avLst>
              <a:gd name="adj" fmla="val 2979"/>
            </a:avLst>
          </a:prstGeom>
          <a:solidFill>
            <a:srgbClr val="1D242E"/>
          </a:solidFill>
          <a:ln w="9525">
            <a:solidFill>
              <a:srgbClr val="323C49"/>
            </a:solidFill>
            <a:prstDash val="solid"/>
          </a:ln>
        </p:spPr>
      </p:sp>
      <p:sp>
        <p:nvSpPr>
          <p:cNvPr id="27" name="Text 24"/>
          <p:cNvSpPr txBox="1"/>
          <p:nvPr/>
        </p:nvSpPr>
        <p:spPr>
          <a:xfrm>
            <a:off x="3474720" y="3063240"/>
            <a:ext cx="2286000" cy="822960"/>
          </a:xfrm>
          <a:prstGeom prst="rect">
            <a:avLst/>
          </a:prstGeom>
          <a:noFill/>
          <a:ln/>
        </p:spPr>
        <p:txBody>
          <a:bodyPr wrap="square" lIns="0" tIns="0" rIns="0" bIns="0" rtlCol="0" anchor="ctr"/>
          <a:lstStyle/>
          <a:p>
            <a:pPr indent="0" marL="0">
              <a:buNone/>
            </a:pPr>
            <a:r>
              <a:rPr lang="en-US" sz="3400" b="1" dirty="0">
                <a:solidFill>
                  <a:srgbClr val="E2B54E"/>
                </a:solidFill>
                <a:latin typeface="Cambria" pitchFamily="34" charset="0"/>
                <a:ea typeface="Cambria" pitchFamily="34" charset="-122"/>
                <a:cs typeface="Cambria" pitchFamily="34" charset="-120"/>
              </a:rPr>
              <a:t>≥ 0.8</a:t>
            </a:r>
            <a:endParaRPr lang="en-US" sz="3400" dirty="0"/>
          </a:p>
        </p:txBody>
      </p:sp>
      <p:sp>
        <p:nvSpPr>
          <p:cNvPr id="28" name="Text 25"/>
          <p:cNvSpPr txBox="1"/>
          <p:nvPr/>
        </p:nvSpPr>
        <p:spPr>
          <a:xfrm>
            <a:off x="3474720" y="3977640"/>
            <a:ext cx="2286000" cy="96012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recall@4: expected chunks found in the top four</a:t>
            </a:r>
            <a:endParaRPr lang="en-US" sz="1200" dirty="0"/>
          </a:p>
        </p:txBody>
      </p:sp>
      <p:sp>
        <p:nvSpPr>
          <p:cNvPr id="29" name="Shape 26"/>
          <p:cNvSpPr/>
          <p:nvPr/>
        </p:nvSpPr>
        <p:spPr>
          <a:xfrm>
            <a:off x="6126480" y="2880360"/>
            <a:ext cx="2606040" cy="2148840"/>
          </a:xfrm>
          <a:prstGeom prst="roundRect">
            <a:avLst>
              <a:gd name="adj" fmla="val 2979"/>
            </a:avLst>
          </a:prstGeom>
          <a:solidFill>
            <a:srgbClr val="1D242E"/>
          </a:solidFill>
          <a:ln w="9525">
            <a:solidFill>
              <a:srgbClr val="323C49"/>
            </a:solidFill>
            <a:prstDash val="solid"/>
          </a:ln>
        </p:spPr>
      </p:sp>
      <p:sp>
        <p:nvSpPr>
          <p:cNvPr id="30" name="Text 27"/>
          <p:cNvSpPr txBox="1"/>
          <p:nvPr/>
        </p:nvSpPr>
        <p:spPr>
          <a:xfrm>
            <a:off x="6309360" y="3063240"/>
            <a:ext cx="2286000" cy="822960"/>
          </a:xfrm>
          <a:prstGeom prst="rect">
            <a:avLst/>
          </a:prstGeom>
          <a:noFill/>
          <a:ln/>
        </p:spPr>
        <p:txBody>
          <a:bodyPr wrap="square" lIns="0" tIns="0" rIns="0" bIns="0" rtlCol="0" anchor="ctr"/>
          <a:lstStyle/>
          <a:p>
            <a:pPr indent="0" marL="0">
              <a:buNone/>
            </a:pPr>
            <a:r>
              <a:rPr lang="en-US" sz="3400" b="1" dirty="0">
                <a:solidFill>
                  <a:srgbClr val="E2B54E"/>
                </a:solidFill>
                <a:latin typeface="Cambria" pitchFamily="34" charset="0"/>
                <a:ea typeface="Cambria" pitchFamily="34" charset="-122"/>
                <a:cs typeface="Cambria" pitchFamily="34" charset="-120"/>
              </a:rPr>
              <a:t>≤ 5 pts</a:t>
            </a:r>
            <a:endParaRPr lang="en-US" sz="3400" dirty="0"/>
          </a:p>
        </p:txBody>
      </p:sp>
      <p:sp>
        <p:nvSpPr>
          <p:cNvPr id="31" name="Text 28"/>
          <p:cNvSpPr txBox="1"/>
          <p:nvPr/>
        </p:nvSpPr>
        <p:spPr>
          <a:xfrm>
            <a:off x="6309360" y="3977640"/>
            <a:ext cx="2286000" cy="96012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gap between any language and English</a:t>
            </a:r>
            <a:endParaRPr lang="en-US" sz="1200" dirty="0"/>
          </a:p>
        </p:txBody>
      </p:sp>
      <p:sp>
        <p:nvSpPr>
          <p:cNvPr id="32" name="Shape 29"/>
          <p:cNvSpPr/>
          <p:nvPr/>
        </p:nvSpPr>
        <p:spPr>
          <a:xfrm>
            <a:off x="8961120" y="2880360"/>
            <a:ext cx="2606040" cy="2148840"/>
          </a:xfrm>
          <a:prstGeom prst="roundRect">
            <a:avLst>
              <a:gd name="adj" fmla="val 2979"/>
            </a:avLst>
          </a:prstGeom>
          <a:solidFill>
            <a:srgbClr val="1D242E"/>
          </a:solidFill>
          <a:ln w="9525">
            <a:solidFill>
              <a:srgbClr val="323C49"/>
            </a:solidFill>
            <a:prstDash val="solid"/>
          </a:ln>
        </p:spPr>
      </p:sp>
      <p:sp>
        <p:nvSpPr>
          <p:cNvPr id="33" name="Text 30"/>
          <p:cNvSpPr txBox="1"/>
          <p:nvPr/>
        </p:nvSpPr>
        <p:spPr>
          <a:xfrm>
            <a:off x="9144000" y="3063240"/>
            <a:ext cx="2286000" cy="822960"/>
          </a:xfrm>
          <a:prstGeom prst="rect">
            <a:avLst/>
          </a:prstGeom>
          <a:noFill/>
          <a:ln/>
        </p:spPr>
        <p:txBody>
          <a:bodyPr wrap="square" lIns="0" tIns="0" rIns="0" bIns="0" rtlCol="0" anchor="ctr"/>
          <a:lstStyle/>
          <a:p>
            <a:pPr indent="0" marL="0">
              <a:buNone/>
            </a:pPr>
            <a:r>
              <a:rPr lang="en-US" sz="3400" b="1" dirty="0">
                <a:solidFill>
                  <a:srgbClr val="E2B54E"/>
                </a:solidFill>
                <a:latin typeface="Cambria" pitchFamily="34" charset="0"/>
                <a:ea typeface="Cambria" pitchFamily="34" charset="-122"/>
                <a:cs typeface="Cambria" pitchFamily="34" charset="-120"/>
              </a:rPr>
              <a:t>100%</a:t>
            </a:r>
            <a:endParaRPr lang="en-US" sz="3400" dirty="0"/>
          </a:p>
        </p:txBody>
      </p:sp>
      <p:sp>
        <p:nvSpPr>
          <p:cNvPr id="34" name="Text 31"/>
          <p:cNvSpPr txBox="1"/>
          <p:nvPr/>
        </p:nvSpPr>
        <p:spPr>
          <a:xfrm>
            <a:off x="9144000" y="3977640"/>
            <a:ext cx="2286000" cy="96012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stand-aside or opposing sensors present in full</a:t>
            </a:r>
            <a:endParaRPr lang="en-US" sz="1200" dirty="0"/>
          </a:p>
        </p:txBody>
      </p:sp>
      <p:sp>
        <p:nvSpPr>
          <p:cNvPr id="35" name="Shape 32"/>
          <p:cNvSpPr/>
          <p:nvPr/>
        </p:nvSpPr>
        <p:spPr>
          <a:xfrm>
            <a:off x="457200" y="5257800"/>
            <a:ext cx="11274552" cy="1005840"/>
          </a:xfrm>
          <a:prstGeom prst="roundRect">
            <a:avLst>
              <a:gd name="adj" fmla="val 6364"/>
            </a:avLst>
          </a:prstGeom>
          <a:solidFill>
            <a:srgbClr val="161C24"/>
          </a:solidFill>
          <a:ln w="9525">
            <a:solidFill>
              <a:srgbClr val="161C24"/>
            </a:solidFill>
            <a:prstDash val="solid"/>
          </a:ln>
        </p:spPr>
      </p:sp>
      <p:sp>
        <p:nvSpPr>
          <p:cNvPr id="36" name="Text 33"/>
          <p:cNvSpPr txBox="1"/>
          <p:nvPr/>
        </p:nvSpPr>
        <p:spPr>
          <a:xfrm>
            <a:off x="640080" y="5257800"/>
            <a:ext cx="10972800" cy="1005840"/>
          </a:xfrm>
          <a:prstGeom prst="rect">
            <a:avLst/>
          </a:prstGeom>
          <a:noFill/>
          <a:ln/>
        </p:spPr>
        <p:txBody>
          <a:bodyPr wrap="square" lIns="0" tIns="0" rIns="0" bIns="0" rtlCol="0" anchor="ctr"/>
          <a:lstStyle/>
          <a:p>
            <a:pPr indent="0" marL="0">
              <a:buNone/>
            </a:pPr>
            <a:r>
              <a:rPr lang="en-US" sz="1150" b="1" dirty="0">
                <a:solidFill>
                  <a:srgbClr val="E2B54E"/>
                </a:solidFill>
                <a:latin typeface="Calibri" pitchFamily="34" charset="0"/>
                <a:ea typeface="Calibri" pitchFamily="34" charset="-122"/>
                <a:cs typeface="Calibri" pitchFamily="34" charset="-120"/>
              </a:rPr>
              <a:t>Why this matters:  </a:t>
            </a:r>
            <a:pPr indent="0" marL="0">
              <a:buNone/>
            </a:pPr>
            <a:r>
              <a:rPr lang="en-US" sz="1150" dirty="0">
                <a:solidFill>
                  <a:srgbClr val="EEF1F4"/>
                </a:solidFill>
                <a:latin typeface="Calibri" pitchFamily="34" charset="0"/>
                <a:ea typeface="Calibri" pitchFamily="34" charset="-122"/>
                <a:cs typeface="Calibri" pitchFamily="34" charset="-120"/>
              </a:rPr>
              <a:t>without a labelled set, a corpus edit, a new MCD or a model change can quietly make answers worse. With it, every change shows its effect before users see it; the same set later feeds the evaluation suite for models (Section 5).</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CHANGE LIST</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Keep, change, add, remove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12</a:t>
            </a:r>
            <a:endParaRPr lang="en-US" sz="1000" dirty="0"/>
          </a:p>
        </p:txBody>
      </p:sp>
      <p:sp>
        <p:nvSpPr>
          <p:cNvPr id="8" name="Shape 5"/>
          <p:cNvSpPr/>
          <p:nvPr/>
        </p:nvSpPr>
        <p:spPr>
          <a:xfrm>
            <a:off x="457200" y="1371600"/>
            <a:ext cx="2697480" cy="4892040"/>
          </a:xfrm>
          <a:prstGeom prst="roundRect">
            <a:avLst>
              <a:gd name="adj" fmla="val 2373"/>
            </a:avLst>
          </a:prstGeom>
          <a:solidFill>
            <a:srgbClr val="1D242E"/>
          </a:solidFill>
          <a:ln w="9525">
            <a:solidFill>
              <a:srgbClr val="323C49"/>
            </a:solidFill>
            <a:prstDash val="solid"/>
          </a:ln>
        </p:spPr>
      </p:sp>
      <p:sp>
        <p:nvSpPr>
          <p:cNvPr id="9" name="Shape 6"/>
          <p:cNvSpPr/>
          <p:nvPr/>
        </p:nvSpPr>
        <p:spPr>
          <a:xfrm>
            <a:off x="621792" y="1536192"/>
            <a:ext cx="1188720" cy="274320"/>
          </a:xfrm>
          <a:prstGeom prst="roundRect">
            <a:avLst>
              <a:gd name="adj" fmla="val 50000"/>
            </a:avLst>
          </a:prstGeom>
          <a:solidFill>
            <a:srgbClr val="5CC2B2"/>
          </a:solidFill>
          <a:ln w="9525">
            <a:solidFill>
              <a:srgbClr val="5CC2B2"/>
            </a:solidFill>
            <a:prstDash val="solid"/>
          </a:ln>
        </p:spPr>
      </p:sp>
      <p:sp>
        <p:nvSpPr>
          <p:cNvPr id="10" name="Text 7"/>
          <p:cNvSpPr txBox="1"/>
          <p:nvPr/>
        </p:nvSpPr>
        <p:spPr>
          <a:xfrm>
            <a:off x="621792"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KEEP</a:t>
            </a:r>
            <a:endParaRPr lang="en-US" sz="950" dirty="0"/>
          </a:p>
        </p:txBody>
      </p:sp>
      <p:sp>
        <p:nvSpPr>
          <p:cNvPr id="11" name="Shape 8"/>
          <p:cNvSpPr/>
          <p:nvPr/>
        </p:nvSpPr>
        <p:spPr>
          <a:xfrm>
            <a:off x="640080" y="2112264"/>
            <a:ext cx="100584" cy="100584"/>
          </a:xfrm>
          <a:prstGeom prst="ellipse">
            <a:avLst/>
          </a:prstGeom>
          <a:solidFill>
            <a:srgbClr val="5CC2B2"/>
          </a:solidFill>
          <a:ln w="12700">
            <a:solidFill>
              <a:srgbClr val="5CC2B2"/>
            </a:solidFill>
            <a:prstDash val="solid"/>
          </a:ln>
        </p:spPr>
      </p:sp>
      <p:sp>
        <p:nvSpPr>
          <p:cNvPr id="12" name="Text 9"/>
          <p:cNvSpPr txBox="1"/>
          <p:nvPr/>
        </p:nvSpPr>
        <p:spPr>
          <a:xfrm>
            <a:off x="841248"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Tier, quota and thread gate</a:t>
            </a:r>
            <a:endParaRPr lang="en-US" sz="1150" dirty="0"/>
          </a:p>
        </p:txBody>
      </p:sp>
      <p:sp>
        <p:nvSpPr>
          <p:cNvPr id="13" name="Shape 10"/>
          <p:cNvSpPr/>
          <p:nvPr/>
        </p:nvSpPr>
        <p:spPr>
          <a:xfrm>
            <a:off x="640080" y="2898648"/>
            <a:ext cx="100584" cy="100584"/>
          </a:xfrm>
          <a:prstGeom prst="ellipse">
            <a:avLst/>
          </a:prstGeom>
          <a:solidFill>
            <a:srgbClr val="5CC2B2"/>
          </a:solidFill>
          <a:ln w="12700">
            <a:solidFill>
              <a:srgbClr val="5CC2B2"/>
            </a:solidFill>
            <a:prstDash val="solid"/>
          </a:ln>
        </p:spPr>
      </p:sp>
      <p:sp>
        <p:nvSpPr>
          <p:cNvPr id="14" name="Text 11"/>
          <p:cNvSpPr txBox="1"/>
          <p:nvPr/>
        </p:nvSpPr>
        <p:spPr>
          <a:xfrm>
            <a:off x="841248"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XAUUSD and M5 / M15 scope with fixed replies</a:t>
            </a:r>
            <a:endParaRPr lang="en-US" sz="1150" dirty="0"/>
          </a:p>
        </p:txBody>
      </p:sp>
      <p:sp>
        <p:nvSpPr>
          <p:cNvPr id="15" name="Shape 12"/>
          <p:cNvSpPr/>
          <p:nvPr/>
        </p:nvSpPr>
        <p:spPr>
          <a:xfrm>
            <a:off x="640080" y="3685032"/>
            <a:ext cx="100584" cy="100584"/>
          </a:xfrm>
          <a:prstGeom prst="ellipse">
            <a:avLst/>
          </a:prstGeom>
          <a:solidFill>
            <a:srgbClr val="5CC2B2"/>
          </a:solidFill>
          <a:ln w="12700">
            <a:solidFill>
              <a:srgbClr val="5CC2B2"/>
            </a:solidFill>
            <a:prstDash val="solid"/>
          </a:ln>
        </p:spPr>
      </p:sp>
      <p:sp>
        <p:nvSpPr>
          <p:cNvPr id="16" name="Text 13"/>
          <p:cNvSpPr txBox="1"/>
          <p:nvPr/>
        </p:nvSpPr>
        <p:spPr>
          <a:xfrm>
            <a:off x="841248"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Instant prompts under each chart</a:t>
            </a:r>
            <a:endParaRPr lang="en-US" sz="1150" dirty="0"/>
          </a:p>
        </p:txBody>
      </p:sp>
      <p:sp>
        <p:nvSpPr>
          <p:cNvPr id="17" name="Shape 14"/>
          <p:cNvSpPr/>
          <p:nvPr/>
        </p:nvSpPr>
        <p:spPr>
          <a:xfrm>
            <a:off x="640080" y="4471416"/>
            <a:ext cx="100584" cy="100584"/>
          </a:xfrm>
          <a:prstGeom prst="ellipse">
            <a:avLst/>
          </a:prstGeom>
          <a:solidFill>
            <a:srgbClr val="5CC2B2"/>
          </a:solidFill>
          <a:ln w="12700">
            <a:solidFill>
              <a:srgbClr val="5CC2B2"/>
            </a:solidFill>
            <a:prstDash val="solid"/>
          </a:ln>
        </p:spPr>
      </p:sp>
      <p:sp>
        <p:nvSpPr>
          <p:cNvPr id="18" name="Text 15"/>
          <p:cNvSpPr txBox="1"/>
          <p:nvPr/>
        </p:nvSpPr>
        <p:spPr>
          <a:xfrm>
            <a:off x="841248"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Five knowledge domains</a:t>
            </a:r>
            <a:endParaRPr lang="en-US" sz="1150" dirty="0"/>
          </a:p>
        </p:txBody>
      </p:sp>
      <p:sp>
        <p:nvSpPr>
          <p:cNvPr id="19" name="Shape 16"/>
          <p:cNvSpPr/>
          <p:nvPr/>
        </p:nvSpPr>
        <p:spPr>
          <a:xfrm>
            <a:off x="640080" y="5257800"/>
            <a:ext cx="100584" cy="100584"/>
          </a:xfrm>
          <a:prstGeom prst="ellipse">
            <a:avLst/>
          </a:prstGeom>
          <a:solidFill>
            <a:srgbClr val="5CC2B2"/>
          </a:solidFill>
          <a:ln w="12700">
            <a:solidFill>
              <a:srgbClr val="5CC2B2"/>
            </a:solidFill>
            <a:prstDash val="solid"/>
          </a:ln>
        </p:spPr>
      </p:sp>
      <p:sp>
        <p:nvSpPr>
          <p:cNvPr id="20" name="Text 17"/>
          <p:cNvSpPr txBox="1"/>
          <p:nvPr/>
        </p:nvSpPr>
        <p:spPr>
          <a:xfrm>
            <a:off x="841248" y="5157216"/>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txtai, local index files, hybrid search</a:t>
            </a:r>
            <a:endParaRPr lang="en-US" sz="1150" dirty="0"/>
          </a:p>
        </p:txBody>
      </p:sp>
      <p:sp>
        <p:nvSpPr>
          <p:cNvPr id="21" name="Shape 18"/>
          <p:cNvSpPr/>
          <p:nvPr/>
        </p:nvSpPr>
        <p:spPr>
          <a:xfrm>
            <a:off x="3319272" y="1371600"/>
            <a:ext cx="2697480" cy="4892040"/>
          </a:xfrm>
          <a:prstGeom prst="roundRect">
            <a:avLst>
              <a:gd name="adj" fmla="val 2373"/>
            </a:avLst>
          </a:prstGeom>
          <a:solidFill>
            <a:srgbClr val="1D242E"/>
          </a:solidFill>
          <a:ln w="9525">
            <a:solidFill>
              <a:srgbClr val="323C49"/>
            </a:solidFill>
            <a:prstDash val="solid"/>
          </a:ln>
        </p:spPr>
      </p:sp>
      <p:sp>
        <p:nvSpPr>
          <p:cNvPr id="22" name="Shape 19"/>
          <p:cNvSpPr/>
          <p:nvPr/>
        </p:nvSpPr>
        <p:spPr>
          <a:xfrm>
            <a:off x="3483864" y="1536192"/>
            <a:ext cx="1188720" cy="274320"/>
          </a:xfrm>
          <a:prstGeom prst="roundRect">
            <a:avLst>
              <a:gd name="adj" fmla="val 50000"/>
            </a:avLst>
          </a:prstGeom>
          <a:solidFill>
            <a:srgbClr val="F0A54A"/>
          </a:solidFill>
          <a:ln w="9525">
            <a:solidFill>
              <a:srgbClr val="F0A54A"/>
            </a:solidFill>
            <a:prstDash val="solid"/>
          </a:ln>
        </p:spPr>
      </p:sp>
      <p:sp>
        <p:nvSpPr>
          <p:cNvPr id="23" name="Text 20"/>
          <p:cNvSpPr txBox="1"/>
          <p:nvPr/>
        </p:nvSpPr>
        <p:spPr>
          <a:xfrm>
            <a:off x="3483864"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CHANGE</a:t>
            </a:r>
            <a:endParaRPr lang="en-US" sz="950" dirty="0"/>
          </a:p>
        </p:txBody>
      </p:sp>
      <p:sp>
        <p:nvSpPr>
          <p:cNvPr id="24" name="Shape 21"/>
          <p:cNvSpPr/>
          <p:nvPr/>
        </p:nvSpPr>
        <p:spPr>
          <a:xfrm>
            <a:off x="3502152" y="2112264"/>
            <a:ext cx="100584" cy="100584"/>
          </a:xfrm>
          <a:prstGeom prst="ellipse">
            <a:avLst/>
          </a:prstGeom>
          <a:solidFill>
            <a:srgbClr val="F0A54A"/>
          </a:solidFill>
          <a:ln w="12700">
            <a:solidFill>
              <a:srgbClr val="F0A54A"/>
            </a:solidFill>
            <a:prstDash val="solid"/>
          </a:ln>
        </p:spPr>
      </p:sp>
      <p:sp>
        <p:nvSpPr>
          <p:cNvPr id="25" name="Text 22"/>
          <p:cNvSpPr txBox="1"/>
          <p:nvPr/>
        </p:nvSpPr>
        <p:spPr>
          <a:xfrm>
            <a:off x="3703320"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Routing by dispatch matrix, not vector similarity</a:t>
            </a:r>
            <a:endParaRPr lang="en-US" sz="1150" dirty="0"/>
          </a:p>
        </p:txBody>
      </p:sp>
      <p:sp>
        <p:nvSpPr>
          <p:cNvPr id="26" name="Shape 23"/>
          <p:cNvSpPr/>
          <p:nvPr/>
        </p:nvSpPr>
        <p:spPr>
          <a:xfrm>
            <a:off x="3502152" y="2898648"/>
            <a:ext cx="100584" cy="100584"/>
          </a:xfrm>
          <a:prstGeom prst="ellipse">
            <a:avLst/>
          </a:prstGeom>
          <a:solidFill>
            <a:srgbClr val="F0A54A"/>
          </a:solidFill>
          <a:ln w="12700">
            <a:solidFill>
              <a:srgbClr val="F0A54A"/>
            </a:solidFill>
            <a:prstDash val="solid"/>
          </a:ln>
        </p:spPr>
      </p:sp>
      <p:sp>
        <p:nvSpPr>
          <p:cNvPr id="27" name="Text 24"/>
          <p:cNvSpPr txBox="1"/>
          <p:nvPr/>
        </p:nvSpPr>
        <p:spPr>
          <a:xfrm>
            <a:off x="3703320"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Retrieval query built from context</a:t>
            </a:r>
            <a:endParaRPr lang="en-US" sz="1150" dirty="0"/>
          </a:p>
        </p:txBody>
      </p:sp>
      <p:sp>
        <p:nvSpPr>
          <p:cNvPr id="28" name="Shape 25"/>
          <p:cNvSpPr/>
          <p:nvPr/>
        </p:nvSpPr>
        <p:spPr>
          <a:xfrm>
            <a:off x="3502152" y="3685032"/>
            <a:ext cx="100584" cy="100584"/>
          </a:xfrm>
          <a:prstGeom prst="ellipse">
            <a:avLst/>
          </a:prstGeom>
          <a:solidFill>
            <a:srgbClr val="F0A54A"/>
          </a:solidFill>
          <a:ln w="12700">
            <a:solidFill>
              <a:srgbClr val="F0A54A"/>
            </a:solidFill>
            <a:prstDash val="solid"/>
          </a:ln>
        </p:spPr>
      </p:sp>
      <p:sp>
        <p:nvSpPr>
          <p:cNvPr id="29" name="Text 26"/>
          <p:cNvSpPr txBox="1"/>
          <p:nvPr/>
        </p:nvSpPr>
        <p:spPr>
          <a:xfrm>
            <a:off x="3703320"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Filtering done in SQL with whitelisted ids</a:t>
            </a:r>
            <a:endParaRPr lang="en-US" sz="1150" dirty="0"/>
          </a:p>
        </p:txBody>
      </p:sp>
      <p:sp>
        <p:nvSpPr>
          <p:cNvPr id="30" name="Shape 27"/>
          <p:cNvSpPr/>
          <p:nvPr/>
        </p:nvSpPr>
        <p:spPr>
          <a:xfrm>
            <a:off x="3502152" y="4471416"/>
            <a:ext cx="100584" cy="100584"/>
          </a:xfrm>
          <a:prstGeom prst="ellipse">
            <a:avLst/>
          </a:prstGeom>
          <a:solidFill>
            <a:srgbClr val="F0A54A"/>
          </a:solidFill>
          <a:ln w="12700">
            <a:solidFill>
              <a:srgbClr val="F0A54A"/>
            </a:solidFill>
            <a:prstDash val="solid"/>
          </a:ln>
        </p:spPr>
      </p:sp>
      <p:sp>
        <p:nvSpPr>
          <p:cNvPr id="31" name="Text 28"/>
          <p:cNvSpPr txBox="1"/>
          <p:nvPr/>
        </p:nvSpPr>
        <p:spPr>
          <a:xfrm>
            <a:off x="3703320"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Gate also checks data status and profile</a:t>
            </a:r>
            <a:endParaRPr lang="en-US" sz="1150" dirty="0"/>
          </a:p>
        </p:txBody>
      </p:sp>
      <p:sp>
        <p:nvSpPr>
          <p:cNvPr id="32" name="Shape 29"/>
          <p:cNvSpPr/>
          <p:nvPr/>
        </p:nvSpPr>
        <p:spPr>
          <a:xfrm>
            <a:off x="6181344" y="1371600"/>
            <a:ext cx="2697480" cy="4892040"/>
          </a:xfrm>
          <a:prstGeom prst="roundRect">
            <a:avLst>
              <a:gd name="adj" fmla="val 2373"/>
            </a:avLst>
          </a:prstGeom>
          <a:solidFill>
            <a:srgbClr val="1D242E"/>
          </a:solidFill>
          <a:ln w="9525">
            <a:solidFill>
              <a:srgbClr val="323C49"/>
            </a:solidFill>
            <a:prstDash val="solid"/>
          </a:ln>
        </p:spPr>
      </p:sp>
      <p:sp>
        <p:nvSpPr>
          <p:cNvPr id="33" name="Shape 30"/>
          <p:cNvSpPr/>
          <p:nvPr/>
        </p:nvSpPr>
        <p:spPr>
          <a:xfrm>
            <a:off x="6345936" y="1536192"/>
            <a:ext cx="1188720" cy="274320"/>
          </a:xfrm>
          <a:prstGeom prst="roundRect">
            <a:avLst>
              <a:gd name="adj" fmla="val 50000"/>
            </a:avLst>
          </a:prstGeom>
          <a:solidFill>
            <a:srgbClr val="E2B54E"/>
          </a:solidFill>
          <a:ln w="9525">
            <a:solidFill>
              <a:srgbClr val="E2B54E"/>
            </a:solidFill>
            <a:prstDash val="solid"/>
          </a:ln>
        </p:spPr>
      </p:sp>
      <p:sp>
        <p:nvSpPr>
          <p:cNvPr id="34" name="Text 31"/>
          <p:cNvSpPr txBox="1"/>
          <p:nvPr/>
        </p:nvSpPr>
        <p:spPr>
          <a:xfrm>
            <a:off x="6345936"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ADD</a:t>
            </a:r>
            <a:endParaRPr lang="en-US" sz="950" dirty="0"/>
          </a:p>
        </p:txBody>
      </p:sp>
      <p:sp>
        <p:nvSpPr>
          <p:cNvPr id="35" name="Shape 32"/>
          <p:cNvSpPr/>
          <p:nvPr/>
        </p:nvSpPr>
        <p:spPr>
          <a:xfrm>
            <a:off x="6364224" y="2112264"/>
            <a:ext cx="100584" cy="100584"/>
          </a:xfrm>
          <a:prstGeom prst="ellipse">
            <a:avLst/>
          </a:prstGeom>
          <a:solidFill>
            <a:srgbClr val="E2B54E"/>
          </a:solidFill>
          <a:ln w="12700">
            <a:solidFill>
              <a:srgbClr val="E2B54E"/>
            </a:solidFill>
            <a:prstDash val="solid"/>
          </a:ln>
        </p:spPr>
      </p:sp>
      <p:sp>
        <p:nvSpPr>
          <p:cNvPr id="36" name="Text 33"/>
          <p:cNvSpPr txBox="1"/>
          <p:nvPr/>
        </p:nvSpPr>
        <p:spPr>
          <a:xfrm>
            <a:off x="6565392"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Language detection + English pivot + glossary</a:t>
            </a:r>
            <a:endParaRPr lang="en-US" sz="1150" dirty="0"/>
          </a:p>
        </p:txBody>
      </p:sp>
      <p:sp>
        <p:nvSpPr>
          <p:cNvPr id="37" name="Shape 34"/>
          <p:cNvSpPr/>
          <p:nvPr/>
        </p:nvSpPr>
        <p:spPr>
          <a:xfrm>
            <a:off x="6364224" y="2898648"/>
            <a:ext cx="100584" cy="100584"/>
          </a:xfrm>
          <a:prstGeom prst="ellipse">
            <a:avLst/>
          </a:prstGeom>
          <a:solidFill>
            <a:srgbClr val="E2B54E"/>
          </a:solidFill>
          <a:ln w="12700">
            <a:solidFill>
              <a:srgbClr val="E2B54E"/>
            </a:solidFill>
            <a:prstDash val="solid"/>
          </a:ln>
        </p:spPr>
      </p:sp>
      <p:sp>
        <p:nvSpPr>
          <p:cNvPr id="38" name="Text 35"/>
          <p:cNvSpPr txBox="1"/>
          <p:nvPr/>
        </p:nvSpPr>
        <p:spPr>
          <a:xfrm>
            <a:off x="6565392"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Intent labels</a:t>
            </a:r>
            <a:endParaRPr lang="en-US" sz="1150" dirty="0"/>
          </a:p>
        </p:txBody>
      </p:sp>
      <p:sp>
        <p:nvSpPr>
          <p:cNvPr id="39" name="Shape 36"/>
          <p:cNvSpPr/>
          <p:nvPr/>
        </p:nvSpPr>
        <p:spPr>
          <a:xfrm>
            <a:off x="6364224" y="3685032"/>
            <a:ext cx="100584" cy="100584"/>
          </a:xfrm>
          <a:prstGeom prst="ellipse">
            <a:avLst/>
          </a:prstGeom>
          <a:solidFill>
            <a:srgbClr val="E2B54E"/>
          </a:solidFill>
          <a:ln w="12700">
            <a:solidFill>
              <a:srgbClr val="E2B54E"/>
            </a:solidFill>
            <a:prstDash val="solid"/>
          </a:ln>
        </p:spPr>
      </p:sp>
      <p:sp>
        <p:nvSpPr>
          <p:cNvPr id="40" name="Text 37"/>
          <p:cNvSpPr txBox="1"/>
          <p:nvPr/>
        </p:nvSpPr>
        <p:spPr>
          <a:xfrm>
            <a:off x="6565392"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Sensor board on every request</a:t>
            </a:r>
            <a:endParaRPr lang="en-US" sz="1150" dirty="0"/>
          </a:p>
        </p:txBody>
      </p:sp>
      <p:sp>
        <p:nvSpPr>
          <p:cNvPr id="41" name="Shape 38"/>
          <p:cNvSpPr/>
          <p:nvPr/>
        </p:nvSpPr>
        <p:spPr>
          <a:xfrm>
            <a:off x="6364224" y="4471416"/>
            <a:ext cx="100584" cy="100584"/>
          </a:xfrm>
          <a:prstGeom prst="ellipse">
            <a:avLst/>
          </a:prstGeom>
          <a:solidFill>
            <a:srgbClr val="E2B54E"/>
          </a:solidFill>
          <a:ln w="12700">
            <a:solidFill>
              <a:srgbClr val="E2B54E"/>
            </a:solidFill>
            <a:prstDash val="solid"/>
          </a:ln>
        </p:spPr>
      </p:sp>
      <p:sp>
        <p:nvSpPr>
          <p:cNvPr id="42" name="Text 39"/>
          <p:cNvSpPr txBox="1"/>
          <p:nvPr/>
        </p:nvSpPr>
        <p:spPr>
          <a:xfrm>
            <a:off x="6565392"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Corpus front-matter + tags.yaml</a:t>
            </a:r>
            <a:endParaRPr lang="en-US" sz="1150" dirty="0"/>
          </a:p>
        </p:txBody>
      </p:sp>
      <p:sp>
        <p:nvSpPr>
          <p:cNvPr id="43" name="Shape 40"/>
          <p:cNvSpPr/>
          <p:nvPr/>
        </p:nvSpPr>
        <p:spPr>
          <a:xfrm>
            <a:off x="6364224" y="5257800"/>
            <a:ext cx="100584" cy="100584"/>
          </a:xfrm>
          <a:prstGeom prst="ellipse">
            <a:avLst/>
          </a:prstGeom>
          <a:solidFill>
            <a:srgbClr val="E2B54E"/>
          </a:solidFill>
          <a:ln w="12700">
            <a:solidFill>
              <a:srgbClr val="E2B54E"/>
            </a:solidFill>
            <a:prstDash val="solid"/>
          </a:ln>
        </p:spPr>
      </p:sp>
      <p:sp>
        <p:nvSpPr>
          <p:cNvPr id="44" name="Text 41"/>
          <p:cNvSpPr txBox="1"/>
          <p:nvPr/>
        </p:nvSpPr>
        <p:spPr>
          <a:xfrm>
            <a:off x="6565392" y="5157216"/>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Labelled question set and deploy gate</a:t>
            </a:r>
            <a:endParaRPr lang="en-US" sz="1150" dirty="0"/>
          </a:p>
        </p:txBody>
      </p:sp>
      <p:sp>
        <p:nvSpPr>
          <p:cNvPr id="45" name="Shape 42"/>
          <p:cNvSpPr/>
          <p:nvPr/>
        </p:nvSpPr>
        <p:spPr>
          <a:xfrm>
            <a:off x="9043416" y="1371600"/>
            <a:ext cx="2697480" cy="4892040"/>
          </a:xfrm>
          <a:prstGeom prst="roundRect">
            <a:avLst>
              <a:gd name="adj" fmla="val 2373"/>
            </a:avLst>
          </a:prstGeom>
          <a:solidFill>
            <a:srgbClr val="1D242E"/>
          </a:solidFill>
          <a:ln w="9525">
            <a:solidFill>
              <a:srgbClr val="323C49"/>
            </a:solidFill>
            <a:prstDash val="solid"/>
          </a:ln>
        </p:spPr>
      </p:sp>
      <p:sp>
        <p:nvSpPr>
          <p:cNvPr id="46" name="Shape 43"/>
          <p:cNvSpPr/>
          <p:nvPr/>
        </p:nvSpPr>
        <p:spPr>
          <a:xfrm>
            <a:off x="9208008" y="1536192"/>
            <a:ext cx="1188720" cy="274320"/>
          </a:xfrm>
          <a:prstGeom prst="roundRect">
            <a:avLst>
              <a:gd name="adj" fmla="val 50000"/>
            </a:avLst>
          </a:prstGeom>
          <a:solidFill>
            <a:srgbClr val="E5746A"/>
          </a:solidFill>
          <a:ln w="9525">
            <a:solidFill>
              <a:srgbClr val="E5746A"/>
            </a:solidFill>
            <a:prstDash val="solid"/>
          </a:ln>
        </p:spPr>
      </p:sp>
      <p:sp>
        <p:nvSpPr>
          <p:cNvPr id="47" name="Text 44"/>
          <p:cNvSpPr txBox="1"/>
          <p:nvPr/>
        </p:nvSpPr>
        <p:spPr>
          <a:xfrm>
            <a:off x="9208008"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REMOVE</a:t>
            </a:r>
            <a:endParaRPr lang="en-US" sz="950" dirty="0"/>
          </a:p>
        </p:txBody>
      </p:sp>
      <p:sp>
        <p:nvSpPr>
          <p:cNvPr id="48" name="Shape 45"/>
          <p:cNvSpPr/>
          <p:nvPr/>
        </p:nvSpPr>
        <p:spPr>
          <a:xfrm>
            <a:off x="9226296" y="2112264"/>
            <a:ext cx="100584" cy="100584"/>
          </a:xfrm>
          <a:prstGeom prst="ellipse">
            <a:avLst/>
          </a:prstGeom>
          <a:solidFill>
            <a:srgbClr val="E5746A"/>
          </a:solidFill>
          <a:ln w="12700">
            <a:solidFill>
              <a:srgbClr val="E5746A"/>
            </a:solidFill>
            <a:prstDash val="solid"/>
          </a:ln>
        </p:spPr>
      </p:sp>
      <p:sp>
        <p:nvSpPr>
          <p:cNvPr id="49" name="Text 46"/>
          <p:cNvSpPr txBox="1"/>
          <p:nvPr/>
        </p:nvSpPr>
        <p:spPr>
          <a:xfrm>
            <a:off x="9427464"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α / θ similarity thresholds</a:t>
            </a:r>
            <a:endParaRPr lang="en-US" sz="1150" dirty="0"/>
          </a:p>
        </p:txBody>
      </p:sp>
      <p:sp>
        <p:nvSpPr>
          <p:cNvPr id="50" name="Shape 47"/>
          <p:cNvSpPr/>
          <p:nvPr/>
        </p:nvSpPr>
        <p:spPr>
          <a:xfrm>
            <a:off x="9226296" y="2898648"/>
            <a:ext cx="100584" cy="100584"/>
          </a:xfrm>
          <a:prstGeom prst="ellipse">
            <a:avLst/>
          </a:prstGeom>
          <a:solidFill>
            <a:srgbClr val="E5746A"/>
          </a:solidFill>
          <a:ln w="12700">
            <a:solidFill>
              <a:srgbClr val="E5746A"/>
            </a:solidFill>
            <a:prstDash val="solid"/>
          </a:ln>
        </p:spPr>
      </p:sp>
      <p:sp>
        <p:nvSpPr>
          <p:cNvPr id="51" name="Text 48"/>
          <p:cNvSpPr txBox="1"/>
          <p:nvPr/>
        </p:nvSpPr>
        <p:spPr>
          <a:xfrm>
            <a:off x="9427464"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Embedding raw numeric commentary</a:t>
            </a:r>
            <a:endParaRPr lang="en-US" sz="1150" dirty="0"/>
          </a:p>
        </p:txBody>
      </p:sp>
      <p:sp>
        <p:nvSpPr>
          <p:cNvPr id="52" name="Shape 49"/>
          <p:cNvSpPr/>
          <p:nvPr/>
        </p:nvSpPr>
        <p:spPr>
          <a:xfrm>
            <a:off x="9226296" y="3685032"/>
            <a:ext cx="100584" cy="100584"/>
          </a:xfrm>
          <a:prstGeom prst="ellipse">
            <a:avLst/>
          </a:prstGeom>
          <a:solidFill>
            <a:srgbClr val="E5746A"/>
          </a:solidFill>
          <a:ln w="12700">
            <a:solidFill>
              <a:srgbClr val="E5746A"/>
            </a:solidFill>
            <a:prstDash val="solid"/>
          </a:ln>
        </p:spPr>
      </p:sp>
      <p:sp>
        <p:nvSpPr>
          <p:cNvPr id="53" name="Text 50"/>
          <p:cNvSpPr txBox="1"/>
          <p:nvPr/>
        </p:nvSpPr>
        <p:spPr>
          <a:xfrm>
            <a:off x="9427464"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Router rows for modules never built</a:t>
            </a:r>
            <a:endParaRPr lang="en-US" sz="1150" dirty="0"/>
          </a:p>
        </p:txBody>
      </p:sp>
      <p:sp>
        <p:nvSpPr>
          <p:cNvPr id="54" name="Shape 51"/>
          <p:cNvSpPr/>
          <p:nvPr/>
        </p:nvSpPr>
        <p:spPr>
          <a:xfrm>
            <a:off x="9226296" y="4471416"/>
            <a:ext cx="100584" cy="100584"/>
          </a:xfrm>
          <a:prstGeom prst="ellipse">
            <a:avLst/>
          </a:prstGeom>
          <a:solidFill>
            <a:srgbClr val="E5746A"/>
          </a:solidFill>
          <a:ln w="12700">
            <a:solidFill>
              <a:srgbClr val="E5746A"/>
            </a:solidFill>
            <a:prstDash val="solid"/>
          </a:ln>
        </p:spPr>
      </p:sp>
      <p:sp>
        <p:nvSpPr>
          <p:cNvPr id="55" name="Text 52"/>
          <p:cNvSpPr txBox="1"/>
          <p:nvPr/>
        </p:nvSpPr>
        <p:spPr>
          <a:xfrm>
            <a:off x="9427464"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The filter argument txtai lacks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HANDOFFS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intake packet Section 4 hands on</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1143000"/>
                <a:gridCol w="2194560"/>
                <a:gridCol w="5349240"/>
                <a:gridCol w="2587752"/>
              </a:tblGrid>
              <a:tr h="34747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To</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What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Form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Replaces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English text + original text + language code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The raw message only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Intent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One label from the fixed list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Sensor board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Synthesis line + one line per sensor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Only routed sensors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Readings in full</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Envelopes for M*, plus the SYN reading and zones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Raw output files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Knowledge pack</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Up to 4 chunks + expansions, with ids and index build id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Unfiltered search results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 · 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Profile + data status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Trader type, style, limits; FRESH / DELAYED / STALE / CLOSED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Section 7</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Trace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Language, intent, M*, chunk ids, build id, cycle slot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DECISIONS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Section 4 decisions, settled 29 September</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48640"/>
                <a:gridCol w="2011680"/>
                <a:gridCol w="5394960"/>
                <a:gridCol w="2221992"/>
                <a:gridCol w="109728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Decided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Not chosen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Routing v1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Dispatch matrix (intent × states) + labelled set; vector routing only if it wins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Vector routing as in file A</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Intent labels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The fixed list of eight shown; instant prompts carry their own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Free-form intents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Language handling</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English pivot with a trading glossary; answer in the user’s language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Multilingual embeddings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How to translate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small model call returning language, English text, intent, symbols, timeframes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txtai translation models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Sensor board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Synthesis line + every sensor, unavailable ones listed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Only routed sensors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Always in full</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Primary sensor + any opposing or stand-aside sensor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Router decides alone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Corpus authorship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I draft from existing specs; you approve each domain before first build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Write from scratch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Retrieval query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Built from intent template + state codes + English question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The raw message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Test thresholds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Routing ≥ 90% · recall@4 ≥ 0.8 · languages within 5 points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Set after first run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4.10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Embedding model</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Keep an English MiniLM-class model (the pivot makes it enough)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Multilingual model</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4.11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Out of scope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Deterministic check before any reasoning; fixed replies in 16 languages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Left to the LLM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4</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4 · INTAKE, ROUTING &amp; KNOWLEDGE · DONE WHEN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Section 4 is finished when these checks pass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15</a:t>
            </a:r>
            <a:endParaRPr lang="en-US" sz="1000" dirty="0"/>
          </a:p>
        </p:txBody>
      </p:sp>
      <p:pic>
        <p:nvPicPr>
          <p:cNvPr id="8" name="Image 0" descr="preencoded.png">    </p:cNvPr>
          <p:cNvPicPr>
            <a:picLocks noChangeAspect="1"/>
          </p:cNvPicPr>
          <p:nvPr/>
        </p:nvPicPr>
        <p:blipFill>
          <a:blip r:embed="rId1"/>
          <a:stretch>
            <a:fillRect/>
          </a:stretch>
        </p:blipFill>
        <p:spPr>
          <a:xfrm>
            <a:off x="457200" y="1463040"/>
            <a:ext cx="384048" cy="384048"/>
          </a:xfrm>
          <a:prstGeom prst="rect">
            <a:avLst/>
          </a:prstGeom>
        </p:spPr>
      </p:pic>
      <p:sp>
        <p:nvSpPr>
          <p:cNvPr id="9" name="Text 5"/>
          <p:cNvSpPr txBox="1"/>
          <p:nvPr/>
        </p:nvSpPr>
        <p:spPr>
          <a:xfrm>
            <a:off x="1005840" y="1417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Every request carries the board</a:t>
            </a:r>
            <a:endParaRPr lang="en-US" sz="1350" dirty="0"/>
          </a:p>
        </p:txBody>
      </p:sp>
      <p:sp>
        <p:nvSpPr>
          <p:cNvPr id="10" name="Text 6"/>
          <p:cNvSpPr txBox="1"/>
          <p:nvPr/>
        </p:nvSpPr>
        <p:spPr>
          <a:xfrm>
            <a:off x="1005840" y="1801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Synthesis line and all sensors, including unavailable ones.</a:t>
            </a:r>
            <a:endParaRPr lang="en-US" sz="1150" dirty="0"/>
          </a:p>
        </p:txBody>
      </p:sp>
      <p:pic>
        <p:nvPicPr>
          <p:cNvPr id="11" name="Image 1" descr="preencoded.png">    </p:cNvPr>
          <p:cNvPicPr>
            <a:picLocks noChangeAspect="1"/>
          </p:cNvPicPr>
          <p:nvPr/>
        </p:nvPicPr>
        <p:blipFill>
          <a:blip r:embed="rId2"/>
          <a:stretch>
            <a:fillRect/>
          </a:stretch>
        </p:blipFill>
        <p:spPr>
          <a:xfrm>
            <a:off x="6126480" y="1463040"/>
            <a:ext cx="384048" cy="384048"/>
          </a:xfrm>
          <a:prstGeom prst="rect">
            <a:avLst/>
          </a:prstGeom>
        </p:spPr>
      </p:pic>
      <p:sp>
        <p:nvSpPr>
          <p:cNvPr id="12" name="Text 7"/>
          <p:cNvSpPr txBox="1"/>
          <p:nvPr/>
        </p:nvSpPr>
        <p:spPr>
          <a:xfrm>
            <a:off x="6675120" y="1417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Warnings always arrive in full</a:t>
            </a:r>
            <a:endParaRPr lang="en-US" sz="1350" dirty="0"/>
          </a:p>
        </p:txBody>
      </p:sp>
      <p:sp>
        <p:nvSpPr>
          <p:cNvPr id="13" name="Text 8"/>
          <p:cNvSpPr txBox="1"/>
          <p:nvPr/>
        </p:nvSpPr>
        <p:spPr>
          <a:xfrm>
            <a:off x="6675120" y="1801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test where only MCD3 says stand aside still delivers MCD3’s full reading.</a:t>
            </a:r>
            <a:endParaRPr lang="en-US" sz="1150" dirty="0"/>
          </a:p>
        </p:txBody>
      </p:sp>
      <p:pic>
        <p:nvPicPr>
          <p:cNvPr id="14" name="Image 2" descr="preencoded.png">    </p:cNvPr>
          <p:cNvPicPr>
            <a:picLocks noChangeAspect="1"/>
          </p:cNvPicPr>
          <p:nvPr/>
        </p:nvPicPr>
        <p:blipFill>
          <a:blip r:embed="rId3"/>
          <a:stretch>
            <a:fillRect/>
          </a:stretch>
        </p:blipFill>
        <p:spPr>
          <a:xfrm>
            <a:off x="457200" y="2606040"/>
            <a:ext cx="384048" cy="384048"/>
          </a:xfrm>
          <a:prstGeom prst="rect">
            <a:avLst/>
          </a:prstGeom>
        </p:spPr>
      </p:pic>
      <p:sp>
        <p:nvSpPr>
          <p:cNvPr id="15" name="Text 9"/>
          <p:cNvSpPr txBox="1"/>
          <p:nvPr/>
        </p:nvSpPr>
        <p:spPr>
          <a:xfrm>
            <a:off x="1005840" y="2560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16 languages pass</a:t>
            </a:r>
            <a:endParaRPr lang="en-US" sz="1350" dirty="0"/>
          </a:p>
        </p:txBody>
      </p:sp>
      <p:sp>
        <p:nvSpPr>
          <p:cNvPr id="16" name="Text 10"/>
          <p:cNvSpPr txBox="1"/>
          <p:nvPr/>
        </p:nvSpPr>
        <p:spPr>
          <a:xfrm>
            <a:off x="1005840" y="2944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Routing and recall per language within 5 points of English.</a:t>
            </a:r>
            <a:endParaRPr lang="en-US" sz="1150" dirty="0"/>
          </a:p>
        </p:txBody>
      </p:sp>
      <p:pic>
        <p:nvPicPr>
          <p:cNvPr id="17" name="Image 3" descr="preencoded.png">    </p:cNvPr>
          <p:cNvPicPr>
            <a:picLocks noChangeAspect="1"/>
          </p:cNvPicPr>
          <p:nvPr/>
        </p:nvPicPr>
        <p:blipFill>
          <a:blip r:embed="rId4"/>
          <a:stretch>
            <a:fillRect/>
          </a:stretch>
        </p:blipFill>
        <p:spPr>
          <a:xfrm>
            <a:off x="6126480" y="2606040"/>
            <a:ext cx="384048" cy="384048"/>
          </a:xfrm>
          <a:prstGeom prst="rect">
            <a:avLst/>
          </a:prstGeom>
        </p:spPr>
      </p:pic>
      <p:sp>
        <p:nvSpPr>
          <p:cNvPr id="18" name="Text 11"/>
          <p:cNvSpPr txBox="1"/>
          <p:nvPr/>
        </p:nvSpPr>
        <p:spPr>
          <a:xfrm>
            <a:off x="6675120" y="2560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Scope replies are fixed</a:t>
            </a:r>
            <a:endParaRPr lang="en-US" sz="1350" dirty="0"/>
          </a:p>
        </p:txBody>
      </p:sp>
      <p:sp>
        <p:nvSpPr>
          <p:cNvPr id="19" name="Text 12"/>
          <p:cNvSpPr txBox="1"/>
          <p:nvPr/>
        </p:nvSpPr>
        <p:spPr>
          <a:xfrm>
            <a:off x="6675120" y="2944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Other symbols and timeframes get the fixed reply in the user’s language; nothing else runs.</a:t>
            </a:r>
            <a:endParaRPr lang="en-US" sz="1150" dirty="0"/>
          </a:p>
        </p:txBody>
      </p:sp>
      <p:pic>
        <p:nvPicPr>
          <p:cNvPr id="20" name="Image 4" descr="preencoded.png">    </p:cNvPr>
          <p:cNvPicPr>
            <a:picLocks noChangeAspect="1"/>
          </p:cNvPicPr>
          <p:nvPr/>
        </p:nvPicPr>
        <p:blipFill>
          <a:blip r:embed="rId5"/>
          <a:stretch>
            <a:fillRect/>
          </a:stretch>
        </p:blipFill>
        <p:spPr>
          <a:xfrm>
            <a:off x="457200" y="3749040"/>
            <a:ext cx="384048" cy="384048"/>
          </a:xfrm>
          <a:prstGeom prst="rect">
            <a:avLst/>
          </a:prstGeom>
        </p:spPr>
      </p:pic>
      <p:sp>
        <p:nvSpPr>
          <p:cNvPr id="21" name="Text 13"/>
          <p:cNvSpPr txBox="1"/>
          <p:nvPr/>
        </p:nvSpPr>
        <p:spPr>
          <a:xfrm>
            <a:off x="1005840" y="3703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Retrieval runs as written</a:t>
            </a:r>
            <a:endParaRPr lang="en-US" sz="1350" dirty="0"/>
          </a:p>
        </p:txBody>
      </p:sp>
      <p:sp>
        <p:nvSpPr>
          <p:cNvPr id="22" name="Text 14"/>
          <p:cNvSpPr txBox="1"/>
          <p:nvPr/>
        </p:nvSpPr>
        <p:spPr>
          <a:xfrm>
            <a:off x="1005840" y="4087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SQL query works on the real txtai index with bound, whitelisted ids.</a:t>
            </a:r>
            <a:endParaRPr lang="en-US" sz="1150" dirty="0"/>
          </a:p>
        </p:txBody>
      </p:sp>
      <p:pic>
        <p:nvPicPr>
          <p:cNvPr id="23" name="Image 5" descr="preencoded.png">    </p:cNvPr>
          <p:cNvPicPr>
            <a:picLocks noChangeAspect="1"/>
          </p:cNvPicPr>
          <p:nvPr/>
        </p:nvPicPr>
        <p:blipFill>
          <a:blip r:embed="rId6"/>
          <a:stretch>
            <a:fillRect/>
          </a:stretch>
        </p:blipFill>
        <p:spPr>
          <a:xfrm>
            <a:off x="6126480" y="3749040"/>
            <a:ext cx="384048" cy="384048"/>
          </a:xfrm>
          <a:prstGeom prst="rect">
            <a:avLst/>
          </a:prstGeom>
        </p:spPr>
      </p:pic>
      <p:sp>
        <p:nvSpPr>
          <p:cNvPr id="24" name="Text 15"/>
          <p:cNvSpPr txBox="1"/>
          <p:nvPr/>
        </p:nvSpPr>
        <p:spPr>
          <a:xfrm>
            <a:off x="6675120" y="3703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The deploy gate works</a:t>
            </a:r>
            <a:endParaRPr lang="en-US" sz="1350" dirty="0"/>
          </a:p>
        </p:txBody>
      </p:sp>
      <p:sp>
        <p:nvSpPr>
          <p:cNvPr id="25" name="Text 16"/>
          <p:cNvSpPr txBox="1"/>
          <p:nvPr/>
        </p:nvSpPr>
        <p:spPr>
          <a:xfrm>
            <a:off x="6675120" y="4087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corpus change that drops recall below 0.8 stops the deploy.</a:t>
            </a:r>
            <a:endParaRPr lang="en-US" sz="1150" dirty="0"/>
          </a:p>
        </p:txBody>
      </p:sp>
      <p:pic>
        <p:nvPicPr>
          <p:cNvPr id="26" name="Image 6" descr="preencoded.png">    </p:cNvPr>
          <p:cNvPicPr>
            <a:picLocks noChangeAspect="1"/>
          </p:cNvPicPr>
          <p:nvPr/>
        </p:nvPicPr>
        <p:blipFill>
          <a:blip r:embed="rId7"/>
          <a:stretch>
            <a:fillRect/>
          </a:stretch>
        </p:blipFill>
        <p:spPr>
          <a:xfrm>
            <a:off x="457200" y="4892040"/>
            <a:ext cx="384048" cy="384048"/>
          </a:xfrm>
          <a:prstGeom prst="rect">
            <a:avLst/>
          </a:prstGeom>
        </p:spPr>
      </p:pic>
      <p:sp>
        <p:nvSpPr>
          <p:cNvPr id="27" name="Text 17"/>
          <p:cNvSpPr txBox="1"/>
          <p:nvPr/>
        </p:nvSpPr>
        <p:spPr>
          <a:xfrm>
            <a:off x="1005840" y="4846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Stale data is caught at intake</a:t>
            </a:r>
            <a:endParaRPr lang="en-US" sz="1350" dirty="0"/>
          </a:p>
        </p:txBody>
      </p:sp>
      <p:sp>
        <p:nvSpPr>
          <p:cNvPr id="28" name="Text 18"/>
          <p:cNvSpPr txBox="1"/>
          <p:nvPr/>
        </p:nvSpPr>
        <p:spPr>
          <a:xfrm>
            <a:off x="1005840" y="5230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STALE cycle is flagged in the packet before any prompt is built.</a:t>
            </a:r>
            <a:endParaRPr lang="en-US" sz="1150" dirty="0"/>
          </a:p>
        </p:txBody>
      </p:sp>
      <p:pic>
        <p:nvPicPr>
          <p:cNvPr id="29" name="Image 7" descr="preencoded.png">    </p:cNvPr>
          <p:cNvPicPr>
            <a:picLocks noChangeAspect="1"/>
          </p:cNvPicPr>
          <p:nvPr/>
        </p:nvPicPr>
        <p:blipFill>
          <a:blip r:embed="rId8"/>
          <a:stretch>
            <a:fillRect/>
          </a:stretch>
        </p:blipFill>
        <p:spPr>
          <a:xfrm>
            <a:off x="6126480" y="4892040"/>
            <a:ext cx="384048" cy="384048"/>
          </a:xfrm>
          <a:prstGeom prst="rect">
            <a:avLst/>
          </a:prstGeom>
        </p:spPr>
      </p:pic>
      <p:sp>
        <p:nvSpPr>
          <p:cNvPr id="30" name="Text 19"/>
          <p:cNvSpPr txBox="1"/>
          <p:nvPr/>
        </p:nvSpPr>
        <p:spPr>
          <a:xfrm>
            <a:off x="6675120" y="4846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Everything is traceable</a:t>
            </a:r>
            <a:endParaRPr lang="en-US" sz="1350" dirty="0"/>
          </a:p>
        </p:txBody>
      </p:sp>
      <p:sp>
        <p:nvSpPr>
          <p:cNvPr id="31" name="Text 20"/>
          <p:cNvSpPr txBox="1"/>
          <p:nvPr/>
        </p:nvSpPr>
        <p:spPr>
          <a:xfrm>
            <a:off x="6675120" y="5230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Each answer’s trace names its language, intent, M*, chunk ids and index build.</a:t>
            </a:r>
            <a:endParaRPr lang="en-US" sz="1150" dirty="0"/>
          </a:p>
        </p:txBody>
      </p:sp>
      <p:sp>
        <p:nvSpPr>
          <p:cNvPr id="32" name="Text 21"/>
          <p:cNvSpPr txBox="1"/>
          <p:nvPr/>
        </p:nvSpPr>
        <p:spPr>
          <a:xfrm>
            <a:off x="457200" y="6035040"/>
            <a:ext cx="10972800" cy="320040"/>
          </a:xfrm>
          <a:prstGeom prst="rect">
            <a:avLst/>
          </a:prstGeom>
          <a:noFill/>
          <a:ln/>
        </p:spPr>
        <p:txBody>
          <a:bodyPr wrap="square" lIns="0" tIns="0" rIns="0" bIns="0" rtlCol="0" anchor="t"/>
          <a:lstStyle/>
          <a:p>
            <a:pPr indent="0" marL="0">
              <a:buNone/>
            </a:pPr>
            <a:r>
              <a:rPr lang="en-US" sz="1200" b="1" dirty="0">
                <a:solidFill>
                  <a:srgbClr val="E2B54E"/>
                </a:solidFill>
                <a:latin typeface="Calibri" pitchFamily="34" charset="0"/>
                <a:ea typeface="Calibri" pitchFamily="34" charset="-122"/>
                <a:cs typeface="Calibri" pitchFamily="34" charset="-120"/>
              </a:rPr>
              <a:t>Next deck: Section 5 · Prompt &amp; AI reply, delivered with this update.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 D Revised Architecture — Section 4: Intake, routing &amp; knowledge</dc:title>
  <dc:subject>PptxGenJS Presentation</dc:subject>
  <dc:creator>DavinTrade</dc:creator>
  <cp:lastModifiedBy>DavinTrade</cp:lastModifiedBy>
  <cp:revision>1</cp:revision>
  <dcterms:created xsi:type="dcterms:W3CDTF">2026-09-29T16:49:24Z</dcterms:created>
  <dcterms:modified xsi:type="dcterms:W3CDTF">2026-09-29T16:49:24Z</dcterms:modified>
</cp:coreProperties>
</file>