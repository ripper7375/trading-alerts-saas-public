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0 of the series. It fixes the map: seven sections, grouped by when they run (every 5-minute cycle, per user question, or across both). Each later deck covers one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overview assigns every recommendation to one home section so nothing is described twice. Section decks are built in dependency order, and each section’s decisions are settled before the next deck is built, so later decks start from settled inputs. Settled section decks become the chapters of the canonical architecture document (review item G1).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lanes are the operational workflow from the revision-3 deck (Data foundation, Session gate, Quant state, Routing &amp; synthesis, Dual report), with two labels corrected: the Python calc stack was parked on 9 Sep (MQL5 computes every value; the collector validates and forwards), and the txtai index / router file are background builds owned by Section 4. The coloured number on each box is its home section. Engine 1 data access splits: the 1-day OHLC and closed-bar rules are defined in Section 1, each MCD window in Section 2. Engine 3 is produced in Section 1 and used in the prompt in Section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structural change (review A4). Sections 1-3 run on the 5-minute market clock, whether or not anyone is asking, and write one stamped cycle snapshot. Sections 4-6 run when a user asks and only read the latest complete snapshot; they never re-run a sensor. Section 7 spans both. Benefits: the same data always gives the same answer; request latency does not depend on sensor run time; regime history accumulates for free; any answer can be replayed from its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IDs are from STACK-D-ARCHITECTURE-REVIEW-AND-RECOMMENDATIONS.md. Gold = P1 (settle before freezing the architecture). Two items touch a second section: D1 (freshness) is stamped in Section 1 and enforced as a gate in Section 5; E4 (broker specs) is consumed by Engine 4 in Section 6, but the symbol data is exported by Section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handoffs are where the original design was weakest (review theme: the seams, not the components). Each is specified once, in the section that produces it; consuming sections refer to it rather than redefining it. Numbers in the From/To column are section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noted that MCD1-3 are examples and open to change. These are the directions Section 2 will develop in detail. The finding on the right comes from the data-collection blueprint: all 15 indicators are attached to both the M5 and M15 charts (BP §8.3), and a cycle missing any source is rejected (BP §11). So on live data all seven centroid variants (and fractal) carry values every cycle. MCD tier 1 currently treats "active" as "the only candidate with enough non-null bars" (mcd1.md tier 1: exactly 1 of 7 on M15; mcd2.md: exactly 1 of 8 on M5), which would return INVALID on every live cycle. Frozen-baseline mode (MODE_FROZEN_LINE) and the centroid watchdog are built but not deployed; freezing covers 21 of 69 drifting columns (SSA, EMA-SSA and crossings stay dynamic).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decks follow the data. Section 7’s master document and decision log start now and run alongside, so each decision is recorded when it is made. The decision examples are the main open questions per section; each section deck lists them in full with a suggestion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log recommended in review item G1. Entries 001-007 were made before the section series; 008-015 are Section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Entry 015 is proposed (from the active-standby and frozen-baseline manifests) and adopted provisionally until you confirm it. Entries 016-024 are Section 2, settled 29 Sep by adopting each suggestion.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Entries 025-035 are Section 3, settled 29 Sep by adopting each suggestion. The rule content itself remains yours to write; 026 settles only the format and the starting draft. Entry 036 opens Section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Entries 036-046 are Section 4, settled 29 Sep by adopting each suggestion. The knowledge corpus content remains yours to approve domain by domain (042). Entry 047 opens Section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Entries 047-057 are Section 5, settled 29 Sep by adopting each suggestion. The tier amounts behind 050 are set in Section 7 once costs are measured; the two launch models behind 055 are chosen by the evaluation suite; 056 still needs review by counsel in each target jurisdiction. Entries 058-060 open Section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Entries 058-069 are Section 6, settled 30 Sep by adopting each suggestion. The Tier-1 list behind 060 is a config file you can extend; its events come from the economic_events lane, live since 11 Sep. Entries 070-072 open Section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Entries 070-081 are Section 7, settled 30 Sep by adopting each suggestion. The Free tier and quota method (072, 073) are business choices; the retention figures and privacy notice (076, 077) still need review by counsel in each target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Corrections to the revision-3 deck and the review. The first five came from reading the data-collection blueprint (22 Sep), the V2.29 architecture summary and the two terminal manifests. The language correction: the review singled out Thai because file A’s only worked router example is a Thai question and several MCD specs are written partly in Thai for the developer; DavinTrade itself serves 16 languages, so B3 now covers all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640080" y="1188720"/>
            <a:ext cx="6583680" cy="274320"/>
          </a:xfrm>
          <a:prstGeom prst="rect">
            <a:avLst/>
          </a:prstGeom>
          <a:noFill/>
          <a:ln/>
        </p:spPr>
        <p:txBody>
          <a:bodyPr wrap="square" lIns="0" tIns="0" rIns="0" bIns="0" rtlCol="0" anchor="t"/>
          <a:lstStyle/>
          <a:p>
            <a:pPr indent="0" marL="0">
              <a:buNone/>
            </a:pPr>
            <a:r>
              <a:rPr lang="en-US" sz="1200" b="1" spc="300" kern="0" dirty="0">
                <a:solidFill>
                  <a:srgbClr val="E2B54E"/>
                </a:solidFill>
                <a:latin typeface="Calibri" pitchFamily="34" charset="0"/>
                <a:ea typeface="Calibri" pitchFamily="34" charset="-122"/>
                <a:cs typeface="Calibri" pitchFamily="34" charset="-120"/>
              </a:rPr>
              <a:t>DAVINTRADE  ·  STACK D  ·  REVISED ARCHITECTURE  ·  DECK 0</a:t>
            </a:r>
            <a:endParaRPr lang="en-US" sz="1200" dirty="0"/>
          </a:p>
        </p:txBody>
      </p:sp>
      <p:sp>
        <p:nvSpPr>
          <p:cNvPr id="3" name="Text 1"/>
          <p:cNvSpPr txBox="1"/>
          <p:nvPr/>
        </p:nvSpPr>
        <p:spPr>
          <a:xfrm>
            <a:off x="640080" y="1572768"/>
            <a:ext cx="6035040" cy="1554480"/>
          </a:xfrm>
          <a:prstGeom prst="rect">
            <a:avLst/>
          </a:prstGeom>
          <a:noFill/>
          <a:ln/>
        </p:spPr>
        <p:txBody>
          <a:bodyPr wrap="square" lIns="0" tIns="0" rIns="0" bIns="0" rtlCol="0" anchor="t"/>
          <a:lstStyle/>
          <a:p>
            <a:pPr indent="0" marL="0">
              <a:buNone/>
            </a:pPr>
            <a:r>
              <a:rPr lang="en-US" sz="4400" b="1" dirty="0">
                <a:solidFill>
                  <a:srgbClr val="EEF1F4"/>
                </a:solidFill>
                <a:latin typeface="Cambria" pitchFamily="34" charset="0"/>
                <a:ea typeface="Cambria" pitchFamily="34" charset="-122"/>
                <a:cs typeface="Cambria" pitchFamily="34" charset="-120"/>
              </a:rPr>
              <a:t>Stack D, section by section</a:t>
            </a:r>
            <a:endParaRPr lang="en-US" sz="4400" dirty="0"/>
          </a:p>
        </p:txBody>
      </p:sp>
      <p:sp>
        <p:nvSpPr>
          <p:cNvPr id="4" name="Text 2"/>
          <p:cNvSpPr txBox="1"/>
          <p:nvPr/>
        </p:nvSpPr>
        <p:spPr>
          <a:xfrm>
            <a:off x="640080" y="3291840"/>
            <a:ext cx="5760720" cy="1097280"/>
          </a:xfrm>
          <a:prstGeom prst="rect">
            <a:avLst/>
          </a:prstGeom>
          <a:noFill/>
          <a:ln/>
        </p:spPr>
        <p:txBody>
          <a:bodyPr wrap="square" lIns="0" tIns="0" rIns="0" bIns="0" rtlCol="0" anchor="t"/>
          <a:lstStyle/>
          <a:p>
            <a:pPr indent="0" marL="0">
              <a:buNone/>
            </a:pPr>
            <a:r>
              <a:rPr lang="en-US" sz="1700" dirty="0">
                <a:solidFill>
                  <a:srgbClr val="A3AEBB"/>
                </a:solidFill>
                <a:latin typeface="Calibri" pitchFamily="34" charset="0"/>
                <a:ea typeface="Calibri" pitchFamily="34" charset="-122"/>
                <a:cs typeface="Calibri" pitchFamily="34" charset="-120"/>
              </a:rPr>
              <a:t>The section map: how the original design splits into seven sections, and where each of the 32 review recommendations lands.</a:t>
            </a:r>
            <a:endParaRPr lang="en-US" sz="1700" dirty="0"/>
          </a:p>
        </p:txBody>
      </p:sp>
      <p:sp>
        <p:nvSpPr>
          <p:cNvPr id="5" name="Text 3"/>
          <p:cNvSpPr txBox="1"/>
          <p:nvPr/>
        </p:nvSpPr>
        <p:spPr>
          <a:xfrm>
            <a:off x="640080" y="5120640"/>
            <a:ext cx="5852160" cy="914400"/>
          </a:xfrm>
          <a:prstGeom prst="rect">
            <a:avLst/>
          </a:prstGeom>
          <a:noFill/>
          <a:ln/>
        </p:spPr>
        <p:txBody>
          <a:bodyPr wrap="square" lIns="0" tIns="0" rIns="0" bIns="0" rtlCol="0" anchor="t"/>
          <a:lstStyle/>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XAUUSD  ·  M5 / M15</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Companion to STACK-D-ARCHITECTURE-REVIEW-AND-RECOMMENDATIONS.md</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29 September 2026</a:t>
            </a:r>
            <a:endParaRPr lang="en-US" sz="1200" dirty="0"/>
          </a:p>
        </p:txBody>
      </p:sp>
      <p:sp>
        <p:nvSpPr>
          <p:cNvPr id="6" name="Shape 4"/>
          <p:cNvSpPr/>
          <p:nvPr/>
        </p:nvSpPr>
        <p:spPr>
          <a:xfrm>
            <a:off x="6903720" y="1188720"/>
            <a:ext cx="4846320" cy="1700784"/>
          </a:xfrm>
          <a:prstGeom prst="roundRect">
            <a:avLst>
              <a:gd name="adj" fmla="val 3226"/>
            </a:avLst>
          </a:prstGeom>
          <a:solidFill>
            <a:srgbClr val="15302D"/>
          </a:solidFill>
          <a:ln w="9525">
            <a:solidFill>
              <a:srgbClr val="15302D"/>
            </a:solidFill>
            <a:prstDash val="solid"/>
          </a:ln>
        </p:spPr>
      </p:sp>
      <p:sp>
        <p:nvSpPr>
          <p:cNvPr id="7" name="Text 5"/>
          <p:cNvSpPr txBox="1"/>
          <p:nvPr/>
        </p:nvSpPr>
        <p:spPr>
          <a:xfrm>
            <a:off x="7031736" y="1261872"/>
            <a:ext cx="3004718" cy="219456"/>
          </a:xfrm>
          <a:prstGeom prst="rect">
            <a:avLst/>
          </a:prstGeom>
          <a:noFill/>
          <a:ln/>
        </p:spPr>
        <p:txBody>
          <a:bodyPr wrap="square" lIns="0" tIns="0" rIns="0" bIns="0" rtlCol="0" anchor="t"/>
          <a:lstStyle/>
          <a:p>
            <a:pPr indent="0" marL="0">
              <a:buNone/>
            </a:pPr>
            <a:r>
              <a:rPr lang="en-US" sz="850" b="1" spc="200" kern="0" dirty="0">
                <a:solidFill>
                  <a:srgbClr val="5CC2B2"/>
                </a:solidFill>
                <a:latin typeface="Calibri" pitchFamily="34" charset="0"/>
                <a:ea typeface="Calibri" pitchFamily="34" charset="-122"/>
                <a:cs typeface="Calibri" pitchFamily="34" charset="-120"/>
              </a:rPr>
              <a:t>EVERY 5-MINUTE CYCLE</a:t>
            </a:r>
            <a:endParaRPr lang="en-US" sz="850" dirty="0"/>
          </a:p>
        </p:txBody>
      </p:sp>
      <p:sp>
        <p:nvSpPr>
          <p:cNvPr id="8" name="Text 6"/>
          <p:cNvSpPr txBox="1"/>
          <p:nvPr/>
        </p:nvSpPr>
        <p:spPr>
          <a:xfrm>
            <a:off x="9084564" y="1261872"/>
            <a:ext cx="2537460"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runs whether or not anyone asks</a:t>
            </a:r>
            <a:endParaRPr lang="en-US" sz="800" dirty="0"/>
          </a:p>
        </p:txBody>
      </p:sp>
      <p:sp>
        <p:nvSpPr>
          <p:cNvPr id="9" name="Shape 7"/>
          <p:cNvSpPr/>
          <p:nvPr/>
        </p:nvSpPr>
        <p:spPr>
          <a:xfrm>
            <a:off x="7031736" y="1554480"/>
            <a:ext cx="1347216" cy="1207008"/>
          </a:xfrm>
          <a:prstGeom prst="roundRect">
            <a:avLst>
              <a:gd name="adj" fmla="val 5303"/>
            </a:avLst>
          </a:prstGeom>
          <a:solidFill>
            <a:srgbClr val="1D242E"/>
          </a:solidFill>
          <a:ln w="9525">
            <a:solidFill>
              <a:srgbClr val="323C49"/>
            </a:solidFill>
            <a:prstDash val="solid"/>
          </a:ln>
        </p:spPr>
      </p:sp>
      <p:sp>
        <p:nvSpPr>
          <p:cNvPr id="10" name="Shape 8"/>
          <p:cNvSpPr/>
          <p:nvPr/>
        </p:nvSpPr>
        <p:spPr>
          <a:xfrm>
            <a:off x="7123176" y="1965960"/>
            <a:ext cx="384048" cy="384048"/>
          </a:xfrm>
          <a:prstGeom prst="ellipse">
            <a:avLst/>
          </a:prstGeom>
          <a:solidFill>
            <a:srgbClr val="5CC2B2"/>
          </a:solidFill>
          <a:ln w="15875">
            <a:solidFill>
              <a:srgbClr val="5CC2B2"/>
            </a:solidFill>
            <a:prstDash val="solid"/>
          </a:ln>
        </p:spPr>
      </p:sp>
      <p:sp>
        <p:nvSpPr>
          <p:cNvPr id="11" name="Text 9"/>
          <p:cNvSpPr txBox="1"/>
          <p:nvPr/>
        </p:nvSpPr>
        <p:spPr>
          <a:xfrm>
            <a:off x="7123176"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598664" y="1554480"/>
            <a:ext cx="725424" cy="120700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Market data &amp; chart</a:t>
            </a:r>
            <a:endParaRPr lang="en-US" sz="1000" dirty="0"/>
          </a:p>
        </p:txBody>
      </p:sp>
      <p:sp>
        <p:nvSpPr>
          <p:cNvPr id="13" name="Shape 11"/>
          <p:cNvSpPr/>
          <p:nvPr/>
        </p:nvSpPr>
        <p:spPr>
          <a:xfrm>
            <a:off x="8415528" y="2157984"/>
            <a:ext cx="201168" cy="0"/>
          </a:xfrm>
          <a:prstGeom prst="line">
            <a:avLst/>
          </a:prstGeom>
          <a:noFill/>
          <a:ln w="15875">
            <a:solidFill>
              <a:srgbClr val="7D8A99"/>
            </a:solidFill>
            <a:prstDash val="solid"/>
            <a:tailEnd type="triangle"/>
          </a:ln>
        </p:spPr>
      </p:sp>
      <p:sp>
        <p:nvSpPr>
          <p:cNvPr id="14" name="Shape 12"/>
          <p:cNvSpPr/>
          <p:nvPr/>
        </p:nvSpPr>
        <p:spPr>
          <a:xfrm>
            <a:off x="8653272" y="1554480"/>
            <a:ext cx="1347216" cy="1207008"/>
          </a:xfrm>
          <a:prstGeom prst="roundRect">
            <a:avLst>
              <a:gd name="adj" fmla="val 5303"/>
            </a:avLst>
          </a:prstGeom>
          <a:solidFill>
            <a:srgbClr val="1D242E"/>
          </a:solidFill>
          <a:ln w="9525">
            <a:solidFill>
              <a:srgbClr val="323C49"/>
            </a:solidFill>
            <a:prstDash val="solid"/>
          </a:ln>
        </p:spPr>
      </p:sp>
      <p:sp>
        <p:nvSpPr>
          <p:cNvPr id="15" name="Shape 13"/>
          <p:cNvSpPr/>
          <p:nvPr/>
        </p:nvSpPr>
        <p:spPr>
          <a:xfrm>
            <a:off x="8744712" y="1965960"/>
            <a:ext cx="384048" cy="384048"/>
          </a:xfrm>
          <a:prstGeom prst="ellipse">
            <a:avLst/>
          </a:prstGeom>
          <a:solidFill>
            <a:srgbClr val="5CC2B2"/>
          </a:solidFill>
          <a:ln w="15875">
            <a:solidFill>
              <a:srgbClr val="5CC2B2"/>
            </a:solidFill>
            <a:prstDash val="solid"/>
          </a:ln>
        </p:spPr>
      </p:sp>
      <p:sp>
        <p:nvSpPr>
          <p:cNvPr id="16" name="Text 14"/>
          <p:cNvSpPr txBox="1"/>
          <p:nvPr/>
        </p:nvSpPr>
        <p:spPr>
          <a:xfrm>
            <a:off x="8744712"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9220200" y="1554480"/>
            <a:ext cx="725424" cy="120700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Sensors (MCDs)</a:t>
            </a:r>
            <a:endParaRPr lang="en-US" sz="1000" dirty="0"/>
          </a:p>
        </p:txBody>
      </p:sp>
      <p:sp>
        <p:nvSpPr>
          <p:cNvPr id="18" name="Shape 16"/>
          <p:cNvSpPr/>
          <p:nvPr/>
        </p:nvSpPr>
        <p:spPr>
          <a:xfrm>
            <a:off x="10037064" y="2157984"/>
            <a:ext cx="201168" cy="0"/>
          </a:xfrm>
          <a:prstGeom prst="line">
            <a:avLst/>
          </a:prstGeom>
          <a:noFill/>
          <a:ln w="15875">
            <a:solidFill>
              <a:srgbClr val="7D8A99"/>
            </a:solidFill>
            <a:prstDash val="solid"/>
            <a:tailEnd type="triangle"/>
          </a:ln>
        </p:spPr>
      </p:sp>
      <p:sp>
        <p:nvSpPr>
          <p:cNvPr id="19" name="Shape 17"/>
          <p:cNvSpPr/>
          <p:nvPr/>
        </p:nvSpPr>
        <p:spPr>
          <a:xfrm>
            <a:off x="10274808" y="1554480"/>
            <a:ext cx="1347216" cy="1207008"/>
          </a:xfrm>
          <a:prstGeom prst="roundRect">
            <a:avLst>
              <a:gd name="adj" fmla="val 5303"/>
            </a:avLst>
          </a:prstGeom>
          <a:solidFill>
            <a:srgbClr val="1D242E"/>
          </a:solidFill>
          <a:ln w="9525">
            <a:solidFill>
              <a:srgbClr val="323C49"/>
            </a:solidFill>
            <a:prstDash val="solid"/>
          </a:ln>
        </p:spPr>
      </p:sp>
      <p:sp>
        <p:nvSpPr>
          <p:cNvPr id="20" name="Shape 18"/>
          <p:cNvSpPr/>
          <p:nvPr/>
        </p:nvSpPr>
        <p:spPr>
          <a:xfrm>
            <a:off x="10366248" y="1965960"/>
            <a:ext cx="384048" cy="384048"/>
          </a:xfrm>
          <a:prstGeom prst="ellipse">
            <a:avLst/>
          </a:prstGeom>
          <a:solidFill>
            <a:srgbClr val="5CC2B2"/>
          </a:solidFill>
          <a:ln w="15875">
            <a:solidFill>
              <a:srgbClr val="5CC2B2"/>
            </a:solidFill>
            <a:prstDash val="solid"/>
          </a:ln>
        </p:spPr>
      </p:sp>
      <p:sp>
        <p:nvSpPr>
          <p:cNvPr id="21" name="Text 19"/>
          <p:cNvSpPr txBox="1"/>
          <p:nvPr/>
        </p:nvSpPr>
        <p:spPr>
          <a:xfrm>
            <a:off x="10366248"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10841736" y="1554480"/>
            <a:ext cx="725424" cy="120700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Synthesis &amp; entry zones</a:t>
            </a:r>
            <a:endParaRPr lang="en-US" sz="1000" dirty="0"/>
          </a:p>
        </p:txBody>
      </p:sp>
      <p:sp>
        <p:nvSpPr>
          <p:cNvPr id="23" name="Shape 21"/>
          <p:cNvSpPr/>
          <p:nvPr/>
        </p:nvSpPr>
        <p:spPr>
          <a:xfrm>
            <a:off x="6903720" y="3273552"/>
            <a:ext cx="4846320" cy="1700784"/>
          </a:xfrm>
          <a:prstGeom prst="roundRect">
            <a:avLst>
              <a:gd name="adj" fmla="val 3226"/>
            </a:avLst>
          </a:prstGeom>
          <a:solidFill>
            <a:srgbClr val="17243A"/>
          </a:solidFill>
          <a:ln w="9525">
            <a:solidFill>
              <a:srgbClr val="17243A"/>
            </a:solidFill>
            <a:prstDash val="solid"/>
          </a:ln>
        </p:spPr>
      </p:sp>
      <p:sp>
        <p:nvSpPr>
          <p:cNvPr id="24" name="Text 22"/>
          <p:cNvSpPr txBox="1"/>
          <p:nvPr/>
        </p:nvSpPr>
        <p:spPr>
          <a:xfrm>
            <a:off x="7031736" y="3346704"/>
            <a:ext cx="3004718" cy="219456"/>
          </a:xfrm>
          <a:prstGeom prst="rect">
            <a:avLst/>
          </a:prstGeom>
          <a:noFill/>
          <a:ln/>
        </p:spPr>
        <p:txBody>
          <a:bodyPr wrap="square" lIns="0" tIns="0" rIns="0" bIns="0" rtlCol="0" anchor="t"/>
          <a:lstStyle/>
          <a:p>
            <a:pPr indent="0" marL="0">
              <a:buNone/>
            </a:pPr>
            <a:r>
              <a:rPr lang="en-US" sz="850" b="1" spc="200" kern="0" dirty="0">
                <a:solidFill>
                  <a:srgbClr val="7FA8E8"/>
                </a:solidFill>
                <a:latin typeface="Calibri" pitchFamily="34" charset="0"/>
                <a:ea typeface="Calibri" pitchFamily="34" charset="-122"/>
                <a:cs typeface="Calibri" pitchFamily="34" charset="-120"/>
              </a:rPr>
              <a:t>PER USER QUESTION</a:t>
            </a:r>
            <a:endParaRPr lang="en-US" sz="850" dirty="0"/>
          </a:p>
        </p:txBody>
      </p:sp>
      <p:sp>
        <p:nvSpPr>
          <p:cNvPr id="25" name="Text 23"/>
          <p:cNvSpPr txBox="1"/>
          <p:nvPr/>
        </p:nvSpPr>
        <p:spPr>
          <a:xfrm>
            <a:off x="9084564" y="3346704"/>
            <a:ext cx="2537460"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reads the latest complete cycle</a:t>
            </a:r>
            <a:endParaRPr lang="en-US" sz="800" dirty="0"/>
          </a:p>
        </p:txBody>
      </p:sp>
      <p:sp>
        <p:nvSpPr>
          <p:cNvPr id="26" name="Shape 24"/>
          <p:cNvSpPr/>
          <p:nvPr/>
        </p:nvSpPr>
        <p:spPr>
          <a:xfrm>
            <a:off x="7031736" y="3639312"/>
            <a:ext cx="1347216" cy="1207008"/>
          </a:xfrm>
          <a:prstGeom prst="roundRect">
            <a:avLst>
              <a:gd name="adj" fmla="val 5303"/>
            </a:avLst>
          </a:prstGeom>
          <a:solidFill>
            <a:srgbClr val="1D242E"/>
          </a:solidFill>
          <a:ln w="9525">
            <a:solidFill>
              <a:srgbClr val="323C49"/>
            </a:solidFill>
            <a:prstDash val="solid"/>
          </a:ln>
        </p:spPr>
      </p:sp>
      <p:sp>
        <p:nvSpPr>
          <p:cNvPr id="27" name="Shape 25"/>
          <p:cNvSpPr/>
          <p:nvPr/>
        </p:nvSpPr>
        <p:spPr>
          <a:xfrm>
            <a:off x="7123176" y="4050792"/>
            <a:ext cx="384048" cy="384048"/>
          </a:xfrm>
          <a:prstGeom prst="ellipse">
            <a:avLst/>
          </a:prstGeom>
          <a:solidFill>
            <a:srgbClr val="7FA8E8"/>
          </a:solidFill>
          <a:ln w="15875">
            <a:solidFill>
              <a:srgbClr val="7FA8E8"/>
            </a:solidFill>
            <a:prstDash val="solid"/>
          </a:ln>
        </p:spPr>
      </p:sp>
      <p:sp>
        <p:nvSpPr>
          <p:cNvPr id="28" name="Text 26"/>
          <p:cNvSpPr txBox="1"/>
          <p:nvPr/>
        </p:nvSpPr>
        <p:spPr>
          <a:xfrm>
            <a:off x="7123176"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29" name="Text 27"/>
          <p:cNvSpPr txBox="1"/>
          <p:nvPr/>
        </p:nvSpPr>
        <p:spPr>
          <a:xfrm>
            <a:off x="7598664" y="3639312"/>
            <a:ext cx="725424" cy="120700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Intake, routing &amp; knowledge</a:t>
            </a:r>
            <a:endParaRPr lang="en-US" sz="1000" dirty="0"/>
          </a:p>
        </p:txBody>
      </p:sp>
      <p:sp>
        <p:nvSpPr>
          <p:cNvPr id="30" name="Shape 28"/>
          <p:cNvSpPr/>
          <p:nvPr/>
        </p:nvSpPr>
        <p:spPr>
          <a:xfrm>
            <a:off x="8415528" y="4242816"/>
            <a:ext cx="201168" cy="0"/>
          </a:xfrm>
          <a:prstGeom prst="line">
            <a:avLst/>
          </a:prstGeom>
          <a:noFill/>
          <a:ln w="15875">
            <a:solidFill>
              <a:srgbClr val="7D8A99"/>
            </a:solidFill>
            <a:prstDash val="solid"/>
            <a:tailEnd type="triangle"/>
          </a:ln>
        </p:spPr>
      </p:sp>
      <p:sp>
        <p:nvSpPr>
          <p:cNvPr id="31" name="Shape 29"/>
          <p:cNvSpPr/>
          <p:nvPr/>
        </p:nvSpPr>
        <p:spPr>
          <a:xfrm>
            <a:off x="8653272" y="3639312"/>
            <a:ext cx="1347216" cy="1207008"/>
          </a:xfrm>
          <a:prstGeom prst="roundRect">
            <a:avLst>
              <a:gd name="adj" fmla="val 5303"/>
            </a:avLst>
          </a:prstGeom>
          <a:solidFill>
            <a:srgbClr val="1D242E"/>
          </a:solidFill>
          <a:ln w="9525">
            <a:solidFill>
              <a:srgbClr val="323C49"/>
            </a:solidFill>
            <a:prstDash val="solid"/>
          </a:ln>
        </p:spPr>
      </p:sp>
      <p:sp>
        <p:nvSpPr>
          <p:cNvPr id="32" name="Shape 30"/>
          <p:cNvSpPr/>
          <p:nvPr/>
        </p:nvSpPr>
        <p:spPr>
          <a:xfrm>
            <a:off x="8744712" y="4050792"/>
            <a:ext cx="384048" cy="384048"/>
          </a:xfrm>
          <a:prstGeom prst="ellipse">
            <a:avLst/>
          </a:prstGeom>
          <a:solidFill>
            <a:srgbClr val="7FA8E8"/>
          </a:solidFill>
          <a:ln w="15875">
            <a:solidFill>
              <a:srgbClr val="7FA8E8"/>
            </a:solidFill>
            <a:prstDash val="solid"/>
          </a:ln>
        </p:spPr>
      </p:sp>
      <p:sp>
        <p:nvSpPr>
          <p:cNvPr id="33" name="Text 31"/>
          <p:cNvSpPr txBox="1"/>
          <p:nvPr/>
        </p:nvSpPr>
        <p:spPr>
          <a:xfrm>
            <a:off x="8744712"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34" name="Text 32"/>
          <p:cNvSpPr txBox="1"/>
          <p:nvPr/>
        </p:nvSpPr>
        <p:spPr>
          <a:xfrm>
            <a:off x="9220200" y="3639312"/>
            <a:ext cx="725424" cy="120700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Prompt &amp; AI reply</a:t>
            </a:r>
            <a:endParaRPr lang="en-US" sz="1000" dirty="0"/>
          </a:p>
        </p:txBody>
      </p:sp>
      <p:sp>
        <p:nvSpPr>
          <p:cNvPr id="35" name="Shape 33"/>
          <p:cNvSpPr/>
          <p:nvPr/>
        </p:nvSpPr>
        <p:spPr>
          <a:xfrm>
            <a:off x="10037064" y="4242816"/>
            <a:ext cx="201168" cy="0"/>
          </a:xfrm>
          <a:prstGeom prst="line">
            <a:avLst/>
          </a:prstGeom>
          <a:noFill/>
          <a:ln w="15875">
            <a:solidFill>
              <a:srgbClr val="7D8A99"/>
            </a:solidFill>
            <a:prstDash val="solid"/>
            <a:tailEnd type="triangle"/>
          </a:ln>
        </p:spPr>
      </p:sp>
      <p:sp>
        <p:nvSpPr>
          <p:cNvPr id="36" name="Shape 34"/>
          <p:cNvSpPr/>
          <p:nvPr/>
        </p:nvSpPr>
        <p:spPr>
          <a:xfrm>
            <a:off x="10274808" y="3639312"/>
            <a:ext cx="1347216" cy="1207008"/>
          </a:xfrm>
          <a:prstGeom prst="roundRect">
            <a:avLst>
              <a:gd name="adj" fmla="val 5303"/>
            </a:avLst>
          </a:prstGeom>
          <a:solidFill>
            <a:srgbClr val="1D242E"/>
          </a:solidFill>
          <a:ln w="9525">
            <a:solidFill>
              <a:srgbClr val="323C49"/>
            </a:solidFill>
            <a:prstDash val="solid"/>
          </a:ln>
        </p:spPr>
      </p:sp>
      <p:sp>
        <p:nvSpPr>
          <p:cNvPr id="37" name="Shape 35"/>
          <p:cNvSpPr/>
          <p:nvPr/>
        </p:nvSpPr>
        <p:spPr>
          <a:xfrm>
            <a:off x="10366248" y="4050792"/>
            <a:ext cx="384048" cy="384048"/>
          </a:xfrm>
          <a:prstGeom prst="ellipse">
            <a:avLst/>
          </a:prstGeom>
          <a:solidFill>
            <a:srgbClr val="7FA8E8"/>
          </a:solidFill>
          <a:ln w="15875">
            <a:solidFill>
              <a:srgbClr val="7FA8E8"/>
            </a:solidFill>
            <a:prstDash val="solid"/>
          </a:ln>
        </p:spPr>
      </p:sp>
      <p:sp>
        <p:nvSpPr>
          <p:cNvPr id="38" name="Text 36"/>
          <p:cNvSpPr txBox="1"/>
          <p:nvPr/>
        </p:nvSpPr>
        <p:spPr>
          <a:xfrm>
            <a:off x="10366248"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39" name="Text 37"/>
          <p:cNvSpPr txBox="1"/>
          <p:nvPr/>
        </p:nvSpPr>
        <p:spPr>
          <a:xfrm>
            <a:off x="10841736" y="3639312"/>
            <a:ext cx="725424" cy="120700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Engine 4 &amp; Report 2</a:t>
            </a:r>
            <a:endParaRPr lang="en-US" sz="1000" dirty="0"/>
          </a:p>
        </p:txBody>
      </p:sp>
      <p:sp>
        <p:nvSpPr>
          <p:cNvPr id="40" name="Shape 38"/>
          <p:cNvSpPr/>
          <p:nvPr/>
        </p:nvSpPr>
        <p:spPr>
          <a:xfrm>
            <a:off x="9326880" y="2916936"/>
            <a:ext cx="0" cy="329184"/>
          </a:xfrm>
          <a:prstGeom prst="line">
            <a:avLst/>
          </a:prstGeom>
          <a:noFill/>
          <a:ln w="15875">
            <a:solidFill>
              <a:srgbClr val="7D8A99"/>
            </a:solidFill>
            <a:prstDash val="solid"/>
            <a:tailEnd type="triangle"/>
          </a:ln>
        </p:spPr>
      </p:sp>
      <p:sp>
        <p:nvSpPr>
          <p:cNvPr id="41" name="Text 39"/>
          <p:cNvSpPr txBox="1"/>
          <p:nvPr/>
        </p:nvSpPr>
        <p:spPr>
          <a:xfrm>
            <a:off x="9418320" y="2916936"/>
            <a:ext cx="2240280" cy="329184"/>
          </a:xfrm>
          <a:prstGeom prst="rect">
            <a:avLst/>
          </a:prstGeom>
          <a:noFill/>
          <a:ln/>
        </p:spPr>
        <p:txBody>
          <a:bodyPr wrap="square" lIns="0" tIns="0" rIns="0" bIns="0" rtlCol="0" anchor="ctr"/>
          <a:lstStyle/>
          <a:p>
            <a:pPr indent="0" marL="0">
              <a:buNone/>
            </a:pPr>
            <a:r>
              <a:rPr lang="en-US" sz="850" i="1" dirty="0">
                <a:solidFill>
                  <a:srgbClr val="A3AEBB"/>
                </a:solidFill>
                <a:latin typeface="Calibri" pitchFamily="34" charset="0"/>
                <a:ea typeface="Calibri" pitchFamily="34" charset="-122"/>
                <a:cs typeface="Calibri" pitchFamily="34" charset="-120"/>
              </a:rPr>
              <a:t>latest complete cycle (read-only)</a:t>
            </a:r>
            <a:endParaRPr lang="en-US" sz="850" dirty="0"/>
          </a:p>
        </p:txBody>
      </p:sp>
      <p:sp>
        <p:nvSpPr>
          <p:cNvPr id="42" name="Shape 40"/>
          <p:cNvSpPr/>
          <p:nvPr/>
        </p:nvSpPr>
        <p:spPr>
          <a:xfrm>
            <a:off x="6903720" y="5102352"/>
            <a:ext cx="4846320" cy="566928"/>
          </a:xfrm>
          <a:prstGeom prst="roundRect">
            <a:avLst>
              <a:gd name="adj" fmla="val 9677"/>
            </a:avLst>
          </a:prstGeom>
          <a:solidFill>
            <a:srgbClr val="231E33"/>
          </a:solidFill>
          <a:ln w="9525">
            <a:solidFill>
              <a:srgbClr val="231E33"/>
            </a:solidFill>
            <a:prstDash val="solid"/>
          </a:ln>
        </p:spPr>
      </p:sp>
      <p:sp>
        <p:nvSpPr>
          <p:cNvPr id="43" name="Shape 41"/>
          <p:cNvSpPr/>
          <p:nvPr/>
        </p:nvSpPr>
        <p:spPr>
          <a:xfrm>
            <a:off x="7031736" y="5210068"/>
            <a:ext cx="351495" cy="351495"/>
          </a:xfrm>
          <a:prstGeom prst="ellipse">
            <a:avLst/>
          </a:prstGeom>
          <a:solidFill>
            <a:srgbClr val="B7A3E0"/>
          </a:solidFill>
          <a:ln w="15875">
            <a:solidFill>
              <a:srgbClr val="B7A3E0"/>
            </a:solidFill>
            <a:prstDash val="solid"/>
          </a:ln>
        </p:spPr>
      </p:sp>
      <p:sp>
        <p:nvSpPr>
          <p:cNvPr id="44" name="Text 42"/>
          <p:cNvSpPr txBox="1"/>
          <p:nvPr/>
        </p:nvSpPr>
        <p:spPr>
          <a:xfrm>
            <a:off x="7031736" y="5210068"/>
            <a:ext cx="351495" cy="351495"/>
          </a:xfrm>
          <a:prstGeom prst="rect">
            <a:avLst/>
          </a:prstGeom>
          <a:noFill/>
          <a:ln/>
        </p:spPr>
        <p:txBody>
          <a:bodyPr wrap="square" lIns="0" tIns="0" rIns="0" bIns="0" rtlCol="0" anchor="ctr"/>
          <a:lstStyle/>
          <a:p>
            <a:pPr algn="ctr" indent="0" marL="0">
              <a:buNone/>
            </a:pPr>
            <a:r>
              <a:rPr lang="en-US" sz="1000" b="1" dirty="0">
                <a:solidFill>
                  <a:srgbClr val="0F1318"/>
                </a:solidFill>
                <a:latin typeface="Cambria" pitchFamily="34" charset="0"/>
                <a:ea typeface="Cambria" pitchFamily="34" charset="-122"/>
                <a:cs typeface="Cambria" pitchFamily="34" charset="-120"/>
              </a:rPr>
              <a:t>7</a:t>
            </a:r>
            <a:endParaRPr lang="en-US" sz="1000" dirty="0"/>
          </a:p>
        </p:txBody>
      </p:sp>
      <p:sp>
        <p:nvSpPr>
          <p:cNvPr id="45" name="Text 43"/>
          <p:cNvSpPr txBox="1"/>
          <p:nvPr/>
        </p:nvSpPr>
        <p:spPr>
          <a:xfrm>
            <a:off x="7492959" y="5102352"/>
            <a:ext cx="4037625" cy="56692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Platform &amp; governance</a:t>
            </a:r>
            <a:pPr indent="0" marL="0">
              <a:buNone/>
            </a:pPr>
            <a:r>
              <a:rPr lang="en-US" sz="1000" i="1" dirty="0">
                <a:solidFill>
                  <a:srgbClr val="A3AEBB"/>
                </a:solidFill>
                <a:latin typeface="Calibri" pitchFamily="34" charset="0"/>
                <a:ea typeface="Calibri" pitchFamily="34" charset="-122"/>
                <a:cs typeface="Calibri" pitchFamily="34" charset="-120"/>
              </a:rPr>
              <a:t>   across both clocks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45720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HOW THIS SERIES WORKS</a:t>
            </a:r>
            <a:endParaRPr lang="en-US" sz="1100" dirty="0"/>
          </a:p>
        </p:txBody>
      </p:sp>
      <p:sp>
        <p:nvSpPr>
          <p:cNvPr id="3" name="Text 1"/>
          <p:cNvSpPr txBox="1"/>
          <p:nvPr/>
        </p:nvSpPr>
        <p:spPr>
          <a:xfrm>
            <a:off x="457200" y="566928"/>
            <a:ext cx="1127729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One map, then one section at a time</a:t>
            </a:r>
            <a:endParaRPr lang="en-US" sz="2800" dirty="0"/>
          </a:p>
        </p:txBody>
      </p:sp>
      <p:sp>
        <p:nvSpPr>
          <p:cNvPr id="4" name="Text 2"/>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457200" y="1517904"/>
            <a:ext cx="566928" cy="566928"/>
          </a:xfrm>
          <a:prstGeom prst="ellipse">
            <a:avLst/>
          </a:prstGeom>
          <a:solidFill>
            <a:srgbClr val="262F3B"/>
          </a:solidFill>
          <a:ln w="12700">
            <a:solidFill>
              <a:srgbClr val="262F3B"/>
            </a:solidFill>
            <a:prstDash val="solid"/>
          </a:ln>
        </p:spPr>
      </p:sp>
      <p:pic>
        <p:nvPicPr>
          <p:cNvPr id="7" name="Image 0" descr="preencoded.png">    </p:cNvPr>
          <p:cNvPicPr>
            <a:picLocks noChangeAspect="1"/>
          </p:cNvPicPr>
          <p:nvPr/>
        </p:nvPicPr>
        <p:blipFill>
          <a:blip r:embed="rId1"/>
          <a:stretch>
            <a:fillRect/>
          </a:stretch>
        </p:blipFill>
        <p:spPr>
          <a:xfrm>
            <a:off x="587593" y="1648297"/>
            <a:ext cx="306141" cy="306141"/>
          </a:xfrm>
          <a:prstGeom prst="rect">
            <a:avLst/>
          </a:prstGeom>
        </p:spPr>
      </p:pic>
      <p:sp>
        <p:nvSpPr>
          <p:cNvPr id="8" name="Text 4"/>
          <p:cNvSpPr txBox="1"/>
          <p:nvPr/>
        </p:nvSpPr>
        <p:spPr>
          <a:xfrm>
            <a:off x="1234440" y="1481328"/>
            <a:ext cx="5029200" cy="329184"/>
          </a:xfrm>
          <a:prstGeom prst="rect">
            <a:avLst/>
          </a:prstGeom>
          <a:noFill/>
          <a:ln/>
        </p:spPr>
        <p:txBody>
          <a:bodyPr wrap="square" lIns="0" tIns="0" rIns="0" bIns="0" rtlCol="0" anchor="t"/>
          <a:lstStyle/>
          <a:p>
            <a:pPr indent="0" marL="0">
              <a:buNone/>
            </a:pPr>
            <a:r>
              <a:rPr lang="en-US" sz="1600" b="1" dirty="0">
                <a:solidFill>
                  <a:srgbClr val="EEF1F4"/>
                </a:solidFill>
                <a:latin typeface="Calibri" pitchFamily="34" charset="0"/>
                <a:ea typeface="Calibri" pitchFamily="34" charset="-122"/>
                <a:cs typeface="Calibri" pitchFamily="34" charset="-120"/>
              </a:rPr>
              <a:t>This deck fixes the map</a:t>
            </a:r>
            <a:endParaRPr lang="en-US" sz="1600" dirty="0"/>
          </a:p>
        </p:txBody>
      </p:sp>
      <p:sp>
        <p:nvSpPr>
          <p:cNvPr id="9" name="Text 5"/>
          <p:cNvSpPr txBox="1"/>
          <p:nvPr/>
        </p:nvSpPr>
        <p:spPr>
          <a:xfrm>
            <a:off x="1234440" y="1847088"/>
            <a:ext cx="5029200" cy="822960"/>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The original Stack D is split into seven sections. Each of the 32 recommendations gets exactly one home section, so nothing is described twice.</a:t>
            </a:r>
            <a:endParaRPr lang="en-US" sz="1250" dirty="0"/>
          </a:p>
        </p:txBody>
      </p:sp>
      <p:sp>
        <p:nvSpPr>
          <p:cNvPr id="10" name="Shape 6"/>
          <p:cNvSpPr/>
          <p:nvPr/>
        </p:nvSpPr>
        <p:spPr>
          <a:xfrm>
            <a:off x="457200" y="2816352"/>
            <a:ext cx="566928" cy="566928"/>
          </a:xfrm>
          <a:prstGeom prst="ellipse">
            <a:avLst/>
          </a:prstGeom>
          <a:solidFill>
            <a:srgbClr val="262F3B"/>
          </a:solidFill>
          <a:ln w="12700">
            <a:solidFill>
              <a:srgbClr val="262F3B"/>
            </a:solidFill>
            <a:prstDash val="solid"/>
          </a:ln>
        </p:spPr>
      </p:sp>
      <p:pic>
        <p:nvPicPr>
          <p:cNvPr id="11" name="Image 1" descr="preencoded.png">    </p:cNvPr>
          <p:cNvPicPr>
            <a:picLocks noChangeAspect="1"/>
          </p:cNvPicPr>
          <p:nvPr/>
        </p:nvPicPr>
        <p:blipFill>
          <a:blip r:embed="rId2"/>
          <a:stretch>
            <a:fillRect/>
          </a:stretch>
        </p:blipFill>
        <p:spPr>
          <a:xfrm>
            <a:off x="587593" y="2946745"/>
            <a:ext cx="306141" cy="306141"/>
          </a:xfrm>
          <a:prstGeom prst="rect">
            <a:avLst/>
          </a:prstGeom>
        </p:spPr>
      </p:pic>
      <p:sp>
        <p:nvSpPr>
          <p:cNvPr id="12" name="Text 7"/>
          <p:cNvSpPr txBox="1"/>
          <p:nvPr/>
        </p:nvSpPr>
        <p:spPr>
          <a:xfrm>
            <a:off x="1234440" y="2779776"/>
            <a:ext cx="5029200" cy="329184"/>
          </a:xfrm>
          <a:prstGeom prst="rect">
            <a:avLst/>
          </a:prstGeom>
          <a:noFill/>
          <a:ln/>
        </p:spPr>
        <p:txBody>
          <a:bodyPr wrap="square" lIns="0" tIns="0" rIns="0" bIns="0" rtlCol="0" anchor="t"/>
          <a:lstStyle/>
          <a:p>
            <a:pPr indent="0" marL="0">
              <a:buNone/>
            </a:pPr>
            <a:r>
              <a:rPr lang="en-US" sz="1600" b="1" dirty="0">
                <a:solidFill>
                  <a:srgbClr val="EEF1F4"/>
                </a:solidFill>
                <a:latin typeface="Calibri" pitchFamily="34" charset="0"/>
                <a:ea typeface="Calibri" pitchFamily="34" charset="-122"/>
                <a:cs typeface="Calibri" pitchFamily="34" charset="-120"/>
              </a:rPr>
              <a:t>One section deck at a time</a:t>
            </a:r>
            <a:endParaRPr lang="en-US" sz="1600" dirty="0"/>
          </a:p>
        </p:txBody>
      </p:sp>
      <p:sp>
        <p:nvSpPr>
          <p:cNvPr id="13" name="Text 8"/>
          <p:cNvSpPr txBox="1"/>
          <p:nvPr/>
        </p:nvSpPr>
        <p:spPr>
          <a:xfrm>
            <a:off x="1234440" y="3145536"/>
            <a:ext cx="5029200" cy="822960"/>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Built in dependency order. You settle a section’s decisions before the next deck is built, so each deck starts from settled inputs.</a:t>
            </a:r>
            <a:endParaRPr lang="en-US" sz="1250" dirty="0"/>
          </a:p>
        </p:txBody>
      </p:sp>
      <p:sp>
        <p:nvSpPr>
          <p:cNvPr id="14" name="Shape 9"/>
          <p:cNvSpPr/>
          <p:nvPr/>
        </p:nvSpPr>
        <p:spPr>
          <a:xfrm>
            <a:off x="457200" y="4114800"/>
            <a:ext cx="566928" cy="566928"/>
          </a:xfrm>
          <a:prstGeom prst="ellipse">
            <a:avLst/>
          </a:prstGeom>
          <a:solidFill>
            <a:srgbClr val="262F3B"/>
          </a:solidFill>
          <a:ln w="12700">
            <a:solidFill>
              <a:srgbClr val="262F3B"/>
            </a:solidFill>
            <a:prstDash val="solid"/>
          </a:ln>
        </p:spPr>
      </p:sp>
      <p:pic>
        <p:nvPicPr>
          <p:cNvPr id="15" name="Image 2" descr="preencoded.png">    </p:cNvPr>
          <p:cNvPicPr>
            <a:picLocks noChangeAspect="1"/>
          </p:cNvPicPr>
          <p:nvPr/>
        </p:nvPicPr>
        <p:blipFill>
          <a:blip r:embed="rId3"/>
          <a:stretch>
            <a:fillRect/>
          </a:stretch>
        </p:blipFill>
        <p:spPr>
          <a:xfrm>
            <a:off x="587593" y="4245193"/>
            <a:ext cx="306141" cy="306141"/>
          </a:xfrm>
          <a:prstGeom prst="rect">
            <a:avLst/>
          </a:prstGeom>
        </p:spPr>
      </p:pic>
      <p:sp>
        <p:nvSpPr>
          <p:cNvPr id="16" name="Text 10"/>
          <p:cNvSpPr txBox="1"/>
          <p:nvPr/>
        </p:nvSpPr>
        <p:spPr>
          <a:xfrm>
            <a:off x="1234440" y="4078224"/>
            <a:ext cx="5029200" cy="329184"/>
          </a:xfrm>
          <a:prstGeom prst="rect">
            <a:avLst/>
          </a:prstGeom>
          <a:noFill/>
          <a:ln/>
        </p:spPr>
        <p:txBody>
          <a:bodyPr wrap="square" lIns="0" tIns="0" rIns="0" bIns="0" rtlCol="0" anchor="t"/>
          <a:lstStyle/>
          <a:p>
            <a:pPr indent="0" marL="0">
              <a:buNone/>
            </a:pPr>
            <a:r>
              <a:rPr lang="en-US" sz="1600" b="1" dirty="0">
                <a:solidFill>
                  <a:srgbClr val="EEF1F4"/>
                </a:solidFill>
                <a:latin typeface="Calibri" pitchFamily="34" charset="0"/>
                <a:ea typeface="Calibri" pitchFamily="34" charset="-122"/>
                <a:cs typeface="Calibri" pitchFamily="34" charset="-120"/>
              </a:rPr>
              <a:t>Settled decks become the master document</a:t>
            </a:r>
            <a:endParaRPr lang="en-US" sz="1600" dirty="0"/>
          </a:p>
        </p:txBody>
      </p:sp>
      <p:sp>
        <p:nvSpPr>
          <p:cNvPr id="17" name="Text 11"/>
          <p:cNvSpPr txBox="1"/>
          <p:nvPr/>
        </p:nvSpPr>
        <p:spPr>
          <a:xfrm>
            <a:off x="1234440" y="4443984"/>
            <a:ext cx="5029200" cy="822960"/>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Each finished section becomes a chapter of one canonical architecture document, with its decisions in a running decision log.</a:t>
            </a:r>
            <a:endParaRPr lang="en-US" sz="1250" dirty="0"/>
          </a:p>
        </p:txBody>
      </p:sp>
      <p:sp>
        <p:nvSpPr>
          <p:cNvPr id="18" name="Text 12"/>
          <p:cNvSpPr txBox="1"/>
          <p:nvPr/>
        </p:nvSpPr>
        <p:spPr>
          <a:xfrm>
            <a:off x="6812280" y="1417320"/>
            <a:ext cx="2743200" cy="237744"/>
          </a:xfrm>
          <a:prstGeom prst="rect">
            <a:avLst/>
          </a:prstGeom>
          <a:noFill/>
          <a:ln/>
        </p:spPr>
        <p:txBody>
          <a:bodyPr wrap="square" lIns="0" tIns="0" rIns="0" bIns="0" rtlCol="0" anchor="t"/>
          <a:lstStyle/>
          <a:p>
            <a:pPr indent="0" marL="0">
              <a:buNone/>
            </a:pPr>
            <a:r>
              <a:rPr lang="en-US" sz="1000" b="1" spc="200" kern="0" dirty="0">
                <a:solidFill>
                  <a:srgbClr val="A3AEBB"/>
                </a:solidFill>
                <a:latin typeface="Calibri" pitchFamily="34" charset="0"/>
                <a:ea typeface="Calibri" pitchFamily="34" charset="-122"/>
                <a:cs typeface="Calibri" pitchFamily="34" charset="-120"/>
              </a:rPr>
              <a:t>THE SERIES</a:t>
            </a:r>
            <a:endParaRPr lang="en-US" sz="1000" dirty="0"/>
          </a:p>
        </p:txBody>
      </p:sp>
      <p:sp>
        <p:nvSpPr>
          <p:cNvPr id="19" name="Shape 13"/>
          <p:cNvSpPr/>
          <p:nvPr/>
        </p:nvSpPr>
        <p:spPr>
          <a:xfrm>
            <a:off x="6812280" y="1737360"/>
            <a:ext cx="4919472" cy="402336"/>
          </a:xfrm>
          <a:prstGeom prst="roundRect">
            <a:avLst>
              <a:gd name="adj" fmla="val 15909"/>
            </a:avLst>
          </a:prstGeom>
          <a:solidFill>
            <a:srgbClr val="1D242E"/>
          </a:solidFill>
          <a:ln w="9525">
            <a:solidFill>
              <a:srgbClr val="323C49"/>
            </a:solidFill>
            <a:prstDash val="solid"/>
          </a:ln>
        </p:spPr>
      </p:sp>
      <p:sp>
        <p:nvSpPr>
          <p:cNvPr id="20" name="Shape 14"/>
          <p:cNvSpPr/>
          <p:nvPr/>
        </p:nvSpPr>
        <p:spPr>
          <a:xfrm>
            <a:off x="6903720" y="1792224"/>
            <a:ext cx="292608" cy="292608"/>
          </a:xfrm>
          <a:prstGeom prst="ellipse">
            <a:avLst/>
          </a:prstGeom>
          <a:solidFill>
            <a:srgbClr val="E2B54E"/>
          </a:solidFill>
          <a:ln w="15875">
            <a:solidFill>
              <a:srgbClr val="E2B54E"/>
            </a:solidFill>
            <a:prstDash val="solid"/>
          </a:ln>
        </p:spPr>
      </p:sp>
      <p:sp>
        <p:nvSpPr>
          <p:cNvPr id="21" name="Text 15"/>
          <p:cNvSpPr txBox="1"/>
          <p:nvPr/>
        </p:nvSpPr>
        <p:spPr>
          <a:xfrm>
            <a:off x="6903720" y="1792224"/>
            <a:ext cx="292608" cy="29260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0</a:t>
            </a:r>
            <a:endParaRPr lang="en-US" sz="1100" dirty="0"/>
          </a:p>
        </p:txBody>
      </p:sp>
      <p:sp>
        <p:nvSpPr>
          <p:cNvPr id="22" name="Text 16"/>
          <p:cNvSpPr txBox="1"/>
          <p:nvPr/>
        </p:nvSpPr>
        <p:spPr>
          <a:xfrm>
            <a:off x="7315200" y="1737360"/>
            <a:ext cx="3474720" cy="402336"/>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Deck 0 · Section map (this deck)</a:t>
            </a:r>
            <a:endParaRPr lang="en-US" sz="1150" dirty="0"/>
          </a:p>
        </p:txBody>
      </p:sp>
      <p:sp>
        <p:nvSpPr>
          <p:cNvPr id="23" name="Shape 17"/>
          <p:cNvSpPr/>
          <p:nvPr/>
        </p:nvSpPr>
        <p:spPr>
          <a:xfrm>
            <a:off x="10927080" y="1828800"/>
            <a:ext cx="713232" cy="219456"/>
          </a:xfrm>
          <a:prstGeom prst="roundRect">
            <a:avLst>
              <a:gd name="adj" fmla="val 50000"/>
            </a:avLst>
          </a:prstGeom>
          <a:solidFill>
            <a:srgbClr val="F0A54A"/>
          </a:solidFill>
          <a:ln w="9525">
            <a:solidFill>
              <a:srgbClr val="F0A54A"/>
            </a:solidFill>
            <a:prstDash val="solid"/>
          </a:ln>
        </p:spPr>
      </p:sp>
      <p:sp>
        <p:nvSpPr>
          <p:cNvPr id="24" name="Text 18"/>
          <p:cNvSpPr txBox="1"/>
          <p:nvPr/>
        </p:nvSpPr>
        <p:spPr>
          <a:xfrm>
            <a:off x="10927080" y="1828800"/>
            <a:ext cx="713232" cy="219456"/>
          </a:xfrm>
          <a:prstGeom prst="rect">
            <a:avLst/>
          </a:prstGeom>
          <a:noFill/>
          <a:ln/>
        </p:spPr>
        <p:txBody>
          <a:bodyPr wrap="square" lIns="0" tIns="0" rIns="0" bIns="0" rtlCol="0" anchor="ctr"/>
          <a:lstStyle/>
          <a:p>
            <a:pPr algn="ctr" indent="0" marL="0">
              <a:buNone/>
            </a:pPr>
            <a:r>
              <a:rPr lang="en-US" sz="750" b="1" spc="100" kern="0" dirty="0">
                <a:solidFill>
                  <a:srgbClr val="0F1318"/>
                </a:solidFill>
                <a:latin typeface="Calibri" pitchFamily="34" charset="0"/>
                <a:ea typeface="Calibri" pitchFamily="34" charset="-122"/>
                <a:cs typeface="Calibri" pitchFamily="34" charset="-120"/>
              </a:rPr>
              <a:t>UPDATED</a:t>
            </a:r>
            <a:endParaRPr lang="en-US" sz="750" dirty="0"/>
          </a:p>
        </p:txBody>
      </p:sp>
      <p:sp>
        <p:nvSpPr>
          <p:cNvPr id="25" name="Shape 19"/>
          <p:cNvSpPr/>
          <p:nvPr/>
        </p:nvSpPr>
        <p:spPr>
          <a:xfrm>
            <a:off x="6812280" y="2212848"/>
            <a:ext cx="4919472" cy="402336"/>
          </a:xfrm>
          <a:prstGeom prst="roundRect">
            <a:avLst>
              <a:gd name="adj" fmla="val 15909"/>
            </a:avLst>
          </a:prstGeom>
          <a:solidFill>
            <a:srgbClr val="1D242E"/>
          </a:solidFill>
          <a:ln w="9525">
            <a:solidFill>
              <a:srgbClr val="323C49"/>
            </a:solidFill>
            <a:prstDash val="solid"/>
          </a:ln>
        </p:spPr>
      </p:sp>
      <p:sp>
        <p:nvSpPr>
          <p:cNvPr id="26" name="Shape 20"/>
          <p:cNvSpPr/>
          <p:nvPr/>
        </p:nvSpPr>
        <p:spPr>
          <a:xfrm>
            <a:off x="6903720" y="2267712"/>
            <a:ext cx="292608" cy="292608"/>
          </a:xfrm>
          <a:prstGeom prst="ellipse">
            <a:avLst/>
          </a:prstGeom>
          <a:solidFill>
            <a:srgbClr val="5CC2B2"/>
          </a:solidFill>
          <a:ln w="15875">
            <a:solidFill>
              <a:srgbClr val="5CC2B2"/>
            </a:solidFill>
            <a:prstDash val="solid"/>
          </a:ln>
        </p:spPr>
      </p:sp>
      <p:sp>
        <p:nvSpPr>
          <p:cNvPr id="27" name="Text 21"/>
          <p:cNvSpPr txBox="1"/>
          <p:nvPr/>
        </p:nvSpPr>
        <p:spPr>
          <a:xfrm>
            <a:off x="6903720" y="2267712"/>
            <a:ext cx="292608" cy="29260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28" name="Text 22"/>
          <p:cNvSpPr txBox="1"/>
          <p:nvPr/>
        </p:nvSpPr>
        <p:spPr>
          <a:xfrm>
            <a:off x="7315200" y="2212848"/>
            <a:ext cx="3474720" cy="402336"/>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Deck 1 · Market data &amp; chart</a:t>
            </a:r>
            <a:endParaRPr lang="en-US" sz="1150" dirty="0"/>
          </a:p>
        </p:txBody>
      </p:sp>
      <p:sp>
        <p:nvSpPr>
          <p:cNvPr id="29" name="Shape 23"/>
          <p:cNvSpPr/>
          <p:nvPr/>
        </p:nvSpPr>
        <p:spPr>
          <a:xfrm>
            <a:off x="10927080" y="2304288"/>
            <a:ext cx="713232" cy="219456"/>
          </a:xfrm>
          <a:prstGeom prst="roundRect">
            <a:avLst>
              <a:gd name="adj" fmla="val 50000"/>
            </a:avLst>
          </a:prstGeom>
          <a:solidFill>
            <a:srgbClr val="5CC2B2"/>
          </a:solidFill>
          <a:ln w="9525">
            <a:solidFill>
              <a:srgbClr val="5CC2B2"/>
            </a:solidFill>
            <a:prstDash val="solid"/>
          </a:ln>
        </p:spPr>
      </p:sp>
      <p:sp>
        <p:nvSpPr>
          <p:cNvPr id="30" name="Text 24"/>
          <p:cNvSpPr txBox="1"/>
          <p:nvPr/>
        </p:nvSpPr>
        <p:spPr>
          <a:xfrm>
            <a:off x="10927080" y="2304288"/>
            <a:ext cx="713232" cy="219456"/>
          </a:xfrm>
          <a:prstGeom prst="rect">
            <a:avLst/>
          </a:prstGeom>
          <a:noFill/>
          <a:ln/>
        </p:spPr>
        <p:txBody>
          <a:bodyPr wrap="square" lIns="0" tIns="0" rIns="0" bIns="0" rtlCol="0" anchor="ctr"/>
          <a:lstStyle/>
          <a:p>
            <a:pPr algn="ctr" indent="0" marL="0">
              <a:buNone/>
            </a:pPr>
            <a:r>
              <a:rPr lang="en-US" sz="750" b="1" spc="100" kern="0" dirty="0">
                <a:solidFill>
                  <a:srgbClr val="0F1318"/>
                </a:solidFill>
                <a:latin typeface="Calibri" pitchFamily="34" charset="0"/>
                <a:ea typeface="Calibri" pitchFamily="34" charset="-122"/>
                <a:cs typeface="Calibri" pitchFamily="34" charset="-120"/>
              </a:rPr>
              <a:t>SETTLED</a:t>
            </a:r>
            <a:endParaRPr lang="en-US" sz="750" dirty="0"/>
          </a:p>
        </p:txBody>
      </p:sp>
      <p:sp>
        <p:nvSpPr>
          <p:cNvPr id="31" name="Shape 25"/>
          <p:cNvSpPr/>
          <p:nvPr/>
        </p:nvSpPr>
        <p:spPr>
          <a:xfrm>
            <a:off x="6812280" y="2688336"/>
            <a:ext cx="4919472" cy="402336"/>
          </a:xfrm>
          <a:prstGeom prst="roundRect">
            <a:avLst>
              <a:gd name="adj" fmla="val 15909"/>
            </a:avLst>
          </a:prstGeom>
          <a:solidFill>
            <a:srgbClr val="1D242E"/>
          </a:solidFill>
          <a:ln w="9525">
            <a:solidFill>
              <a:srgbClr val="323C49"/>
            </a:solidFill>
            <a:prstDash val="solid"/>
          </a:ln>
        </p:spPr>
      </p:sp>
      <p:sp>
        <p:nvSpPr>
          <p:cNvPr id="32" name="Shape 26"/>
          <p:cNvSpPr/>
          <p:nvPr/>
        </p:nvSpPr>
        <p:spPr>
          <a:xfrm>
            <a:off x="6903720" y="2743200"/>
            <a:ext cx="292608" cy="292608"/>
          </a:xfrm>
          <a:prstGeom prst="ellipse">
            <a:avLst/>
          </a:prstGeom>
          <a:solidFill>
            <a:srgbClr val="5CC2B2"/>
          </a:solidFill>
          <a:ln w="15875">
            <a:solidFill>
              <a:srgbClr val="5CC2B2"/>
            </a:solidFill>
            <a:prstDash val="solid"/>
          </a:ln>
        </p:spPr>
      </p:sp>
      <p:sp>
        <p:nvSpPr>
          <p:cNvPr id="33" name="Text 27"/>
          <p:cNvSpPr txBox="1"/>
          <p:nvPr/>
        </p:nvSpPr>
        <p:spPr>
          <a:xfrm>
            <a:off x="6903720" y="2743200"/>
            <a:ext cx="292608" cy="29260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34" name="Text 28"/>
          <p:cNvSpPr txBox="1"/>
          <p:nvPr/>
        </p:nvSpPr>
        <p:spPr>
          <a:xfrm>
            <a:off x="7315200" y="2688336"/>
            <a:ext cx="3474720" cy="402336"/>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Deck 2 · Sensors (MCDs)</a:t>
            </a:r>
            <a:endParaRPr lang="en-US" sz="1150" dirty="0"/>
          </a:p>
        </p:txBody>
      </p:sp>
      <p:sp>
        <p:nvSpPr>
          <p:cNvPr id="35" name="Shape 29"/>
          <p:cNvSpPr/>
          <p:nvPr/>
        </p:nvSpPr>
        <p:spPr>
          <a:xfrm>
            <a:off x="10927080" y="2779776"/>
            <a:ext cx="713232" cy="219456"/>
          </a:xfrm>
          <a:prstGeom prst="roundRect">
            <a:avLst>
              <a:gd name="adj" fmla="val 50000"/>
            </a:avLst>
          </a:prstGeom>
          <a:solidFill>
            <a:srgbClr val="5CC2B2"/>
          </a:solidFill>
          <a:ln w="9525">
            <a:solidFill>
              <a:srgbClr val="5CC2B2"/>
            </a:solidFill>
            <a:prstDash val="solid"/>
          </a:ln>
        </p:spPr>
      </p:sp>
      <p:sp>
        <p:nvSpPr>
          <p:cNvPr id="36" name="Text 30"/>
          <p:cNvSpPr txBox="1"/>
          <p:nvPr/>
        </p:nvSpPr>
        <p:spPr>
          <a:xfrm>
            <a:off x="10927080" y="2779776"/>
            <a:ext cx="713232" cy="219456"/>
          </a:xfrm>
          <a:prstGeom prst="rect">
            <a:avLst/>
          </a:prstGeom>
          <a:noFill/>
          <a:ln/>
        </p:spPr>
        <p:txBody>
          <a:bodyPr wrap="square" lIns="0" tIns="0" rIns="0" bIns="0" rtlCol="0" anchor="ctr"/>
          <a:lstStyle/>
          <a:p>
            <a:pPr algn="ctr" indent="0" marL="0">
              <a:buNone/>
            </a:pPr>
            <a:r>
              <a:rPr lang="en-US" sz="750" b="1" spc="100" kern="0" dirty="0">
                <a:solidFill>
                  <a:srgbClr val="0F1318"/>
                </a:solidFill>
                <a:latin typeface="Calibri" pitchFamily="34" charset="0"/>
                <a:ea typeface="Calibri" pitchFamily="34" charset="-122"/>
                <a:cs typeface="Calibri" pitchFamily="34" charset="-120"/>
              </a:rPr>
              <a:t>SETTLED</a:t>
            </a:r>
            <a:endParaRPr lang="en-US" sz="750" dirty="0"/>
          </a:p>
        </p:txBody>
      </p:sp>
      <p:sp>
        <p:nvSpPr>
          <p:cNvPr id="37" name="Shape 31"/>
          <p:cNvSpPr/>
          <p:nvPr/>
        </p:nvSpPr>
        <p:spPr>
          <a:xfrm>
            <a:off x="6812280" y="3163824"/>
            <a:ext cx="4919472" cy="402336"/>
          </a:xfrm>
          <a:prstGeom prst="roundRect">
            <a:avLst>
              <a:gd name="adj" fmla="val 15909"/>
            </a:avLst>
          </a:prstGeom>
          <a:solidFill>
            <a:srgbClr val="1D242E"/>
          </a:solidFill>
          <a:ln w="9525">
            <a:solidFill>
              <a:srgbClr val="323C49"/>
            </a:solidFill>
            <a:prstDash val="solid"/>
          </a:ln>
        </p:spPr>
      </p:sp>
      <p:sp>
        <p:nvSpPr>
          <p:cNvPr id="38" name="Shape 32"/>
          <p:cNvSpPr/>
          <p:nvPr/>
        </p:nvSpPr>
        <p:spPr>
          <a:xfrm>
            <a:off x="6903720" y="3218688"/>
            <a:ext cx="292608" cy="292608"/>
          </a:xfrm>
          <a:prstGeom prst="ellipse">
            <a:avLst/>
          </a:prstGeom>
          <a:solidFill>
            <a:srgbClr val="5CC2B2"/>
          </a:solidFill>
          <a:ln w="15875">
            <a:solidFill>
              <a:srgbClr val="5CC2B2"/>
            </a:solidFill>
            <a:prstDash val="solid"/>
          </a:ln>
        </p:spPr>
      </p:sp>
      <p:sp>
        <p:nvSpPr>
          <p:cNvPr id="39" name="Text 33"/>
          <p:cNvSpPr txBox="1"/>
          <p:nvPr/>
        </p:nvSpPr>
        <p:spPr>
          <a:xfrm>
            <a:off x="6903720" y="3218688"/>
            <a:ext cx="292608" cy="29260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40" name="Text 34"/>
          <p:cNvSpPr txBox="1"/>
          <p:nvPr/>
        </p:nvSpPr>
        <p:spPr>
          <a:xfrm>
            <a:off x="7315200" y="3163824"/>
            <a:ext cx="3474720" cy="402336"/>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Deck 3 · Synthesis &amp; entry zones</a:t>
            </a:r>
            <a:endParaRPr lang="en-US" sz="1150" dirty="0"/>
          </a:p>
        </p:txBody>
      </p:sp>
      <p:sp>
        <p:nvSpPr>
          <p:cNvPr id="41" name="Shape 35"/>
          <p:cNvSpPr/>
          <p:nvPr/>
        </p:nvSpPr>
        <p:spPr>
          <a:xfrm>
            <a:off x="10927080" y="3255264"/>
            <a:ext cx="713232" cy="219456"/>
          </a:xfrm>
          <a:prstGeom prst="roundRect">
            <a:avLst>
              <a:gd name="adj" fmla="val 50000"/>
            </a:avLst>
          </a:prstGeom>
          <a:solidFill>
            <a:srgbClr val="5CC2B2"/>
          </a:solidFill>
          <a:ln w="9525">
            <a:solidFill>
              <a:srgbClr val="5CC2B2"/>
            </a:solidFill>
            <a:prstDash val="solid"/>
          </a:ln>
        </p:spPr>
      </p:sp>
      <p:sp>
        <p:nvSpPr>
          <p:cNvPr id="42" name="Text 36"/>
          <p:cNvSpPr txBox="1"/>
          <p:nvPr/>
        </p:nvSpPr>
        <p:spPr>
          <a:xfrm>
            <a:off x="10927080" y="3255264"/>
            <a:ext cx="713232" cy="219456"/>
          </a:xfrm>
          <a:prstGeom prst="rect">
            <a:avLst/>
          </a:prstGeom>
          <a:noFill/>
          <a:ln/>
        </p:spPr>
        <p:txBody>
          <a:bodyPr wrap="square" lIns="0" tIns="0" rIns="0" bIns="0" rtlCol="0" anchor="ctr"/>
          <a:lstStyle/>
          <a:p>
            <a:pPr algn="ctr" indent="0" marL="0">
              <a:buNone/>
            </a:pPr>
            <a:r>
              <a:rPr lang="en-US" sz="750" b="1" spc="100" kern="0" dirty="0">
                <a:solidFill>
                  <a:srgbClr val="0F1318"/>
                </a:solidFill>
                <a:latin typeface="Calibri" pitchFamily="34" charset="0"/>
                <a:ea typeface="Calibri" pitchFamily="34" charset="-122"/>
                <a:cs typeface="Calibri" pitchFamily="34" charset="-120"/>
              </a:rPr>
              <a:t>SETTLED</a:t>
            </a:r>
            <a:endParaRPr lang="en-US" sz="750" dirty="0"/>
          </a:p>
        </p:txBody>
      </p:sp>
      <p:sp>
        <p:nvSpPr>
          <p:cNvPr id="43" name="Shape 37"/>
          <p:cNvSpPr/>
          <p:nvPr/>
        </p:nvSpPr>
        <p:spPr>
          <a:xfrm>
            <a:off x="6812280" y="3639312"/>
            <a:ext cx="4919472" cy="402336"/>
          </a:xfrm>
          <a:prstGeom prst="roundRect">
            <a:avLst>
              <a:gd name="adj" fmla="val 15909"/>
            </a:avLst>
          </a:prstGeom>
          <a:solidFill>
            <a:srgbClr val="1D242E"/>
          </a:solidFill>
          <a:ln w="9525">
            <a:solidFill>
              <a:srgbClr val="323C49"/>
            </a:solidFill>
            <a:prstDash val="solid"/>
          </a:ln>
        </p:spPr>
      </p:sp>
      <p:sp>
        <p:nvSpPr>
          <p:cNvPr id="44" name="Shape 38"/>
          <p:cNvSpPr/>
          <p:nvPr/>
        </p:nvSpPr>
        <p:spPr>
          <a:xfrm>
            <a:off x="6903720" y="3694176"/>
            <a:ext cx="292608" cy="292608"/>
          </a:xfrm>
          <a:prstGeom prst="ellipse">
            <a:avLst/>
          </a:prstGeom>
          <a:solidFill>
            <a:srgbClr val="7FA8E8"/>
          </a:solidFill>
          <a:ln w="15875">
            <a:solidFill>
              <a:srgbClr val="7FA8E8"/>
            </a:solidFill>
            <a:prstDash val="solid"/>
          </a:ln>
        </p:spPr>
      </p:sp>
      <p:sp>
        <p:nvSpPr>
          <p:cNvPr id="45" name="Text 39"/>
          <p:cNvSpPr txBox="1"/>
          <p:nvPr/>
        </p:nvSpPr>
        <p:spPr>
          <a:xfrm>
            <a:off x="6903720" y="3694176"/>
            <a:ext cx="292608" cy="29260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46" name="Text 40"/>
          <p:cNvSpPr txBox="1"/>
          <p:nvPr/>
        </p:nvSpPr>
        <p:spPr>
          <a:xfrm>
            <a:off x="7315200" y="3639312"/>
            <a:ext cx="3474720" cy="402336"/>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Deck 4 · Intake, routing &amp; knowledge</a:t>
            </a:r>
            <a:endParaRPr lang="en-US" sz="1150" dirty="0"/>
          </a:p>
        </p:txBody>
      </p:sp>
      <p:sp>
        <p:nvSpPr>
          <p:cNvPr id="47" name="Shape 41"/>
          <p:cNvSpPr/>
          <p:nvPr/>
        </p:nvSpPr>
        <p:spPr>
          <a:xfrm>
            <a:off x="10927080" y="3730752"/>
            <a:ext cx="713232" cy="219456"/>
          </a:xfrm>
          <a:prstGeom prst="roundRect">
            <a:avLst>
              <a:gd name="adj" fmla="val 50000"/>
            </a:avLst>
          </a:prstGeom>
          <a:solidFill>
            <a:srgbClr val="5CC2B2"/>
          </a:solidFill>
          <a:ln w="9525">
            <a:solidFill>
              <a:srgbClr val="5CC2B2"/>
            </a:solidFill>
            <a:prstDash val="solid"/>
          </a:ln>
        </p:spPr>
      </p:sp>
      <p:sp>
        <p:nvSpPr>
          <p:cNvPr id="48" name="Text 42"/>
          <p:cNvSpPr txBox="1"/>
          <p:nvPr/>
        </p:nvSpPr>
        <p:spPr>
          <a:xfrm>
            <a:off x="10927080" y="3730752"/>
            <a:ext cx="713232" cy="219456"/>
          </a:xfrm>
          <a:prstGeom prst="rect">
            <a:avLst/>
          </a:prstGeom>
          <a:noFill/>
          <a:ln/>
        </p:spPr>
        <p:txBody>
          <a:bodyPr wrap="square" lIns="0" tIns="0" rIns="0" bIns="0" rtlCol="0" anchor="ctr"/>
          <a:lstStyle/>
          <a:p>
            <a:pPr algn="ctr" indent="0" marL="0">
              <a:buNone/>
            </a:pPr>
            <a:r>
              <a:rPr lang="en-US" sz="750" b="1" spc="100" kern="0" dirty="0">
                <a:solidFill>
                  <a:srgbClr val="0F1318"/>
                </a:solidFill>
                <a:latin typeface="Calibri" pitchFamily="34" charset="0"/>
                <a:ea typeface="Calibri" pitchFamily="34" charset="-122"/>
                <a:cs typeface="Calibri" pitchFamily="34" charset="-120"/>
              </a:rPr>
              <a:t>SETTLED</a:t>
            </a:r>
            <a:endParaRPr lang="en-US" sz="750" dirty="0"/>
          </a:p>
        </p:txBody>
      </p:sp>
      <p:sp>
        <p:nvSpPr>
          <p:cNvPr id="49" name="Shape 43"/>
          <p:cNvSpPr/>
          <p:nvPr/>
        </p:nvSpPr>
        <p:spPr>
          <a:xfrm>
            <a:off x="6812280" y="4114800"/>
            <a:ext cx="4919472" cy="402336"/>
          </a:xfrm>
          <a:prstGeom prst="roundRect">
            <a:avLst>
              <a:gd name="adj" fmla="val 15909"/>
            </a:avLst>
          </a:prstGeom>
          <a:solidFill>
            <a:srgbClr val="1D242E"/>
          </a:solidFill>
          <a:ln w="9525">
            <a:solidFill>
              <a:srgbClr val="323C49"/>
            </a:solidFill>
            <a:prstDash val="solid"/>
          </a:ln>
        </p:spPr>
      </p:sp>
      <p:sp>
        <p:nvSpPr>
          <p:cNvPr id="50" name="Shape 44"/>
          <p:cNvSpPr/>
          <p:nvPr/>
        </p:nvSpPr>
        <p:spPr>
          <a:xfrm>
            <a:off x="6903720" y="4169664"/>
            <a:ext cx="292608" cy="292608"/>
          </a:xfrm>
          <a:prstGeom prst="ellipse">
            <a:avLst/>
          </a:prstGeom>
          <a:solidFill>
            <a:srgbClr val="7FA8E8"/>
          </a:solidFill>
          <a:ln w="15875">
            <a:solidFill>
              <a:srgbClr val="7FA8E8"/>
            </a:solidFill>
            <a:prstDash val="solid"/>
          </a:ln>
        </p:spPr>
      </p:sp>
      <p:sp>
        <p:nvSpPr>
          <p:cNvPr id="51" name="Text 45"/>
          <p:cNvSpPr txBox="1"/>
          <p:nvPr/>
        </p:nvSpPr>
        <p:spPr>
          <a:xfrm>
            <a:off x="6903720" y="4169664"/>
            <a:ext cx="292608" cy="29260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52" name="Text 46"/>
          <p:cNvSpPr txBox="1"/>
          <p:nvPr/>
        </p:nvSpPr>
        <p:spPr>
          <a:xfrm>
            <a:off x="7315200" y="4114800"/>
            <a:ext cx="3474720" cy="402336"/>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Deck 5 · Prompt &amp; AI reply</a:t>
            </a:r>
            <a:endParaRPr lang="en-US" sz="1150" dirty="0"/>
          </a:p>
        </p:txBody>
      </p:sp>
      <p:sp>
        <p:nvSpPr>
          <p:cNvPr id="53" name="Shape 47"/>
          <p:cNvSpPr/>
          <p:nvPr/>
        </p:nvSpPr>
        <p:spPr>
          <a:xfrm>
            <a:off x="10927080" y="4206240"/>
            <a:ext cx="713232" cy="219456"/>
          </a:xfrm>
          <a:prstGeom prst="roundRect">
            <a:avLst>
              <a:gd name="adj" fmla="val 50000"/>
            </a:avLst>
          </a:prstGeom>
          <a:solidFill>
            <a:srgbClr val="5CC2B2"/>
          </a:solidFill>
          <a:ln w="9525">
            <a:solidFill>
              <a:srgbClr val="5CC2B2"/>
            </a:solidFill>
            <a:prstDash val="solid"/>
          </a:ln>
        </p:spPr>
      </p:sp>
      <p:sp>
        <p:nvSpPr>
          <p:cNvPr id="54" name="Text 48"/>
          <p:cNvSpPr txBox="1"/>
          <p:nvPr/>
        </p:nvSpPr>
        <p:spPr>
          <a:xfrm>
            <a:off x="10927080" y="4206240"/>
            <a:ext cx="713232" cy="219456"/>
          </a:xfrm>
          <a:prstGeom prst="rect">
            <a:avLst/>
          </a:prstGeom>
          <a:noFill/>
          <a:ln/>
        </p:spPr>
        <p:txBody>
          <a:bodyPr wrap="square" lIns="0" tIns="0" rIns="0" bIns="0" rtlCol="0" anchor="ctr"/>
          <a:lstStyle/>
          <a:p>
            <a:pPr algn="ctr" indent="0" marL="0">
              <a:buNone/>
            </a:pPr>
            <a:r>
              <a:rPr lang="en-US" sz="750" b="1" spc="100" kern="0" dirty="0">
                <a:solidFill>
                  <a:srgbClr val="0F1318"/>
                </a:solidFill>
                <a:latin typeface="Calibri" pitchFamily="34" charset="0"/>
                <a:ea typeface="Calibri" pitchFamily="34" charset="-122"/>
                <a:cs typeface="Calibri" pitchFamily="34" charset="-120"/>
              </a:rPr>
              <a:t>SETTLED</a:t>
            </a:r>
            <a:endParaRPr lang="en-US" sz="750" dirty="0"/>
          </a:p>
        </p:txBody>
      </p:sp>
      <p:sp>
        <p:nvSpPr>
          <p:cNvPr id="55" name="Shape 49"/>
          <p:cNvSpPr/>
          <p:nvPr/>
        </p:nvSpPr>
        <p:spPr>
          <a:xfrm>
            <a:off x="6812280" y="4590288"/>
            <a:ext cx="4919472" cy="402336"/>
          </a:xfrm>
          <a:prstGeom prst="roundRect">
            <a:avLst>
              <a:gd name="adj" fmla="val 15909"/>
            </a:avLst>
          </a:prstGeom>
          <a:solidFill>
            <a:srgbClr val="1D242E"/>
          </a:solidFill>
          <a:ln w="9525">
            <a:solidFill>
              <a:srgbClr val="323C49"/>
            </a:solidFill>
            <a:prstDash val="solid"/>
          </a:ln>
        </p:spPr>
      </p:sp>
      <p:sp>
        <p:nvSpPr>
          <p:cNvPr id="56" name="Shape 50"/>
          <p:cNvSpPr/>
          <p:nvPr/>
        </p:nvSpPr>
        <p:spPr>
          <a:xfrm>
            <a:off x="6903720" y="4645152"/>
            <a:ext cx="292608" cy="292608"/>
          </a:xfrm>
          <a:prstGeom prst="ellipse">
            <a:avLst/>
          </a:prstGeom>
          <a:solidFill>
            <a:srgbClr val="7FA8E8"/>
          </a:solidFill>
          <a:ln w="15875">
            <a:solidFill>
              <a:srgbClr val="7FA8E8"/>
            </a:solidFill>
            <a:prstDash val="solid"/>
          </a:ln>
        </p:spPr>
      </p:sp>
      <p:sp>
        <p:nvSpPr>
          <p:cNvPr id="57" name="Text 51"/>
          <p:cNvSpPr txBox="1"/>
          <p:nvPr/>
        </p:nvSpPr>
        <p:spPr>
          <a:xfrm>
            <a:off x="6903720" y="4645152"/>
            <a:ext cx="292608" cy="29260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58" name="Text 52"/>
          <p:cNvSpPr txBox="1"/>
          <p:nvPr/>
        </p:nvSpPr>
        <p:spPr>
          <a:xfrm>
            <a:off x="7315200" y="4590288"/>
            <a:ext cx="3474720" cy="402336"/>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Deck 6 · Engine 4 &amp; Report 2</a:t>
            </a:r>
            <a:endParaRPr lang="en-US" sz="1150" dirty="0"/>
          </a:p>
        </p:txBody>
      </p:sp>
      <p:sp>
        <p:nvSpPr>
          <p:cNvPr id="59" name="Shape 53"/>
          <p:cNvSpPr/>
          <p:nvPr/>
        </p:nvSpPr>
        <p:spPr>
          <a:xfrm>
            <a:off x="10927080" y="4681728"/>
            <a:ext cx="713232" cy="219456"/>
          </a:xfrm>
          <a:prstGeom prst="roundRect">
            <a:avLst>
              <a:gd name="adj" fmla="val 50000"/>
            </a:avLst>
          </a:prstGeom>
          <a:solidFill>
            <a:srgbClr val="5CC2B2"/>
          </a:solidFill>
          <a:ln w="9525">
            <a:solidFill>
              <a:srgbClr val="5CC2B2"/>
            </a:solidFill>
            <a:prstDash val="solid"/>
          </a:ln>
        </p:spPr>
      </p:sp>
      <p:sp>
        <p:nvSpPr>
          <p:cNvPr id="60" name="Text 54"/>
          <p:cNvSpPr txBox="1"/>
          <p:nvPr/>
        </p:nvSpPr>
        <p:spPr>
          <a:xfrm>
            <a:off x="10927080" y="4681728"/>
            <a:ext cx="713232" cy="219456"/>
          </a:xfrm>
          <a:prstGeom prst="rect">
            <a:avLst/>
          </a:prstGeom>
          <a:noFill/>
          <a:ln/>
        </p:spPr>
        <p:txBody>
          <a:bodyPr wrap="square" lIns="0" tIns="0" rIns="0" bIns="0" rtlCol="0" anchor="ctr"/>
          <a:lstStyle/>
          <a:p>
            <a:pPr algn="ctr" indent="0" marL="0">
              <a:buNone/>
            </a:pPr>
            <a:r>
              <a:rPr lang="en-US" sz="750" b="1" spc="100" kern="0" dirty="0">
                <a:solidFill>
                  <a:srgbClr val="0F1318"/>
                </a:solidFill>
                <a:latin typeface="Calibri" pitchFamily="34" charset="0"/>
                <a:ea typeface="Calibri" pitchFamily="34" charset="-122"/>
                <a:cs typeface="Calibri" pitchFamily="34" charset="-120"/>
              </a:rPr>
              <a:t>SETTLED</a:t>
            </a:r>
            <a:endParaRPr lang="en-US" sz="750" dirty="0"/>
          </a:p>
        </p:txBody>
      </p:sp>
      <p:sp>
        <p:nvSpPr>
          <p:cNvPr id="61" name="Shape 55"/>
          <p:cNvSpPr/>
          <p:nvPr/>
        </p:nvSpPr>
        <p:spPr>
          <a:xfrm>
            <a:off x="6812280" y="5065776"/>
            <a:ext cx="4919472" cy="402336"/>
          </a:xfrm>
          <a:prstGeom prst="roundRect">
            <a:avLst>
              <a:gd name="adj" fmla="val 15909"/>
            </a:avLst>
          </a:prstGeom>
          <a:solidFill>
            <a:srgbClr val="1D242E"/>
          </a:solidFill>
          <a:ln w="9525">
            <a:solidFill>
              <a:srgbClr val="323C49"/>
            </a:solidFill>
            <a:prstDash val="solid"/>
          </a:ln>
        </p:spPr>
      </p:sp>
      <p:sp>
        <p:nvSpPr>
          <p:cNvPr id="62" name="Shape 56"/>
          <p:cNvSpPr/>
          <p:nvPr/>
        </p:nvSpPr>
        <p:spPr>
          <a:xfrm>
            <a:off x="6903720" y="5120640"/>
            <a:ext cx="292608" cy="292608"/>
          </a:xfrm>
          <a:prstGeom prst="ellipse">
            <a:avLst/>
          </a:prstGeom>
          <a:solidFill>
            <a:srgbClr val="B7A3E0"/>
          </a:solidFill>
          <a:ln w="15875">
            <a:solidFill>
              <a:srgbClr val="B7A3E0"/>
            </a:solidFill>
            <a:prstDash val="solid"/>
          </a:ln>
        </p:spPr>
      </p:sp>
      <p:sp>
        <p:nvSpPr>
          <p:cNvPr id="63" name="Text 57"/>
          <p:cNvSpPr txBox="1"/>
          <p:nvPr/>
        </p:nvSpPr>
        <p:spPr>
          <a:xfrm>
            <a:off x="6903720" y="5120640"/>
            <a:ext cx="292608" cy="29260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7</a:t>
            </a:r>
            <a:endParaRPr lang="en-US" sz="1100" dirty="0"/>
          </a:p>
        </p:txBody>
      </p:sp>
      <p:sp>
        <p:nvSpPr>
          <p:cNvPr id="64" name="Text 58"/>
          <p:cNvSpPr txBox="1"/>
          <p:nvPr/>
        </p:nvSpPr>
        <p:spPr>
          <a:xfrm>
            <a:off x="7315200" y="5065776"/>
            <a:ext cx="3474720" cy="402336"/>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Deck 7 · Platform &amp; governance</a:t>
            </a:r>
            <a:endParaRPr lang="en-US" sz="1150" dirty="0"/>
          </a:p>
        </p:txBody>
      </p:sp>
      <p:sp>
        <p:nvSpPr>
          <p:cNvPr id="65" name="Shape 59"/>
          <p:cNvSpPr/>
          <p:nvPr/>
        </p:nvSpPr>
        <p:spPr>
          <a:xfrm>
            <a:off x="10927080" y="5157216"/>
            <a:ext cx="713232" cy="219456"/>
          </a:xfrm>
          <a:prstGeom prst="roundRect">
            <a:avLst>
              <a:gd name="adj" fmla="val 50000"/>
            </a:avLst>
          </a:prstGeom>
          <a:solidFill>
            <a:srgbClr val="5CC2B2"/>
          </a:solidFill>
          <a:ln w="9525">
            <a:solidFill>
              <a:srgbClr val="5CC2B2"/>
            </a:solidFill>
            <a:prstDash val="solid"/>
          </a:ln>
        </p:spPr>
      </p:sp>
      <p:sp>
        <p:nvSpPr>
          <p:cNvPr id="66" name="Text 60"/>
          <p:cNvSpPr txBox="1"/>
          <p:nvPr/>
        </p:nvSpPr>
        <p:spPr>
          <a:xfrm>
            <a:off x="10927080" y="5157216"/>
            <a:ext cx="713232" cy="219456"/>
          </a:xfrm>
          <a:prstGeom prst="rect">
            <a:avLst/>
          </a:prstGeom>
          <a:noFill/>
          <a:ln/>
        </p:spPr>
        <p:txBody>
          <a:bodyPr wrap="square" lIns="0" tIns="0" rIns="0" bIns="0" rtlCol="0" anchor="ctr"/>
          <a:lstStyle/>
          <a:p>
            <a:pPr algn="ctr" indent="0" marL="0">
              <a:buNone/>
            </a:pPr>
            <a:r>
              <a:rPr lang="en-US" sz="750" b="1" spc="100" kern="0" dirty="0">
                <a:solidFill>
                  <a:srgbClr val="0F1318"/>
                </a:solidFill>
                <a:latin typeface="Calibri" pitchFamily="34" charset="0"/>
                <a:ea typeface="Calibri" pitchFamily="34" charset="-122"/>
                <a:cs typeface="Calibri" pitchFamily="34" charset="-120"/>
              </a:rPr>
              <a:t>SETTLED</a:t>
            </a:r>
            <a:endParaRPr lang="en-US" sz="750" dirty="0"/>
          </a:p>
        </p:txBody>
      </p:sp>
      <p:sp>
        <p:nvSpPr>
          <p:cNvPr id="67" name="Shape 61"/>
          <p:cNvSpPr/>
          <p:nvPr/>
        </p:nvSpPr>
        <p:spPr>
          <a:xfrm>
            <a:off x="457200" y="5623560"/>
            <a:ext cx="11274552" cy="658368"/>
          </a:xfrm>
          <a:prstGeom prst="roundRect">
            <a:avLst>
              <a:gd name="adj" fmla="val 9722"/>
            </a:avLst>
          </a:prstGeom>
          <a:solidFill>
            <a:srgbClr val="161C24"/>
          </a:solidFill>
          <a:ln w="9525">
            <a:solidFill>
              <a:srgbClr val="161C24"/>
            </a:solidFill>
            <a:prstDash val="solid"/>
          </a:ln>
        </p:spPr>
      </p:sp>
      <p:sp>
        <p:nvSpPr>
          <p:cNvPr id="68" name="Text 62"/>
          <p:cNvSpPr txBox="1"/>
          <p:nvPr/>
        </p:nvSpPr>
        <p:spPr>
          <a:xfrm>
            <a:off x="640080" y="5623560"/>
            <a:ext cx="1737360" cy="658368"/>
          </a:xfrm>
          <a:prstGeom prst="rect">
            <a:avLst/>
          </a:prstGeom>
          <a:noFill/>
          <a:ln/>
        </p:spPr>
        <p:txBody>
          <a:bodyPr wrap="square" lIns="0" tIns="0" rIns="0" bIns="0" rtlCol="0" anchor="ctr"/>
          <a:lstStyle/>
          <a:p>
            <a:pPr indent="0" marL="0">
              <a:buNone/>
            </a:pPr>
            <a:r>
              <a:rPr lang="en-US" sz="950" b="1" spc="150" kern="0" dirty="0">
                <a:solidFill>
                  <a:srgbClr val="E2B54E"/>
                </a:solidFill>
                <a:latin typeface="Calibri" pitchFamily="34" charset="0"/>
                <a:ea typeface="Calibri" pitchFamily="34" charset="-122"/>
                <a:cs typeface="Calibri" pitchFamily="34" charset="-120"/>
              </a:rPr>
              <a:t>EVERY SECTION DECK</a:t>
            </a:r>
            <a:endParaRPr lang="en-US" sz="950" dirty="0"/>
          </a:p>
        </p:txBody>
      </p:sp>
      <p:sp>
        <p:nvSpPr>
          <p:cNvPr id="69" name="Text 63"/>
          <p:cNvSpPr txBox="1"/>
          <p:nvPr/>
        </p:nvSpPr>
        <p:spPr>
          <a:xfrm>
            <a:off x="2377440" y="5623560"/>
            <a:ext cx="1051560" cy="658368"/>
          </a:xfrm>
          <a:prstGeom prst="rect">
            <a:avLst/>
          </a:prstGeom>
          <a:noFill/>
          <a:ln/>
        </p:spPr>
        <p:txBody>
          <a:bodyPr wrap="square" lIns="0" tIns="0" rIns="0" bIns="0" rtlCol="0" anchor="ctr"/>
          <a:lstStyle/>
          <a:p>
            <a:pPr algn="ctr" indent="0" marL="0">
              <a:buNone/>
            </a:pPr>
            <a:r>
              <a:rPr lang="en-US" sz="1100" dirty="0">
                <a:solidFill>
                  <a:srgbClr val="EEF1F4"/>
                </a:solidFill>
                <a:latin typeface="Calibri" pitchFamily="34" charset="0"/>
                <a:ea typeface="Calibri" pitchFamily="34" charset="-122"/>
                <a:cs typeface="Calibri" pitchFamily="34" charset="-120"/>
              </a:rPr>
              <a:t>Where it sits</a:t>
            </a:r>
            <a:endParaRPr lang="en-US" sz="1100" dirty="0"/>
          </a:p>
        </p:txBody>
      </p:sp>
      <p:sp>
        <p:nvSpPr>
          <p:cNvPr id="70" name="Text 64"/>
          <p:cNvSpPr txBox="1"/>
          <p:nvPr/>
        </p:nvSpPr>
        <p:spPr>
          <a:xfrm>
            <a:off x="3374136" y="5623560"/>
            <a:ext cx="109728" cy="658368"/>
          </a:xfrm>
          <a:prstGeom prst="rect">
            <a:avLst/>
          </a:prstGeom>
          <a:noFill/>
          <a:ln/>
        </p:spPr>
        <p:txBody>
          <a:bodyPr wrap="square" lIns="0" tIns="0" rIns="0" bIns="0" rtlCol="0" anchor="ctr"/>
          <a:lstStyle/>
          <a:p>
            <a:pPr algn="ctr" indent="0" marL="0">
              <a:buNone/>
            </a:pPr>
            <a:r>
              <a:rPr lang="en-US" sz="1400" dirty="0">
                <a:solidFill>
                  <a:srgbClr val="E2B54E"/>
                </a:solidFill>
                <a:latin typeface="Calibri" pitchFamily="34" charset="0"/>
                <a:ea typeface="Calibri" pitchFamily="34" charset="-122"/>
                <a:cs typeface="Calibri" pitchFamily="34" charset="-120"/>
              </a:rPr>
              <a:t>›</a:t>
            </a:r>
            <a:endParaRPr lang="en-US" sz="1400" dirty="0"/>
          </a:p>
        </p:txBody>
      </p:sp>
      <p:sp>
        <p:nvSpPr>
          <p:cNvPr id="71" name="Text 65"/>
          <p:cNvSpPr txBox="1"/>
          <p:nvPr/>
        </p:nvSpPr>
        <p:spPr>
          <a:xfrm>
            <a:off x="3429000" y="5623560"/>
            <a:ext cx="1234440" cy="658368"/>
          </a:xfrm>
          <a:prstGeom prst="rect">
            <a:avLst/>
          </a:prstGeom>
          <a:noFill/>
          <a:ln/>
        </p:spPr>
        <p:txBody>
          <a:bodyPr wrap="square" lIns="0" tIns="0" rIns="0" bIns="0" rtlCol="0" anchor="ctr"/>
          <a:lstStyle/>
          <a:p>
            <a:pPr algn="ctr" indent="0" marL="0">
              <a:buNone/>
            </a:pPr>
            <a:r>
              <a:rPr lang="en-US" sz="1100" dirty="0">
                <a:solidFill>
                  <a:srgbClr val="EEF1F4"/>
                </a:solidFill>
                <a:latin typeface="Calibri" pitchFamily="34" charset="0"/>
                <a:ea typeface="Calibri" pitchFamily="34" charset="-122"/>
                <a:cs typeface="Calibri" pitchFamily="34" charset="-120"/>
              </a:rPr>
              <a:t>Original design</a:t>
            </a:r>
            <a:endParaRPr lang="en-US" sz="1100" dirty="0"/>
          </a:p>
        </p:txBody>
      </p:sp>
      <p:sp>
        <p:nvSpPr>
          <p:cNvPr id="72" name="Text 66"/>
          <p:cNvSpPr txBox="1"/>
          <p:nvPr/>
        </p:nvSpPr>
        <p:spPr>
          <a:xfrm>
            <a:off x="4608576" y="5623560"/>
            <a:ext cx="109728" cy="658368"/>
          </a:xfrm>
          <a:prstGeom prst="rect">
            <a:avLst/>
          </a:prstGeom>
          <a:noFill/>
          <a:ln/>
        </p:spPr>
        <p:txBody>
          <a:bodyPr wrap="square" lIns="0" tIns="0" rIns="0" bIns="0" rtlCol="0" anchor="ctr"/>
          <a:lstStyle/>
          <a:p>
            <a:pPr algn="ctr" indent="0" marL="0">
              <a:buNone/>
            </a:pPr>
            <a:r>
              <a:rPr lang="en-US" sz="1400" dirty="0">
                <a:solidFill>
                  <a:srgbClr val="E2B54E"/>
                </a:solidFill>
                <a:latin typeface="Calibri" pitchFamily="34" charset="0"/>
                <a:ea typeface="Calibri" pitchFamily="34" charset="-122"/>
                <a:cs typeface="Calibri" pitchFamily="34" charset="-120"/>
              </a:rPr>
              <a:t>›</a:t>
            </a:r>
            <a:endParaRPr lang="en-US" sz="1400" dirty="0"/>
          </a:p>
        </p:txBody>
      </p:sp>
      <p:sp>
        <p:nvSpPr>
          <p:cNvPr id="73" name="Text 67"/>
          <p:cNvSpPr txBox="1"/>
          <p:nvPr/>
        </p:nvSpPr>
        <p:spPr>
          <a:xfrm>
            <a:off x="4663440" y="5623560"/>
            <a:ext cx="1188720" cy="658368"/>
          </a:xfrm>
          <a:prstGeom prst="rect">
            <a:avLst/>
          </a:prstGeom>
          <a:noFill/>
          <a:ln/>
        </p:spPr>
        <p:txBody>
          <a:bodyPr wrap="square" lIns="0" tIns="0" rIns="0" bIns="0" rtlCol="0" anchor="ctr"/>
          <a:lstStyle/>
          <a:p>
            <a:pPr algn="ctr" indent="0" marL="0">
              <a:buNone/>
            </a:pPr>
            <a:r>
              <a:rPr lang="en-US" sz="1100" dirty="0">
                <a:solidFill>
                  <a:srgbClr val="EEF1F4"/>
                </a:solidFill>
                <a:latin typeface="Calibri" pitchFamily="34" charset="0"/>
                <a:ea typeface="Calibri" pitchFamily="34" charset="-122"/>
                <a:cs typeface="Calibri" pitchFamily="34" charset="-120"/>
              </a:rPr>
              <a:t>What’s missing</a:t>
            </a:r>
            <a:endParaRPr lang="en-US" sz="1100" dirty="0"/>
          </a:p>
        </p:txBody>
      </p:sp>
      <p:sp>
        <p:nvSpPr>
          <p:cNvPr id="74" name="Text 68"/>
          <p:cNvSpPr txBox="1"/>
          <p:nvPr/>
        </p:nvSpPr>
        <p:spPr>
          <a:xfrm>
            <a:off x="5797296" y="5623560"/>
            <a:ext cx="109728" cy="658368"/>
          </a:xfrm>
          <a:prstGeom prst="rect">
            <a:avLst/>
          </a:prstGeom>
          <a:noFill/>
          <a:ln/>
        </p:spPr>
        <p:txBody>
          <a:bodyPr wrap="square" lIns="0" tIns="0" rIns="0" bIns="0" rtlCol="0" anchor="ctr"/>
          <a:lstStyle/>
          <a:p>
            <a:pPr algn="ctr" indent="0" marL="0">
              <a:buNone/>
            </a:pPr>
            <a:r>
              <a:rPr lang="en-US" sz="1400" dirty="0">
                <a:solidFill>
                  <a:srgbClr val="E2B54E"/>
                </a:solidFill>
                <a:latin typeface="Calibri" pitchFamily="34" charset="0"/>
                <a:ea typeface="Calibri" pitchFamily="34" charset="-122"/>
                <a:cs typeface="Calibri" pitchFamily="34" charset="-120"/>
              </a:rPr>
              <a:t>›</a:t>
            </a:r>
            <a:endParaRPr lang="en-US" sz="1400" dirty="0"/>
          </a:p>
        </p:txBody>
      </p:sp>
      <p:sp>
        <p:nvSpPr>
          <p:cNvPr id="75" name="Text 69"/>
          <p:cNvSpPr txBox="1"/>
          <p:nvPr/>
        </p:nvSpPr>
        <p:spPr>
          <a:xfrm>
            <a:off x="5852160" y="5623560"/>
            <a:ext cx="1234440" cy="658368"/>
          </a:xfrm>
          <a:prstGeom prst="rect">
            <a:avLst/>
          </a:prstGeom>
          <a:noFill/>
          <a:ln/>
        </p:spPr>
        <p:txBody>
          <a:bodyPr wrap="square" lIns="0" tIns="0" rIns="0" bIns="0" rtlCol="0" anchor="ctr"/>
          <a:lstStyle/>
          <a:p>
            <a:pPr algn="ctr" indent="0" marL="0">
              <a:buNone/>
            </a:pPr>
            <a:r>
              <a:rPr lang="en-US" sz="1100" dirty="0">
                <a:solidFill>
                  <a:srgbClr val="EEF1F4"/>
                </a:solidFill>
                <a:latin typeface="Calibri" pitchFamily="34" charset="0"/>
                <a:ea typeface="Calibri" pitchFamily="34" charset="-122"/>
                <a:cs typeface="Calibri" pitchFamily="34" charset="-120"/>
              </a:rPr>
              <a:t>Revised design</a:t>
            </a:r>
            <a:endParaRPr lang="en-US" sz="1100" dirty="0"/>
          </a:p>
        </p:txBody>
      </p:sp>
      <p:sp>
        <p:nvSpPr>
          <p:cNvPr id="76" name="Text 70"/>
          <p:cNvSpPr txBox="1"/>
          <p:nvPr/>
        </p:nvSpPr>
        <p:spPr>
          <a:xfrm>
            <a:off x="7031736" y="5623560"/>
            <a:ext cx="109728" cy="658368"/>
          </a:xfrm>
          <a:prstGeom prst="rect">
            <a:avLst/>
          </a:prstGeom>
          <a:noFill/>
          <a:ln/>
        </p:spPr>
        <p:txBody>
          <a:bodyPr wrap="square" lIns="0" tIns="0" rIns="0" bIns="0" rtlCol="0" anchor="ctr"/>
          <a:lstStyle/>
          <a:p>
            <a:pPr algn="ctr" indent="0" marL="0">
              <a:buNone/>
            </a:pPr>
            <a:r>
              <a:rPr lang="en-US" sz="1400" dirty="0">
                <a:solidFill>
                  <a:srgbClr val="E2B54E"/>
                </a:solidFill>
                <a:latin typeface="Calibri" pitchFamily="34" charset="0"/>
                <a:ea typeface="Calibri" pitchFamily="34" charset="-122"/>
                <a:cs typeface="Calibri" pitchFamily="34" charset="-120"/>
              </a:rPr>
              <a:t>›</a:t>
            </a:r>
            <a:endParaRPr lang="en-US" sz="1400" dirty="0"/>
          </a:p>
        </p:txBody>
      </p:sp>
      <p:sp>
        <p:nvSpPr>
          <p:cNvPr id="77" name="Text 71"/>
          <p:cNvSpPr txBox="1"/>
          <p:nvPr/>
        </p:nvSpPr>
        <p:spPr>
          <a:xfrm>
            <a:off x="7086600" y="5623560"/>
            <a:ext cx="2011680" cy="658368"/>
          </a:xfrm>
          <a:prstGeom prst="rect">
            <a:avLst/>
          </a:prstGeom>
          <a:noFill/>
          <a:ln/>
        </p:spPr>
        <p:txBody>
          <a:bodyPr wrap="square" lIns="0" tIns="0" rIns="0" bIns="0" rtlCol="0" anchor="ctr"/>
          <a:lstStyle/>
          <a:p>
            <a:pPr algn="ctr" indent="0" marL="0">
              <a:buNone/>
            </a:pPr>
            <a:r>
              <a:rPr lang="en-US" sz="1100" dirty="0">
                <a:solidFill>
                  <a:srgbClr val="EEF1F4"/>
                </a:solidFill>
                <a:latin typeface="Calibri" pitchFamily="34" charset="0"/>
                <a:ea typeface="Calibri" pitchFamily="34" charset="-122"/>
                <a:cs typeface="Calibri" pitchFamily="34" charset="-120"/>
              </a:rPr>
              <a:t>Keep · change · add · remove</a:t>
            </a:r>
            <a:endParaRPr lang="en-US" sz="1100" dirty="0"/>
          </a:p>
        </p:txBody>
      </p:sp>
      <p:sp>
        <p:nvSpPr>
          <p:cNvPr id="78" name="Text 72"/>
          <p:cNvSpPr txBox="1"/>
          <p:nvPr/>
        </p:nvSpPr>
        <p:spPr>
          <a:xfrm>
            <a:off x="9043416" y="5623560"/>
            <a:ext cx="109728" cy="658368"/>
          </a:xfrm>
          <a:prstGeom prst="rect">
            <a:avLst/>
          </a:prstGeom>
          <a:noFill/>
          <a:ln/>
        </p:spPr>
        <p:txBody>
          <a:bodyPr wrap="square" lIns="0" tIns="0" rIns="0" bIns="0" rtlCol="0" anchor="ctr"/>
          <a:lstStyle/>
          <a:p>
            <a:pPr algn="ctr" indent="0" marL="0">
              <a:buNone/>
            </a:pPr>
            <a:r>
              <a:rPr lang="en-US" sz="1400" dirty="0">
                <a:solidFill>
                  <a:srgbClr val="E2B54E"/>
                </a:solidFill>
                <a:latin typeface="Calibri" pitchFamily="34" charset="0"/>
                <a:ea typeface="Calibri" pitchFamily="34" charset="-122"/>
                <a:cs typeface="Calibri" pitchFamily="34" charset="-120"/>
              </a:rPr>
              <a:t>›</a:t>
            </a:r>
            <a:endParaRPr lang="en-US" sz="1400" dirty="0"/>
          </a:p>
        </p:txBody>
      </p:sp>
      <p:sp>
        <p:nvSpPr>
          <p:cNvPr id="79" name="Text 73"/>
          <p:cNvSpPr txBox="1"/>
          <p:nvPr/>
        </p:nvSpPr>
        <p:spPr>
          <a:xfrm>
            <a:off x="9098280" y="5623560"/>
            <a:ext cx="914400" cy="658368"/>
          </a:xfrm>
          <a:prstGeom prst="rect">
            <a:avLst/>
          </a:prstGeom>
          <a:noFill/>
          <a:ln/>
        </p:spPr>
        <p:txBody>
          <a:bodyPr wrap="square" lIns="0" tIns="0" rIns="0" bIns="0" rtlCol="0" anchor="ctr"/>
          <a:lstStyle/>
          <a:p>
            <a:pPr algn="ctr" indent="0" marL="0">
              <a:buNone/>
            </a:pPr>
            <a:r>
              <a:rPr lang="en-US" sz="1100" dirty="0">
                <a:solidFill>
                  <a:srgbClr val="EEF1F4"/>
                </a:solidFill>
                <a:latin typeface="Calibri" pitchFamily="34" charset="0"/>
                <a:ea typeface="Calibri" pitchFamily="34" charset="-122"/>
                <a:cs typeface="Calibri" pitchFamily="34" charset="-120"/>
              </a:rPr>
              <a:t>Handoffs</a:t>
            </a:r>
            <a:endParaRPr lang="en-US" sz="1100" dirty="0"/>
          </a:p>
        </p:txBody>
      </p:sp>
      <p:sp>
        <p:nvSpPr>
          <p:cNvPr id="80" name="Text 74"/>
          <p:cNvSpPr txBox="1"/>
          <p:nvPr/>
        </p:nvSpPr>
        <p:spPr>
          <a:xfrm>
            <a:off x="9957816" y="5623560"/>
            <a:ext cx="109728" cy="658368"/>
          </a:xfrm>
          <a:prstGeom prst="rect">
            <a:avLst/>
          </a:prstGeom>
          <a:noFill/>
          <a:ln/>
        </p:spPr>
        <p:txBody>
          <a:bodyPr wrap="square" lIns="0" tIns="0" rIns="0" bIns="0" rtlCol="0" anchor="ctr"/>
          <a:lstStyle/>
          <a:p>
            <a:pPr algn="ctr" indent="0" marL="0">
              <a:buNone/>
            </a:pPr>
            <a:r>
              <a:rPr lang="en-US" sz="1400" dirty="0">
                <a:solidFill>
                  <a:srgbClr val="E2B54E"/>
                </a:solidFill>
                <a:latin typeface="Calibri" pitchFamily="34" charset="0"/>
                <a:ea typeface="Calibri" pitchFamily="34" charset="-122"/>
                <a:cs typeface="Calibri" pitchFamily="34" charset="-120"/>
              </a:rPr>
              <a:t>›</a:t>
            </a:r>
            <a:endParaRPr lang="en-US" sz="1400" dirty="0"/>
          </a:p>
        </p:txBody>
      </p:sp>
      <p:sp>
        <p:nvSpPr>
          <p:cNvPr id="81" name="Text 75"/>
          <p:cNvSpPr txBox="1"/>
          <p:nvPr/>
        </p:nvSpPr>
        <p:spPr>
          <a:xfrm>
            <a:off x="10012680" y="5623560"/>
            <a:ext cx="1600200" cy="658368"/>
          </a:xfrm>
          <a:prstGeom prst="rect">
            <a:avLst/>
          </a:prstGeom>
          <a:noFill/>
          <a:ln/>
        </p:spPr>
        <p:txBody>
          <a:bodyPr wrap="square" lIns="0" tIns="0" rIns="0" bIns="0" rtlCol="0" anchor="ctr"/>
          <a:lstStyle/>
          <a:p>
            <a:pPr algn="ctr" indent="0" marL="0">
              <a:buNone/>
            </a:pPr>
            <a:r>
              <a:rPr lang="en-US" sz="1100" dirty="0">
                <a:solidFill>
                  <a:srgbClr val="EEF1F4"/>
                </a:solidFill>
                <a:latin typeface="Calibri" pitchFamily="34" charset="0"/>
                <a:ea typeface="Calibri" pitchFamily="34" charset="-122"/>
                <a:cs typeface="Calibri" pitchFamily="34" charset="-120"/>
              </a:rPr>
              <a:t>Decisions + done-when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45720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THE ORIGINAL DESIGN, REGROUPED</a:t>
            </a:r>
            <a:endParaRPr lang="en-US" sz="1100" dirty="0"/>
          </a:p>
        </p:txBody>
      </p:sp>
      <p:sp>
        <p:nvSpPr>
          <p:cNvPr id="3" name="Text 1"/>
          <p:cNvSpPr txBox="1"/>
          <p:nvPr/>
        </p:nvSpPr>
        <p:spPr>
          <a:xfrm>
            <a:off x="457200" y="566928"/>
            <a:ext cx="1127729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Every original component now has a home section</a:t>
            </a:r>
            <a:endParaRPr lang="en-US" sz="2800" dirty="0"/>
          </a:p>
        </p:txBody>
      </p:sp>
      <p:sp>
        <p:nvSpPr>
          <p:cNvPr id="4" name="Text 2"/>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457200" y="1325880"/>
            <a:ext cx="2103120" cy="4617720"/>
          </a:xfrm>
          <a:prstGeom prst="roundRect">
            <a:avLst>
              <a:gd name="adj" fmla="val 2174"/>
            </a:avLst>
          </a:prstGeom>
          <a:solidFill>
            <a:srgbClr val="161C24"/>
          </a:solidFill>
          <a:ln w="9525">
            <a:solidFill>
              <a:srgbClr val="323C49"/>
            </a:solidFill>
            <a:prstDash val="solid"/>
          </a:ln>
        </p:spPr>
      </p:sp>
      <p:sp>
        <p:nvSpPr>
          <p:cNvPr id="7" name="Text 4"/>
          <p:cNvSpPr txBox="1"/>
          <p:nvPr/>
        </p:nvSpPr>
        <p:spPr>
          <a:xfrm>
            <a:off x="585216" y="1399032"/>
            <a:ext cx="1920240" cy="201168"/>
          </a:xfrm>
          <a:prstGeom prst="rect">
            <a:avLst/>
          </a:prstGeom>
          <a:noFill/>
          <a:ln/>
        </p:spPr>
        <p:txBody>
          <a:bodyPr wrap="square" lIns="0" tIns="0" rIns="0" bIns="0" rtlCol="0" anchor="t"/>
          <a:lstStyle/>
          <a:p>
            <a:pPr indent="0" marL="0">
              <a:buNone/>
            </a:pPr>
            <a:r>
              <a:rPr lang="en-US" sz="850" b="1" spc="150" kern="0" dirty="0">
                <a:solidFill>
                  <a:srgbClr val="6E7A88"/>
                </a:solidFill>
                <a:latin typeface="Calibri" pitchFamily="34" charset="0"/>
                <a:ea typeface="Calibri" pitchFamily="34" charset="-122"/>
                <a:cs typeface="Calibri" pitchFamily="34" charset="-120"/>
              </a:rPr>
              <a:t>ORIGINAL LAYER 1</a:t>
            </a:r>
            <a:endParaRPr lang="en-US" sz="850" dirty="0"/>
          </a:p>
        </p:txBody>
      </p:sp>
      <p:sp>
        <p:nvSpPr>
          <p:cNvPr id="8" name="Text 5"/>
          <p:cNvSpPr txBox="1"/>
          <p:nvPr/>
        </p:nvSpPr>
        <p:spPr>
          <a:xfrm>
            <a:off x="585216" y="1600200"/>
            <a:ext cx="1920240" cy="274320"/>
          </a:xfrm>
          <a:prstGeom prst="rect">
            <a:avLst/>
          </a:prstGeom>
          <a:noFill/>
          <a:ln/>
        </p:spPr>
        <p:txBody>
          <a:bodyPr wrap="square" lIns="0" tIns="0" rIns="0" bIns="0" rtlCol="0" anchor="ctr"/>
          <a:lstStyle/>
          <a:p>
            <a:pPr indent="0" marL="0">
              <a:buNone/>
            </a:pPr>
            <a:r>
              <a:rPr lang="en-US" sz="1200" b="1" dirty="0">
                <a:solidFill>
                  <a:srgbClr val="A3AEBB"/>
                </a:solidFill>
                <a:latin typeface="Calibri" pitchFamily="34" charset="0"/>
                <a:ea typeface="Calibri" pitchFamily="34" charset="-122"/>
                <a:cs typeface="Calibri" pitchFamily="34" charset="-120"/>
              </a:rPr>
              <a:t>Data foundation</a:t>
            </a:r>
            <a:endParaRPr lang="en-US" sz="1200" dirty="0"/>
          </a:p>
        </p:txBody>
      </p:sp>
      <p:sp>
        <p:nvSpPr>
          <p:cNvPr id="9" name="Shape 6"/>
          <p:cNvSpPr/>
          <p:nvPr/>
        </p:nvSpPr>
        <p:spPr>
          <a:xfrm>
            <a:off x="548640" y="1938528"/>
            <a:ext cx="1920240" cy="674827"/>
          </a:xfrm>
          <a:prstGeom prst="roundRect">
            <a:avLst>
              <a:gd name="adj" fmla="val 9485"/>
            </a:avLst>
          </a:prstGeom>
          <a:solidFill>
            <a:srgbClr val="1D242E"/>
          </a:solidFill>
          <a:ln w="9525">
            <a:solidFill>
              <a:srgbClr val="323C49"/>
            </a:solidFill>
            <a:prstDash val="solid"/>
          </a:ln>
        </p:spPr>
      </p:sp>
      <p:sp>
        <p:nvSpPr>
          <p:cNvPr id="10" name="Text 7"/>
          <p:cNvSpPr txBox="1"/>
          <p:nvPr/>
        </p:nvSpPr>
        <p:spPr>
          <a:xfrm>
            <a:off x="640080" y="1938528"/>
            <a:ext cx="1234440" cy="674827"/>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MT5 · 15 MQL5 indicators</a:t>
            </a:r>
            <a:endParaRPr lang="en-US" sz="1050" dirty="0"/>
          </a:p>
        </p:txBody>
      </p:sp>
      <p:sp>
        <p:nvSpPr>
          <p:cNvPr id="11" name="Shape 8"/>
          <p:cNvSpPr/>
          <p:nvPr/>
        </p:nvSpPr>
        <p:spPr>
          <a:xfrm>
            <a:off x="2103120" y="2120494"/>
            <a:ext cx="310896" cy="310896"/>
          </a:xfrm>
          <a:prstGeom prst="ellipse">
            <a:avLst/>
          </a:prstGeom>
          <a:solidFill>
            <a:srgbClr val="5CC2B2"/>
          </a:solidFill>
          <a:ln w="15875">
            <a:solidFill>
              <a:srgbClr val="5CC2B2"/>
            </a:solidFill>
            <a:prstDash val="solid"/>
          </a:ln>
        </p:spPr>
      </p:sp>
      <p:sp>
        <p:nvSpPr>
          <p:cNvPr id="12" name="Text 9"/>
          <p:cNvSpPr txBox="1"/>
          <p:nvPr/>
        </p:nvSpPr>
        <p:spPr>
          <a:xfrm>
            <a:off x="2103120" y="2120494"/>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3" name="Shape 10"/>
          <p:cNvSpPr/>
          <p:nvPr/>
        </p:nvSpPr>
        <p:spPr>
          <a:xfrm>
            <a:off x="548640" y="2741371"/>
            <a:ext cx="1920240" cy="674827"/>
          </a:xfrm>
          <a:prstGeom prst="roundRect">
            <a:avLst>
              <a:gd name="adj" fmla="val 9485"/>
            </a:avLst>
          </a:prstGeom>
          <a:solidFill>
            <a:srgbClr val="1D242E"/>
          </a:solidFill>
          <a:ln w="9525">
            <a:solidFill>
              <a:srgbClr val="323C49"/>
            </a:solidFill>
            <a:prstDash val="solid"/>
          </a:ln>
        </p:spPr>
      </p:sp>
      <p:sp>
        <p:nvSpPr>
          <p:cNvPr id="14" name="Text 11"/>
          <p:cNvSpPr txBox="1"/>
          <p:nvPr/>
        </p:nvSpPr>
        <p:spPr>
          <a:xfrm>
            <a:off x="640080" y="2741371"/>
            <a:ext cx="1234440" cy="674827"/>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Collector → push worker → gateway</a:t>
            </a:r>
            <a:endParaRPr lang="en-US" sz="1050" dirty="0"/>
          </a:p>
        </p:txBody>
      </p:sp>
      <p:sp>
        <p:nvSpPr>
          <p:cNvPr id="15" name="Shape 12"/>
          <p:cNvSpPr/>
          <p:nvPr/>
        </p:nvSpPr>
        <p:spPr>
          <a:xfrm>
            <a:off x="2103120" y="2923337"/>
            <a:ext cx="310896" cy="310896"/>
          </a:xfrm>
          <a:prstGeom prst="ellipse">
            <a:avLst/>
          </a:prstGeom>
          <a:solidFill>
            <a:srgbClr val="5CC2B2"/>
          </a:solidFill>
          <a:ln w="15875">
            <a:solidFill>
              <a:srgbClr val="5CC2B2"/>
            </a:solidFill>
            <a:prstDash val="solid"/>
          </a:ln>
        </p:spPr>
      </p:sp>
      <p:sp>
        <p:nvSpPr>
          <p:cNvPr id="16" name="Text 13"/>
          <p:cNvSpPr txBox="1"/>
          <p:nvPr/>
        </p:nvSpPr>
        <p:spPr>
          <a:xfrm>
            <a:off x="2103120" y="2923337"/>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7" name="Shape 14"/>
          <p:cNvSpPr/>
          <p:nvPr/>
        </p:nvSpPr>
        <p:spPr>
          <a:xfrm>
            <a:off x="548640" y="3544214"/>
            <a:ext cx="1920240" cy="674827"/>
          </a:xfrm>
          <a:prstGeom prst="roundRect">
            <a:avLst>
              <a:gd name="adj" fmla="val 9485"/>
            </a:avLst>
          </a:prstGeom>
          <a:solidFill>
            <a:srgbClr val="1D242E"/>
          </a:solidFill>
          <a:ln w="9525">
            <a:solidFill>
              <a:srgbClr val="323C49"/>
            </a:solidFill>
            <a:prstDash val="solid"/>
          </a:ln>
        </p:spPr>
      </p:sp>
      <p:sp>
        <p:nvSpPr>
          <p:cNvPr id="18" name="Text 15"/>
          <p:cNvSpPr txBox="1"/>
          <p:nvPr/>
        </p:nvSpPr>
        <p:spPr>
          <a:xfrm>
            <a:off x="640080" y="3544214"/>
            <a:ext cx="1234440" cy="674827"/>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PostgreSQL · 4 tables</a:t>
            </a:r>
            <a:endParaRPr lang="en-US" sz="1050" dirty="0"/>
          </a:p>
        </p:txBody>
      </p:sp>
      <p:sp>
        <p:nvSpPr>
          <p:cNvPr id="19" name="Shape 16"/>
          <p:cNvSpPr/>
          <p:nvPr/>
        </p:nvSpPr>
        <p:spPr>
          <a:xfrm>
            <a:off x="2103120" y="3726180"/>
            <a:ext cx="310896" cy="310896"/>
          </a:xfrm>
          <a:prstGeom prst="ellipse">
            <a:avLst/>
          </a:prstGeom>
          <a:solidFill>
            <a:srgbClr val="5CC2B2"/>
          </a:solidFill>
          <a:ln w="15875">
            <a:solidFill>
              <a:srgbClr val="5CC2B2"/>
            </a:solidFill>
            <a:prstDash val="solid"/>
          </a:ln>
        </p:spPr>
      </p:sp>
      <p:sp>
        <p:nvSpPr>
          <p:cNvPr id="20" name="Text 17"/>
          <p:cNvSpPr txBox="1"/>
          <p:nvPr/>
        </p:nvSpPr>
        <p:spPr>
          <a:xfrm>
            <a:off x="2103120" y="3726180"/>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21" name="Shape 18"/>
          <p:cNvSpPr/>
          <p:nvPr/>
        </p:nvSpPr>
        <p:spPr>
          <a:xfrm>
            <a:off x="548640" y="4347058"/>
            <a:ext cx="1920240" cy="674827"/>
          </a:xfrm>
          <a:prstGeom prst="roundRect">
            <a:avLst>
              <a:gd name="adj" fmla="val 9485"/>
            </a:avLst>
          </a:prstGeom>
          <a:solidFill>
            <a:srgbClr val="1D242E"/>
          </a:solidFill>
          <a:ln w="9525">
            <a:solidFill>
              <a:srgbClr val="323C49"/>
            </a:solidFill>
            <a:prstDash val="solid"/>
          </a:ln>
        </p:spPr>
      </p:sp>
      <p:sp>
        <p:nvSpPr>
          <p:cNvPr id="22" name="Text 19"/>
          <p:cNvSpPr txBox="1"/>
          <p:nvPr/>
        </p:nvSpPr>
        <p:spPr>
          <a:xfrm>
            <a:off x="640080" y="4347058"/>
            <a:ext cx="1234440" cy="674827"/>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Chart PNGs → private R2</a:t>
            </a:r>
            <a:endParaRPr lang="en-US" sz="1050" dirty="0"/>
          </a:p>
        </p:txBody>
      </p:sp>
      <p:sp>
        <p:nvSpPr>
          <p:cNvPr id="23" name="Shape 20"/>
          <p:cNvSpPr/>
          <p:nvPr/>
        </p:nvSpPr>
        <p:spPr>
          <a:xfrm>
            <a:off x="2103120" y="4529023"/>
            <a:ext cx="310896" cy="310896"/>
          </a:xfrm>
          <a:prstGeom prst="ellipse">
            <a:avLst/>
          </a:prstGeom>
          <a:solidFill>
            <a:srgbClr val="5CC2B2"/>
          </a:solidFill>
          <a:ln w="15875">
            <a:solidFill>
              <a:srgbClr val="5CC2B2"/>
            </a:solidFill>
            <a:prstDash val="solid"/>
          </a:ln>
        </p:spPr>
      </p:sp>
      <p:sp>
        <p:nvSpPr>
          <p:cNvPr id="24" name="Text 21"/>
          <p:cNvSpPr txBox="1"/>
          <p:nvPr/>
        </p:nvSpPr>
        <p:spPr>
          <a:xfrm>
            <a:off x="2103120" y="4529023"/>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25" name="Shape 22"/>
          <p:cNvSpPr/>
          <p:nvPr/>
        </p:nvSpPr>
        <p:spPr>
          <a:xfrm>
            <a:off x="548640" y="5149901"/>
            <a:ext cx="1920240" cy="674827"/>
          </a:xfrm>
          <a:prstGeom prst="roundRect">
            <a:avLst>
              <a:gd name="adj" fmla="val 9485"/>
            </a:avLst>
          </a:prstGeom>
          <a:solidFill>
            <a:srgbClr val="1D242E"/>
          </a:solidFill>
          <a:ln w="9525">
            <a:solidFill>
              <a:srgbClr val="323C49"/>
            </a:solidFill>
            <a:prstDash val="solid"/>
          </a:ln>
        </p:spPr>
      </p:sp>
      <p:sp>
        <p:nvSpPr>
          <p:cNvPr id="26" name="Text 23"/>
          <p:cNvSpPr txBox="1"/>
          <p:nvPr/>
        </p:nvSpPr>
        <p:spPr>
          <a:xfrm>
            <a:off x="640080" y="5149901"/>
            <a:ext cx="1234440" cy="674827"/>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txtai index · router file</a:t>
            </a:r>
            <a:endParaRPr lang="en-US" sz="1050" dirty="0"/>
          </a:p>
        </p:txBody>
      </p:sp>
      <p:sp>
        <p:nvSpPr>
          <p:cNvPr id="27" name="Shape 24"/>
          <p:cNvSpPr/>
          <p:nvPr/>
        </p:nvSpPr>
        <p:spPr>
          <a:xfrm>
            <a:off x="2103120" y="5331866"/>
            <a:ext cx="310896" cy="310896"/>
          </a:xfrm>
          <a:prstGeom prst="ellipse">
            <a:avLst/>
          </a:prstGeom>
          <a:solidFill>
            <a:srgbClr val="7FA8E8"/>
          </a:solidFill>
          <a:ln w="15875">
            <a:solidFill>
              <a:srgbClr val="7FA8E8"/>
            </a:solidFill>
            <a:prstDash val="solid"/>
          </a:ln>
        </p:spPr>
      </p:sp>
      <p:sp>
        <p:nvSpPr>
          <p:cNvPr id="28" name="Text 25"/>
          <p:cNvSpPr txBox="1"/>
          <p:nvPr/>
        </p:nvSpPr>
        <p:spPr>
          <a:xfrm>
            <a:off x="2103120" y="533186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29" name="Shape 26"/>
          <p:cNvSpPr/>
          <p:nvPr/>
        </p:nvSpPr>
        <p:spPr>
          <a:xfrm>
            <a:off x="2743200" y="1325880"/>
            <a:ext cx="2103120" cy="4617720"/>
          </a:xfrm>
          <a:prstGeom prst="roundRect">
            <a:avLst>
              <a:gd name="adj" fmla="val 2174"/>
            </a:avLst>
          </a:prstGeom>
          <a:solidFill>
            <a:srgbClr val="161C24"/>
          </a:solidFill>
          <a:ln w="9525">
            <a:solidFill>
              <a:srgbClr val="323C49"/>
            </a:solidFill>
            <a:prstDash val="solid"/>
          </a:ln>
        </p:spPr>
      </p:sp>
      <p:sp>
        <p:nvSpPr>
          <p:cNvPr id="30" name="Text 27"/>
          <p:cNvSpPr txBox="1"/>
          <p:nvPr/>
        </p:nvSpPr>
        <p:spPr>
          <a:xfrm>
            <a:off x="2871216" y="1399032"/>
            <a:ext cx="1920240" cy="201168"/>
          </a:xfrm>
          <a:prstGeom prst="rect">
            <a:avLst/>
          </a:prstGeom>
          <a:noFill/>
          <a:ln/>
        </p:spPr>
        <p:txBody>
          <a:bodyPr wrap="square" lIns="0" tIns="0" rIns="0" bIns="0" rtlCol="0" anchor="t"/>
          <a:lstStyle/>
          <a:p>
            <a:pPr indent="0" marL="0">
              <a:buNone/>
            </a:pPr>
            <a:r>
              <a:rPr lang="en-US" sz="850" b="1" spc="150" kern="0" dirty="0">
                <a:solidFill>
                  <a:srgbClr val="6E7A88"/>
                </a:solidFill>
                <a:latin typeface="Calibri" pitchFamily="34" charset="0"/>
                <a:ea typeface="Calibri" pitchFamily="34" charset="-122"/>
                <a:cs typeface="Calibri" pitchFamily="34" charset="-120"/>
              </a:rPr>
              <a:t>ORIGINAL LAYER 2</a:t>
            </a:r>
            <a:endParaRPr lang="en-US" sz="850" dirty="0"/>
          </a:p>
        </p:txBody>
      </p:sp>
      <p:sp>
        <p:nvSpPr>
          <p:cNvPr id="31" name="Text 28"/>
          <p:cNvSpPr txBox="1"/>
          <p:nvPr/>
        </p:nvSpPr>
        <p:spPr>
          <a:xfrm>
            <a:off x="2871216" y="1600200"/>
            <a:ext cx="1920240" cy="274320"/>
          </a:xfrm>
          <a:prstGeom prst="rect">
            <a:avLst/>
          </a:prstGeom>
          <a:noFill/>
          <a:ln/>
        </p:spPr>
        <p:txBody>
          <a:bodyPr wrap="square" lIns="0" tIns="0" rIns="0" bIns="0" rtlCol="0" anchor="ctr"/>
          <a:lstStyle/>
          <a:p>
            <a:pPr indent="0" marL="0">
              <a:buNone/>
            </a:pPr>
            <a:r>
              <a:rPr lang="en-US" sz="1200" b="1" dirty="0">
                <a:solidFill>
                  <a:srgbClr val="A3AEBB"/>
                </a:solidFill>
                <a:latin typeface="Calibri" pitchFamily="34" charset="0"/>
                <a:ea typeface="Calibri" pitchFamily="34" charset="-122"/>
                <a:cs typeface="Calibri" pitchFamily="34" charset="-120"/>
              </a:rPr>
              <a:t>Session gate</a:t>
            </a:r>
            <a:endParaRPr lang="en-US" sz="1200" dirty="0"/>
          </a:p>
        </p:txBody>
      </p:sp>
      <p:sp>
        <p:nvSpPr>
          <p:cNvPr id="32" name="Shape 29"/>
          <p:cNvSpPr/>
          <p:nvPr/>
        </p:nvSpPr>
        <p:spPr>
          <a:xfrm>
            <a:off x="2834640" y="1938528"/>
            <a:ext cx="1920240" cy="875538"/>
          </a:xfrm>
          <a:prstGeom prst="roundRect">
            <a:avLst>
              <a:gd name="adj" fmla="val 7311"/>
            </a:avLst>
          </a:prstGeom>
          <a:solidFill>
            <a:srgbClr val="1D242E"/>
          </a:solidFill>
          <a:ln w="9525">
            <a:solidFill>
              <a:srgbClr val="323C49"/>
            </a:solidFill>
            <a:prstDash val="solid"/>
          </a:ln>
        </p:spPr>
      </p:sp>
      <p:sp>
        <p:nvSpPr>
          <p:cNvPr id="33" name="Text 30"/>
          <p:cNvSpPr txBox="1"/>
          <p:nvPr/>
        </p:nvSpPr>
        <p:spPr>
          <a:xfrm>
            <a:off x="2926080" y="1938528"/>
            <a:ext cx="1234440" cy="875538"/>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Trader asks</a:t>
            </a:r>
            <a:endParaRPr lang="en-US" sz="1050" dirty="0"/>
          </a:p>
        </p:txBody>
      </p:sp>
      <p:sp>
        <p:nvSpPr>
          <p:cNvPr id="34" name="Shape 31"/>
          <p:cNvSpPr/>
          <p:nvPr/>
        </p:nvSpPr>
        <p:spPr>
          <a:xfrm>
            <a:off x="4389120" y="2220849"/>
            <a:ext cx="310896" cy="310896"/>
          </a:xfrm>
          <a:prstGeom prst="ellipse">
            <a:avLst/>
          </a:prstGeom>
          <a:solidFill>
            <a:srgbClr val="7FA8E8"/>
          </a:solidFill>
          <a:ln w="15875">
            <a:solidFill>
              <a:srgbClr val="7FA8E8"/>
            </a:solidFill>
            <a:prstDash val="solid"/>
          </a:ln>
        </p:spPr>
      </p:sp>
      <p:sp>
        <p:nvSpPr>
          <p:cNvPr id="35" name="Text 32"/>
          <p:cNvSpPr txBox="1"/>
          <p:nvPr/>
        </p:nvSpPr>
        <p:spPr>
          <a:xfrm>
            <a:off x="4389120" y="2220849"/>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36" name="Shape 33"/>
          <p:cNvSpPr/>
          <p:nvPr/>
        </p:nvSpPr>
        <p:spPr>
          <a:xfrm>
            <a:off x="2834640" y="2942082"/>
            <a:ext cx="1920240" cy="875538"/>
          </a:xfrm>
          <a:prstGeom prst="roundRect">
            <a:avLst>
              <a:gd name="adj" fmla="val 7311"/>
            </a:avLst>
          </a:prstGeom>
          <a:solidFill>
            <a:srgbClr val="1D242E"/>
          </a:solidFill>
          <a:ln w="9525">
            <a:solidFill>
              <a:srgbClr val="323C49"/>
            </a:solidFill>
            <a:prstDash val="solid"/>
          </a:ln>
        </p:spPr>
      </p:sp>
      <p:sp>
        <p:nvSpPr>
          <p:cNvPr id="37" name="Text 34"/>
          <p:cNvSpPr txBox="1"/>
          <p:nvPr/>
        </p:nvSpPr>
        <p:spPr>
          <a:xfrm>
            <a:off x="2926080" y="2942082"/>
            <a:ext cx="1234440" cy="875538"/>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Stack E gating · tier, quota</a:t>
            </a:r>
            <a:endParaRPr lang="en-US" sz="1050" dirty="0"/>
          </a:p>
        </p:txBody>
      </p:sp>
      <p:sp>
        <p:nvSpPr>
          <p:cNvPr id="38" name="Shape 35"/>
          <p:cNvSpPr/>
          <p:nvPr/>
        </p:nvSpPr>
        <p:spPr>
          <a:xfrm>
            <a:off x="4389120" y="3224403"/>
            <a:ext cx="310896" cy="310896"/>
          </a:xfrm>
          <a:prstGeom prst="ellipse">
            <a:avLst/>
          </a:prstGeom>
          <a:solidFill>
            <a:srgbClr val="7FA8E8"/>
          </a:solidFill>
          <a:ln w="15875">
            <a:solidFill>
              <a:srgbClr val="7FA8E8"/>
            </a:solidFill>
            <a:prstDash val="solid"/>
          </a:ln>
        </p:spPr>
      </p:sp>
      <p:sp>
        <p:nvSpPr>
          <p:cNvPr id="39" name="Text 36"/>
          <p:cNvSpPr txBox="1"/>
          <p:nvPr/>
        </p:nvSpPr>
        <p:spPr>
          <a:xfrm>
            <a:off x="4389120" y="3224403"/>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40" name="Shape 37"/>
          <p:cNvSpPr/>
          <p:nvPr/>
        </p:nvSpPr>
        <p:spPr>
          <a:xfrm>
            <a:off x="2834640" y="3945636"/>
            <a:ext cx="1920240" cy="875538"/>
          </a:xfrm>
          <a:prstGeom prst="roundRect">
            <a:avLst>
              <a:gd name="adj" fmla="val 7311"/>
            </a:avLst>
          </a:prstGeom>
          <a:solidFill>
            <a:srgbClr val="1D242E"/>
          </a:solidFill>
          <a:ln w="9525">
            <a:solidFill>
              <a:srgbClr val="323C49"/>
            </a:solidFill>
            <a:prstDash val="solid"/>
          </a:ln>
        </p:spPr>
      </p:sp>
      <p:sp>
        <p:nvSpPr>
          <p:cNvPr id="41" name="Text 38"/>
          <p:cNvSpPr txBox="1"/>
          <p:nvPr/>
        </p:nvSpPr>
        <p:spPr>
          <a:xfrm>
            <a:off x="2926080" y="3945636"/>
            <a:ext cx="1234440" cy="875538"/>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Scope guardrail</a:t>
            </a:r>
            <a:endParaRPr lang="en-US" sz="1050" dirty="0"/>
          </a:p>
        </p:txBody>
      </p:sp>
      <p:sp>
        <p:nvSpPr>
          <p:cNvPr id="42" name="Shape 39"/>
          <p:cNvSpPr/>
          <p:nvPr/>
        </p:nvSpPr>
        <p:spPr>
          <a:xfrm>
            <a:off x="4389120" y="4227957"/>
            <a:ext cx="310896" cy="310896"/>
          </a:xfrm>
          <a:prstGeom prst="ellipse">
            <a:avLst/>
          </a:prstGeom>
          <a:solidFill>
            <a:srgbClr val="7FA8E8"/>
          </a:solidFill>
          <a:ln w="15875">
            <a:solidFill>
              <a:srgbClr val="7FA8E8"/>
            </a:solidFill>
            <a:prstDash val="solid"/>
          </a:ln>
        </p:spPr>
      </p:sp>
      <p:sp>
        <p:nvSpPr>
          <p:cNvPr id="43" name="Text 40"/>
          <p:cNvSpPr txBox="1"/>
          <p:nvPr/>
        </p:nvSpPr>
        <p:spPr>
          <a:xfrm>
            <a:off x="4389120" y="4227957"/>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44" name="Shape 41"/>
          <p:cNvSpPr/>
          <p:nvPr/>
        </p:nvSpPr>
        <p:spPr>
          <a:xfrm>
            <a:off x="2834640" y="4949190"/>
            <a:ext cx="1920240" cy="875538"/>
          </a:xfrm>
          <a:prstGeom prst="roundRect">
            <a:avLst>
              <a:gd name="adj" fmla="val 7311"/>
            </a:avLst>
          </a:prstGeom>
          <a:solidFill>
            <a:srgbClr val="1D242E"/>
          </a:solidFill>
          <a:ln w="9525">
            <a:solidFill>
              <a:srgbClr val="323C49"/>
            </a:solidFill>
            <a:prstDash val="solid"/>
          </a:ln>
        </p:spPr>
      </p:sp>
      <p:sp>
        <p:nvSpPr>
          <p:cNvPr id="45" name="Text 42"/>
          <p:cNvSpPr txBox="1"/>
          <p:nvPr/>
        </p:nvSpPr>
        <p:spPr>
          <a:xfrm>
            <a:off x="2926080" y="4949190"/>
            <a:ext cx="1234440" cy="875538"/>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Engine 4 · profile gate</a:t>
            </a:r>
            <a:endParaRPr lang="en-US" sz="1050" dirty="0"/>
          </a:p>
        </p:txBody>
      </p:sp>
      <p:sp>
        <p:nvSpPr>
          <p:cNvPr id="46" name="Shape 43"/>
          <p:cNvSpPr/>
          <p:nvPr/>
        </p:nvSpPr>
        <p:spPr>
          <a:xfrm>
            <a:off x="4389120" y="5231511"/>
            <a:ext cx="310896" cy="310896"/>
          </a:xfrm>
          <a:prstGeom prst="ellipse">
            <a:avLst/>
          </a:prstGeom>
          <a:solidFill>
            <a:srgbClr val="7FA8E8"/>
          </a:solidFill>
          <a:ln w="15875">
            <a:solidFill>
              <a:srgbClr val="7FA8E8"/>
            </a:solidFill>
            <a:prstDash val="solid"/>
          </a:ln>
        </p:spPr>
      </p:sp>
      <p:sp>
        <p:nvSpPr>
          <p:cNvPr id="47" name="Text 44"/>
          <p:cNvSpPr txBox="1"/>
          <p:nvPr/>
        </p:nvSpPr>
        <p:spPr>
          <a:xfrm>
            <a:off x="4389120" y="5231511"/>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48" name="Shape 45"/>
          <p:cNvSpPr/>
          <p:nvPr/>
        </p:nvSpPr>
        <p:spPr>
          <a:xfrm>
            <a:off x="5029200" y="1325880"/>
            <a:ext cx="2103120" cy="4617720"/>
          </a:xfrm>
          <a:prstGeom prst="roundRect">
            <a:avLst>
              <a:gd name="adj" fmla="val 2174"/>
            </a:avLst>
          </a:prstGeom>
          <a:solidFill>
            <a:srgbClr val="161C24"/>
          </a:solidFill>
          <a:ln w="9525">
            <a:solidFill>
              <a:srgbClr val="323C49"/>
            </a:solidFill>
            <a:prstDash val="solid"/>
          </a:ln>
        </p:spPr>
      </p:sp>
      <p:sp>
        <p:nvSpPr>
          <p:cNvPr id="49" name="Text 46"/>
          <p:cNvSpPr txBox="1"/>
          <p:nvPr/>
        </p:nvSpPr>
        <p:spPr>
          <a:xfrm>
            <a:off x="5157216" y="1399032"/>
            <a:ext cx="1920240" cy="201168"/>
          </a:xfrm>
          <a:prstGeom prst="rect">
            <a:avLst/>
          </a:prstGeom>
          <a:noFill/>
          <a:ln/>
        </p:spPr>
        <p:txBody>
          <a:bodyPr wrap="square" lIns="0" tIns="0" rIns="0" bIns="0" rtlCol="0" anchor="t"/>
          <a:lstStyle/>
          <a:p>
            <a:pPr indent="0" marL="0">
              <a:buNone/>
            </a:pPr>
            <a:r>
              <a:rPr lang="en-US" sz="850" b="1" spc="150" kern="0" dirty="0">
                <a:solidFill>
                  <a:srgbClr val="6E7A88"/>
                </a:solidFill>
                <a:latin typeface="Calibri" pitchFamily="34" charset="0"/>
                <a:ea typeface="Calibri" pitchFamily="34" charset="-122"/>
                <a:cs typeface="Calibri" pitchFamily="34" charset="-120"/>
              </a:rPr>
              <a:t>ORIGINAL LAYER 3</a:t>
            </a:r>
            <a:endParaRPr lang="en-US" sz="850" dirty="0"/>
          </a:p>
        </p:txBody>
      </p:sp>
      <p:sp>
        <p:nvSpPr>
          <p:cNvPr id="50" name="Text 47"/>
          <p:cNvSpPr txBox="1"/>
          <p:nvPr/>
        </p:nvSpPr>
        <p:spPr>
          <a:xfrm>
            <a:off x="5157216" y="1600200"/>
            <a:ext cx="1920240" cy="274320"/>
          </a:xfrm>
          <a:prstGeom prst="rect">
            <a:avLst/>
          </a:prstGeom>
          <a:noFill/>
          <a:ln/>
        </p:spPr>
        <p:txBody>
          <a:bodyPr wrap="square" lIns="0" tIns="0" rIns="0" bIns="0" rtlCol="0" anchor="ctr"/>
          <a:lstStyle/>
          <a:p>
            <a:pPr indent="0" marL="0">
              <a:buNone/>
            </a:pPr>
            <a:r>
              <a:rPr lang="en-US" sz="1200" b="1" dirty="0">
                <a:solidFill>
                  <a:srgbClr val="A3AEBB"/>
                </a:solidFill>
                <a:latin typeface="Calibri" pitchFamily="34" charset="0"/>
                <a:ea typeface="Calibri" pitchFamily="34" charset="-122"/>
                <a:cs typeface="Calibri" pitchFamily="34" charset="-120"/>
              </a:rPr>
              <a:t>Quant state</a:t>
            </a:r>
            <a:endParaRPr lang="en-US" sz="1200" dirty="0"/>
          </a:p>
        </p:txBody>
      </p:sp>
      <p:sp>
        <p:nvSpPr>
          <p:cNvPr id="51" name="Shape 48"/>
          <p:cNvSpPr/>
          <p:nvPr/>
        </p:nvSpPr>
        <p:spPr>
          <a:xfrm>
            <a:off x="5120640" y="1938528"/>
            <a:ext cx="1920240" cy="875538"/>
          </a:xfrm>
          <a:prstGeom prst="roundRect">
            <a:avLst>
              <a:gd name="adj" fmla="val 7311"/>
            </a:avLst>
          </a:prstGeom>
          <a:solidFill>
            <a:srgbClr val="1D242E"/>
          </a:solidFill>
          <a:ln w="9525">
            <a:solidFill>
              <a:srgbClr val="323C49"/>
            </a:solidFill>
            <a:prstDash val="solid"/>
          </a:ln>
        </p:spPr>
      </p:sp>
      <p:sp>
        <p:nvSpPr>
          <p:cNvPr id="52" name="Text 49"/>
          <p:cNvSpPr txBox="1"/>
          <p:nvPr/>
        </p:nvSpPr>
        <p:spPr>
          <a:xfrm>
            <a:off x="5212080" y="1938528"/>
            <a:ext cx="886968" cy="875538"/>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Engine 1 · data access</a:t>
            </a:r>
            <a:endParaRPr lang="en-US" sz="1050" dirty="0"/>
          </a:p>
        </p:txBody>
      </p:sp>
      <p:sp>
        <p:nvSpPr>
          <p:cNvPr id="53" name="Shape 50"/>
          <p:cNvSpPr/>
          <p:nvPr/>
        </p:nvSpPr>
        <p:spPr>
          <a:xfrm>
            <a:off x="6327648" y="2220849"/>
            <a:ext cx="310896" cy="310896"/>
          </a:xfrm>
          <a:prstGeom prst="ellipse">
            <a:avLst/>
          </a:prstGeom>
          <a:solidFill>
            <a:srgbClr val="5CC2B2"/>
          </a:solidFill>
          <a:ln w="15875">
            <a:solidFill>
              <a:srgbClr val="5CC2B2"/>
            </a:solidFill>
            <a:prstDash val="solid"/>
          </a:ln>
        </p:spPr>
      </p:sp>
      <p:sp>
        <p:nvSpPr>
          <p:cNvPr id="54" name="Text 51"/>
          <p:cNvSpPr txBox="1"/>
          <p:nvPr/>
        </p:nvSpPr>
        <p:spPr>
          <a:xfrm>
            <a:off x="6327648" y="2220849"/>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55" name="Shape 52"/>
          <p:cNvSpPr/>
          <p:nvPr/>
        </p:nvSpPr>
        <p:spPr>
          <a:xfrm>
            <a:off x="6675120" y="2220849"/>
            <a:ext cx="310896" cy="310896"/>
          </a:xfrm>
          <a:prstGeom prst="ellipse">
            <a:avLst/>
          </a:prstGeom>
          <a:solidFill>
            <a:srgbClr val="5CC2B2"/>
          </a:solidFill>
          <a:ln w="15875">
            <a:solidFill>
              <a:srgbClr val="5CC2B2"/>
            </a:solidFill>
            <a:prstDash val="solid"/>
          </a:ln>
        </p:spPr>
      </p:sp>
      <p:sp>
        <p:nvSpPr>
          <p:cNvPr id="56" name="Text 53"/>
          <p:cNvSpPr txBox="1"/>
          <p:nvPr/>
        </p:nvSpPr>
        <p:spPr>
          <a:xfrm>
            <a:off x="6675120" y="2220849"/>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57" name="Shape 54"/>
          <p:cNvSpPr/>
          <p:nvPr/>
        </p:nvSpPr>
        <p:spPr>
          <a:xfrm>
            <a:off x="5120640" y="2942082"/>
            <a:ext cx="1920240" cy="875538"/>
          </a:xfrm>
          <a:prstGeom prst="roundRect">
            <a:avLst>
              <a:gd name="adj" fmla="val 7311"/>
            </a:avLst>
          </a:prstGeom>
          <a:solidFill>
            <a:srgbClr val="1D242E"/>
          </a:solidFill>
          <a:ln w="9525">
            <a:solidFill>
              <a:srgbClr val="323C49"/>
            </a:solidFill>
            <a:prstDash val="solid"/>
          </a:ln>
        </p:spPr>
      </p:sp>
      <p:sp>
        <p:nvSpPr>
          <p:cNvPr id="58" name="Text 55"/>
          <p:cNvSpPr txBox="1"/>
          <p:nvPr/>
        </p:nvSpPr>
        <p:spPr>
          <a:xfrm>
            <a:off x="5212080" y="2942082"/>
            <a:ext cx="1234440" cy="875538"/>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MCD sensors</a:t>
            </a:r>
            <a:endParaRPr lang="en-US" sz="1050" dirty="0"/>
          </a:p>
        </p:txBody>
      </p:sp>
      <p:sp>
        <p:nvSpPr>
          <p:cNvPr id="59" name="Shape 56"/>
          <p:cNvSpPr/>
          <p:nvPr/>
        </p:nvSpPr>
        <p:spPr>
          <a:xfrm>
            <a:off x="6675120" y="3224403"/>
            <a:ext cx="310896" cy="310896"/>
          </a:xfrm>
          <a:prstGeom prst="ellipse">
            <a:avLst/>
          </a:prstGeom>
          <a:solidFill>
            <a:srgbClr val="5CC2B2"/>
          </a:solidFill>
          <a:ln w="15875">
            <a:solidFill>
              <a:srgbClr val="5CC2B2"/>
            </a:solidFill>
            <a:prstDash val="solid"/>
          </a:ln>
        </p:spPr>
      </p:sp>
      <p:sp>
        <p:nvSpPr>
          <p:cNvPr id="60" name="Text 57"/>
          <p:cNvSpPr txBox="1"/>
          <p:nvPr/>
        </p:nvSpPr>
        <p:spPr>
          <a:xfrm>
            <a:off x="6675120" y="3224403"/>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61" name="Shape 58"/>
          <p:cNvSpPr/>
          <p:nvPr/>
        </p:nvSpPr>
        <p:spPr>
          <a:xfrm>
            <a:off x="5120640" y="3945636"/>
            <a:ext cx="1920240" cy="875538"/>
          </a:xfrm>
          <a:prstGeom prst="roundRect">
            <a:avLst>
              <a:gd name="adj" fmla="val 7311"/>
            </a:avLst>
          </a:prstGeom>
          <a:solidFill>
            <a:srgbClr val="1D242E"/>
          </a:solidFill>
          <a:ln w="9525">
            <a:solidFill>
              <a:srgbClr val="323C49"/>
            </a:solidFill>
            <a:prstDash val="solid"/>
          </a:ln>
        </p:spPr>
      </p:sp>
      <p:sp>
        <p:nvSpPr>
          <p:cNvPr id="62" name="Text 59"/>
          <p:cNvSpPr txBox="1"/>
          <p:nvPr/>
        </p:nvSpPr>
        <p:spPr>
          <a:xfrm>
            <a:off x="5212080" y="3945636"/>
            <a:ext cx="1234440" cy="875538"/>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4-Quadrant quality gate</a:t>
            </a:r>
            <a:endParaRPr lang="en-US" sz="1050" dirty="0"/>
          </a:p>
        </p:txBody>
      </p:sp>
      <p:sp>
        <p:nvSpPr>
          <p:cNvPr id="63" name="Shape 60"/>
          <p:cNvSpPr/>
          <p:nvPr/>
        </p:nvSpPr>
        <p:spPr>
          <a:xfrm>
            <a:off x="6675120" y="4227957"/>
            <a:ext cx="310896" cy="310896"/>
          </a:xfrm>
          <a:prstGeom prst="ellipse">
            <a:avLst/>
          </a:prstGeom>
          <a:solidFill>
            <a:srgbClr val="5CC2B2"/>
          </a:solidFill>
          <a:ln w="15875">
            <a:solidFill>
              <a:srgbClr val="5CC2B2"/>
            </a:solidFill>
            <a:prstDash val="solid"/>
          </a:ln>
        </p:spPr>
      </p:sp>
      <p:sp>
        <p:nvSpPr>
          <p:cNvPr id="64" name="Text 61"/>
          <p:cNvSpPr txBox="1"/>
          <p:nvPr/>
        </p:nvSpPr>
        <p:spPr>
          <a:xfrm>
            <a:off x="6675120" y="4227957"/>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65" name="Shape 62"/>
          <p:cNvSpPr/>
          <p:nvPr/>
        </p:nvSpPr>
        <p:spPr>
          <a:xfrm>
            <a:off x="5120640" y="4949190"/>
            <a:ext cx="1920240" cy="875538"/>
          </a:xfrm>
          <a:prstGeom prst="roundRect">
            <a:avLst>
              <a:gd name="adj" fmla="val 7311"/>
            </a:avLst>
          </a:prstGeom>
          <a:solidFill>
            <a:srgbClr val="1D242E"/>
          </a:solidFill>
          <a:ln w="9525">
            <a:solidFill>
              <a:srgbClr val="323C49"/>
            </a:solidFill>
            <a:prstDash val="solid"/>
          </a:ln>
        </p:spPr>
      </p:sp>
      <p:sp>
        <p:nvSpPr>
          <p:cNvPr id="66" name="Text 63"/>
          <p:cNvSpPr txBox="1"/>
          <p:nvPr/>
        </p:nvSpPr>
        <p:spPr>
          <a:xfrm>
            <a:off x="5212080" y="4949190"/>
            <a:ext cx="1234440" cy="875538"/>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MCD regime outputs</a:t>
            </a:r>
            <a:endParaRPr lang="en-US" sz="1050" dirty="0"/>
          </a:p>
        </p:txBody>
      </p:sp>
      <p:sp>
        <p:nvSpPr>
          <p:cNvPr id="67" name="Shape 64"/>
          <p:cNvSpPr/>
          <p:nvPr/>
        </p:nvSpPr>
        <p:spPr>
          <a:xfrm>
            <a:off x="6675120" y="5231511"/>
            <a:ext cx="310896" cy="310896"/>
          </a:xfrm>
          <a:prstGeom prst="ellipse">
            <a:avLst/>
          </a:prstGeom>
          <a:solidFill>
            <a:srgbClr val="5CC2B2"/>
          </a:solidFill>
          <a:ln w="15875">
            <a:solidFill>
              <a:srgbClr val="5CC2B2"/>
            </a:solidFill>
            <a:prstDash val="solid"/>
          </a:ln>
        </p:spPr>
      </p:sp>
      <p:sp>
        <p:nvSpPr>
          <p:cNvPr id="68" name="Text 65"/>
          <p:cNvSpPr txBox="1"/>
          <p:nvPr/>
        </p:nvSpPr>
        <p:spPr>
          <a:xfrm>
            <a:off x="6675120" y="5231511"/>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69" name="Shape 66"/>
          <p:cNvSpPr/>
          <p:nvPr/>
        </p:nvSpPr>
        <p:spPr>
          <a:xfrm>
            <a:off x="7315200" y="1325880"/>
            <a:ext cx="2103120" cy="4617720"/>
          </a:xfrm>
          <a:prstGeom prst="roundRect">
            <a:avLst>
              <a:gd name="adj" fmla="val 2174"/>
            </a:avLst>
          </a:prstGeom>
          <a:solidFill>
            <a:srgbClr val="161C24"/>
          </a:solidFill>
          <a:ln w="9525">
            <a:solidFill>
              <a:srgbClr val="323C49"/>
            </a:solidFill>
            <a:prstDash val="solid"/>
          </a:ln>
        </p:spPr>
      </p:sp>
      <p:sp>
        <p:nvSpPr>
          <p:cNvPr id="70" name="Text 67"/>
          <p:cNvSpPr txBox="1"/>
          <p:nvPr/>
        </p:nvSpPr>
        <p:spPr>
          <a:xfrm>
            <a:off x="7443216" y="1399032"/>
            <a:ext cx="1920240" cy="201168"/>
          </a:xfrm>
          <a:prstGeom prst="rect">
            <a:avLst/>
          </a:prstGeom>
          <a:noFill/>
          <a:ln/>
        </p:spPr>
        <p:txBody>
          <a:bodyPr wrap="square" lIns="0" tIns="0" rIns="0" bIns="0" rtlCol="0" anchor="t"/>
          <a:lstStyle/>
          <a:p>
            <a:pPr indent="0" marL="0">
              <a:buNone/>
            </a:pPr>
            <a:r>
              <a:rPr lang="en-US" sz="850" b="1" spc="150" kern="0" dirty="0">
                <a:solidFill>
                  <a:srgbClr val="6E7A88"/>
                </a:solidFill>
                <a:latin typeface="Calibri" pitchFamily="34" charset="0"/>
                <a:ea typeface="Calibri" pitchFamily="34" charset="-122"/>
                <a:cs typeface="Calibri" pitchFamily="34" charset="-120"/>
              </a:rPr>
              <a:t>ORIGINAL LAYER 4</a:t>
            </a:r>
            <a:endParaRPr lang="en-US" sz="850" dirty="0"/>
          </a:p>
        </p:txBody>
      </p:sp>
      <p:sp>
        <p:nvSpPr>
          <p:cNvPr id="71" name="Text 68"/>
          <p:cNvSpPr txBox="1"/>
          <p:nvPr/>
        </p:nvSpPr>
        <p:spPr>
          <a:xfrm>
            <a:off x="7443216" y="1600200"/>
            <a:ext cx="1920240" cy="274320"/>
          </a:xfrm>
          <a:prstGeom prst="rect">
            <a:avLst/>
          </a:prstGeom>
          <a:noFill/>
          <a:ln/>
        </p:spPr>
        <p:txBody>
          <a:bodyPr wrap="square" lIns="0" tIns="0" rIns="0" bIns="0" rtlCol="0" anchor="ctr"/>
          <a:lstStyle/>
          <a:p>
            <a:pPr indent="0" marL="0">
              <a:buNone/>
            </a:pPr>
            <a:r>
              <a:rPr lang="en-US" sz="1200" b="1" dirty="0">
                <a:solidFill>
                  <a:srgbClr val="A3AEBB"/>
                </a:solidFill>
                <a:latin typeface="Calibri" pitchFamily="34" charset="0"/>
                <a:ea typeface="Calibri" pitchFamily="34" charset="-122"/>
                <a:cs typeface="Calibri" pitchFamily="34" charset="-120"/>
              </a:rPr>
              <a:t>Routing &amp; synthesis</a:t>
            </a:r>
            <a:endParaRPr lang="en-US" sz="1200" dirty="0"/>
          </a:p>
        </p:txBody>
      </p:sp>
      <p:sp>
        <p:nvSpPr>
          <p:cNvPr id="72" name="Shape 69"/>
          <p:cNvSpPr/>
          <p:nvPr/>
        </p:nvSpPr>
        <p:spPr>
          <a:xfrm>
            <a:off x="7406640" y="1938528"/>
            <a:ext cx="1920240" cy="674827"/>
          </a:xfrm>
          <a:prstGeom prst="roundRect">
            <a:avLst>
              <a:gd name="adj" fmla="val 9485"/>
            </a:avLst>
          </a:prstGeom>
          <a:solidFill>
            <a:srgbClr val="1D242E"/>
          </a:solidFill>
          <a:ln w="9525">
            <a:solidFill>
              <a:srgbClr val="323C49"/>
            </a:solidFill>
            <a:prstDash val="solid"/>
          </a:ln>
        </p:spPr>
      </p:sp>
      <p:sp>
        <p:nvSpPr>
          <p:cNvPr id="73" name="Text 70"/>
          <p:cNvSpPr txBox="1"/>
          <p:nvPr/>
        </p:nvSpPr>
        <p:spPr>
          <a:xfrm>
            <a:off x="7498080" y="1938528"/>
            <a:ext cx="1234440" cy="674827"/>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Engine 1.5E router</a:t>
            </a:r>
            <a:endParaRPr lang="en-US" sz="1050" dirty="0"/>
          </a:p>
        </p:txBody>
      </p:sp>
      <p:sp>
        <p:nvSpPr>
          <p:cNvPr id="74" name="Shape 71"/>
          <p:cNvSpPr/>
          <p:nvPr/>
        </p:nvSpPr>
        <p:spPr>
          <a:xfrm>
            <a:off x="8961120" y="2120494"/>
            <a:ext cx="310896" cy="310896"/>
          </a:xfrm>
          <a:prstGeom prst="ellipse">
            <a:avLst/>
          </a:prstGeom>
          <a:solidFill>
            <a:srgbClr val="7FA8E8"/>
          </a:solidFill>
          <a:ln w="15875">
            <a:solidFill>
              <a:srgbClr val="7FA8E8"/>
            </a:solidFill>
            <a:prstDash val="solid"/>
          </a:ln>
        </p:spPr>
      </p:sp>
      <p:sp>
        <p:nvSpPr>
          <p:cNvPr id="75" name="Text 72"/>
          <p:cNvSpPr txBox="1"/>
          <p:nvPr/>
        </p:nvSpPr>
        <p:spPr>
          <a:xfrm>
            <a:off x="8961120" y="2120494"/>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76" name="Shape 73"/>
          <p:cNvSpPr/>
          <p:nvPr/>
        </p:nvSpPr>
        <p:spPr>
          <a:xfrm>
            <a:off x="7406640" y="2741371"/>
            <a:ext cx="1920240" cy="674827"/>
          </a:xfrm>
          <a:prstGeom prst="roundRect">
            <a:avLst>
              <a:gd name="adj" fmla="val 9485"/>
            </a:avLst>
          </a:prstGeom>
          <a:solidFill>
            <a:srgbClr val="1D242E"/>
          </a:solidFill>
          <a:ln w="9525">
            <a:solidFill>
              <a:srgbClr val="323C49"/>
            </a:solidFill>
            <a:prstDash val="solid"/>
          </a:ln>
        </p:spPr>
      </p:sp>
      <p:sp>
        <p:nvSpPr>
          <p:cNvPr id="77" name="Text 74"/>
          <p:cNvSpPr txBox="1"/>
          <p:nvPr/>
        </p:nvSpPr>
        <p:spPr>
          <a:xfrm>
            <a:off x="7498080" y="2741371"/>
            <a:ext cx="1234440" cy="674827"/>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Engine 2 · txtai RAG</a:t>
            </a:r>
            <a:endParaRPr lang="en-US" sz="1050" dirty="0"/>
          </a:p>
        </p:txBody>
      </p:sp>
      <p:sp>
        <p:nvSpPr>
          <p:cNvPr id="78" name="Shape 75"/>
          <p:cNvSpPr/>
          <p:nvPr/>
        </p:nvSpPr>
        <p:spPr>
          <a:xfrm>
            <a:off x="8961120" y="2923337"/>
            <a:ext cx="310896" cy="310896"/>
          </a:xfrm>
          <a:prstGeom prst="ellipse">
            <a:avLst/>
          </a:prstGeom>
          <a:solidFill>
            <a:srgbClr val="7FA8E8"/>
          </a:solidFill>
          <a:ln w="15875">
            <a:solidFill>
              <a:srgbClr val="7FA8E8"/>
            </a:solidFill>
            <a:prstDash val="solid"/>
          </a:ln>
        </p:spPr>
      </p:sp>
      <p:sp>
        <p:nvSpPr>
          <p:cNvPr id="79" name="Text 76"/>
          <p:cNvSpPr txBox="1"/>
          <p:nvPr/>
        </p:nvSpPr>
        <p:spPr>
          <a:xfrm>
            <a:off x="8961120" y="2923337"/>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80" name="Shape 77"/>
          <p:cNvSpPr/>
          <p:nvPr/>
        </p:nvSpPr>
        <p:spPr>
          <a:xfrm>
            <a:off x="7406640" y="3544214"/>
            <a:ext cx="1920240" cy="674827"/>
          </a:xfrm>
          <a:prstGeom prst="roundRect">
            <a:avLst>
              <a:gd name="adj" fmla="val 9485"/>
            </a:avLst>
          </a:prstGeom>
          <a:solidFill>
            <a:srgbClr val="1D242E"/>
          </a:solidFill>
          <a:ln w="9525">
            <a:solidFill>
              <a:srgbClr val="323C49"/>
            </a:solidFill>
            <a:prstDash val="solid"/>
          </a:ln>
        </p:spPr>
      </p:sp>
      <p:sp>
        <p:nvSpPr>
          <p:cNvPr id="81" name="Text 78"/>
          <p:cNvSpPr txBox="1"/>
          <p:nvPr/>
        </p:nvSpPr>
        <p:spPr>
          <a:xfrm>
            <a:off x="7498080" y="3544214"/>
            <a:ext cx="1234440" cy="674827"/>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Engine 3 · chart in prompt</a:t>
            </a:r>
            <a:endParaRPr lang="en-US" sz="1050" dirty="0"/>
          </a:p>
        </p:txBody>
      </p:sp>
      <p:sp>
        <p:nvSpPr>
          <p:cNvPr id="82" name="Shape 79"/>
          <p:cNvSpPr/>
          <p:nvPr/>
        </p:nvSpPr>
        <p:spPr>
          <a:xfrm>
            <a:off x="8961120" y="3726180"/>
            <a:ext cx="310896" cy="310896"/>
          </a:xfrm>
          <a:prstGeom prst="ellipse">
            <a:avLst/>
          </a:prstGeom>
          <a:solidFill>
            <a:srgbClr val="7FA8E8"/>
          </a:solidFill>
          <a:ln w="15875">
            <a:solidFill>
              <a:srgbClr val="7FA8E8"/>
            </a:solidFill>
            <a:prstDash val="solid"/>
          </a:ln>
        </p:spPr>
      </p:sp>
      <p:sp>
        <p:nvSpPr>
          <p:cNvPr id="83" name="Text 80"/>
          <p:cNvSpPr txBox="1"/>
          <p:nvPr/>
        </p:nvSpPr>
        <p:spPr>
          <a:xfrm>
            <a:off x="8961120" y="3726180"/>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84" name="Shape 81"/>
          <p:cNvSpPr/>
          <p:nvPr/>
        </p:nvSpPr>
        <p:spPr>
          <a:xfrm>
            <a:off x="7406640" y="4347058"/>
            <a:ext cx="1920240" cy="674827"/>
          </a:xfrm>
          <a:prstGeom prst="roundRect">
            <a:avLst>
              <a:gd name="adj" fmla="val 9485"/>
            </a:avLst>
          </a:prstGeom>
          <a:solidFill>
            <a:srgbClr val="1D242E"/>
          </a:solidFill>
          <a:ln w="9525">
            <a:solidFill>
              <a:srgbClr val="323C49"/>
            </a:solidFill>
            <a:prstDash val="solid"/>
          </a:ln>
        </p:spPr>
      </p:sp>
      <p:sp>
        <p:nvSpPr>
          <p:cNvPr id="85" name="Text 82"/>
          <p:cNvSpPr txBox="1"/>
          <p:nvPr/>
        </p:nvSpPr>
        <p:spPr>
          <a:xfrm>
            <a:off x="7498080" y="4347058"/>
            <a:ext cx="1234440" cy="674827"/>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Super-prompt → LLM</a:t>
            </a:r>
            <a:endParaRPr lang="en-US" sz="1050" dirty="0"/>
          </a:p>
        </p:txBody>
      </p:sp>
      <p:sp>
        <p:nvSpPr>
          <p:cNvPr id="86" name="Shape 83"/>
          <p:cNvSpPr/>
          <p:nvPr/>
        </p:nvSpPr>
        <p:spPr>
          <a:xfrm>
            <a:off x="8961120" y="4529023"/>
            <a:ext cx="310896" cy="310896"/>
          </a:xfrm>
          <a:prstGeom prst="ellipse">
            <a:avLst/>
          </a:prstGeom>
          <a:solidFill>
            <a:srgbClr val="7FA8E8"/>
          </a:solidFill>
          <a:ln w="15875">
            <a:solidFill>
              <a:srgbClr val="7FA8E8"/>
            </a:solidFill>
            <a:prstDash val="solid"/>
          </a:ln>
        </p:spPr>
      </p:sp>
      <p:sp>
        <p:nvSpPr>
          <p:cNvPr id="87" name="Text 84"/>
          <p:cNvSpPr txBox="1"/>
          <p:nvPr/>
        </p:nvSpPr>
        <p:spPr>
          <a:xfrm>
            <a:off x="8961120" y="4529023"/>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88" name="Shape 85"/>
          <p:cNvSpPr/>
          <p:nvPr/>
        </p:nvSpPr>
        <p:spPr>
          <a:xfrm>
            <a:off x="7406640" y="5149901"/>
            <a:ext cx="1920240" cy="674827"/>
          </a:xfrm>
          <a:prstGeom prst="roundRect">
            <a:avLst>
              <a:gd name="adj" fmla="val 9485"/>
            </a:avLst>
          </a:prstGeom>
          <a:solidFill>
            <a:srgbClr val="1D242E"/>
          </a:solidFill>
          <a:ln w="15875">
            <a:solidFill>
              <a:srgbClr val="E2B54E"/>
            </a:solidFill>
            <a:prstDash val="dash"/>
          </a:ln>
        </p:spPr>
      </p:sp>
      <p:sp>
        <p:nvSpPr>
          <p:cNvPr id="89" name="Text 86"/>
          <p:cNvSpPr txBox="1"/>
          <p:nvPr/>
        </p:nvSpPr>
        <p:spPr>
          <a:xfrm>
            <a:off x="7498080" y="5149901"/>
            <a:ext cx="1234440" cy="674827"/>
          </a:xfrm>
          <a:prstGeom prst="rect">
            <a:avLst/>
          </a:prstGeom>
          <a:noFill/>
          <a:ln/>
        </p:spPr>
        <p:txBody>
          <a:bodyPr wrap="square" lIns="0" tIns="0" rIns="0" bIns="0" rtlCol="0" anchor="ctr"/>
          <a:lstStyle/>
          <a:p>
            <a:pPr indent="0" marL="0">
              <a:buNone/>
            </a:pPr>
            <a:r>
              <a:rPr lang="en-US" sz="1050" b="1" dirty="0">
                <a:solidFill>
                  <a:srgbClr val="E2B54E"/>
                </a:solidFill>
                <a:latin typeface="Calibri" pitchFamily="34" charset="0"/>
                <a:ea typeface="Calibri" pitchFamily="34" charset="-122"/>
                <a:cs typeface="Calibri" pitchFamily="34" charset="-120"/>
              </a:rPr>
              <a:t>Synthesis (after WACS)</a:t>
            </a:r>
            <a:endParaRPr lang="en-US" sz="1050" dirty="0"/>
          </a:p>
        </p:txBody>
      </p:sp>
      <p:sp>
        <p:nvSpPr>
          <p:cNvPr id="90" name="Shape 87"/>
          <p:cNvSpPr/>
          <p:nvPr/>
        </p:nvSpPr>
        <p:spPr>
          <a:xfrm>
            <a:off x="8961120" y="5331866"/>
            <a:ext cx="310896" cy="310896"/>
          </a:xfrm>
          <a:prstGeom prst="ellipse">
            <a:avLst/>
          </a:prstGeom>
          <a:solidFill>
            <a:srgbClr val="5CC2B2"/>
          </a:solidFill>
          <a:ln w="15875">
            <a:solidFill>
              <a:srgbClr val="5CC2B2"/>
            </a:solidFill>
            <a:prstDash val="solid"/>
          </a:ln>
        </p:spPr>
      </p:sp>
      <p:sp>
        <p:nvSpPr>
          <p:cNvPr id="91" name="Text 88"/>
          <p:cNvSpPr txBox="1"/>
          <p:nvPr/>
        </p:nvSpPr>
        <p:spPr>
          <a:xfrm>
            <a:off x="8961120" y="533186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92" name="Shape 89"/>
          <p:cNvSpPr/>
          <p:nvPr/>
        </p:nvSpPr>
        <p:spPr>
          <a:xfrm>
            <a:off x="9601200" y="1325880"/>
            <a:ext cx="2103120" cy="4617720"/>
          </a:xfrm>
          <a:prstGeom prst="roundRect">
            <a:avLst>
              <a:gd name="adj" fmla="val 2174"/>
            </a:avLst>
          </a:prstGeom>
          <a:solidFill>
            <a:srgbClr val="161C24"/>
          </a:solidFill>
          <a:ln w="9525">
            <a:solidFill>
              <a:srgbClr val="323C49"/>
            </a:solidFill>
            <a:prstDash val="solid"/>
          </a:ln>
        </p:spPr>
      </p:sp>
      <p:sp>
        <p:nvSpPr>
          <p:cNvPr id="93" name="Text 90"/>
          <p:cNvSpPr txBox="1"/>
          <p:nvPr/>
        </p:nvSpPr>
        <p:spPr>
          <a:xfrm>
            <a:off x="9729216" y="1399032"/>
            <a:ext cx="1920240" cy="201168"/>
          </a:xfrm>
          <a:prstGeom prst="rect">
            <a:avLst/>
          </a:prstGeom>
          <a:noFill/>
          <a:ln/>
        </p:spPr>
        <p:txBody>
          <a:bodyPr wrap="square" lIns="0" tIns="0" rIns="0" bIns="0" rtlCol="0" anchor="t"/>
          <a:lstStyle/>
          <a:p>
            <a:pPr indent="0" marL="0">
              <a:buNone/>
            </a:pPr>
            <a:r>
              <a:rPr lang="en-US" sz="850" b="1" spc="150" kern="0" dirty="0">
                <a:solidFill>
                  <a:srgbClr val="6E7A88"/>
                </a:solidFill>
                <a:latin typeface="Calibri" pitchFamily="34" charset="0"/>
                <a:ea typeface="Calibri" pitchFamily="34" charset="-122"/>
                <a:cs typeface="Calibri" pitchFamily="34" charset="-120"/>
              </a:rPr>
              <a:t>ORIGINAL LAYER 5</a:t>
            </a:r>
            <a:endParaRPr lang="en-US" sz="850" dirty="0"/>
          </a:p>
        </p:txBody>
      </p:sp>
      <p:sp>
        <p:nvSpPr>
          <p:cNvPr id="94" name="Text 91"/>
          <p:cNvSpPr txBox="1"/>
          <p:nvPr/>
        </p:nvSpPr>
        <p:spPr>
          <a:xfrm>
            <a:off x="9729216" y="1600200"/>
            <a:ext cx="1920240" cy="274320"/>
          </a:xfrm>
          <a:prstGeom prst="rect">
            <a:avLst/>
          </a:prstGeom>
          <a:noFill/>
          <a:ln/>
        </p:spPr>
        <p:txBody>
          <a:bodyPr wrap="square" lIns="0" tIns="0" rIns="0" bIns="0" rtlCol="0" anchor="ctr"/>
          <a:lstStyle/>
          <a:p>
            <a:pPr indent="0" marL="0">
              <a:buNone/>
            </a:pPr>
            <a:r>
              <a:rPr lang="en-US" sz="1200" b="1" dirty="0">
                <a:solidFill>
                  <a:srgbClr val="A3AEBB"/>
                </a:solidFill>
                <a:latin typeface="Calibri" pitchFamily="34" charset="0"/>
                <a:ea typeface="Calibri" pitchFamily="34" charset="-122"/>
                <a:cs typeface="Calibri" pitchFamily="34" charset="-120"/>
              </a:rPr>
              <a:t>Dual report</a:t>
            </a:r>
            <a:endParaRPr lang="en-US" sz="1200" dirty="0"/>
          </a:p>
        </p:txBody>
      </p:sp>
      <p:sp>
        <p:nvSpPr>
          <p:cNvPr id="95" name="Shape 92"/>
          <p:cNvSpPr/>
          <p:nvPr/>
        </p:nvSpPr>
        <p:spPr>
          <a:xfrm>
            <a:off x="9692640" y="1938528"/>
            <a:ext cx="1920240" cy="674827"/>
          </a:xfrm>
          <a:prstGeom prst="roundRect">
            <a:avLst>
              <a:gd name="adj" fmla="val 9485"/>
            </a:avLst>
          </a:prstGeom>
          <a:solidFill>
            <a:srgbClr val="1D242E"/>
          </a:solidFill>
          <a:ln w="9525">
            <a:solidFill>
              <a:srgbClr val="323C49"/>
            </a:solidFill>
            <a:prstDash val="solid"/>
          </a:ln>
        </p:spPr>
      </p:sp>
      <p:sp>
        <p:nvSpPr>
          <p:cNvPr id="96" name="Text 93"/>
          <p:cNvSpPr txBox="1"/>
          <p:nvPr/>
        </p:nvSpPr>
        <p:spPr>
          <a:xfrm>
            <a:off x="9784080" y="1938528"/>
            <a:ext cx="1234440" cy="674827"/>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Report 1 + offer</a:t>
            </a:r>
            <a:endParaRPr lang="en-US" sz="1050" dirty="0"/>
          </a:p>
        </p:txBody>
      </p:sp>
      <p:sp>
        <p:nvSpPr>
          <p:cNvPr id="97" name="Shape 94"/>
          <p:cNvSpPr/>
          <p:nvPr/>
        </p:nvSpPr>
        <p:spPr>
          <a:xfrm>
            <a:off x="11247120" y="2120494"/>
            <a:ext cx="310896" cy="310896"/>
          </a:xfrm>
          <a:prstGeom prst="ellipse">
            <a:avLst/>
          </a:prstGeom>
          <a:solidFill>
            <a:srgbClr val="7FA8E8"/>
          </a:solidFill>
          <a:ln w="15875">
            <a:solidFill>
              <a:srgbClr val="7FA8E8"/>
            </a:solidFill>
            <a:prstDash val="solid"/>
          </a:ln>
        </p:spPr>
      </p:sp>
      <p:sp>
        <p:nvSpPr>
          <p:cNvPr id="98" name="Text 95"/>
          <p:cNvSpPr txBox="1"/>
          <p:nvPr/>
        </p:nvSpPr>
        <p:spPr>
          <a:xfrm>
            <a:off x="11247120" y="2120494"/>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99" name="Shape 96"/>
          <p:cNvSpPr/>
          <p:nvPr/>
        </p:nvSpPr>
        <p:spPr>
          <a:xfrm>
            <a:off x="9692640" y="2741371"/>
            <a:ext cx="1920240" cy="674827"/>
          </a:xfrm>
          <a:prstGeom prst="roundRect">
            <a:avLst>
              <a:gd name="adj" fmla="val 9485"/>
            </a:avLst>
          </a:prstGeom>
          <a:solidFill>
            <a:srgbClr val="1D242E"/>
          </a:solidFill>
          <a:ln w="9525">
            <a:solidFill>
              <a:srgbClr val="323C49"/>
            </a:solidFill>
            <a:prstDash val="solid"/>
          </a:ln>
        </p:spPr>
      </p:sp>
      <p:sp>
        <p:nvSpPr>
          <p:cNvPr id="100" name="Text 97"/>
          <p:cNvSpPr txBox="1"/>
          <p:nvPr/>
        </p:nvSpPr>
        <p:spPr>
          <a:xfrm>
            <a:off x="9784080" y="2741371"/>
            <a:ext cx="1234440" cy="674827"/>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Entry price zones</a:t>
            </a:r>
            <a:endParaRPr lang="en-US" sz="1050" dirty="0"/>
          </a:p>
        </p:txBody>
      </p:sp>
      <p:sp>
        <p:nvSpPr>
          <p:cNvPr id="101" name="Shape 98"/>
          <p:cNvSpPr/>
          <p:nvPr/>
        </p:nvSpPr>
        <p:spPr>
          <a:xfrm>
            <a:off x="11247120" y="2923337"/>
            <a:ext cx="310896" cy="310896"/>
          </a:xfrm>
          <a:prstGeom prst="ellipse">
            <a:avLst/>
          </a:prstGeom>
          <a:solidFill>
            <a:srgbClr val="5CC2B2"/>
          </a:solidFill>
          <a:ln w="15875">
            <a:solidFill>
              <a:srgbClr val="5CC2B2"/>
            </a:solidFill>
            <a:prstDash val="solid"/>
          </a:ln>
        </p:spPr>
      </p:sp>
      <p:sp>
        <p:nvSpPr>
          <p:cNvPr id="102" name="Text 99"/>
          <p:cNvSpPr txBox="1"/>
          <p:nvPr/>
        </p:nvSpPr>
        <p:spPr>
          <a:xfrm>
            <a:off x="11247120" y="2923337"/>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103" name="Shape 100"/>
          <p:cNvSpPr/>
          <p:nvPr/>
        </p:nvSpPr>
        <p:spPr>
          <a:xfrm>
            <a:off x="9692640" y="3544214"/>
            <a:ext cx="1920240" cy="674827"/>
          </a:xfrm>
          <a:prstGeom prst="roundRect">
            <a:avLst>
              <a:gd name="adj" fmla="val 9485"/>
            </a:avLst>
          </a:prstGeom>
          <a:solidFill>
            <a:srgbClr val="1D242E"/>
          </a:solidFill>
          <a:ln w="9525">
            <a:solidFill>
              <a:srgbClr val="323C49"/>
            </a:solidFill>
            <a:prstDash val="solid"/>
          </a:ln>
        </p:spPr>
      </p:sp>
      <p:sp>
        <p:nvSpPr>
          <p:cNvPr id="104" name="Text 101"/>
          <p:cNvSpPr txBox="1"/>
          <p:nvPr/>
        </p:nvSpPr>
        <p:spPr>
          <a:xfrm>
            <a:off x="9784080" y="3544214"/>
            <a:ext cx="1234440" cy="674827"/>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Input modal</a:t>
            </a:r>
            <a:endParaRPr lang="en-US" sz="1050" dirty="0"/>
          </a:p>
        </p:txBody>
      </p:sp>
      <p:sp>
        <p:nvSpPr>
          <p:cNvPr id="105" name="Shape 102"/>
          <p:cNvSpPr/>
          <p:nvPr/>
        </p:nvSpPr>
        <p:spPr>
          <a:xfrm>
            <a:off x="11247120" y="3726180"/>
            <a:ext cx="310896" cy="310896"/>
          </a:xfrm>
          <a:prstGeom prst="ellipse">
            <a:avLst/>
          </a:prstGeom>
          <a:solidFill>
            <a:srgbClr val="7FA8E8"/>
          </a:solidFill>
          <a:ln w="15875">
            <a:solidFill>
              <a:srgbClr val="7FA8E8"/>
            </a:solidFill>
            <a:prstDash val="solid"/>
          </a:ln>
        </p:spPr>
      </p:sp>
      <p:sp>
        <p:nvSpPr>
          <p:cNvPr id="106" name="Text 103"/>
          <p:cNvSpPr txBox="1"/>
          <p:nvPr/>
        </p:nvSpPr>
        <p:spPr>
          <a:xfrm>
            <a:off x="11247120" y="3726180"/>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107" name="Shape 104"/>
          <p:cNvSpPr/>
          <p:nvPr/>
        </p:nvSpPr>
        <p:spPr>
          <a:xfrm>
            <a:off x="9692640" y="4347058"/>
            <a:ext cx="1920240" cy="674827"/>
          </a:xfrm>
          <a:prstGeom prst="roundRect">
            <a:avLst>
              <a:gd name="adj" fmla="val 9485"/>
            </a:avLst>
          </a:prstGeom>
          <a:solidFill>
            <a:srgbClr val="1D242E"/>
          </a:solidFill>
          <a:ln w="9525">
            <a:solidFill>
              <a:srgbClr val="323C49"/>
            </a:solidFill>
            <a:prstDash val="solid"/>
          </a:ln>
        </p:spPr>
      </p:sp>
      <p:sp>
        <p:nvSpPr>
          <p:cNvPr id="108" name="Text 105"/>
          <p:cNvSpPr txBox="1"/>
          <p:nvPr/>
        </p:nvSpPr>
        <p:spPr>
          <a:xfrm>
            <a:off x="9784080" y="4347058"/>
            <a:ext cx="1234440" cy="674827"/>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Engine 4 · risk math</a:t>
            </a:r>
            <a:endParaRPr lang="en-US" sz="1050" dirty="0"/>
          </a:p>
        </p:txBody>
      </p:sp>
      <p:sp>
        <p:nvSpPr>
          <p:cNvPr id="109" name="Shape 106"/>
          <p:cNvSpPr/>
          <p:nvPr/>
        </p:nvSpPr>
        <p:spPr>
          <a:xfrm>
            <a:off x="11247120" y="4529023"/>
            <a:ext cx="310896" cy="310896"/>
          </a:xfrm>
          <a:prstGeom prst="ellipse">
            <a:avLst/>
          </a:prstGeom>
          <a:solidFill>
            <a:srgbClr val="7FA8E8"/>
          </a:solidFill>
          <a:ln w="15875">
            <a:solidFill>
              <a:srgbClr val="7FA8E8"/>
            </a:solidFill>
            <a:prstDash val="solid"/>
          </a:ln>
        </p:spPr>
      </p:sp>
      <p:sp>
        <p:nvSpPr>
          <p:cNvPr id="110" name="Text 107"/>
          <p:cNvSpPr txBox="1"/>
          <p:nvPr/>
        </p:nvSpPr>
        <p:spPr>
          <a:xfrm>
            <a:off x="11247120" y="4529023"/>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111" name="Shape 108"/>
          <p:cNvSpPr/>
          <p:nvPr/>
        </p:nvSpPr>
        <p:spPr>
          <a:xfrm>
            <a:off x="9692640" y="5149901"/>
            <a:ext cx="1920240" cy="674827"/>
          </a:xfrm>
          <a:prstGeom prst="roundRect">
            <a:avLst>
              <a:gd name="adj" fmla="val 9485"/>
            </a:avLst>
          </a:prstGeom>
          <a:solidFill>
            <a:srgbClr val="1D242E"/>
          </a:solidFill>
          <a:ln w="9525">
            <a:solidFill>
              <a:srgbClr val="323C49"/>
            </a:solidFill>
            <a:prstDash val="solid"/>
          </a:ln>
        </p:spPr>
      </p:sp>
      <p:sp>
        <p:nvSpPr>
          <p:cNvPr id="112" name="Text 109"/>
          <p:cNvSpPr txBox="1"/>
          <p:nvPr/>
        </p:nvSpPr>
        <p:spPr>
          <a:xfrm>
            <a:off x="9784080" y="5149901"/>
            <a:ext cx="1234440" cy="674827"/>
          </a:xfrm>
          <a:prstGeom prst="rect">
            <a:avLst/>
          </a:prstGeom>
          <a:noFill/>
          <a:ln/>
        </p:spPr>
        <p:txBody>
          <a:bodyPr wrap="square" lIns="0" tIns="0" rIns="0" bIns="0" rtlCol="0" anchor="ctr"/>
          <a:lstStyle/>
          <a:p>
            <a:pPr indent="0" marL="0">
              <a:buNone/>
            </a:pPr>
            <a:r>
              <a:rPr lang="en-US" sz="1050" b="1" dirty="0">
                <a:solidFill>
                  <a:srgbClr val="EEF1F4"/>
                </a:solidFill>
                <a:latin typeface="Calibri" pitchFamily="34" charset="0"/>
                <a:ea typeface="Calibri" pitchFamily="34" charset="-122"/>
                <a:cs typeface="Calibri" pitchFamily="34" charset="-120"/>
              </a:rPr>
              <a:t>Report 2 + consent</a:t>
            </a:r>
            <a:endParaRPr lang="en-US" sz="1050" dirty="0"/>
          </a:p>
        </p:txBody>
      </p:sp>
      <p:sp>
        <p:nvSpPr>
          <p:cNvPr id="113" name="Shape 110"/>
          <p:cNvSpPr/>
          <p:nvPr/>
        </p:nvSpPr>
        <p:spPr>
          <a:xfrm>
            <a:off x="11247120" y="5331866"/>
            <a:ext cx="310896" cy="310896"/>
          </a:xfrm>
          <a:prstGeom prst="ellipse">
            <a:avLst/>
          </a:prstGeom>
          <a:solidFill>
            <a:srgbClr val="7FA8E8"/>
          </a:solidFill>
          <a:ln w="15875">
            <a:solidFill>
              <a:srgbClr val="7FA8E8"/>
            </a:solidFill>
            <a:prstDash val="solid"/>
          </a:ln>
        </p:spPr>
      </p:sp>
      <p:sp>
        <p:nvSpPr>
          <p:cNvPr id="114" name="Text 111"/>
          <p:cNvSpPr txBox="1"/>
          <p:nvPr/>
        </p:nvSpPr>
        <p:spPr>
          <a:xfrm>
            <a:off x="11247120" y="533186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115" name="Shape 112"/>
          <p:cNvSpPr/>
          <p:nvPr/>
        </p:nvSpPr>
        <p:spPr>
          <a:xfrm>
            <a:off x="457200" y="6153912"/>
            <a:ext cx="182880" cy="182880"/>
          </a:xfrm>
          <a:prstGeom prst="ellipse">
            <a:avLst/>
          </a:prstGeom>
          <a:solidFill>
            <a:srgbClr val="5CC2B2"/>
          </a:solidFill>
          <a:ln w="12700">
            <a:solidFill>
              <a:srgbClr val="5CC2B2"/>
            </a:solidFill>
            <a:prstDash val="solid"/>
          </a:ln>
        </p:spPr>
      </p:sp>
      <p:sp>
        <p:nvSpPr>
          <p:cNvPr id="116" name="Text 113"/>
          <p:cNvSpPr txBox="1"/>
          <p:nvPr/>
        </p:nvSpPr>
        <p:spPr>
          <a:xfrm>
            <a:off x="731520" y="6108192"/>
            <a:ext cx="2743200" cy="274320"/>
          </a:xfrm>
          <a:prstGeom prst="rect">
            <a:avLst/>
          </a:prstGeom>
          <a:noFill/>
          <a:ln/>
        </p:spPr>
        <p:txBody>
          <a:bodyPr wrap="square" lIns="0" tIns="0" rIns="0" bIns="0" rtlCol="0" anchor="ctr"/>
          <a:lstStyle/>
          <a:p>
            <a:pPr indent="0" marL="0">
              <a:buNone/>
            </a:pPr>
            <a:r>
              <a:rPr lang="en-US" sz="1050" dirty="0">
                <a:solidFill>
                  <a:srgbClr val="A3AEBB"/>
                </a:solidFill>
                <a:latin typeface="Calibri" pitchFamily="34" charset="0"/>
                <a:ea typeface="Calibri" pitchFamily="34" charset="-122"/>
                <a:cs typeface="Calibri" pitchFamily="34" charset="-120"/>
              </a:rPr>
              <a:t>Sections 1–3 · every 5-minute cycle</a:t>
            </a:r>
            <a:endParaRPr lang="en-US" sz="1050" dirty="0"/>
          </a:p>
        </p:txBody>
      </p:sp>
      <p:sp>
        <p:nvSpPr>
          <p:cNvPr id="117" name="Shape 114"/>
          <p:cNvSpPr/>
          <p:nvPr/>
        </p:nvSpPr>
        <p:spPr>
          <a:xfrm>
            <a:off x="3520440" y="6153912"/>
            <a:ext cx="182880" cy="182880"/>
          </a:xfrm>
          <a:prstGeom prst="ellipse">
            <a:avLst/>
          </a:prstGeom>
          <a:solidFill>
            <a:srgbClr val="7FA8E8"/>
          </a:solidFill>
          <a:ln w="12700">
            <a:solidFill>
              <a:srgbClr val="7FA8E8"/>
            </a:solidFill>
            <a:prstDash val="solid"/>
          </a:ln>
        </p:spPr>
      </p:sp>
      <p:sp>
        <p:nvSpPr>
          <p:cNvPr id="118" name="Text 115"/>
          <p:cNvSpPr txBox="1"/>
          <p:nvPr/>
        </p:nvSpPr>
        <p:spPr>
          <a:xfrm>
            <a:off x="3794760" y="6108192"/>
            <a:ext cx="2743200" cy="274320"/>
          </a:xfrm>
          <a:prstGeom prst="rect">
            <a:avLst/>
          </a:prstGeom>
          <a:noFill/>
          <a:ln/>
        </p:spPr>
        <p:txBody>
          <a:bodyPr wrap="square" lIns="0" tIns="0" rIns="0" bIns="0" rtlCol="0" anchor="ctr"/>
          <a:lstStyle/>
          <a:p>
            <a:pPr indent="0" marL="0">
              <a:buNone/>
            </a:pPr>
            <a:r>
              <a:rPr lang="en-US" sz="1050" dirty="0">
                <a:solidFill>
                  <a:srgbClr val="A3AEBB"/>
                </a:solidFill>
                <a:latin typeface="Calibri" pitchFamily="34" charset="0"/>
                <a:ea typeface="Calibri" pitchFamily="34" charset="-122"/>
                <a:cs typeface="Calibri" pitchFamily="34" charset="-120"/>
              </a:rPr>
              <a:t>Sections 4–6 · per user question</a:t>
            </a:r>
            <a:endParaRPr lang="en-US" sz="1050" dirty="0"/>
          </a:p>
        </p:txBody>
      </p:sp>
      <p:sp>
        <p:nvSpPr>
          <p:cNvPr id="119" name="Shape 116"/>
          <p:cNvSpPr/>
          <p:nvPr/>
        </p:nvSpPr>
        <p:spPr>
          <a:xfrm>
            <a:off x="6583680" y="6153912"/>
            <a:ext cx="182880" cy="182880"/>
          </a:xfrm>
          <a:prstGeom prst="ellipse">
            <a:avLst/>
          </a:prstGeom>
          <a:solidFill>
            <a:srgbClr val="B7A3E0"/>
          </a:solidFill>
          <a:ln w="12700">
            <a:solidFill>
              <a:srgbClr val="B7A3E0"/>
            </a:solidFill>
            <a:prstDash val="solid"/>
          </a:ln>
        </p:spPr>
      </p:sp>
      <p:sp>
        <p:nvSpPr>
          <p:cNvPr id="120" name="Text 117"/>
          <p:cNvSpPr txBox="1"/>
          <p:nvPr/>
        </p:nvSpPr>
        <p:spPr>
          <a:xfrm>
            <a:off x="6858000" y="6108192"/>
            <a:ext cx="2743200" cy="274320"/>
          </a:xfrm>
          <a:prstGeom prst="rect">
            <a:avLst/>
          </a:prstGeom>
          <a:noFill/>
          <a:ln/>
        </p:spPr>
        <p:txBody>
          <a:bodyPr wrap="square" lIns="0" tIns="0" rIns="0" bIns="0" rtlCol="0" anchor="ctr"/>
          <a:lstStyle/>
          <a:p>
            <a:pPr indent="0" marL="0">
              <a:buNone/>
            </a:pPr>
            <a:r>
              <a:rPr lang="en-US" sz="1050" dirty="0">
                <a:solidFill>
                  <a:srgbClr val="A3AEBB"/>
                </a:solidFill>
                <a:latin typeface="Calibri" pitchFamily="34" charset="0"/>
                <a:ea typeface="Calibri" pitchFamily="34" charset="-122"/>
                <a:cs typeface="Calibri" pitchFamily="34" charset="-120"/>
              </a:rPr>
              <a:t>Section 7 · across both</a:t>
            </a:r>
            <a:endParaRPr lang="en-US" sz="1050" dirty="0"/>
          </a:p>
        </p:txBody>
      </p:sp>
      <p:sp>
        <p:nvSpPr>
          <p:cNvPr id="121" name="Text 118"/>
          <p:cNvSpPr txBox="1"/>
          <p:nvPr/>
        </p:nvSpPr>
        <p:spPr>
          <a:xfrm>
            <a:off x="8229600" y="6108192"/>
            <a:ext cx="3017520" cy="274320"/>
          </a:xfrm>
          <a:prstGeom prst="rect">
            <a:avLst/>
          </a:prstGeom>
          <a:noFill/>
          <a:ln/>
        </p:spPr>
        <p:txBody>
          <a:bodyPr wrap="square" lIns="0" tIns="0" rIns="0" bIns="0" rtlCol="0" anchor="ctr"/>
          <a:lstStyle/>
          <a:p>
            <a:pPr algn="r" indent="0" marL="0">
              <a:buNone/>
            </a:pPr>
            <a:r>
              <a:rPr lang="en-US" sz="1000" dirty="0">
                <a:solidFill>
                  <a:srgbClr val="A3AEBB"/>
                </a:solidFill>
                <a:latin typeface="Calibri" pitchFamily="34" charset="0"/>
                <a:ea typeface="Calibri" pitchFamily="34" charset="-122"/>
                <a:cs typeface="Calibri" pitchFamily="34" charset="-120"/>
              </a:rPr>
              <a:t>Dashed gold = new component: synthesis fills the gap WACS left.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45720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THE REVISED SHAPE</a:t>
            </a:r>
            <a:endParaRPr lang="en-US" sz="1100" dirty="0"/>
          </a:p>
        </p:txBody>
      </p:sp>
      <p:sp>
        <p:nvSpPr>
          <p:cNvPr id="3" name="Text 1"/>
          <p:cNvSpPr txBox="1"/>
          <p:nvPr/>
        </p:nvSpPr>
        <p:spPr>
          <a:xfrm>
            <a:off x="457200" y="566928"/>
            <a:ext cx="1127729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Two clocks: produce every cycle, answer on request</a:t>
            </a:r>
            <a:endParaRPr lang="en-US" sz="2800" dirty="0"/>
          </a:p>
        </p:txBody>
      </p:sp>
      <p:sp>
        <p:nvSpPr>
          <p:cNvPr id="4" name="Text 2"/>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4</a:t>
            </a:r>
            <a:endParaRPr lang="en-US" sz="1000" dirty="0"/>
          </a:p>
        </p:txBody>
      </p:sp>
      <p:sp>
        <p:nvSpPr>
          <p:cNvPr id="6" name="Shape 3"/>
          <p:cNvSpPr/>
          <p:nvPr/>
        </p:nvSpPr>
        <p:spPr>
          <a:xfrm>
            <a:off x="457200" y="1325880"/>
            <a:ext cx="11274552" cy="1828800"/>
          </a:xfrm>
          <a:prstGeom prst="roundRect">
            <a:avLst>
              <a:gd name="adj" fmla="val 2500"/>
            </a:avLst>
          </a:prstGeom>
          <a:solidFill>
            <a:srgbClr val="15302D"/>
          </a:solidFill>
          <a:ln w="9525">
            <a:solidFill>
              <a:srgbClr val="15302D"/>
            </a:solidFill>
            <a:prstDash val="solid"/>
          </a:ln>
        </p:spPr>
      </p:sp>
      <p:sp>
        <p:nvSpPr>
          <p:cNvPr id="7" name="Text 4"/>
          <p:cNvSpPr txBox="1"/>
          <p:nvPr/>
        </p:nvSpPr>
        <p:spPr>
          <a:xfrm>
            <a:off x="640080" y="1399032"/>
            <a:ext cx="3657600" cy="237744"/>
          </a:xfrm>
          <a:prstGeom prst="rect">
            <a:avLst/>
          </a:prstGeom>
          <a:noFill/>
          <a:ln/>
        </p:spPr>
        <p:txBody>
          <a:bodyPr wrap="square" lIns="0" tIns="0" rIns="0" bIns="0" rtlCol="0" anchor="t"/>
          <a:lstStyle/>
          <a:p>
            <a:pPr indent="0" marL="0">
              <a:buNone/>
            </a:pPr>
            <a:r>
              <a:rPr lang="en-US" sz="1000" b="1" spc="200" kern="0" dirty="0">
                <a:solidFill>
                  <a:srgbClr val="5CC2B2"/>
                </a:solidFill>
                <a:latin typeface="Calibri" pitchFamily="34" charset="0"/>
                <a:ea typeface="Calibri" pitchFamily="34" charset="-122"/>
                <a:cs typeface="Calibri" pitchFamily="34" charset="-120"/>
              </a:rPr>
              <a:t>EVERY 5-MINUTE CYCLE</a:t>
            </a:r>
            <a:endParaRPr lang="en-US" sz="1000" dirty="0"/>
          </a:p>
        </p:txBody>
      </p:sp>
      <p:sp>
        <p:nvSpPr>
          <p:cNvPr id="8" name="Text 5"/>
          <p:cNvSpPr txBox="1"/>
          <p:nvPr/>
        </p:nvSpPr>
        <p:spPr>
          <a:xfrm>
            <a:off x="3017520" y="1399032"/>
            <a:ext cx="3657600" cy="237744"/>
          </a:xfrm>
          <a:prstGeom prst="rect">
            <a:avLst/>
          </a:prstGeom>
          <a:noFill/>
          <a:ln/>
        </p:spPr>
        <p:txBody>
          <a:bodyPr wrap="square" lIns="0" tIns="0" rIns="0" bIns="0" rtlCol="0" anchor="t"/>
          <a:lstStyle/>
          <a:p>
            <a:pPr indent="0" marL="0">
              <a:buNone/>
            </a:pPr>
            <a:r>
              <a:rPr lang="en-US" sz="1000" i="1" dirty="0">
                <a:solidFill>
                  <a:srgbClr val="A3AEBB"/>
                </a:solidFill>
                <a:latin typeface="Calibri" pitchFamily="34" charset="0"/>
                <a:ea typeface="Calibri" pitchFamily="34" charset="-122"/>
                <a:cs typeface="Calibri" pitchFamily="34" charset="-120"/>
              </a:rPr>
              <a:t>runs whether or not anyone asks</a:t>
            </a:r>
            <a:endParaRPr lang="en-US" sz="1000" dirty="0"/>
          </a:p>
        </p:txBody>
      </p:sp>
      <p:sp>
        <p:nvSpPr>
          <p:cNvPr id="9" name="Shape 6"/>
          <p:cNvSpPr/>
          <p:nvPr/>
        </p:nvSpPr>
        <p:spPr>
          <a:xfrm>
            <a:off x="640080" y="1783080"/>
            <a:ext cx="2377440" cy="1188720"/>
          </a:xfrm>
          <a:prstGeom prst="roundRect">
            <a:avLst>
              <a:gd name="adj" fmla="val 5385"/>
            </a:avLst>
          </a:prstGeom>
          <a:solidFill>
            <a:srgbClr val="1D242E"/>
          </a:solidFill>
          <a:ln w="9525">
            <a:solidFill>
              <a:srgbClr val="323C49"/>
            </a:solidFill>
            <a:prstDash val="solid"/>
          </a:ln>
        </p:spPr>
      </p:sp>
      <p:sp>
        <p:nvSpPr>
          <p:cNvPr id="10" name="Shape 7"/>
          <p:cNvSpPr/>
          <p:nvPr/>
        </p:nvSpPr>
        <p:spPr>
          <a:xfrm>
            <a:off x="749808" y="1874520"/>
            <a:ext cx="384048" cy="384048"/>
          </a:xfrm>
          <a:prstGeom prst="ellipse">
            <a:avLst/>
          </a:prstGeom>
          <a:solidFill>
            <a:srgbClr val="5CC2B2"/>
          </a:solidFill>
          <a:ln w="15875">
            <a:solidFill>
              <a:srgbClr val="5CC2B2"/>
            </a:solidFill>
            <a:prstDash val="solid"/>
          </a:ln>
        </p:spPr>
      </p:sp>
      <p:sp>
        <p:nvSpPr>
          <p:cNvPr id="11" name="Text 8"/>
          <p:cNvSpPr txBox="1"/>
          <p:nvPr/>
        </p:nvSpPr>
        <p:spPr>
          <a:xfrm>
            <a:off x="749808" y="187452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2" name="Text 9"/>
          <p:cNvSpPr txBox="1"/>
          <p:nvPr/>
        </p:nvSpPr>
        <p:spPr>
          <a:xfrm>
            <a:off x="1225296" y="1874520"/>
            <a:ext cx="1719072" cy="384048"/>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Market data &amp; chart</a:t>
            </a:r>
            <a:endParaRPr lang="en-US" sz="1200" dirty="0"/>
          </a:p>
        </p:txBody>
      </p:sp>
      <p:sp>
        <p:nvSpPr>
          <p:cNvPr id="13" name="Text 10"/>
          <p:cNvSpPr txBox="1"/>
          <p:nvPr/>
        </p:nvSpPr>
        <p:spPr>
          <a:xfrm>
            <a:off x="768096" y="2313432"/>
            <a:ext cx="2139696" cy="621792"/>
          </a:xfrm>
          <a:prstGeom prst="rect">
            <a:avLst/>
          </a:prstGeom>
          <a:noFill/>
          <a:ln/>
        </p:spPr>
        <p:txBody>
          <a:bodyPr wrap="square" lIns="0" tIns="0" rIns="0" bIns="0" rtlCol="0" anchor="t"/>
          <a:lstStyle/>
          <a:p>
            <a:pPr indent="0" marL="0">
              <a:buNone/>
            </a:pPr>
            <a:r>
              <a:rPr lang="en-US" sz="1000" dirty="0">
                <a:solidFill>
                  <a:srgbClr val="A3AEBB"/>
                </a:solidFill>
                <a:latin typeface="Calibri" pitchFamily="34" charset="0"/>
                <a:ea typeface="Calibri" pitchFamily="34" charset="-122"/>
                <a:cs typeface="Calibri" pitchFamily="34" charset="-120"/>
              </a:rPr>
              <a:t>Closed bars, one cycle stamp, active-indicator setting, stamped chart</a:t>
            </a:r>
            <a:endParaRPr lang="en-US" sz="1000" dirty="0"/>
          </a:p>
        </p:txBody>
      </p:sp>
      <p:sp>
        <p:nvSpPr>
          <p:cNvPr id="14" name="Shape 11"/>
          <p:cNvSpPr/>
          <p:nvPr/>
        </p:nvSpPr>
        <p:spPr>
          <a:xfrm>
            <a:off x="3337560" y="1783080"/>
            <a:ext cx="2377440" cy="1188720"/>
          </a:xfrm>
          <a:prstGeom prst="roundRect">
            <a:avLst>
              <a:gd name="adj" fmla="val 5385"/>
            </a:avLst>
          </a:prstGeom>
          <a:solidFill>
            <a:srgbClr val="1D242E"/>
          </a:solidFill>
          <a:ln w="9525">
            <a:solidFill>
              <a:srgbClr val="323C49"/>
            </a:solidFill>
            <a:prstDash val="solid"/>
          </a:ln>
        </p:spPr>
      </p:sp>
      <p:sp>
        <p:nvSpPr>
          <p:cNvPr id="15" name="Shape 12"/>
          <p:cNvSpPr/>
          <p:nvPr/>
        </p:nvSpPr>
        <p:spPr>
          <a:xfrm>
            <a:off x="3447288" y="1874520"/>
            <a:ext cx="384048" cy="384048"/>
          </a:xfrm>
          <a:prstGeom prst="ellipse">
            <a:avLst/>
          </a:prstGeom>
          <a:solidFill>
            <a:srgbClr val="5CC2B2"/>
          </a:solidFill>
          <a:ln w="15875">
            <a:solidFill>
              <a:srgbClr val="5CC2B2"/>
            </a:solidFill>
            <a:prstDash val="solid"/>
          </a:ln>
        </p:spPr>
      </p:sp>
      <p:sp>
        <p:nvSpPr>
          <p:cNvPr id="16" name="Text 13"/>
          <p:cNvSpPr txBox="1"/>
          <p:nvPr/>
        </p:nvSpPr>
        <p:spPr>
          <a:xfrm>
            <a:off x="3447288" y="187452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17" name="Text 14"/>
          <p:cNvSpPr txBox="1"/>
          <p:nvPr/>
        </p:nvSpPr>
        <p:spPr>
          <a:xfrm>
            <a:off x="3922776" y="1874520"/>
            <a:ext cx="1719072" cy="384048"/>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Sensors (MCDs)</a:t>
            </a:r>
            <a:endParaRPr lang="en-US" sz="1200" dirty="0"/>
          </a:p>
        </p:txBody>
      </p:sp>
      <p:sp>
        <p:nvSpPr>
          <p:cNvPr id="18" name="Text 15"/>
          <p:cNvSpPr txBox="1"/>
          <p:nvPr/>
        </p:nvSpPr>
        <p:spPr>
          <a:xfrm>
            <a:off x="3465576" y="2313432"/>
            <a:ext cx="2139696" cy="621792"/>
          </a:xfrm>
          <a:prstGeom prst="rect">
            <a:avLst/>
          </a:prstGeom>
          <a:noFill/>
          <a:ln/>
        </p:spPr>
        <p:txBody>
          <a:bodyPr wrap="square" lIns="0" tIns="0" rIns="0" bIns="0" rtlCol="0" anchor="t"/>
          <a:lstStyle/>
          <a:p>
            <a:pPr indent="0" marL="0">
              <a:buNone/>
            </a:pPr>
            <a:r>
              <a:rPr lang="en-US" sz="1000" dirty="0">
                <a:solidFill>
                  <a:srgbClr val="A3AEBB"/>
                </a:solidFill>
                <a:latin typeface="Calibri" pitchFamily="34" charset="0"/>
                <a:ea typeface="Calibri" pitchFamily="34" charset="-122"/>
                <a:cs typeface="Calibri" pitchFamily="34" charset="-120"/>
              </a:rPr>
              <a:t>Every MCD on the same closed bars; one output format; saved per cycle</a:t>
            </a:r>
            <a:endParaRPr lang="en-US" sz="1000" dirty="0"/>
          </a:p>
        </p:txBody>
      </p:sp>
      <p:sp>
        <p:nvSpPr>
          <p:cNvPr id="19" name="Shape 16"/>
          <p:cNvSpPr/>
          <p:nvPr/>
        </p:nvSpPr>
        <p:spPr>
          <a:xfrm>
            <a:off x="6035040" y="1783080"/>
            <a:ext cx="2377440" cy="1188720"/>
          </a:xfrm>
          <a:prstGeom prst="roundRect">
            <a:avLst>
              <a:gd name="adj" fmla="val 5385"/>
            </a:avLst>
          </a:prstGeom>
          <a:solidFill>
            <a:srgbClr val="1D242E"/>
          </a:solidFill>
          <a:ln w="9525">
            <a:solidFill>
              <a:srgbClr val="323C49"/>
            </a:solidFill>
            <a:prstDash val="solid"/>
          </a:ln>
        </p:spPr>
      </p:sp>
      <p:sp>
        <p:nvSpPr>
          <p:cNvPr id="20" name="Shape 17"/>
          <p:cNvSpPr/>
          <p:nvPr/>
        </p:nvSpPr>
        <p:spPr>
          <a:xfrm>
            <a:off x="6144768" y="1874520"/>
            <a:ext cx="384048" cy="384048"/>
          </a:xfrm>
          <a:prstGeom prst="ellipse">
            <a:avLst/>
          </a:prstGeom>
          <a:solidFill>
            <a:srgbClr val="5CC2B2"/>
          </a:solidFill>
          <a:ln w="15875">
            <a:solidFill>
              <a:srgbClr val="5CC2B2"/>
            </a:solidFill>
            <a:prstDash val="solid"/>
          </a:ln>
        </p:spPr>
      </p:sp>
      <p:sp>
        <p:nvSpPr>
          <p:cNvPr id="21" name="Text 18"/>
          <p:cNvSpPr txBox="1"/>
          <p:nvPr/>
        </p:nvSpPr>
        <p:spPr>
          <a:xfrm>
            <a:off x="6144768" y="187452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22" name="Text 19"/>
          <p:cNvSpPr txBox="1"/>
          <p:nvPr/>
        </p:nvSpPr>
        <p:spPr>
          <a:xfrm>
            <a:off x="6620256" y="1874520"/>
            <a:ext cx="1719072" cy="384048"/>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Synthesis &amp; entry zones</a:t>
            </a:r>
            <a:endParaRPr lang="en-US" sz="1200" dirty="0"/>
          </a:p>
        </p:txBody>
      </p:sp>
      <p:sp>
        <p:nvSpPr>
          <p:cNvPr id="23" name="Text 20"/>
          <p:cNvSpPr txBox="1"/>
          <p:nvPr/>
        </p:nvSpPr>
        <p:spPr>
          <a:xfrm>
            <a:off x="6163056" y="2313432"/>
            <a:ext cx="2139696" cy="621792"/>
          </a:xfrm>
          <a:prstGeom prst="rect">
            <a:avLst/>
          </a:prstGeom>
          <a:noFill/>
          <a:ln/>
        </p:spPr>
        <p:txBody>
          <a:bodyPr wrap="square" lIns="0" tIns="0" rIns="0" bIns="0" rtlCol="0" anchor="t"/>
          <a:lstStyle/>
          <a:p>
            <a:pPr indent="0" marL="0">
              <a:buNone/>
            </a:pPr>
            <a:r>
              <a:rPr lang="en-US" sz="1000" dirty="0">
                <a:solidFill>
                  <a:srgbClr val="A3AEBB"/>
                </a:solidFill>
                <a:latin typeface="Calibri" pitchFamily="34" charset="0"/>
                <a:ea typeface="Calibri" pitchFamily="34" charset="-122"/>
                <a:cs typeface="Calibri" pitchFamily="34" charset="-120"/>
              </a:rPr>
              <a:t>Rules turn sensor outputs into bias, stand-aside and ranked zones</a:t>
            </a:r>
            <a:endParaRPr lang="en-US" sz="1000" dirty="0"/>
          </a:p>
        </p:txBody>
      </p:sp>
      <p:sp>
        <p:nvSpPr>
          <p:cNvPr id="24" name="Shape 21"/>
          <p:cNvSpPr/>
          <p:nvPr/>
        </p:nvSpPr>
        <p:spPr>
          <a:xfrm>
            <a:off x="8732520" y="1783080"/>
            <a:ext cx="2377440" cy="1188720"/>
          </a:xfrm>
          <a:prstGeom prst="roundRect">
            <a:avLst>
              <a:gd name="adj" fmla="val 5385"/>
            </a:avLst>
          </a:prstGeom>
          <a:solidFill>
            <a:srgbClr val="1D242E"/>
          </a:solidFill>
          <a:ln w="19050">
            <a:solidFill>
              <a:srgbClr val="E2B54E"/>
            </a:solidFill>
            <a:prstDash val="solid"/>
          </a:ln>
        </p:spPr>
      </p:sp>
      <p:sp>
        <p:nvSpPr>
          <p:cNvPr id="25" name="Shape 22"/>
          <p:cNvSpPr/>
          <p:nvPr/>
        </p:nvSpPr>
        <p:spPr>
          <a:xfrm>
            <a:off x="8842248" y="1856232"/>
            <a:ext cx="420624" cy="420624"/>
          </a:xfrm>
          <a:prstGeom prst="ellipse">
            <a:avLst/>
          </a:prstGeom>
          <a:solidFill>
            <a:srgbClr val="262F3B"/>
          </a:solidFill>
          <a:ln w="12700">
            <a:solidFill>
              <a:srgbClr val="262F3B"/>
            </a:solidFill>
            <a:prstDash val="solid"/>
          </a:ln>
        </p:spPr>
      </p:sp>
      <p:pic>
        <p:nvPicPr>
          <p:cNvPr id="26" name="Image 0" descr="preencoded.png">    </p:cNvPr>
          <p:cNvPicPr>
            <a:picLocks noChangeAspect="1"/>
          </p:cNvPicPr>
          <p:nvPr/>
        </p:nvPicPr>
        <p:blipFill>
          <a:blip r:embed="rId1"/>
          <a:stretch>
            <a:fillRect/>
          </a:stretch>
        </p:blipFill>
        <p:spPr>
          <a:xfrm>
            <a:off x="8938992" y="1952976"/>
            <a:ext cx="227137" cy="227137"/>
          </a:xfrm>
          <a:prstGeom prst="rect">
            <a:avLst/>
          </a:prstGeom>
        </p:spPr>
      </p:pic>
      <p:sp>
        <p:nvSpPr>
          <p:cNvPr id="27" name="Text 23"/>
          <p:cNvSpPr txBox="1"/>
          <p:nvPr/>
        </p:nvSpPr>
        <p:spPr>
          <a:xfrm>
            <a:off x="9317736" y="1874520"/>
            <a:ext cx="1719072" cy="384048"/>
          </a:xfrm>
          <a:prstGeom prst="rect">
            <a:avLst/>
          </a:prstGeom>
          <a:noFill/>
          <a:ln/>
        </p:spPr>
        <p:txBody>
          <a:bodyPr wrap="square" lIns="0" tIns="0" rIns="0" bIns="0" rtlCol="0" anchor="ctr"/>
          <a:lstStyle/>
          <a:p>
            <a:pPr indent="0" marL="0">
              <a:buNone/>
            </a:pPr>
            <a:r>
              <a:rPr lang="en-US" sz="1200" b="1" dirty="0">
                <a:solidFill>
                  <a:srgbClr val="E2B54E"/>
                </a:solidFill>
                <a:latin typeface="Calibri" pitchFamily="34" charset="0"/>
                <a:ea typeface="Calibri" pitchFamily="34" charset="-122"/>
                <a:cs typeface="Calibri" pitchFamily="34" charset="-120"/>
              </a:rPr>
              <a:t>Cycle snapshot</a:t>
            </a:r>
            <a:endParaRPr lang="en-US" sz="1200" dirty="0"/>
          </a:p>
        </p:txBody>
      </p:sp>
      <p:sp>
        <p:nvSpPr>
          <p:cNvPr id="28" name="Text 24"/>
          <p:cNvSpPr txBox="1"/>
          <p:nvPr/>
        </p:nvSpPr>
        <p:spPr>
          <a:xfrm>
            <a:off x="8860536" y="2313432"/>
            <a:ext cx="2139696" cy="621792"/>
          </a:xfrm>
          <a:prstGeom prst="rect">
            <a:avLst/>
          </a:prstGeom>
          <a:noFill/>
          <a:ln/>
        </p:spPr>
        <p:txBody>
          <a:bodyPr wrap="square" lIns="0" tIns="0" rIns="0" bIns="0" rtlCol="0" anchor="t"/>
          <a:lstStyle/>
          <a:p>
            <a:pPr indent="0" marL="0">
              <a:buNone/>
            </a:pPr>
            <a:r>
              <a:rPr lang="en-US" sz="1000" dirty="0">
                <a:solidFill>
                  <a:srgbClr val="A3AEBB"/>
                </a:solidFill>
                <a:latin typeface="Calibri" pitchFamily="34" charset="0"/>
                <a:ea typeface="Calibri" pitchFamily="34" charset="-122"/>
                <a:cs typeface="Calibri" pitchFamily="34" charset="-120"/>
              </a:rPr>
              <a:t>One cycle time on bars, sensor outputs, synthesis, zones and chart</a:t>
            </a:r>
            <a:endParaRPr lang="en-US" sz="1000" dirty="0"/>
          </a:p>
        </p:txBody>
      </p:sp>
      <p:sp>
        <p:nvSpPr>
          <p:cNvPr id="29" name="Shape 25"/>
          <p:cNvSpPr/>
          <p:nvPr/>
        </p:nvSpPr>
        <p:spPr>
          <a:xfrm>
            <a:off x="3044952" y="2377440"/>
            <a:ext cx="265176" cy="0"/>
          </a:xfrm>
          <a:prstGeom prst="line">
            <a:avLst/>
          </a:prstGeom>
          <a:noFill/>
          <a:ln w="15875">
            <a:solidFill>
              <a:srgbClr val="7D8A99"/>
            </a:solidFill>
            <a:prstDash val="solid"/>
            <a:tailEnd type="triangle"/>
          </a:ln>
        </p:spPr>
      </p:sp>
      <p:sp>
        <p:nvSpPr>
          <p:cNvPr id="30" name="Shape 26"/>
          <p:cNvSpPr/>
          <p:nvPr/>
        </p:nvSpPr>
        <p:spPr>
          <a:xfrm>
            <a:off x="5742432" y="2377440"/>
            <a:ext cx="265176" cy="0"/>
          </a:xfrm>
          <a:prstGeom prst="line">
            <a:avLst/>
          </a:prstGeom>
          <a:noFill/>
          <a:ln w="15875">
            <a:solidFill>
              <a:srgbClr val="7D8A99"/>
            </a:solidFill>
            <a:prstDash val="solid"/>
            <a:tailEnd type="triangle"/>
          </a:ln>
        </p:spPr>
      </p:sp>
      <p:sp>
        <p:nvSpPr>
          <p:cNvPr id="31" name="Shape 27"/>
          <p:cNvSpPr/>
          <p:nvPr/>
        </p:nvSpPr>
        <p:spPr>
          <a:xfrm>
            <a:off x="8439912" y="2377440"/>
            <a:ext cx="265176" cy="0"/>
          </a:xfrm>
          <a:prstGeom prst="line">
            <a:avLst/>
          </a:prstGeom>
          <a:noFill/>
          <a:ln w="15875">
            <a:solidFill>
              <a:srgbClr val="7D8A99"/>
            </a:solidFill>
            <a:prstDash val="solid"/>
            <a:tailEnd type="triangle"/>
          </a:ln>
        </p:spPr>
      </p:sp>
      <p:sp>
        <p:nvSpPr>
          <p:cNvPr id="32" name="Shape 28"/>
          <p:cNvSpPr/>
          <p:nvPr/>
        </p:nvSpPr>
        <p:spPr>
          <a:xfrm>
            <a:off x="9921240" y="2999232"/>
            <a:ext cx="0" cy="1088136"/>
          </a:xfrm>
          <a:prstGeom prst="line">
            <a:avLst/>
          </a:prstGeom>
          <a:noFill/>
          <a:ln w="15875">
            <a:solidFill>
              <a:srgbClr val="E2B54E"/>
            </a:solidFill>
            <a:prstDash val="solid"/>
          </a:ln>
        </p:spPr>
      </p:sp>
      <p:sp>
        <p:nvSpPr>
          <p:cNvPr id="33" name="Text 29"/>
          <p:cNvSpPr txBox="1"/>
          <p:nvPr/>
        </p:nvSpPr>
        <p:spPr>
          <a:xfrm>
            <a:off x="8092440" y="3310128"/>
            <a:ext cx="1737360" cy="274320"/>
          </a:xfrm>
          <a:prstGeom prst="rect">
            <a:avLst/>
          </a:prstGeom>
          <a:noFill/>
          <a:ln/>
        </p:spPr>
        <p:txBody>
          <a:bodyPr wrap="square" lIns="0" tIns="0" rIns="0" bIns="0" rtlCol="0" anchor="ctr"/>
          <a:lstStyle/>
          <a:p>
            <a:pPr algn="r" indent="0" marL="0">
              <a:buNone/>
            </a:pPr>
            <a:r>
              <a:rPr lang="en-US" sz="1000" i="1" dirty="0">
                <a:solidFill>
                  <a:srgbClr val="E2B54E"/>
                </a:solidFill>
                <a:latin typeface="Calibri" pitchFamily="34" charset="0"/>
                <a:ea typeface="Calibri" pitchFamily="34" charset="-122"/>
                <a:cs typeface="Calibri" pitchFamily="34" charset="-120"/>
              </a:rPr>
              <a:t>read, never recompute</a:t>
            </a:r>
            <a:endParaRPr lang="en-US" sz="1000" dirty="0"/>
          </a:p>
        </p:txBody>
      </p:sp>
      <p:sp>
        <p:nvSpPr>
          <p:cNvPr id="34" name="Shape 30"/>
          <p:cNvSpPr/>
          <p:nvPr/>
        </p:nvSpPr>
        <p:spPr>
          <a:xfrm>
            <a:off x="4526280" y="4087368"/>
            <a:ext cx="5394960" cy="0"/>
          </a:xfrm>
          <a:prstGeom prst="line">
            <a:avLst/>
          </a:prstGeom>
          <a:noFill/>
          <a:ln w="15875">
            <a:solidFill>
              <a:srgbClr val="E2B54E"/>
            </a:solidFill>
            <a:prstDash val="solid"/>
          </a:ln>
        </p:spPr>
      </p:sp>
      <p:sp>
        <p:nvSpPr>
          <p:cNvPr id="35" name="Shape 31"/>
          <p:cNvSpPr/>
          <p:nvPr/>
        </p:nvSpPr>
        <p:spPr>
          <a:xfrm>
            <a:off x="4526280" y="4087368"/>
            <a:ext cx="0" cy="118872"/>
          </a:xfrm>
          <a:prstGeom prst="line">
            <a:avLst/>
          </a:prstGeom>
          <a:noFill/>
          <a:ln w="15875">
            <a:solidFill>
              <a:srgbClr val="E2B54E"/>
            </a:solidFill>
            <a:prstDash val="solid"/>
            <a:tailEnd type="triangle"/>
          </a:ln>
        </p:spPr>
      </p:sp>
      <p:sp>
        <p:nvSpPr>
          <p:cNvPr id="36" name="Shape 32"/>
          <p:cNvSpPr/>
          <p:nvPr/>
        </p:nvSpPr>
        <p:spPr>
          <a:xfrm>
            <a:off x="7223760" y="4087368"/>
            <a:ext cx="0" cy="118872"/>
          </a:xfrm>
          <a:prstGeom prst="line">
            <a:avLst/>
          </a:prstGeom>
          <a:noFill/>
          <a:ln w="15875">
            <a:solidFill>
              <a:srgbClr val="E2B54E"/>
            </a:solidFill>
            <a:prstDash val="solid"/>
            <a:tailEnd type="triangle"/>
          </a:ln>
        </p:spPr>
      </p:sp>
      <p:sp>
        <p:nvSpPr>
          <p:cNvPr id="37" name="Shape 33"/>
          <p:cNvSpPr/>
          <p:nvPr/>
        </p:nvSpPr>
        <p:spPr>
          <a:xfrm>
            <a:off x="9921240" y="4087368"/>
            <a:ext cx="0" cy="118872"/>
          </a:xfrm>
          <a:prstGeom prst="line">
            <a:avLst/>
          </a:prstGeom>
          <a:noFill/>
          <a:ln w="15875">
            <a:solidFill>
              <a:srgbClr val="E2B54E"/>
            </a:solidFill>
            <a:prstDash val="solid"/>
            <a:tailEnd type="triangle"/>
          </a:ln>
        </p:spPr>
      </p:sp>
      <p:sp>
        <p:nvSpPr>
          <p:cNvPr id="38" name="Shape 34"/>
          <p:cNvSpPr/>
          <p:nvPr/>
        </p:nvSpPr>
        <p:spPr>
          <a:xfrm>
            <a:off x="457200" y="3639312"/>
            <a:ext cx="11274552" cy="1901952"/>
          </a:xfrm>
          <a:prstGeom prst="roundRect">
            <a:avLst>
              <a:gd name="adj" fmla="val 2404"/>
            </a:avLst>
          </a:prstGeom>
          <a:solidFill>
            <a:srgbClr val="17243A"/>
          </a:solidFill>
          <a:ln w="9525">
            <a:solidFill>
              <a:srgbClr val="17243A"/>
            </a:solidFill>
            <a:prstDash val="solid"/>
          </a:ln>
        </p:spPr>
      </p:sp>
      <p:sp>
        <p:nvSpPr>
          <p:cNvPr id="39" name="Text 35"/>
          <p:cNvSpPr txBox="1"/>
          <p:nvPr/>
        </p:nvSpPr>
        <p:spPr>
          <a:xfrm>
            <a:off x="640080" y="3712464"/>
            <a:ext cx="3657600" cy="237744"/>
          </a:xfrm>
          <a:prstGeom prst="rect">
            <a:avLst/>
          </a:prstGeom>
          <a:noFill/>
          <a:ln/>
        </p:spPr>
        <p:txBody>
          <a:bodyPr wrap="square" lIns="0" tIns="0" rIns="0" bIns="0" rtlCol="0" anchor="t"/>
          <a:lstStyle/>
          <a:p>
            <a:pPr indent="0" marL="0">
              <a:buNone/>
            </a:pPr>
            <a:r>
              <a:rPr lang="en-US" sz="1000" b="1" spc="200" kern="0" dirty="0">
                <a:solidFill>
                  <a:srgbClr val="7FA8E8"/>
                </a:solidFill>
                <a:latin typeface="Calibri" pitchFamily="34" charset="0"/>
                <a:ea typeface="Calibri" pitchFamily="34" charset="-122"/>
                <a:cs typeface="Calibri" pitchFamily="34" charset="-120"/>
              </a:rPr>
              <a:t>PER USER QUESTION</a:t>
            </a:r>
            <a:endParaRPr lang="en-US" sz="1000" dirty="0"/>
          </a:p>
        </p:txBody>
      </p:sp>
      <p:sp>
        <p:nvSpPr>
          <p:cNvPr id="40" name="Text 36"/>
          <p:cNvSpPr txBox="1"/>
          <p:nvPr/>
        </p:nvSpPr>
        <p:spPr>
          <a:xfrm>
            <a:off x="640080" y="3950208"/>
            <a:ext cx="2743200" cy="237744"/>
          </a:xfrm>
          <a:prstGeom prst="rect">
            <a:avLst/>
          </a:prstGeom>
          <a:noFill/>
          <a:ln/>
        </p:spPr>
        <p:txBody>
          <a:bodyPr wrap="square" lIns="0" tIns="0" rIns="0" bIns="0" rtlCol="0" anchor="t"/>
          <a:lstStyle/>
          <a:p>
            <a:pPr indent="0" marL="0">
              <a:buNone/>
            </a:pPr>
            <a:r>
              <a:rPr lang="en-US" sz="1000" i="1" dirty="0">
                <a:solidFill>
                  <a:srgbClr val="A3AEBB"/>
                </a:solidFill>
                <a:latin typeface="Calibri" pitchFamily="34" charset="0"/>
                <a:ea typeface="Calibri" pitchFamily="34" charset="-122"/>
                <a:cs typeface="Calibri" pitchFamily="34" charset="-120"/>
              </a:rPr>
              <a:t>reads the latest complete cycle</a:t>
            </a:r>
            <a:endParaRPr lang="en-US" sz="1000" dirty="0"/>
          </a:p>
        </p:txBody>
      </p:sp>
      <p:sp>
        <p:nvSpPr>
          <p:cNvPr id="41" name="Shape 37"/>
          <p:cNvSpPr/>
          <p:nvPr/>
        </p:nvSpPr>
        <p:spPr>
          <a:xfrm>
            <a:off x="4526280" y="4087368"/>
            <a:ext cx="5394960" cy="0"/>
          </a:xfrm>
          <a:prstGeom prst="line">
            <a:avLst/>
          </a:prstGeom>
          <a:noFill/>
          <a:ln w="15875">
            <a:solidFill>
              <a:srgbClr val="E2B54E"/>
            </a:solidFill>
            <a:prstDash val="solid"/>
          </a:ln>
        </p:spPr>
      </p:sp>
      <p:sp>
        <p:nvSpPr>
          <p:cNvPr id="42" name="Shape 38"/>
          <p:cNvSpPr/>
          <p:nvPr/>
        </p:nvSpPr>
        <p:spPr>
          <a:xfrm>
            <a:off x="4526280" y="4087368"/>
            <a:ext cx="0" cy="137160"/>
          </a:xfrm>
          <a:prstGeom prst="line">
            <a:avLst/>
          </a:prstGeom>
          <a:noFill/>
          <a:ln w="15875">
            <a:solidFill>
              <a:srgbClr val="E2B54E"/>
            </a:solidFill>
            <a:prstDash val="solid"/>
            <a:tailEnd type="triangle"/>
          </a:ln>
        </p:spPr>
      </p:sp>
      <p:sp>
        <p:nvSpPr>
          <p:cNvPr id="43" name="Shape 39"/>
          <p:cNvSpPr/>
          <p:nvPr/>
        </p:nvSpPr>
        <p:spPr>
          <a:xfrm>
            <a:off x="7223760" y="4087368"/>
            <a:ext cx="0" cy="137160"/>
          </a:xfrm>
          <a:prstGeom prst="line">
            <a:avLst/>
          </a:prstGeom>
          <a:noFill/>
          <a:ln w="15875">
            <a:solidFill>
              <a:srgbClr val="E2B54E"/>
            </a:solidFill>
            <a:prstDash val="solid"/>
            <a:tailEnd type="triangle"/>
          </a:ln>
        </p:spPr>
      </p:sp>
      <p:sp>
        <p:nvSpPr>
          <p:cNvPr id="44" name="Shape 40"/>
          <p:cNvSpPr/>
          <p:nvPr/>
        </p:nvSpPr>
        <p:spPr>
          <a:xfrm>
            <a:off x="9921240" y="4087368"/>
            <a:ext cx="0" cy="137160"/>
          </a:xfrm>
          <a:prstGeom prst="line">
            <a:avLst/>
          </a:prstGeom>
          <a:noFill/>
          <a:ln w="15875">
            <a:solidFill>
              <a:srgbClr val="E2B54E"/>
            </a:solidFill>
            <a:prstDash val="solid"/>
            <a:tailEnd type="triangle"/>
          </a:ln>
        </p:spPr>
      </p:sp>
      <p:sp>
        <p:nvSpPr>
          <p:cNvPr id="45" name="Shape 41"/>
          <p:cNvSpPr/>
          <p:nvPr/>
        </p:nvSpPr>
        <p:spPr>
          <a:xfrm>
            <a:off x="9921240" y="3639312"/>
            <a:ext cx="0" cy="448056"/>
          </a:xfrm>
          <a:prstGeom prst="line">
            <a:avLst/>
          </a:prstGeom>
          <a:noFill/>
          <a:ln w="15875">
            <a:solidFill>
              <a:srgbClr val="E2B54E"/>
            </a:solidFill>
            <a:prstDash val="solid"/>
          </a:ln>
        </p:spPr>
      </p:sp>
      <p:sp>
        <p:nvSpPr>
          <p:cNvPr id="46" name="Shape 42"/>
          <p:cNvSpPr/>
          <p:nvPr/>
        </p:nvSpPr>
        <p:spPr>
          <a:xfrm>
            <a:off x="640080" y="4242816"/>
            <a:ext cx="2377440" cy="1188720"/>
          </a:xfrm>
          <a:prstGeom prst="roundRect">
            <a:avLst>
              <a:gd name="adj" fmla="val 5385"/>
            </a:avLst>
          </a:prstGeom>
          <a:solidFill>
            <a:srgbClr val="1D242E"/>
          </a:solidFill>
          <a:ln w="9525">
            <a:solidFill>
              <a:srgbClr val="323C49"/>
            </a:solidFill>
            <a:prstDash val="solid"/>
          </a:ln>
        </p:spPr>
      </p:sp>
      <p:sp>
        <p:nvSpPr>
          <p:cNvPr id="47" name="Text 43"/>
          <p:cNvSpPr txBox="1"/>
          <p:nvPr/>
        </p:nvSpPr>
        <p:spPr>
          <a:xfrm>
            <a:off x="768096" y="4334256"/>
            <a:ext cx="2176272" cy="384048"/>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Trader</a:t>
            </a:r>
            <a:endParaRPr lang="en-US" sz="1200" dirty="0"/>
          </a:p>
        </p:txBody>
      </p:sp>
      <p:sp>
        <p:nvSpPr>
          <p:cNvPr id="48" name="Text 44"/>
          <p:cNvSpPr txBox="1"/>
          <p:nvPr/>
        </p:nvSpPr>
        <p:spPr>
          <a:xfrm>
            <a:off x="768096" y="4773168"/>
            <a:ext cx="2139696" cy="621792"/>
          </a:xfrm>
          <a:prstGeom prst="rect">
            <a:avLst/>
          </a:prstGeom>
          <a:noFill/>
          <a:ln/>
        </p:spPr>
        <p:txBody>
          <a:bodyPr wrap="square" lIns="0" tIns="0" rIns="0" bIns="0" rtlCol="0" anchor="t"/>
          <a:lstStyle/>
          <a:p>
            <a:pPr indent="0" marL="0">
              <a:buNone/>
            </a:pPr>
            <a:r>
              <a:rPr lang="en-US" sz="1000" dirty="0">
                <a:solidFill>
                  <a:srgbClr val="A3AEBB"/>
                </a:solidFill>
                <a:latin typeface="Calibri" pitchFamily="34" charset="0"/>
                <a:ea typeface="Calibri" pitchFamily="34" charset="-122"/>
                <a:cs typeface="Calibri" pitchFamily="34" charset="-120"/>
              </a:rPr>
              <a:t>Asks · reads Report 1 · accepts, modifies or declines Report 2</a:t>
            </a:r>
            <a:endParaRPr lang="en-US" sz="1000" dirty="0"/>
          </a:p>
        </p:txBody>
      </p:sp>
      <p:sp>
        <p:nvSpPr>
          <p:cNvPr id="49" name="Shape 45"/>
          <p:cNvSpPr/>
          <p:nvPr/>
        </p:nvSpPr>
        <p:spPr>
          <a:xfrm>
            <a:off x="3337560" y="4242816"/>
            <a:ext cx="2377440" cy="1188720"/>
          </a:xfrm>
          <a:prstGeom prst="roundRect">
            <a:avLst>
              <a:gd name="adj" fmla="val 5385"/>
            </a:avLst>
          </a:prstGeom>
          <a:solidFill>
            <a:srgbClr val="1D242E"/>
          </a:solidFill>
          <a:ln w="9525">
            <a:solidFill>
              <a:srgbClr val="323C49"/>
            </a:solidFill>
            <a:prstDash val="solid"/>
          </a:ln>
        </p:spPr>
      </p:sp>
      <p:sp>
        <p:nvSpPr>
          <p:cNvPr id="50" name="Shape 46"/>
          <p:cNvSpPr/>
          <p:nvPr/>
        </p:nvSpPr>
        <p:spPr>
          <a:xfrm>
            <a:off x="3447288" y="4334256"/>
            <a:ext cx="384048" cy="384048"/>
          </a:xfrm>
          <a:prstGeom prst="ellipse">
            <a:avLst/>
          </a:prstGeom>
          <a:solidFill>
            <a:srgbClr val="7FA8E8"/>
          </a:solidFill>
          <a:ln w="15875">
            <a:solidFill>
              <a:srgbClr val="7FA8E8"/>
            </a:solidFill>
            <a:prstDash val="solid"/>
          </a:ln>
        </p:spPr>
      </p:sp>
      <p:sp>
        <p:nvSpPr>
          <p:cNvPr id="51" name="Text 47"/>
          <p:cNvSpPr txBox="1"/>
          <p:nvPr/>
        </p:nvSpPr>
        <p:spPr>
          <a:xfrm>
            <a:off x="3447288" y="4334256"/>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52" name="Text 48"/>
          <p:cNvSpPr txBox="1"/>
          <p:nvPr/>
        </p:nvSpPr>
        <p:spPr>
          <a:xfrm>
            <a:off x="3922776" y="4334256"/>
            <a:ext cx="1719072" cy="384048"/>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Intake, routing &amp; knowledge</a:t>
            </a:r>
            <a:endParaRPr lang="en-US" sz="1200" dirty="0"/>
          </a:p>
        </p:txBody>
      </p:sp>
      <p:sp>
        <p:nvSpPr>
          <p:cNvPr id="53" name="Text 49"/>
          <p:cNvSpPr txBox="1"/>
          <p:nvPr/>
        </p:nvSpPr>
        <p:spPr>
          <a:xfrm>
            <a:off x="3465576" y="4773168"/>
            <a:ext cx="2139696" cy="621792"/>
          </a:xfrm>
          <a:prstGeom prst="rect">
            <a:avLst/>
          </a:prstGeom>
          <a:noFill/>
          <a:ln/>
        </p:spPr>
        <p:txBody>
          <a:bodyPr wrap="square" lIns="0" tIns="0" rIns="0" bIns="0" rtlCol="0" anchor="t"/>
          <a:lstStyle/>
          <a:p>
            <a:pPr indent="0" marL="0">
              <a:buNone/>
            </a:pPr>
            <a:r>
              <a:rPr lang="en-US" sz="1000" dirty="0">
                <a:solidFill>
                  <a:srgbClr val="A3AEBB"/>
                </a:solidFill>
                <a:latin typeface="Calibri" pitchFamily="34" charset="0"/>
                <a:ea typeface="Calibri" pitchFamily="34" charset="-122"/>
                <a:cs typeface="Calibri" pitchFamily="34" charset="-120"/>
              </a:rPr>
              <a:t>Tier and scope gate, language, sensor board, M*, knowledge</a:t>
            </a:r>
            <a:endParaRPr lang="en-US" sz="1000" dirty="0"/>
          </a:p>
        </p:txBody>
      </p:sp>
      <p:sp>
        <p:nvSpPr>
          <p:cNvPr id="54" name="Shape 50"/>
          <p:cNvSpPr/>
          <p:nvPr/>
        </p:nvSpPr>
        <p:spPr>
          <a:xfrm>
            <a:off x="6035040" y="4242816"/>
            <a:ext cx="2377440" cy="1188720"/>
          </a:xfrm>
          <a:prstGeom prst="roundRect">
            <a:avLst>
              <a:gd name="adj" fmla="val 5385"/>
            </a:avLst>
          </a:prstGeom>
          <a:solidFill>
            <a:srgbClr val="1D242E"/>
          </a:solidFill>
          <a:ln w="9525">
            <a:solidFill>
              <a:srgbClr val="323C49"/>
            </a:solidFill>
            <a:prstDash val="solid"/>
          </a:ln>
        </p:spPr>
      </p:sp>
      <p:sp>
        <p:nvSpPr>
          <p:cNvPr id="55" name="Shape 51"/>
          <p:cNvSpPr/>
          <p:nvPr/>
        </p:nvSpPr>
        <p:spPr>
          <a:xfrm>
            <a:off x="6144768" y="4334256"/>
            <a:ext cx="384048" cy="384048"/>
          </a:xfrm>
          <a:prstGeom prst="ellipse">
            <a:avLst/>
          </a:prstGeom>
          <a:solidFill>
            <a:srgbClr val="7FA8E8"/>
          </a:solidFill>
          <a:ln w="15875">
            <a:solidFill>
              <a:srgbClr val="7FA8E8"/>
            </a:solidFill>
            <a:prstDash val="solid"/>
          </a:ln>
        </p:spPr>
      </p:sp>
      <p:sp>
        <p:nvSpPr>
          <p:cNvPr id="56" name="Text 52"/>
          <p:cNvSpPr txBox="1"/>
          <p:nvPr/>
        </p:nvSpPr>
        <p:spPr>
          <a:xfrm>
            <a:off x="6144768" y="4334256"/>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57" name="Text 53"/>
          <p:cNvSpPr txBox="1"/>
          <p:nvPr/>
        </p:nvSpPr>
        <p:spPr>
          <a:xfrm>
            <a:off x="6620256" y="4334256"/>
            <a:ext cx="1719072" cy="384048"/>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Prompt &amp; AI reply</a:t>
            </a:r>
            <a:endParaRPr lang="en-US" sz="1200" dirty="0"/>
          </a:p>
        </p:txBody>
      </p:sp>
      <p:sp>
        <p:nvSpPr>
          <p:cNvPr id="58" name="Text 54"/>
          <p:cNvSpPr txBox="1"/>
          <p:nvPr/>
        </p:nvSpPr>
        <p:spPr>
          <a:xfrm>
            <a:off x="6163056" y="4773168"/>
            <a:ext cx="2139696" cy="621792"/>
          </a:xfrm>
          <a:prstGeom prst="rect">
            <a:avLst/>
          </a:prstGeom>
          <a:noFill/>
          <a:ln/>
        </p:spPr>
        <p:txBody>
          <a:bodyPr wrap="square" lIns="0" tIns="0" rIns="0" bIns="0" rtlCol="0" anchor="t"/>
          <a:lstStyle/>
          <a:p>
            <a:pPr indent="0" marL="0">
              <a:buNone/>
            </a:pPr>
            <a:r>
              <a:rPr lang="en-US" sz="1000" dirty="0">
                <a:solidFill>
                  <a:srgbClr val="A3AEBB"/>
                </a:solidFill>
                <a:latin typeface="Calibri" pitchFamily="34" charset="0"/>
                <a:ea typeface="Calibri" pitchFamily="34" charset="-122"/>
                <a:cs typeface="Calibri" pitchFamily="34" charset="-120"/>
              </a:rPr>
              <a:t>Budgeted context, checked numbers, structured Report 1</a:t>
            </a:r>
            <a:endParaRPr lang="en-US" sz="1000" dirty="0"/>
          </a:p>
        </p:txBody>
      </p:sp>
      <p:sp>
        <p:nvSpPr>
          <p:cNvPr id="59" name="Shape 55"/>
          <p:cNvSpPr/>
          <p:nvPr/>
        </p:nvSpPr>
        <p:spPr>
          <a:xfrm>
            <a:off x="8732520" y="4242816"/>
            <a:ext cx="2377440" cy="1188720"/>
          </a:xfrm>
          <a:prstGeom prst="roundRect">
            <a:avLst>
              <a:gd name="adj" fmla="val 5385"/>
            </a:avLst>
          </a:prstGeom>
          <a:solidFill>
            <a:srgbClr val="1D242E"/>
          </a:solidFill>
          <a:ln w="9525">
            <a:solidFill>
              <a:srgbClr val="323C49"/>
            </a:solidFill>
            <a:prstDash val="solid"/>
          </a:ln>
        </p:spPr>
      </p:sp>
      <p:sp>
        <p:nvSpPr>
          <p:cNvPr id="60" name="Shape 56"/>
          <p:cNvSpPr/>
          <p:nvPr/>
        </p:nvSpPr>
        <p:spPr>
          <a:xfrm>
            <a:off x="8842248" y="4334256"/>
            <a:ext cx="384048" cy="384048"/>
          </a:xfrm>
          <a:prstGeom prst="ellipse">
            <a:avLst/>
          </a:prstGeom>
          <a:solidFill>
            <a:srgbClr val="7FA8E8"/>
          </a:solidFill>
          <a:ln w="15875">
            <a:solidFill>
              <a:srgbClr val="7FA8E8"/>
            </a:solidFill>
            <a:prstDash val="solid"/>
          </a:ln>
        </p:spPr>
      </p:sp>
      <p:sp>
        <p:nvSpPr>
          <p:cNvPr id="61" name="Text 57"/>
          <p:cNvSpPr txBox="1"/>
          <p:nvPr/>
        </p:nvSpPr>
        <p:spPr>
          <a:xfrm>
            <a:off x="8842248" y="4334256"/>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62" name="Text 58"/>
          <p:cNvSpPr txBox="1"/>
          <p:nvPr/>
        </p:nvSpPr>
        <p:spPr>
          <a:xfrm>
            <a:off x="9317736" y="4334256"/>
            <a:ext cx="1719072" cy="384048"/>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Engine 4 &amp; Report 2</a:t>
            </a:r>
            <a:endParaRPr lang="en-US" sz="1200" dirty="0"/>
          </a:p>
        </p:txBody>
      </p:sp>
      <p:sp>
        <p:nvSpPr>
          <p:cNvPr id="63" name="Text 59"/>
          <p:cNvSpPr txBox="1"/>
          <p:nvPr/>
        </p:nvSpPr>
        <p:spPr>
          <a:xfrm>
            <a:off x="8860536" y="4773168"/>
            <a:ext cx="2139696" cy="621792"/>
          </a:xfrm>
          <a:prstGeom prst="rect">
            <a:avLst/>
          </a:prstGeom>
          <a:noFill/>
          <a:ln/>
        </p:spPr>
        <p:txBody>
          <a:bodyPr wrap="square" lIns="0" tIns="0" rIns="0" bIns="0" rtlCol="0" anchor="t"/>
          <a:lstStyle/>
          <a:p>
            <a:pPr indent="0" marL="0">
              <a:buNone/>
            </a:pPr>
            <a:r>
              <a:rPr lang="en-US" sz="1000" dirty="0">
                <a:solidFill>
                  <a:srgbClr val="A3AEBB"/>
                </a:solidFill>
                <a:latin typeface="Calibri" pitchFamily="34" charset="0"/>
                <a:ea typeface="Calibri" pitchFamily="34" charset="-122"/>
                <a:cs typeface="Calibri" pitchFamily="34" charset="-120"/>
              </a:rPr>
              <a:t>Profile, modal, sizing with news and quality gates, consent</a:t>
            </a:r>
            <a:endParaRPr lang="en-US" sz="1000" dirty="0"/>
          </a:p>
        </p:txBody>
      </p:sp>
      <p:sp>
        <p:nvSpPr>
          <p:cNvPr id="64" name="Shape 60"/>
          <p:cNvSpPr/>
          <p:nvPr/>
        </p:nvSpPr>
        <p:spPr>
          <a:xfrm>
            <a:off x="3044952" y="4837176"/>
            <a:ext cx="265176" cy="0"/>
          </a:xfrm>
          <a:prstGeom prst="line">
            <a:avLst/>
          </a:prstGeom>
          <a:noFill/>
          <a:ln w="15875">
            <a:solidFill>
              <a:srgbClr val="7D8A99"/>
            </a:solidFill>
            <a:prstDash val="solid"/>
            <a:tailEnd type="triangle"/>
          </a:ln>
        </p:spPr>
      </p:sp>
      <p:sp>
        <p:nvSpPr>
          <p:cNvPr id="65" name="Shape 61"/>
          <p:cNvSpPr/>
          <p:nvPr/>
        </p:nvSpPr>
        <p:spPr>
          <a:xfrm>
            <a:off x="5742432" y="4837176"/>
            <a:ext cx="265176" cy="0"/>
          </a:xfrm>
          <a:prstGeom prst="line">
            <a:avLst/>
          </a:prstGeom>
          <a:noFill/>
          <a:ln w="15875">
            <a:solidFill>
              <a:srgbClr val="7D8A99"/>
            </a:solidFill>
            <a:prstDash val="solid"/>
            <a:tailEnd type="triangle"/>
          </a:ln>
        </p:spPr>
      </p:sp>
      <p:sp>
        <p:nvSpPr>
          <p:cNvPr id="66" name="Shape 62"/>
          <p:cNvSpPr/>
          <p:nvPr/>
        </p:nvSpPr>
        <p:spPr>
          <a:xfrm>
            <a:off x="8439912" y="4837176"/>
            <a:ext cx="265176" cy="0"/>
          </a:xfrm>
          <a:prstGeom prst="line">
            <a:avLst/>
          </a:prstGeom>
          <a:noFill/>
          <a:ln w="15875">
            <a:solidFill>
              <a:srgbClr val="7D8A99"/>
            </a:solidFill>
            <a:prstDash val="solid"/>
            <a:tailEnd type="triangle"/>
          </a:ln>
        </p:spPr>
      </p:sp>
      <p:sp>
        <p:nvSpPr>
          <p:cNvPr id="67" name="Shape 63"/>
          <p:cNvSpPr/>
          <p:nvPr/>
        </p:nvSpPr>
        <p:spPr>
          <a:xfrm>
            <a:off x="457200" y="5705856"/>
            <a:ext cx="11274552" cy="566928"/>
          </a:xfrm>
          <a:prstGeom prst="roundRect">
            <a:avLst>
              <a:gd name="adj" fmla="val 8065"/>
            </a:avLst>
          </a:prstGeom>
          <a:solidFill>
            <a:srgbClr val="231E33"/>
          </a:solidFill>
          <a:ln w="9525">
            <a:solidFill>
              <a:srgbClr val="231E33"/>
            </a:solidFill>
            <a:prstDash val="solid"/>
          </a:ln>
        </p:spPr>
      </p:sp>
      <p:sp>
        <p:nvSpPr>
          <p:cNvPr id="68" name="Shape 64"/>
          <p:cNvSpPr/>
          <p:nvPr/>
        </p:nvSpPr>
        <p:spPr>
          <a:xfrm>
            <a:off x="603504" y="5788152"/>
            <a:ext cx="402336" cy="402336"/>
          </a:xfrm>
          <a:prstGeom prst="ellipse">
            <a:avLst/>
          </a:prstGeom>
          <a:solidFill>
            <a:srgbClr val="B7A3E0"/>
          </a:solidFill>
          <a:ln w="15875">
            <a:solidFill>
              <a:srgbClr val="B7A3E0"/>
            </a:solidFill>
            <a:prstDash val="solid"/>
          </a:ln>
        </p:spPr>
      </p:sp>
      <p:sp>
        <p:nvSpPr>
          <p:cNvPr id="69" name="Text 65"/>
          <p:cNvSpPr txBox="1"/>
          <p:nvPr/>
        </p:nvSpPr>
        <p:spPr>
          <a:xfrm>
            <a:off x="603504" y="5788152"/>
            <a:ext cx="402336" cy="40233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7</a:t>
            </a:r>
            <a:endParaRPr lang="en-US" sz="1100" dirty="0"/>
          </a:p>
        </p:txBody>
      </p:sp>
      <p:sp>
        <p:nvSpPr>
          <p:cNvPr id="70" name="Text 66"/>
          <p:cNvSpPr txBox="1"/>
          <p:nvPr/>
        </p:nvSpPr>
        <p:spPr>
          <a:xfrm>
            <a:off x="1143000" y="5705856"/>
            <a:ext cx="10424160" cy="56692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Platform &amp; governance  </a:t>
            </a:r>
            <a:pPr indent="0" marL="0">
              <a:buNone/>
            </a:pPr>
            <a:r>
              <a:rPr lang="en-US" sz="1150" dirty="0">
                <a:solidFill>
                  <a:srgbClr val="A3AEBB"/>
                </a:solidFill>
                <a:latin typeface="Calibri" pitchFamily="34" charset="0"/>
                <a:ea typeface="Calibri" pitchFamily="34" charset="-122"/>
                <a:cs typeface="Calibri" pitchFamily="34" charset="-120"/>
              </a:rPr>
              <a:t>across both clocks: master document &amp; decision log · entitlements · decision trace · degraded modes · replay tests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45720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WHERE THE 32 RECOMMENDATIONS LAND</a:t>
            </a:r>
            <a:endParaRPr lang="en-US" sz="1100" dirty="0"/>
          </a:p>
        </p:txBody>
      </p:sp>
      <p:sp>
        <p:nvSpPr>
          <p:cNvPr id="3" name="Text 1"/>
          <p:cNvSpPr txBox="1"/>
          <p:nvPr/>
        </p:nvSpPr>
        <p:spPr>
          <a:xfrm>
            <a:off x="457200" y="566928"/>
            <a:ext cx="1127729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Each recommendation has exactly one home section</a:t>
            </a:r>
            <a:endParaRPr lang="en-US" sz="2800" dirty="0"/>
          </a:p>
        </p:txBody>
      </p:sp>
      <p:sp>
        <p:nvSpPr>
          <p:cNvPr id="4" name="Text 2"/>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457200" y="1371600"/>
            <a:ext cx="1527048" cy="4846320"/>
          </a:xfrm>
          <a:prstGeom prst="roundRect">
            <a:avLst>
              <a:gd name="adj" fmla="val 2994"/>
            </a:avLst>
          </a:prstGeom>
          <a:solidFill>
            <a:srgbClr val="161C24"/>
          </a:solidFill>
          <a:ln w="9525">
            <a:solidFill>
              <a:srgbClr val="161C24"/>
            </a:solidFill>
            <a:prstDash val="solid"/>
          </a:ln>
        </p:spPr>
      </p:sp>
      <p:sp>
        <p:nvSpPr>
          <p:cNvPr id="7" name="Shape 4"/>
          <p:cNvSpPr/>
          <p:nvPr/>
        </p:nvSpPr>
        <p:spPr>
          <a:xfrm>
            <a:off x="457200" y="1371600"/>
            <a:ext cx="1527048" cy="841248"/>
          </a:xfrm>
          <a:prstGeom prst="roundRect">
            <a:avLst>
              <a:gd name="adj" fmla="val 5435"/>
            </a:avLst>
          </a:prstGeom>
          <a:solidFill>
            <a:srgbClr val="15302D"/>
          </a:solidFill>
          <a:ln w="9525">
            <a:solidFill>
              <a:srgbClr val="15302D"/>
            </a:solidFill>
            <a:prstDash val="solid"/>
          </a:ln>
        </p:spPr>
      </p:sp>
      <p:sp>
        <p:nvSpPr>
          <p:cNvPr id="8" name="Shape 5"/>
          <p:cNvSpPr/>
          <p:nvPr/>
        </p:nvSpPr>
        <p:spPr>
          <a:xfrm>
            <a:off x="548640" y="1463040"/>
            <a:ext cx="329184" cy="329184"/>
          </a:xfrm>
          <a:prstGeom prst="ellipse">
            <a:avLst/>
          </a:prstGeom>
          <a:solidFill>
            <a:srgbClr val="5CC2B2"/>
          </a:solidFill>
          <a:ln w="15875">
            <a:solidFill>
              <a:srgbClr val="5CC2B2"/>
            </a:solidFill>
            <a:prstDash val="solid"/>
          </a:ln>
        </p:spPr>
      </p:sp>
      <p:sp>
        <p:nvSpPr>
          <p:cNvPr id="9" name="Text 6"/>
          <p:cNvSpPr txBox="1"/>
          <p:nvPr/>
        </p:nvSpPr>
        <p:spPr>
          <a:xfrm>
            <a:off x="548640" y="1463040"/>
            <a:ext cx="329184" cy="329184"/>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1</a:t>
            </a:r>
            <a:endParaRPr lang="en-US" sz="1200" dirty="0"/>
          </a:p>
        </p:txBody>
      </p:sp>
      <p:sp>
        <p:nvSpPr>
          <p:cNvPr id="10" name="Text 7"/>
          <p:cNvSpPr txBox="1"/>
          <p:nvPr/>
        </p:nvSpPr>
        <p:spPr>
          <a:xfrm>
            <a:off x="548640" y="1828800"/>
            <a:ext cx="1380744" cy="365760"/>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Market data &amp; chart</a:t>
            </a:r>
            <a:endParaRPr lang="en-US" sz="1000" dirty="0"/>
          </a:p>
        </p:txBody>
      </p:sp>
      <p:sp>
        <p:nvSpPr>
          <p:cNvPr id="11" name="Shape 8"/>
          <p:cNvSpPr/>
          <p:nvPr/>
        </p:nvSpPr>
        <p:spPr>
          <a:xfrm>
            <a:off x="521208" y="2322576"/>
            <a:ext cx="1399032" cy="493776"/>
          </a:xfrm>
          <a:prstGeom prst="roundRect">
            <a:avLst>
              <a:gd name="adj" fmla="val 12963"/>
            </a:avLst>
          </a:prstGeom>
          <a:solidFill>
            <a:srgbClr val="1D242E"/>
          </a:solidFill>
          <a:ln w="13970">
            <a:solidFill>
              <a:srgbClr val="E2B54E"/>
            </a:solidFill>
            <a:prstDash val="solid"/>
          </a:ln>
        </p:spPr>
      </p:sp>
      <p:sp>
        <p:nvSpPr>
          <p:cNvPr id="12" name="Text 9"/>
          <p:cNvSpPr txBox="1"/>
          <p:nvPr/>
        </p:nvSpPr>
        <p:spPr>
          <a:xfrm>
            <a:off x="585216" y="2322576"/>
            <a:ext cx="1289304" cy="493776"/>
          </a:xfrm>
          <a:prstGeom prst="rect">
            <a:avLst/>
          </a:prstGeom>
          <a:noFill/>
          <a:ln/>
        </p:spPr>
        <p:txBody>
          <a:bodyPr wrap="square" lIns="0" tIns="0" rIns="0" bIns="0" rtlCol="0" anchor="ctr"/>
          <a:lstStyle/>
          <a:p>
            <a:pPr indent="0" marL="0">
              <a:buNone/>
            </a:pPr>
            <a:r>
              <a:rPr lang="en-US" sz="950" b="1" dirty="0">
                <a:solidFill>
                  <a:srgbClr val="E2B54E"/>
                </a:solidFill>
                <a:latin typeface="Calibri" pitchFamily="34" charset="0"/>
                <a:ea typeface="Calibri" pitchFamily="34" charset="-122"/>
                <a:cs typeface="Calibri" pitchFamily="34" charset="-120"/>
              </a:rPr>
              <a:t>A2  </a:t>
            </a:r>
            <a:pPr indent="0" marL="0">
              <a:buNone/>
            </a:pPr>
            <a:r>
              <a:rPr lang="en-US" sz="950" dirty="0">
                <a:solidFill>
                  <a:srgbClr val="EEF1F4"/>
                </a:solidFill>
                <a:latin typeface="Calibri" pitchFamily="34" charset="0"/>
                <a:ea typeface="Calibri" pitchFamily="34" charset="-122"/>
                <a:cs typeface="Calibri" pitchFamily="34" charset="-120"/>
              </a:rPr>
              <a:t>One cycle, closed bars</a:t>
            </a:r>
            <a:endParaRPr lang="en-US" sz="950" dirty="0"/>
          </a:p>
        </p:txBody>
      </p:sp>
      <p:sp>
        <p:nvSpPr>
          <p:cNvPr id="13" name="Shape 10"/>
          <p:cNvSpPr/>
          <p:nvPr/>
        </p:nvSpPr>
        <p:spPr>
          <a:xfrm>
            <a:off x="521208" y="2889504"/>
            <a:ext cx="1399032" cy="493776"/>
          </a:xfrm>
          <a:prstGeom prst="roundRect">
            <a:avLst>
              <a:gd name="adj" fmla="val 12963"/>
            </a:avLst>
          </a:prstGeom>
          <a:solidFill>
            <a:srgbClr val="1D242E"/>
          </a:solidFill>
          <a:ln w="13970">
            <a:solidFill>
              <a:srgbClr val="E2B54E"/>
            </a:solidFill>
            <a:prstDash val="solid"/>
          </a:ln>
        </p:spPr>
      </p:sp>
      <p:sp>
        <p:nvSpPr>
          <p:cNvPr id="14" name="Text 11"/>
          <p:cNvSpPr txBox="1"/>
          <p:nvPr/>
        </p:nvSpPr>
        <p:spPr>
          <a:xfrm>
            <a:off x="585216" y="2889504"/>
            <a:ext cx="1289304" cy="493776"/>
          </a:xfrm>
          <a:prstGeom prst="rect">
            <a:avLst/>
          </a:prstGeom>
          <a:noFill/>
          <a:ln/>
        </p:spPr>
        <p:txBody>
          <a:bodyPr wrap="square" lIns="0" tIns="0" rIns="0" bIns="0" rtlCol="0" anchor="ctr"/>
          <a:lstStyle/>
          <a:p>
            <a:pPr indent="0" marL="0">
              <a:buNone/>
            </a:pPr>
            <a:r>
              <a:rPr lang="en-US" sz="950" b="1" dirty="0">
                <a:solidFill>
                  <a:srgbClr val="E2B54E"/>
                </a:solidFill>
                <a:latin typeface="Calibri" pitchFamily="34" charset="0"/>
                <a:ea typeface="Calibri" pitchFamily="34" charset="-122"/>
                <a:cs typeface="Calibri" pitchFamily="34" charset="-120"/>
              </a:rPr>
              <a:t>A3  </a:t>
            </a:r>
            <a:pPr indent="0" marL="0">
              <a:buNone/>
            </a:pPr>
            <a:r>
              <a:rPr lang="en-US" sz="950" dirty="0">
                <a:solidFill>
                  <a:srgbClr val="EEF1F4"/>
                </a:solidFill>
                <a:latin typeface="Calibri" pitchFamily="34" charset="0"/>
                <a:ea typeface="Calibri" pitchFamily="34" charset="-122"/>
                <a:cs typeface="Calibri" pitchFamily="34" charset="-120"/>
              </a:rPr>
              <a:t>Active-indicator setting</a:t>
            </a:r>
            <a:endParaRPr lang="en-US" sz="950" dirty="0"/>
          </a:p>
        </p:txBody>
      </p:sp>
      <p:sp>
        <p:nvSpPr>
          <p:cNvPr id="15" name="Shape 12"/>
          <p:cNvSpPr/>
          <p:nvPr/>
        </p:nvSpPr>
        <p:spPr>
          <a:xfrm>
            <a:off x="521208" y="3456432"/>
            <a:ext cx="1399032" cy="493776"/>
          </a:xfrm>
          <a:prstGeom prst="roundRect">
            <a:avLst>
              <a:gd name="adj" fmla="val 12963"/>
            </a:avLst>
          </a:prstGeom>
          <a:solidFill>
            <a:srgbClr val="1D242E"/>
          </a:solidFill>
          <a:ln w="13970">
            <a:solidFill>
              <a:srgbClr val="E2B54E"/>
            </a:solidFill>
            <a:prstDash val="solid"/>
          </a:ln>
        </p:spPr>
      </p:sp>
      <p:sp>
        <p:nvSpPr>
          <p:cNvPr id="16" name="Text 13"/>
          <p:cNvSpPr txBox="1"/>
          <p:nvPr/>
        </p:nvSpPr>
        <p:spPr>
          <a:xfrm>
            <a:off x="585216" y="3456432"/>
            <a:ext cx="1289304" cy="493776"/>
          </a:xfrm>
          <a:prstGeom prst="rect">
            <a:avLst/>
          </a:prstGeom>
          <a:noFill/>
          <a:ln/>
        </p:spPr>
        <p:txBody>
          <a:bodyPr wrap="square" lIns="0" tIns="0" rIns="0" bIns="0" rtlCol="0" anchor="ctr"/>
          <a:lstStyle/>
          <a:p>
            <a:pPr indent="0" marL="0">
              <a:buNone/>
            </a:pPr>
            <a:r>
              <a:rPr lang="en-US" sz="950" b="1" dirty="0">
                <a:solidFill>
                  <a:srgbClr val="E2B54E"/>
                </a:solidFill>
                <a:latin typeface="Calibri" pitchFamily="34" charset="0"/>
                <a:ea typeface="Calibri" pitchFamily="34" charset="-122"/>
                <a:cs typeface="Calibri" pitchFamily="34" charset="-120"/>
              </a:rPr>
              <a:t>D1  </a:t>
            </a:r>
            <a:pPr indent="0" marL="0">
              <a:buNone/>
            </a:pPr>
            <a:r>
              <a:rPr lang="en-US" sz="950" dirty="0">
                <a:solidFill>
                  <a:srgbClr val="EEF1F4"/>
                </a:solidFill>
                <a:latin typeface="Calibri" pitchFamily="34" charset="0"/>
                <a:ea typeface="Calibri" pitchFamily="34" charset="-122"/>
                <a:cs typeface="Calibri" pitchFamily="34" charset="-120"/>
              </a:rPr>
              <a:t>Freshness stamps + gate</a:t>
            </a:r>
            <a:endParaRPr lang="en-US" sz="950" dirty="0"/>
          </a:p>
        </p:txBody>
      </p:sp>
      <p:sp>
        <p:nvSpPr>
          <p:cNvPr id="17" name="Text 14"/>
          <p:cNvSpPr txBox="1"/>
          <p:nvPr/>
        </p:nvSpPr>
        <p:spPr>
          <a:xfrm>
            <a:off x="548640" y="5897880"/>
            <a:ext cx="1344168" cy="256032"/>
          </a:xfrm>
          <a:prstGeom prst="rect">
            <a:avLst/>
          </a:prstGeom>
          <a:noFill/>
          <a:ln/>
        </p:spPr>
        <p:txBody>
          <a:bodyPr wrap="square" lIns="0" tIns="0" rIns="0" bIns="0" rtlCol="0" anchor="ctr"/>
          <a:lstStyle/>
          <a:p>
            <a:pPr indent="0" marL="0">
              <a:buNone/>
            </a:pPr>
            <a:r>
              <a:rPr lang="en-US" sz="950" dirty="0">
                <a:solidFill>
                  <a:srgbClr val="A3AEBB"/>
                </a:solidFill>
                <a:latin typeface="Calibri" pitchFamily="34" charset="0"/>
                <a:ea typeface="Calibri" pitchFamily="34" charset="-122"/>
                <a:cs typeface="Calibri" pitchFamily="34" charset="-120"/>
              </a:rPr>
              <a:t>3 recs · 3 P1</a:t>
            </a:r>
            <a:endParaRPr lang="en-US" sz="950" dirty="0"/>
          </a:p>
        </p:txBody>
      </p:sp>
      <p:sp>
        <p:nvSpPr>
          <p:cNvPr id="18" name="Shape 15"/>
          <p:cNvSpPr/>
          <p:nvPr/>
        </p:nvSpPr>
        <p:spPr>
          <a:xfrm>
            <a:off x="2075688" y="1371600"/>
            <a:ext cx="1527048" cy="4846320"/>
          </a:xfrm>
          <a:prstGeom prst="roundRect">
            <a:avLst>
              <a:gd name="adj" fmla="val 2994"/>
            </a:avLst>
          </a:prstGeom>
          <a:solidFill>
            <a:srgbClr val="161C24"/>
          </a:solidFill>
          <a:ln w="9525">
            <a:solidFill>
              <a:srgbClr val="161C24"/>
            </a:solidFill>
            <a:prstDash val="solid"/>
          </a:ln>
        </p:spPr>
      </p:sp>
      <p:sp>
        <p:nvSpPr>
          <p:cNvPr id="19" name="Shape 16"/>
          <p:cNvSpPr/>
          <p:nvPr/>
        </p:nvSpPr>
        <p:spPr>
          <a:xfrm>
            <a:off x="2075688" y="1371600"/>
            <a:ext cx="1527048" cy="841248"/>
          </a:xfrm>
          <a:prstGeom prst="roundRect">
            <a:avLst>
              <a:gd name="adj" fmla="val 5435"/>
            </a:avLst>
          </a:prstGeom>
          <a:solidFill>
            <a:srgbClr val="15302D"/>
          </a:solidFill>
          <a:ln w="9525">
            <a:solidFill>
              <a:srgbClr val="15302D"/>
            </a:solidFill>
            <a:prstDash val="solid"/>
          </a:ln>
        </p:spPr>
      </p:sp>
      <p:sp>
        <p:nvSpPr>
          <p:cNvPr id="20" name="Shape 17"/>
          <p:cNvSpPr/>
          <p:nvPr/>
        </p:nvSpPr>
        <p:spPr>
          <a:xfrm>
            <a:off x="2167128" y="1463040"/>
            <a:ext cx="329184" cy="329184"/>
          </a:xfrm>
          <a:prstGeom prst="ellipse">
            <a:avLst/>
          </a:prstGeom>
          <a:solidFill>
            <a:srgbClr val="5CC2B2"/>
          </a:solidFill>
          <a:ln w="15875">
            <a:solidFill>
              <a:srgbClr val="5CC2B2"/>
            </a:solidFill>
            <a:prstDash val="solid"/>
          </a:ln>
        </p:spPr>
      </p:sp>
      <p:sp>
        <p:nvSpPr>
          <p:cNvPr id="21" name="Text 18"/>
          <p:cNvSpPr txBox="1"/>
          <p:nvPr/>
        </p:nvSpPr>
        <p:spPr>
          <a:xfrm>
            <a:off x="2167128" y="1463040"/>
            <a:ext cx="329184" cy="329184"/>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2</a:t>
            </a:r>
            <a:endParaRPr lang="en-US" sz="1200" dirty="0"/>
          </a:p>
        </p:txBody>
      </p:sp>
      <p:sp>
        <p:nvSpPr>
          <p:cNvPr id="22" name="Text 19"/>
          <p:cNvSpPr txBox="1"/>
          <p:nvPr/>
        </p:nvSpPr>
        <p:spPr>
          <a:xfrm>
            <a:off x="2167128" y="1828800"/>
            <a:ext cx="1380744" cy="365760"/>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Sensors (MCDs)</a:t>
            </a:r>
            <a:endParaRPr lang="en-US" sz="1000" dirty="0"/>
          </a:p>
        </p:txBody>
      </p:sp>
      <p:sp>
        <p:nvSpPr>
          <p:cNvPr id="23" name="Shape 20"/>
          <p:cNvSpPr/>
          <p:nvPr/>
        </p:nvSpPr>
        <p:spPr>
          <a:xfrm>
            <a:off x="2139696" y="2322576"/>
            <a:ext cx="1399032" cy="493776"/>
          </a:xfrm>
          <a:prstGeom prst="roundRect">
            <a:avLst>
              <a:gd name="adj" fmla="val 12963"/>
            </a:avLst>
          </a:prstGeom>
          <a:solidFill>
            <a:srgbClr val="1D242E"/>
          </a:solidFill>
          <a:ln w="13970">
            <a:solidFill>
              <a:srgbClr val="E2B54E"/>
            </a:solidFill>
            <a:prstDash val="solid"/>
          </a:ln>
        </p:spPr>
      </p:sp>
      <p:sp>
        <p:nvSpPr>
          <p:cNvPr id="24" name="Text 21"/>
          <p:cNvSpPr txBox="1"/>
          <p:nvPr/>
        </p:nvSpPr>
        <p:spPr>
          <a:xfrm>
            <a:off x="2203704" y="2322576"/>
            <a:ext cx="1289304" cy="493776"/>
          </a:xfrm>
          <a:prstGeom prst="rect">
            <a:avLst/>
          </a:prstGeom>
          <a:noFill/>
          <a:ln/>
        </p:spPr>
        <p:txBody>
          <a:bodyPr wrap="square" lIns="0" tIns="0" rIns="0" bIns="0" rtlCol="0" anchor="ctr"/>
          <a:lstStyle/>
          <a:p>
            <a:pPr indent="0" marL="0">
              <a:buNone/>
            </a:pPr>
            <a:r>
              <a:rPr lang="en-US" sz="950" b="1" dirty="0">
                <a:solidFill>
                  <a:srgbClr val="E2B54E"/>
                </a:solidFill>
                <a:latin typeface="Calibri" pitchFamily="34" charset="0"/>
                <a:ea typeface="Calibri" pitchFamily="34" charset="-122"/>
                <a:cs typeface="Calibri" pitchFamily="34" charset="-120"/>
              </a:rPr>
              <a:t>A1  </a:t>
            </a:r>
            <a:pPr indent="0" marL="0">
              <a:buNone/>
            </a:pPr>
            <a:r>
              <a:rPr lang="en-US" sz="950" dirty="0">
                <a:solidFill>
                  <a:srgbClr val="EEF1F4"/>
                </a:solidFill>
                <a:latin typeface="Calibri" pitchFamily="34" charset="0"/>
                <a:ea typeface="Calibri" pitchFamily="34" charset="-122"/>
                <a:cs typeface="Calibri" pitchFamily="34" charset="-120"/>
              </a:rPr>
              <a:t>One output format</a:t>
            </a:r>
            <a:endParaRPr lang="en-US" sz="950" dirty="0"/>
          </a:p>
        </p:txBody>
      </p:sp>
      <p:sp>
        <p:nvSpPr>
          <p:cNvPr id="25" name="Shape 22"/>
          <p:cNvSpPr/>
          <p:nvPr/>
        </p:nvSpPr>
        <p:spPr>
          <a:xfrm>
            <a:off x="2139696" y="2889504"/>
            <a:ext cx="1399032" cy="493776"/>
          </a:xfrm>
          <a:prstGeom prst="roundRect">
            <a:avLst>
              <a:gd name="adj" fmla="val 12963"/>
            </a:avLst>
          </a:prstGeom>
          <a:solidFill>
            <a:srgbClr val="1D242E"/>
          </a:solidFill>
          <a:ln w="13970">
            <a:solidFill>
              <a:srgbClr val="E2B54E"/>
            </a:solidFill>
            <a:prstDash val="solid"/>
          </a:ln>
        </p:spPr>
      </p:sp>
      <p:sp>
        <p:nvSpPr>
          <p:cNvPr id="26" name="Text 23"/>
          <p:cNvSpPr txBox="1"/>
          <p:nvPr/>
        </p:nvSpPr>
        <p:spPr>
          <a:xfrm>
            <a:off x="2203704" y="2889504"/>
            <a:ext cx="1289304" cy="493776"/>
          </a:xfrm>
          <a:prstGeom prst="rect">
            <a:avLst/>
          </a:prstGeom>
          <a:noFill/>
          <a:ln/>
        </p:spPr>
        <p:txBody>
          <a:bodyPr wrap="square" lIns="0" tIns="0" rIns="0" bIns="0" rtlCol="0" anchor="ctr"/>
          <a:lstStyle/>
          <a:p>
            <a:pPr indent="0" marL="0">
              <a:buNone/>
            </a:pPr>
            <a:r>
              <a:rPr lang="en-US" sz="950" b="1" dirty="0">
                <a:solidFill>
                  <a:srgbClr val="E2B54E"/>
                </a:solidFill>
                <a:latin typeface="Calibri" pitchFamily="34" charset="0"/>
                <a:ea typeface="Calibri" pitchFamily="34" charset="-122"/>
                <a:cs typeface="Calibri" pitchFamily="34" charset="-120"/>
              </a:rPr>
              <a:t>A4  </a:t>
            </a:r>
            <a:pPr indent="0" marL="0">
              <a:buNone/>
            </a:pPr>
            <a:r>
              <a:rPr lang="en-US" sz="950" dirty="0">
                <a:solidFill>
                  <a:srgbClr val="EEF1F4"/>
                </a:solidFill>
                <a:latin typeface="Calibri" pitchFamily="34" charset="0"/>
                <a:ea typeface="Calibri" pitchFamily="34" charset="-122"/>
                <a:cs typeface="Calibri" pitchFamily="34" charset="-120"/>
              </a:rPr>
              <a:t>Per-cycle worker, saved outputs</a:t>
            </a:r>
            <a:endParaRPr lang="en-US" sz="950" dirty="0"/>
          </a:p>
        </p:txBody>
      </p:sp>
      <p:sp>
        <p:nvSpPr>
          <p:cNvPr id="27" name="Shape 24"/>
          <p:cNvSpPr/>
          <p:nvPr/>
        </p:nvSpPr>
        <p:spPr>
          <a:xfrm>
            <a:off x="2139696" y="3456432"/>
            <a:ext cx="1399032" cy="493776"/>
          </a:xfrm>
          <a:prstGeom prst="roundRect">
            <a:avLst>
              <a:gd name="adj" fmla="val 12963"/>
            </a:avLst>
          </a:prstGeom>
          <a:solidFill>
            <a:srgbClr val="1D242E"/>
          </a:solidFill>
          <a:ln w="9525">
            <a:solidFill>
              <a:srgbClr val="323C49"/>
            </a:solidFill>
            <a:prstDash val="solid"/>
          </a:ln>
        </p:spPr>
      </p:sp>
      <p:sp>
        <p:nvSpPr>
          <p:cNvPr id="28" name="Text 25"/>
          <p:cNvSpPr txBox="1"/>
          <p:nvPr/>
        </p:nvSpPr>
        <p:spPr>
          <a:xfrm>
            <a:off x="2203704" y="3456432"/>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A5  </a:t>
            </a:r>
            <a:pPr indent="0" marL="0">
              <a:buNone/>
            </a:pPr>
            <a:r>
              <a:rPr lang="en-US" sz="950" dirty="0">
                <a:solidFill>
                  <a:srgbClr val="EEF1F4"/>
                </a:solidFill>
                <a:latin typeface="Calibri" pitchFamily="34" charset="0"/>
                <a:ea typeface="Calibri" pitchFamily="34" charset="-122"/>
                <a:cs typeface="Calibri" pitchFamily="34" charset="-120"/>
              </a:rPr>
              <a:t>Quality gate merged in</a:t>
            </a:r>
            <a:endParaRPr lang="en-US" sz="950" dirty="0"/>
          </a:p>
        </p:txBody>
      </p:sp>
      <p:sp>
        <p:nvSpPr>
          <p:cNvPr id="29" name="Shape 26"/>
          <p:cNvSpPr/>
          <p:nvPr/>
        </p:nvSpPr>
        <p:spPr>
          <a:xfrm>
            <a:off x="2139696" y="4023360"/>
            <a:ext cx="1399032" cy="493776"/>
          </a:xfrm>
          <a:prstGeom prst="roundRect">
            <a:avLst>
              <a:gd name="adj" fmla="val 12963"/>
            </a:avLst>
          </a:prstGeom>
          <a:solidFill>
            <a:srgbClr val="1D242E"/>
          </a:solidFill>
          <a:ln w="9525">
            <a:solidFill>
              <a:srgbClr val="323C49"/>
            </a:solidFill>
            <a:prstDash val="solid"/>
          </a:ln>
        </p:spPr>
      </p:sp>
      <p:sp>
        <p:nvSpPr>
          <p:cNvPr id="30" name="Text 27"/>
          <p:cNvSpPr txBox="1"/>
          <p:nvPr/>
        </p:nvSpPr>
        <p:spPr>
          <a:xfrm>
            <a:off x="2203704" y="4023360"/>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A6  </a:t>
            </a:r>
            <a:pPr indent="0" marL="0">
              <a:buNone/>
            </a:pPr>
            <a:r>
              <a:rPr lang="en-US" sz="950" dirty="0">
                <a:solidFill>
                  <a:srgbClr val="EEF1F4"/>
                </a:solidFill>
                <a:latin typeface="Calibri" pitchFamily="34" charset="0"/>
                <a:ea typeface="Calibri" pitchFamily="34" charset="-122"/>
                <a:cs typeface="Calibri" pitchFamily="34" charset="-120"/>
              </a:rPr>
              <a:t>Measured state statistics</a:t>
            </a:r>
            <a:endParaRPr lang="en-US" sz="950" dirty="0"/>
          </a:p>
        </p:txBody>
      </p:sp>
      <p:sp>
        <p:nvSpPr>
          <p:cNvPr id="31" name="Shape 28"/>
          <p:cNvSpPr/>
          <p:nvPr/>
        </p:nvSpPr>
        <p:spPr>
          <a:xfrm>
            <a:off x="2139696" y="4590288"/>
            <a:ext cx="1399032" cy="493776"/>
          </a:xfrm>
          <a:prstGeom prst="roundRect">
            <a:avLst>
              <a:gd name="adj" fmla="val 12963"/>
            </a:avLst>
          </a:prstGeom>
          <a:solidFill>
            <a:srgbClr val="1D242E"/>
          </a:solidFill>
          <a:ln w="9525">
            <a:solidFill>
              <a:srgbClr val="323C49"/>
            </a:solidFill>
            <a:prstDash val="solid"/>
          </a:ln>
        </p:spPr>
      </p:sp>
      <p:sp>
        <p:nvSpPr>
          <p:cNvPr id="32" name="Text 29"/>
          <p:cNvSpPr txBox="1"/>
          <p:nvPr/>
        </p:nvSpPr>
        <p:spPr>
          <a:xfrm>
            <a:off x="2203704" y="4590288"/>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A7  </a:t>
            </a:r>
            <a:pPr indent="0" marL="0">
              <a:buNone/>
            </a:pPr>
            <a:r>
              <a:rPr lang="en-US" sz="950" dirty="0">
                <a:solidFill>
                  <a:srgbClr val="EEF1F4"/>
                </a:solidFill>
                <a:latin typeface="Calibri" pitchFamily="34" charset="0"/>
                <a:ea typeface="Calibri" pitchFamily="34" charset="-122"/>
                <a:cs typeface="Calibri" pitchFamily="34" charset="-120"/>
              </a:rPr>
              <a:t>Declared dependencies</a:t>
            </a:r>
            <a:endParaRPr lang="en-US" sz="950" dirty="0"/>
          </a:p>
        </p:txBody>
      </p:sp>
      <p:sp>
        <p:nvSpPr>
          <p:cNvPr id="33" name="Shape 30"/>
          <p:cNvSpPr/>
          <p:nvPr/>
        </p:nvSpPr>
        <p:spPr>
          <a:xfrm>
            <a:off x="2139696" y="5157216"/>
            <a:ext cx="1399032" cy="493776"/>
          </a:xfrm>
          <a:prstGeom prst="roundRect">
            <a:avLst>
              <a:gd name="adj" fmla="val 12963"/>
            </a:avLst>
          </a:prstGeom>
          <a:solidFill>
            <a:srgbClr val="1D242E"/>
          </a:solidFill>
          <a:ln w="9525">
            <a:solidFill>
              <a:srgbClr val="323C49"/>
            </a:solidFill>
            <a:prstDash val="solid"/>
          </a:ln>
        </p:spPr>
      </p:sp>
      <p:sp>
        <p:nvSpPr>
          <p:cNvPr id="34" name="Text 31"/>
          <p:cNvSpPr txBox="1"/>
          <p:nvPr/>
        </p:nvSpPr>
        <p:spPr>
          <a:xfrm>
            <a:off x="2203704" y="5157216"/>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A8  </a:t>
            </a:r>
            <a:pPr indent="0" marL="0">
              <a:buNone/>
            </a:pPr>
            <a:r>
              <a:rPr lang="en-US" sz="950" dirty="0">
                <a:solidFill>
                  <a:srgbClr val="EEF1F4"/>
                </a:solidFill>
                <a:latin typeface="Calibri" pitchFamily="34" charset="0"/>
                <a:ea typeface="Calibri" pitchFamily="34" charset="-122"/>
                <a:cs typeface="Calibri" pitchFamily="34" charset="-120"/>
              </a:rPr>
              <a:t>Plug-in contract for MCD4+</a:t>
            </a:r>
            <a:endParaRPr lang="en-US" sz="950" dirty="0"/>
          </a:p>
        </p:txBody>
      </p:sp>
      <p:sp>
        <p:nvSpPr>
          <p:cNvPr id="35" name="Text 32"/>
          <p:cNvSpPr txBox="1"/>
          <p:nvPr/>
        </p:nvSpPr>
        <p:spPr>
          <a:xfrm>
            <a:off x="2167128" y="5897880"/>
            <a:ext cx="1344168" cy="256032"/>
          </a:xfrm>
          <a:prstGeom prst="rect">
            <a:avLst/>
          </a:prstGeom>
          <a:noFill/>
          <a:ln/>
        </p:spPr>
        <p:txBody>
          <a:bodyPr wrap="square" lIns="0" tIns="0" rIns="0" bIns="0" rtlCol="0" anchor="ctr"/>
          <a:lstStyle/>
          <a:p>
            <a:pPr indent="0" marL="0">
              <a:buNone/>
            </a:pPr>
            <a:r>
              <a:rPr lang="en-US" sz="950" dirty="0">
                <a:solidFill>
                  <a:srgbClr val="A3AEBB"/>
                </a:solidFill>
                <a:latin typeface="Calibri" pitchFamily="34" charset="0"/>
                <a:ea typeface="Calibri" pitchFamily="34" charset="-122"/>
                <a:cs typeface="Calibri" pitchFamily="34" charset="-120"/>
              </a:rPr>
              <a:t>6 recs · 2 P1</a:t>
            </a:r>
            <a:endParaRPr lang="en-US" sz="950" dirty="0"/>
          </a:p>
        </p:txBody>
      </p:sp>
      <p:sp>
        <p:nvSpPr>
          <p:cNvPr id="36" name="Shape 33"/>
          <p:cNvSpPr/>
          <p:nvPr/>
        </p:nvSpPr>
        <p:spPr>
          <a:xfrm>
            <a:off x="3694176" y="1371600"/>
            <a:ext cx="1527048" cy="4846320"/>
          </a:xfrm>
          <a:prstGeom prst="roundRect">
            <a:avLst>
              <a:gd name="adj" fmla="val 2994"/>
            </a:avLst>
          </a:prstGeom>
          <a:solidFill>
            <a:srgbClr val="161C24"/>
          </a:solidFill>
          <a:ln w="9525">
            <a:solidFill>
              <a:srgbClr val="161C24"/>
            </a:solidFill>
            <a:prstDash val="solid"/>
          </a:ln>
        </p:spPr>
      </p:sp>
      <p:sp>
        <p:nvSpPr>
          <p:cNvPr id="37" name="Shape 34"/>
          <p:cNvSpPr/>
          <p:nvPr/>
        </p:nvSpPr>
        <p:spPr>
          <a:xfrm>
            <a:off x="3694176" y="1371600"/>
            <a:ext cx="1527048" cy="841248"/>
          </a:xfrm>
          <a:prstGeom prst="roundRect">
            <a:avLst>
              <a:gd name="adj" fmla="val 5435"/>
            </a:avLst>
          </a:prstGeom>
          <a:solidFill>
            <a:srgbClr val="15302D"/>
          </a:solidFill>
          <a:ln w="9525">
            <a:solidFill>
              <a:srgbClr val="15302D"/>
            </a:solidFill>
            <a:prstDash val="solid"/>
          </a:ln>
        </p:spPr>
      </p:sp>
      <p:sp>
        <p:nvSpPr>
          <p:cNvPr id="38" name="Shape 35"/>
          <p:cNvSpPr/>
          <p:nvPr/>
        </p:nvSpPr>
        <p:spPr>
          <a:xfrm>
            <a:off x="3785616" y="1463040"/>
            <a:ext cx="329184" cy="329184"/>
          </a:xfrm>
          <a:prstGeom prst="ellipse">
            <a:avLst/>
          </a:prstGeom>
          <a:solidFill>
            <a:srgbClr val="5CC2B2"/>
          </a:solidFill>
          <a:ln w="15875">
            <a:solidFill>
              <a:srgbClr val="5CC2B2"/>
            </a:solidFill>
            <a:prstDash val="solid"/>
          </a:ln>
        </p:spPr>
      </p:sp>
      <p:sp>
        <p:nvSpPr>
          <p:cNvPr id="39" name="Text 36"/>
          <p:cNvSpPr txBox="1"/>
          <p:nvPr/>
        </p:nvSpPr>
        <p:spPr>
          <a:xfrm>
            <a:off x="3785616" y="1463040"/>
            <a:ext cx="329184" cy="329184"/>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3</a:t>
            </a:r>
            <a:endParaRPr lang="en-US" sz="1200" dirty="0"/>
          </a:p>
        </p:txBody>
      </p:sp>
      <p:sp>
        <p:nvSpPr>
          <p:cNvPr id="40" name="Text 37"/>
          <p:cNvSpPr txBox="1"/>
          <p:nvPr/>
        </p:nvSpPr>
        <p:spPr>
          <a:xfrm>
            <a:off x="3785616" y="1828800"/>
            <a:ext cx="1380744" cy="365760"/>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Synthesis &amp; entry zones</a:t>
            </a:r>
            <a:endParaRPr lang="en-US" sz="1000" dirty="0"/>
          </a:p>
        </p:txBody>
      </p:sp>
      <p:sp>
        <p:nvSpPr>
          <p:cNvPr id="41" name="Shape 38"/>
          <p:cNvSpPr/>
          <p:nvPr/>
        </p:nvSpPr>
        <p:spPr>
          <a:xfrm>
            <a:off x="3758184" y="2322576"/>
            <a:ext cx="1399032" cy="493776"/>
          </a:xfrm>
          <a:prstGeom prst="roundRect">
            <a:avLst>
              <a:gd name="adj" fmla="val 12963"/>
            </a:avLst>
          </a:prstGeom>
          <a:solidFill>
            <a:srgbClr val="1D242E"/>
          </a:solidFill>
          <a:ln w="13970">
            <a:solidFill>
              <a:srgbClr val="E2B54E"/>
            </a:solidFill>
            <a:prstDash val="solid"/>
          </a:ln>
        </p:spPr>
      </p:sp>
      <p:sp>
        <p:nvSpPr>
          <p:cNvPr id="42" name="Text 39"/>
          <p:cNvSpPr txBox="1"/>
          <p:nvPr/>
        </p:nvSpPr>
        <p:spPr>
          <a:xfrm>
            <a:off x="3822192" y="2322576"/>
            <a:ext cx="1289304" cy="493776"/>
          </a:xfrm>
          <a:prstGeom prst="rect">
            <a:avLst/>
          </a:prstGeom>
          <a:noFill/>
          <a:ln/>
        </p:spPr>
        <p:txBody>
          <a:bodyPr wrap="square" lIns="0" tIns="0" rIns="0" bIns="0" rtlCol="0" anchor="ctr"/>
          <a:lstStyle/>
          <a:p>
            <a:pPr indent="0" marL="0">
              <a:buNone/>
            </a:pPr>
            <a:r>
              <a:rPr lang="en-US" sz="950" b="1" dirty="0">
                <a:solidFill>
                  <a:srgbClr val="E2B54E"/>
                </a:solidFill>
                <a:latin typeface="Calibri" pitchFamily="34" charset="0"/>
                <a:ea typeface="Calibri" pitchFamily="34" charset="-122"/>
                <a:cs typeface="Calibri" pitchFamily="34" charset="-120"/>
              </a:rPr>
              <a:t>B6  </a:t>
            </a:r>
            <a:pPr indent="0" marL="0">
              <a:buNone/>
            </a:pPr>
            <a:r>
              <a:rPr lang="en-US" sz="950" dirty="0">
                <a:solidFill>
                  <a:srgbClr val="EEF1F4"/>
                </a:solidFill>
                <a:latin typeface="Calibri" pitchFamily="34" charset="0"/>
                <a:ea typeface="Calibri" pitchFamily="34" charset="-122"/>
                <a:cs typeface="Calibri" pitchFamily="34" charset="-120"/>
              </a:rPr>
              <a:t>Rules-based synthesis</a:t>
            </a:r>
            <a:endParaRPr lang="en-US" sz="950" dirty="0"/>
          </a:p>
        </p:txBody>
      </p:sp>
      <p:sp>
        <p:nvSpPr>
          <p:cNvPr id="43" name="Shape 40"/>
          <p:cNvSpPr/>
          <p:nvPr/>
        </p:nvSpPr>
        <p:spPr>
          <a:xfrm>
            <a:off x="3758184" y="2889504"/>
            <a:ext cx="1399032" cy="493776"/>
          </a:xfrm>
          <a:prstGeom prst="roundRect">
            <a:avLst>
              <a:gd name="adj" fmla="val 12963"/>
            </a:avLst>
          </a:prstGeom>
          <a:solidFill>
            <a:srgbClr val="1D242E"/>
          </a:solidFill>
          <a:ln w="13970">
            <a:solidFill>
              <a:srgbClr val="E2B54E"/>
            </a:solidFill>
            <a:prstDash val="solid"/>
          </a:ln>
        </p:spPr>
      </p:sp>
      <p:sp>
        <p:nvSpPr>
          <p:cNvPr id="44" name="Text 41"/>
          <p:cNvSpPr txBox="1"/>
          <p:nvPr/>
        </p:nvSpPr>
        <p:spPr>
          <a:xfrm>
            <a:off x="3822192" y="2889504"/>
            <a:ext cx="1289304" cy="493776"/>
          </a:xfrm>
          <a:prstGeom prst="rect">
            <a:avLst/>
          </a:prstGeom>
          <a:noFill/>
          <a:ln/>
        </p:spPr>
        <p:txBody>
          <a:bodyPr wrap="square" lIns="0" tIns="0" rIns="0" bIns="0" rtlCol="0" anchor="ctr"/>
          <a:lstStyle/>
          <a:p>
            <a:pPr indent="0" marL="0">
              <a:buNone/>
            </a:pPr>
            <a:r>
              <a:rPr lang="en-US" sz="950" b="1" dirty="0">
                <a:solidFill>
                  <a:srgbClr val="E2B54E"/>
                </a:solidFill>
                <a:latin typeface="Calibri" pitchFamily="34" charset="0"/>
                <a:ea typeface="Calibri" pitchFamily="34" charset="-122"/>
                <a:cs typeface="Calibri" pitchFamily="34" charset="-120"/>
              </a:rPr>
              <a:t>E1  </a:t>
            </a:r>
            <a:pPr indent="0" marL="0">
              <a:buNone/>
            </a:pPr>
            <a:r>
              <a:rPr lang="en-US" sz="950" dirty="0">
                <a:solidFill>
                  <a:srgbClr val="EEF1F4"/>
                </a:solidFill>
                <a:latin typeface="Calibri" pitchFamily="34" charset="0"/>
                <a:ea typeface="Calibri" pitchFamily="34" charset="-122"/>
                <a:cs typeface="Calibri" pitchFamily="34" charset="-120"/>
              </a:rPr>
              <a:t>Entry-zone spec on MCD levels</a:t>
            </a:r>
            <a:endParaRPr lang="en-US" sz="950" dirty="0"/>
          </a:p>
        </p:txBody>
      </p:sp>
      <p:sp>
        <p:nvSpPr>
          <p:cNvPr id="45" name="Text 42"/>
          <p:cNvSpPr txBox="1"/>
          <p:nvPr/>
        </p:nvSpPr>
        <p:spPr>
          <a:xfrm>
            <a:off x="3785616" y="5897880"/>
            <a:ext cx="1344168" cy="256032"/>
          </a:xfrm>
          <a:prstGeom prst="rect">
            <a:avLst/>
          </a:prstGeom>
          <a:noFill/>
          <a:ln/>
        </p:spPr>
        <p:txBody>
          <a:bodyPr wrap="square" lIns="0" tIns="0" rIns="0" bIns="0" rtlCol="0" anchor="ctr"/>
          <a:lstStyle/>
          <a:p>
            <a:pPr indent="0" marL="0">
              <a:buNone/>
            </a:pPr>
            <a:r>
              <a:rPr lang="en-US" sz="950" dirty="0">
                <a:solidFill>
                  <a:srgbClr val="A3AEBB"/>
                </a:solidFill>
                <a:latin typeface="Calibri" pitchFamily="34" charset="0"/>
                <a:ea typeface="Calibri" pitchFamily="34" charset="-122"/>
                <a:cs typeface="Calibri" pitchFamily="34" charset="-120"/>
              </a:rPr>
              <a:t>2 recs · 2 P1</a:t>
            </a:r>
            <a:endParaRPr lang="en-US" sz="950" dirty="0"/>
          </a:p>
        </p:txBody>
      </p:sp>
      <p:sp>
        <p:nvSpPr>
          <p:cNvPr id="46" name="Shape 43"/>
          <p:cNvSpPr/>
          <p:nvPr/>
        </p:nvSpPr>
        <p:spPr>
          <a:xfrm>
            <a:off x="5312664" y="1371600"/>
            <a:ext cx="1527048" cy="4846320"/>
          </a:xfrm>
          <a:prstGeom prst="roundRect">
            <a:avLst>
              <a:gd name="adj" fmla="val 2994"/>
            </a:avLst>
          </a:prstGeom>
          <a:solidFill>
            <a:srgbClr val="161C24"/>
          </a:solidFill>
          <a:ln w="9525">
            <a:solidFill>
              <a:srgbClr val="161C24"/>
            </a:solidFill>
            <a:prstDash val="solid"/>
          </a:ln>
        </p:spPr>
      </p:sp>
      <p:sp>
        <p:nvSpPr>
          <p:cNvPr id="47" name="Shape 44"/>
          <p:cNvSpPr/>
          <p:nvPr/>
        </p:nvSpPr>
        <p:spPr>
          <a:xfrm>
            <a:off x="5312664" y="1371600"/>
            <a:ext cx="1527048" cy="841248"/>
          </a:xfrm>
          <a:prstGeom prst="roundRect">
            <a:avLst>
              <a:gd name="adj" fmla="val 5435"/>
            </a:avLst>
          </a:prstGeom>
          <a:solidFill>
            <a:srgbClr val="17243A"/>
          </a:solidFill>
          <a:ln w="9525">
            <a:solidFill>
              <a:srgbClr val="17243A"/>
            </a:solidFill>
            <a:prstDash val="solid"/>
          </a:ln>
        </p:spPr>
      </p:sp>
      <p:sp>
        <p:nvSpPr>
          <p:cNvPr id="48" name="Shape 45"/>
          <p:cNvSpPr/>
          <p:nvPr/>
        </p:nvSpPr>
        <p:spPr>
          <a:xfrm>
            <a:off x="5404104" y="1463040"/>
            <a:ext cx="329184" cy="329184"/>
          </a:xfrm>
          <a:prstGeom prst="ellipse">
            <a:avLst/>
          </a:prstGeom>
          <a:solidFill>
            <a:srgbClr val="7FA8E8"/>
          </a:solidFill>
          <a:ln w="15875">
            <a:solidFill>
              <a:srgbClr val="7FA8E8"/>
            </a:solidFill>
            <a:prstDash val="solid"/>
          </a:ln>
        </p:spPr>
      </p:sp>
      <p:sp>
        <p:nvSpPr>
          <p:cNvPr id="49" name="Text 46"/>
          <p:cNvSpPr txBox="1"/>
          <p:nvPr/>
        </p:nvSpPr>
        <p:spPr>
          <a:xfrm>
            <a:off x="5404104" y="1463040"/>
            <a:ext cx="329184" cy="329184"/>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4</a:t>
            </a:r>
            <a:endParaRPr lang="en-US" sz="1200" dirty="0"/>
          </a:p>
        </p:txBody>
      </p:sp>
      <p:sp>
        <p:nvSpPr>
          <p:cNvPr id="50" name="Text 47"/>
          <p:cNvSpPr txBox="1"/>
          <p:nvPr/>
        </p:nvSpPr>
        <p:spPr>
          <a:xfrm>
            <a:off x="5404104" y="1828800"/>
            <a:ext cx="1380744" cy="365760"/>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Intake, routing &amp; knowledge</a:t>
            </a:r>
            <a:endParaRPr lang="en-US" sz="1000" dirty="0"/>
          </a:p>
        </p:txBody>
      </p:sp>
      <p:sp>
        <p:nvSpPr>
          <p:cNvPr id="51" name="Shape 48"/>
          <p:cNvSpPr/>
          <p:nvPr/>
        </p:nvSpPr>
        <p:spPr>
          <a:xfrm>
            <a:off x="5376672" y="2322576"/>
            <a:ext cx="1399032" cy="493776"/>
          </a:xfrm>
          <a:prstGeom prst="roundRect">
            <a:avLst>
              <a:gd name="adj" fmla="val 12963"/>
            </a:avLst>
          </a:prstGeom>
          <a:solidFill>
            <a:srgbClr val="1D242E"/>
          </a:solidFill>
          <a:ln w="13970">
            <a:solidFill>
              <a:srgbClr val="E2B54E"/>
            </a:solidFill>
            <a:prstDash val="solid"/>
          </a:ln>
        </p:spPr>
      </p:sp>
      <p:sp>
        <p:nvSpPr>
          <p:cNvPr id="52" name="Text 49"/>
          <p:cNvSpPr txBox="1"/>
          <p:nvPr/>
        </p:nvSpPr>
        <p:spPr>
          <a:xfrm>
            <a:off x="5440680" y="2322576"/>
            <a:ext cx="1289304" cy="493776"/>
          </a:xfrm>
          <a:prstGeom prst="rect">
            <a:avLst/>
          </a:prstGeom>
          <a:noFill/>
          <a:ln/>
        </p:spPr>
        <p:txBody>
          <a:bodyPr wrap="square" lIns="0" tIns="0" rIns="0" bIns="0" rtlCol="0" anchor="ctr"/>
          <a:lstStyle/>
          <a:p>
            <a:pPr indent="0" marL="0">
              <a:buNone/>
            </a:pPr>
            <a:r>
              <a:rPr lang="en-US" sz="950" b="1" dirty="0">
                <a:solidFill>
                  <a:srgbClr val="E2B54E"/>
                </a:solidFill>
                <a:latin typeface="Calibri" pitchFamily="34" charset="0"/>
                <a:ea typeface="Calibri" pitchFamily="34" charset="-122"/>
                <a:cs typeface="Calibri" pitchFamily="34" charset="-120"/>
              </a:rPr>
              <a:t>B1  </a:t>
            </a:r>
            <a:pPr indent="0" marL="0">
              <a:buNone/>
            </a:pPr>
            <a:r>
              <a:rPr lang="en-US" sz="950" dirty="0">
                <a:solidFill>
                  <a:srgbClr val="EEF1F4"/>
                </a:solidFill>
                <a:latin typeface="Calibri" pitchFamily="34" charset="0"/>
                <a:ea typeface="Calibri" pitchFamily="34" charset="-122"/>
                <a:cs typeface="Calibri" pitchFamily="34" charset="-120"/>
              </a:rPr>
              <a:t>Sensor board, always on</a:t>
            </a:r>
            <a:endParaRPr lang="en-US" sz="950" dirty="0"/>
          </a:p>
        </p:txBody>
      </p:sp>
      <p:sp>
        <p:nvSpPr>
          <p:cNvPr id="53" name="Shape 50"/>
          <p:cNvSpPr/>
          <p:nvPr/>
        </p:nvSpPr>
        <p:spPr>
          <a:xfrm>
            <a:off x="5376672" y="2889504"/>
            <a:ext cx="1399032" cy="493776"/>
          </a:xfrm>
          <a:prstGeom prst="roundRect">
            <a:avLst>
              <a:gd name="adj" fmla="val 12963"/>
            </a:avLst>
          </a:prstGeom>
          <a:solidFill>
            <a:srgbClr val="1D242E"/>
          </a:solidFill>
          <a:ln w="9525">
            <a:solidFill>
              <a:srgbClr val="323C49"/>
            </a:solidFill>
            <a:prstDash val="solid"/>
          </a:ln>
        </p:spPr>
      </p:sp>
      <p:sp>
        <p:nvSpPr>
          <p:cNvPr id="54" name="Text 51"/>
          <p:cNvSpPr txBox="1"/>
          <p:nvPr/>
        </p:nvSpPr>
        <p:spPr>
          <a:xfrm>
            <a:off x="5440680" y="2889504"/>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B2  </a:t>
            </a:r>
            <a:pPr indent="0" marL="0">
              <a:buNone/>
            </a:pPr>
            <a:r>
              <a:rPr lang="en-US" sz="950" dirty="0">
                <a:solidFill>
                  <a:srgbClr val="EEF1F4"/>
                </a:solidFill>
                <a:latin typeface="Calibri" pitchFamily="34" charset="0"/>
                <a:ea typeface="Calibri" pitchFamily="34" charset="-122"/>
                <a:cs typeface="Calibri" pitchFamily="34" charset="-120"/>
              </a:rPr>
              <a:t>Rules-first routing</a:t>
            </a:r>
            <a:endParaRPr lang="en-US" sz="950" dirty="0"/>
          </a:p>
        </p:txBody>
      </p:sp>
      <p:sp>
        <p:nvSpPr>
          <p:cNvPr id="55" name="Shape 52"/>
          <p:cNvSpPr/>
          <p:nvPr/>
        </p:nvSpPr>
        <p:spPr>
          <a:xfrm>
            <a:off x="5376672" y="3456432"/>
            <a:ext cx="1399032" cy="493776"/>
          </a:xfrm>
          <a:prstGeom prst="roundRect">
            <a:avLst>
              <a:gd name="adj" fmla="val 12963"/>
            </a:avLst>
          </a:prstGeom>
          <a:solidFill>
            <a:srgbClr val="1D242E"/>
          </a:solidFill>
          <a:ln w="13970">
            <a:solidFill>
              <a:srgbClr val="E2B54E"/>
            </a:solidFill>
            <a:prstDash val="solid"/>
          </a:ln>
        </p:spPr>
      </p:sp>
      <p:sp>
        <p:nvSpPr>
          <p:cNvPr id="56" name="Text 53"/>
          <p:cNvSpPr txBox="1"/>
          <p:nvPr/>
        </p:nvSpPr>
        <p:spPr>
          <a:xfrm>
            <a:off x="5440680" y="3456432"/>
            <a:ext cx="1289304" cy="493776"/>
          </a:xfrm>
          <a:prstGeom prst="rect">
            <a:avLst/>
          </a:prstGeom>
          <a:noFill/>
          <a:ln/>
        </p:spPr>
        <p:txBody>
          <a:bodyPr wrap="square" lIns="0" tIns="0" rIns="0" bIns="0" rtlCol="0" anchor="ctr"/>
          <a:lstStyle/>
          <a:p>
            <a:pPr indent="0" marL="0">
              <a:buNone/>
            </a:pPr>
            <a:r>
              <a:rPr lang="en-US" sz="950" b="1" dirty="0">
                <a:solidFill>
                  <a:srgbClr val="E2B54E"/>
                </a:solidFill>
                <a:latin typeface="Calibri" pitchFamily="34" charset="0"/>
                <a:ea typeface="Calibri" pitchFamily="34" charset="-122"/>
                <a:cs typeface="Calibri" pitchFamily="34" charset="-120"/>
              </a:rPr>
              <a:t>B3  </a:t>
            </a:r>
            <a:pPr indent="0" marL="0">
              <a:buNone/>
            </a:pPr>
            <a:r>
              <a:rPr lang="en-US" sz="950" dirty="0">
                <a:solidFill>
                  <a:srgbClr val="EEF1F4"/>
                </a:solidFill>
                <a:latin typeface="Calibri" pitchFamily="34" charset="0"/>
                <a:ea typeface="Calibri" pitchFamily="34" charset="-122"/>
                <a:cs typeface="Calibri" pitchFamily="34" charset="-120"/>
              </a:rPr>
              <a:t>16 languages, English pivot</a:t>
            </a:r>
            <a:endParaRPr lang="en-US" sz="950" dirty="0"/>
          </a:p>
        </p:txBody>
      </p:sp>
      <p:sp>
        <p:nvSpPr>
          <p:cNvPr id="57" name="Shape 54"/>
          <p:cNvSpPr/>
          <p:nvPr/>
        </p:nvSpPr>
        <p:spPr>
          <a:xfrm>
            <a:off x="5376672" y="4023360"/>
            <a:ext cx="1399032" cy="493776"/>
          </a:xfrm>
          <a:prstGeom prst="roundRect">
            <a:avLst>
              <a:gd name="adj" fmla="val 12963"/>
            </a:avLst>
          </a:prstGeom>
          <a:solidFill>
            <a:srgbClr val="1D242E"/>
          </a:solidFill>
          <a:ln w="9525">
            <a:solidFill>
              <a:srgbClr val="323C49"/>
            </a:solidFill>
            <a:prstDash val="solid"/>
          </a:ln>
        </p:spPr>
      </p:sp>
      <p:sp>
        <p:nvSpPr>
          <p:cNvPr id="58" name="Text 55"/>
          <p:cNvSpPr txBox="1"/>
          <p:nvPr/>
        </p:nvSpPr>
        <p:spPr>
          <a:xfrm>
            <a:off x="5440680" y="4023360"/>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B4  </a:t>
            </a:r>
            <a:pPr indent="0" marL="0">
              <a:buNone/>
            </a:pPr>
            <a:r>
              <a:rPr lang="en-US" sz="950" dirty="0">
                <a:solidFill>
                  <a:srgbClr val="EEF1F4"/>
                </a:solidFill>
                <a:latin typeface="Calibri" pitchFamily="34" charset="0"/>
                <a:ea typeface="Calibri" pitchFamily="34" charset="-122"/>
                <a:cs typeface="Calibri" pitchFamily="34" charset="-120"/>
              </a:rPr>
              <a:t>txtai query fixes, tag list</a:t>
            </a:r>
            <a:endParaRPr lang="en-US" sz="950" dirty="0"/>
          </a:p>
        </p:txBody>
      </p:sp>
      <p:sp>
        <p:nvSpPr>
          <p:cNvPr id="59" name="Shape 56"/>
          <p:cNvSpPr/>
          <p:nvPr/>
        </p:nvSpPr>
        <p:spPr>
          <a:xfrm>
            <a:off x="5376672" y="4590288"/>
            <a:ext cx="1399032" cy="493776"/>
          </a:xfrm>
          <a:prstGeom prst="roundRect">
            <a:avLst>
              <a:gd name="adj" fmla="val 12963"/>
            </a:avLst>
          </a:prstGeom>
          <a:solidFill>
            <a:srgbClr val="1D242E"/>
          </a:solidFill>
          <a:ln w="9525">
            <a:solidFill>
              <a:srgbClr val="323C49"/>
            </a:solidFill>
            <a:prstDash val="solid"/>
          </a:ln>
        </p:spPr>
      </p:sp>
      <p:sp>
        <p:nvSpPr>
          <p:cNvPr id="60" name="Text 57"/>
          <p:cNvSpPr txBox="1"/>
          <p:nvPr/>
        </p:nvSpPr>
        <p:spPr>
          <a:xfrm>
            <a:off x="5440680" y="4590288"/>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B5  </a:t>
            </a:r>
            <a:pPr indent="0" marL="0">
              <a:buNone/>
            </a:pPr>
            <a:r>
              <a:rPr lang="en-US" sz="950" dirty="0">
                <a:solidFill>
                  <a:srgbClr val="EEF1F4"/>
                </a:solidFill>
                <a:latin typeface="Calibri" pitchFamily="34" charset="0"/>
                <a:ea typeface="Calibri" pitchFamily="34" charset="-122"/>
                <a:cs typeface="Calibri" pitchFamily="34" charset="-120"/>
              </a:rPr>
              <a:t>Corpus plan + retrieval tests</a:t>
            </a:r>
            <a:endParaRPr lang="en-US" sz="950" dirty="0"/>
          </a:p>
        </p:txBody>
      </p:sp>
      <p:sp>
        <p:nvSpPr>
          <p:cNvPr id="61" name="Text 58"/>
          <p:cNvSpPr txBox="1"/>
          <p:nvPr/>
        </p:nvSpPr>
        <p:spPr>
          <a:xfrm>
            <a:off x="5404104" y="5897880"/>
            <a:ext cx="1344168" cy="256032"/>
          </a:xfrm>
          <a:prstGeom prst="rect">
            <a:avLst/>
          </a:prstGeom>
          <a:noFill/>
          <a:ln/>
        </p:spPr>
        <p:txBody>
          <a:bodyPr wrap="square" lIns="0" tIns="0" rIns="0" bIns="0" rtlCol="0" anchor="ctr"/>
          <a:lstStyle/>
          <a:p>
            <a:pPr indent="0" marL="0">
              <a:buNone/>
            </a:pPr>
            <a:r>
              <a:rPr lang="en-US" sz="950" dirty="0">
                <a:solidFill>
                  <a:srgbClr val="A3AEBB"/>
                </a:solidFill>
                <a:latin typeface="Calibri" pitchFamily="34" charset="0"/>
                <a:ea typeface="Calibri" pitchFamily="34" charset="-122"/>
                <a:cs typeface="Calibri" pitchFamily="34" charset="-120"/>
              </a:rPr>
              <a:t>5 recs · 2 P1</a:t>
            </a:r>
            <a:endParaRPr lang="en-US" sz="950" dirty="0"/>
          </a:p>
        </p:txBody>
      </p:sp>
      <p:sp>
        <p:nvSpPr>
          <p:cNvPr id="62" name="Shape 59"/>
          <p:cNvSpPr/>
          <p:nvPr/>
        </p:nvSpPr>
        <p:spPr>
          <a:xfrm>
            <a:off x="6931152" y="1371600"/>
            <a:ext cx="1527048" cy="4846320"/>
          </a:xfrm>
          <a:prstGeom prst="roundRect">
            <a:avLst>
              <a:gd name="adj" fmla="val 2994"/>
            </a:avLst>
          </a:prstGeom>
          <a:solidFill>
            <a:srgbClr val="161C24"/>
          </a:solidFill>
          <a:ln w="9525">
            <a:solidFill>
              <a:srgbClr val="161C24"/>
            </a:solidFill>
            <a:prstDash val="solid"/>
          </a:ln>
        </p:spPr>
      </p:sp>
      <p:sp>
        <p:nvSpPr>
          <p:cNvPr id="63" name="Shape 60"/>
          <p:cNvSpPr/>
          <p:nvPr/>
        </p:nvSpPr>
        <p:spPr>
          <a:xfrm>
            <a:off x="6931152" y="1371600"/>
            <a:ext cx="1527048" cy="841248"/>
          </a:xfrm>
          <a:prstGeom prst="roundRect">
            <a:avLst>
              <a:gd name="adj" fmla="val 5435"/>
            </a:avLst>
          </a:prstGeom>
          <a:solidFill>
            <a:srgbClr val="17243A"/>
          </a:solidFill>
          <a:ln w="9525">
            <a:solidFill>
              <a:srgbClr val="17243A"/>
            </a:solidFill>
            <a:prstDash val="solid"/>
          </a:ln>
        </p:spPr>
      </p:sp>
      <p:sp>
        <p:nvSpPr>
          <p:cNvPr id="64" name="Shape 61"/>
          <p:cNvSpPr/>
          <p:nvPr/>
        </p:nvSpPr>
        <p:spPr>
          <a:xfrm>
            <a:off x="7022592" y="1463040"/>
            <a:ext cx="329184" cy="329184"/>
          </a:xfrm>
          <a:prstGeom prst="ellipse">
            <a:avLst/>
          </a:prstGeom>
          <a:solidFill>
            <a:srgbClr val="7FA8E8"/>
          </a:solidFill>
          <a:ln w="15875">
            <a:solidFill>
              <a:srgbClr val="7FA8E8"/>
            </a:solidFill>
            <a:prstDash val="solid"/>
          </a:ln>
        </p:spPr>
      </p:sp>
      <p:sp>
        <p:nvSpPr>
          <p:cNvPr id="65" name="Text 62"/>
          <p:cNvSpPr txBox="1"/>
          <p:nvPr/>
        </p:nvSpPr>
        <p:spPr>
          <a:xfrm>
            <a:off x="7022592" y="1463040"/>
            <a:ext cx="329184" cy="329184"/>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5</a:t>
            </a:r>
            <a:endParaRPr lang="en-US" sz="1200" dirty="0"/>
          </a:p>
        </p:txBody>
      </p:sp>
      <p:sp>
        <p:nvSpPr>
          <p:cNvPr id="66" name="Text 63"/>
          <p:cNvSpPr txBox="1"/>
          <p:nvPr/>
        </p:nvSpPr>
        <p:spPr>
          <a:xfrm>
            <a:off x="7022592" y="1828800"/>
            <a:ext cx="1380744" cy="365760"/>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Prompt &amp; AI reply</a:t>
            </a:r>
            <a:endParaRPr lang="en-US" sz="1000" dirty="0"/>
          </a:p>
        </p:txBody>
      </p:sp>
      <p:sp>
        <p:nvSpPr>
          <p:cNvPr id="67" name="Shape 64"/>
          <p:cNvSpPr/>
          <p:nvPr/>
        </p:nvSpPr>
        <p:spPr>
          <a:xfrm>
            <a:off x="6995160" y="2322576"/>
            <a:ext cx="1399032" cy="493776"/>
          </a:xfrm>
          <a:prstGeom prst="roundRect">
            <a:avLst>
              <a:gd name="adj" fmla="val 12963"/>
            </a:avLst>
          </a:prstGeom>
          <a:solidFill>
            <a:srgbClr val="1D242E"/>
          </a:solidFill>
          <a:ln w="13970">
            <a:solidFill>
              <a:srgbClr val="E2B54E"/>
            </a:solidFill>
            <a:prstDash val="solid"/>
          </a:ln>
        </p:spPr>
      </p:sp>
      <p:sp>
        <p:nvSpPr>
          <p:cNvPr id="68" name="Text 65"/>
          <p:cNvSpPr txBox="1"/>
          <p:nvPr/>
        </p:nvSpPr>
        <p:spPr>
          <a:xfrm>
            <a:off x="7059168" y="2322576"/>
            <a:ext cx="1289304" cy="493776"/>
          </a:xfrm>
          <a:prstGeom prst="rect">
            <a:avLst/>
          </a:prstGeom>
          <a:noFill/>
          <a:ln/>
        </p:spPr>
        <p:txBody>
          <a:bodyPr wrap="square" lIns="0" tIns="0" rIns="0" bIns="0" rtlCol="0" anchor="ctr"/>
          <a:lstStyle/>
          <a:p>
            <a:pPr indent="0" marL="0">
              <a:buNone/>
            </a:pPr>
            <a:r>
              <a:rPr lang="en-US" sz="950" b="1" dirty="0">
                <a:solidFill>
                  <a:srgbClr val="E2B54E"/>
                </a:solidFill>
                <a:latin typeface="Calibri" pitchFamily="34" charset="0"/>
                <a:ea typeface="Calibri" pitchFamily="34" charset="-122"/>
                <a:cs typeface="Calibri" pitchFamily="34" charset="-120"/>
              </a:rPr>
              <a:t>C1  </a:t>
            </a:r>
            <a:pPr indent="0" marL="0">
              <a:buNone/>
            </a:pPr>
            <a:r>
              <a:rPr lang="en-US" sz="950" dirty="0">
                <a:solidFill>
                  <a:srgbClr val="EEF1F4"/>
                </a:solidFill>
                <a:latin typeface="Calibri" pitchFamily="34" charset="0"/>
                <a:ea typeface="Calibri" pitchFamily="34" charset="-122"/>
                <a:cs typeface="Calibri" pitchFamily="34" charset="-120"/>
              </a:rPr>
              <a:t>Context budget + quotas</a:t>
            </a:r>
            <a:endParaRPr lang="en-US" sz="950" dirty="0"/>
          </a:p>
        </p:txBody>
      </p:sp>
      <p:sp>
        <p:nvSpPr>
          <p:cNvPr id="69" name="Shape 66"/>
          <p:cNvSpPr/>
          <p:nvPr/>
        </p:nvSpPr>
        <p:spPr>
          <a:xfrm>
            <a:off x="6995160" y="2889504"/>
            <a:ext cx="1399032" cy="493776"/>
          </a:xfrm>
          <a:prstGeom prst="roundRect">
            <a:avLst>
              <a:gd name="adj" fmla="val 12963"/>
            </a:avLst>
          </a:prstGeom>
          <a:solidFill>
            <a:srgbClr val="1D242E"/>
          </a:solidFill>
          <a:ln w="9525">
            <a:solidFill>
              <a:srgbClr val="323C49"/>
            </a:solidFill>
            <a:prstDash val="solid"/>
          </a:ln>
        </p:spPr>
      </p:sp>
      <p:sp>
        <p:nvSpPr>
          <p:cNvPr id="70" name="Text 67"/>
          <p:cNvSpPr txBox="1"/>
          <p:nvPr/>
        </p:nvSpPr>
        <p:spPr>
          <a:xfrm>
            <a:off x="7059168" y="2889504"/>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C2  </a:t>
            </a:r>
            <a:pPr indent="0" marL="0">
              <a:buNone/>
            </a:pPr>
            <a:r>
              <a:rPr lang="en-US" sz="950" dirty="0">
                <a:solidFill>
                  <a:srgbClr val="EEF1F4"/>
                </a:solidFill>
                <a:latin typeface="Calibri" pitchFamily="34" charset="0"/>
                <a:ea typeface="Calibri" pitchFamily="34" charset="-122"/>
                <a:cs typeface="Calibri" pitchFamily="34" charset="-120"/>
              </a:rPr>
              <a:t>Follow-up turns, latency</a:t>
            </a:r>
            <a:endParaRPr lang="en-US" sz="950" dirty="0"/>
          </a:p>
        </p:txBody>
      </p:sp>
      <p:sp>
        <p:nvSpPr>
          <p:cNvPr id="71" name="Shape 68"/>
          <p:cNvSpPr/>
          <p:nvPr/>
        </p:nvSpPr>
        <p:spPr>
          <a:xfrm>
            <a:off x="6995160" y="3456432"/>
            <a:ext cx="1399032" cy="493776"/>
          </a:xfrm>
          <a:prstGeom prst="roundRect">
            <a:avLst>
              <a:gd name="adj" fmla="val 12963"/>
            </a:avLst>
          </a:prstGeom>
          <a:solidFill>
            <a:srgbClr val="1D242E"/>
          </a:solidFill>
          <a:ln w="13970">
            <a:solidFill>
              <a:srgbClr val="E2B54E"/>
            </a:solidFill>
            <a:prstDash val="solid"/>
          </a:ln>
        </p:spPr>
      </p:sp>
      <p:sp>
        <p:nvSpPr>
          <p:cNvPr id="72" name="Text 69"/>
          <p:cNvSpPr txBox="1"/>
          <p:nvPr/>
        </p:nvSpPr>
        <p:spPr>
          <a:xfrm>
            <a:off x="7059168" y="3456432"/>
            <a:ext cx="1289304" cy="493776"/>
          </a:xfrm>
          <a:prstGeom prst="rect">
            <a:avLst/>
          </a:prstGeom>
          <a:noFill/>
          <a:ln/>
        </p:spPr>
        <p:txBody>
          <a:bodyPr wrap="square" lIns="0" tIns="0" rIns="0" bIns="0" rtlCol="0" anchor="ctr"/>
          <a:lstStyle/>
          <a:p>
            <a:pPr indent="0" marL="0">
              <a:buNone/>
            </a:pPr>
            <a:r>
              <a:rPr lang="en-US" sz="950" b="1" dirty="0">
                <a:solidFill>
                  <a:srgbClr val="E2B54E"/>
                </a:solidFill>
                <a:latin typeface="Calibri" pitchFamily="34" charset="0"/>
                <a:ea typeface="Calibri" pitchFamily="34" charset="-122"/>
                <a:cs typeface="Calibri" pitchFamily="34" charset="-120"/>
              </a:rPr>
              <a:t>D3  </a:t>
            </a:r>
            <a:pPr indent="0" marL="0">
              <a:buNone/>
            </a:pPr>
            <a:r>
              <a:rPr lang="en-US" sz="950" dirty="0">
                <a:solidFill>
                  <a:srgbClr val="EEF1F4"/>
                </a:solidFill>
                <a:latin typeface="Calibri" pitchFamily="34" charset="0"/>
                <a:ea typeface="Calibri" pitchFamily="34" charset="-122"/>
                <a:cs typeface="Calibri" pitchFamily="34" charset="-120"/>
              </a:rPr>
              <a:t>Number-grounding check</a:t>
            </a:r>
            <a:endParaRPr lang="en-US" sz="950" dirty="0"/>
          </a:p>
        </p:txBody>
      </p:sp>
      <p:sp>
        <p:nvSpPr>
          <p:cNvPr id="73" name="Shape 70"/>
          <p:cNvSpPr/>
          <p:nvPr/>
        </p:nvSpPr>
        <p:spPr>
          <a:xfrm>
            <a:off x="6995160" y="4023360"/>
            <a:ext cx="1399032" cy="493776"/>
          </a:xfrm>
          <a:prstGeom prst="roundRect">
            <a:avLst>
              <a:gd name="adj" fmla="val 12963"/>
            </a:avLst>
          </a:prstGeom>
          <a:solidFill>
            <a:srgbClr val="1D242E"/>
          </a:solidFill>
          <a:ln w="9525">
            <a:solidFill>
              <a:srgbClr val="323C49"/>
            </a:solidFill>
            <a:prstDash val="solid"/>
          </a:ln>
        </p:spPr>
      </p:sp>
      <p:sp>
        <p:nvSpPr>
          <p:cNvPr id="74" name="Text 71"/>
          <p:cNvSpPr txBox="1"/>
          <p:nvPr/>
        </p:nvSpPr>
        <p:spPr>
          <a:xfrm>
            <a:off x="7059168" y="4023360"/>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F1  </a:t>
            </a:r>
            <a:pPr indent="0" marL="0">
              <a:buNone/>
            </a:pPr>
            <a:r>
              <a:rPr lang="en-US" sz="950" dirty="0">
                <a:solidFill>
                  <a:srgbClr val="EEF1F4"/>
                </a:solidFill>
                <a:latin typeface="Calibri" pitchFamily="34" charset="0"/>
                <a:ea typeface="Calibri" pitchFamily="34" charset="-122"/>
                <a:cs typeface="Calibri" pitchFamily="34" charset="-120"/>
              </a:rPr>
              <a:t>Structured Report 1</a:t>
            </a:r>
            <a:endParaRPr lang="en-US" sz="950" dirty="0"/>
          </a:p>
        </p:txBody>
      </p:sp>
      <p:sp>
        <p:nvSpPr>
          <p:cNvPr id="75" name="Shape 72"/>
          <p:cNvSpPr/>
          <p:nvPr/>
        </p:nvSpPr>
        <p:spPr>
          <a:xfrm>
            <a:off x="6995160" y="4590288"/>
            <a:ext cx="1399032" cy="493776"/>
          </a:xfrm>
          <a:prstGeom prst="roundRect">
            <a:avLst>
              <a:gd name="adj" fmla="val 12963"/>
            </a:avLst>
          </a:prstGeom>
          <a:solidFill>
            <a:srgbClr val="1D242E"/>
          </a:solidFill>
          <a:ln w="9525">
            <a:solidFill>
              <a:srgbClr val="323C49"/>
            </a:solidFill>
            <a:prstDash val="solid"/>
          </a:ln>
        </p:spPr>
      </p:sp>
      <p:sp>
        <p:nvSpPr>
          <p:cNvPr id="76" name="Text 73"/>
          <p:cNvSpPr txBox="1"/>
          <p:nvPr/>
        </p:nvSpPr>
        <p:spPr>
          <a:xfrm>
            <a:off x="7059168" y="4590288"/>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F2  </a:t>
            </a:r>
            <a:pPr indent="0" marL="0">
              <a:buNone/>
            </a:pPr>
            <a:r>
              <a:rPr lang="en-US" sz="950" dirty="0">
                <a:solidFill>
                  <a:srgbClr val="EEF1F4"/>
                </a:solidFill>
                <a:latin typeface="Calibri" pitchFamily="34" charset="0"/>
                <a:ea typeface="Calibri" pitchFamily="34" charset="-122"/>
                <a:cs typeface="Calibri" pitchFamily="34" charset="-120"/>
              </a:rPr>
              <a:t>Model gateway + evals</a:t>
            </a:r>
            <a:endParaRPr lang="en-US" sz="950" dirty="0"/>
          </a:p>
        </p:txBody>
      </p:sp>
      <p:sp>
        <p:nvSpPr>
          <p:cNvPr id="77" name="Shape 74"/>
          <p:cNvSpPr/>
          <p:nvPr/>
        </p:nvSpPr>
        <p:spPr>
          <a:xfrm>
            <a:off x="6995160" y="5157216"/>
            <a:ext cx="1399032" cy="493776"/>
          </a:xfrm>
          <a:prstGeom prst="roundRect">
            <a:avLst>
              <a:gd name="adj" fmla="val 12963"/>
            </a:avLst>
          </a:prstGeom>
          <a:solidFill>
            <a:srgbClr val="1D242E"/>
          </a:solidFill>
          <a:ln w="9525">
            <a:solidFill>
              <a:srgbClr val="323C49"/>
            </a:solidFill>
            <a:prstDash val="solid"/>
          </a:ln>
        </p:spPr>
      </p:sp>
      <p:sp>
        <p:nvSpPr>
          <p:cNvPr id="78" name="Text 75"/>
          <p:cNvSpPr txBox="1"/>
          <p:nvPr/>
        </p:nvSpPr>
        <p:spPr>
          <a:xfrm>
            <a:off x="7059168" y="5157216"/>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F3  </a:t>
            </a:r>
            <a:pPr indent="0" marL="0">
              <a:buNone/>
            </a:pPr>
            <a:r>
              <a:rPr lang="en-US" sz="950" dirty="0">
                <a:solidFill>
                  <a:srgbClr val="EEF1F4"/>
                </a:solidFill>
                <a:latin typeface="Calibri" pitchFamily="34" charset="0"/>
                <a:ea typeface="Calibri" pitchFamily="34" charset="-122"/>
                <a:cs typeface="Calibri" pitchFamily="34" charset="-120"/>
              </a:rPr>
              <a:t>Compliance wording</a:t>
            </a:r>
            <a:endParaRPr lang="en-US" sz="950" dirty="0"/>
          </a:p>
        </p:txBody>
      </p:sp>
      <p:sp>
        <p:nvSpPr>
          <p:cNvPr id="79" name="Text 76"/>
          <p:cNvSpPr txBox="1"/>
          <p:nvPr/>
        </p:nvSpPr>
        <p:spPr>
          <a:xfrm>
            <a:off x="7022592" y="5897880"/>
            <a:ext cx="1344168" cy="256032"/>
          </a:xfrm>
          <a:prstGeom prst="rect">
            <a:avLst/>
          </a:prstGeom>
          <a:noFill/>
          <a:ln/>
        </p:spPr>
        <p:txBody>
          <a:bodyPr wrap="square" lIns="0" tIns="0" rIns="0" bIns="0" rtlCol="0" anchor="ctr"/>
          <a:lstStyle/>
          <a:p>
            <a:pPr indent="0" marL="0">
              <a:buNone/>
            </a:pPr>
            <a:r>
              <a:rPr lang="en-US" sz="950" dirty="0">
                <a:solidFill>
                  <a:srgbClr val="A3AEBB"/>
                </a:solidFill>
                <a:latin typeface="Calibri" pitchFamily="34" charset="0"/>
                <a:ea typeface="Calibri" pitchFamily="34" charset="-122"/>
                <a:cs typeface="Calibri" pitchFamily="34" charset="-120"/>
              </a:rPr>
              <a:t>6 recs · 2 P1</a:t>
            </a:r>
            <a:endParaRPr lang="en-US" sz="950" dirty="0"/>
          </a:p>
        </p:txBody>
      </p:sp>
      <p:sp>
        <p:nvSpPr>
          <p:cNvPr id="80" name="Shape 77"/>
          <p:cNvSpPr/>
          <p:nvPr/>
        </p:nvSpPr>
        <p:spPr>
          <a:xfrm>
            <a:off x="8549640" y="1371600"/>
            <a:ext cx="1527048" cy="4846320"/>
          </a:xfrm>
          <a:prstGeom prst="roundRect">
            <a:avLst>
              <a:gd name="adj" fmla="val 2994"/>
            </a:avLst>
          </a:prstGeom>
          <a:solidFill>
            <a:srgbClr val="161C24"/>
          </a:solidFill>
          <a:ln w="9525">
            <a:solidFill>
              <a:srgbClr val="161C24"/>
            </a:solidFill>
            <a:prstDash val="solid"/>
          </a:ln>
        </p:spPr>
      </p:sp>
      <p:sp>
        <p:nvSpPr>
          <p:cNvPr id="81" name="Shape 78"/>
          <p:cNvSpPr/>
          <p:nvPr/>
        </p:nvSpPr>
        <p:spPr>
          <a:xfrm>
            <a:off x="8549640" y="1371600"/>
            <a:ext cx="1527048" cy="841248"/>
          </a:xfrm>
          <a:prstGeom prst="roundRect">
            <a:avLst>
              <a:gd name="adj" fmla="val 5435"/>
            </a:avLst>
          </a:prstGeom>
          <a:solidFill>
            <a:srgbClr val="17243A"/>
          </a:solidFill>
          <a:ln w="9525">
            <a:solidFill>
              <a:srgbClr val="17243A"/>
            </a:solidFill>
            <a:prstDash val="solid"/>
          </a:ln>
        </p:spPr>
      </p:sp>
      <p:sp>
        <p:nvSpPr>
          <p:cNvPr id="82" name="Shape 79"/>
          <p:cNvSpPr/>
          <p:nvPr/>
        </p:nvSpPr>
        <p:spPr>
          <a:xfrm>
            <a:off x="8641080" y="1463040"/>
            <a:ext cx="329184" cy="329184"/>
          </a:xfrm>
          <a:prstGeom prst="ellipse">
            <a:avLst/>
          </a:prstGeom>
          <a:solidFill>
            <a:srgbClr val="7FA8E8"/>
          </a:solidFill>
          <a:ln w="15875">
            <a:solidFill>
              <a:srgbClr val="7FA8E8"/>
            </a:solidFill>
            <a:prstDash val="solid"/>
          </a:ln>
        </p:spPr>
      </p:sp>
      <p:sp>
        <p:nvSpPr>
          <p:cNvPr id="83" name="Text 80"/>
          <p:cNvSpPr txBox="1"/>
          <p:nvPr/>
        </p:nvSpPr>
        <p:spPr>
          <a:xfrm>
            <a:off x="8641080" y="1463040"/>
            <a:ext cx="329184" cy="329184"/>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6</a:t>
            </a:r>
            <a:endParaRPr lang="en-US" sz="1200" dirty="0"/>
          </a:p>
        </p:txBody>
      </p:sp>
      <p:sp>
        <p:nvSpPr>
          <p:cNvPr id="84" name="Text 81"/>
          <p:cNvSpPr txBox="1"/>
          <p:nvPr/>
        </p:nvSpPr>
        <p:spPr>
          <a:xfrm>
            <a:off x="8641080" y="1828800"/>
            <a:ext cx="1380744" cy="365760"/>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Engine 4 &amp; Report 2</a:t>
            </a:r>
            <a:endParaRPr lang="en-US" sz="1000" dirty="0"/>
          </a:p>
        </p:txBody>
      </p:sp>
      <p:sp>
        <p:nvSpPr>
          <p:cNvPr id="85" name="Shape 82"/>
          <p:cNvSpPr/>
          <p:nvPr/>
        </p:nvSpPr>
        <p:spPr>
          <a:xfrm>
            <a:off x="8613648" y="2322576"/>
            <a:ext cx="1399032" cy="493776"/>
          </a:xfrm>
          <a:prstGeom prst="roundRect">
            <a:avLst>
              <a:gd name="adj" fmla="val 12963"/>
            </a:avLst>
          </a:prstGeom>
          <a:solidFill>
            <a:srgbClr val="1D242E"/>
          </a:solidFill>
          <a:ln w="13970">
            <a:solidFill>
              <a:srgbClr val="E2B54E"/>
            </a:solidFill>
            <a:prstDash val="solid"/>
          </a:ln>
        </p:spPr>
      </p:sp>
      <p:sp>
        <p:nvSpPr>
          <p:cNvPr id="86" name="Text 83"/>
          <p:cNvSpPr txBox="1"/>
          <p:nvPr/>
        </p:nvSpPr>
        <p:spPr>
          <a:xfrm>
            <a:off x="8677656" y="2322576"/>
            <a:ext cx="1289304" cy="493776"/>
          </a:xfrm>
          <a:prstGeom prst="rect">
            <a:avLst/>
          </a:prstGeom>
          <a:noFill/>
          <a:ln/>
        </p:spPr>
        <p:txBody>
          <a:bodyPr wrap="square" lIns="0" tIns="0" rIns="0" bIns="0" rtlCol="0" anchor="ctr"/>
          <a:lstStyle/>
          <a:p>
            <a:pPr indent="0" marL="0">
              <a:buNone/>
            </a:pPr>
            <a:r>
              <a:rPr lang="en-US" sz="950" b="1" dirty="0">
                <a:solidFill>
                  <a:srgbClr val="E2B54E"/>
                </a:solidFill>
                <a:latin typeface="Calibri" pitchFamily="34" charset="0"/>
                <a:ea typeface="Calibri" pitchFamily="34" charset="-122"/>
                <a:cs typeface="Calibri" pitchFamily="34" charset="-120"/>
              </a:rPr>
              <a:t>D2  </a:t>
            </a:r>
            <a:pPr indent="0" marL="0">
              <a:buNone/>
            </a:pPr>
            <a:r>
              <a:rPr lang="en-US" sz="950" dirty="0">
                <a:solidFill>
                  <a:srgbClr val="EEF1F4"/>
                </a:solidFill>
                <a:latin typeface="Calibri" pitchFamily="34" charset="0"/>
                <a:ea typeface="Calibri" pitchFamily="34" charset="-122"/>
                <a:cs typeface="Calibri" pitchFamily="34" charset="-120"/>
              </a:rPr>
              <a:t>News blackout in Engine 4</a:t>
            </a:r>
            <a:endParaRPr lang="en-US" sz="950" dirty="0"/>
          </a:p>
        </p:txBody>
      </p:sp>
      <p:sp>
        <p:nvSpPr>
          <p:cNvPr id="87" name="Shape 84"/>
          <p:cNvSpPr/>
          <p:nvPr/>
        </p:nvSpPr>
        <p:spPr>
          <a:xfrm>
            <a:off x="8613648" y="2889504"/>
            <a:ext cx="1399032" cy="493776"/>
          </a:xfrm>
          <a:prstGeom prst="roundRect">
            <a:avLst>
              <a:gd name="adj" fmla="val 12963"/>
            </a:avLst>
          </a:prstGeom>
          <a:solidFill>
            <a:srgbClr val="1D242E"/>
          </a:solidFill>
          <a:ln w="9525">
            <a:solidFill>
              <a:srgbClr val="323C49"/>
            </a:solidFill>
            <a:prstDash val="solid"/>
          </a:ln>
        </p:spPr>
      </p:sp>
      <p:sp>
        <p:nvSpPr>
          <p:cNvPr id="88" name="Text 85"/>
          <p:cNvSpPr txBox="1"/>
          <p:nvPr/>
        </p:nvSpPr>
        <p:spPr>
          <a:xfrm>
            <a:off x="8677656" y="2889504"/>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D4  </a:t>
            </a:r>
            <a:pPr indent="0" marL="0">
              <a:buNone/>
            </a:pPr>
            <a:r>
              <a:rPr lang="en-US" sz="950" dirty="0">
                <a:solidFill>
                  <a:srgbClr val="EEF1F4"/>
                </a:solidFill>
                <a:latin typeface="Calibri" pitchFamily="34" charset="0"/>
                <a:ea typeface="Calibri" pitchFamily="34" charset="-122"/>
                <a:cs typeface="Calibri" pitchFamily="34" charset="-120"/>
              </a:rPr>
              <a:t>Defect flag drives sizing</a:t>
            </a:r>
            <a:endParaRPr lang="en-US" sz="950" dirty="0"/>
          </a:p>
        </p:txBody>
      </p:sp>
      <p:sp>
        <p:nvSpPr>
          <p:cNvPr id="89" name="Shape 86"/>
          <p:cNvSpPr/>
          <p:nvPr/>
        </p:nvSpPr>
        <p:spPr>
          <a:xfrm>
            <a:off x="8613648" y="3456432"/>
            <a:ext cx="1399032" cy="493776"/>
          </a:xfrm>
          <a:prstGeom prst="roundRect">
            <a:avLst>
              <a:gd name="adj" fmla="val 12963"/>
            </a:avLst>
          </a:prstGeom>
          <a:solidFill>
            <a:srgbClr val="1D242E"/>
          </a:solidFill>
          <a:ln w="9525">
            <a:solidFill>
              <a:srgbClr val="323C49"/>
            </a:solidFill>
            <a:prstDash val="solid"/>
          </a:ln>
        </p:spPr>
      </p:sp>
      <p:sp>
        <p:nvSpPr>
          <p:cNvPr id="90" name="Text 87"/>
          <p:cNvSpPr txBox="1"/>
          <p:nvPr/>
        </p:nvSpPr>
        <p:spPr>
          <a:xfrm>
            <a:off x="8677656" y="3456432"/>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E2  </a:t>
            </a:r>
            <a:pPr indent="0" marL="0">
              <a:buNone/>
            </a:pPr>
            <a:r>
              <a:rPr lang="en-US" sz="950" dirty="0">
                <a:solidFill>
                  <a:srgbClr val="EEF1F4"/>
                </a:solidFill>
                <a:latin typeface="Calibri" pitchFamily="34" charset="0"/>
                <a:ea typeface="Calibri" pitchFamily="34" charset="-122"/>
                <a:cs typeface="Calibri" pitchFamily="34" charset="-120"/>
              </a:rPr>
              <a:t>Structural stops, runway, badge</a:t>
            </a:r>
            <a:endParaRPr lang="en-US" sz="950" dirty="0"/>
          </a:p>
        </p:txBody>
      </p:sp>
      <p:sp>
        <p:nvSpPr>
          <p:cNvPr id="91" name="Shape 88"/>
          <p:cNvSpPr/>
          <p:nvPr/>
        </p:nvSpPr>
        <p:spPr>
          <a:xfrm>
            <a:off x="8613648" y="4023360"/>
            <a:ext cx="1399032" cy="493776"/>
          </a:xfrm>
          <a:prstGeom prst="roundRect">
            <a:avLst>
              <a:gd name="adj" fmla="val 12963"/>
            </a:avLst>
          </a:prstGeom>
          <a:solidFill>
            <a:srgbClr val="1D242E"/>
          </a:solidFill>
          <a:ln w="13970">
            <a:solidFill>
              <a:srgbClr val="E2B54E"/>
            </a:solidFill>
            <a:prstDash val="solid"/>
          </a:ln>
        </p:spPr>
      </p:sp>
      <p:sp>
        <p:nvSpPr>
          <p:cNvPr id="92" name="Text 89"/>
          <p:cNvSpPr txBox="1"/>
          <p:nvPr/>
        </p:nvSpPr>
        <p:spPr>
          <a:xfrm>
            <a:off x="8677656" y="4023360"/>
            <a:ext cx="1289304" cy="493776"/>
          </a:xfrm>
          <a:prstGeom prst="rect">
            <a:avLst/>
          </a:prstGeom>
          <a:noFill/>
          <a:ln/>
        </p:spPr>
        <p:txBody>
          <a:bodyPr wrap="square" lIns="0" tIns="0" rIns="0" bIns="0" rtlCol="0" anchor="ctr"/>
          <a:lstStyle/>
          <a:p>
            <a:pPr indent="0" marL="0">
              <a:buNone/>
            </a:pPr>
            <a:r>
              <a:rPr lang="en-US" sz="950" b="1" dirty="0">
                <a:solidFill>
                  <a:srgbClr val="E2B54E"/>
                </a:solidFill>
                <a:latin typeface="Calibri" pitchFamily="34" charset="0"/>
                <a:ea typeface="Calibri" pitchFamily="34" charset="-122"/>
                <a:cs typeface="Calibri" pitchFamily="34" charset="-120"/>
              </a:rPr>
              <a:t>E3  </a:t>
            </a:r>
            <a:pPr indent="0" marL="0">
              <a:buNone/>
            </a:pPr>
            <a:r>
              <a:rPr lang="en-US" sz="950" dirty="0">
                <a:solidFill>
                  <a:srgbClr val="EEF1F4"/>
                </a:solidFill>
                <a:latin typeface="Calibri" pitchFamily="34" charset="0"/>
                <a:ea typeface="Calibri" pitchFamily="34" charset="-122"/>
                <a:cs typeface="Calibri" pitchFamily="34" charset="-120"/>
              </a:rPr>
              <a:t>Fix Report 2 example</a:t>
            </a:r>
            <a:endParaRPr lang="en-US" sz="950" dirty="0"/>
          </a:p>
        </p:txBody>
      </p:sp>
      <p:sp>
        <p:nvSpPr>
          <p:cNvPr id="93" name="Shape 90"/>
          <p:cNvSpPr/>
          <p:nvPr/>
        </p:nvSpPr>
        <p:spPr>
          <a:xfrm>
            <a:off x="8613648" y="4590288"/>
            <a:ext cx="1399032" cy="493776"/>
          </a:xfrm>
          <a:prstGeom prst="roundRect">
            <a:avLst>
              <a:gd name="adj" fmla="val 12963"/>
            </a:avLst>
          </a:prstGeom>
          <a:solidFill>
            <a:srgbClr val="1D242E"/>
          </a:solidFill>
          <a:ln w="9525">
            <a:solidFill>
              <a:srgbClr val="323C49"/>
            </a:solidFill>
            <a:prstDash val="solid"/>
          </a:ln>
        </p:spPr>
      </p:sp>
      <p:sp>
        <p:nvSpPr>
          <p:cNvPr id="94" name="Text 91"/>
          <p:cNvSpPr txBox="1"/>
          <p:nvPr/>
        </p:nvSpPr>
        <p:spPr>
          <a:xfrm>
            <a:off x="8677656" y="4590288"/>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E4  </a:t>
            </a:r>
            <a:pPr indent="0" marL="0">
              <a:buNone/>
            </a:pPr>
            <a:r>
              <a:rPr lang="en-US" sz="950" dirty="0">
                <a:solidFill>
                  <a:srgbClr val="EEF1F4"/>
                </a:solidFill>
                <a:latin typeface="Calibri" pitchFamily="34" charset="0"/>
                <a:ea typeface="Calibri" pitchFamily="34" charset="-122"/>
                <a:cs typeface="Calibri" pitchFamily="34" charset="-120"/>
              </a:rPr>
              <a:t>Broker specs</a:t>
            </a:r>
            <a:endParaRPr lang="en-US" sz="950" dirty="0"/>
          </a:p>
        </p:txBody>
      </p:sp>
      <p:sp>
        <p:nvSpPr>
          <p:cNvPr id="95" name="Text 92"/>
          <p:cNvSpPr txBox="1"/>
          <p:nvPr/>
        </p:nvSpPr>
        <p:spPr>
          <a:xfrm>
            <a:off x="8641080" y="5897880"/>
            <a:ext cx="1344168" cy="256032"/>
          </a:xfrm>
          <a:prstGeom prst="rect">
            <a:avLst/>
          </a:prstGeom>
          <a:noFill/>
          <a:ln/>
        </p:spPr>
        <p:txBody>
          <a:bodyPr wrap="square" lIns="0" tIns="0" rIns="0" bIns="0" rtlCol="0" anchor="ctr"/>
          <a:lstStyle/>
          <a:p>
            <a:pPr indent="0" marL="0">
              <a:buNone/>
            </a:pPr>
            <a:r>
              <a:rPr lang="en-US" sz="950" dirty="0">
                <a:solidFill>
                  <a:srgbClr val="A3AEBB"/>
                </a:solidFill>
                <a:latin typeface="Calibri" pitchFamily="34" charset="0"/>
                <a:ea typeface="Calibri" pitchFamily="34" charset="-122"/>
                <a:cs typeface="Calibri" pitchFamily="34" charset="-120"/>
              </a:rPr>
              <a:t>5 recs · 2 P1</a:t>
            </a:r>
            <a:endParaRPr lang="en-US" sz="950" dirty="0"/>
          </a:p>
        </p:txBody>
      </p:sp>
      <p:sp>
        <p:nvSpPr>
          <p:cNvPr id="96" name="Shape 93"/>
          <p:cNvSpPr/>
          <p:nvPr/>
        </p:nvSpPr>
        <p:spPr>
          <a:xfrm>
            <a:off x="10168128" y="1371600"/>
            <a:ext cx="1527048" cy="4846320"/>
          </a:xfrm>
          <a:prstGeom prst="roundRect">
            <a:avLst>
              <a:gd name="adj" fmla="val 2994"/>
            </a:avLst>
          </a:prstGeom>
          <a:solidFill>
            <a:srgbClr val="161C24"/>
          </a:solidFill>
          <a:ln w="9525">
            <a:solidFill>
              <a:srgbClr val="161C24"/>
            </a:solidFill>
            <a:prstDash val="solid"/>
          </a:ln>
        </p:spPr>
      </p:sp>
      <p:sp>
        <p:nvSpPr>
          <p:cNvPr id="97" name="Shape 94"/>
          <p:cNvSpPr/>
          <p:nvPr/>
        </p:nvSpPr>
        <p:spPr>
          <a:xfrm>
            <a:off x="10168128" y="1371600"/>
            <a:ext cx="1527048" cy="841248"/>
          </a:xfrm>
          <a:prstGeom prst="roundRect">
            <a:avLst>
              <a:gd name="adj" fmla="val 5435"/>
            </a:avLst>
          </a:prstGeom>
          <a:solidFill>
            <a:srgbClr val="231E33"/>
          </a:solidFill>
          <a:ln w="9525">
            <a:solidFill>
              <a:srgbClr val="231E33"/>
            </a:solidFill>
            <a:prstDash val="solid"/>
          </a:ln>
        </p:spPr>
      </p:sp>
      <p:sp>
        <p:nvSpPr>
          <p:cNvPr id="98" name="Shape 95"/>
          <p:cNvSpPr/>
          <p:nvPr/>
        </p:nvSpPr>
        <p:spPr>
          <a:xfrm>
            <a:off x="10259568" y="1463040"/>
            <a:ext cx="329184" cy="329184"/>
          </a:xfrm>
          <a:prstGeom prst="ellipse">
            <a:avLst/>
          </a:prstGeom>
          <a:solidFill>
            <a:srgbClr val="B7A3E0"/>
          </a:solidFill>
          <a:ln w="15875">
            <a:solidFill>
              <a:srgbClr val="B7A3E0"/>
            </a:solidFill>
            <a:prstDash val="solid"/>
          </a:ln>
        </p:spPr>
      </p:sp>
      <p:sp>
        <p:nvSpPr>
          <p:cNvPr id="99" name="Text 96"/>
          <p:cNvSpPr txBox="1"/>
          <p:nvPr/>
        </p:nvSpPr>
        <p:spPr>
          <a:xfrm>
            <a:off x="10259568" y="1463040"/>
            <a:ext cx="329184" cy="329184"/>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7</a:t>
            </a:r>
            <a:endParaRPr lang="en-US" sz="1200" dirty="0"/>
          </a:p>
        </p:txBody>
      </p:sp>
      <p:sp>
        <p:nvSpPr>
          <p:cNvPr id="100" name="Text 97"/>
          <p:cNvSpPr txBox="1"/>
          <p:nvPr/>
        </p:nvSpPr>
        <p:spPr>
          <a:xfrm>
            <a:off x="10259568" y="1828800"/>
            <a:ext cx="1380744" cy="365760"/>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Platform &amp; governance</a:t>
            </a:r>
            <a:endParaRPr lang="en-US" sz="1000" dirty="0"/>
          </a:p>
        </p:txBody>
      </p:sp>
      <p:sp>
        <p:nvSpPr>
          <p:cNvPr id="101" name="Shape 98"/>
          <p:cNvSpPr/>
          <p:nvPr/>
        </p:nvSpPr>
        <p:spPr>
          <a:xfrm>
            <a:off x="10232136" y="2322576"/>
            <a:ext cx="1399032" cy="493776"/>
          </a:xfrm>
          <a:prstGeom prst="roundRect">
            <a:avLst>
              <a:gd name="adj" fmla="val 12963"/>
            </a:avLst>
          </a:prstGeom>
          <a:solidFill>
            <a:srgbClr val="1D242E"/>
          </a:solidFill>
          <a:ln w="13970">
            <a:solidFill>
              <a:srgbClr val="E2B54E"/>
            </a:solidFill>
            <a:prstDash val="solid"/>
          </a:ln>
        </p:spPr>
      </p:sp>
      <p:sp>
        <p:nvSpPr>
          <p:cNvPr id="102" name="Text 99"/>
          <p:cNvSpPr txBox="1"/>
          <p:nvPr/>
        </p:nvSpPr>
        <p:spPr>
          <a:xfrm>
            <a:off x="10296144" y="2322576"/>
            <a:ext cx="1289304" cy="493776"/>
          </a:xfrm>
          <a:prstGeom prst="rect">
            <a:avLst/>
          </a:prstGeom>
          <a:noFill/>
          <a:ln/>
        </p:spPr>
        <p:txBody>
          <a:bodyPr wrap="square" lIns="0" tIns="0" rIns="0" bIns="0" rtlCol="0" anchor="ctr"/>
          <a:lstStyle/>
          <a:p>
            <a:pPr indent="0" marL="0">
              <a:buNone/>
            </a:pPr>
            <a:r>
              <a:rPr lang="en-US" sz="950" b="1" dirty="0">
                <a:solidFill>
                  <a:srgbClr val="E2B54E"/>
                </a:solidFill>
                <a:latin typeface="Calibri" pitchFamily="34" charset="0"/>
                <a:ea typeface="Calibri" pitchFamily="34" charset="-122"/>
                <a:cs typeface="Calibri" pitchFamily="34" charset="-120"/>
              </a:rPr>
              <a:t>G1  </a:t>
            </a:r>
            <a:pPr indent="0" marL="0">
              <a:buNone/>
            </a:pPr>
            <a:r>
              <a:rPr lang="en-US" sz="950" dirty="0">
                <a:solidFill>
                  <a:srgbClr val="EEF1F4"/>
                </a:solidFill>
                <a:latin typeface="Calibri" pitchFamily="34" charset="0"/>
                <a:ea typeface="Calibri" pitchFamily="34" charset="-122"/>
                <a:cs typeface="Calibri" pitchFamily="34" charset="-120"/>
              </a:rPr>
              <a:t>Master doc + decision log</a:t>
            </a:r>
            <a:endParaRPr lang="en-US" sz="950" dirty="0"/>
          </a:p>
        </p:txBody>
      </p:sp>
      <p:sp>
        <p:nvSpPr>
          <p:cNvPr id="103" name="Shape 100"/>
          <p:cNvSpPr/>
          <p:nvPr/>
        </p:nvSpPr>
        <p:spPr>
          <a:xfrm>
            <a:off x="10232136" y="2889504"/>
            <a:ext cx="1399032" cy="493776"/>
          </a:xfrm>
          <a:prstGeom prst="roundRect">
            <a:avLst>
              <a:gd name="adj" fmla="val 12963"/>
            </a:avLst>
          </a:prstGeom>
          <a:solidFill>
            <a:srgbClr val="1D242E"/>
          </a:solidFill>
          <a:ln w="9525">
            <a:solidFill>
              <a:srgbClr val="323C49"/>
            </a:solidFill>
            <a:prstDash val="solid"/>
          </a:ln>
        </p:spPr>
      </p:sp>
      <p:sp>
        <p:nvSpPr>
          <p:cNvPr id="104" name="Text 101"/>
          <p:cNvSpPr txBox="1"/>
          <p:nvPr/>
        </p:nvSpPr>
        <p:spPr>
          <a:xfrm>
            <a:off x="10296144" y="2889504"/>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G2  </a:t>
            </a:r>
            <a:pPr indent="0" marL="0">
              <a:buNone/>
            </a:pPr>
            <a:r>
              <a:rPr lang="en-US" sz="950" dirty="0">
                <a:solidFill>
                  <a:srgbClr val="EEF1F4"/>
                </a:solidFill>
                <a:latin typeface="Calibri" pitchFamily="34" charset="0"/>
                <a:ea typeface="Calibri" pitchFamily="34" charset="-122"/>
                <a:cs typeface="Calibri" pitchFamily="34" charset="-120"/>
              </a:rPr>
              <a:t>One entitlement table</a:t>
            </a:r>
            <a:endParaRPr lang="en-US" sz="950" dirty="0"/>
          </a:p>
        </p:txBody>
      </p:sp>
      <p:sp>
        <p:nvSpPr>
          <p:cNvPr id="105" name="Shape 102"/>
          <p:cNvSpPr/>
          <p:nvPr/>
        </p:nvSpPr>
        <p:spPr>
          <a:xfrm>
            <a:off x="10232136" y="3456432"/>
            <a:ext cx="1399032" cy="493776"/>
          </a:xfrm>
          <a:prstGeom prst="roundRect">
            <a:avLst>
              <a:gd name="adj" fmla="val 12963"/>
            </a:avLst>
          </a:prstGeom>
          <a:solidFill>
            <a:srgbClr val="1D242E"/>
          </a:solidFill>
          <a:ln w="9525">
            <a:solidFill>
              <a:srgbClr val="323C49"/>
            </a:solidFill>
            <a:prstDash val="solid"/>
          </a:ln>
        </p:spPr>
      </p:sp>
      <p:sp>
        <p:nvSpPr>
          <p:cNvPr id="106" name="Text 103"/>
          <p:cNvSpPr txBox="1"/>
          <p:nvPr/>
        </p:nvSpPr>
        <p:spPr>
          <a:xfrm>
            <a:off x="10296144" y="3456432"/>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G3  </a:t>
            </a:r>
            <a:pPr indent="0" marL="0">
              <a:buNone/>
            </a:pPr>
            <a:r>
              <a:rPr lang="en-US" sz="950" dirty="0">
                <a:solidFill>
                  <a:srgbClr val="EEF1F4"/>
                </a:solidFill>
                <a:latin typeface="Calibri" pitchFamily="34" charset="0"/>
                <a:ea typeface="Calibri" pitchFamily="34" charset="-122"/>
                <a:cs typeface="Calibri" pitchFamily="34" charset="-120"/>
              </a:rPr>
              <a:t>Decision trace</a:t>
            </a:r>
            <a:endParaRPr lang="en-US" sz="950" dirty="0"/>
          </a:p>
        </p:txBody>
      </p:sp>
      <p:sp>
        <p:nvSpPr>
          <p:cNvPr id="107" name="Shape 104"/>
          <p:cNvSpPr/>
          <p:nvPr/>
        </p:nvSpPr>
        <p:spPr>
          <a:xfrm>
            <a:off x="10232136" y="4023360"/>
            <a:ext cx="1399032" cy="493776"/>
          </a:xfrm>
          <a:prstGeom prst="roundRect">
            <a:avLst>
              <a:gd name="adj" fmla="val 12963"/>
            </a:avLst>
          </a:prstGeom>
          <a:solidFill>
            <a:srgbClr val="1D242E"/>
          </a:solidFill>
          <a:ln w="9525">
            <a:solidFill>
              <a:srgbClr val="323C49"/>
            </a:solidFill>
            <a:prstDash val="solid"/>
          </a:ln>
        </p:spPr>
      </p:sp>
      <p:sp>
        <p:nvSpPr>
          <p:cNvPr id="108" name="Text 105"/>
          <p:cNvSpPr txBox="1"/>
          <p:nvPr/>
        </p:nvSpPr>
        <p:spPr>
          <a:xfrm>
            <a:off x="10296144" y="4023360"/>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G4  </a:t>
            </a:r>
            <a:pPr indent="0" marL="0">
              <a:buNone/>
            </a:pPr>
            <a:r>
              <a:rPr lang="en-US" sz="950" dirty="0">
                <a:solidFill>
                  <a:srgbClr val="EEF1F4"/>
                </a:solidFill>
                <a:latin typeface="Calibri" pitchFamily="34" charset="0"/>
                <a:ea typeface="Calibri" pitchFamily="34" charset="-122"/>
                <a:cs typeface="Calibri" pitchFamily="34" charset="-120"/>
              </a:rPr>
              <a:t>Degraded modes + replay</a:t>
            </a:r>
            <a:endParaRPr lang="en-US" sz="950" dirty="0"/>
          </a:p>
        </p:txBody>
      </p:sp>
      <p:sp>
        <p:nvSpPr>
          <p:cNvPr id="109" name="Shape 106"/>
          <p:cNvSpPr/>
          <p:nvPr/>
        </p:nvSpPr>
        <p:spPr>
          <a:xfrm>
            <a:off x="10232136" y="4590288"/>
            <a:ext cx="1399032" cy="493776"/>
          </a:xfrm>
          <a:prstGeom prst="roundRect">
            <a:avLst>
              <a:gd name="adj" fmla="val 12963"/>
            </a:avLst>
          </a:prstGeom>
          <a:solidFill>
            <a:srgbClr val="1D242E"/>
          </a:solidFill>
          <a:ln w="9525">
            <a:solidFill>
              <a:srgbClr val="323C49"/>
            </a:solidFill>
            <a:prstDash val="solid"/>
          </a:ln>
        </p:spPr>
      </p:sp>
      <p:sp>
        <p:nvSpPr>
          <p:cNvPr id="110" name="Text 107"/>
          <p:cNvSpPr txBox="1"/>
          <p:nvPr/>
        </p:nvSpPr>
        <p:spPr>
          <a:xfrm>
            <a:off x="10296144" y="4590288"/>
            <a:ext cx="1289304" cy="493776"/>
          </a:xfrm>
          <a:prstGeom prst="rect">
            <a:avLst/>
          </a:prstGeom>
          <a:noFill/>
          <a:ln/>
        </p:spPr>
        <p:txBody>
          <a:bodyPr wrap="square" lIns="0" tIns="0" rIns="0" bIns="0" rtlCol="0" anchor="ctr"/>
          <a:lstStyle/>
          <a:p>
            <a:pPr indent="0" marL="0">
              <a:buNone/>
            </a:pPr>
            <a:r>
              <a:rPr lang="en-US" sz="950" b="1" dirty="0">
                <a:solidFill>
                  <a:srgbClr val="A3AEBB"/>
                </a:solidFill>
                <a:latin typeface="Calibri" pitchFamily="34" charset="0"/>
                <a:ea typeface="Calibri" pitchFamily="34" charset="-122"/>
                <a:cs typeface="Calibri" pitchFamily="34" charset="-120"/>
              </a:rPr>
              <a:t>G5  </a:t>
            </a:r>
            <a:pPr indent="0" marL="0">
              <a:buNone/>
            </a:pPr>
            <a:r>
              <a:rPr lang="en-US" sz="950" dirty="0">
                <a:solidFill>
                  <a:srgbClr val="EEF1F4"/>
                </a:solidFill>
                <a:latin typeface="Calibri" pitchFamily="34" charset="0"/>
                <a:ea typeface="Calibri" pitchFamily="34" charset="-122"/>
                <a:cs typeface="Calibri" pitchFamily="34" charset="-120"/>
              </a:rPr>
              <a:t>Later: alerts, memory</a:t>
            </a:r>
            <a:endParaRPr lang="en-US" sz="950" dirty="0"/>
          </a:p>
        </p:txBody>
      </p:sp>
      <p:sp>
        <p:nvSpPr>
          <p:cNvPr id="111" name="Text 108"/>
          <p:cNvSpPr txBox="1"/>
          <p:nvPr/>
        </p:nvSpPr>
        <p:spPr>
          <a:xfrm>
            <a:off x="10259568" y="5897880"/>
            <a:ext cx="1344168" cy="256032"/>
          </a:xfrm>
          <a:prstGeom prst="rect">
            <a:avLst/>
          </a:prstGeom>
          <a:noFill/>
          <a:ln/>
        </p:spPr>
        <p:txBody>
          <a:bodyPr wrap="square" lIns="0" tIns="0" rIns="0" bIns="0" rtlCol="0" anchor="ctr"/>
          <a:lstStyle/>
          <a:p>
            <a:pPr indent="0" marL="0">
              <a:buNone/>
            </a:pPr>
            <a:r>
              <a:rPr lang="en-US" sz="950" dirty="0">
                <a:solidFill>
                  <a:srgbClr val="A3AEBB"/>
                </a:solidFill>
                <a:latin typeface="Calibri" pitchFamily="34" charset="0"/>
                <a:ea typeface="Calibri" pitchFamily="34" charset="-122"/>
                <a:cs typeface="Calibri" pitchFamily="34" charset="-120"/>
              </a:rPr>
              <a:t>5 recs · 1 P1</a:t>
            </a:r>
            <a:endParaRPr lang="en-US" sz="950" dirty="0"/>
          </a:p>
        </p:txBody>
      </p:sp>
      <p:sp>
        <p:nvSpPr>
          <p:cNvPr id="112" name="Text 109"/>
          <p:cNvSpPr txBox="1"/>
          <p:nvPr/>
        </p:nvSpPr>
        <p:spPr>
          <a:xfrm>
            <a:off x="457200" y="6327648"/>
            <a:ext cx="10607040" cy="274320"/>
          </a:xfrm>
          <a:prstGeom prst="rect">
            <a:avLst/>
          </a:prstGeom>
          <a:noFill/>
          <a:ln/>
        </p:spPr>
        <p:txBody>
          <a:bodyPr wrap="square" lIns="0" tIns="0" rIns="0" bIns="0" rtlCol="0" anchor="t"/>
          <a:lstStyle/>
          <a:p>
            <a:pPr indent="0" marL="0">
              <a:buNone/>
            </a:pPr>
            <a:r>
              <a:rPr lang="en-US" sz="1000" dirty="0">
                <a:solidFill>
                  <a:srgbClr val="A3AEBB"/>
                </a:solidFill>
                <a:latin typeface="Calibri" pitchFamily="34" charset="0"/>
                <a:ea typeface="Calibri" pitchFamily="34" charset="-122"/>
                <a:cs typeface="Calibri" pitchFamily="34" charset="-120"/>
              </a:rPr>
              <a:t>Gold = P1, settle before freezing the architecture.   D1 is stamped in Section 1 and enforced in Section 5; E4’s symbol data is exported by Section 1 and used in Section 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45720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WHAT PASSES BETWEEN SECTIONS</a:t>
            </a:r>
            <a:endParaRPr lang="en-US" sz="1100" dirty="0"/>
          </a:p>
        </p:txBody>
      </p:sp>
      <p:sp>
        <p:nvSpPr>
          <p:cNvPr id="3" name="Text 1"/>
          <p:cNvSpPr txBox="1"/>
          <p:nvPr/>
        </p:nvSpPr>
        <p:spPr>
          <a:xfrm>
            <a:off x="457200" y="566928"/>
            <a:ext cx="1127729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Ten handoffs hold the architecture together</a:t>
            </a:r>
            <a:endParaRPr lang="en-US" sz="2800" dirty="0"/>
          </a:p>
        </p:txBody>
      </p:sp>
      <p:sp>
        <p:nvSpPr>
          <p:cNvPr id="4" name="Text 2"/>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411480"/>
                <a:gridCol w="2514600"/>
                <a:gridCol w="1417320"/>
                <a:gridCol w="5742432"/>
                <a:gridCol w="1188720"/>
              </a:tblGrid>
              <a:tr h="32918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Handoff</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From → to</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Carries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Defined in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438912">
                <a:tc>
                  <a:txBody>
                    <a:bodyPr/>
                    <a:lstStyle/>
                    <a:p>
                      <a:pPr algn="ctr" indent="0" marL="0">
                        <a:buNone/>
                      </a:pPr>
                      <a:r>
                        <a:rPr lang="en-US" sz="1050" dirty="0">
                          <a:solidFill>
                            <a:srgbClr val="A3AEB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Cycle stamp + ready signal</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1 → 2, 5, 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Cycle time, last closed M5 / M15 bar, data status (fresh · delayed · stale · market closed)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5CC2B2"/>
                          </a:solidFill>
                          <a:latin typeface="Calibri" pitchFamily="34" charset="0"/>
                          <a:ea typeface="Calibri" pitchFamily="34" charset="-122"/>
                          <a:cs typeface="Calibri" pitchFamily="34" charset="-120"/>
                        </a:rPr>
                        <a:t>Section 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38912">
                <a:tc>
                  <a:txBody>
                    <a:bodyPr/>
                    <a:lstStyle/>
                    <a:p>
                      <a:pPr algn="ctr" indent="0" marL="0">
                        <a:buNone/>
                      </a:pPr>
                      <a:r>
                        <a:rPr lang="en-US" sz="1050" dirty="0">
                          <a:solidFill>
                            <a:srgbClr val="A3AEBB"/>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Closed bars + current price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1 → 2, 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Closed OHLC (1 day = 288 M5 + 96 M15 bars); the still-open bar as one labelled price line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5CC2B2"/>
                          </a:solidFill>
                          <a:latin typeface="Calibri" pitchFamily="34" charset="0"/>
                          <a:ea typeface="Calibri" pitchFamily="34" charset="-122"/>
                          <a:cs typeface="Calibri" pitchFamily="34" charset="-120"/>
                        </a:rPr>
                        <a:t>Section 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38912">
                <a:tc>
                  <a:txBody>
                    <a:bodyPr/>
                    <a:lstStyle/>
                    <a:p>
                      <a:pPr algn="ctr" indent="0" marL="0">
                        <a:buNone/>
                      </a:pPr>
                      <a:r>
                        <a:rPr lang="en-US" sz="1050" dirty="0">
                          <a:solidFill>
                            <a:srgbClr val="A3AEBB"/>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Active-indicator setting</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1 → 2, chart, UI</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One channel indicator per timeframe, effective from a given cycle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5CC2B2"/>
                          </a:solidFill>
                          <a:latin typeface="Calibri" pitchFamily="34" charset="0"/>
                          <a:ea typeface="Calibri" pitchFamily="34" charset="-122"/>
                          <a:cs typeface="Calibri" pitchFamily="34" charset="-120"/>
                        </a:rPr>
                        <a:t>Section 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38912">
                <a:tc>
                  <a:txBody>
                    <a:bodyPr/>
                    <a:lstStyle/>
                    <a:p>
                      <a:pPr algn="ctr" indent="0" marL="0">
                        <a:buNone/>
                      </a:pPr>
                      <a:r>
                        <a:rPr lang="en-US" sz="1050" dirty="0">
                          <a:solidFill>
                            <a:srgbClr val="A3AEBB"/>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Chart + its stamp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1 → 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2-panel PNG with cycle time, last bar and overlay in its metadata</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5CC2B2"/>
                          </a:solidFill>
                          <a:latin typeface="Calibri" pitchFamily="34" charset="0"/>
                          <a:ea typeface="Calibri" pitchFamily="34" charset="-122"/>
                          <a:cs typeface="Calibri" pitchFamily="34" charset="-120"/>
                        </a:rPr>
                        <a:t>Section 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38912">
                <a:tc>
                  <a:txBody>
                    <a:bodyPr/>
                    <a:lstStyle/>
                    <a:p>
                      <a:pPr algn="ctr" indent="0" marL="0">
                        <a:buNone/>
                      </a:pPr>
                      <a:r>
                        <a:rPr lang="en-US" sz="1050" dirty="0">
                          <a:solidFill>
                            <a:srgbClr val="A3AEBB"/>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MCD output envelope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2 → 3, 4, 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Status, state code, bias, price levels, one-line summary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5CC2B2"/>
                          </a:solidFill>
                          <a:latin typeface="Calibri" pitchFamily="34" charset="0"/>
                          <a:ea typeface="Calibri" pitchFamily="34" charset="-122"/>
                          <a:cs typeface="Calibri" pitchFamily="34" charset="-120"/>
                        </a:rPr>
                        <a:t>Section 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38912">
                <a:tc>
                  <a:txBody>
                    <a:bodyPr/>
                    <a:lstStyle/>
                    <a:p>
                      <a:pPr algn="ctr" indent="0" marL="0">
                        <a:buNone/>
                      </a:pPr>
                      <a:r>
                        <a:rPr lang="en-US" sz="1050" dirty="0">
                          <a:solidFill>
                            <a:srgbClr val="A3AEBB"/>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Synthesis + entry zones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3 → 5, 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Archetype, bias, stand-aside flag, ranked zones with invalidation prices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5CC2B2"/>
                          </a:solidFill>
                          <a:latin typeface="Calibri" pitchFamily="34" charset="0"/>
                          <a:ea typeface="Calibri" pitchFamily="34" charset="-122"/>
                          <a:cs typeface="Calibri" pitchFamily="34" charset="-120"/>
                        </a:rPr>
                        <a:t>Section 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38912">
                <a:tc>
                  <a:txBody>
                    <a:bodyPr/>
                    <a:lstStyle/>
                    <a:p>
                      <a:pPr algn="ctr" indent="0" marL="0">
                        <a:buNone/>
                      </a:pPr>
                      <a:r>
                        <a:rPr lang="en-US" sz="1050" dirty="0">
                          <a:solidFill>
                            <a:srgbClr val="A3AEBB"/>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Sensor board + knowledge pack</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4 → 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Every sensor in one line, detail for M*, 3–5 knowledge chunks with ids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7FA8E8"/>
                          </a:solidFill>
                          <a:latin typeface="Calibri" pitchFamily="34" charset="0"/>
                          <a:ea typeface="Calibri" pitchFamily="34" charset="-122"/>
                          <a:cs typeface="Calibri" pitchFamily="34" charset="-120"/>
                        </a:rPr>
                        <a:t>Section 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38912">
                <a:tc>
                  <a:txBody>
                    <a:bodyPr/>
                    <a:lstStyle/>
                    <a:p>
                      <a:pPr algn="ctr" indent="0" marL="0">
                        <a:buNone/>
                      </a:pPr>
                      <a:r>
                        <a:rPr lang="en-US" sz="1050" dirty="0">
                          <a:solidFill>
                            <a:srgbClr val="A3AEB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Report 1 JSON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5 → UI, 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Direction copied from synthesis, zones chosen by id, rationale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7FA8E8"/>
                          </a:solidFill>
                          <a:latin typeface="Calibri" pitchFamily="34" charset="0"/>
                          <a:ea typeface="Calibri" pitchFamily="34" charset="-122"/>
                          <a:cs typeface="Calibri" pitchFamily="34" charset="-120"/>
                        </a:rPr>
                        <a:t>Section 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38912">
                <a:tc>
                  <a:txBody>
                    <a:bodyPr/>
                    <a:lstStyle/>
                    <a:p>
                      <a:pPr algn="ctr" indent="0" marL="0">
                        <a:buNone/>
                      </a:pPr>
                      <a:r>
                        <a:rPr lang="en-US" sz="1050" dirty="0">
                          <a:solidFill>
                            <a:srgbClr val="A3AEBB"/>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Engine 4 in / out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6 → UI, 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Inputs, gate results, lot, stop, targets, consent action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7FA8E8"/>
                          </a:solidFill>
                          <a:latin typeface="Calibri" pitchFamily="34" charset="0"/>
                          <a:ea typeface="Calibri" pitchFamily="34" charset="-122"/>
                          <a:cs typeface="Calibri" pitchFamily="34" charset="-120"/>
                        </a:rPr>
                        <a:t>Section 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38912">
                <a:tc>
                  <a:txBody>
                    <a:bodyPr/>
                    <a:lstStyle/>
                    <a:p>
                      <a:pPr algn="ctr" indent="0" marL="0">
                        <a:buNone/>
                      </a:pPr>
                      <a:r>
                        <a:rPr lang="en-US" sz="1050" dirty="0">
                          <a:solidFill>
                            <a:srgbClr val="A3AEBB"/>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Decision trace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all → 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The ids and versions of everything above, per request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B7A3E0"/>
                          </a:solidFill>
                          <a:latin typeface="Calibri" pitchFamily="34" charset="0"/>
                          <a:ea typeface="Calibri" pitchFamily="34" charset="-122"/>
                          <a:cs typeface="Calibri" pitchFamily="34" charset="-120"/>
                        </a:rPr>
                        <a:t>Section 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45720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MCD DEVELOPMENT</a:t>
            </a:r>
            <a:endParaRPr lang="en-US" sz="1100" dirty="0"/>
          </a:p>
        </p:txBody>
      </p:sp>
      <p:sp>
        <p:nvSpPr>
          <p:cNvPr id="3" name="Text 1"/>
          <p:cNvSpPr txBox="1"/>
          <p:nvPr/>
        </p:nvSpPr>
        <p:spPr>
          <a:xfrm>
            <a:off x="457200" y="566928"/>
            <a:ext cx="1127729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MCD1–3 are examples, so the plan will reshape them</a:t>
            </a:r>
            <a:endParaRPr lang="en-US" sz="2800" dirty="0"/>
          </a:p>
        </p:txBody>
      </p:sp>
      <p:sp>
        <p:nvSpPr>
          <p:cNvPr id="4" name="Text 2"/>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457200" y="1371600"/>
            <a:ext cx="3520440" cy="1426464"/>
          </a:xfrm>
          <a:prstGeom prst="roundRect">
            <a:avLst>
              <a:gd name="adj" fmla="val 4487"/>
            </a:avLst>
          </a:prstGeom>
          <a:solidFill>
            <a:srgbClr val="1D242E"/>
          </a:solidFill>
          <a:ln w="9525">
            <a:solidFill>
              <a:srgbClr val="323C49"/>
            </a:solidFill>
            <a:prstDash val="solid"/>
          </a:ln>
        </p:spPr>
      </p:sp>
      <p:sp>
        <p:nvSpPr>
          <p:cNvPr id="7" name="Shape 4"/>
          <p:cNvSpPr/>
          <p:nvPr/>
        </p:nvSpPr>
        <p:spPr>
          <a:xfrm>
            <a:off x="594360" y="1527048"/>
            <a:ext cx="457200" cy="457200"/>
          </a:xfrm>
          <a:prstGeom prst="ellipse">
            <a:avLst/>
          </a:prstGeom>
          <a:solidFill>
            <a:srgbClr val="262F3B"/>
          </a:solidFill>
          <a:ln w="12700">
            <a:solidFill>
              <a:srgbClr val="262F3B"/>
            </a:solidFill>
            <a:prstDash val="solid"/>
          </a:ln>
        </p:spPr>
      </p:sp>
      <p:pic>
        <p:nvPicPr>
          <p:cNvPr id="8" name="Image 0" descr="preencoded.png">    </p:cNvPr>
          <p:cNvPicPr>
            <a:picLocks noChangeAspect="1"/>
          </p:cNvPicPr>
          <p:nvPr/>
        </p:nvPicPr>
        <p:blipFill>
          <a:blip r:embed="rId1"/>
          <a:stretch>
            <a:fillRect/>
          </a:stretch>
        </p:blipFill>
        <p:spPr>
          <a:xfrm>
            <a:off x="699516" y="1632204"/>
            <a:ext cx="246888" cy="246888"/>
          </a:xfrm>
          <a:prstGeom prst="rect">
            <a:avLst/>
          </a:prstGeom>
        </p:spPr>
      </p:pic>
      <p:sp>
        <p:nvSpPr>
          <p:cNvPr id="9" name="Text 5"/>
          <p:cNvSpPr txBox="1"/>
          <p:nvPr/>
        </p:nvSpPr>
        <p:spPr>
          <a:xfrm>
            <a:off x="1170432" y="1508760"/>
            <a:ext cx="2697480" cy="51206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One output format with price levels</a:t>
            </a:r>
            <a:endParaRPr lang="en-US" sz="1250" dirty="0"/>
          </a:p>
        </p:txBody>
      </p:sp>
      <p:sp>
        <p:nvSpPr>
          <p:cNvPr id="10" name="Text 6"/>
          <p:cNvSpPr txBox="1"/>
          <p:nvPr/>
        </p:nvSpPr>
        <p:spPr>
          <a:xfrm>
            <a:off x="621792" y="2066544"/>
            <a:ext cx="3246120" cy="694944"/>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Every MCD returns status, state code, bias, levels and a one-line summary. Levels are what entry zones and stops are built from.</a:t>
            </a:r>
            <a:endParaRPr lang="en-US" sz="1050" dirty="0"/>
          </a:p>
        </p:txBody>
      </p:sp>
      <p:sp>
        <p:nvSpPr>
          <p:cNvPr id="11" name="Shape 7"/>
          <p:cNvSpPr/>
          <p:nvPr/>
        </p:nvSpPr>
        <p:spPr>
          <a:xfrm>
            <a:off x="4160520" y="1371600"/>
            <a:ext cx="3520440" cy="1426464"/>
          </a:xfrm>
          <a:prstGeom prst="roundRect">
            <a:avLst>
              <a:gd name="adj" fmla="val 4487"/>
            </a:avLst>
          </a:prstGeom>
          <a:solidFill>
            <a:srgbClr val="1D242E"/>
          </a:solidFill>
          <a:ln w="9525">
            <a:solidFill>
              <a:srgbClr val="323C49"/>
            </a:solidFill>
            <a:prstDash val="solid"/>
          </a:ln>
        </p:spPr>
      </p:sp>
      <p:sp>
        <p:nvSpPr>
          <p:cNvPr id="12" name="Shape 8"/>
          <p:cNvSpPr/>
          <p:nvPr/>
        </p:nvSpPr>
        <p:spPr>
          <a:xfrm>
            <a:off x="4297680" y="1527048"/>
            <a:ext cx="457200" cy="457200"/>
          </a:xfrm>
          <a:prstGeom prst="ellipse">
            <a:avLst/>
          </a:prstGeom>
          <a:solidFill>
            <a:srgbClr val="262F3B"/>
          </a:solidFill>
          <a:ln w="12700">
            <a:solidFill>
              <a:srgbClr val="262F3B"/>
            </a:solidFill>
            <a:prstDash val="solid"/>
          </a:ln>
        </p:spPr>
      </p:sp>
      <p:pic>
        <p:nvPicPr>
          <p:cNvPr id="13" name="Image 1" descr="preencoded.png">    </p:cNvPr>
          <p:cNvPicPr>
            <a:picLocks noChangeAspect="1"/>
          </p:cNvPicPr>
          <p:nvPr/>
        </p:nvPicPr>
        <p:blipFill>
          <a:blip r:embed="rId2"/>
          <a:stretch>
            <a:fillRect/>
          </a:stretch>
        </p:blipFill>
        <p:spPr>
          <a:xfrm>
            <a:off x="4402836" y="1632204"/>
            <a:ext cx="246888" cy="246888"/>
          </a:xfrm>
          <a:prstGeom prst="rect">
            <a:avLst/>
          </a:prstGeom>
        </p:spPr>
      </p:pic>
      <p:sp>
        <p:nvSpPr>
          <p:cNvPr id="14" name="Text 9"/>
          <p:cNvSpPr txBox="1"/>
          <p:nvPr/>
        </p:nvSpPr>
        <p:spPr>
          <a:xfrm>
            <a:off x="4873752" y="1508760"/>
            <a:ext cx="2697480" cy="51206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Closed bars only, on one cycle</a:t>
            </a:r>
            <a:endParaRPr lang="en-US" sz="1250" dirty="0"/>
          </a:p>
        </p:txBody>
      </p:sp>
      <p:sp>
        <p:nvSpPr>
          <p:cNvPr id="15" name="Text 10"/>
          <p:cNvSpPr txBox="1"/>
          <p:nvPr/>
        </p:nvSpPr>
        <p:spPr>
          <a:xfrm>
            <a:off x="4325112" y="2066544"/>
            <a:ext cx="3246120" cy="694944"/>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Windows counted in closed bars; every MCD in a cycle reads the same bars and the same statistics row.</a:t>
            </a:r>
            <a:endParaRPr lang="en-US" sz="1050" dirty="0"/>
          </a:p>
        </p:txBody>
      </p:sp>
      <p:sp>
        <p:nvSpPr>
          <p:cNvPr id="16" name="Shape 11"/>
          <p:cNvSpPr/>
          <p:nvPr/>
        </p:nvSpPr>
        <p:spPr>
          <a:xfrm>
            <a:off x="457200" y="2944368"/>
            <a:ext cx="3520440" cy="1426464"/>
          </a:xfrm>
          <a:prstGeom prst="roundRect">
            <a:avLst>
              <a:gd name="adj" fmla="val 4487"/>
            </a:avLst>
          </a:prstGeom>
          <a:solidFill>
            <a:srgbClr val="1D242E"/>
          </a:solidFill>
          <a:ln w="9525">
            <a:solidFill>
              <a:srgbClr val="323C49"/>
            </a:solidFill>
            <a:prstDash val="solid"/>
          </a:ln>
        </p:spPr>
      </p:sp>
      <p:sp>
        <p:nvSpPr>
          <p:cNvPr id="17" name="Shape 12"/>
          <p:cNvSpPr/>
          <p:nvPr/>
        </p:nvSpPr>
        <p:spPr>
          <a:xfrm>
            <a:off x="594360" y="3099816"/>
            <a:ext cx="457200" cy="457200"/>
          </a:xfrm>
          <a:prstGeom prst="ellipse">
            <a:avLst/>
          </a:prstGeom>
          <a:solidFill>
            <a:srgbClr val="262F3B"/>
          </a:solidFill>
          <a:ln w="12700">
            <a:solidFill>
              <a:srgbClr val="262F3B"/>
            </a:solidFill>
            <a:prstDash val="solid"/>
          </a:ln>
        </p:spPr>
      </p:sp>
      <p:pic>
        <p:nvPicPr>
          <p:cNvPr id="18" name="Image 2" descr="preencoded.png">    </p:cNvPr>
          <p:cNvPicPr>
            <a:picLocks noChangeAspect="1"/>
          </p:cNvPicPr>
          <p:nvPr/>
        </p:nvPicPr>
        <p:blipFill>
          <a:blip r:embed="rId3"/>
          <a:stretch>
            <a:fillRect/>
          </a:stretch>
        </p:blipFill>
        <p:spPr>
          <a:xfrm>
            <a:off x="699516" y="3204972"/>
            <a:ext cx="246888" cy="246888"/>
          </a:xfrm>
          <a:prstGeom prst="rect">
            <a:avLst/>
          </a:prstGeom>
        </p:spPr>
      </p:pic>
      <p:sp>
        <p:nvSpPr>
          <p:cNvPr id="19" name="Text 13"/>
          <p:cNvSpPr txBox="1"/>
          <p:nvPr/>
        </p:nvSpPr>
        <p:spPr>
          <a:xfrm>
            <a:off x="1170432" y="3081528"/>
            <a:ext cx="2697480" cy="51206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Active indicator from a setting</a:t>
            </a:r>
            <a:endParaRPr lang="en-US" sz="1250" dirty="0"/>
          </a:p>
        </p:txBody>
      </p:sp>
      <p:sp>
        <p:nvSpPr>
          <p:cNvPr id="20" name="Text 14"/>
          <p:cNvSpPr txBox="1"/>
          <p:nvPr/>
        </p:nvSpPr>
        <p:spPr>
          <a:xfrm>
            <a:off x="621792" y="3639312"/>
            <a:ext cx="3246120" cy="694944"/>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Read from one admin setting per timeframe, never inferred from which columns hold data.</a:t>
            </a:r>
            <a:endParaRPr lang="en-US" sz="1050" dirty="0"/>
          </a:p>
        </p:txBody>
      </p:sp>
      <p:sp>
        <p:nvSpPr>
          <p:cNvPr id="21" name="Shape 15"/>
          <p:cNvSpPr/>
          <p:nvPr/>
        </p:nvSpPr>
        <p:spPr>
          <a:xfrm>
            <a:off x="4160520" y="2944368"/>
            <a:ext cx="3520440" cy="1426464"/>
          </a:xfrm>
          <a:prstGeom prst="roundRect">
            <a:avLst>
              <a:gd name="adj" fmla="val 4487"/>
            </a:avLst>
          </a:prstGeom>
          <a:solidFill>
            <a:srgbClr val="1D242E"/>
          </a:solidFill>
          <a:ln w="9525">
            <a:solidFill>
              <a:srgbClr val="323C49"/>
            </a:solidFill>
            <a:prstDash val="solid"/>
          </a:ln>
        </p:spPr>
      </p:sp>
      <p:sp>
        <p:nvSpPr>
          <p:cNvPr id="22" name="Shape 16"/>
          <p:cNvSpPr/>
          <p:nvPr/>
        </p:nvSpPr>
        <p:spPr>
          <a:xfrm>
            <a:off x="4297680" y="3099816"/>
            <a:ext cx="457200" cy="457200"/>
          </a:xfrm>
          <a:prstGeom prst="ellipse">
            <a:avLst/>
          </a:prstGeom>
          <a:solidFill>
            <a:srgbClr val="262F3B"/>
          </a:solidFill>
          <a:ln w="12700">
            <a:solidFill>
              <a:srgbClr val="262F3B"/>
            </a:solidFill>
            <a:prstDash val="solid"/>
          </a:ln>
        </p:spPr>
      </p:sp>
      <p:pic>
        <p:nvPicPr>
          <p:cNvPr id="23" name="Image 3" descr="preencoded.png">    </p:cNvPr>
          <p:cNvPicPr>
            <a:picLocks noChangeAspect="1"/>
          </p:cNvPicPr>
          <p:nvPr/>
        </p:nvPicPr>
        <p:blipFill>
          <a:blip r:embed="rId4"/>
          <a:stretch>
            <a:fillRect/>
          </a:stretch>
        </p:blipFill>
        <p:spPr>
          <a:xfrm>
            <a:off x="4402836" y="3204972"/>
            <a:ext cx="246888" cy="246888"/>
          </a:xfrm>
          <a:prstGeom prst="rect">
            <a:avLst/>
          </a:prstGeom>
        </p:spPr>
      </p:pic>
      <p:sp>
        <p:nvSpPr>
          <p:cNvPr id="24" name="Text 17"/>
          <p:cNvSpPr txBox="1"/>
          <p:nvPr/>
        </p:nvSpPr>
        <p:spPr>
          <a:xfrm>
            <a:off x="4873752" y="3081528"/>
            <a:ext cx="2697480" cy="51206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A stated purpose</a:t>
            </a:r>
            <a:endParaRPr lang="en-US" sz="1250" dirty="0"/>
          </a:p>
        </p:txBody>
      </p:sp>
      <p:sp>
        <p:nvSpPr>
          <p:cNvPr id="25" name="Text 18"/>
          <p:cNvSpPr txBox="1"/>
          <p:nvPr/>
        </p:nvSpPr>
        <p:spPr>
          <a:xfrm>
            <a:off x="4325112" y="3639312"/>
            <a:ext cx="3246120" cy="694944"/>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Each MCD names its horizon (Scalper &lt; 2 h, Day Trader &lt; 12 h) and what it feeds: direction, zones or stops.</a:t>
            </a:r>
            <a:endParaRPr lang="en-US" sz="1050" dirty="0"/>
          </a:p>
        </p:txBody>
      </p:sp>
      <p:sp>
        <p:nvSpPr>
          <p:cNvPr id="26" name="Shape 19"/>
          <p:cNvSpPr/>
          <p:nvPr/>
        </p:nvSpPr>
        <p:spPr>
          <a:xfrm>
            <a:off x="457200" y="4517136"/>
            <a:ext cx="3520440" cy="1426464"/>
          </a:xfrm>
          <a:prstGeom prst="roundRect">
            <a:avLst>
              <a:gd name="adj" fmla="val 4487"/>
            </a:avLst>
          </a:prstGeom>
          <a:solidFill>
            <a:srgbClr val="1D242E"/>
          </a:solidFill>
          <a:ln w="9525">
            <a:solidFill>
              <a:srgbClr val="323C49"/>
            </a:solidFill>
            <a:prstDash val="solid"/>
          </a:ln>
        </p:spPr>
      </p:sp>
      <p:sp>
        <p:nvSpPr>
          <p:cNvPr id="27" name="Shape 20"/>
          <p:cNvSpPr/>
          <p:nvPr/>
        </p:nvSpPr>
        <p:spPr>
          <a:xfrm>
            <a:off x="594360" y="4672584"/>
            <a:ext cx="457200" cy="457200"/>
          </a:xfrm>
          <a:prstGeom prst="ellipse">
            <a:avLst/>
          </a:prstGeom>
          <a:solidFill>
            <a:srgbClr val="262F3B"/>
          </a:solidFill>
          <a:ln w="12700">
            <a:solidFill>
              <a:srgbClr val="262F3B"/>
            </a:solidFill>
            <a:prstDash val="solid"/>
          </a:ln>
        </p:spPr>
      </p:sp>
      <p:pic>
        <p:nvPicPr>
          <p:cNvPr id="28" name="Image 4" descr="preencoded.png">    </p:cNvPr>
          <p:cNvPicPr>
            <a:picLocks noChangeAspect="1"/>
          </p:cNvPicPr>
          <p:nvPr/>
        </p:nvPicPr>
        <p:blipFill>
          <a:blip r:embed="rId5"/>
          <a:stretch>
            <a:fillRect/>
          </a:stretch>
        </p:blipFill>
        <p:spPr>
          <a:xfrm>
            <a:off x="699516" y="4777740"/>
            <a:ext cx="246888" cy="246888"/>
          </a:xfrm>
          <a:prstGeom prst="rect">
            <a:avLst/>
          </a:prstGeom>
        </p:spPr>
      </p:pic>
      <p:sp>
        <p:nvSpPr>
          <p:cNvPr id="29" name="Text 21"/>
          <p:cNvSpPr txBox="1"/>
          <p:nvPr/>
        </p:nvSpPr>
        <p:spPr>
          <a:xfrm>
            <a:off x="1170432" y="4654296"/>
            <a:ext cx="2697480" cy="51206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Tied to the indicator’s configuration</a:t>
            </a:r>
            <a:endParaRPr lang="en-US" sz="1250" dirty="0"/>
          </a:p>
        </p:txBody>
      </p:sp>
      <p:sp>
        <p:nvSpPr>
          <p:cNvPr id="30" name="Text 22"/>
          <p:cNvSpPr txBox="1"/>
          <p:nvPr/>
        </p:nvSpPr>
        <p:spPr>
          <a:xfrm>
            <a:off x="621792" y="5212080"/>
            <a:ext cx="3246120" cy="694944"/>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Record the indicator’s config_hash; a reconfiguration starts a new statistics history.</a:t>
            </a:r>
            <a:endParaRPr lang="en-US" sz="1050" dirty="0"/>
          </a:p>
        </p:txBody>
      </p:sp>
      <p:sp>
        <p:nvSpPr>
          <p:cNvPr id="31" name="Shape 23"/>
          <p:cNvSpPr/>
          <p:nvPr/>
        </p:nvSpPr>
        <p:spPr>
          <a:xfrm>
            <a:off x="4160520" y="4517136"/>
            <a:ext cx="3520440" cy="1426464"/>
          </a:xfrm>
          <a:prstGeom prst="roundRect">
            <a:avLst>
              <a:gd name="adj" fmla="val 4487"/>
            </a:avLst>
          </a:prstGeom>
          <a:solidFill>
            <a:srgbClr val="1D242E"/>
          </a:solidFill>
          <a:ln w="9525">
            <a:solidFill>
              <a:srgbClr val="323C49"/>
            </a:solidFill>
            <a:prstDash val="solid"/>
          </a:ln>
        </p:spPr>
      </p:sp>
      <p:sp>
        <p:nvSpPr>
          <p:cNvPr id="32" name="Shape 24"/>
          <p:cNvSpPr/>
          <p:nvPr/>
        </p:nvSpPr>
        <p:spPr>
          <a:xfrm>
            <a:off x="4297680" y="4672584"/>
            <a:ext cx="457200" cy="457200"/>
          </a:xfrm>
          <a:prstGeom prst="ellipse">
            <a:avLst/>
          </a:prstGeom>
          <a:solidFill>
            <a:srgbClr val="262F3B"/>
          </a:solidFill>
          <a:ln w="12700">
            <a:solidFill>
              <a:srgbClr val="262F3B"/>
            </a:solidFill>
            <a:prstDash val="solid"/>
          </a:ln>
        </p:spPr>
      </p:sp>
      <p:pic>
        <p:nvPicPr>
          <p:cNvPr id="33" name="Image 5" descr="preencoded.png">    </p:cNvPr>
          <p:cNvPicPr>
            <a:picLocks noChangeAspect="1"/>
          </p:cNvPicPr>
          <p:nvPr/>
        </p:nvPicPr>
        <p:blipFill>
          <a:blip r:embed="rId6"/>
          <a:stretch>
            <a:fillRect/>
          </a:stretch>
        </p:blipFill>
        <p:spPr>
          <a:xfrm>
            <a:off x="4402836" y="4777740"/>
            <a:ext cx="246888" cy="246888"/>
          </a:xfrm>
          <a:prstGeom prst="rect">
            <a:avLst/>
          </a:prstGeom>
        </p:spPr>
      </p:pic>
      <p:sp>
        <p:nvSpPr>
          <p:cNvPr id="34" name="Text 25"/>
          <p:cNvSpPr txBox="1"/>
          <p:nvPr/>
        </p:nvSpPr>
        <p:spPr>
          <a:xfrm>
            <a:off x="4873752" y="4654296"/>
            <a:ext cx="2697480" cy="51206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Numbers only when measured</a:t>
            </a:r>
            <a:endParaRPr lang="en-US" sz="1250" dirty="0"/>
          </a:p>
        </p:txBody>
      </p:sp>
      <p:sp>
        <p:nvSpPr>
          <p:cNvPr id="35" name="Text 26"/>
          <p:cNvSpPr txBox="1"/>
          <p:nvPr/>
        </p:nvSpPr>
        <p:spPr>
          <a:xfrm>
            <a:off x="4325112" y="5212080"/>
            <a:ext cx="3246120" cy="694944"/>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Certify each state against outcomes on point-in-time data before quoting any probability.</a:t>
            </a:r>
            <a:endParaRPr lang="en-US" sz="1050" dirty="0"/>
          </a:p>
        </p:txBody>
      </p:sp>
      <p:sp>
        <p:nvSpPr>
          <p:cNvPr id="36" name="Shape 27"/>
          <p:cNvSpPr/>
          <p:nvPr/>
        </p:nvSpPr>
        <p:spPr>
          <a:xfrm>
            <a:off x="8001000" y="1371600"/>
            <a:ext cx="3730752" cy="2542032"/>
          </a:xfrm>
          <a:prstGeom prst="roundRect">
            <a:avLst>
              <a:gd name="adj" fmla="val 2518"/>
            </a:avLst>
          </a:prstGeom>
          <a:solidFill>
            <a:srgbClr val="33201F"/>
          </a:solidFill>
          <a:ln w="15875">
            <a:solidFill>
              <a:srgbClr val="E5746A"/>
            </a:solidFill>
            <a:prstDash val="solid"/>
          </a:ln>
        </p:spPr>
      </p:sp>
      <p:sp>
        <p:nvSpPr>
          <p:cNvPr id="37" name="Shape 28"/>
          <p:cNvSpPr/>
          <p:nvPr/>
        </p:nvSpPr>
        <p:spPr>
          <a:xfrm>
            <a:off x="8147304" y="1517904"/>
            <a:ext cx="457200" cy="457200"/>
          </a:xfrm>
          <a:prstGeom prst="ellipse">
            <a:avLst/>
          </a:prstGeom>
          <a:solidFill>
            <a:srgbClr val="0F1318"/>
          </a:solidFill>
          <a:ln w="12700">
            <a:solidFill>
              <a:srgbClr val="0F1318"/>
            </a:solidFill>
            <a:prstDash val="solid"/>
          </a:ln>
        </p:spPr>
      </p:sp>
      <p:pic>
        <p:nvPicPr>
          <p:cNvPr id="38" name="Image 6" descr="preencoded.png">    </p:cNvPr>
          <p:cNvPicPr>
            <a:picLocks noChangeAspect="1"/>
          </p:cNvPicPr>
          <p:nvPr/>
        </p:nvPicPr>
        <p:blipFill>
          <a:blip r:embed="rId7"/>
          <a:stretch>
            <a:fillRect/>
          </a:stretch>
        </p:blipFill>
        <p:spPr>
          <a:xfrm>
            <a:off x="8252460" y="1623060"/>
            <a:ext cx="246888" cy="246888"/>
          </a:xfrm>
          <a:prstGeom prst="rect">
            <a:avLst/>
          </a:prstGeom>
        </p:spPr>
      </p:pic>
      <p:sp>
        <p:nvSpPr>
          <p:cNvPr id="39" name="Text 29"/>
          <p:cNvSpPr txBox="1"/>
          <p:nvPr/>
        </p:nvSpPr>
        <p:spPr>
          <a:xfrm>
            <a:off x="8714232" y="1481328"/>
            <a:ext cx="2926080" cy="566928"/>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Today’s single-active rule cannot pass on live data</a:t>
            </a:r>
            <a:endParaRPr lang="en-US" sz="1250" dirty="0"/>
          </a:p>
        </p:txBody>
      </p:sp>
      <p:sp>
        <p:nvSpPr>
          <p:cNvPr id="40" name="Text 30"/>
          <p:cNvSpPr txBox="1"/>
          <p:nvPr/>
        </p:nvSpPr>
        <p:spPr>
          <a:xfrm>
            <a:off x="8165592" y="2139696"/>
            <a:ext cx="3429000" cy="1188720"/>
          </a:xfrm>
          <a:prstGeom prst="rect">
            <a:avLst/>
          </a:prstGeom>
          <a:noFill/>
          <a:ln/>
        </p:spPr>
        <p:txBody>
          <a:bodyPr wrap="square" lIns="0" tIns="0" rIns="0" bIns="0" rtlCol="0" anchor="t"/>
          <a:lstStyle/>
          <a:p>
            <a:pPr indent="0" marL="0">
              <a:buNone/>
            </a:pPr>
            <a:r>
              <a:rPr lang="en-US" sz="1100" dirty="0">
                <a:solidFill>
                  <a:srgbClr val="EEF1F4"/>
                </a:solidFill>
                <a:latin typeface="Calibri" pitchFamily="34" charset="0"/>
                <a:ea typeface="Calibri" pitchFamily="34" charset="-122"/>
                <a:cs typeface="Calibri" pitchFamily="34" charset="-120"/>
              </a:rPr>
              <a:t>The pipeline runs all 15 indicators on both charts and rejects any cycle with a source missing. So every centroid variant has data every cycle, and a tier-1 check for “exactly one variant with data” would return INVALID every time.</a:t>
            </a:r>
            <a:endParaRPr lang="en-US" sz="1100" dirty="0"/>
          </a:p>
        </p:txBody>
      </p:sp>
      <p:sp>
        <p:nvSpPr>
          <p:cNvPr id="41" name="Text 31"/>
          <p:cNvSpPr txBox="1"/>
          <p:nvPr/>
        </p:nvSpPr>
        <p:spPr>
          <a:xfrm>
            <a:off x="8165592" y="3401568"/>
            <a:ext cx="3429000" cy="365760"/>
          </a:xfrm>
          <a:prstGeom prst="rect">
            <a:avLst/>
          </a:prstGeom>
          <a:noFill/>
          <a:ln/>
        </p:spPr>
        <p:txBody>
          <a:bodyPr wrap="square" lIns="0" tIns="0" rIns="0" bIns="0" rtlCol="0" anchor="ctr"/>
          <a:lstStyle/>
          <a:p>
            <a:pPr indent="0" marL="0">
              <a:buNone/>
            </a:pPr>
            <a:r>
              <a:rPr lang="en-US" sz="1100" b="1" dirty="0">
                <a:solidFill>
                  <a:srgbClr val="E2B54E"/>
                </a:solidFill>
                <a:latin typeface="Calibri" pitchFamily="34" charset="0"/>
                <a:ea typeface="Calibri" pitchFamily="34" charset="-122"/>
                <a:cs typeface="Calibri" pitchFamily="34" charset="-120"/>
              </a:rPr>
              <a:t>Fixed in Section 1 by an explicit setting (A3).</a:t>
            </a:r>
            <a:endParaRPr lang="en-US" sz="1100" dirty="0"/>
          </a:p>
        </p:txBody>
      </p:sp>
      <p:sp>
        <p:nvSpPr>
          <p:cNvPr id="42" name="Shape 32"/>
          <p:cNvSpPr/>
          <p:nvPr/>
        </p:nvSpPr>
        <p:spPr>
          <a:xfrm>
            <a:off x="8001000" y="4059936"/>
            <a:ext cx="3730752" cy="1938528"/>
          </a:xfrm>
          <a:prstGeom prst="roundRect">
            <a:avLst>
              <a:gd name="adj" fmla="val 3302"/>
            </a:avLst>
          </a:prstGeom>
          <a:solidFill>
            <a:srgbClr val="1D242E"/>
          </a:solidFill>
          <a:ln w="9525">
            <a:solidFill>
              <a:srgbClr val="323C49"/>
            </a:solidFill>
            <a:prstDash val="solid"/>
          </a:ln>
        </p:spPr>
      </p:sp>
      <p:sp>
        <p:nvSpPr>
          <p:cNvPr id="43" name="Text 33"/>
          <p:cNvSpPr txBox="1"/>
          <p:nvPr/>
        </p:nvSpPr>
        <p:spPr>
          <a:xfrm>
            <a:off x="8165592" y="4187952"/>
            <a:ext cx="3383280" cy="237744"/>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DATA NO MCD READS YET</a:t>
            </a:r>
            <a:endParaRPr lang="en-US" sz="950" dirty="0"/>
          </a:p>
        </p:txBody>
      </p:sp>
      <p:sp>
        <p:nvSpPr>
          <p:cNvPr id="44" name="Text 34"/>
          <p:cNvSpPr txBox="1"/>
          <p:nvPr/>
        </p:nvSpPr>
        <p:spPr>
          <a:xfrm>
            <a:off x="8165592" y="4480560"/>
            <a:ext cx="3429000" cy="146304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Candidate topics for MCD4–15: support &amp; resistance levels sr_1–sr_16 · ZigZag structure (HH / HL / LH / LL) and wave Z-scores · candle-body Z-score · best support / resistance lines · best_fit_a vs best_fit_b divergence · economic-event proximity · currency &amp; gold index (terminal S)</a:t>
            </a:r>
            <a:endParaRPr lang="en-US" sz="1050" dirty="0"/>
          </a:p>
        </p:txBody>
      </p:sp>
      <p:sp>
        <p:nvSpPr>
          <p:cNvPr id="45" name="Text 35"/>
          <p:cNvSpPr txBox="1"/>
          <p:nvPr/>
        </p:nvSpPr>
        <p:spPr>
          <a:xfrm>
            <a:off x="457200" y="6144768"/>
            <a:ext cx="10972800" cy="274320"/>
          </a:xfrm>
          <a:prstGeom prst="rect">
            <a:avLst/>
          </a:prstGeom>
          <a:noFill/>
          <a:ln/>
        </p:spPr>
        <p:txBody>
          <a:bodyPr wrap="square" lIns="0" tIns="0" rIns="0" bIns="0" rtlCol="0" anchor="t"/>
          <a:lstStyle/>
          <a:p>
            <a:pPr indent="0" marL="0">
              <a:buNone/>
            </a:pPr>
            <a:r>
              <a:rPr lang="en-US" sz="1050" i="1" dirty="0">
                <a:solidFill>
                  <a:srgbClr val="A3AEBB"/>
                </a:solidFill>
                <a:latin typeface="Calibri" pitchFamily="34" charset="0"/>
                <a:ea typeface="Calibri" pitchFamily="34" charset="-122"/>
                <a:cs typeface="Calibri" pitchFamily="34" charset="-120"/>
              </a:rPr>
              <a:t>Worth testing in Section 2: frozen-baseline channels (built, not yet deployed) for MCDs that need levels that don’t drift.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45720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ORDER OF WORK</a:t>
            </a:r>
            <a:endParaRPr lang="en-US" sz="1100" dirty="0"/>
          </a:p>
        </p:txBody>
      </p:sp>
      <p:sp>
        <p:nvSpPr>
          <p:cNvPr id="3" name="Text 1"/>
          <p:cNvSpPr txBox="1"/>
          <p:nvPr/>
        </p:nvSpPr>
        <p:spPr>
          <a:xfrm>
            <a:off x="457200" y="566928"/>
            <a:ext cx="1127729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Each section consumes what the one before it settles</a:t>
            </a:r>
            <a:endParaRPr lang="en-US" sz="2800" dirty="0"/>
          </a:p>
        </p:txBody>
      </p:sp>
      <p:sp>
        <p:nvSpPr>
          <p:cNvPr id="4" name="Text 2"/>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457200" y="1508760"/>
            <a:ext cx="1737360" cy="3200400"/>
          </a:xfrm>
          <a:prstGeom prst="roundRect">
            <a:avLst>
              <a:gd name="adj" fmla="val 3684"/>
            </a:avLst>
          </a:prstGeom>
          <a:solidFill>
            <a:srgbClr val="1D242E"/>
          </a:solidFill>
          <a:ln w="9525">
            <a:solidFill>
              <a:srgbClr val="323C49"/>
            </a:solidFill>
            <a:prstDash val="solid"/>
          </a:ln>
        </p:spPr>
      </p:sp>
      <p:sp>
        <p:nvSpPr>
          <p:cNvPr id="7" name="Shape 4"/>
          <p:cNvSpPr/>
          <p:nvPr/>
        </p:nvSpPr>
        <p:spPr>
          <a:xfrm>
            <a:off x="585216" y="1655064"/>
            <a:ext cx="457200" cy="457200"/>
          </a:xfrm>
          <a:prstGeom prst="ellipse">
            <a:avLst/>
          </a:prstGeom>
          <a:solidFill>
            <a:srgbClr val="5CC2B2"/>
          </a:solidFill>
          <a:ln w="15875">
            <a:solidFill>
              <a:srgbClr val="5CC2B2"/>
            </a:solidFill>
            <a:prstDash val="solid"/>
          </a:ln>
        </p:spPr>
      </p:sp>
      <p:sp>
        <p:nvSpPr>
          <p:cNvPr id="8" name="Text 5"/>
          <p:cNvSpPr txBox="1"/>
          <p:nvPr/>
        </p:nvSpPr>
        <p:spPr>
          <a:xfrm>
            <a:off x="585216" y="1655064"/>
            <a:ext cx="457200" cy="457200"/>
          </a:xfrm>
          <a:prstGeom prst="rect">
            <a:avLst/>
          </a:prstGeom>
          <a:noFill/>
          <a:ln/>
        </p:spPr>
        <p:txBody>
          <a:bodyPr wrap="square" lIns="0" tIns="0" rIns="0" bIns="0" rtlCol="0" anchor="ctr"/>
          <a:lstStyle/>
          <a:p>
            <a:pPr algn="ctr" indent="0" marL="0">
              <a:buNone/>
            </a:pPr>
            <a:r>
              <a:rPr lang="en-US" sz="1300" b="1" dirty="0">
                <a:solidFill>
                  <a:srgbClr val="0F1318"/>
                </a:solidFill>
                <a:latin typeface="Cambria" pitchFamily="34" charset="0"/>
                <a:ea typeface="Cambria" pitchFamily="34" charset="-122"/>
                <a:cs typeface="Cambria" pitchFamily="34" charset="-120"/>
              </a:rPr>
              <a:t>1</a:t>
            </a:r>
            <a:endParaRPr lang="en-US" sz="1300" dirty="0"/>
          </a:p>
        </p:txBody>
      </p:sp>
      <p:sp>
        <p:nvSpPr>
          <p:cNvPr id="9" name="Shape 6"/>
          <p:cNvSpPr/>
          <p:nvPr/>
        </p:nvSpPr>
        <p:spPr>
          <a:xfrm>
            <a:off x="1170432" y="1764792"/>
            <a:ext cx="896112" cy="237744"/>
          </a:xfrm>
          <a:prstGeom prst="roundRect">
            <a:avLst>
              <a:gd name="adj" fmla="val 50000"/>
            </a:avLst>
          </a:prstGeom>
          <a:solidFill>
            <a:srgbClr val="5CC2B2"/>
          </a:solidFill>
          <a:ln w="9525">
            <a:solidFill>
              <a:srgbClr val="5CC2B2"/>
            </a:solidFill>
            <a:prstDash val="solid"/>
          </a:ln>
        </p:spPr>
      </p:sp>
      <p:sp>
        <p:nvSpPr>
          <p:cNvPr id="10" name="Text 7"/>
          <p:cNvSpPr txBox="1"/>
          <p:nvPr/>
        </p:nvSpPr>
        <p:spPr>
          <a:xfrm>
            <a:off x="1170432" y="1764792"/>
            <a:ext cx="896112" cy="237744"/>
          </a:xfrm>
          <a:prstGeom prst="rect">
            <a:avLst/>
          </a:prstGeom>
          <a:noFill/>
          <a:ln/>
        </p:spPr>
        <p:txBody>
          <a:bodyPr wrap="square" lIns="0" tIns="0" rIns="0" bIns="0" rtlCol="0" anchor="ctr"/>
          <a:lstStyle/>
          <a:p>
            <a:pPr algn="ctr" indent="0" marL="0">
              <a:buNone/>
            </a:pPr>
            <a:r>
              <a:rPr lang="en-US" sz="800" b="1" spc="100" kern="0" dirty="0">
                <a:solidFill>
                  <a:srgbClr val="0F1318"/>
                </a:solidFill>
                <a:latin typeface="Calibri" pitchFamily="34" charset="0"/>
                <a:ea typeface="Calibri" pitchFamily="34" charset="-122"/>
                <a:cs typeface="Calibri" pitchFamily="34" charset="-120"/>
              </a:rPr>
              <a:t>SETTLED</a:t>
            </a:r>
            <a:endParaRPr lang="en-US" sz="800" dirty="0"/>
          </a:p>
        </p:txBody>
      </p:sp>
      <p:sp>
        <p:nvSpPr>
          <p:cNvPr id="11" name="Text 8"/>
          <p:cNvSpPr txBox="1"/>
          <p:nvPr/>
        </p:nvSpPr>
        <p:spPr>
          <a:xfrm>
            <a:off x="585216" y="2221992"/>
            <a:ext cx="1499616" cy="566928"/>
          </a:xfrm>
          <a:prstGeom prst="rect">
            <a:avLst/>
          </a:prstGeom>
          <a:noFill/>
          <a:ln/>
        </p:spPr>
        <p:txBody>
          <a:bodyPr wrap="square" lIns="0" tIns="0" rIns="0" bIns="0" rtlCol="0" anchor="t"/>
          <a:lstStyle/>
          <a:p>
            <a:pPr indent="0" marL="0">
              <a:buNone/>
            </a:pPr>
            <a:r>
              <a:rPr lang="en-US" sz="1250" b="1" dirty="0">
                <a:solidFill>
                  <a:srgbClr val="EEF1F4"/>
                </a:solidFill>
                <a:latin typeface="Calibri" pitchFamily="34" charset="0"/>
                <a:ea typeface="Calibri" pitchFamily="34" charset="-122"/>
                <a:cs typeface="Calibri" pitchFamily="34" charset="-120"/>
              </a:rPr>
              <a:t>Market data &amp; chart</a:t>
            </a:r>
            <a:endParaRPr lang="en-US" sz="1250" dirty="0"/>
          </a:p>
        </p:txBody>
      </p:sp>
      <p:sp>
        <p:nvSpPr>
          <p:cNvPr id="12" name="Text 9"/>
          <p:cNvSpPr txBox="1"/>
          <p:nvPr/>
        </p:nvSpPr>
        <p:spPr>
          <a:xfrm>
            <a:off x="585216" y="2880360"/>
            <a:ext cx="1499616" cy="219456"/>
          </a:xfrm>
          <a:prstGeom prst="rect">
            <a:avLst/>
          </a:prstGeom>
          <a:noFill/>
          <a:ln/>
        </p:spPr>
        <p:txBody>
          <a:bodyPr wrap="square" lIns="0" tIns="0" rIns="0" bIns="0" rtlCol="0" anchor="t"/>
          <a:lstStyle/>
          <a:p>
            <a:pPr indent="0" marL="0">
              <a:buNone/>
            </a:pPr>
            <a:r>
              <a:rPr lang="en-US" sz="850" b="1" spc="150" kern="0" dirty="0">
                <a:solidFill>
                  <a:srgbClr val="A3AEBB"/>
                </a:solidFill>
                <a:latin typeface="Calibri" pitchFamily="34" charset="0"/>
                <a:ea typeface="Calibri" pitchFamily="34" charset="-122"/>
                <a:cs typeface="Calibri" pitchFamily="34" charset="-120"/>
              </a:rPr>
              <a:t>DECIDES</a:t>
            </a:r>
            <a:endParaRPr lang="en-US" sz="850" dirty="0"/>
          </a:p>
        </p:txBody>
      </p:sp>
      <p:sp>
        <p:nvSpPr>
          <p:cNvPr id="13" name="Text 10"/>
          <p:cNvSpPr txBox="1"/>
          <p:nvPr/>
        </p:nvSpPr>
        <p:spPr>
          <a:xfrm>
            <a:off x="585216" y="3154680"/>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Stack D cycle key</a:t>
            </a:r>
            <a:endParaRPr lang="en-US" sz="1050" dirty="0"/>
          </a:p>
        </p:txBody>
      </p:sp>
      <p:sp>
        <p:nvSpPr>
          <p:cNvPr id="14" name="Text 11"/>
          <p:cNvSpPr txBox="1"/>
          <p:nvPr/>
        </p:nvSpPr>
        <p:spPr>
          <a:xfrm>
            <a:off x="585216" y="3630168"/>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Active-indicator setting</a:t>
            </a:r>
            <a:endParaRPr lang="en-US" sz="1050" dirty="0"/>
          </a:p>
        </p:txBody>
      </p:sp>
      <p:sp>
        <p:nvSpPr>
          <p:cNvPr id="15" name="Text 12"/>
          <p:cNvSpPr txBox="1"/>
          <p:nvPr/>
        </p:nvSpPr>
        <p:spPr>
          <a:xfrm>
            <a:off x="585216" y="4105656"/>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Freshness thresholds</a:t>
            </a:r>
            <a:endParaRPr lang="en-US" sz="1050" dirty="0"/>
          </a:p>
        </p:txBody>
      </p:sp>
      <p:sp>
        <p:nvSpPr>
          <p:cNvPr id="16" name="Shape 13"/>
          <p:cNvSpPr/>
          <p:nvPr/>
        </p:nvSpPr>
        <p:spPr>
          <a:xfrm>
            <a:off x="2212848" y="1883664"/>
            <a:ext cx="128016" cy="0"/>
          </a:xfrm>
          <a:prstGeom prst="line">
            <a:avLst/>
          </a:prstGeom>
          <a:noFill/>
          <a:ln w="15875">
            <a:solidFill>
              <a:srgbClr val="E2B54E"/>
            </a:solidFill>
            <a:prstDash val="solid"/>
            <a:tailEnd type="triangle"/>
          </a:ln>
        </p:spPr>
      </p:sp>
      <p:sp>
        <p:nvSpPr>
          <p:cNvPr id="17" name="Shape 14"/>
          <p:cNvSpPr/>
          <p:nvPr/>
        </p:nvSpPr>
        <p:spPr>
          <a:xfrm>
            <a:off x="2359152" y="1508760"/>
            <a:ext cx="1737360" cy="3200400"/>
          </a:xfrm>
          <a:prstGeom prst="roundRect">
            <a:avLst>
              <a:gd name="adj" fmla="val 3684"/>
            </a:avLst>
          </a:prstGeom>
          <a:solidFill>
            <a:srgbClr val="1D242E"/>
          </a:solidFill>
          <a:ln w="9525">
            <a:solidFill>
              <a:srgbClr val="323C49"/>
            </a:solidFill>
            <a:prstDash val="solid"/>
          </a:ln>
        </p:spPr>
      </p:sp>
      <p:sp>
        <p:nvSpPr>
          <p:cNvPr id="18" name="Shape 15"/>
          <p:cNvSpPr/>
          <p:nvPr/>
        </p:nvSpPr>
        <p:spPr>
          <a:xfrm>
            <a:off x="2487168" y="1655064"/>
            <a:ext cx="457200" cy="457200"/>
          </a:xfrm>
          <a:prstGeom prst="ellipse">
            <a:avLst/>
          </a:prstGeom>
          <a:solidFill>
            <a:srgbClr val="5CC2B2"/>
          </a:solidFill>
          <a:ln w="15875">
            <a:solidFill>
              <a:srgbClr val="5CC2B2"/>
            </a:solidFill>
            <a:prstDash val="solid"/>
          </a:ln>
        </p:spPr>
      </p:sp>
      <p:sp>
        <p:nvSpPr>
          <p:cNvPr id="19" name="Text 16"/>
          <p:cNvSpPr txBox="1"/>
          <p:nvPr/>
        </p:nvSpPr>
        <p:spPr>
          <a:xfrm>
            <a:off x="2487168" y="1655064"/>
            <a:ext cx="457200" cy="457200"/>
          </a:xfrm>
          <a:prstGeom prst="rect">
            <a:avLst/>
          </a:prstGeom>
          <a:noFill/>
          <a:ln/>
        </p:spPr>
        <p:txBody>
          <a:bodyPr wrap="square" lIns="0" tIns="0" rIns="0" bIns="0" rtlCol="0" anchor="ctr"/>
          <a:lstStyle/>
          <a:p>
            <a:pPr algn="ctr" indent="0" marL="0">
              <a:buNone/>
            </a:pPr>
            <a:r>
              <a:rPr lang="en-US" sz="1300" b="1" dirty="0">
                <a:solidFill>
                  <a:srgbClr val="0F1318"/>
                </a:solidFill>
                <a:latin typeface="Cambria" pitchFamily="34" charset="0"/>
                <a:ea typeface="Cambria" pitchFamily="34" charset="-122"/>
                <a:cs typeface="Cambria" pitchFamily="34" charset="-120"/>
              </a:rPr>
              <a:t>2</a:t>
            </a:r>
            <a:endParaRPr lang="en-US" sz="1300" dirty="0"/>
          </a:p>
        </p:txBody>
      </p:sp>
      <p:sp>
        <p:nvSpPr>
          <p:cNvPr id="20" name="Shape 17"/>
          <p:cNvSpPr/>
          <p:nvPr/>
        </p:nvSpPr>
        <p:spPr>
          <a:xfrm>
            <a:off x="3072384" y="1764792"/>
            <a:ext cx="896112" cy="237744"/>
          </a:xfrm>
          <a:prstGeom prst="roundRect">
            <a:avLst>
              <a:gd name="adj" fmla="val 50000"/>
            </a:avLst>
          </a:prstGeom>
          <a:solidFill>
            <a:srgbClr val="5CC2B2"/>
          </a:solidFill>
          <a:ln w="9525">
            <a:solidFill>
              <a:srgbClr val="5CC2B2"/>
            </a:solidFill>
            <a:prstDash val="solid"/>
          </a:ln>
        </p:spPr>
      </p:sp>
      <p:sp>
        <p:nvSpPr>
          <p:cNvPr id="21" name="Text 18"/>
          <p:cNvSpPr txBox="1"/>
          <p:nvPr/>
        </p:nvSpPr>
        <p:spPr>
          <a:xfrm>
            <a:off x="3072384" y="1764792"/>
            <a:ext cx="896112" cy="237744"/>
          </a:xfrm>
          <a:prstGeom prst="rect">
            <a:avLst/>
          </a:prstGeom>
          <a:noFill/>
          <a:ln/>
        </p:spPr>
        <p:txBody>
          <a:bodyPr wrap="square" lIns="0" tIns="0" rIns="0" bIns="0" rtlCol="0" anchor="ctr"/>
          <a:lstStyle/>
          <a:p>
            <a:pPr algn="ctr" indent="0" marL="0">
              <a:buNone/>
            </a:pPr>
            <a:r>
              <a:rPr lang="en-US" sz="800" b="1" spc="100" kern="0" dirty="0">
                <a:solidFill>
                  <a:srgbClr val="0F1318"/>
                </a:solidFill>
                <a:latin typeface="Calibri" pitchFamily="34" charset="0"/>
                <a:ea typeface="Calibri" pitchFamily="34" charset="-122"/>
                <a:cs typeface="Calibri" pitchFamily="34" charset="-120"/>
              </a:rPr>
              <a:t>SETTLED</a:t>
            </a:r>
            <a:endParaRPr lang="en-US" sz="800" dirty="0"/>
          </a:p>
        </p:txBody>
      </p:sp>
      <p:sp>
        <p:nvSpPr>
          <p:cNvPr id="22" name="Text 19"/>
          <p:cNvSpPr txBox="1"/>
          <p:nvPr/>
        </p:nvSpPr>
        <p:spPr>
          <a:xfrm>
            <a:off x="2487168" y="2221992"/>
            <a:ext cx="1499616" cy="566928"/>
          </a:xfrm>
          <a:prstGeom prst="rect">
            <a:avLst/>
          </a:prstGeom>
          <a:noFill/>
          <a:ln/>
        </p:spPr>
        <p:txBody>
          <a:bodyPr wrap="square" lIns="0" tIns="0" rIns="0" bIns="0" rtlCol="0" anchor="t"/>
          <a:lstStyle/>
          <a:p>
            <a:pPr indent="0" marL="0">
              <a:buNone/>
            </a:pPr>
            <a:r>
              <a:rPr lang="en-US" sz="1250" b="1" dirty="0">
                <a:solidFill>
                  <a:srgbClr val="EEF1F4"/>
                </a:solidFill>
                <a:latin typeface="Calibri" pitchFamily="34" charset="0"/>
                <a:ea typeface="Calibri" pitchFamily="34" charset="-122"/>
                <a:cs typeface="Calibri" pitchFamily="34" charset="-120"/>
              </a:rPr>
              <a:t>Sensors (MCDs)</a:t>
            </a:r>
            <a:endParaRPr lang="en-US" sz="1250" dirty="0"/>
          </a:p>
        </p:txBody>
      </p:sp>
      <p:sp>
        <p:nvSpPr>
          <p:cNvPr id="23" name="Text 20"/>
          <p:cNvSpPr txBox="1"/>
          <p:nvPr/>
        </p:nvSpPr>
        <p:spPr>
          <a:xfrm>
            <a:off x="2487168" y="2880360"/>
            <a:ext cx="1499616" cy="219456"/>
          </a:xfrm>
          <a:prstGeom prst="rect">
            <a:avLst/>
          </a:prstGeom>
          <a:noFill/>
          <a:ln/>
        </p:spPr>
        <p:txBody>
          <a:bodyPr wrap="square" lIns="0" tIns="0" rIns="0" bIns="0" rtlCol="0" anchor="t"/>
          <a:lstStyle/>
          <a:p>
            <a:pPr indent="0" marL="0">
              <a:buNone/>
            </a:pPr>
            <a:r>
              <a:rPr lang="en-US" sz="850" b="1" spc="150" kern="0" dirty="0">
                <a:solidFill>
                  <a:srgbClr val="A3AEBB"/>
                </a:solidFill>
                <a:latin typeface="Calibri" pitchFamily="34" charset="0"/>
                <a:ea typeface="Calibri" pitchFamily="34" charset="-122"/>
                <a:cs typeface="Calibri" pitchFamily="34" charset="-120"/>
              </a:rPr>
              <a:t>DECIDES</a:t>
            </a:r>
            <a:endParaRPr lang="en-US" sz="850" dirty="0"/>
          </a:p>
        </p:txBody>
      </p:sp>
      <p:sp>
        <p:nvSpPr>
          <p:cNvPr id="24" name="Text 21"/>
          <p:cNvSpPr txBox="1"/>
          <p:nvPr/>
        </p:nvSpPr>
        <p:spPr>
          <a:xfrm>
            <a:off x="2487168" y="3154680"/>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MCD envelope fields</a:t>
            </a:r>
            <a:endParaRPr lang="en-US" sz="1050" dirty="0"/>
          </a:p>
        </p:txBody>
      </p:sp>
      <p:sp>
        <p:nvSpPr>
          <p:cNvPr id="25" name="Text 22"/>
          <p:cNvSpPr txBox="1"/>
          <p:nvPr/>
        </p:nvSpPr>
        <p:spPr>
          <a:xfrm>
            <a:off x="2487168" y="3630168"/>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Merge the quality gate</a:t>
            </a:r>
            <a:endParaRPr lang="en-US" sz="1050" dirty="0"/>
          </a:p>
        </p:txBody>
      </p:sp>
      <p:sp>
        <p:nvSpPr>
          <p:cNvPr id="26" name="Text 23"/>
          <p:cNvSpPr txBox="1"/>
          <p:nvPr/>
        </p:nvSpPr>
        <p:spPr>
          <a:xfrm>
            <a:off x="2487168" y="4105656"/>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Live vs point-in-time windows</a:t>
            </a:r>
            <a:endParaRPr lang="en-US" sz="1050" dirty="0"/>
          </a:p>
        </p:txBody>
      </p:sp>
      <p:sp>
        <p:nvSpPr>
          <p:cNvPr id="27" name="Shape 24"/>
          <p:cNvSpPr/>
          <p:nvPr/>
        </p:nvSpPr>
        <p:spPr>
          <a:xfrm>
            <a:off x="4114800" y="1883664"/>
            <a:ext cx="128016" cy="0"/>
          </a:xfrm>
          <a:prstGeom prst="line">
            <a:avLst/>
          </a:prstGeom>
          <a:noFill/>
          <a:ln w="15875">
            <a:solidFill>
              <a:srgbClr val="E2B54E"/>
            </a:solidFill>
            <a:prstDash val="solid"/>
            <a:tailEnd type="triangle"/>
          </a:ln>
        </p:spPr>
      </p:sp>
      <p:sp>
        <p:nvSpPr>
          <p:cNvPr id="28" name="Shape 25"/>
          <p:cNvSpPr/>
          <p:nvPr/>
        </p:nvSpPr>
        <p:spPr>
          <a:xfrm>
            <a:off x="4261104" y="1508760"/>
            <a:ext cx="1737360" cy="3200400"/>
          </a:xfrm>
          <a:prstGeom prst="roundRect">
            <a:avLst>
              <a:gd name="adj" fmla="val 3684"/>
            </a:avLst>
          </a:prstGeom>
          <a:solidFill>
            <a:srgbClr val="1D242E"/>
          </a:solidFill>
          <a:ln w="9525">
            <a:solidFill>
              <a:srgbClr val="323C49"/>
            </a:solidFill>
            <a:prstDash val="solid"/>
          </a:ln>
        </p:spPr>
      </p:sp>
      <p:sp>
        <p:nvSpPr>
          <p:cNvPr id="29" name="Shape 26"/>
          <p:cNvSpPr/>
          <p:nvPr/>
        </p:nvSpPr>
        <p:spPr>
          <a:xfrm>
            <a:off x="4389120" y="1655064"/>
            <a:ext cx="457200" cy="457200"/>
          </a:xfrm>
          <a:prstGeom prst="ellipse">
            <a:avLst/>
          </a:prstGeom>
          <a:solidFill>
            <a:srgbClr val="5CC2B2"/>
          </a:solidFill>
          <a:ln w="15875">
            <a:solidFill>
              <a:srgbClr val="5CC2B2"/>
            </a:solidFill>
            <a:prstDash val="solid"/>
          </a:ln>
        </p:spPr>
      </p:sp>
      <p:sp>
        <p:nvSpPr>
          <p:cNvPr id="30" name="Text 27"/>
          <p:cNvSpPr txBox="1"/>
          <p:nvPr/>
        </p:nvSpPr>
        <p:spPr>
          <a:xfrm>
            <a:off x="4389120" y="1655064"/>
            <a:ext cx="457200" cy="457200"/>
          </a:xfrm>
          <a:prstGeom prst="rect">
            <a:avLst/>
          </a:prstGeom>
          <a:noFill/>
          <a:ln/>
        </p:spPr>
        <p:txBody>
          <a:bodyPr wrap="square" lIns="0" tIns="0" rIns="0" bIns="0" rtlCol="0" anchor="ctr"/>
          <a:lstStyle/>
          <a:p>
            <a:pPr algn="ctr" indent="0" marL="0">
              <a:buNone/>
            </a:pPr>
            <a:r>
              <a:rPr lang="en-US" sz="1300" b="1" dirty="0">
                <a:solidFill>
                  <a:srgbClr val="0F1318"/>
                </a:solidFill>
                <a:latin typeface="Cambria" pitchFamily="34" charset="0"/>
                <a:ea typeface="Cambria" pitchFamily="34" charset="-122"/>
                <a:cs typeface="Cambria" pitchFamily="34" charset="-120"/>
              </a:rPr>
              <a:t>3</a:t>
            </a:r>
            <a:endParaRPr lang="en-US" sz="1300" dirty="0"/>
          </a:p>
        </p:txBody>
      </p:sp>
      <p:sp>
        <p:nvSpPr>
          <p:cNvPr id="31" name="Shape 28"/>
          <p:cNvSpPr/>
          <p:nvPr/>
        </p:nvSpPr>
        <p:spPr>
          <a:xfrm>
            <a:off x="4974336" y="1764792"/>
            <a:ext cx="896112" cy="237744"/>
          </a:xfrm>
          <a:prstGeom prst="roundRect">
            <a:avLst>
              <a:gd name="adj" fmla="val 50000"/>
            </a:avLst>
          </a:prstGeom>
          <a:solidFill>
            <a:srgbClr val="5CC2B2"/>
          </a:solidFill>
          <a:ln w="9525">
            <a:solidFill>
              <a:srgbClr val="5CC2B2"/>
            </a:solidFill>
            <a:prstDash val="solid"/>
          </a:ln>
        </p:spPr>
      </p:sp>
      <p:sp>
        <p:nvSpPr>
          <p:cNvPr id="32" name="Text 29"/>
          <p:cNvSpPr txBox="1"/>
          <p:nvPr/>
        </p:nvSpPr>
        <p:spPr>
          <a:xfrm>
            <a:off x="4974336" y="1764792"/>
            <a:ext cx="896112" cy="237744"/>
          </a:xfrm>
          <a:prstGeom prst="rect">
            <a:avLst/>
          </a:prstGeom>
          <a:noFill/>
          <a:ln/>
        </p:spPr>
        <p:txBody>
          <a:bodyPr wrap="square" lIns="0" tIns="0" rIns="0" bIns="0" rtlCol="0" anchor="ctr"/>
          <a:lstStyle/>
          <a:p>
            <a:pPr algn="ctr" indent="0" marL="0">
              <a:buNone/>
            </a:pPr>
            <a:r>
              <a:rPr lang="en-US" sz="800" b="1" spc="100" kern="0" dirty="0">
                <a:solidFill>
                  <a:srgbClr val="0F1318"/>
                </a:solidFill>
                <a:latin typeface="Calibri" pitchFamily="34" charset="0"/>
                <a:ea typeface="Calibri" pitchFamily="34" charset="-122"/>
                <a:cs typeface="Calibri" pitchFamily="34" charset="-120"/>
              </a:rPr>
              <a:t>SETTLED</a:t>
            </a:r>
            <a:endParaRPr lang="en-US" sz="800" dirty="0"/>
          </a:p>
        </p:txBody>
      </p:sp>
      <p:sp>
        <p:nvSpPr>
          <p:cNvPr id="33" name="Text 30"/>
          <p:cNvSpPr txBox="1"/>
          <p:nvPr/>
        </p:nvSpPr>
        <p:spPr>
          <a:xfrm>
            <a:off x="4389120" y="2221992"/>
            <a:ext cx="1499616" cy="566928"/>
          </a:xfrm>
          <a:prstGeom prst="rect">
            <a:avLst/>
          </a:prstGeom>
          <a:noFill/>
          <a:ln/>
        </p:spPr>
        <p:txBody>
          <a:bodyPr wrap="square" lIns="0" tIns="0" rIns="0" bIns="0" rtlCol="0" anchor="t"/>
          <a:lstStyle/>
          <a:p>
            <a:pPr indent="0" marL="0">
              <a:buNone/>
            </a:pPr>
            <a:r>
              <a:rPr lang="en-US" sz="1250" b="1" dirty="0">
                <a:solidFill>
                  <a:srgbClr val="EEF1F4"/>
                </a:solidFill>
                <a:latin typeface="Calibri" pitchFamily="34" charset="0"/>
                <a:ea typeface="Calibri" pitchFamily="34" charset="-122"/>
                <a:cs typeface="Calibri" pitchFamily="34" charset="-120"/>
              </a:rPr>
              <a:t>Synthesis &amp; entry zones</a:t>
            </a:r>
            <a:endParaRPr lang="en-US" sz="1250" dirty="0"/>
          </a:p>
        </p:txBody>
      </p:sp>
      <p:sp>
        <p:nvSpPr>
          <p:cNvPr id="34" name="Text 31"/>
          <p:cNvSpPr txBox="1"/>
          <p:nvPr/>
        </p:nvSpPr>
        <p:spPr>
          <a:xfrm>
            <a:off x="4389120" y="2880360"/>
            <a:ext cx="1499616" cy="219456"/>
          </a:xfrm>
          <a:prstGeom prst="rect">
            <a:avLst/>
          </a:prstGeom>
          <a:noFill/>
          <a:ln/>
        </p:spPr>
        <p:txBody>
          <a:bodyPr wrap="square" lIns="0" tIns="0" rIns="0" bIns="0" rtlCol="0" anchor="t"/>
          <a:lstStyle/>
          <a:p>
            <a:pPr indent="0" marL="0">
              <a:buNone/>
            </a:pPr>
            <a:r>
              <a:rPr lang="en-US" sz="850" b="1" spc="150" kern="0" dirty="0">
                <a:solidFill>
                  <a:srgbClr val="A3AEBB"/>
                </a:solidFill>
                <a:latin typeface="Calibri" pitchFamily="34" charset="0"/>
                <a:ea typeface="Calibri" pitchFamily="34" charset="-122"/>
                <a:cs typeface="Calibri" pitchFamily="34" charset="-120"/>
              </a:rPr>
              <a:t>DECIDES</a:t>
            </a:r>
            <a:endParaRPr lang="en-US" sz="850" dirty="0"/>
          </a:p>
        </p:txBody>
      </p:sp>
      <p:sp>
        <p:nvSpPr>
          <p:cNvPr id="35" name="Text 32"/>
          <p:cNvSpPr txBox="1"/>
          <p:nvPr/>
        </p:nvSpPr>
        <p:spPr>
          <a:xfrm>
            <a:off x="4389120" y="3154680"/>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Who decides direction</a:t>
            </a:r>
            <a:endParaRPr lang="en-US" sz="1050" dirty="0"/>
          </a:p>
        </p:txBody>
      </p:sp>
      <p:sp>
        <p:nvSpPr>
          <p:cNvPr id="36" name="Text 33"/>
          <p:cNvSpPr txBox="1"/>
          <p:nvPr/>
        </p:nvSpPr>
        <p:spPr>
          <a:xfrm>
            <a:off x="4389120" y="3630168"/>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Archetype rules</a:t>
            </a:r>
            <a:endParaRPr lang="en-US" sz="1050" dirty="0"/>
          </a:p>
        </p:txBody>
      </p:sp>
      <p:sp>
        <p:nvSpPr>
          <p:cNvPr id="37" name="Text 34"/>
          <p:cNvSpPr txBox="1"/>
          <p:nvPr/>
        </p:nvSpPr>
        <p:spPr>
          <a:xfrm>
            <a:off x="4389120" y="4105656"/>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Zone construction</a:t>
            </a:r>
            <a:endParaRPr lang="en-US" sz="1050" dirty="0"/>
          </a:p>
        </p:txBody>
      </p:sp>
      <p:sp>
        <p:nvSpPr>
          <p:cNvPr id="38" name="Shape 35"/>
          <p:cNvSpPr/>
          <p:nvPr/>
        </p:nvSpPr>
        <p:spPr>
          <a:xfrm>
            <a:off x="6016752" y="1883664"/>
            <a:ext cx="128016" cy="0"/>
          </a:xfrm>
          <a:prstGeom prst="line">
            <a:avLst/>
          </a:prstGeom>
          <a:noFill/>
          <a:ln w="15875">
            <a:solidFill>
              <a:srgbClr val="E2B54E"/>
            </a:solidFill>
            <a:prstDash val="solid"/>
            <a:tailEnd type="triangle"/>
          </a:ln>
        </p:spPr>
      </p:sp>
      <p:sp>
        <p:nvSpPr>
          <p:cNvPr id="39" name="Shape 36"/>
          <p:cNvSpPr/>
          <p:nvPr/>
        </p:nvSpPr>
        <p:spPr>
          <a:xfrm>
            <a:off x="6163056" y="1508760"/>
            <a:ext cx="1737360" cy="3200400"/>
          </a:xfrm>
          <a:prstGeom prst="roundRect">
            <a:avLst>
              <a:gd name="adj" fmla="val 3684"/>
            </a:avLst>
          </a:prstGeom>
          <a:solidFill>
            <a:srgbClr val="1D242E"/>
          </a:solidFill>
          <a:ln w="9525">
            <a:solidFill>
              <a:srgbClr val="323C49"/>
            </a:solidFill>
            <a:prstDash val="solid"/>
          </a:ln>
        </p:spPr>
      </p:sp>
      <p:sp>
        <p:nvSpPr>
          <p:cNvPr id="40" name="Shape 37"/>
          <p:cNvSpPr/>
          <p:nvPr/>
        </p:nvSpPr>
        <p:spPr>
          <a:xfrm>
            <a:off x="6291072" y="1655064"/>
            <a:ext cx="457200" cy="457200"/>
          </a:xfrm>
          <a:prstGeom prst="ellipse">
            <a:avLst/>
          </a:prstGeom>
          <a:solidFill>
            <a:srgbClr val="7FA8E8"/>
          </a:solidFill>
          <a:ln w="15875">
            <a:solidFill>
              <a:srgbClr val="7FA8E8"/>
            </a:solidFill>
            <a:prstDash val="solid"/>
          </a:ln>
        </p:spPr>
      </p:sp>
      <p:sp>
        <p:nvSpPr>
          <p:cNvPr id="41" name="Text 38"/>
          <p:cNvSpPr txBox="1"/>
          <p:nvPr/>
        </p:nvSpPr>
        <p:spPr>
          <a:xfrm>
            <a:off x="6291072" y="1655064"/>
            <a:ext cx="457200" cy="457200"/>
          </a:xfrm>
          <a:prstGeom prst="rect">
            <a:avLst/>
          </a:prstGeom>
          <a:noFill/>
          <a:ln/>
        </p:spPr>
        <p:txBody>
          <a:bodyPr wrap="square" lIns="0" tIns="0" rIns="0" bIns="0" rtlCol="0" anchor="ctr"/>
          <a:lstStyle/>
          <a:p>
            <a:pPr algn="ctr" indent="0" marL="0">
              <a:buNone/>
            </a:pPr>
            <a:r>
              <a:rPr lang="en-US" sz="1300" b="1" dirty="0">
                <a:solidFill>
                  <a:srgbClr val="0F1318"/>
                </a:solidFill>
                <a:latin typeface="Cambria" pitchFamily="34" charset="0"/>
                <a:ea typeface="Cambria" pitchFamily="34" charset="-122"/>
                <a:cs typeface="Cambria" pitchFamily="34" charset="-120"/>
              </a:rPr>
              <a:t>4</a:t>
            </a:r>
            <a:endParaRPr lang="en-US" sz="1300" dirty="0"/>
          </a:p>
        </p:txBody>
      </p:sp>
      <p:sp>
        <p:nvSpPr>
          <p:cNvPr id="42" name="Shape 39"/>
          <p:cNvSpPr/>
          <p:nvPr/>
        </p:nvSpPr>
        <p:spPr>
          <a:xfrm>
            <a:off x="6876288" y="1764792"/>
            <a:ext cx="896112" cy="237744"/>
          </a:xfrm>
          <a:prstGeom prst="roundRect">
            <a:avLst>
              <a:gd name="adj" fmla="val 50000"/>
            </a:avLst>
          </a:prstGeom>
          <a:solidFill>
            <a:srgbClr val="5CC2B2"/>
          </a:solidFill>
          <a:ln w="9525">
            <a:solidFill>
              <a:srgbClr val="5CC2B2"/>
            </a:solidFill>
            <a:prstDash val="solid"/>
          </a:ln>
        </p:spPr>
      </p:sp>
      <p:sp>
        <p:nvSpPr>
          <p:cNvPr id="43" name="Text 40"/>
          <p:cNvSpPr txBox="1"/>
          <p:nvPr/>
        </p:nvSpPr>
        <p:spPr>
          <a:xfrm>
            <a:off x="6876288" y="1764792"/>
            <a:ext cx="896112" cy="237744"/>
          </a:xfrm>
          <a:prstGeom prst="rect">
            <a:avLst/>
          </a:prstGeom>
          <a:noFill/>
          <a:ln/>
        </p:spPr>
        <p:txBody>
          <a:bodyPr wrap="square" lIns="0" tIns="0" rIns="0" bIns="0" rtlCol="0" anchor="ctr"/>
          <a:lstStyle/>
          <a:p>
            <a:pPr algn="ctr" indent="0" marL="0">
              <a:buNone/>
            </a:pPr>
            <a:r>
              <a:rPr lang="en-US" sz="800" b="1" spc="100" kern="0" dirty="0">
                <a:solidFill>
                  <a:srgbClr val="0F1318"/>
                </a:solidFill>
                <a:latin typeface="Calibri" pitchFamily="34" charset="0"/>
                <a:ea typeface="Calibri" pitchFamily="34" charset="-122"/>
                <a:cs typeface="Calibri" pitchFamily="34" charset="-120"/>
              </a:rPr>
              <a:t>SETTLED</a:t>
            </a:r>
            <a:endParaRPr lang="en-US" sz="800" dirty="0"/>
          </a:p>
        </p:txBody>
      </p:sp>
      <p:sp>
        <p:nvSpPr>
          <p:cNvPr id="44" name="Text 41"/>
          <p:cNvSpPr txBox="1"/>
          <p:nvPr/>
        </p:nvSpPr>
        <p:spPr>
          <a:xfrm>
            <a:off x="6291072" y="2221992"/>
            <a:ext cx="1499616" cy="566928"/>
          </a:xfrm>
          <a:prstGeom prst="rect">
            <a:avLst/>
          </a:prstGeom>
          <a:noFill/>
          <a:ln/>
        </p:spPr>
        <p:txBody>
          <a:bodyPr wrap="square" lIns="0" tIns="0" rIns="0" bIns="0" rtlCol="0" anchor="t"/>
          <a:lstStyle/>
          <a:p>
            <a:pPr indent="0" marL="0">
              <a:buNone/>
            </a:pPr>
            <a:r>
              <a:rPr lang="en-US" sz="1250" b="1" dirty="0">
                <a:solidFill>
                  <a:srgbClr val="EEF1F4"/>
                </a:solidFill>
                <a:latin typeface="Calibri" pitchFamily="34" charset="0"/>
                <a:ea typeface="Calibri" pitchFamily="34" charset="-122"/>
                <a:cs typeface="Calibri" pitchFamily="34" charset="-120"/>
              </a:rPr>
              <a:t>Intake, routing &amp; knowledge</a:t>
            </a:r>
            <a:endParaRPr lang="en-US" sz="1250" dirty="0"/>
          </a:p>
        </p:txBody>
      </p:sp>
      <p:sp>
        <p:nvSpPr>
          <p:cNvPr id="45" name="Text 42"/>
          <p:cNvSpPr txBox="1"/>
          <p:nvPr/>
        </p:nvSpPr>
        <p:spPr>
          <a:xfrm>
            <a:off x="6291072" y="2880360"/>
            <a:ext cx="1499616" cy="219456"/>
          </a:xfrm>
          <a:prstGeom prst="rect">
            <a:avLst/>
          </a:prstGeom>
          <a:noFill/>
          <a:ln/>
        </p:spPr>
        <p:txBody>
          <a:bodyPr wrap="square" lIns="0" tIns="0" rIns="0" bIns="0" rtlCol="0" anchor="t"/>
          <a:lstStyle/>
          <a:p>
            <a:pPr indent="0" marL="0">
              <a:buNone/>
            </a:pPr>
            <a:r>
              <a:rPr lang="en-US" sz="850" b="1" spc="150" kern="0" dirty="0">
                <a:solidFill>
                  <a:srgbClr val="A3AEBB"/>
                </a:solidFill>
                <a:latin typeface="Calibri" pitchFamily="34" charset="0"/>
                <a:ea typeface="Calibri" pitchFamily="34" charset="-122"/>
                <a:cs typeface="Calibri" pitchFamily="34" charset="-120"/>
              </a:rPr>
              <a:t>DECIDES</a:t>
            </a:r>
            <a:endParaRPr lang="en-US" sz="850" dirty="0"/>
          </a:p>
        </p:txBody>
      </p:sp>
      <p:sp>
        <p:nvSpPr>
          <p:cNvPr id="46" name="Text 43"/>
          <p:cNvSpPr txBox="1"/>
          <p:nvPr/>
        </p:nvSpPr>
        <p:spPr>
          <a:xfrm>
            <a:off x="6291072" y="3154680"/>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Routing v1</a:t>
            </a:r>
            <a:endParaRPr lang="en-US" sz="1050" dirty="0"/>
          </a:p>
        </p:txBody>
      </p:sp>
      <p:sp>
        <p:nvSpPr>
          <p:cNvPr id="47" name="Text 44"/>
          <p:cNvSpPr txBox="1"/>
          <p:nvPr/>
        </p:nvSpPr>
        <p:spPr>
          <a:xfrm>
            <a:off x="6291072" y="3630168"/>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Language handling</a:t>
            </a:r>
            <a:endParaRPr lang="en-US" sz="1050" dirty="0"/>
          </a:p>
        </p:txBody>
      </p:sp>
      <p:sp>
        <p:nvSpPr>
          <p:cNvPr id="48" name="Text 45"/>
          <p:cNvSpPr txBox="1"/>
          <p:nvPr/>
        </p:nvSpPr>
        <p:spPr>
          <a:xfrm>
            <a:off x="6291072" y="4105656"/>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Sensor board content</a:t>
            </a:r>
            <a:endParaRPr lang="en-US" sz="1050" dirty="0"/>
          </a:p>
        </p:txBody>
      </p:sp>
      <p:sp>
        <p:nvSpPr>
          <p:cNvPr id="49" name="Shape 46"/>
          <p:cNvSpPr/>
          <p:nvPr/>
        </p:nvSpPr>
        <p:spPr>
          <a:xfrm>
            <a:off x="7918704" y="1883664"/>
            <a:ext cx="128016" cy="0"/>
          </a:xfrm>
          <a:prstGeom prst="line">
            <a:avLst/>
          </a:prstGeom>
          <a:noFill/>
          <a:ln w="15875">
            <a:solidFill>
              <a:srgbClr val="E2B54E"/>
            </a:solidFill>
            <a:prstDash val="solid"/>
            <a:tailEnd type="triangle"/>
          </a:ln>
        </p:spPr>
      </p:sp>
      <p:sp>
        <p:nvSpPr>
          <p:cNvPr id="50" name="Shape 47"/>
          <p:cNvSpPr/>
          <p:nvPr/>
        </p:nvSpPr>
        <p:spPr>
          <a:xfrm>
            <a:off x="8065008" y="1508760"/>
            <a:ext cx="1737360" cy="3200400"/>
          </a:xfrm>
          <a:prstGeom prst="roundRect">
            <a:avLst>
              <a:gd name="adj" fmla="val 3684"/>
            </a:avLst>
          </a:prstGeom>
          <a:solidFill>
            <a:srgbClr val="1D242E"/>
          </a:solidFill>
          <a:ln w="9525">
            <a:solidFill>
              <a:srgbClr val="323C49"/>
            </a:solidFill>
            <a:prstDash val="solid"/>
          </a:ln>
        </p:spPr>
      </p:sp>
      <p:sp>
        <p:nvSpPr>
          <p:cNvPr id="51" name="Shape 48"/>
          <p:cNvSpPr/>
          <p:nvPr/>
        </p:nvSpPr>
        <p:spPr>
          <a:xfrm>
            <a:off x="8193024" y="1655064"/>
            <a:ext cx="457200" cy="457200"/>
          </a:xfrm>
          <a:prstGeom prst="ellipse">
            <a:avLst/>
          </a:prstGeom>
          <a:solidFill>
            <a:srgbClr val="7FA8E8"/>
          </a:solidFill>
          <a:ln w="15875">
            <a:solidFill>
              <a:srgbClr val="7FA8E8"/>
            </a:solidFill>
            <a:prstDash val="solid"/>
          </a:ln>
        </p:spPr>
      </p:sp>
      <p:sp>
        <p:nvSpPr>
          <p:cNvPr id="52" name="Text 49"/>
          <p:cNvSpPr txBox="1"/>
          <p:nvPr/>
        </p:nvSpPr>
        <p:spPr>
          <a:xfrm>
            <a:off x="8193024" y="1655064"/>
            <a:ext cx="457200" cy="457200"/>
          </a:xfrm>
          <a:prstGeom prst="rect">
            <a:avLst/>
          </a:prstGeom>
          <a:noFill/>
          <a:ln/>
        </p:spPr>
        <p:txBody>
          <a:bodyPr wrap="square" lIns="0" tIns="0" rIns="0" bIns="0" rtlCol="0" anchor="ctr"/>
          <a:lstStyle/>
          <a:p>
            <a:pPr algn="ctr" indent="0" marL="0">
              <a:buNone/>
            </a:pPr>
            <a:r>
              <a:rPr lang="en-US" sz="1300" b="1" dirty="0">
                <a:solidFill>
                  <a:srgbClr val="0F1318"/>
                </a:solidFill>
                <a:latin typeface="Cambria" pitchFamily="34" charset="0"/>
                <a:ea typeface="Cambria" pitchFamily="34" charset="-122"/>
                <a:cs typeface="Cambria" pitchFamily="34" charset="-120"/>
              </a:rPr>
              <a:t>5</a:t>
            </a:r>
            <a:endParaRPr lang="en-US" sz="1300" dirty="0"/>
          </a:p>
        </p:txBody>
      </p:sp>
      <p:sp>
        <p:nvSpPr>
          <p:cNvPr id="53" name="Shape 50"/>
          <p:cNvSpPr/>
          <p:nvPr/>
        </p:nvSpPr>
        <p:spPr>
          <a:xfrm>
            <a:off x="8778240" y="1764792"/>
            <a:ext cx="896112" cy="237744"/>
          </a:xfrm>
          <a:prstGeom prst="roundRect">
            <a:avLst>
              <a:gd name="adj" fmla="val 50000"/>
            </a:avLst>
          </a:prstGeom>
          <a:solidFill>
            <a:srgbClr val="5CC2B2"/>
          </a:solidFill>
          <a:ln w="9525">
            <a:solidFill>
              <a:srgbClr val="5CC2B2"/>
            </a:solidFill>
            <a:prstDash val="solid"/>
          </a:ln>
        </p:spPr>
      </p:sp>
      <p:sp>
        <p:nvSpPr>
          <p:cNvPr id="54" name="Text 51"/>
          <p:cNvSpPr txBox="1"/>
          <p:nvPr/>
        </p:nvSpPr>
        <p:spPr>
          <a:xfrm>
            <a:off x="8778240" y="1764792"/>
            <a:ext cx="896112" cy="237744"/>
          </a:xfrm>
          <a:prstGeom prst="rect">
            <a:avLst/>
          </a:prstGeom>
          <a:noFill/>
          <a:ln/>
        </p:spPr>
        <p:txBody>
          <a:bodyPr wrap="square" lIns="0" tIns="0" rIns="0" bIns="0" rtlCol="0" anchor="ctr"/>
          <a:lstStyle/>
          <a:p>
            <a:pPr algn="ctr" indent="0" marL="0">
              <a:buNone/>
            </a:pPr>
            <a:r>
              <a:rPr lang="en-US" sz="800" b="1" spc="100" kern="0" dirty="0">
                <a:solidFill>
                  <a:srgbClr val="0F1318"/>
                </a:solidFill>
                <a:latin typeface="Calibri" pitchFamily="34" charset="0"/>
                <a:ea typeface="Calibri" pitchFamily="34" charset="-122"/>
                <a:cs typeface="Calibri" pitchFamily="34" charset="-120"/>
              </a:rPr>
              <a:t>SETTLED</a:t>
            </a:r>
            <a:endParaRPr lang="en-US" sz="800" dirty="0"/>
          </a:p>
        </p:txBody>
      </p:sp>
      <p:sp>
        <p:nvSpPr>
          <p:cNvPr id="55" name="Text 52"/>
          <p:cNvSpPr txBox="1"/>
          <p:nvPr/>
        </p:nvSpPr>
        <p:spPr>
          <a:xfrm>
            <a:off x="8193024" y="2221992"/>
            <a:ext cx="1499616" cy="566928"/>
          </a:xfrm>
          <a:prstGeom prst="rect">
            <a:avLst/>
          </a:prstGeom>
          <a:noFill/>
          <a:ln/>
        </p:spPr>
        <p:txBody>
          <a:bodyPr wrap="square" lIns="0" tIns="0" rIns="0" bIns="0" rtlCol="0" anchor="t"/>
          <a:lstStyle/>
          <a:p>
            <a:pPr indent="0" marL="0">
              <a:buNone/>
            </a:pPr>
            <a:r>
              <a:rPr lang="en-US" sz="1250" b="1" dirty="0">
                <a:solidFill>
                  <a:srgbClr val="EEF1F4"/>
                </a:solidFill>
                <a:latin typeface="Calibri" pitchFamily="34" charset="0"/>
                <a:ea typeface="Calibri" pitchFamily="34" charset="-122"/>
                <a:cs typeface="Calibri" pitchFamily="34" charset="-120"/>
              </a:rPr>
              <a:t>Prompt &amp; AI reply</a:t>
            </a:r>
            <a:endParaRPr lang="en-US" sz="1250" dirty="0"/>
          </a:p>
        </p:txBody>
      </p:sp>
      <p:sp>
        <p:nvSpPr>
          <p:cNvPr id="56" name="Text 53"/>
          <p:cNvSpPr txBox="1"/>
          <p:nvPr/>
        </p:nvSpPr>
        <p:spPr>
          <a:xfrm>
            <a:off x="8193024" y="2880360"/>
            <a:ext cx="1499616" cy="219456"/>
          </a:xfrm>
          <a:prstGeom prst="rect">
            <a:avLst/>
          </a:prstGeom>
          <a:noFill/>
          <a:ln/>
        </p:spPr>
        <p:txBody>
          <a:bodyPr wrap="square" lIns="0" tIns="0" rIns="0" bIns="0" rtlCol="0" anchor="t"/>
          <a:lstStyle/>
          <a:p>
            <a:pPr indent="0" marL="0">
              <a:buNone/>
            </a:pPr>
            <a:r>
              <a:rPr lang="en-US" sz="850" b="1" spc="150" kern="0" dirty="0">
                <a:solidFill>
                  <a:srgbClr val="A3AEBB"/>
                </a:solidFill>
                <a:latin typeface="Calibri" pitchFamily="34" charset="0"/>
                <a:ea typeface="Calibri" pitchFamily="34" charset="-122"/>
                <a:cs typeface="Calibri" pitchFamily="34" charset="-120"/>
              </a:rPr>
              <a:t>DECIDES</a:t>
            </a:r>
            <a:endParaRPr lang="en-US" sz="850" dirty="0"/>
          </a:p>
        </p:txBody>
      </p:sp>
      <p:sp>
        <p:nvSpPr>
          <p:cNvPr id="57" name="Text 54"/>
          <p:cNvSpPr txBox="1"/>
          <p:nvPr/>
        </p:nvSpPr>
        <p:spPr>
          <a:xfrm>
            <a:off x="8193024" y="3154680"/>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OHLC delivery</a:t>
            </a:r>
            <a:endParaRPr lang="en-US" sz="1050" dirty="0"/>
          </a:p>
        </p:txBody>
      </p:sp>
      <p:sp>
        <p:nvSpPr>
          <p:cNvPr id="58" name="Text 55"/>
          <p:cNvSpPr txBox="1"/>
          <p:nvPr/>
        </p:nvSpPr>
        <p:spPr>
          <a:xfrm>
            <a:off x="8193024" y="3630168"/>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Quotas</a:t>
            </a:r>
            <a:endParaRPr lang="en-US" sz="1050" dirty="0"/>
          </a:p>
        </p:txBody>
      </p:sp>
      <p:sp>
        <p:nvSpPr>
          <p:cNvPr id="59" name="Text 56"/>
          <p:cNvSpPr txBox="1"/>
          <p:nvPr/>
        </p:nvSpPr>
        <p:spPr>
          <a:xfrm>
            <a:off x="8193024" y="4105656"/>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Models and wording</a:t>
            </a:r>
            <a:endParaRPr lang="en-US" sz="1050" dirty="0"/>
          </a:p>
        </p:txBody>
      </p:sp>
      <p:sp>
        <p:nvSpPr>
          <p:cNvPr id="60" name="Shape 57"/>
          <p:cNvSpPr/>
          <p:nvPr/>
        </p:nvSpPr>
        <p:spPr>
          <a:xfrm>
            <a:off x="9820656" y="1883664"/>
            <a:ext cx="128016" cy="0"/>
          </a:xfrm>
          <a:prstGeom prst="line">
            <a:avLst/>
          </a:prstGeom>
          <a:noFill/>
          <a:ln w="15875">
            <a:solidFill>
              <a:srgbClr val="E2B54E"/>
            </a:solidFill>
            <a:prstDash val="solid"/>
            <a:tailEnd type="triangle"/>
          </a:ln>
        </p:spPr>
      </p:sp>
      <p:sp>
        <p:nvSpPr>
          <p:cNvPr id="61" name="Shape 58"/>
          <p:cNvSpPr/>
          <p:nvPr/>
        </p:nvSpPr>
        <p:spPr>
          <a:xfrm>
            <a:off x="9966960" y="1508760"/>
            <a:ext cx="1737360" cy="3200400"/>
          </a:xfrm>
          <a:prstGeom prst="roundRect">
            <a:avLst>
              <a:gd name="adj" fmla="val 3684"/>
            </a:avLst>
          </a:prstGeom>
          <a:solidFill>
            <a:srgbClr val="1D242E"/>
          </a:solidFill>
          <a:ln w="9525">
            <a:solidFill>
              <a:srgbClr val="323C49"/>
            </a:solidFill>
            <a:prstDash val="solid"/>
          </a:ln>
        </p:spPr>
      </p:sp>
      <p:sp>
        <p:nvSpPr>
          <p:cNvPr id="62" name="Shape 59"/>
          <p:cNvSpPr/>
          <p:nvPr/>
        </p:nvSpPr>
        <p:spPr>
          <a:xfrm>
            <a:off x="10094976" y="1655064"/>
            <a:ext cx="457200" cy="457200"/>
          </a:xfrm>
          <a:prstGeom prst="ellipse">
            <a:avLst/>
          </a:prstGeom>
          <a:solidFill>
            <a:srgbClr val="7FA8E8"/>
          </a:solidFill>
          <a:ln w="15875">
            <a:solidFill>
              <a:srgbClr val="7FA8E8"/>
            </a:solidFill>
            <a:prstDash val="solid"/>
          </a:ln>
        </p:spPr>
      </p:sp>
      <p:sp>
        <p:nvSpPr>
          <p:cNvPr id="63" name="Text 60"/>
          <p:cNvSpPr txBox="1"/>
          <p:nvPr/>
        </p:nvSpPr>
        <p:spPr>
          <a:xfrm>
            <a:off x="10094976" y="1655064"/>
            <a:ext cx="457200" cy="457200"/>
          </a:xfrm>
          <a:prstGeom prst="rect">
            <a:avLst/>
          </a:prstGeom>
          <a:noFill/>
          <a:ln/>
        </p:spPr>
        <p:txBody>
          <a:bodyPr wrap="square" lIns="0" tIns="0" rIns="0" bIns="0" rtlCol="0" anchor="ctr"/>
          <a:lstStyle/>
          <a:p>
            <a:pPr algn="ctr" indent="0" marL="0">
              <a:buNone/>
            </a:pPr>
            <a:r>
              <a:rPr lang="en-US" sz="1300" b="1" dirty="0">
                <a:solidFill>
                  <a:srgbClr val="0F1318"/>
                </a:solidFill>
                <a:latin typeface="Cambria" pitchFamily="34" charset="0"/>
                <a:ea typeface="Cambria" pitchFamily="34" charset="-122"/>
                <a:cs typeface="Cambria" pitchFamily="34" charset="-120"/>
              </a:rPr>
              <a:t>6</a:t>
            </a:r>
            <a:endParaRPr lang="en-US" sz="1300" dirty="0"/>
          </a:p>
        </p:txBody>
      </p:sp>
      <p:sp>
        <p:nvSpPr>
          <p:cNvPr id="64" name="Shape 61"/>
          <p:cNvSpPr/>
          <p:nvPr/>
        </p:nvSpPr>
        <p:spPr>
          <a:xfrm>
            <a:off x="10680192" y="1764792"/>
            <a:ext cx="896112" cy="237744"/>
          </a:xfrm>
          <a:prstGeom prst="roundRect">
            <a:avLst>
              <a:gd name="adj" fmla="val 50000"/>
            </a:avLst>
          </a:prstGeom>
          <a:solidFill>
            <a:srgbClr val="5CC2B2"/>
          </a:solidFill>
          <a:ln w="9525">
            <a:solidFill>
              <a:srgbClr val="5CC2B2"/>
            </a:solidFill>
            <a:prstDash val="solid"/>
          </a:ln>
        </p:spPr>
      </p:sp>
      <p:sp>
        <p:nvSpPr>
          <p:cNvPr id="65" name="Text 62"/>
          <p:cNvSpPr txBox="1"/>
          <p:nvPr/>
        </p:nvSpPr>
        <p:spPr>
          <a:xfrm>
            <a:off x="10680192" y="1764792"/>
            <a:ext cx="896112" cy="237744"/>
          </a:xfrm>
          <a:prstGeom prst="rect">
            <a:avLst/>
          </a:prstGeom>
          <a:noFill/>
          <a:ln/>
        </p:spPr>
        <p:txBody>
          <a:bodyPr wrap="square" lIns="0" tIns="0" rIns="0" bIns="0" rtlCol="0" anchor="ctr"/>
          <a:lstStyle/>
          <a:p>
            <a:pPr algn="ctr" indent="0" marL="0">
              <a:buNone/>
            </a:pPr>
            <a:r>
              <a:rPr lang="en-US" sz="800" b="1" spc="100" kern="0" dirty="0">
                <a:solidFill>
                  <a:srgbClr val="0F1318"/>
                </a:solidFill>
                <a:latin typeface="Calibri" pitchFamily="34" charset="0"/>
                <a:ea typeface="Calibri" pitchFamily="34" charset="-122"/>
                <a:cs typeface="Calibri" pitchFamily="34" charset="-120"/>
              </a:rPr>
              <a:t>SETTLED</a:t>
            </a:r>
            <a:endParaRPr lang="en-US" sz="800" dirty="0"/>
          </a:p>
        </p:txBody>
      </p:sp>
      <p:sp>
        <p:nvSpPr>
          <p:cNvPr id="66" name="Text 63"/>
          <p:cNvSpPr txBox="1"/>
          <p:nvPr/>
        </p:nvSpPr>
        <p:spPr>
          <a:xfrm>
            <a:off x="10094976" y="2221992"/>
            <a:ext cx="1499616" cy="566928"/>
          </a:xfrm>
          <a:prstGeom prst="rect">
            <a:avLst/>
          </a:prstGeom>
          <a:noFill/>
          <a:ln/>
        </p:spPr>
        <p:txBody>
          <a:bodyPr wrap="square" lIns="0" tIns="0" rIns="0" bIns="0" rtlCol="0" anchor="t"/>
          <a:lstStyle/>
          <a:p>
            <a:pPr indent="0" marL="0">
              <a:buNone/>
            </a:pPr>
            <a:r>
              <a:rPr lang="en-US" sz="1250" b="1" dirty="0">
                <a:solidFill>
                  <a:srgbClr val="EEF1F4"/>
                </a:solidFill>
                <a:latin typeface="Calibri" pitchFamily="34" charset="0"/>
                <a:ea typeface="Calibri" pitchFamily="34" charset="-122"/>
                <a:cs typeface="Calibri" pitchFamily="34" charset="-120"/>
              </a:rPr>
              <a:t>Engine 4 &amp; Report 2</a:t>
            </a:r>
            <a:endParaRPr lang="en-US" sz="1250" dirty="0"/>
          </a:p>
        </p:txBody>
      </p:sp>
      <p:sp>
        <p:nvSpPr>
          <p:cNvPr id="67" name="Text 64"/>
          <p:cNvSpPr txBox="1"/>
          <p:nvPr/>
        </p:nvSpPr>
        <p:spPr>
          <a:xfrm>
            <a:off x="10094976" y="2880360"/>
            <a:ext cx="1499616" cy="219456"/>
          </a:xfrm>
          <a:prstGeom prst="rect">
            <a:avLst/>
          </a:prstGeom>
          <a:noFill/>
          <a:ln/>
        </p:spPr>
        <p:txBody>
          <a:bodyPr wrap="square" lIns="0" tIns="0" rIns="0" bIns="0" rtlCol="0" anchor="t"/>
          <a:lstStyle/>
          <a:p>
            <a:pPr indent="0" marL="0">
              <a:buNone/>
            </a:pPr>
            <a:r>
              <a:rPr lang="en-US" sz="850" b="1" spc="150" kern="0" dirty="0">
                <a:solidFill>
                  <a:srgbClr val="A3AEBB"/>
                </a:solidFill>
                <a:latin typeface="Calibri" pitchFamily="34" charset="0"/>
                <a:ea typeface="Calibri" pitchFamily="34" charset="-122"/>
                <a:cs typeface="Calibri" pitchFamily="34" charset="-120"/>
              </a:rPr>
              <a:t>DECIDES</a:t>
            </a:r>
            <a:endParaRPr lang="en-US" sz="850" dirty="0"/>
          </a:p>
        </p:txBody>
      </p:sp>
      <p:sp>
        <p:nvSpPr>
          <p:cNvPr id="68" name="Text 65"/>
          <p:cNvSpPr txBox="1"/>
          <p:nvPr/>
        </p:nvSpPr>
        <p:spPr>
          <a:xfrm>
            <a:off x="10094976" y="3154680"/>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Blackout behaviour</a:t>
            </a:r>
            <a:endParaRPr lang="en-US" sz="1050" dirty="0"/>
          </a:p>
        </p:txBody>
      </p:sp>
      <p:sp>
        <p:nvSpPr>
          <p:cNvPr id="69" name="Text 66"/>
          <p:cNvSpPr txBox="1"/>
          <p:nvPr/>
        </p:nvSpPr>
        <p:spPr>
          <a:xfrm>
            <a:off x="10094976" y="3630168"/>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Defect-flag override</a:t>
            </a:r>
            <a:endParaRPr lang="en-US" sz="1050" dirty="0"/>
          </a:p>
        </p:txBody>
      </p:sp>
      <p:sp>
        <p:nvSpPr>
          <p:cNvPr id="70" name="Text 67"/>
          <p:cNvSpPr txBox="1"/>
          <p:nvPr/>
        </p:nvSpPr>
        <p:spPr>
          <a:xfrm>
            <a:off x="10094976" y="4105656"/>
            <a:ext cx="1499616" cy="420624"/>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Stop options, badge</a:t>
            </a:r>
            <a:endParaRPr lang="en-US" sz="1050" dirty="0"/>
          </a:p>
        </p:txBody>
      </p:sp>
      <p:sp>
        <p:nvSpPr>
          <p:cNvPr id="71" name="Shape 68"/>
          <p:cNvSpPr/>
          <p:nvPr/>
        </p:nvSpPr>
        <p:spPr>
          <a:xfrm>
            <a:off x="457200" y="4983480"/>
            <a:ext cx="11274552" cy="868680"/>
          </a:xfrm>
          <a:prstGeom prst="roundRect">
            <a:avLst>
              <a:gd name="adj" fmla="val 5263"/>
            </a:avLst>
          </a:prstGeom>
          <a:solidFill>
            <a:srgbClr val="231E33"/>
          </a:solidFill>
          <a:ln w="9525">
            <a:solidFill>
              <a:srgbClr val="231E33"/>
            </a:solidFill>
            <a:prstDash val="solid"/>
          </a:ln>
        </p:spPr>
      </p:sp>
      <p:sp>
        <p:nvSpPr>
          <p:cNvPr id="72" name="Shape 69"/>
          <p:cNvSpPr/>
          <p:nvPr/>
        </p:nvSpPr>
        <p:spPr>
          <a:xfrm>
            <a:off x="621792" y="5175504"/>
            <a:ext cx="475488" cy="475488"/>
          </a:xfrm>
          <a:prstGeom prst="ellipse">
            <a:avLst/>
          </a:prstGeom>
          <a:solidFill>
            <a:srgbClr val="B7A3E0"/>
          </a:solidFill>
          <a:ln w="15875">
            <a:solidFill>
              <a:srgbClr val="B7A3E0"/>
            </a:solidFill>
            <a:prstDash val="solid"/>
          </a:ln>
        </p:spPr>
      </p:sp>
      <p:sp>
        <p:nvSpPr>
          <p:cNvPr id="73" name="Text 70"/>
          <p:cNvSpPr txBox="1"/>
          <p:nvPr/>
        </p:nvSpPr>
        <p:spPr>
          <a:xfrm>
            <a:off x="621792" y="5175504"/>
            <a:ext cx="475488" cy="475488"/>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7</a:t>
            </a:r>
            <a:endParaRPr lang="en-US" sz="1400" dirty="0"/>
          </a:p>
        </p:txBody>
      </p:sp>
      <p:sp>
        <p:nvSpPr>
          <p:cNvPr id="74" name="Shape 71"/>
          <p:cNvSpPr/>
          <p:nvPr/>
        </p:nvSpPr>
        <p:spPr>
          <a:xfrm>
            <a:off x="10515600" y="5303520"/>
            <a:ext cx="1005840" cy="237744"/>
          </a:xfrm>
          <a:prstGeom prst="roundRect">
            <a:avLst>
              <a:gd name="adj" fmla="val 50000"/>
            </a:avLst>
          </a:prstGeom>
          <a:solidFill>
            <a:srgbClr val="5CC2B2"/>
          </a:solidFill>
          <a:ln w="9525">
            <a:solidFill>
              <a:srgbClr val="5CC2B2"/>
            </a:solidFill>
            <a:prstDash val="solid"/>
          </a:ln>
        </p:spPr>
      </p:sp>
      <p:sp>
        <p:nvSpPr>
          <p:cNvPr id="75" name="Text 72"/>
          <p:cNvSpPr txBox="1"/>
          <p:nvPr/>
        </p:nvSpPr>
        <p:spPr>
          <a:xfrm>
            <a:off x="10515600" y="5303520"/>
            <a:ext cx="1005840" cy="237744"/>
          </a:xfrm>
          <a:prstGeom prst="rect">
            <a:avLst/>
          </a:prstGeom>
          <a:noFill/>
          <a:ln/>
        </p:spPr>
        <p:txBody>
          <a:bodyPr wrap="square" lIns="0" tIns="0" rIns="0" bIns="0" rtlCol="0" anchor="ctr"/>
          <a:lstStyle/>
          <a:p>
            <a:pPr algn="ctr" indent="0" marL="0">
              <a:buNone/>
            </a:pPr>
            <a:r>
              <a:rPr lang="en-US" sz="800" b="1" spc="100" kern="0" dirty="0">
                <a:solidFill>
                  <a:srgbClr val="0F1318"/>
                </a:solidFill>
                <a:latin typeface="Calibri" pitchFamily="34" charset="0"/>
                <a:ea typeface="Calibri" pitchFamily="34" charset="-122"/>
                <a:cs typeface="Calibri" pitchFamily="34" charset="-120"/>
              </a:rPr>
              <a:t>SETTLED</a:t>
            </a:r>
            <a:endParaRPr lang="en-US" sz="800" dirty="0"/>
          </a:p>
        </p:txBody>
      </p:sp>
      <p:sp>
        <p:nvSpPr>
          <p:cNvPr id="76" name="Text 73"/>
          <p:cNvSpPr txBox="1"/>
          <p:nvPr/>
        </p:nvSpPr>
        <p:spPr>
          <a:xfrm>
            <a:off x="1280160" y="4983480"/>
            <a:ext cx="9052560" cy="868680"/>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Platform &amp; governance, across both clocks.  </a:t>
            </a:r>
            <a:pPr indent="0" marL="0">
              <a:buNone/>
            </a:pPr>
            <a:r>
              <a:rPr lang="en-US" sz="1150" dirty="0">
                <a:solidFill>
                  <a:srgbClr val="A3AEBB"/>
                </a:solidFill>
                <a:latin typeface="Calibri" pitchFamily="34" charset="0"/>
                <a:ea typeface="Calibri" pitchFamily="34" charset="-122"/>
                <a:cs typeface="Calibri" pitchFamily="34" charset="-120"/>
              </a:rPr>
              <a:t>The architecture document and decision log (G1), entitlements, trace, retention, degraded modes, golden scenarios and operations.</a:t>
            </a:r>
            <a:endParaRPr lang="en-US" sz="1150" dirty="0"/>
          </a:p>
        </p:txBody>
      </p:sp>
      <p:sp>
        <p:nvSpPr>
          <p:cNvPr id="77" name="Text 74"/>
          <p:cNvSpPr txBox="1"/>
          <p:nvPr/>
        </p:nvSpPr>
        <p:spPr>
          <a:xfrm>
            <a:off x="457200" y="6053328"/>
            <a:ext cx="7315200" cy="274320"/>
          </a:xfrm>
          <a:prstGeom prst="rect">
            <a:avLst/>
          </a:prstGeom>
          <a:noFill/>
          <a:ln/>
        </p:spPr>
        <p:txBody>
          <a:bodyPr wrap="square" lIns="0" tIns="0" rIns="0" bIns="0" rtlCol="0" anchor="t"/>
          <a:lstStyle/>
          <a:p>
            <a:pPr indent="0" marL="0">
              <a:buNone/>
            </a:pPr>
            <a:r>
              <a:rPr lang="en-US" sz="1000" dirty="0">
                <a:solidFill>
                  <a:srgbClr val="A3AEBB"/>
                </a:solidFill>
                <a:latin typeface="Calibri" pitchFamily="34" charset="0"/>
                <a:ea typeface="Calibri" pitchFamily="34" charset="-122"/>
                <a:cs typeface="Calibri" pitchFamily="34" charset="-120"/>
              </a:rPr>
              <a:t>All seven sections are settled: 1–5 on 29 September, 6 and 7 on 30 September.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45720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DECISION LOG</a:t>
            </a:r>
            <a:endParaRPr lang="en-US" sz="1100" dirty="0"/>
          </a:p>
        </p:txBody>
      </p:sp>
      <p:sp>
        <p:nvSpPr>
          <p:cNvPr id="3" name="Text 1"/>
          <p:cNvSpPr txBox="1"/>
          <p:nvPr/>
        </p:nvSpPr>
        <p:spPr>
          <a:xfrm>
            <a:off x="457200" y="566928"/>
            <a:ext cx="1127729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Decision log (1 of 7): before the series, and Section 1</a:t>
            </a:r>
            <a:endParaRPr lang="en-US" sz="2800" dirty="0"/>
          </a:p>
        </p:txBody>
      </p:sp>
      <p:sp>
        <p:nvSpPr>
          <p:cNvPr id="4" name="Text 2"/>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594360"/>
                <a:gridCol w="8485632"/>
                <a:gridCol w="2194560"/>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001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Engine 1.5C (WACS54) retired; replaced by the Engine 1.5E router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File A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002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JSONB54 and FREQ54 removed; MCD regime outputs carry the state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003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54-bar rule dropped: each MCD reads its own window; the LLM gets 1 day of M5 + M15 OHLC</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004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Engine 3 = 2-panel M5 / M15 PNG, overlay and standard variants, private R2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10–11 Sep manifests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005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Engine 2 index = local txtai files, rebuilt on every deploy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006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Charts are rendered on a schedule, never on demand (&lt;120 ms retrieval budget)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R2 manifest §8</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007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Architecture finalised section by section, one deck per section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008</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Stack D cycle key = 5-minute slot time (UTC); collection cycle ids kept as provenance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1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009</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Push worker sends a cycle manifest; the gateway checks it, writes market_cycles and triggers Section 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1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010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Active indicator = admin setting per timeframe, effective from a slot (M15 non_b, M5 best_fit_a)</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1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011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Still-open bar kept out of sensors and OHLC; exposed once as a labelled last price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1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012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Cycle ready ≤ 2 min (≤ 4 with retries); STALE after 10 min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1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45720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DECISION LOG</a:t>
            </a:r>
            <a:endParaRPr lang="en-US" sz="1100" dirty="0"/>
          </a:p>
        </p:txBody>
      </p:sp>
      <p:sp>
        <p:nvSpPr>
          <p:cNvPr id="3" name="Text 1"/>
          <p:cNvSpPr txBox="1"/>
          <p:nvPr/>
        </p:nvSpPr>
        <p:spPr>
          <a:xfrm>
            <a:off x="457200" y="566928"/>
            <a:ext cx="1127729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Decision log (2 of 7): Section 1 continued, and Section 2</a:t>
            </a:r>
            <a:endParaRPr lang="en-US" sz="2800" dirty="0"/>
          </a:p>
        </p:txBody>
      </p:sp>
      <p:sp>
        <p:nvSpPr>
          <p:cNvPr id="4" name="Text 2"/>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594360"/>
                <a:gridCol w="8485632"/>
                <a:gridCol w="2194560"/>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013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The cycle’s newest bars are pushed first; throughput measured alongside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1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014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Charts stay rendered on the VPS, stamped per slot, last good image kept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1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015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A promote marks cycles RETUNING until the re-pushed window completes; sensors report CAUTIONARY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F0A54A"/>
                          </a:solidFill>
                          <a:latin typeface="Calibri" pitchFamily="34" charset="0"/>
                          <a:ea typeface="Calibri" pitchFamily="34" charset="-122"/>
                          <a:cs typeface="Calibri" pitchFamily="34" charset="-120"/>
                        </a:rPr>
                        <a:t>Section 1 · proposed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016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Sensor worker runs on Railway, started by Section 1’s cycle-ready job</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2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017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Every MCD returns envelope v1; bias = LONG · SHORT · NEUTRAL · STAND_ASIDE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2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018</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The 4-Quadrant gate becomes MCD0 per timeframe; channel MCDs inherit its CAUTIONARY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2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019</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R² thresholds per model: A ≥ 0.70, B ≥ 0.65 (file C)</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2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020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Live readings on market_data_v6; certification on point-in-time replay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2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021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MCD3 reads MCD1 / MCD2 readings from the same cycle instead of recomputing them</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2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022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A state’s numbers are quoted only with n ≥ 30 per state and horizon, always shown with 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2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023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MCD1 same-slope breakout fires on the latest bar (certified behaviour); mcd1.md corrected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2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024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Neutral state names; no probability words until measured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2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45720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DECISION LOG</a:t>
            </a:r>
            <a:endParaRPr lang="en-US" sz="1100" dirty="0"/>
          </a:p>
        </p:txBody>
      </p:sp>
      <p:sp>
        <p:nvSpPr>
          <p:cNvPr id="3" name="Text 1"/>
          <p:cNvSpPr txBox="1"/>
          <p:nvPr/>
        </p:nvSpPr>
        <p:spPr>
          <a:xfrm>
            <a:off x="457200" y="566928"/>
            <a:ext cx="1127729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Decision log (3 of 7): Section 3, and Section 4 begins</a:t>
            </a:r>
            <a:endParaRPr lang="en-US" sz="2800" dirty="0"/>
          </a:p>
        </p:txBody>
      </p:sp>
      <p:sp>
        <p:nvSpPr>
          <p:cNvPr id="4" name="Text 2"/>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594360"/>
                <a:gridCol w="8485632"/>
                <a:gridCol w="2194560"/>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025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Direction comes from the synthesis rules table; the LLM explains and can’t override stand-aside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3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026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Rules: ordered, versioned file; first match wins; no match = NEUTRAL, logged; draft as a start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3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027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Synthesis runs in the sensor worker right after Section 2, in the same cycle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3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028</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Two synthesis readings per cycle: Day Trader (M15 + M5) and Scalper (M5)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3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029</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Precedence follows file A’s ladder; derived sensors modify, don’t vote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3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030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sr_1–sr_16 used as context levels until an S&amp;R sensor exists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3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031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Zone half-width = 10% of the source channel width; overlapping zones merge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3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032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Invalidation = $0.50 beyond the next structural level, never under $13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3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033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Modal price pills = one reference price per zone, best first; fewer if fewer qualify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3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034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Custom entry within the 1-day range widened by half its height; ±5% stays as a typo filter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3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035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No confidence grades until state statistics exist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3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036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Routing v1 = dispatch matrix (intent × states) + labelled set; vector routing only if it wins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4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45720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DECISION LOG</a:t>
            </a:r>
            <a:endParaRPr lang="en-US" sz="1100" dirty="0"/>
          </a:p>
        </p:txBody>
      </p:sp>
      <p:sp>
        <p:nvSpPr>
          <p:cNvPr id="3" name="Text 1"/>
          <p:cNvSpPr txBox="1"/>
          <p:nvPr/>
        </p:nvSpPr>
        <p:spPr>
          <a:xfrm>
            <a:off x="457200" y="566928"/>
            <a:ext cx="1127729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Decision log (4 of 7): Section 4 continued, and Section 5 begins</a:t>
            </a:r>
            <a:endParaRPr lang="en-US" sz="2800" dirty="0"/>
          </a:p>
        </p:txBody>
      </p:sp>
      <p:sp>
        <p:nvSpPr>
          <p:cNvPr id="4" name="Text 2"/>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594360"/>
                <a:gridCol w="8485632"/>
                <a:gridCol w="2194560"/>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Fixed list of eight intent labels; instant prompts carry their own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4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038</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English pivot with a trading glossary; the answer comes back in the user’s language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4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039</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One small model call returns language, English text, intent, symbols and timeframes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4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040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Sensor board = synthesis line + every sensor; unavailable sensors listed as such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4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041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Primary sensor and any opposing or stand-aside sensor always sent in full</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4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042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Corpus drafted from existing specs; you approve each domain before its first build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4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043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Retrieval query = intent template + state codes + English question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4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Tests: routing ≥ 90% · recall@4 ≥ 0.8 · every language within 5 points of English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4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045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Embedding model stays an English MiniLM-class model</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4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046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Deterministic out-of-scope check before any reasoning; fixed replies in 16 languages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4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047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1-day OHLC sent in full, compact form, shared and cached; summary only when a cap forces it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5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048</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Caps per prompt component; cut history → knowledge → OHLC → sensor details; board and warnings never cut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5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45720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DECISION LOG</a:t>
            </a:r>
            <a:endParaRPr lang="en-US" sz="1100" dirty="0"/>
          </a:p>
        </p:txBody>
      </p:sp>
      <p:sp>
        <p:nvSpPr>
          <p:cNvPr id="3" name="Text 1"/>
          <p:cNvSpPr txBox="1"/>
          <p:nvPr/>
        </p:nvSpPr>
        <p:spPr>
          <a:xfrm>
            <a:off x="457200" y="566928"/>
            <a:ext cx="1127729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Decision log (5 of 7): Section 5 continued, and Section 6 begins</a:t>
            </a:r>
            <a:endParaRPr lang="en-US" sz="2800" dirty="0"/>
          </a:p>
        </p:txBody>
      </p:sp>
      <p:sp>
        <p:nvSpPr>
          <p:cNvPr id="4" name="Text 2"/>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594360"/>
                <a:gridCol w="8485632"/>
                <a:gridCol w="2194560"/>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049</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Prompt order: static rules → shared cycle block → this user’s part, cached where supported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5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050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Units from each call’s actual cost; worst case reserved before calling; tiers set from measurement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5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051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Answer gate by data status; a chart from another cycle is dropped; every reply stamped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5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052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Report 1 = report1.v1 JSON; direction copied from synthesis; values filled by id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5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053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Every number matched to the context within $0.05; regenerate once, then flag</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5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054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Replies shown only after their checks, with progress stages; Report 1 ≤ 15 s p90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5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055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Launch with one default and one fallback model, both passing the evaluation suite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5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056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Wording guide and phrase lists in 16 languages, checked on every reply; counsel review</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5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057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Follow-ups reuse the cached cycle block; changes stated; history = 10 messages + summary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5 · 29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058</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Report 2 offered only with a synthesis direction on a usable cycle, outside a blackout; else the reason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6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Setup pinned to Report 1’s cycle; refused past invalidation; a changed synthesis offers a refresh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6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060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Blackout ±15 min around file A’s Tier-1 list (±60 if approximate); other releases warn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6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45720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DECISION LOG</a:t>
            </a:r>
            <a:endParaRPr lang="en-US" sz="1100" dirty="0"/>
          </a:p>
        </p:txBody>
      </p:sp>
      <p:sp>
        <p:nvSpPr>
          <p:cNvPr id="3" name="Text 1"/>
          <p:cNvSpPr txBox="1"/>
          <p:nvPr/>
        </p:nvSpPr>
        <p:spPr>
          <a:xfrm>
            <a:off x="457200" y="566928"/>
            <a:ext cx="1127729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Decision log (6 of 7): Section 6 continued, and Section 7 begins</a:t>
            </a:r>
            <a:endParaRPr lang="en-US" sz="2800" dirty="0"/>
          </a:p>
        </p:txBody>
      </p:sp>
      <p:sp>
        <p:nvSpPr>
          <p:cNvPr id="4" name="Text 2"/>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594360"/>
                <a:gridCol w="8485632"/>
                <a:gridCol w="2194560"/>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061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CAUTIONARY pre-sets half the risk with the reason; override allowed and logged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6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062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Stop options = distances to structural invalidation levels ≥ Min SLD, plus custom</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6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063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Badge from the synthesis table and room to the next level; no badge when nothing fits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6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064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Setup outside the trader’s style: offered with a notice; counter-trend caps follow the setup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6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065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RRR = net profit ÷ actual loss, after commission; declared and actual risk both shown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6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066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symbol_specs from MT5; spread applied where each price triggers; swap shown for Day Traders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6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067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Chat-typed setups pre-fill the modal; one validator for both paths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6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068</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Report 2 = Engine 4 + a fixed template in 16 languages; no model writes it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6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069</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Consent record per action; “Accept setup”; history kept, hashed, after deletion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6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070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One architecture document from the seven decks; docs/adr/; SUPERSEDED banners on files A–I</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7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071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Engines named by function; old engine numbers kept as aliases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7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072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Free tier: no AI chat; a recorded demo conversation instead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7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45720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DECISION LOG</a:t>
            </a:r>
            <a:endParaRPr lang="en-US" sz="1100" dirty="0"/>
          </a:p>
        </p:txBody>
      </p:sp>
      <p:sp>
        <p:nvSpPr>
          <p:cNvPr id="3" name="Text 1"/>
          <p:cNvSpPr txBox="1"/>
          <p:nvPr/>
        </p:nvSpPr>
        <p:spPr>
          <a:xfrm>
            <a:off x="457200" y="566928"/>
            <a:ext cx="1127729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Decision log (7 of 7): Section 7 continued</a:t>
            </a:r>
            <a:endParaRPr lang="en-US" sz="2800" dirty="0"/>
          </a:p>
        </p:txBody>
      </p:sp>
      <p:sp>
        <p:nvSpPr>
          <p:cNvPr id="4" name="Text 2"/>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594360"/>
                <a:gridCol w="8485632"/>
                <a:gridCol w="2194560"/>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Source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073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Pro quota = (Pro price × model-spend share) ÷ measured cost per unit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7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074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One entitlement table in config, read by every gate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7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075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One trace per answer; 90 days live, then archived with the audit rows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7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076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Retention: 7 years for audit rows; chat transcripts 12 months, deletable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7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077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No equity or commission in prompts; approved model providers only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7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078</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One degraded-mode table; every row has a test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7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079</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About 24 golden scenarios you approve, replayed on every change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7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080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One admin page and five alerts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7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65760">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081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Safety texts in all 16 languages before release; right-to-left tested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Section 7 · 30 Sep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45720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CORRECTIONS</a:t>
            </a:r>
            <a:endParaRPr lang="en-US" sz="1100" dirty="0"/>
          </a:p>
        </p:txBody>
      </p:sp>
      <p:sp>
        <p:nvSpPr>
          <p:cNvPr id="3" name="Text 1"/>
          <p:cNvSpPr txBox="1"/>
          <p:nvPr/>
        </p:nvSpPr>
        <p:spPr>
          <a:xfrm>
            <a:off x="457200" y="566928"/>
            <a:ext cx="1127729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Corrections found on the way</a:t>
            </a:r>
            <a:endParaRPr lang="en-US" sz="2800" dirty="0"/>
          </a:p>
        </p:txBody>
      </p:sp>
      <p:sp>
        <p:nvSpPr>
          <p:cNvPr id="4" name="Text 2"/>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16</a:t>
            </a:r>
            <a:endParaRPr lang="en-US" sz="1000" dirty="0"/>
          </a:p>
        </p:txBody>
      </p:sp>
      <p:sp>
        <p:nvSpPr>
          <p:cNvPr id="6" name="Shape 3"/>
          <p:cNvSpPr/>
          <p:nvPr/>
        </p:nvSpPr>
        <p:spPr>
          <a:xfrm>
            <a:off x="457200" y="1371600"/>
            <a:ext cx="5513832" cy="1389888"/>
          </a:xfrm>
          <a:prstGeom prst="roundRect">
            <a:avLst>
              <a:gd name="adj" fmla="val 4605"/>
            </a:avLst>
          </a:prstGeom>
          <a:solidFill>
            <a:srgbClr val="1D242E"/>
          </a:solidFill>
          <a:ln w="9525">
            <a:solidFill>
              <a:srgbClr val="323C49"/>
            </a:solidFill>
            <a:prstDash val="solid"/>
          </a:ln>
        </p:spPr>
      </p:sp>
      <p:sp>
        <p:nvSpPr>
          <p:cNvPr id="7" name="Text 4"/>
          <p:cNvSpPr txBox="1"/>
          <p:nvPr/>
        </p:nvSpPr>
        <p:spPr>
          <a:xfrm>
            <a:off x="640080" y="1499616"/>
            <a:ext cx="5120640" cy="329184"/>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Python calc stack</a:t>
            </a:r>
            <a:endParaRPr lang="en-US" sz="1300" dirty="0"/>
          </a:p>
        </p:txBody>
      </p:sp>
      <p:sp>
        <p:nvSpPr>
          <p:cNvPr id="8" name="Text 5"/>
          <p:cNvSpPr txBox="1"/>
          <p:nvPr/>
        </p:nvSpPr>
        <p:spPr>
          <a:xfrm>
            <a:off x="640080" y="1883664"/>
            <a:ext cx="5148072" cy="841248"/>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Parked on 9 Sep. MQL5 computes every value; the collector validates and forwards.</a:t>
            </a:r>
            <a:endParaRPr lang="en-US" sz="1150" dirty="0"/>
          </a:p>
        </p:txBody>
      </p:sp>
      <p:sp>
        <p:nvSpPr>
          <p:cNvPr id="9" name="Shape 6"/>
          <p:cNvSpPr/>
          <p:nvPr/>
        </p:nvSpPr>
        <p:spPr>
          <a:xfrm>
            <a:off x="6126480" y="1371600"/>
            <a:ext cx="5513832" cy="1389888"/>
          </a:xfrm>
          <a:prstGeom prst="roundRect">
            <a:avLst>
              <a:gd name="adj" fmla="val 4605"/>
            </a:avLst>
          </a:prstGeom>
          <a:solidFill>
            <a:srgbClr val="1D242E"/>
          </a:solidFill>
          <a:ln w="9525">
            <a:solidFill>
              <a:srgbClr val="323C49"/>
            </a:solidFill>
            <a:prstDash val="solid"/>
          </a:ln>
        </p:spPr>
      </p:sp>
      <p:sp>
        <p:nvSpPr>
          <p:cNvPr id="10" name="Text 7"/>
          <p:cNvSpPr txBox="1"/>
          <p:nvPr/>
        </p:nvSpPr>
        <p:spPr>
          <a:xfrm>
            <a:off x="6309360" y="1499616"/>
            <a:ext cx="5120640" cy="329184"/>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Export timing</a:t>
            </a:r>
            <a:endParaRPr lang="en-US" sz="1300" dirty="0"/>
          </a:p>
        </p:txBody>
      </p:sp>
      <p:sp>
        <p:nvSpPr>
          <p:cNvPr id="11" name="Text 8"/>
          <p:cNvSpPr txBox="1"/>
          <p:nvPr/>
        </p:nvSpPr>
        <p:spPr>
          <a:xfrm>
            <a:off x="6309360" y="1883664"/>
            <a:ext cx="5148072" cy="841248"/>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Every minute at :59. The collector reads every 5 minutes at :05; M15 on 15-minute boundaries.</a:t>
            </a:r>
            <a:endParaRPr lang="en-US" sz="1150" dirty="0"/>
          </a:p>
        </p:txBody>
      </p:sp>
      <p:sp>
        <p:nvSpPr>
          <p:cNvPr id="12" name="Shape 9"/>
          <p:cNvSpPr/>
          <p:nvPr/>
        </p:nvSpPr>
        <p:spPr>
          <a:xfrm>
            <a:off x="457200" y="2907792"/>
            <a:ext cx="5513832" cy="1389888"/>
          </a:xfrm>
          <a:prstGeom prst="roundRect">
            <a:avLst>
              <a:gd name="adj" fmla="val 4605"/>
            </a:avLst>
          </a:prstGeom>
          <a:solidFill>
            <a:srgbClr val="1D242E"/>
          </a:solidFill>
          <a:ln w="9525">
            <a:solidFill>
              <a:srgbClr val="323C49"/>
            </a:solidFill>
            <a:prstDash val="solid"/>
          </a:ln>
        </p:spPr>
      </p:sp>
      <p:sp>
        <p:nvSpPr>
          <p:cNvPr id="13" name="Text 10"/>
          <p:cNvSpPr txBox="1"/>
          <p:nvPr/>
        </p:nvSpPr>
        <p:spPr>
          <a:xfrm>
            <a:off x="640080" y="3035808"/>
            <a:ext cx="5120640" cy="329184"/>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Cycle ID</a:t>
            </a:r>
            <a:endParaRPr lang="en-US" sz="1300" dirty="0"/>
          </a:p>
        </p:txBody>
      </p:sp>
      <p:sp>
        <p:nvSpPr>
          <p:cNvPr id="14" name="Text 11"/>
          <p:cNvSpPr txBox="1"/>
          <p:nvPr/>
        </p:nvSpPr>
        <p:spPr>
          <a:xfrm>
            <a:off x="640080" y="3419856"/>
            <a:ext cx="5148072" cy="841248"/>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 collection cycle_id exists, per timeframe and attempt. What Stack D lacked was one key across timeframes (now decision 008).</a:t>
            </a:r>
            <a:endParaRPr lang="en-US" sz="1150" dirty="0"/>
          </a:p>
        </p:txBody>
      </p:sp>
      <p:sp>
        <p:nvSpPr>
          <p:cNvPr id="15" name="Shape 12"/>
          <p:cNvSpPr/>
          <p:nvPr/>
        </p:nvSpPr>
        <p:spPr>
          <a:xfrm>
            <a:off x="6126480" y="2907792"/>
            <a:ext cx="5513832" cy="1389888"/>
          </a:xfrm>
          <a:prstGeom prst="roundRect">
            <a:avLst>
              <a:gd name="adj" fmla="val 4605"/>
            </a:avLst>
          </a:prstGeom>
          <a:solidFill>
            <a:srgbClr val="1D242E"/>
          </a:solidFill>
          <a:ln w="9525">
            <a:solidFill>
              <a:srgbClr val="323C49"/>
            </a:solidFill>
            <a:prstDash val="solid"/>
          </a:ln>
        </p:spPr>
      </p:sp>
      <p:sp>
        <p:nvSpPr>
          <p:cNvPr id="16" name="Text 13"/>
          <p:cNvSpPr txBox="1"/>
          <p:nvPr/>
        </p:nvSpPr>
        <p:spPr>
          <a:xfrm>
            <a:off x="6309360" y="3035808"/>
            <a:ext cx="5120640" cy="329184"/>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MCD1–3 outputs</a:t>
            </a:r>
            <a:endParaRPr lang="en-US" sz="1300" dirty="0"/>
          </a:p>
        </p:txBody>
      </p:sp>
      <p:sp>
        <p:nvSpPr>
          <p:cNvPr id="17" name="Text 14"/>
          <p:cNvSpPr txBox="1"/>
          <p:nvPr/>
        </p:nvSpPr>
        <p:spPr>
          <a:xfrm>
            <a:off x="6309360" y="3419856"/>
            <a:ext cx="5148072" cy="841248"/>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Not from the live pipeline: the blueprint (22 Sep) says it has not yet written a row to production PostgreSQL. MCD evaluators read an Excel replica.</a:t>
            </a:r>
            <a:endParaRPr lang="en-US" sz="1150" dirty="0"/>
          </a:p>
        </p:txBody>
      </p:sp>
      <p:sp>
        <p:nvSpPr>
          <p:cNvPr id="18" name="Shape 15"/>
          <p:cNvSpPr/>
          <p:nvPr/>
        </p:nvSpPr>
        <p:spPr>
          <a:xfrm>
            <a:off x="457200" y="4443984"/>
            <a:ext cx="5513832" cy="1389888"/>
          </a:xfrm>
          <a:prstGeom prst="roundRect">
            <a:avLst>
              <a:gd name="adj" fmla="val 4605"/>
            </a:avLst>
          </a:prstGeom>
          <a:solidFill>
            <a:srgbClr val="1D242E"/>
          </a:solidFill>
          <a:ln w="9525">
            <a:solidFill>
              <a:srgbClr val="323C49"/>
            </a:solidFill>
            <a:prstDash val="solid"/>
          </a:ln>
        </p:spPr>
      </p:sp>
      <p:sp>
        <p:nvSpPr>
          <p:cNvPr id="19" name="Text 16"/>
          <p:cNvSpPr txBox="1"/>
          <p:nvPr/>
        </p:nvSpPr>
        <p:spPr>
          <a:xfrm>
            <a:off x="640080" y="4572000"/>
            <a:ext cx="5120640" cy="329184"/>
          </a:xfrm>
          <a:prstGeom prst="rect">
            <a:avLst/>
          </a:prstGeom>
          <a:noFill/>
          <a:ln/>
        </p:spPr>
        <p:txBody>
          <a:bodyPr wrap="square" lIns="0" tIns="0" rIns="0" bIns="0" rtlCol="0" anchor="ctr"/>
          <a:lstStyle/>
          <a:p>
            <a:pPr indent="0" marL="0">
              <a:buNone/>
            </a:pPr>
            <a:r>
              <a:rPr lang="en-US" sz="1300" b="1" dirty="0">
                <a:solidFill>
                  <a:srgbClr val="EEF1F4"/>
                </a:solidFill>
                <a:latin typeface="Calibri" pitchFamily="34" charset="0"/>
                <a:ea typeface="Calibri" pitchFamily="34" charset="-122"/>
                <a:cs typeface="Calibri" pitchFamily="34" charset="-120"/>
              </a:rPr>
              <a:t>Host</a:t>
            </a:r>
            <a:endParaRPr lang="en-US" sz="1300" dirty="0"/>
          </a:p>
        </p:txBody>
      </p:sp>
      <p:sp>
        <p:nvSpPr>
          <p:cNvPr id="20" name="Text 17"/>
          <p:cNvSpPr txBox="1"/>
          <p:nvPr/>
        </p:nvSpPr>
        <p:spPr>
          <a:xfrm>
            <a:off x="640080" y="4956048"/>
            <a:ext cx="5148072" cy="841248"/>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The blueprint names a Vultr Windows server; “Contabo” survives in folder names.</a:t>
            </a:r>
            <a:endParaRPr lang="en-US" sz="1150" dirty="0"/>
          </a:p>
        </p:txBody>
      </p:sp>
      <p:sp>
        <p:nvSpPr>
          <p:cNvPr id="21" name="Shape 18"/>
          <p:cNvSpPr/>
          <p:nvPr/>
        </p:nvSpPr>
        <p:spPr>
          <a:xfrm>
            <a:off x="6126480" y="4443984"/>
            <a:ext cx="5513832" cy="1389888"/>
          </a:xfrm>
          <a:prstGeom prst="roundRect">
            <a:avLst>
              <a:gd name="adj" fmla="val 4605"/>
            </a:avLst>
          </a:prstGeom>
          <a:solidFill>
            <a:srgbClr val="1D242E"/>
          </a:solidFill>
          <a:ln w="15875">
            <a:solidFill>
              <a:srgbClr val="E2B54E"/>
            </a:solidFill>
            <a:prstDash val="solid"/>
          </a:ln>
        </p:spPr>
      </p:sp>
      <p:sp>
        <p:nvSpPr>
          <p:cNvPr id="22" name="Text 19"/>
          <p:cNvSpPr txBox="1"/>
          <p:nvPr/>
        </p:nvSpPr>
        <p:spPr>
          <a:xfrm>
            <a:off x="6309360" y="4572000"/>
            <a:ext cx="5120640" cy="329184"/>
          </a:xfrm>
          <a:prstGeom prst="rect">
            <a:avLst/>
          </a:prstGeom>
          <a:noFill/>
          <a:ln/>
        </p:spPr>
        <p:txBody>
          <a:bodyPr wrap="square" lIns="0" tIns="0" rIns="0" bIns="0" rtlCol="0" anchor="ctr"/>
          <a:lstStyle/>
          <a:p>
            <a:pPr indent="0" marL="0">
              <a:buNone/>
            </a:pPr>
            <a:r>
              <a:rPr lang="en-US" sz="1300" b="1" dirty="0">
                <a:solidFill>
                  <a:srgbClr val="E2B54E"/>
                </a:solidFill>
                <a:latin typeface="Calibri" pitchFamily="34" charset="0"/>
                <a:ea typeface="Calibri" pitchFamily="34" charset="-122"/>
                <a:cs typeface="Calibri" pitchFamily="34" charset="-120"/>
              </a:rPr>
              <a:t>Language (B3)</a:t>
            </a:r>
            <a:endParaRPr lang="en-US" sz="1300" dirty="0"/>
          </a:p>
        </p:txBody>
      </p:sp>
      <p:sp>
        <p:nvSpPr>
          <p:cNvPr id="23" name="Text 20"/>
          <p:cNvSpPr txBox="1"/>
          <p:nvPr/>
        </p:nvSpPr>
        <p:spPr>
          <a:xfrm>
            <a:off x="6309360" y="4956048"/>
            <a:ext cx="5148072" cy="841248"/>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The review singled out Thai because file A’s only example question is Thai. DavinTrade serves 16 languages, so B3 now covers all 16 with English as the single pivot.</a:t>
            </a:r>
            <a:endParaRPr lang="en-US" sz="1150" dirty="0"/>
          </a:p>
        </p:txBody>
      </p:sp>
      <p:sp>
        <p:nvSpPr>
          <p:cNvPr id="24" name="Text 21"/>
          <p:cNvSpPr txBox="1"/>
          <p:nvPr/>
        </p:nvSpPr>
        <p:spPr>
          <a:xfrm>
            <a:off x="457200" y="6053328"/>
            <a:ext cx="10972800" cy="320040"/>
          </a:xfrm>
          <a:prstGeom prst="rect">
            <a:avLst/>
          </a:prstGeom>
          <a:noFill/>
          <a:ln/>
        </p:spPr>
        <p:txBody>
          <a:bodyPr wrap="square" lIns="0" tIns="0" rIns="0" bIns="0" rtlCol="0" anchor="t"/>
          <a:lstStyle/>
          <a:p>
            <a:pPr indent="0" marL="0">
              <a:buNone/>
            </a:pPr>
            <a:r>
              <a:rPr lang="en-US" sz="1200" b="1" dirty="0">
                <a:solidFill>
                  <a:srgbClr val="E2B54E"/>
                </a:solidFill>
                <a:latin typeface="Calibri" pitchFamily="34" charset="0"/>
                <a:ea typeface="Calibri" pitchFamily="34" charset="-122"/>
                <a:cs typeface="Calibri" pitchFamily="34" charset="-120"/>
              </a:rPr>
              <a:t>Delivered with this update: STACK-D-ARCHITECTURE.md and the decision log as docs/adr/ files.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Stack D Revised Architecture — Section Map</dc:title>
  <dc:subject>PptxGenJS Presentation</dc:subject>
  <dc:creator>DavinTrade</dc:creator>
  <cp:lastModifiedBy>DavinTrade</cp:lastModifiedBy>
  <cp:revision>1</cp:revision>
  <dcterms:created xsi:type="dcterms:W3CDTF">2026-09-29T17:20:03Z</dcterms:created>
  <dcterms:modified xsi:type="dcterms:W3CDTF">2026-09-29T17:20:03Z</dcterms:modified>
</cp:coreProperties>
</file>