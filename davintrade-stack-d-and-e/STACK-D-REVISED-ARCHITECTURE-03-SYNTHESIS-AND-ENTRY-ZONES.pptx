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3 of the section series. The seed idea calls synthesis the "secret sauce" and the MCD manifests say it is designed and directed by you. So this deck fixes the mechanism (inputs, rule format, precedence, zones, outputs) and offers a draft rule table only as a starting point for you to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closes the every-cycle clock: after it runs, the cycle snapshot is complete and user requests can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synthesis seed idea §2-§5 (three tiers; Engine 1.5B state tensor keyed by cycle_timestamp; Engine 1.5C scenario classifier and WACS confidence tiers S/A/B/NEUTRAL; a deterministic strategy generator producing bias, entry zone, stop, TP1/TP2 and R:R; archetypes A-D). File A §1.2 retires WACS54; domain 3 sets M15 structure (MCD1) for direction and M5 for entry timing, and the precedence M15 structure &gt; horizontal S&amp;R &gt; geometric trendline &gt; sub-window oscillators; domain 4 places stops behind structure (e.g. $0.50 below LOEDT or beneath sr_1); counter-trend RRR is capped at 2.50x. File G §2 input 2: five pre-populated entry prices from the Entry Price Zone Calculation Engine, specified in a companion document that does not exist; the example is a $2.50 ladder. Engine 4 §1.3: Day Trader = M15 structure + M5 trigger; Scalper = M5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1 file A §1.2 (WACS54 retired) and decision 002 (JSONB54 / FREQ54 removed); the seed’s strategy generator is described but not specified. 3 seed §2 names MCD3 as S&amp;R cluster zones, MCD4 as candle Z-score and MCD5 as ZigZag; the built MCD3 is consolidation + EDT stochastic. 4 Engine 4 §1.3. 5 file G §2.1. 7 MCD1 outputs only M15 UOEDT / LOEDT; MCD2 outputs M5 UOEDT / baseline / LOEDT; no MCD reads sr_1-sr_16. 8 seed archetype grades and blueprint confidence_score 0.94.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step runs in the same worker as Section 2, immediately after the sensor readings are saved, so the cycle snapshot is complete before any user asks. It runs twice per cycle, once per trader type in Engine 4, because the primary timeframe differs. User-specific filters (trading style, RRR caps, the user’s own stop limits) are applied later in Sections 5 and 6, which keeps the cycle output identical for every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precedence ladder is file A’s conflict-resolution hierarchy, with the primary timeframe set by trader type (Engine 4 §1.3). A sensor whose envelope says depends_on (MCD3) modifies a result (confirm or caution) instead of voting (review A7, decision 021). Rules are evaluated in a fixed order; order matters because some conditions overlap, for example a sustained counter-trend breach would otherwise also look like a trend continuation on M5.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draft to show the mechanism, not a trading recommendation. It rewrites the seed’s archetypes A-D using only MCD1-3 states that exist today. C is evaluated before A so that a sustained counter-trend breach is not read as continuation; B before A so that a climax is not bought. When MCD4+ (for example an S&amp;R or ZigZag sensor) exist, rules gain conditions the seed wanted (sr_1 test, higher low defended, Z-score climax). The rules file is versioned; each change is a new version and a decision-log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18 Sep example outputs (test data) and the draft rules. MCD1: M15 downtrend (angle -29.72 degrees) with a sustained breach above the M15 UOEDT (channel position 1.64), regime COUNTER_TREND_EXPANSION. MCD2: M5 uptrend (6.94 degrees), MCD2_UP_IN_CORRIDOR. MCD3: MCD3_NON_CONSOLIDATED_TREND_CONFLICT (M15 and M5 trends disagree). The MCD2 example was produced with a test override while two indicators were active, so it is used here only to show the mechanism. Section 6 then applies the trader’s style: a Trend-Following Day Trader sees the result labelled counter-trend, with the 2.50x reward-to-risk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18 Sep example outputs (test data) and the draft rules. Same envelope family as the sensors (decision 017) so Sections 4, 5 and 7 read it the same way. rules_version and rule_id make every past direction traceable to the rule that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missing STACK-D-ENTRY-PRICE-ZONE-CALCULATION-DOCUMENT.md. Structural stop buffer ($0.50 beyond the level) follows file A domain 4. Min SLD ($13) is Engine 4’s floor. Runway feeds review item E2 (Section 6): a target beyond the next opposing level is not recommended. Parameters marked as decisions are on the decisions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18 Sep example outputs (test data) and the draft rules. Levels from the MCD1 and MCD2 example outputs: M5 UOEDT 4384.28, M5 baseline 4367.25, M5 LOEDT 4350.22 (channel width 34.06, so half-width 3.41), M15 UOEDT 4279.21, M15 LOEDT 4125.99; last price 4377.99. Z1 invalidation = LOEDT 4350.22 - 0.50 = 4349.72, stop 17.53. Z2 invalidation = M15 UOEDT 4279.21 - 0.50 = 4278.71, stop 71.51. Runway for Z1 = 4384.28 - 4367.25 = 17.03, ratio 0.97; for Z2 the first opposing level is the M5 baseline, 17.03 above, ratio 0.24. Even the Conservative scenario needs about 1.5 x the stop, so neither zone has room before the next resistance. Support &amp; resistance levels between these lines would change both the stops and the runway.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revised synthesis and entry-zone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handoff is defined here once. User-specific filtering (style, caps, personal limits) happens in the receiving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eleven were settled on 29 Sep by adopting the suggestion; they are entries 025-035 in the decision log. The rule content remains yours: 3.2 settles the format and uses the draft only as a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checks for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640080" y="1188720"/>
            <a:ext cx="6583680" cy="274320"/>
          </a:xfrm>
          <a:prstGeom prst="rect">
            <a:avLst/>
          </a:prstGeom>
          <a:noFill/>
          <a:ln/>
        </p:spPr>
        <p:txBody>
          <a:bodyPr wrap="square" lIns="0" tIns="0" rIns="0" bIns="0" rtlCol="0" anchor="t"/>
          <a:lstStyle/>
          <a:p>
            <a:pPr indent="0" marL="0">
              <a:buNone/>
            </a:pPr>
            <a:r>
              <a:rPr lang="en-US" sz="1200" b="1" spc="300" kern="0" dirty="0">
                <a:solidFill>
                  <a:srgbClr val="E2B54E"/>
                </a:solidFill>
                <a:latin typeface="Calibri" pitchFamily="34" charset="0"/>
                <a:ea typeface="Calibri" pitchFamily="34" charset="-122"/>
                <a:cs typeface="Calibri" pitchFamily="34" charset="-120"/>
              </a:rPr>
              <a:t>STACK D  ·  REVISED ARCHITECTURE  ·  DECK 3 OF 7</a:t>
            </a:r>
            <a:endParaRPr lang="en-US" sz="1200" dirty="0"/>
          </a:p>
        </p:txBody>
      </p:sp>
      <p:sp>
        <p:nvSpPr>
          <p:cNvPr id="3" name="Text 1"/>
          <p:cNvSpPr txBox="1"/>
          <p:nvPr/>
        </p:nvSpPr>
        <p:spPr>
          <a:xfrm>
            <a:off x="640080" y="1572768"/>
            <a:ext cx="6035040" cy="1554480"/>
          </a:xfrm>
          <a:prstGeom prst="rect">
            <a:avLst/>
          </a:prstGeom>
          <a:noFill/>
          <a:ln/>
        </p:spPr>
        <p:txBody>
          <a:bodyPr wrap="square" lIns="0" tIns="0" rIns="0" bIns="0" rtlCol="0" anchor="t"/>
          <a:lstStyle/>
          <a:p>
            <a:pPr indent="0" marL="0">
              <a:buNone/>
            </a:pPr>
            <a:r>
              <a:rPr lang="en-US" sz="4000" b="1" dirty="0">
                <a:solidFill>
                  <a:srgbClr val="EEF1F4"/>
                </a:solidFill>
                <a:latin typeface="Cambria" pitchFamily="34" charset="0"/>
                <a:ea typeface="Cambria" pitchFamily="34" charset="-122"/>
                <a:cs typeface="Cambria" pitchFamily="34" charset="-120"/>
              </a:rPr>
              <a:t>Section 3 · Synthesis &amp; entry zones</a:t>
            </a:r>
            <a:endParaRPr lang="en-US" sz="4000" dirty="0"/>
          </a:p>
        </p:txBody>
      </p:sp>
      <p:sp>
        <p:nvSpPr>
          <p:cNvPr id="4" name="Text 2"/>
          <p:cNvSpPr txBox="1"/>
          <p:nvPr/>
        </p:nvSpPr>
        <p:spPr>
          <a:xfrm>
            <a:off x="640080" y="3291840"/>
            <a:ext cx="5760720" cy="1188720"/>
          </a:xfrm>
          <a:prstGeom prst="rect">
            <a:avLst/>
          </a:prstGeom>
          <a:noFill/>
          <a:ln/>
        </p:spPr>
        <p:txBody>
          <a:bodyPr wrap="square" lIns="0" tIns="0" rIns="0" bIns="0" rtlCol="0" anchor="t"/>
          <a:lstStyle/>
          <a:p>
            <a:pPr indent="0" marL="0">
              <a:buNone/>
            </a:pPr>
            <a:r>
              <a:rPr lang="en-US" sz="1700" dirty="0">
                <a:solidFill>
                  <a:srgbClr val="A3AEBB"/>
                </a:solidFill>
                <a:latin typeface="Calibri" pitchFamily="34" charset="0"/>
                <a:ea typeface="Calibri" pitchFamily="34" charset="-122"/>
                <a:cs typeface="Calibri" pitchFamily="34" charset="-120"/>
              </a:rPr>
              <a:t>Rules, not averages or the LLM, turn each cycle’s sensor readings into a bias, a reason and a short list of entry zones with their invalidation prices.</a:t>
            </a:r>
            <a:endParaRPr lang="en-US" sz="1700" dirty="0"/>
          </a:p>
        </p:txBody>
      </p:sp>
      <p:sp>
        <p:nvSpPr>
          <p:cNvPr id="5" name="Text 3"/>
          <p:cNvSpPr txBox="1"/>
          <p:nvPr/>
        </p:nvSpPr>
        <p:spPr>
          <a:xfrm>
            <a:off x="640080" y="4754880"/>
            <a:ext cx="5943600" cy="1371600"/>
          </a:xfrm>
          <a:prstGeom prst="rect">
            <a:avLst/>
          </a:prstGeom>
          <a:noFill/>
          <a:ln/>
        </p:spPr>
        <p:txBody>
          <a:bodyPr wrap="square" lIns="0" tIns="0" rIns="0" bIns="0" rtlCol="0" anchor="t"/>
          <a:lstStyle/>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Decisions 3.1–3.11 settled 29 September 2026</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Recommendations landing here: B6 · E1 (both P1)</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Builds on Section 1 rules and Section 2’s envelope (both settled 29 September)</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Sources: synthesis seed idea · file A (domains 3–4) · file G §2 · Engine 4 (trader types, styles) · MCD1–3 outputs</a:t>
            </a:r>
            <a:endParaRPr lang="en-US" sz="1200" dirty="0"/>
          </a:p>
        </p:txBody>
      </p:sp>
      <p:sp>
        <p:nvSpPr>
          <p:cNvPr id="6" name="Shape 4"/>
          <p:cNvSpPr/>
          <p:nvPr/>
        </p:nvSpPr>
        <p:spPr>
          <a:xfrm>
            <a:off x="6903720" y="1188720"/>
            <a:ext cx="4846320" cy="1700784"/>
          </a:xfrm>
          <a:prstGeom prst="roundRect">
            <a:avLst>
              <a:gd name="adj" fmla="val 3226"/>
            </a:avLst>
          </a:prstGeom>
          <a:solidFill>
            <a:srgbClr val="15302D"/>
          </a:solidFill>
          <a:ln w="9525">
            <a:solidFill>
              <a:srgbClr val="15302D"/>
            </a:solidFill>
            <a:prstDash val="solid"/>
          </a:ln>
        </p:spPr>
      </p:sp>
      <p:sp>
        <p:nvSpPr>
          <p:cNvPr id="7" name="Text 5"/>
          <p:cNvSpPr txBox="1"/>
          <p:nvPr/>
        </p:nvSpPr>
        <p:spPr>
          <a:xfrm>
            <a:off x="7031736" y="1261872"/>
            <a:ext cx="3004718"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8" name="Text 6"/>
          <p:cNvSpPr txBox="1"/>
          <p:nvPr/>
        </p:nvSpPr>
        <p:spPr>
          <a:xfrm>
            <a:off x="9084564" y="1261872"/>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9" name="Shape 7"/>
          <p:cNvSpPr/>
          <p:nvPr/>
        </p:nvSpPr>
        <p:spPr>
          <a:xfrm>
            <a:off x="7031736" y="1554480"/>
            <a:ext cx="1347216" cy="1207008"/>
          </a:xfrm>
          <a:prstGeom prst="roundRect">
            <a:avLst>
              <a:gd name="adj" fmla="val 5303"/>
            </a:avLst>
          </a:prstGeom>
          <a:solidFill>
            <a:srgbClr val="161C24"/>
          </a:solidFill>
          <a:ln w="9525">
            <a:solidFill>
              <a:srgbClr val="161C24"/>
            </a:solidFill>
            <a:prstDash val="solid"/>
          </a:ln>
        </p:spPr>
      </p:sp>
      <p:sp>
        <p:nvSpPr>
          <p:cNvPr id="10" name="Shape 8"/>
          <p:cNvSpPr/>
          <p:nvPr/>
        </p:nvSpPr>
        <p:spPr>
          <a:xfrm>
            <a:off x="7123176" y="1965960"/>
            <a:ext cx="384048" cy="384048"/>
          </a:xfrm>
          <a:prstGeom prst="ellipse">
            <a:avLst/>
          </a:prstGeom>
          <a:solidFill>
            <a:srgbClr val="6E7A88"/>
          </a:solidFill>
          <a:ln w="15875">
            <a:solidFill>
              <a:srgbClr val="6E7A88"/>
            </a:solidFill>
            <a:prstDash val="solid"/>
          </a:ln>
        </p:spPr>
      </p:sp>
      <p:sp>
        <p:nvSpPr>
          <p:cNvPr id="11" name="Text 9"/>
          <p:cNvSpPr txBox="1"/>
          <p:nvPr/>
        </p:nvSpPr>
        <p:spPr>
          <a:xfrm>
            <a:off x="7123176"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598664"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Market data &amp; chart</a:t>
            </a:r>
            <a:endParaRPr lang="en-US" sz="1000" dirty="0"/>
          </a:p>
        </p:txBody>
      </p:sp>
      <p:sp>
        <p:nvSpPr>
          <p:cNvPr id="13" name="Shape 11"/>
          <p:cNvSpPr/>
          <p:nvPr/>
        </p:nvSpPr>
        <p:spPr>
          <a:xfrm>
            <a:off x="8415528" y="2157984"/>
            <a:ext cx="201168" cy="0"/>
          </a:xfrm>
          <a:prstGeom prst="line">
            <a:avLst/>
          </a:prstGeom>
          <a:noFill/>
          <a:ln w="15875">
            <a:solidFill>
              <a:srgbClr val="323C49"/>
            </a:solidFill>
            <a:prstDash val="solid"/>
            <a:tailEnd type="triangle"/>
          </a:ln>
        </p:spPr>
      </p:sp>
      <p:sp>
        <p:nvSpPr>
          <p:cNvPr id="14" name="Shape 12"/>
          <p:cNvSpPr/>
          <p:nvPr/>
        </p:nvSpPr>
        <p:spPr>
          <a:xfrm>
            <a:off x="8653272" y="1554480"/>
            <a:ext cx="1347216" cy="1207008"/>
          </a:xfrm>
          <a:prstGeom prst="roundRect">
            <a:avLst>
              <a:gd name="adj" fmla="val 5303"/>
            </a:avLst>
          </a:prstGeom>
          <a:solidFill>
            <a:srgbClr val="161C24"/>
          </a:solidFill>
          <a:ln w="9525">
            <a:solidFill>
              <a:srgbClr val="161C24"/>
            </a:solidFill>
            <a:prstDash val="solid"/>
          </a:ln>
        </p:spPr>
      </p:sp>
      <p:sp>
        <p:nvSpPr>
          <p:cNvPr id="15" name="Shape 13"/>
          <p:cNvSpPr/>
          <p:nvPr/>
        </p:nvSpPr>
        <p:spPr>
          <a:xfrm>
            <a:off x="8744712" y="1965960"/>
            <a:ext cx="384048" cy="384048"/>
          </a:xfrm>
          <a:prstGeom prst="ellipse">
            <a:avLst/>
          </a:prstGeom>
          <a:solidFill>
            <a:srgbClr val="6E7A88"/>
          </a:solidFill>
          <a:ln w="15875">
            <a:solidFill>
              <a:srgbClr val="6E7A88"/>
            </a:solidFill>
            <a:prstDash val="solid"/>
          </a:ln>
        </p:spPr>
      </p:sp>
      <p:sp>
        <p:nvSpPr>
          <p:cNvPr id="16" name="Text 14"/>
          <p:cNvSpPr txBox="1"/>
          <p:nvPr/>
        </p:nvSpPr>
        <p:spPr>
          <a:xfrm>
            <a:off x="8744712"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9220200"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Sensors (MCDs)</a:t>
            </a:r>
            <a:endParaRPr lang="en-US" sz="1000" dirty="0"/>
          </a:p>
        </p:txBody>
      </p:sp>
      <p:sp>
        <p:nvSpPr>
          <p:cNvPr id="18" name="Shape 16"/>
          <p:cNvSpPr/>
          <p:nvPr/>
        </p:nvSpPr>
        <p:spPr>
          <a:xfrm>
            <a:off x="10037064" y="2157984"/>
            <a:ext cx="201168" cy="0"/>
          </a:xfrm>
          <a:prstGeom prst="line">
            <a:avLst/>
          </a:prstGeom>
          <a:noFill/>
          <a:ln w="15875">
            <a:solidFill>
              <a:srgbClr val="323C49"/>
            </a:solidFill>
            <a:prstDash val="solid"/>
            <a:tailEnd type="triangle"/>
          </a:ln>
        </p:spPr>
      </p:sp>
      <p:sp>
        <p:nvSpPr>
          <p:cNvPr id="19" name="Shape 17"/>
          <p:cNvSpPr/>
          <p:nvPr/>
        </p:nvSpPr>
        <p:spPr>
          <a:xfrm>
            <a:off x="10274808" y="1554480"/>
            <a:ext cx="1347216" cy="1207008"/>
          </a:xfrm>
          <a:prstGeom prst="roundRect">
            <a:avLst>
              <a:gd name="adj" fmla="val 5303"/>
            </a:avLst>
          </a:prstGeom>
          <a:solidFill>
            <a:srgbClr val="1D242E"/>
          </a:solidFill>
          <a:ln w="22225">
            <a:solidFill>
              <a:srgbClr val="E2B54E"/>
            </a:solidFill>
            <a:prstDash val="solid"/>
          </a:ln>
        </p:spPr>
      </p:sp>
      <p:sp>
        <p:nvSpPr>
          <p:cNvPr id="20" name="Shape 18"/>
          <p:cNvSpPr/>
          <p:nvPr/>
        </p:nvSpPr>
        <p:spPr>
          <a:xfrm>
            <a:off x="10366248" y="1965960"/>
            <a:ext cx="384048" cy="384048"/>
          </a:xfrm>
          <a:prstGeom prst="ellipse">
            <a:avLst/>
          </a:prstGeom>
          <a:solidFill>
            <a:srgbClr val="E2B54E"/>
          </a:solidFill>
          <a:ln w="15875">
            <a:solidFill>
              <a:srgbClr val="E2B54E"/>
            </a:solidFill>
            <a:prstDash val="solid"/>
          </a:ln>
        </p:spPr>
      </p:sp>
      <p:sp>
        <p:nvSpPr>
          <p:cNvPr id="21" name="Text 19"/>
          <p:cNvSpPr txBox="1"/>
          <p:nvPr/>
        </p:nvSpPr>
        <p:spPr>
          <a:xfrm>
            <a:off x="10366248"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10841736" y="1554480"/>
            <a:ext cx="72542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Synthesis &amp; entry zones</a:t>
            </a:r>
            <a:endParaRPr lang="en-US" sz="1000" dirty="0"/>
          </a:p>
        </p:txBody>
      </p:sp>
      <p:sp>
        <p:nvSpPr>
          <p:cNvPr id="23" name="Shape 21"/>
          <p:cNvSpPr/>
          <p:nvPr/>
        </p:nvSpPr>
        <p:spPr>
          <a:xfrm>
            <a:off x="6903720" y="3273552"/>
            <a:ext cx="4846320" cy="1700784"/>
          </a:xfrm>
          <a:prstGeom prst="roundRect">
            <a:avLst>
              <a:gd name="adj" fmla="val 3226"/>
            </a:avLst>
          </a:prstGeom>
          <a:solidFill>
            <a:srgbClr val="17243A"/>
          </a:solidFill>
          <a:ln w="9525">
            <a:solidFill>
              <a:srgbClr val="17243A"/>
            </a:solidFill>
            <a:prstDash val="solid"/>
          </a:ln>
        </p:spPr>
      </p:sp>
      <p:sp>
        <p:nvSpPr>
          <p:cNvPr id="24" name="Text 22"/>
          <p:cNvSpPr txBox="1"/>
          <p:nvPr/>
        </p:nvSpPr>
        <p:spPr>
          <a:xfrm>
            <a:off x="7031736" y="3346704"/>
            <a:ext cx="3004718"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5" name="Text 23"/>
          <p:cNvSpPr txBox="1"/>
          <p:nvPr/>
        </p:nvSpPr>
        <p:spPr>
          <a:xfrm>
            <a:off x="9084564" y="3346704"/>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6" name="Shape 24"/>
          <p:cNvSpPr/>
          <p:nvPr/>
        </p:nvSpPr>
        <p:spPr>
          <a:xfrm>
            <a:off x="7031736" y="3639312"/>
            <a:ext cx="1347216" cy="1207008"/>
          </a:xfrm>
          <a:prstGeom prst="roundRect">
            <a:avLst>
              <a:gd name="adj" fmla="val 5303"/>
            </a:avLst>
          </a:prstGeom>
          <a:solidFill>
            <a:srgbClr val="161C24"/>
          </a:solidFill>
          <a:ln w="9525">
            <a:solidFill>
              <a:srgbClr val="161C24"/>
            </a:solidFill>
            <a:prstDash val="solid"/>
          </a:ln>
        </p:spPr>
      </p:sp>
      <p:sp>
        <p:nvSpPr>
          <p:cNvPr id="27" name="Shape 25"/>
          <p:cNvSpPr/>
          <p:nvPr/>
        </p:nvSpPr>
        <p:spPr>
          <a:xfrm>
            <a:off x="7123176" y="4050792"/>
            <a:ext cx="384048" cy="384048"/>
          </a:xfrm>
          <a:prstGeom prst="ellipse">
            <a:avLst/>
          </a:prstGeom>
          <a:solidFill>
            <a:srgbClr val="6E7A88"/>
          </a:solidFill>
          <a:ln w="15875">
            <a:solidFill>
              <a:srgbClr val="6E7A88"/>
            </a:solidFill>
            <a:prstDash val="solid"/>
          </a:ln>
        </p:spPr>
      </p:sp>
      <p:sp>
        <p:nvSpPr>
          <p:cNvPr id="28" name="Text 26"/>
          <p:cNvSpPr txBox="1"/>
          <p:nvPr/>
        </p:nvSpPr>
        <p:spPr>
          <a:xfrm>
            <a:off x="7123176"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29" name="Text 27"/>
          <p:cNvSpPr txBox="1"/>
          <p:nvPr/>
        </p:nvSpPr>
        <p:spPr>
          <a:xfrm>
            <a:off x="7598664"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Intake, routing &amp; knowledge</a:t>
            </a:r>
            <a:endParaRPr lang="en-US" sz="1000" dirty="0"/>
          </a:p>
        </p:txBody>
      </p:sp>
      <p:sp>
        <p:nvSpPr>
          <p:cNvPr id="30" name="Shape 28"/>
          <p:cNvSpPr/>
          <p:nvPr/>
        </p:nvSpPr>
        <p:spPr>
          <a:xfrm>
            <a:off x="8415528" y="4242816"/>
            <a:ext cx="201168" cy="0"/>
          </a:xfrm>
          <a:prstGeom prst="line">
            <a:avLst/>
          </a:prstGeom>
          <a:noFill/>
          <a:ln w="15875">
            <a:solidFill>
              <a:srgbClr val="323C49"/>
            </a:solidFill>
            <a:prstDash val="solid"/>
            <a:tailEnd type="triangle"/>
          </a:ln>
        </p:spPr>
      </p:sp>
      <p:sp>
        <p:nvSpPr>
          <p:cNvPr id="31" name="Shape 29"/>
          <p:cNvSpPr/>
          <p:nvPr/>
        </p:nvSpPr>
        <p:spPr>
          <a:xfrm>
            <a:off x="8653272" y="3639312"/>
            <a:ext cx="1347216" cy="1207008"/>
          </a:xfrm>
          <a:prstGeom prst="roundRect">
            <a:avLst>
              <a:gd name="adj" fmla="val 5303"/>
            </a:avLst>
          </a:prstGeom>
          <a:solidFill>
            <a:srgbClr val="161C24"/>
          </a:solidFill>
          <a:ln w="9525">
            <a:solidFill>
              <a:srgbClr val="161C24"/>
            </a:solidFill>
            <a:prstDash val="solid"/>
          </a:ln>
        </p:spPr>
      </p:sp>
      <p:sp>
        <p:nvSpPr>
          <p:cNvPr id="32" name="Shape 30"/>
          <p:cNvSpPr/>
          <p:nvPr/>
        </p:nvSpPr>
        <p:spPr>
          <a:xfrm>
            <a:off x="8744712" y="4050792"/>
            <a:ext cx="384048" cy="384048"/>
          </a:xfrm>
          <a:prstGeom prst="ellipse">
            <a:avLst/>
          </a:prstGeom>
          <a:solidFill>
            <a:srgbClr val="6E7A88"/>
          </a:solidFill>
          <a:ln w="15875">
            <a:solidFill>
              <a:srgbClr val="6E7A88"/>
            </a:solidFill>
            <a:prstDash val="solid"/>
          </a:ln>
        </p:spPr>
      </p:sp>
      <p:sp>
        <p:nvSpPr>
          <p:cNvPr id="33" name="Text 31"/>
          <p:cNvSpPr txBox="1"/>
          <p:nvPr/>
        </p:nvSpPr>
        <p:spPr>
          <a:xfrm>
            <a:off x="8744712"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4" name="Text 32"/>
          <p:cNvSpPr txBox="1"/>
          <p:nvPr/>
        </p:nvSpPr>
        <p:spPr>
          <a:xfrm>
            <a:off x="9220200"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Prompt &amp; AI reply</a:t>
            </a:r>
            <a:endParaRPr lang="en-US" sz="1000" dirty="0"/>
          </a:p>
        </p:txBody>
      </p:sp>
      <p:sp>
        <p:nvSpPr>
          <p:cNvPr id="35" name="Shape 33"/>
          <p:cNvSpPr/>
          <p:nvPr/>
        </p:nvSpPr>
        <p:spPr>
          <a:xfrm>
            <a:off x="10037064" y="4242816"/>
            <a:ext cx="201168" cy="0"/>
          </a:xfrm>
          <a:prstGeom prst="line">
            <a:avLst/>
          </a:prstGeom>
          <a:noFill/>
          <a:ln w="15875">
            <a:solidFill>
              <a:srgbClr val="323C49"/>
            </a:solidFill>
            <a:prstDash val="solid"/>
            <a:tailEnd type="triangle"/>
          </a:ln>
        </p:spPr>
      </p:sp>
      <p:sp>
        <p:nvSpPr>
          <p:cNvPr id="36" name="Shape 34"/>
          <p:cNvSpPr/>
          <p:nvPr/>
        </p:nvSpPr>
        <p:spPr>
          <a:xfrm>
            <a:off x="10274808" y="3639312"/>
            <a:ext cx="1347216" cy="1207008"/>
          </a:xfrm>
          <a:prstGeom prst="roundRect">
            <a:avLst>
              <a:gd name="adj" fmla="val 5303"/>
            </a:avLst>
          </a:prstGeom>
          <a:solidFill>
            <a:srgbClr val="161C24"/>
          </a:solidFill>
          <a:ln w="9525">
            <a:solidFill>
              <a:srgbClr val="161C24"/>
            </a:solidFill>
            <a:prstDash val="solid"/>
          </a:ln>
        </p:spPr>
      </p:sp>
      <p:sp>
        <p:nvSpPr>
          <p:cNvPr id="37" name="Shape 35"/>
          <p:cNvSpPr/>
          <p:nvPr/>
        </p:nvSpPr>
        <p:spPr>
          <a:xfrm>
            <a:off x="10366248" y="4050792"/>
            <a:ext cx="384048" cy="384048"/>
          </a:xfrm>
          <a:prstGeom prst="ellipse">
            <a:avLst/>
          </a:prstGeom>
          <a:solidFill>
            <a:srgbClr val="6E7A88"/>
          </a:solidFill>
          <a:ln w="15875">
            <a:solidFill>
              <a:srgbClr val="6E7A88"/>
            </a:solidFill>
            <a:prstDash val="solid"/>
          </a:ln>
        </p:spPr>
      </p:sp>
      <p:sp>
        <p:nvSpPr>
          <p:cNvPr id="38" name="Text 36"/>
          <p:cNvSpPr txBox="1"/>
          <p:nvPr/>
        </p:nvSpPr>
        <p:spPr>
          <a:xfrm>
            <a:off x="10366248"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39" name="Text 37"/>
          <p:cNvSpPr txBox="1"/>
          <p:nvPr/>
        </p:nvSpPr>
        <p:spPr>
          <a:xfrm>
            <a:off x="10841736"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Engine 4 &amp; Report 2</a:t>
            </a:r>
            <a:endParaRPr lang="en-US" sz="1000" dirty="0"/>
          </a:p>
        </p:txBody>
      </p:sp>
      <p:sp>
        <p:nvSpPr>
          <p:cNvPr id="40" name="Shape 38"/>
          <p:cNvSpPr/>
          <p:nvPr/>
        </p:nvSpPr>
        <p:spPr>
          <a:xfrm>
            <a:off x="9326880" y="2916936"/>
            <a:ext cx="0" cy="329184"/>
          </a:xfrm>
          <a:prstGeom prst="line">
            <a:avLst/>
          </a:prstGeom>
          <a:noFill/>
          <a:ln w="15875">
            <a:solidFill>
              <a:srgbClr val="7D8A99"/>
            </a:solidFill>
            <a:prstDash val="solid"/>
            <a:tailEnd type="triangle"/>
          </a:ln>
        </p:spPr>
      </p:sp>
      <p:sp>
        <p:nvSpPr>
          <p:cNvPr id="41" name="Text 39"/>
          <p:cNvSpPr txBox="1"/>
          <p:nvPr/>
        </p:nvSpPr>
        <p:spPr>
          <a:xfrm>
            <a:off x="9418320" y="2916936"/>
            <a:ext cx="224028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2" name="Shape 40"/>
          <p:cNvSpPr/>
          <p:nvPr/>
        </p:nvSpPr>
        <p:spPr>
          <a:xfrm>
            <a:off x="6903720" y="5102352"/>
            <a:ext cx="4846320" cy="566928"/>
          </a:xfrm>
          <a:prstGeom prst="roundRect">
            <a:avLst>
              <a:gd name="adj" fmla="val 9677"/>
            </a:avLst>
          </a:prstGeom>
          <a:solidFill>
            <a:srgbClr val="231E33"/>
          </a:solidFill>
          <a:ln w="9525">
            <a:solidFill>
              <a:srgbClr val="231E33"/>
            </a:solidFill>
            <a:prstDash val="solid"/>
          </a:ln>
        </p:spPr>
      </p:sp>
      <p:sp>
        <p:nvSpPr>
          <p:cNvPr id="43" name="Shape 41"/>
          <p:cNvSpPr/>
          <p:nvPr/>
        </p:nvSpPr>
        <p:spPr>
          <a:xfrm>
            <a:off x="7031736" y="5210068"/>
            <a:ext cx="351495" cy="351495"/>
          </a:xfrm>
          <a:prstGeom prst="ellipse">
            <a:avLst/>
          </a:prstGeom>
          <a:solidFill>
            <a:srgbClr val="6E7A88"/>
          </a:solidFill>
          <a:ln w="15875">
            <a:solidFill>
              <a:srgbClr val="6E7A88"/>
            </a:solidFill>
            <a:prstDash val="solid"/>
          </a:ln>
        </p:spPr>
      </p:sp>
      <p:sp>
        <p:nvSpPr>
          <p:cNvPr id="44" name="Text 42"/>
          <p:cNvSpPr txBox="1"/>
          <p:nvPr/>
        </p:nvSpPr>
        <p:spPr>
          <a:xfrm>
            <a:off x="7031736" y="521006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5" name="Text 43"/>
          <p:cNvSpPr txBox="1"/>
          <p:nvPr/>
        </p:nvSpPr>
        <p:spPr>
          <a:xfrm>
            <a:off x="7492959" y="5102352"/>
            <a:ext cx="4037625" cy="56692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Section 3 owns, and what it depends on</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457200" y="1371600"/>
            <a:ext cx="4937760" cy="1700784"/>
          </a:xfrm>
          <a:prstGeom prst="roundRect">
            <a:avLst>
              <a:gd name="adj" fmla="val 3226"/>
            </a:avLst>
          </a:prstGeom>
          <a:solidFill>
            <a:srgbClr val="15302D"/>
          </a:solidFill>
          <a:ln w="9525">
            <a:solidFill>
              <a:srgbClr val="15302D"/>
            </a:solidFill>
            <a:prstDash val="solid"/>
          </a:ln>
        </p:spPr>
      </p:sp>
      <p:sp>
        <p:nvSpPr>
          <p:cNvPr id="9" name="Text 6"/>
          <p:cNvSpPr txBox="1"/>
          <p:nvPr/>
        </p:nvSpPr>
        <p:spPr>
          <a:xfrm>
            <a:off x="585216" y="1444752"/>
            <a:ext cx="3061411"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10" name="Text 7"/>
          <p:cNvSpPr txBox="1"/>
          <p:nvPr/>
        </p:nvSpPr>
        <p:spPr>
          <a:xfrm>
            <a:off x="2679192" y="1444752"/>
            <a:ext cx="2587752"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11" name="Shape 8"/>
          <p:cNvSpPr/>
          <p:nvPr/>
        </p:nvSpPr>
        <p:spPr>
          <a:xfrm>
            <a:off x="585216" y="1737360"/>
            <a:ext cx="1377696" cy="1207008"/>
          </a:xfrm>
          <a:prstGeom prst="roundRect">
            <a:avLst>
              <a:gd name="adj" fmla="val 5303"/>
            </a:avLst>
          </a:prstGeom>
          <a:solidFill>
            <a:srgbClr val="161C24"/>
          </a:solidFill>
          <a:ln w="9525">
            <a:solidFill>
              <a:srgbClr val="161C24"/>
            </a:solidFill>
            <a:prstDash val="solid"/>
          </a:ln>
        </p:spPr>
      </p:sp>
      <p:sp>
        <p:nvSpPr>
          <p:cNvPr id="12" name="Shape 9"/>
          <p:cNvSpPr/>
          <p:nvPr/>
        </p:nvSpPr>
        <p:spPr>
          <a:xfrm>
            <a:off x="676656" y="2148840"/>
            <a:ext cx="384048" cy="384048"/>
          </a:xfrm>
          <a:prstGeom prst="ellipse">
            <a:avLst/>
          </a:prstGeom>
          <a:solidFill>
            <a:srgbClr val="6E7A88"/>
          </a:solidFill>
          <a:ln w="15875">
            <a:solidFill>
              <a:srgbClr val="6E7A88"/>
            </a:solidFill>
            <a:prstDash val="solid"/>
          </a:ln>
        </p:spPr>
      </p:sp>
      <p:sp>
        <p:nvSpPr>
          <p:cNvPr id="13" name="Text 10"/>
          <p:cNvSpPr txBox="1"/>
          <p:nvPr/>
        </p:nvSpPr>
        <p:spPr>
          <a:xfrm>
            <a:off x="676656"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4" name="Text 11"/>
          <p:cNvSpPr txBox="1"/>
          <p:nvPr/>
        </p:nvSpPr>
        <p:spPr>
          <a:xfrm>
            <a:off x="1152144"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Market data &amp; chart</a:t>
            </a:r>
            <a:endParaRPr lang="en-US" sz="1000" dirty="0"/>
          </a:p>
        </p:txBody>
      </p:sp>
      <p:sp>
        <p:nvSpPr>
          <p:cNvPr id="15" name="Shape 12"/>
          <p:cNvSpPr/>
          <p:nvPr/>
        </p:nvSpPr>
        <p:spPr>
          <a:xfrm>
            <a:off x="1999488" y="2340864"/>
            <a:ext cx="201168" cy="0"/>
          </a:xfrm>
          <a:prstGeom prst="line">
            <a:avLst/>
          </a:prstGeom>
          <a:noFill/>
          <a:ln w="15875">
            <a:solidFill>
              <a:srgbClr val="323C49"/>
            </a:solidFill>
            <a:prstDash val="solid"/>
            <a:tailEnd type="triangle"/>
          </a:ln>
        </p:spPr>
      </p:sp>
      <p:sp>
        <p:nvSpPr>
          <p:cNvPr id="16" name="Shape 13"/>
          <p:cNvSpPr/>
          <p:nvPr/>
        </p:nvSpPr>
        <p:spPr>
          <a:xfrm>
            <a:off x="2237232" y="1737360"/>
            <a:ext cx="1377696" cy="1207008"/>
          </a:xfrm>
          <a:prstGeom prst="roundRect">
            <a:avLst>
              <a:gd name="adj" fmla="val 5303"/>
            </a:avLst>
          </a:prstGeom>
          <a:solidFill>
            <a:srgbClr val="161C24"/>
          </a:solidFill>
          <a:ln w="9525">
            <a:solidFill>
              <a:srgbClr val="161C24"/>
            </a:solidFill>
            <a:prstDash val="solid"/>
          </a:ln>
        </p:spPr>
      </p:sp>
      <p:sp>
        <p:nvSpPr>
          <p:cNvPr id="17" name="Shape 14"/>
          <p:cNvSpPr/>
          <p:nvPr/>
        </p:nvSpPr>
        <p:spPr>
          <a:xfrm>
            <a:off x="2328672" y="2148840"/>
            <a:ext cx="384048" cy="384048"/>
          </a:xfrm>
          <a:prstGeom prst="ellipse">
            <a:avLst/>
          </a:prstGeom>
          <a:solidFill>
            <a:srgbClr val="6E7A88"/>
          </a:solidFill>
          <a:ln w="15875">
            <a:solidFill>
              <a:srgbClr val="6E7A88"/>
            </a:solidFill>
            <a:prstDash val="solid"/>
          </a:ln>
        </p:spPr>
      </p:sp>
      <p:sp>
        <p:nvSpPr>
          <p:cNvPr id="18" name="Text 15"/>
          <p:cNvSpPr txBox="1"/>
          <p:nvPr/>
        </p:nvSpPr>
        <p:spPr>
          <a:xfrm>
            <a:off x="2328672"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9" name="Text 16"/>
          <p:cNvSpPr txBox="1"/>
          <p:nvPr/>
        </p:nvSpPr>
        <p:spPr>
          <a:xfrm>
            <a:off x="2804160"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Sensors (MCDs)</a:t>
            </a:r>
            <a:endParaRPr lang="en-US" sz="1000" dirty="0"/>
          </a:p>
        </p:txBody>
      </p:sp>
      <p:sp>
        <p:nvSpPr>
          <p:cNvPr id="20" name="Shape 17"/>
          <p:cNvSpPr/>
          <p:nvPr/>
        </p:nvSpPr>
        <p:spPr>
          <a:xfrm>
            <a:off x="3651504" y="2340864"/>
            <a:ext cx="201168" cy="0"/>
          </a:xfrm>
          <a:prstGeom prst="line">
            <a:avLst/>
          </a:prstGeom>
          <a:noFill/>
          <a:ln w="15875">
            <a:solidFill>
              <a:srgbClr val="323C49"/>
            </a:solidFill>
            <a:prstDash val="solid"/>
            <a:tailEnd type="triangle"/>
          </a:ln>
        </p:spPr>
      </p:sp>
      <p:sp>
        <p:nvSpPr>
          <p:cNvPr id="21" name="Shape 18"/>
          <p:cNvSpPr/>
          <p:nvPr/>
        </p:nvSpPr>
        <p:spPr>
          <a:xfrm>
            <a:off x="3889248" y="1737360"/>
            <a:ext cx="1377696" cy="1207008"/>
          </a:xfrm>
          <a:prstGeom prst="roundRect">
            <a:avLst>
              <a:gd name="adj" fmla="val 5303"/>
            </a:avLst>
          </a:prstGeom>
          <a:solidFill>
            <a:srgbClr val="1D242E"/>
          </a:solidFill>
          <a:ln w="22225">
            <a:solidFill>
              <a:srgbClr val="E2B54E"/>
            </a:solidFill>
            <a:prstDash val="solid"/>
          </a:ln>
        </p:spPr>
      </p:sp>
      <p:sp>
        <p:nvSpPr>
          <p:cNvPr id="22" name="Shape 19"/>
          <p:cNvSpPr/>
          <p:nvPr/>
        </p:nvSpPr>
        <p:spPr>
          <a:xfrm>
            <a:off x="3980688" y="2148840"/>
            <a:ext cx="384048" cy="384048"/>
          </a:xfrm>
          <a:prstGeom prst="ellipse">
            <a:avLst/>
          </a:prstGeom>
          <a:solidFill>
            <a:srgbClr val="E2B54E"/>
          </a:solidFill>
          <a:ln w="15875">
            <a:solidFill>
              <a:srgbClr val="E2B54E"/>
            </a:solidFill>
            <a:prstDash val="solid"/>
          </a:ln>
        </p:spPr>
      </p:sp>
      <p:sp>
        <p:nvSpPr>
          <p:cNvPr id="23" name="Text 20"/>
          <p:cNvSpPr txBox="1"/>
          <p:nvPr/>
        </p:nvSpPr>
        <p:spPr>
          <a:xfrm>
            <a:off x="3980688"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4" name="Text 21"/>
          <p:cNvSpPr txBox="1"/>
          <p:nvPr/>
        </p:nvSpPr>
        <p:spPr>
          <a:xfrm>
            <a:off x="4456176" y="1737360"/>
            <a:ext cx="75590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Synthesis &amp; entry zones</a:t>
            </a:r>
            <a:endParaRPr lang="en-US" sz="1000" dirty="0"/>
          </a:p>
        </p:txBody>
      </p:sp>
      <p:sp>
        <p:nvSpPr>
          <p:cNvPr id="25" name="Shape 22"/>
          <p:cNvSpPr/>
          <p:nvPr/>
        </p:nvSpPr>
        <p:spPr>
          <a:xfrm>
            <a:off x="457200" y="3456432"/>
            <a:ext cx="4937760" cy="1700784"/>
          </a:xfrm>
          <a:prstGeom prst="roundRect">
            <a:avLst>
              <a:gd name="adj" fmla="val 3226"/>
            </a:avLst>
          </a:prstGeom>
          <a:solidFill>
            <a:srgbClr val="17243A"/>
          </a:solidFill>
          <a:ln w="9525">
            <a:solidFill>
              <a:srgbClr val="17243A"/>
            </a:solidFill>
            <a:prstDash val="solid"/>
          </a:ln>
        </p:spPr>
      </p:sp>
      <p:sp>
        <p:nvSpPr>
          <p:cNvPr id="26" name="Text 23"/>
          <p:cNvSpPr txBox="1"/>
          <p:nvPr/>
        </p:nvSpPr>
        <p:spPr>
          <a:xfrm>
            <a:off x="585216" y="3529584"/>
            <a:ext cx="3061411"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7" name="Text 24"/>
          <p:cNvSpPr txBox="1"/>
          <p:nvPr/>
        </p:nvSpPr>
        <p:spPr>
          <a:xfrm>
            <a:off x="2679192" y="3529584"/>
            <a:ext cx="2587752"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8" name="Shape 25"/>
          <p:cNvSpPr/>
          <p:nvPr/>
        </p:nvSpPr>
        <p:spPr>
          <a:xfrm>
            <a:off x="585216" y="3822192"/>
            <a:ext cx="1377696" cy="1207008"/>
          </a:xfrm>
          <a:prstGeom prst="roundRect">
            <a:avLst>
              <a:gd name="adj" fmla="val 5303"/>
            </a:avLst>
          </a:prstGeom>
          <a:solidFill>
            <a:srgbClr val="161C24"/>
          </a:solidFill>
          <a:ln w="9525">
            <a:solidFill>
              <a:srgbClr val="161C24"/>
            </a:solidFill>
            <a:prstDash val="solid"/>
          </a:ln>
        </p:spPr>
      </p:sp>
      <p:sp>
        <p:nvSpPr>
          <p:cNvPr id="29" name="Shape 26"/>
          <p:cNvSpPr/>
          <p:nvPr/>
        </p:nvSpPr>
        <p:spPr>
          <a:xfrm>
            <a:off x="676656" y="4233672"/>
            <a:ext cx="384048" cy="384048"/>
          </a:xfrm>
          <a:prstGeom prst="ellipse">
            <a:avLst/>
          </a:prstGeom>
          <a:solidFill>
            <a:srgbClr val="6E7A88"/>
          </a:solidFill>
          <a:ln w="15875">
            <a:solidFill>
              <a:srgbClr val="6E7A88"/>
            </a:solidFill>
            <a:prstDash val="solid"/>
          </a:ln>
        </p:spPr>
      </p:sp>
      <p:sp>
        <p:nvSpPr>
          <p:cNvPr id="30" name="Text 27"/>
          <p:cNvSpPr txBox="1"/>
          <p:nvPr/>
        </p:nvSpPr>
        <p:spPr>
          <a:xfrm>
            <a:off x="676656"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31" name="Text 28"/>
          <p:cNvSpPr txBox="1"/>
          <p:nvPr/>
        </p:nvSpPr>
        <p:spPr>
          <a:xfrm>
            <a:off x="1152144"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Intake, routing &amp; knowledge</a:t>
            </a:r>
            <a:endParaRPr lang="en-US" sz="1000" dirty="0"/>
          </a:p>
        </p:txBody>
      </p:sp>
      <p:sp>
        <p:nvSpPr>
          <p:cNvPr id="32" name="Shape 29"/>
          <p:cNvSpPr/>
          <p:nvPr/>
        </p:nvSpPr>
        <p:spPr>
          <a:xfrm>
            <a:off x="1999488" y="4425696"/>
            <a:ext cx="201168" cy="0"/>
          </a:xfrm>
          <a:prstGeom prst="line">
            <a:avLst/>
          </a:prstGeom>
          <a:noFill/>
          <a:ln w="15875">
            <a:solidFill>
              <a:srgbClr val="323C49"/>
            </a:solidFill>
            <a:prstDash val="solid"/>
            <a:tailEnd type="triangle"/>
          </a:ln>
        </p:spPr>
      </p:sp>
      <p:sp>
        <p:nvSpPr>
          <p:cNvPr id="33" name="Shape 30"/>
          <p:cNvSpPr/>
          <p:nvPr/>
        </p:nvSpPr>
        <p:spPr>
          <a:xfrm>
            <a:off x="2237232" y="3822192"/>
            <a:ext cx="1377696" cy="1207008"/>
          </a:xfrm>
          <a:prstGeom prst="roundRect">
            <a:avLst>
              <a:gd name="adj" fmla="val 5303"/>
            </a:avLst>
          </a:prstGeom>
          <a:solidFill>
            <a:srgbClr val="161C24"/>
          </a:solidFill>
          <a:ln w="9525">
            <a:solidFill>
              <a:srgbClr val="161C24"/>
            </a:solidFill>
            <a:prstDash val="solid"/>
          </a:ln>
        </p:spPr>
      </p:sp>
      <p:sp>
        <p:nvSpPr>
          <p:cNvPr id="34" name="Shape 31"/>
          <p:cNvSpPr/>
          <p:nvPr/>
        </p:nvSpPr>
        <p:spPr>
          <a:xfrm>
            <a:off x="2328672" y="4233672"/>
            <a:ext cx="384048" cy="384048"/>
          </a:xfrm>
          <a:prstGeom prst="ellipse">
            <a:avLst/>
          </a:prstGeom>
          <a:solidFill>
            <a:srgbClr val="6E7A88"/>
          </a:solidFill>
          <a:ln w="15875">
            <a:solidFill>
              <a:srgbClr val="6E7A88"/>
            </a:solidFill>
            <a:prstDash val="solid"/>
          </a:ln>
        </p:spPr>
      </p:sp>
      <p:sp>
        <p:nvSpPr>
          <p:cNvPr id="35" name="Text 32"/>
          <p:cNvSpPr txBox="1"/>
          <p:nvPr/>
        </p:nvSpPr>
        <p:spPr>
          <a:xfrm>
            <a:off x="2328672"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6" name="Text 33"/>
          <p:cNvSpPr txBox="1"/>
          <p:nvPr/>
        </p:nvSpPr>
        <p:spPr>
          <a:xfrm>
            <a:off x="2804160"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Prompt &amp; AI reply</a:t>
            </a:r>
            <a:endParaRPr lang="en-US" sz="1000" dirty="0"/>
          </a:p>
        </p:txBody>
      </p:sp>
      <p:sp>
        <p:nvSpPr>
          <p:cNvPr id="37" name="Shape 34"/>
          <p:cNvSpPr/>
          <p:nvPr/>
        </p:nvSpPr>
        <p:spPr>
          <a:xfrm>
            <a:off x="3651504" y="4425696"/>
            <a:ext cx="201168" cy="0"/>
          </a:xfrm>
          <a:prstGeom prst="line">
            <a:avLst/>
          </a:prstGeom>
          <a:noFill/>
          <a:ln w="15875">
            <a:solidFill>
              <a:srgbClr val="323C49"/>
            </a:solidFill>
            <a:prstDash val="solid"/>
            <a:tailEnd type="triangle"/>
          </a:ln>
        </p:spPr>
      </p:sp>
      <p:sp>
        <p:nvSpPr>
          <p:cNvPr id="38" name="Shape 35"/>
          <p:cNvSpPr/>
          <p:nvPr/>
        </p:nvSpPr>
        <p:spPr>
          <a:xfrm>
            <a:off x="3889248" y="3822192"/>
            <a:ext cx="1377696" cy="1207008"/>
          </a:xfrm>
          <a:prstGeom prst="roundRect">
            <a:avLst>
              <a:gd name="adj" fmla="val 5303"/>
            </a:avLst>
          </a:prstGeom>
          <a:solidFill>
            <a:srgbClr val="161C24"/>
          </a:solidFill>
          <a:ln w="9525">
            <a:solidFill>
              <a:srgbClr val="161C24"/>
            </a:solidFill>
            <a:prstDash val="solid"/>
          </a:ln>
        </p:spPr>
      </p:sp>
      <p:sp>
        <p:nvSpPr>
          <p:cNvPr id="39" name="Shape 36"/>
          <p:cNvSpPr/>
          <p:nvPr/>
        </p:nvSpPr>
        <p:spPr>
          <a:xfrm>
            <a:off x="3980688" y="4233672"/>
            <a:ext cx="384048" cy="384048"/>
          </a:xfrm>
          <a:prstGeom prst="ellipse">
            <a:avLst/>
          </a:prstGeom>
          <a:solidFill>
            <a:srgbClr val="6E7A88"/>
          </a:solidFill>
          <a:ln w="15875">
            <a:solidFill>
              <a:srgbClr val="6E7A88"/>
            </a:solidFill>
            <a:prstDash val="solid"/>
          </a:ln>
        </p:spPr>
      </p:sp>
      <p:sp>
        <p:nvSpPr>
          <p:cNvPr id="40" name="Text 37"/>
          <p:cNvSpPr txBox="1"/>
          <p:nvPr/>
        </p:nvSpPr>
        <p:spPr>
          <a:xfrm>
            <a:off x="3980688"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41" name="Text 38"/>
          <p:cNvSpPr txBox="1"/>
          <p:nvPr/>
        </p:nvSpPr>
        <p:spPr>
          <a:xfrm>
            <a:off x="4456176"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Engine 4 &amp; Report 2</a:t>
            </a:r>
            <a:endParaRPr lang="en-US" sz="1000" dirty="0"/>
          </a:p>
        </p:txBody>
      </p:sp>
      <p:sp>
        <p:nvSpPr>
          <p:cNvPr id="42" name="Shape 39"/>
          <p:cNvSpPr/>
          <p:nvPr/>
        </p:nvSpPr>
        <p:spPr>
          <a:xfrm>
            <a:off x="2926080" y="3099816"/>
            <a:ext cx="0" cy="329184"/>
          </a:xfrm>
          <a:prstGeom prst="line">
            <a:avLst/>
          </a:prstGeom>
          <a:noFill/>
          <a:ln w="15875">
            <a:solidFill>
              <a:srgbClr val="7D8A99"/>
            </a:solidFill>
            <a:prstDash val="solid"/>
            <a:tailEnd type="triangle"/>
          </a:ln>
        </p:spPr>
      </p:sp>
      <p:sp>
        <p:nvSpPr>
          <p:cNvPr id="43" name="Text 40"/>
          <p:cNvSpPr txBox="1"/>
          <p:nvPr/>
        </p:nvSpPr>
        <p:spPr>
          <a:xfrm>
            <a:off x="3017520" y="3099816"/>
            <a:ext cx="228600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4" name="Shape 41"/>
          <p:cNvSpPr/>
          <p:nvPr/>
        </p:nvSpPr>
        <p:spPr>
          <a:xfrm>
            <a:off x="457200" y="5285232"/>
            <a:ext cx="4937760" cy="566928"/>
          </a:xfrm>
          <a:prstGeom prst="roundRect">
            <a:avLst>
              <a:gd name="adj" fmla="val 9677"/>
            </a:avLst>
          </a:prstGeom>
          <a:solidFill>
            <a:srgbClr val="231E33"/>
          </a:solidFill>
          <a:ln w="9525">
            <a:solidFill>
              <a:srgbClr val="231E33"/>
            </a:solidFill>
            <a:prstDash val="solid"/>
          </a:ln>
        </p:spPr>
      </p:sp>
      <p:sp>
        <p:nvSpPr>
          <p:cNvPr id="45" name="Shape 42"/>
          <p:cNvSpPr/>
          <p:nvPr/>
        </p:nvSpPr>
        <p:spPr>
          <a:xfrm>
            <a:off x="585216" y="5392948"/>
            <a:ext cx="351495" cy="351495"/>
          </a:xfrm>
          <a:prstGeom prst="ellipse">
            <a:avLst/>
          </a:prstGeom>
          <a:solidFill>
            <a:srgbClr val="6E7A88"/>
          </a:solidFill>
          <a:ln w="15875">
            <a:solidFill>
              <a:srgbClr val="6E7A88"/>
            </a:solidFill>
            <a:prstDash val="solid"/>
          </a:ln>
        </p:spPr>
      </p:sp>
      <p:sp>
        <p:nvSpPr>
          <p:cNvPr id="46" name="Text 43"/>
          <p:cNvSpPr txBox="1"/>
          <p:nvPr/>
        </p:nvSpPr>
        <p:spPr>
          <a:xfrm>
            <a:off x="585216" y="539294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7" name="Text 44"/>
          <p:cNvSpPr txBox="1"/>
          <p:nvPr/>
        </p:nvSpPr>
        <p:spPr>
          <a:xfrm>
            <a:off x="1046439" y="5285232"/>
            <a:ext cx="4129065" cy="56692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
        <p:nvSpPr>
          <p:cNvPr id="48" name="Text 45"/>
          <p:cNvSpPr txBox="1"/>
          <p:nvPr/>
        </p:nvSpPr>
        <p:spPr>
          <a:xfrm>
            <a:off x="5806440" y="1325880"/>
            <a:ext cx="27432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OWNS</a:t>
            </a:r>
            <a:endParaRPr lang="en-US" sz="1000" dirty="0"/>
          </a:p>
        </p:txBody>
      </p:sp>
      <p:sp>
        <p:nvSpPr>
          <p:cNvPr id="49" name="Text 46"/>
          <p:cNvSpPr txBox="1"/>
          <p:nvPr/>
        </p:nvSpPr>
        <p:spPr>
          <a:xfrm>
            <a:off x="5806440" y="1609344"/>
            <a:ext cx="5897880" cy="36576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Synthesis step  </a:t>
            </a:r>
            <a:pPr indent="0" marL="0">
              <a:buNone/>
            </a:pPr>
            <a:r>
              <a:rPr lang="en-US" sz="1150" dirty="0">
                <a:solidFill>
                  <a:srgbClr val="A3AEBB"/>
                </a:solidFill>
                <a:latin typeface="Calibri" pitchFamily="34" charset="0"/>
                <a:ea typeface="Calibri" pitchFamily="34" charset="-122"/>
                <a:cs typeface="Calibri" pitchFamily="34" charset="-120"/>
              </a:rPr>
              <a:t>runs in the sensor worker, right after Section 2</a:t>
            </a:r>
            <a:endParaRPr lang="en-US" sz="1150" dirty="0"/>
          </a:p>
        </p:txBody>
      </p:sp>
      <p:sp>
        <p:nvSpPr>
          <p:cNvPr id="50" name="Text 47"/>
          <p:cNvSpPr txBox="1"/>
          <p:nvPr/>
        </p:nvSpPr>
        <p:spPr>
          <a:xfrm>
            <a:off x="5806440" y="1993392"/>
            <a:ext cx="5897880" cy="36576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Rules table  </a:t>
            </a:r>
            <a:pPr indent="0" marL="0">
              <a:buNone/>
            </a:pPr>
            <a:r>
              <a:rPr lang="en-US" sz="1150" dirty="0">
                <a:solidFill>
                  <a:srgbClr val="A3AEBB"/>
                </a:solidFill>
                <a:latin typeface="Calibri" pitchFamily="34" charset="0"/>
                <a:ea typeface="Calibri" pitchFamily="34" charset="-122"/>
                <a:cs typeface="Calibri" pitchFamily="34" charset="-120"/>
              </a:rPr>
              <a:t>ordered, versioned; the content is yours</a:t>
            </a:r>
            <a:endParaRPr lang="en-US" sz="1150" dirty="0"/>
          </a:p>
        </p:txBody>
      </p:sp>
      <p:sp>
        <p:nvSpPr>
          <p:cNvPr id="51" name="Text 48"/>
          <p:cNvSpPr txBox="1"/>
          <p:nvPr/>
        </p:nvSpPr>
        <p:spPr>
          <a:xfrm>
            <a:off x="5806440" y="2377440"/>
            <a:ext cx="5897880" cy="36576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Synthesis reading  </a:t>
            </a:r>
            <a:pPr indent="0" marL="0">
              <a:buNone/>
            </a:pPr>
            <a:r>
              <a:rPr lang="en-US" sz="1150" dirty="0">
                <a:solidFill>
                  <a:srgbClr val="A3AEBB"/>
                </a:solidFill>
                <a:latin typeface="Calibri" pitchFamily="34" charset="0"/>
                <a:ea typeface="Calibri" pitchFamily="34" charset="-122"/>
                <a:cs typeface="Calibri" pitchFamily="34" charset="-120"/>
              </a:rPr>
              <a:t>bias, archetype, trend relation, stand-aside, reasons</a:t>
            </a:r>
            <a:endParaRPr lang="en-US" sz="1150" dirty="0"/>
          </a:p>
        </p:txBody>
      </p:sp>
      <p:sp>
        <p:nvSpPr>
          <p:cNvPr id="52" name="Text 49"/>
          <p:cNvSpPr txBox="1"/>
          <p:nvPr/>
        </p:nvSpPr>
        <p:spPr>
          <a:xfrm>
            <a:off x="5806440" y="2761488"/>
            <a:ext cx="5897880" cy="36576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Entry-zone builder  </a:t>
            </a:r>
            <a:pPr indent="0" marL="0">
              <a:buNone/>
            </a:pPr>
            <a:r>
              <a:rPr lang="en-US" sz="1150" dirty="0">
                <a:solidFill>
                  <a:srgbClr val="A3AEBB"/>
                </a:solidFill>
                <a:latin typeface="Calibri" pitchFamily="34" charset="0"/>
                <a:ea typeface="Calibri" pitchFamily="34" charset="-122"/>
                <a:cs typeface="Calibri" pitchFamily="34" charset="-120"/>
              </a:rPr>
              <a:t>the missing entry-zone specification</a:t>
            </a:r>
            <a:endParaRPr lang="en-US" sz="1150" dirty="0"/>
          </a:p>
        </p:txBody>
      </p:sp>
      <p:sp>
        <p:nvSpPr>
          <p:cNvPr id="53" name="Text 50"/>
          <p:cNvSpPr txBox="1"/>
          <p:nvPr/>
        </p:nvSpPr>
        <p:spPr>
          <a:xfrm>
            <a:off x="5806440" y="3310128"/>
            <a:ext cx="36576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RECEIVES</a:t>
            </a:r>
            <a:endParaRPr lang="en-US" sz="1000" dirty="0"/>
          </a:p>
        </p:txBody>
      </p:sp>
      <p:sp>
        <p:nvSpPr>
          <p:cNvPr id="54" name="Text 51"/>
          <p:cNvSpPr txBox="1"/>
          <p:nvPr/>
        </p:nvSpPr>
        <p:spPr>
          <a:xfrm>
            <a:off x="5806440" y="3584448"/>
            <a:ext cx="5897880" cy="603504"/>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Every sensor reading of the cycle with its levels (Section 2) · support &amp; resistance levels from market_data_v6 · the cycle’s data status and RETUNING flag (Section 1)</a:t>
            </a:r>
            <a:endParaRPr lang="en-US" sz="1150" dirty="0"/>
          </a:p>
        </p:txBody>
      </p:sp>
      <p:sp>
        <p:nvSpPr>
          <p:cNvPr id="55" name="Text 52"/>
          <p:cNvSpPr txBox="1"/>
          <p:nvPr/>
        </p:nvSpPr>
        <p:spPr>
          <a:xfrm>
            <a:off x="5806440" y="4279392"/>
            <a:ext cx="27432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HANDS ON TO</a:t>
            </a:r>
            <a:endParaRPr lang="en-US" sz="1000" dirty="0"/>
          </a:p>
        </p:txBody>
      </p:sp>
      <p:sp>
        <p:nvSpPr>
          <p:cNvPr id="56" name="Shape 53"/>
          <p:cNvSpPr/>
          <p:nvPr/>
        </p:nvSpPr>
        <p:spPr>
          <a:xfrm>
            <a:off x="5806440" y="4608576"/>
            <a:ext cx="310896" cy="310896"/>
          </a:xfrm>
          <a:prstGeom prst="ellipse">
            <a:avLst/>
          </a:prstGeom>
          <a:solidFill>
            <a:srgbClr val="7FA8E8"/>
          </a:solidFill>
          <a:ln w="15875">
            <a:solidFill>
              <a:srgbClr val="7FA8E8"/>
            </a:solidFill>
            <a:prstDash val="solid"/>
          </a:ln>
        </p:spPr>
      </p:sp>
      <p:sp>
        <p:nvSpPr>
          <p:cNvPr id="57" name="Text 54"/>
          <p:cNvSpPr txBox="1"/>
          <p:nvPr/>
        </p:nvSpPr>
        <p:spPr>
          <a:xfrm>
            <a:off x="5806440" y="460857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58" name="Text 55"/>
          <p:cNvSpPr txBox="1"/>
          <p:nvPr/>
        </p:nvSpPr>
        <p:spPr>
          <a:xfrm>
            <a:off x="6245352" y="4572000"/>
            <a:ext cx="548640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Intake, routing &amp; knowledge  </a:t>
            </a:r>
            <a:pPr indent="0" marL="0">
              <a:buNone/>
            </a:pPr>
            <a:r>
              <a:rPr lang="en-US" sz="1150" dirty="0">
                <a:solidFill>
                  <a:srgbClr val="A3AEBB"/>
                </a:solidFill>
                <a:latin typeface="Calibri" pitchFamily="34" charset="0"/>
                <a:ea typeface="Calibri" pitchFamily="34" charset="-122"/>
                <a:cs typeface="Calibri" pitchFamily="34" charset="-120"/>
              </a:rPr>
              <a:t>the synthesis line at the top of the sensor board</a:t>
            </a:r>
            <a:endParaRPr lang="en-US" sz="1150" dirty="0"/>
          </a:p>
        </p:txBody>
      </p:sp>
      <p:sp>
        <p:nvSpPr>
          <p:cNvPr id="59" name="Shape 56"/>
          <p:cNvSpPr/>
          <p:nvPr/>
        </p:nvSpPr>
        <p:spPr>
          <a:xfrm>
            <a:off x="5806440" y="5029200"/>
            <a:ext cx="310896" cy="310896"/>
          </a:xfrm>
          <a:prstGeom prst="ellipse">
            <a:avLst/>
          </a:prstGeom>
          <a:solidFill>
            <a:srgbClr val="7FA8E8"/>
          </a:solidFill>
          <a:ln w="15875">
            <a:solidFill>
              <a:srgbClr val="7FA8E8"/>
            </a:solidFill>
            <a:prstDash val="solid"/>
          </a:ln>
        </p:spPr>
      </p:sp>
      <p:sp>
        <p:nvSpPr>
          <p:cNvPr id="60" name="Text 57"/>
          <p:cNvSpPr txBox="1"/>
          <p:nvPr/>
        </p:nvSpPr>
        <p:spPr>
          <a:xfrm>
            <a:off x="5806440" y="5029200"/>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61" name="Text 58"/>
          <p:cNvSpPr txBox="1"/>
          <p:nvPr/>
        </p:nvSpPr>
        <p:spPr>
          <a:xfrm>
            <a:off x="6245352" y="4992624"/>
            <a:ext cx="548640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Prompt &amp; AI reply  </a:t>
            </a:r>
            <a:pPr indent="0" marL="0">
              <a:buNone/>
            </a:pPr>
            <a:r>
              <a:rPr lang="en-US" sz="1150" dirty="0">
                <a:solidFill>
                  <a:srgbClr val="A3AEBB"/>
                </a:solidFill>
                <a:latin typeface="Calibri" pitchFamily="34" charset="0"/>
                <a:ea typeface="Calibri" pitchFamily="34" charset="-122"/>
                <a:cs typeface="Calibri" pitchFamily="34" charset="-120"/>
              </a:rPr>
              <a:t>bias, reasons and zones for Report 1</a:t>
            </a:r>
            <a:endParaRPr lang="en-US" sz="1150" dirty="0"/>
          </a:p>
        </p:txBody>
      </p:sp>
      <p:sp>
        <p:nvSpPr>
          <p:cNvPr id="62" name="Shape 59"/>
          <p:cNvSpPr/>
          <p:nvPr/>
        </p:nvSpPr>
        <p:spPr>
          <a:xfrm>
            <a:off x="5806440" y="5449824"/>
            <a:ext cx="310896" cy="310896"/>
          </a:xfrm>
          <a:prstGeom prst="ellipse">
            <a:avLst/>
          </a:prstGeom>
          <a:solidFill>
            <a:srgbClr val="7FA8E8"/>
          </a:solidFill>
          <a:ln w="15875">
            <a:solidFill>
              <a:srgbClr val="7FA8E8"/>
            </a:solidFill>
            <a:prstDash val="solid"/>
          </a:ln>
        </p:spPr>
      </p:sp>
      <p:sp>
        <p:nvSpPr>
          <p:cNvPr id="63" name="Text 60"/>
          <p:cNvSpPr txBox="1"/>
          <p:nvPr/>
        </p:nvSpPr>
        <p:spPr>
          <a:xfrm>
            <a:off x="5806440" y="5449824"/>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64" name="Text 61"/>
          <p:cNvSpPr txBox="1"/>
          <p:nvPr/>
        </p:nvSpPr>
        <p:spPr>
          <a:xfrm>
            <a:off x="6245352" y="5413248"/>
            <a:ext cx="548640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Engine 4 &amp; Report 2  </a:t>
            </a:r>
            <a:pPr indent="0" marL="0">
              <a:buNone/>
            </a:pPr>
            <a:r>
              <a:rPr lang="en-US" sz="1150" dirty="0">
                <a:solidFill>
                  <a:srgbClr val="A3AEBB"/>
                </a:solidFill>
                <a:latin typeface="Calibri" pitchFamily="34" charset="0"/>
                <a:ea typeface="Calibri" pitchFamily="34" charset="-122"/>
                <a:cs typeface="Calibri" pitchFamily="34" charset="-120"/>
              </a:rPr>
              <a:t>zone prices for the modal, invalidation and runway for stops and targets</a:t>
            </a:r>
            <a:endParaRPr lang="en-US" sz="1150" dirty="0"/>
          </a:p>
        </p:txBody>
      </p:sp>
      <p:sp>
        <p:nvSpPr>
          <p:cNvPr id="65" name="Shape 62"/>
          <p:cNvSpPr/>
          <p:nvPr/>
        </p:nvSpPr>
        <p:spPr>
          <a:xfrm>
            <a:off x="5806440" y="5916168"/>
            <a:ext cx="5925312" cy="384048"/>
          </a:xfrm>
          <a:prstGeom prst="roundRect">
            <a:avLst>
              <a:gd name="adj" fmla="val 16667"/>
            </a:avLst>
          </a:prstGeom>
          <a:solidFill>
            <a:srgbClr val="2E2715"/>
          </a:solidFill>
          <a:ln w="9525">
            <a:solidFill>
              <a:srgbClr val="2E2715"/>
            </a:solidFill>
            <a:prstDash val="solid"/>
          </a:ln>
        </p:spPr>
      </p:sp>
      <p:sp>
        <p:nvSpPr>
          <p:cNvPr id="66" name="Text 63"/>
          <p:cNvSpPr txBox="1"/>
          <p:nvPr/>
        </p:nvSpPr>
        <p:spPr>
          <a:xfrm>
            <a:off x="5943600" y="5916168"/>
            <a:ext cx="5760720" cy="384048"/>
          </a:xfrm>
          <a:prstGeom prst="rect">
            <a:avLst/>
          </a:prstGeom>
          <a:noFill/>
          <a:ln/>
        </p:spPr>
        <p:txBody>
          <a:bodyPr wrap="square" lIns="0" tIns="0" rIns="0" bIns="0" rtlCol="0" anchor="ctr"/>
          <a:lstStyle/>
          <a:p>
            <a:pPr indent="0" marL="0">
              <a:buNone/>
            </a:pPr>
            <a:r>
              <a:rPr lang="en-US" sz="1100" b="1" dirty="0">
                <a:solidFill>
                  <a:srgbClr val="E2B54E"/>
                </a:solidFill>
                <a:latin typeface="Calibri" pitchFamily="34" charset="0"/>
                <a:ea typeface="Calibri" pitchFamily="34" charset="-122"/>
                <a:cs typeface="Calibri" pitchFamily="34" charset="-120"/>
              </a:rPr>
              <a:t>Recommendations here:  </a:t>
            </a:r>
            <a:pPr indent="0" marL="0">
              <a:buNone/>
            </a:pPr>
            <a:r>
              <a:rPr lang="en-US" sz="1100" dirty="0">
                <a:solidFill>
                  <a:srgbClr val="EEF1F4"/>
                </a:solidFill>
                <a:latin typeface="Calibri" pitchFamily="34" charset="0"/>
                <a:ea typeface="Calibri" pitchFamily="34" charset="-122"/>
                <a:cs typeface="Calibri" pitchFamily="34" charset="-120"/>
              </a:rPr>
              <a:t>B6 rules-based synthesis · E1 entry-zone spec</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ORIGINAL DESIGN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the documents already say about synthesis and zones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457200" y="1371600"/>
            <a:ext cx="3639312" cy="4892040"/>
          </a:xfrm>
          <a:prstGeom prst="roundRect">
            <a:avLst>
              <a:gd name="adj" fmla="val 1759"/>
            </a:avLst>
          </a:prstGeom>
          <a:solidFill>
            <a:srgbClr val="1D242E"/>
          </a:solidFill>
          <a:ln w="9525">
            <a:solidFill>
              <a:srgbClr val="323C49"/>
            </a:solidFill>
            <a:prstDash val="solid"/>
          </a:ln>
        </p:spPr>
      </p:sp>
      <p:sp>
        <p:nvSpPr>
          <p:cNvPr id="9" name="Shape 6"/>
          <p:cNvSpPr/>
          <p:nvPr/>
        </p:nvSpPr>
        <p:spPr>
          <a:xfrm>
            <a:off x="621792" y="1536192"/>
            <a:ext cx="2011680" cy="274320"/>
          </a:xfrm>
          <a:prstGeom prst="roundRect">
            <a:avLst>
              <a:gd name="adj" fmla="val 50000"/>
            </a:avLst>
          </a:prstGeom>
          <a:solidFill>
            <a:srgbClr val="262F3B"/>
          </a:solidFill>
          <a:ln w="9525">
            <a:solidFill>
              <a:srgbClr val="262F3B"/>
            </a:solidFill>
            <a:prstDash val="solid"/>
          </a:ln>
        </p:spPr>
      </p:sp>
      <p:sp>
        <p:nvSpPr>
          <p:cNvPr id="10" name="Text 7"/>
          <p:cNvSpPr txBox="1"/>
          <p:nvPr/>
        </p:nvSpPr>
        <p:spPr>
          <a:xfrm>
            <a:off x="621792" y="1536192"/>
            <a:ext cx="2011680" cy="274320"/>
          </a:xfrm>
          <a:prstGeom prst="rect">
            <a:avLst/>
          </a:prstGeom>
          <a:noFill/>
          <a:ln/>
        </p:spPr>
        <p:txBody>
          <a:bodyPr wrap="square" lIns="0" tIns="0" rIns="0" bIns="0" rtlCol="0" anchor="ctr"/>
          <a:lstStyle/>
          <a:p>
            <a:pPr algn="ctr" indent="0" marL="0">
              <a:buNone/>
            </a:pPr>
            <a:r>
              <a:rPr lang="en-US" sz="900" b="1" spc="100" kern="0" dirty="0">
                <a:solidFill>
                  <a:srgbClr val="E2B54E"/>
                </a:solidFill>
                <a:latin typeface="Calibri" pitchFamily="34" charset="0"/>
                <a:ea typeface="Calibri" pitchFamily="34" charset="-122"/>
                <a:cs typeface="Calibri" pitchFamily="34" charset="-120"/>
              </a:rPr>
              <a:t>SEED IDEA</a:t>
            </a:r>
            <a:endParaRPr lang="en-US" sz="900" dirty="0"/>
          </a:p>
        </p:txBody>
      </p:sp>
      <p:sp>
        <p:nvSpPr>
          <p:cNvPr id="11" name="Shape 8"/>
          <p:cNvSpPr/>
          <p:nvPr/>
        </p:nvSpPr>
        <p:spPr>
          <a:xfrm>
            <a:off x="658368" y="2176272"/>
            <a:ext cx="100584" cy="100584"/>
          </a:xfrm>
          <a:prstGeom prst="ellipse">
            <a:avLst/>
          </a:prstGeom>
          <a:solidFill>
            <a:srgbClr val="E2B54E"/>
          </a:solidFill>
          <a:ln w="12700">
            <a:solidFill>
              <a:srgbClr val="E2B54E"/>
            </a:solidFill>
            <a:prstDash val="solid"/>
          </a:ln>
        </p:spPr>
      </p:sp>
      <p:sp>
        <p:nvSpPr>
          <p:cNvPr id="12" name="Text 9"/>
          <p:cNvSpPr txBox="1"/>
          <p:nvPr/>
        </p:nvSpPr>
        <p:spPr>
          <a:xfrm>
            <a:off x="859536" y="2048256"/>
            <a:ext cx="3108960" cy="932688"/>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Three tiers: sensors → aggregator + scenario classifier → deterministic strategy generator → LLM</a:t>
            </a:r>
            <a:endParaRPr lang="en-US" sz="1200" dirty="0"/>
          </a:p>
        </p:txBody>
      </p:sp>
      <p:sp>
        <p:nvSpPr>
          <p:cNvPr id="13" name="Shape 10"/>
          <p:cNvSpPr/>
          <p:nvPr/>
        </p:nvSpPr>
        <p:spPr>
          <a:xfrm>
            <a:off x="658368" y="3182112"/>
            <a:ext cx="100584" cy="100584"/>
          </a:xfrm>
          <a:prstGeom prst="ellipse">
            <a:avLst/>
          </a:prstGeom>
          <a:solidFill>
            <a:srgbClr val="E2B54E"/>
          </a:solidFill>
          <a:ln w="12700">
            <a:solidFill>
              <a:srgbClr val="E2B54E"/>
            </a:solidFill>
            <a:prstDash val="solid"/>
          </a:ln>
        </p:spPr>
      </p:sp>
      <p:sp>
        <p:nvSpPr>
          <p:cNvPr id="14" name="Text 11"/>
          <p:cNvSpPr txBox="1"/>
          <p:nvPr/>
        </p:nvSpPr>
        <p:spPr>
          <a:xfrm>
            <a:off x="859536" y="3054096"/>
            <a:ext cx="3108960" cy="932688"/>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Four archetypes: A trend continuation, B exhaustion / snapback, C macro counter-trend rally, D range / stand aside</a:t>
            </a:r>
            <a:endParaRPr lang="en-US" sz="1200" dirty="0"/>
          </a:p>
        </p:txBody>
      </p:sp>
      <p:sp>
        <p:nvSpPr>
          <p:cNvPr id="15" name="Shape 12"/>
          <p:cNvSpPr/>
          <p:nvPr/>
        </p:nvSpPr>
        <p:spPr>
          <a:xfrm>
            <a:off x="658368" y="4187952"/>
            <a:ext cx="100584" cy="100584"/>
          </a:xfrm>
          <a:prstGeom prst="ellipse">
            <a:avLst/>
          </a:prstGeom>
          <a:solidFill>
            <a:srgbClr val="E2B54E"/>
          </a:solidFill>
          <a:ln w="12700">
            <a:solidFill>
              <a:srgbClr val="E2B54E"/>
            </a:solidFill>
            <a:prstDash val="solid"/>
          </a:ln>
        </p:spPr>
      </p:sp>
      <p:sp>
        <p:nvSpPr>
          <p:cNvPr id="16" name="Text 13"/>
          <p:cNvSpPr txBox="1"/>
          <p:nvPr/>
        </p:nvSpPr>
        <p:spPr>
          <a:xfrm>
            <a:off x="859536" y="4059936"/>
            <a:ext cx="3108960" cy="932688"/>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Confidence grades S / A / B from WACS (now retired)</a:t>
            </a:r>
            <a:endParaRPr lang="en-US" sz="1200" dirty="0"/>
          </a:p>
        </p:txBody>
      </p:sp>
      <p:sp>
        <p:nvSpPr>
          <p:cNvPr id="17" name="Shape 14"/>
          <p:cNvSpPr/>
          <p:nvPr/>
        </p:nvSpPr>
        <p:spPr>
          <a:xfrm>
            <a:off x="4261104" y="1371600"/>
            <a:ext cx="3639312" cy="4892040"/>
          </a:xfrm>
          <a:prstGeom prst="roundRect">
            <a:avLst>
              <a:gd name="adj" fmla="val 1759"/>
            </a:avLst>
          </a:prstGeom>
          <a:solidFill>
            <a:srgbClr val="1D242E"/>
          </a:solidFill>
          <a:ln w="9525">
            <a:solidFill>
              <a:srgbClr val="323C49"/>
            </a:solidFill>
            <a:prstDash val="solid"/>
          </a:ln>
        </p:spPr>
      </p:sp>
      <p:sp>
        <p:nvSpPr>
          <p:cNvPr id="18" name="Shape 15"/>
          <p:cNvSpPr/>
          <p:nvPr/>
        </p:nvSpPr>
        <p:spPr>
          <a:xfrm>
            <a:off x="4425696" y="1536192"/>
            <a:ext cx="2011680" cy="274320"/>
          </a:xfrm>
          <a:prstGeom prst="roundRect">
            <a:avLst>
              <a:gd name="adj" fmla="val 50000"/>
            </a:avLst>
          </a:prstGeom>
          <a:solidFill>
            <a:srgbClr val="262F3B"/>
          </a:solidFill>
          <a:ln w="9525">
            <a:solidFill>
              <a:srgbClr val="262F3B"/>
            </a:solidFill>
            <a:prstDash val="solid"/>
          </a:ln>
        </p:spPr>
      </p:sp>
      <p:sp>
        <p:nvSpPr>
          <p:cNvPr id="19" name="Text 16"/>
          <p:cNvSpPr txBox="1"/>
          <p:nvPr/>
        </p:nvSpPr>
        <p:spPr>
          <a:xfrm>
            <a:off x="4425696" y="1536192"/>
            <a:ext cx="2011680" cy="274320"/>
          </a:xfrm>
          <a:prstGeom prst="rect">
            <a:avLst/>
          </a:prstGeom>
          <a:noFill/>
          <a:ln/>
        </p:spPr>
        <p:txBody>
          <a:bodyPr wrap="square" lIns="0" tIns="0" rIns="0" bIns="0" rtlCol="0" anchor="ctr"/>
          <a:lstStyle/>
          <a:p>
            <a:pPr algn="ctr" indent="0" marL="0">
              <a:buNone/>
            </a:pPr>
            <a:r>
              <a:rPr lang="en-US" sz="900" b="1" spc="100" kern="0" dirty="0">
                <a:solidFill>
                  <a:srgbClr val="E2B54E"/>
                </a:solidFill>
                <a:latin typeface="Calibri" pitchFamily="34" charset="0"/>
                <a:ea typeface="Calibri" pitchFamily="34" charset="-122"/>
                <a:cs typeface="Calibri" pitchFamily="34" charset="-120"/>
              </a:rPr>
              <a:t>FILE A</a:t>
            </a:r>
            <a:endParaRPr lang="en-US" sz="900" dirty="0"/>
          </a:p>
        </p:txBody>
      </p:sp>
      <p:sp>
        <p:nvSpPr>
          <p:cNvPr id="20" name="Shape 17"/>
          <p:cNvSpPr/>
          <p:nvPr/>
        </p:nvSpPr>
        <p:spPr>
          <a:xfrm>
            <a:off x="4462272" y="2176272"/>
            <a:ext cx="100584" cy="100584"/>
          </a:xfrm>
          <a:prstGeom prst="ellipse">
            <a:avLst/>
          </a:prstGeom>
          <a:solidFill>
            <a:srgbClr val="E2B54E"/>
          </a:solidFill>
          <a:ln w="12700">
            <a:solidFill>
              <a:srgbClr val="E2B54E"/>
            </a:solidFill>
            <a:prstDash val="solid"/>
          </a:ln>
        </p:spPr>
      </p:sp>
      <p:sp>
        <p:nvSpPr>
          <p:cNvPr id="21" name="Text 18"/>
          <p:cNvSpPr txBox="1"/>
          <p:nvPr/>
        </p:nvSpPr>
        <p:spPr>
          <a:xfrm>
            <a:off x="4663440" y="2048256"/>
            <a:ext cx="3108960" cy="932688"/>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M15 structure (MCD1) sets direction; M5 sets entry timing</a:t>
            </a:r>
            <a:endParaRPr lang="en-US" sz="1200" dirty="0"/>
          </a:p>
        </p:txBody>
      </p:sp>
      <p:sp>
        <p:nvSpPr>
          <p:cNvPr id="22" name="Shape 19"/>
          <p:cNvSpPr/>
          <p:nvPr/>
        </p:nvSpPr>
        <p:spPr>
          <a:xfrm>
            <a:off x="4462272" y="3182112"/>
            <a:ext cx="100584" cy="100584"/>
          </a:xfrm>
          <a:prstGeom prst="ellipse">
            <a:avLst/>
          </a:prstGeom>
          <a:solidFill>
            <a:srgbClr val="E2B54E"/>
          </a:solidFill>
          <a:ln w="12700">
            <a:solidFill>
              <a:srgbClr val="E2B54E"/>
            </a:solidFill>
            <a:prstDash val="solid"/>
          </a:ln>
        </p:spPr>
      </p:sp>
      <p:sp>
        <p:nvSpPr>
          <p:cNvPr id="23" name="Text 20"/>
          <p:cNvSpPr txBox="1"/>
          <p:nvPr/>
        </p:nvSpPr>
        <p:spPr>
          <a:xfrm>
            <a:off x="4663440" y="3054096"/>
            <a:ext cx="3108960" cy="932688"/>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Precedence: M15 structure ≻ support &amp; resistance ≻ trendlines ≻ oscillators</a:t>
            </a:r>
            <a:endParaRPr lang="en-US" sz="1200" dirty="0"/>
          </a:p>
        </p:txBody>
      </p:sp>
      <p:sp>
        <p:nvSpPr>
          <p:cNvPr id="24" name="Shape 21"/>
          <p:cNvSpPr/>
          <p:nvPr/>
        </p:nvSpPr>
        <p:spPr>
          <a:xfrm>
            <a:off x="4462272" y="4187952"/>
            <a:ext cx="100584" cy="100584"/>
          </a:xfrm>
          <a:prstGeom prst="ellipse">
            <a:avLst/>
          </a:prstGeom>
          <a:solidFill>
            <a:srgbClr val="E2B54E"/>
          </a:solidFill>
          <a:ln w="12700">
            <a:solidFill>
              <a:srgbClr val="E2B54E"/>
            </a:solidFill>
            <a:prstDash val="solid"/>
          </a:ln>
        </p:spPr>
      </p:sp>
      <p:sp>
        <p:nvSpPr>
          <p:cNvPr id="25" name="Text 22"/>
          <p:cNvSpPr txBox="1"/>
          <p:nvPr/>
        </p:nvSpPr>
        <p:spPr>
          <a:xfrm>
            <a:off x="4663440" y="4059936"/>
            <a:ext cx="3108960" cy="932688"/>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Stops behind structure, e.g. $0.50 below LOEDT or under sr_1</a:t>
            </a:r>
            <a:endParaRPr lang="en-US" sz="1200" dirty="0"/>
          </a:p>
        </p:txBody>
      </p:sp>
      <p:sp>
        <p:nvSpPr>
          <p:cNvPr id="26" name="Shape 23"/>
          <p:cNvSpPr/>
          <p:nvPr/>
        </p:nvSpPr>
        <p:spPr>
          <a:xfrm>
            <a:off x="4462272" y="5193792"/>
            <a:ext cx="100584" cy="100584"/>
          </a:xfrm>
          <a:prstGeom prst="ellipse">
            <a:avLst/>
          </a:prstGeom>
          <a:solidFill>
            <a:srgbClr val="E2B54E"/>
          </a:solidFill>
          <a:ln w="12700">
            <a:solidFill>
              <a:srgbClr val="E2B54E"/>
            </a:solidFill>
            <a:prstDash val="solid"/>
          </a:ln>
        </p:spPr>
      </p:sp>
      <p:sp>
        <p:nvSpPr>
          <p:cNvPr id="27" name="Text 24"/>
          <p:cNvSpPr txBox="1"/>
          <p:nvPr/>
        </p:nvSpPr>
        <p:spPr>
          <a:xfrm>
            <a:off x="4663440" y="5065776"/>
            <a:ext cx="3108960" cy="932688"/>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Counter-trend reward-to-risk capped at 2.50×</a:t>
            </a:r>
            <a:endParaRPr lang="en-US" sz="1200" dirty="0"/>
          </a:p>
        </p:txBody>
      </p:sp>
      <p:sp>
        <p:nvSpPr>
          <p:cNvPr id="28" name="Shape 25"/>
          <p:cNvSpPr/>
          <p:nvPr/>
        </p:nvSpPr>
        <p:spPr>
          <a:xfrm>
            <a:off x="8065008" y="1371600"/>
            <a:ext cx="3639312" cy="4892040"/>
          </a:xfrm>
          <a:prstGeom prst="roundRect">
            <a:avLst>
              <a:gd name="adj" fmla="val 1759"/>
            </a:avLst>
          </a:prstGeom>
          <a:solidFill>
            <a:srgbClr val="1D242E"/>
          </a:solidFill>
          <a:ln w="9525">
            <a:solidFill>
              <a:srgbClr val="323C49"/>
            </a:solidFill>
            <a:prstDash val="solid"/>
          </a:ln>
        </p:spPr>
      </p:sp>
      <p:sp>
        <p:nvSpPr>
          <p:cNvPr id="29" name="Shape 26"/>
          <p:cNvSpPr/>
          <p:nvPr/>
        </p:nvSpPr>
        <p:spPr>
          <a:xfrm>
            <a:off x="8229600" y="1536192"/>
            <a:ext cx="2011680" cy="274320"/>
          </a:xfrm>
          <a:prstGeom prst="roundRect">
            <a:avLst>
              <a:gd name="adj" fmla="val 50000"/>
            </a:avLst>
          </a:prstGeom>
          <a:solidFill>
            <a:srgbClr val="262F3B"/>
          </a:solidFill>
          <a:ln w="9525">
            <a:solidFill>
              <a:srgbClr val="262F3B"/>
            </a:solidFill>
            <a:prstDash val="solid"/>
          </a:ln>
        </p:spPr>
      </p:sp>
      <p:sp>
        <p:nvSpPr>
          <p:cNvPr id="30" name="Text 27"/>
          <p:cNvSpPr txBox="1"/>
          <p:nvPr/>
        </p:nvSpPr>
        <p:spPr>
          <a:xfrm>
            <a:off x="8229600" y="1536192"/>
            <a:ext cx="2011680" cy="274320"/>
          </a:xfrm>
          <a:prstGeom prst="rect">
            <a:avLst/>
          </a:prstGeom>
          <a:noFill/>
          <a:ln/>
        </p:spPr>
        <p:txBody>
          <a:bodyPr wrap="square" lIns="0" tIns="0" rIns="0" bIns="0" rtlCol="0" anchor="ctr"/>
          <a:lstStyle/>
          <a:p>
            <a:pPr algn="ctr" indent="0" marL="0">
              <a:buNone/>
            </a:pPr>
            <a:r>
              <a:rPr lang="en-US" sz="900" b="1" spc="100" kern="0" dirty="0">
                <a:solidFill>
                  <a:srgbClr val="E2B54E"/>
                </a:solidFill>
                <a:latin typeface="Calibri" pitchFamily="34" charset="0"/>
                <a:ea typeface="Calibri" pitchFamily="34" charset="-122"/>
                <a:cs typeface="Calibri" pitchFamily="34" charset="-120"/>
              </a:rPr>
              <a:t>FILE G + ENGINE 4</a:t>
            </a:r>
            <a:endParaRPr lang="en-US" sz="900" dirty="0"/>
          </a:p>
        </p:txBody>
      </p:sp>
      <p:sp>
        <p:nvSpPr>
          <p:cNvPr id="31" name="Shape 28"/>
          <p:cNvSpPr/>
          <p:nvPr/>
        </p:nvSpPr>
        <p:spPr>
          <a:xfrm>
            <a:off x="8266176" y="2176272"/>
            <a:ext cx="100584" cy="100584"/>
          </a:xfrm>
          <a:prstGeom prst="ellipse">
            <a:avLst/>
          </a:prstGeom>
          <a:solidFill>
            <a:srgbClr val="E2B54E"/>
          </a:solidFill>
          <a:ln w="12700">
            <a:solidFill>
              <a:srgbClr val="E2B54E"/>
            </a:solidFill>
            <a:prstDash val="solid"/>
          </a:ln>
        </p:spPr>
      </p:sp>
      <p:sp>
        <p:nvSpPr>
          <p:cNvPr id="32" name="Text 29"/>
          <p:cNvSpPr txBox="1"/>
          <p:nvPr/>
        </p:nvSpPr>
        <p:spPr>
          <a:xfrm>
            <a:off x="8467344" y="2048256"/>
            <a:ext cx="3108960" cy="932688"/>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Modal input 2: five entry prices from an “Entry Price Zone Calculation Engine”</a:t>
            </a:r>
            <a:endParaRPr lang="en-US" sz="1200" dirty="0"/>
          </a:p>
        </p:txBody>
      </p:sp>
      <p:sp>
        <p:nvSpPr>
          <p:cNvPr id="33" name="Shape 30"/>
          <p:cNvSpPr/>
          <p:nvPr/>
        </p:nvSpPr>
        <p:spPr>
          <a:xfrm>
            <a:off x="8266176" y="3182112"/>
            <a:ext cx="100584" cy="100584"/>
          </a:xfrm>
          <a:prstGeom prst="ellipse">
            <a:avLst/>
          </a:prstGeom>
          <a:solidFill>
            <a:srgbClr val="E2B54E"/>
          </a:solidFill>
          <a:ln w="12700">
            <a:solidFill>
              <a:srgbClr val="E2B54E"/>
            </a:solidFill>
            <a:prstDash val="solid"/>
          </a:ln>
        </p:spPr>
      </p:sp>
      <p:sp>
        <p:nvSpPr>
          <p:cNvPr id="34" name="Text 31"/>
          <p:cNvSpPr txBox="1"/>
          <p:nvPr/>
        </p:nvSpPr>
        <p:spPr>
          <a:xfrm>
            <a:off x="8467344" y="3054096"/>
            <a:ext cx="3108960" cy="932688"/>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Its spec is a separate document that does not exist; the example is a $2.50 ladder</a:t>
            </a:r>
            <a:endParaRPr lang="en-US" sz="1200" dirty="0"/>
          </a:p>
        </p:txBody>
      </p:sp>
      <p:sp>
        <p:nvSpPr>
          <p:cNvPr id="35" name="Shape 32"/>
          <p:cNvSpPr/>
          <p:nvPr/>
        </p:nvSpPr>
        <p:spPr>
          <a:xfrm>
            <a:off x="8266176" y="4187952"/>
            <a:ext cx="100584" cy="100584"/>
          </a:xfrm>
          <a:prstGeom prst="ellipse">
            <a:avLst/>
          </a:prstGeom>
          <a:solidFill>
            <a:srgbClr val="E2B54E"/>
          </a:solidFill>
          <a:ln w="12700">
            <a:solidFill>
              <a:srgbClr val="E2B54E"/>
            </a:solidFill>
            <a:prstDash val="solid"/>
          </a:ln>
        </p:spPr>
      </p:sp>
      <p:sp>
        <p:nvSpPr>
          <p:cNvPr id="36" name="Text 33"/>
          <p:cNvSpPr txBox="1"/>
          <p:nvPr/>
        </p:nvSpPr>
        <p:spPr>
          <a:xfrm>
            <a:off x="8467344" y="4059936"/>
            <a:ext cx="3108960" cy="932688"/>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Day Trader: M15 structure + M5 trigger. Scalper: M5 for both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WHAT’S MISSING</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Eight gaps between the sensors and a trade setup</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4</a:t>
            </a:r>
            <a:endParaRPr lang="en-US" sz="1000" dirty="0"/>
          </a:p>
        </p:txBody>
      </p:sp>
      <p:sp>
        <p:nvSpPr>
          <p:cNvPr id="8" name="Shape 5"/>
          <p:cNvSpPr/>
          <p:nvPr/>
        </p:nvSpPr>
        <p:spPr>
          <a:xfrm>
            <a:off x="457200" y="1371600"/>
            <a:ext cx="2697480" cy="2359152"/>
          </a:xfrm>
          <a:prstGeom prst="roundRect">
            <a:avLst>
              <a:gd name="adj" fmla="val 2713"/>
            </a:avLst>
          </a:prstGeom>
          <a:solidFill>
            <a:srgbClr val="33201F"/>
          </a:solidFill>
          <a:ln w="15875">
            <a:solidFill>
              <a:srgbClr val="E5746A"/>
            </a:solidFill>
            <a:prstDash val="solid"/>
          </a:ln>
        </p:spPr>
      </p:sp>
      <p:sp>
        <p:nvSpPr>
          <p:cNvPr id="9" name="Shape 6"/>
          <p:cNvSpPr/>
          <p:nvPr/>
        </p:nvSpPr>
        <p:spPr>
          <a:xfrm>
            <a:off x="585216" y="1499616"/>
            <a:ext cx="438912" cy="438912"/>
          </a:xfrm>
          <a:prstGeom prst="ellipse">
            <a:avLst/>
          </a:prstGeom>
          <a:solidFill>
            <a:srgbClr val="0F1318"/>
          </a:solidFill>
          <a:ln w="12700">
            <a:solidFill>
              <a:srgbClr val="0F1318"/>
            </a:solidFill>
            <a:prstDash val="solid"/>
          </a:ln>
        </p:spPr>
      </p:sp>
      <p:pic>
        <p:nvPicPr>
          <p:cNvPr id="10" name="Image 0" descr="preencoded.png">    </p:cNvPr>
          <p:cNvPicPr>
            <a:picLocks noChangeAspect="1"/>
          </p:cNvPicPr>
          <p:nvPr/>
        </p:nvPicPr>
        <p:blipFill>
          <a:blip r:embed="rId1"/>
          <a:stretch>
            <a:fillRect/>
          </a:stretch>
        </p:blipFill>
        <p:spPr>
          <a:xfrm>
            <a:off x="686166" y="1600566"/>
            <a:ext cx="237012" cy="237012"/>
          </a:xfrm>
          <a:prstGeom prst="rect">
            <a:avLst/>
          </a:prstGeom>
        </p:spPr>
      </p:pic>
      <p:sp>
        <p:nvSpPr>
          <p:cNvPr id="11" name="Text 7"/>
          <p:cNvSpPr txBox="1"/>
          <p:nvPr/>
        </p:nvSpPr>
        <p:spPr>
          <a:xfrm>
            <a:off x="111556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Nothing combines the sensors</a:t>
            </a:r>
            <a:endParaRPr lang="en-US" sz="1200" dirty="0"/>
          </a:p>
        </p:txBody>
      </p:sp>
      <p:sp>
        <p:nvSpPr>
          <p:cNvPr id="12" name="Text 8"/>
          <p:cNvSpPr txBox="1"/>
          <p:nvPr/>
        </p:nvSpPr>
        <p:spPr>
          <a:xfrm>
            <a:off x="603504" y="2048256"/>
            <a:ext cx="2432304" cy="1097280"/>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WACS is retired and the storyline removed. The seed’s “deterministic strategy generator” was never specified.</a:t>
            </a:r>
            <a:endParaRPr lang="en-US" sz="1050" dirty="0"/>
          </a:p>
        </p:txBody>
      </p:sp>
      <p:sp>
        <p:nvSpPr>
          <p:cNvPr id="13" name="Text 9"/>
          <p:cNvSpPr txBox="1"/>
          <p:nvPr/>
        </p:nvSpPr>
        <p:spPr>
          <a:xfrm>
            <a:off x="60350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No direction exists unless the LLM invents one.</a:t>
            </a:r>
            <a:endParaRPr lang="en-US" sz="1000" dirty="0"/>
          </a:p>
        </p:txBody>
      </p:sp>
      <p:sp>
        <p:nvSpPr>
          <p:cNvPr id="14" name="Shape 10"/>
          <p:cNvSpPr/>
          <p:nvPr/>
        </p:nvSpPr>
        <p:spPr>
          <a:xfrm>
            <a:off x="3291840" y="1371600"/>
            <a:ext cx="2697480" cy="2359152"/>
          </a:xfrm>
          <a:prstGeom prst="roundRect">
            <a:avLst>
              <a:gd name="adj" fmla="val 2713"/>
            </a:avLst>
          </a:prstGeom>
          <a:solidFill>
            <a:srgbClr val="1D242E"/>
          </a:solidFill>
          <a:ln w="9525">
            <a:solidFill>
              <a:srgbClr val="323C49"/>
            </a:solidFill>
            <a:prstDash val="solid"/>
          </a:ln>
        </p:spPr>
      </p:sp>
      <p:sp>
        <p:nvSpPr>
          <p:cNvPr id="15" name="Shape 11"/>
          <p:cNvSpPr/>
          <p:nvPr/>
        </p:nvSpPr>
        <p:spPr>
          <a:xfrm>
            <a:off x="3419856" y="1499616"/>
            <a:ext cx="438912" cy="438912"/>
          </a:xfrm>
          <a:prstGeom prst="ellipse">
            <a:avLst/>
          </a:prstGeom>
          <a:solidFill>
            <a:srgbClr val="0F1318"/>
          </a:solidFill>
          <a:ln w="12700">
            <a:solidFill>
              <a:srgbClr val="0F1318"/>
            </a:solidFill>
            <a:prstDash val="solid"/>
          </a:ln>
        </p:spPr>
      </p:sp>
      <p:pic>
        <p:nvPicPr>
          <p:cNvPr id="16" name="Image 1" descr="preencoded.png">    </p:cNvPr>
          <p:cNvPicPr>
            <a:picLocks noChangeAspect="1"/>
          </p:cNvPicPr>
          <p:nvPr/>
        </p:nvPicPr>
        <p:blipFill>
          <a:blip r:embed="rId2"/>
          <a:stretch>
            <a:fillRect/>
          </a:stretch>
        </p:blipFill>
        <p:spPr>
          <a:xfrm>
            <a:off x="3520806" y="1600566"/>
            <a:ext cx="237012" cy="237012"/>
          </a:xfrm>
          <a:prstGeom prst="rect">
            <a:avLst/>
          </a:prstGeom>
        </p:spPr>
      </p:pic>
      <p:sp>
        <p:nvSpPr>
          <p:cNvPr id="17" name="Text 12"/>
          <p:cNvSpPr txBox="1"/>
          <p:nvPr/>
        </p:nvSpPr>
        <p:spPr>
          <a:xfrm>
            <a:off x="395020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Direction left to the LLM</a:t>
            </a:r>
            <a:endParaRPr lang="en-US" sz="1200" dirty="0"/>
          </a:p>
        </p:txBody>
      </p:sp>
      <p:sp>
        <p:nvSpPr>
          <p:cNvPr id="18" name="Text 13"/>
          <p:cNvSpPr txBox="1"/>
          <p:nvPr/>
        </p:nvSpPr>
        <p:spPr>
          <a:xfrm>
            <a:off x="343814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Without rules, the model chooses bias and stand-aside itself.</a:t>
            </a:r>
            <a:endParaRPr lang="en-US" sz="1050" dirty="0"/>
          </a:p>
        </p:txBody>
      </p:sp>
      <p:sp>
        <p:nvSpPr>
          <p:cNvPr id="19" name="Text 14"/>
          <p:cNvSpPr txBox="1"/>
          <p:nvPr/>
        </p:nvSpPr>
        <p:spPr>
          <a:xfrm>
            <a:off x="343814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The same data can give a different answer on regenerate.</a:t>
            </a:r>
            <a:endParaRPr lang="en-US" sz="1000" dirty="0"/>
          </a:p>
        </p:txBody>
      </p:sp>
      <p:sp>
        <p:nvSpPr>
          <p:cNvPr id="20" name="Shape 15"/>
          <p:cNvSpPr/>
          <p:nvPr/>
        </p:nvSpPr>
        <p:spPr>
          <a:xfrm>
            <a:off x="6126480" y="1371600"/>
            <a:ext cx="2697480" cy="2359152"/>
          </a:xfrm>
          <a:prstGeom prst="roundRect">
            <a:avLst>
              <a:gd name="adj" fmla="val 2713"/>
            </a:avLst>
          </a:prstGeom>
          <a:solidFill>
            <a:srgbClr val="1D242E"/>
          </a:solidFill>
          <a:ln w="9525">
            <a:solidFill>
              <a:srgbClr val="323C49"/>
            </a:solidFill>
            <a:prstDash val="solid"/>
          </a:ln>
        </p:spPr>
      </p:sp>
      <p:sp>
        <p:nvSpPr>
          <p:cNvPr id="21" name="Shape 16"/>
          <p:cNvSpPr/>
          <p:nvPr/>
        </p:nvSpPr>
        <p:spPr>
          <a:xfrm>
            <a:off x="6254496" y="1499616"/>
            <a:ext cx="438912" cy="438912"/>
          </a:xfrm>
          <a:prstGeom prst="ellipse">
            <a:avLst/>
          </a:prstGeom>
          <a:solidFill>
            <a:srgbClr val="0F1318"/>
          </a:solidFill>
          <a:ln w="12700">
            <a:solidFill>
              <a:srgbClr val="0F1318"/>
            </a:solidFill>
            <a:prstDash val="solid"/>
          </a:ln>
        </p:spPr>
      </p:sp>
      <p:pic>
        <p:nvPicPr>
          <p:cNvPr id="22" name="Image 2" descr="preencoded.png">    </p:cNvPr>
          <p:cNvPicPr>
            <a:picLocks noChangeAspect="1"/>
          </p:cNvPicPr>
          <p:nvPr/>
        </p:nvPicPr>
        <p:blipFill>
          <a:blip r:embed="rId3"/>
          <a:stretch>
            <a:fillRect/>
          </a:stretch>
        </p:blipFill>
        <p:spPr>
          <a:xfrm>
            <a:off x="6355446" y="1600566"/>
            <a:ext cx="237012" cy="237012"/>
          </a:xfrm>
          <a:prstGeom prst="rect">
            <a:avLst/>
          </a:prstGeom>
        </p:spPr>
      </p:pic>
      <p:sp>
        <p:nvSpPr>
          <p:cNvPr id="23" name="Text 17"/>
          <p:cNvSpPr txBox="1"/>
          <p:nvPr/>
        </p:nvSpPr>
        <p:spPr>
          <a:xfrm>
            <a:off x="678484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Archetypes built on sensors that don’t exist</a:t>
            </a:r>
            <a:endParaRPr lang="en-US" sz="1200" dirty="0"/>
          </a:p>
        </p:txBody>
      </p:sp>
      <p:sp>
        <p:nvSpPr>
          <p:cNvPr id="24" name="Text 18"/>
          <p:cNvSpPr txBox="1"/>
          <p:nvPr/>
        </p:nvSpPr>
        <p:spPr>
          <a:xfrm>
            <a:off x="627278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The seed’s A–D use MCD3 as S&amp;R, MCD4 as Z-score, MCD5 as ZigZag. The built MCD3 is something else.</a:t>
            </a:r>
            <a:endParaRPr lang="en-US" sz="1050" dirty="0"/>
          </a:p>
        </p:txBody>
      </p:sp>
      <p:sp>
        <p:nvSpPr>
          <p:cNvPr id="25" name="Text 19"/>
          <p:cNvSpPr txBox="1"/>
          <p:nvPr/>
        </p:nvSpPr>
        <p:spPr>
          <a:xfrm>
            <a:off x="627278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The archetypes can’t run as written.</a:t>
            </a:r>
            <a:endParaRPr lang="en-US" sz="1000" dirty="0"/>
          </a:p>
        </p:txBody>
      </p:sp>
      <p:sp>
        <p:nvSpPr>
          <p:cNvPr id="26" name="Shape 20"/>
          <p:cNvSpPr/>
          <p:nvPr/>
        </p:nvSpPr>
        <p:spPr>
          <a:xfrm>
            <a:off x="8961120" y="1371600"/>
            <a:ext cx="2697480" cy="2359152"/>
          </a:xfrm>
          <a:prstGeom prst="roundRect">
            <a:avLst>
              <a:gd name="adj" fmla="val 2713"/>
            </a:avLst>
          </a:prstGeom>
          <a:solidFill>
            <a:srgbClr val="1D242E"/>
          </a:solidFill>
          <a:ln w="9525">
            <a:solidFill>
              <a:srgbClr val="323C49"/>
            </a:solidFill>
            <a:prstDash val="solid"/>
          </a:ln>
        </p:spPr>
      </p:sp>
      <p:sp>
        <p:nvSpPr>
          <p:cNvPr id="27" name="Shape 21"/>
          <p:cNvSpPr/>
          <p:nvPr/>
        </p:nvSpPr>
        <p:spPr>
          <a:xfrm>
            <a:off x="9089136" y="1499616"/>
            <a:ext cx="438912" cy="438912"/>
          </a:xfrm>
          <a:prstGeom prst="ellipse">
            <a:avLst/>
          </a:prstGeom>
          <a:solidFill>
            <a:srgbClr val="0F1318"/>
          </a:solidFill>
          <a:ln w="12700">
            <a:solidFill>
              <a:srgbClr val="0F1318"/>
            </a:solidFill>
            <a:prstDash val="solid"/>
          </a:ln>
        </p:spPr>
      </p:sp>
      <p:pic>
        <p:nvPicPr>
          <p:cNvPr id="28" name="Image 3" descr="preencoded.png">    </p:cNvPr>
          <p:cNvPicPr>
            <a:picLocks noChangeAspect="1"/>
          </p:cNvPicPr>
          <p:nvPr/>
        </p:nvPicPr>
        <p:blipFill>
          <a:blip r:embed="rId4"/>
          <a:stretch>
            <a:fillRect/>
          </a:stretch>
        </p:blipFill>
        <p:spPr>
          <a:xfrm>
            <a:off x="9190086" y="1600566"/>
            <a:ext cx="237012" cy="237012"/>
          </a:xfrm>
          <a:prstGeom prst="rect">
            <a:avLst/>
          </a:prstGeom>
        </p:spPr>
      </p:pic>
      <p:sp>
        <p:nvSpPr>
          <p:cNvPr id="29" name="Text 22"/>
          <p:cNvSpPr txBox="1"/>
          <p:nvPr/>
        </p:nvSpPr>
        <p:spPr>
          <a:xfrm>
            <a:off x="961948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No trader-type view</a:t>
            </a:r>
            <a:endParaRPr lang="en-US" sz="1200" dirty="0"/>
          </a:p>
        </p:txBody>
      </p:sp>
      <p:sp>
        <p:nvSpPr>
          <p:cNvPr id="30" name="Text 23"/>
          <p:cNvSpPr txBox="1"/>
          <p:nvPr/>
        </p:nvSpPr>
        <p:spPr>
          <a:xfrm>
            <a:off x="910742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Engine 4 gives Day Traders M15 structure and Scalpers M5. One synthesis can’t serve both.</a:t>
            </a:r>
            <a:endParaRPr lang="en-US" sz="1050" dirty="0"/>
          </a:p>
        </p:txBody>
      </p:sp>
      <p:sp>
        <p:nvSpPr>
          <p:cNvPr id="31" name="Text 24"/>
          <p:cNvSpPr txBox="1"/>
          <p:nvPr/>
        </p:nvSpPr>
        <p:spPr>
          <a:xfrm>
            <a:off x="910742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A scalper gets a day trader’s direction.</a:t>
            </a:r>
            <a:endParaRPr lang="en-US" sz="1000" dirty="0"/>
          </a:p>
        </p:txBody>
      </p:sp>
      <p:sp>
        <p:nvSpPr>
          <p:cNvPr id="32" name="Shape 25"/>
          <p:cNvSpPr/>
          <p:nvPr/>
        </p:nvSpPr>
        <p:spPr>
          <a:xfrm>
            <a:off x="457200" y="3858768"/>
            <a:ext cx="2697480" cy="2359152"/>
          </a:xfrm>
          <a:prstGeom prst="roundRect">
            <a:avLst>
              <a:gd name="adj" fmla="val 2713"/>
            </a:avLst>
          </a:prstGeom>
          <a:solidFill>
            <a:srgbClr val="1D242E"/>
          </a:solidFill>
          <a:ln w="9525">
            <a:solidFill>
              <a:srgbClr val="323C49"/>
            </a:solidFill>
            <a:prstDash val="solid"/>
          </a:ln>
        </p:spPr>
      </p:sp>
      <p:sp>
        <p:nvSpPr>
          <p:cNvPr id="33" name="Shape 26"/>
          <p:cNvSpPr/>
          <p:nvPr/>
        </p:nvSpPr>
        <p:spPr>
          <a:xfrm>
            <a:off x="585216" y="3986784"/>
            <a:ext cx="438912" cy="438912"/>
          </a:xfrm>
          <a:prstGeom prst="ellipse">
            <a:avLst/>
          </a:prstGeom>
          <a:solidFill>
            <a:srgbClr val="0F1318"/>
          </a:solidFill>
          <a:ln w="12700">
            <a:solidFill>
              <a:srgbClr val="0F1318"/>
            </a:solidFill>
            <a:prstDash val="solid"/>
          </a:ln>
        </p:spPr>
      </p:sp>
      <p:pic>
        <p:nvPicPr>
          <p:cNvPr id="34" name="Image 4" descr="preencoded.png">    </p:cNvPr>
          <p:cNvPicPr>
            <a:picLocks noChangeAspect="1"/>
          </p:cNvPicPr>
          <p:nvPr/>
        </p:nvPicPr>
        <p:blipFill>
          <a:blip r:embed="rId5"/>
          <a:stretch>
            <a:fillRect/>
          </a:stretch>
        </p:blipFill>
        <p:spPr>
          <a:xfrm>
            <a:off x="686166" y="4087734"/>
            <a:ext cx="237012" cy="237012"/>
          </a:xfrm>
          <a:prstGeom prst="rect">
            <a:avLst/>
          </a:prstGeom>
        </p:spPr>
      </p:pic>
      <p:sp>
        <p:nvSpPr>
          <p:cNvPr id="35" name="Text 27"/>
          <p:cNvSpPr txBox="1"/>
          <p:nvPr/>
        </p:nvSpPr>
        <p:spPr>
          <a:xfrm>
            <a:off x="111556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The entry-zone spec is missing</a:t>
            </a:r>
            <a:endParaRPr lang="en-US" sz="1200" dirty="0"/>
          </a:p>
        </p:txBody>
      </p:sp>
      <p:sp>
        <p:nvSpPr>
          <p:cNvPr id="36" name="Text 28"/>
          <p:cNvSpPr txBox="1"/>
          <p:nvPr/>
        </p:nvSpPr>
        <p:spPr>
          <a:xfrm>
            <a:off x="60350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File G points to a document that doesn’t exist. Its example is an evenly spaced $2.50 ladder.</a:t>
            </a:r>
            <a:endParaRPr lang="en-US" sz="1050" dirty="0"/>
          </a:p>
        </p:txBody>
      </p:sp>
      <p:sp>
        <p:nvSpPr>
          <p:cNvPr id="37" name="Text 29"/>
          <p:cNvSpPr txBox="1"/>
          <p:nvPr/>
        </p:nvSpPr>
        <p:spPr>
          <a:xfrm>
            <a:off x="60350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The five modal prices aren’t tied to any level.</a:t>
            </a:r>
            <a:endParaRPr lang="en-US" sz="1000" dirty="0"/>
          </a:p>
        </p:txBody>
      </p:sp>
      <p:sp>
        <p:nvSpPr>
          <p:cNvPr id="38" name="Shape 30"/>
          <p:cNvSpPr/>
          <p:nvPr/>
        </p:nvSpPr>
        <p:spPr>
          <a:xfrm>
            <a:off x="3291840" y="3858768"/>
            <a:ext cx="2697480" cy="2359152"/>
          </a:xfrm>
          <a:prstGeom prst="roundRect">
            <a:avLst>
              <a:gd name="adj" fmla="val 2713"/>
            </a:avLst>
          </a:prstGeom>
          <a:solidFill>
            <a:srgbClr val="1D242E"/>
          </a:solidFill>
          <a:ln w="9525">
            <a:solidFill>
              <a:srgbClr val="323C49"/>
            </a:solidFill>
            <a:prstDash val="solid"/>
          </a:ln>
        </p:spPr>
      </p:sp>
      <p:sp>
        <p:nvSpPr>
          <p:cNvPr id="39" name="Shape 31"/>
          <p:cNvSpPr/>
          <p:nvPr/>
        </p:nvSpPr>
        <p:spPr>
          <a:xfrm>
            <a:off x="3419856" y="3986784"/>
            <a:ext cx="438912" cy="438912"/>
          </a:xfrm>
          <a:prstGeom prst="ellipse">
            <a:avLst/>
          </a:prstGeom>
          <a:solidFill>
            <a:srgbClr val="0F1318"/>
          </a:solidFill>
          <a:ln w="12700">
            <a:solidFill>
              <a:srgbClr val="0F1318"/>
            </a:solidFill>
            <a:prstDash val="solid"/>
          </a:ln>
        </p:spPr>
      </p:sp>
      <p:pic>
        <p:nvPicPr>
          <p:cNvPr id="40" name="Image 5" descr="preencoded.png">    </p:cNvPr>
          <p:cNvPicPr>
            <a:picLocks noChangeAspect="1"/>
          </p:cNvPicPr>
          <p:nvPr/>
        </p:nvPicPr>
        <p:blipFill>
          <a:blip r:embed="rId6"/>
          <a:stretch>
            <a:fillRect/>
          </a:stretch>
        </p:blipFill>
        <p:spPr>
          <a:xfrm>
            <a:off x="3520806" y="4087734"/>
            <a:ext cx="237012" cy="237012"/>
          </a:xfrm>
          <a:prstGeom prst="rect">
            <a:avLst/>
          </a:prstGeom>
        </p:spPr>
      </p:pic>
      <p:sp>
        <p:nvSpPr>
          <p:cNvPr id="41" name="Text 32"/>
          <p:cNvSpPr txBox="1"/>
          <p:nvPr/>
        </p:nvSpPr>
        <p:spPr>
          <a:xfrm>
            <a:off x="395020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No invalidation, no runway</a:t>
            </a:r>
            <a:endParaRPr lang="en-US" sz="1200" dirty="0"/>
          </a:p>
        </p:txBody>
      </p:sp>
      <p:sp>
        <p:nvSpPr>
          <p:cNvPr id="42" name="Text 33"/>
          <p:cNvSpPr txBox="1"/>
          <p:nvPr/>
        </p:nvSpPr>
        <p:spPr>
          <a:xfrm>
            <a:off x="343814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Stops are fixed dollar pills, not structure. Nothing measures room to the next opposing level.</a:t>
            </a:r>
            <a:endParaRPr lang="en-US" sz="1050" dirty="0"/>
          </a:p>
        </p:txBody>
      </p:sp>
      <p:sp>
        <p:nvSpPr>
          <p:cNvPr id="43" name="Text 34"/>
          <p:cNvSpPr txBox="1"/>
          <p:nvPr/>
        </p:nvSpPr>
        <p:spPr>
          <a:xfrm>
            <a:off x="343814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Targets can sit beyond resistance.</a:t>
            </a:r>
            <a:endParaRPr lang="en-US" sz="1000" dirty="0"/>
          </a:p>
        </p:txBody>
      </p:sp>
      <p:sp>
        <p:nvSpPr>
          <p:cNvPr id="44" name="Shape 35"/>
          <p:cNvSpPr/>
          <p:nvPr/>
        </p:nvSpPr>
        <p:spPr>
          <a:xfrm>
            <a:off x="6126480" y="3858768"/>
            <a:ext cx="2697480" cy="2359152"/>
          </a:xfrm>
          <a:prstGeom prst="roundRect">
            <a:avLst>
              <a:gd name="adj" fmla="val 2713"/>
            </a:avLst>
          </a:prstGeom>
          <a:solidFill>
            <a:srgbClr val="1D242E"/>
          </a:solidFill>
          <a:ln w="9525">
            <a:solidFill>
              <a:srgbClr val="323C49"/>
            </a:solidFill>
            <a:prstDash val="solid"/>
          </a:ln>
        </p:spPr>
      </p:sp>
      <p:sp>
        <p:nvSpPr>
          <p:cNvPr id="45" name="Shape 36"/>
          <p:cNvSpPr/>
          <p:nvPr/>
        </p:nvSpPr>
        <p:spPr>
          <a:xfrm>
            <a:off x="6254496" y="3986784"/>
            <a:ext cx="438912" cy="438912"/>
          </a:xfrm>
          <a:prstGeom prst="ellipse">
            <a:avLst/>
          </a:prstGeom>
          <a:solidFill>
            <a:srgbClr val="0F1318"/>
          </a:solidFill>
          <a:ln w="12700">
            <a:solidFill>
              <a:srgbClr val="0F1318"/>
            </a:solidFill>
            <a:prstDash val="solid"/>
          </a:ln>
        </p:spPr>
      </p:sp>
      <p:pic>
        <p:nvPicPr>
          <p:cNvPr id="46" name="Image 6" descr="preencoded.png">    </p:cNvPr>
          <p:cNvPicPr>
            <a:picLocks noChangeAspect="1"/>
          </p:cNvPicPr>
          <p:nvPr/>
        </p:nvPicPr>
        <p:blipFill>
          <a:blip r:embed="rId7"/>
          <a:stretch>
            <a:fillRect/>
          </a:stretch>
        </p:blipFill>
        <p:spPr>
          <a:xfrm>
            <a:off x="6355446" y="4087734"/>
            <a:ext cx="237012" cy="237012"/>
          </a:xfrm>
          <a:prstGeom prst="rect">
            <a:avLst/>
          </a:prstGeom>
        </p:spPr>
      </p:pic>
      <p:sp>
        <p:nvSpPr>
          <p:cNvPr id="47" name="Text 37"/>
          <p:cNvSpPr txBox="1"/>
          <p:nvPr/>
        </p:nvSpPr>
        <p:spPr>
          <a:xfrm>
            <a:off x="678484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Too few levels</a:t>
            </a:r>
            <a:endParaRPr lang="en-US" sz="1200" dirty="0"/>
          </a:p>
        </p:txBody>
      </p:sp>
      <p:sp>
        <p:nvSpPr>
          <p:cNvPr id="48" name="Text 38"/>
          <p:cNvSpPr txBox="1"/>
          <p:nvPr/>
        </p:nvSpPr>
        <p:spPr>
          <a:xfrm>
            <a:off x="627278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MCDs output channel lines only. The 16 support &amp; resistance levels in market_data_v6 go unread.</a:t>
            </a:r>
            <a:endParaRPr lang="en-US" sz="1050" dirty="0"/>
          </a:p>
        </p:txBody>
      </p:sp>
      <p:sp>
        <p:nvSpPr>
          <p:cNvPr id="49" name="Text 39"/>
          <p:cNvSpPr txBox="1"/>
          <p:nvPr/>
        </p:nvSpPr>
        <p:spPr>
          <a:xfrm>
            <a:off x="627278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Often nothing above or below price to aim at.</a:t>
            </a:r>
            <a:endParaRPr lang="en-US" sz="1000" dirty="0"/>
          </a:p>
        </p:txBody>
      </p:sp>
      <p:sp>
        <p:nvSpPr>
          <p:cNvPr id="50" name="Shape 40"/>
          <p:cNvSpPr/>
          <p:nvPr/>
        </p:nvSpPr>
        <p:spPr>
          <a:xfrm>
            <a:off x="8961120" y="3858768"/>
            <a:ext cx="2697480" cy="2359152"/>
          </a:xfrm>
          <a:prstGeom prst="roundRect">
            <a:avLst>
              <a:gd name="adj" fmla="val 2713"/>
            </a:avLst>
          </a:prstGeom>
          <a:solidFill>
            <a:srgbClr val="1D242E"/>
          </a:solidFill>
          <a:ln w="9525">
            <a:solidFill>
              <a:srgbClr val="323C49"/>
            </a:solidFill>
            <a:prstDash val="solid"/>
          </a:ln>
        </p:spPr>
      </p:sp>
      <p:sp>
        <p:nvSpPr>
          <p:cNvPr id="51" name="Shape 41"/>
          <p:cNvSpPr/>
          <p:nvPr/>
        </p:nvSpPr>
        <p:spPr>
          <a:xfrm>
            <a:off x="9089136" y="3986784"/>
            <a:ext cx="438912" cy="438912"/>
          </a:xfrm>
          <a:prstGeom prst="ellipse">
            <a:avLst/>
          </a:prstGeom>
          <a:solidFill>
            <a:srgbClr val="0F1318"/>
          </a:solidFill>
          <a:ln w="12700">
            <a:solidFill>
              <a:srgbClr val="0F1318"/>
            </a:solidFill>
            <a:prstDash val="solid"/>
          </a:ln>
        </p:spPr>
      </p:sp>
      <p:pic>
        <p:nvPicPr>
          <p:cNvPr id="52" name="Image 7" descr="preencoded.png">    </p:cNvPr>
          <p:cNvPicPr>
            <a:picLocks noChangeAspect="1"/>
          </p:cNvPicPr>
          <p:nvPr/>
        </p:nvPicPr>
        <p:blipFill>
          <a:blip r:embed="rId8"/>
          <a:stretch>
            <a:fillRect/>
          </a:stretch>
        </p:blipFill>
        <p:spPr>
          <a:xfrm>
            <a:off x="9190086" y="4087734"/>
            <a:ext cx="237012" cy="237012"/>
          </a:xfrm>
          <a:prstGeom prst="rect">
            <a:avLst/>
          </a:prstGeom>
        </p:spPr>
      </p:pic>
      <p:sp>
        <p:nvSpPr>
          <p:cNvPr id="53" name="Text 42"/>
          <p:cNvSpPr txBox="1"/>
          <p:nvPr/>
        </p:nvSpPr>
        <p:spPr>
          <a:xfrm>
            <a:off x="961948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Grades without measurement</a:t>
            </a:r>
            <a:endParaRPr lang="en-US" sz="1200" dirty="0"/>
          </a:p>
        </p:txBody>
      </p:sp>
      <p:sp>
        <p:nvSpPr>
          <p:cNvPr id="54" name="Text 43"/>
          <p:cNvSpPr txBox="1"/>
          <p:nvPr/>
        </p:nvSpPr>
        <p:spPr>
          <a:xfrm>
            <a:off x="910742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GRADE S / 95% confluence came from WACS, which is retired and was never measured.</a:t>
            </a:r>
            <a:endParaRPr lang="en-US" sz="1050" dirty="0"/>
          </a:p>
        </p:txBody>
      </p:sp>
      <p:sp>
        <p:nvSpPr>
          <p:cNvPr id="55" name="Text 44"/>
          <p:cNvSpPr txBox="1"/>
          <p:nvPr/>
        </p:nvSpPr>
        <p:spPr>
          <a:xfrm>
            <a:off x="910742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Certainty shown that nobody earned.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REVISED DESIGN (B6)</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Synthesis runs in the cycle, once per trader type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457200" y="1371600"/>
            <a:ext cx="1828800" cy="1078992"/>
          </a:xfrm>
          <a:prstGeom prst="roundRect">
            <a:avLst>
              <a:gd name="adj" fmla="val 5932"/>
            </a:avLst>
          </a:prstGeom>
          <a:solidFill>
            <a:srgbClr val="1D242E"/>
          </a:solidFill>
          <a:ln w="9525">
            <a:solidFill>
              <a:srgbClr val="323C49"/>
            </a:solidFill>
            <a:prstDash val="solid"/>
          </a:ln>
        </p:spPr>
      </p:sp>
      <p:sp>
        <p:nvSpPr>
          <p:cNvPr id="9" name="Text 6"/>
          <p:cNvSpPr txBox="1"/>
          <p:nvPr/>
        </p:nvSpPr>
        <p:spPr>
          <a:xfrm>
            <a:off x="548640" y="1444752"/>
            <a:ext cx="1645920" cy="310896"/>
          </a:xfrm>
          <a:prstGeom prst="rect">
            <a:avLst/>
          </a:prstGeom>
          <a:noFill/>
          <a:ln/>
        </p:spPr>
        <p:txBody>
          <a:bodyPr wrap="square" lIns="0" tIns="0" rIns="0" bIns="0" rtlCol="0" anchor="t"/>
          <a:lstStyle/>
          <a:p>
            <a:pPr algn="ctr" indent="0" marL="0">
              <a:buNone/>
            </a:pPr>
            <a:r>
              <a:rPr lang="en-US" sz="1200" b="1" dirty="0">
                <a:solidFill>
                  <a:srgbClr val="EEF1F4"/>
                </a:solidFill>
                <a:latin typeface="Calibri" pitchFamily="34" charset="0"/>
                <a:ea typeface="Calibri" pitchFamily="34" charset="-122"/>
                <a:cs typeface="Calibri" pitchFamily="34" charset="-120"/>
              </a:rPr>
              <a:t>Sensor readings</a:t>
            </a:r>
            <a:endParaRPr lang="en-US" sz="1200" dirty="0"/>
          </a:p>
        </p:txBody>
      </p:sp>
      <p:sp>
        <p:nvSpPr>
          <p:cNvPr id="10" name="Text 7"/>
          <p:cNvSpPr txBox="1"/>
          <p:nvPr/>
        </p:nvSpPr>
        <p:spPr>
          <a:xfrm>
            <a:off x="530352" y="1773936"/>
            <a:ext cx="1682496" cy="640080"/>
          </a:xfrm>
          <a:prstGeom prst="rect">
            <a:avLst/>
          </a:prstGeom>
          <a:noFill/>
          <a:ln/>
        </p:spPr>
        <p:txBody>
          <a:bodyPr wrap="square" lIns="0" tIns="0" rIns="0" bIns="0" rtlCol="0" anchor="t"/>
          <a:lstStyle/>
          <a:p>
            <a:pPr algn="ctr" indent="0" marL="0">
              <a:buNone/>
            </a:pPr>
            <a:r>
              <a:rPr lang="en-US" sz="1000" dirty="0">
                <a:solidFill>
                  <a:srgbClr val="A3AEBB"/>
                </a:solidFill>
                <a:latin typeface="Calibri" pitchFamily="34" charset="0"/>
                <a:ea typeface="Calibri" pitchFamily="34" charset="-122"/>
                <a:cs typeface="Calibri" pitchFamily="34" charset="-120"/>
              </a:rPr>
              <a:t>VALID and CAUTIONARY only, from Section 2</a:t>
            </a:r>
            <a:endParaRPr lang="en-US" sz="1000" dirty="0"/>
          </a:p>
        </p:txBody>
      </p:sp>
      <p:sp>
        <p:nvSpPr>
          <p:cNvPr id="11" name="Shape 8"/>
          <p:cNvSpPr/>
          <p:nvPr/>
        </p:nvSpPr>
        <p:spPr>
          <a:xfrm>
            <a:off x="2304288" y="1911096"/>
            <a:ext cx="164592" cy="0"/>
          </a:xfrm>
          <a:prstGeom prst="line">
            <a:avLst/>
          </a:prstGeom>
          <a:noFill/>
          <a:ln w="15875">
            <a:solidFill>
              <a:srgbClr val="7D8A99"/>
            </a:solidFill>
            <a:prstDash val="solid"/>
            <a:tailEnd type="triangle"/>
          </a:ln>
        </p:spPr>
      </p:sp>
      <p:sp>
        <p:nvSpPr>
          <p:cNvPr id="12" name="Shape 9"/>
          <p:cNvSpPr/>
          <p:nvPr/>
        </p:nvSpPr>
        <p:spPr>
          <a:xfrm>
            <a:off x="2487168" y="1371600"/>
            <a:ext cx="1737360" cy="1078992"/>
          </a:xfrm>
          <a:prstGeom prst="roundRect">
            <a:avLst>
              <a:gd name="adj" fmla="val 5932"/>
            </a:avLst>
          </a:prstGeom>
          <a:solidFill>
            <a:srgbClr val="1D242E"/>
          </a:solidFill>
          <a:ln w="15875">
            <a:solidFill>
              <a:srgbClr val="E2B54E"/>
            </a:solidFill>
            <a:prstDash val="solid"/>
          </a:ln>
        </p:spPr>
      </p:sp>
      <p:sp>
        <p:nvSpPr>
          <p:cNvPr id="13" name="Text 10"/>
          <p:cNvSpPr txBox="1"/>
          <p:nvPr/>
        </p:nvSpPr>
        <p:spPr>
          <a:xfrm>
            <a:off x="2578608" y="1444752"/>
            <a:ext cx="1554480" cy="310896"/>
          </a:xfrm>
          <a:prstGeom prst="rect">
            <a:avLst/>
          </a:prstGeom>
          <a:noFill/>
          <a:ln/>
        </p:spPr>
        <p:txBody>
          <a:bodyPr wrap="square" lIns="0" tIns="0" rIns="0" bIns="0" rtlCol="0" anchor="t"/>
          <a:lstStyle/>
          <a:p>
            <a:pPr algn="ctr" indent="0" marL="0">
              <a:buNone/>
            </a:pPr>
            <a:r>
              <a:rPr lang="en-US" sz="1200" b="1" dirty="0">
                <a:solidFill>
                  <a:srgbClr val="E2B54E"/>
                </a:solidFill>
                <a:latin typeface="Calibri" pitchFamily="34" charset="0"/>
                <a:ea typeface="Calibri" pitchFamily="34" charset="-122"/>
                <a:cs typeface="Calibri" pitchFamily="34" charset="-120"/>
              </a:rPr>
              <a:t>+ context levels</a:t>
            </a:r>
            <a:endParaRPr lang="en-US" sz="1200" dirty="0"/>
          </a:p>
        </p:txBody>
      </p:sp>
      <p:sp>
        <p:nvSpPr>
          <p:cNvPr id="14" name="Text 11"/>
          <p:cNvSpPr txBox="1"/>
          <p:nvPr/>
        </p:nvSpPr>
        <p:spPr>
          <a:xfrm>
            <a:off x="2560320" y="1773936"/>
            <a:ext cx="1591056" cy="640080"/>
          </a:xfrm>
          <a:prstGeom prst="rect">
            <a:avLst/>
          </a:prstGeom>
          <a:noFill/>
          <a:ln/>
        </p:spPr>
        <p:txBody>
          <a:bodyPr wrap="square" lIns="0" tIns="0" rIns="0" bIns="0" rtlCol="0" anchor="t"/>
          <a:lstStyle/>
          <a:p>
            <a:pPr algn="ctr" indent="0" marL="0">
              <a:buNone/>
            </a:pPr>
            <a:r>
              <a:rPr lang="en-US" sz="1000" dirty="0">
                <a:solidFill>
                  <a:srgbClr val="A3AEBB"/>
                </a:solidFill>
                <a:latin typeface="Calibri" pitchFamily="34" charset="0"/>
                <a:ea typeface="Calibri" pitchFamily="34" charset="-122"/>
                <a:cs typeface="Calibri" pitchFamily="34" charset="-120"/>
              </a:rPr>
              <a:t>sr_1–sr_16 from market_data_v6</a:t>
            </a:r>
            <a:endParaRPr lang="en-US" sz="1000" dirty="0"/>
          </a:p>
        </p:txBody>
      </p:sp>
      <p:sp>
        <p:nvSpPr>
          <p:cNvPr id="15" name="Shape 12"/>
          <p:cNvSpPr/>
          <p:nvPr/>
        </p:nvSpPr>
        <p:spPr>
          <a:xfrm>
            <a:off x="4242816" y="1911096"/>
            <a:ext cx="164592" cy="0"/>
          </a:xfrm>
          <a:prstGeom prst="line">
            <a:avLst/>
          </a:prstGeom>
          <a:noFill/>
          <a:ln w="15875">
            <a:solidFill>
              <a:srgbClr val="7D8A99"/>
            </a:solidFill>
            <a:prstDash val="solid"/>
            <a:tailEnd type="triangle"/>
          </a:ln>
        </p:spPr>
      </p:sp>
      <p:sp>
        <p:nvSpPr>
          <p:cNvPr id="16" name="Shape 13"/>
          <p:cNvSpPr/>
          <p:nvPr/>
        </p:nvSpPr>
        <p:spPr>
          <a:xfrm>
            <a:off x="4425696" y="1371600"/>
            <a:ext cx="1828800" cy="1078992"/>
          </a:xfrm>
          <a:prstGeom prst="roundRect">
            <a:avLst>
              <a:gd name="adj" fmla="val 5932"/>
            </a:avLst>
          </a:prstGeom>
          <a:solidFill>
            <a:srgbClr val="1D242E"/>
          </a:solidFill>
          <a:ln w="15875">
            <a:solidFill>
              <a:srgbClr val="E2B54E"/>
            </a:solidFill>
            <a:prstDash val="solid"/>
          </a:ln>
        </p:spPr>
      </p:sp>
      <p:sp>
        <p:nvSpPr>
          <p:cNvPr id="17" name="Text 14"/>
          <p:cNvSpPr txBox="1"/>
          <p:nvPr/>
        </p:nvSpPr>
        <p:spPr>
          <a:xfrm>
            <a:off x="4517136" y="1444752"/>
            <a:ext cx="1645920" cy="310896"/>
          </a:xfrm>
          <a:prstGeom prst="rect">
            <a:avLst/>
          </a:prstGeom>
          <a:noFill/>
          <a:ln/>
        </p:spPr>
        <p:txBody>
          <a:bodyPr wrap="square" lIns="0" tIns="0" rIns="0" bIns="0" rtlCol="0" anchor="t"/>
          <a:lstStyle/>
          <a:p>
            <a:pPr algn="ctr" indent="0" marL="0">
              <a:buNone/>
            </a:pPr>
            <a:r>
              <a:rPr lang="en-US" sz="1200" b="1" dirty="0">
                <a:solidFill>
                  <a:srgbClr val="E2B54E"/>
                </a:solidFill>
                <a:latin typeface="Calibri" pitchFamily="34" charset="0"/>
                <a:ea typeface="Calibri" pitchFamily="34" charset="-122"/>
                <a:cs typeface="Calibri" pitchFamily="34" charset="-120"/>
              </a:rPr>
              <a:t>Per trader type</a:t>
            </a:r>
            <a:endParaRPr lang="en-US" sz="1200" dirty="0"/>
          </a:p>
        </p:txBody>
      </p:sp>
      <p:sp>
        <p:nvSpPr>
          <p:cNvPr id="18" name="Text 15"/>
          <p:cNvSpPr txBox="1"/>
          <p:nvPr/>
        </p:nvSpPr>
        <p:spPr>
          <a:xfrm>
            <a:off x="4498848" y="1773936"/>
            <a:ext cx="1682496" cy="640080"/>
          </a:xfrm>
          <a:prstGeom prst="rect">
            <a:avLst/>
          </a:prstGeom>
          <a:noFill/>
          <a:ln/>
        </p:spPr>
        <p:txBody>
          <a:bodyPr wrap="square" lIns="0" tIns="0" rIns="0" bIns="0" rtlCol="0" anchor="t"/>
          <a:lstStyle/>
          <a:p>
            <a:pPr algn="ctr" indent="0" marL="0">
              <a:buNone/>
            </a:pPr>
            <a:r>
              <a:rPr lang="en-US" sz="1000" dirty="0">
                <a:solidFill>
                  <a:srgbClr val="A3AEBB"/>
                </a:solidFill>
                <a:latin typeface="Calibri" pitchFamily="34" charset="0"/>
                <a:ea typeface="Calibri" pitchFamily="34" charset="-122"/>
                <a:cs typeface="Calibri" pitchFamily="34" charset="-120"/>
              </a:rPr>
              <a:t>Day Trader: M15 primary · Scalper: M5</a:t>
            </a:r>
            <a:endParaRPr lang="en-US" sz="1000" dirty="0"/>
          </a:p>
        </p:txBody>
      </p:sp>
      <p:sp>
        <p:nvSpPr>
          <p:cNvPr id="19" name="Shape 16"/>
          <p:cNvSpPr/>
          <p:nvPr/>
        </p:nvSpPr>
        <p:spPr>
          <a:xfrm>
            <a:off x="6272784" y="1911096"/>
            <a:ext cx="164592" cy="0"/>
          </a:xfrm>
          <a:prstGeom prst="line">
            <a:avLst/>
          </a:prstGeom>
          <a:noFill/>
          <a:ln w="15875">
            <a:solidFill>
              <a:srgbClr val="7D8A99"/>
            </a:solidFill>
            <a:prstDash val="solid"/>
            <a:tailEnd type="triangle"/>
          </a:ln>
        </p:spPr>
      </p:sp>
      <p:sp>
        <p:nvSpPr>
          <p:cNvPr id="20" name="Shape 17"/>
          <p:cNvSpPr/>
          <p:nvPr/>
        </p:nvSpPr>
        <p:spPr>
          <a:xfrm>
            <a:off x="6455664" y="1371600"/>
            <a:ext cx="1691640" cy="1078992"/>
          </a:xfrm>
          <a:prstGeom prst="roundRect">
            <a:avLst>
              <a:gd name="adj" fmla="val 5932"/>
            </a:avLst>
          </a:prstGeom>
          <a:solidFill>
            <a:srgbClr val="1D242E"/>
          </a:solidFill>
          <a:ln w="15875">
            <a:solidFill>
              <a:srgbClr val="E2B54E"/>
            </a:solidFill>
            <a:prstDash val="solid"/>
          </a:ln>
        </p:spPr>
      </p:sp>
      <p:sp>
        <p:nvSpPr>
          <p:cNvPr id="21" name="Text 18"/>
          <p:cNvSpPr txBox="1"/>
          <p:nvPr/>
        </p:nvSpPr>
        <p:spPr>
          <a:xfrm>
            <a:off x="6547104" y="1444752"/>
            <a:ext cx="1508760" cy="310896"/>
          </a:xfrm>
          <a:prstGeom prst="rect">
            <a:avLst/>
          </a:prstGeom>
          <a:noFill/>
          <a:ln/>
        </p:spPr>
        <p:txBody>
          <a:bodyPr wrap="square" lIns="0" tIns="0" rIns="0" bIns="0" rtlCol="0" anchor="t"/>
          <a:lstStyle/>
          <a:p>
            <a:pPr algn="ctr" indent="0" marL="0">
              <a:buNone/>
            </a:pPr>
            <a:r>
              <a:rPr lang="en-US" sz="1200" b="1" dirty="0">
                <a:solidFill>
                  <a:srgbClr val="E2B54E"/>
                </a:solidFill>
                <a:latin typeface="Calibri" pitchFamily="34" charset="0"/>
                <a:ea typeface="Calibri" pitchFamily="34" charset="-122"/>
                <a:cs typeface="Calibri" pitchFamily="34" charset="-120"/>
              </a:rPr>
              <a:t>Rules table</a:t>
            </a:r>
            <a:endParaRPr lang="en-US" sz="1200" dirty="0"/>
          </a:p>
        </p:txBody>
      </p:sp>
      <p:sp>
        <p:nvSpPr>
          <p:cNvPr id="22" name="Text 19"/>
          <p:cNvSpPr txBox="1"/>
          <p:nvPr/>
        </p:nvSpPr>
        <p:spPr>
          <a:xfrm>
            <a:off x="6528816" y="1773936"/>
            <a:ext cx="1545336" cy="640080"/>
          </a:xfrm>
          <a:prstGeom prst="rect">
            <a:avLst/>
          </a:prstGeom>
          <a:noFill/>
          <a:ln/>
        </p:spPr>
        <p:txBody>
          <a:bodyPr wrap="square" lIns="0" tIns="0" rIns="0" bIns="0" rtlCol="0" anchor="t"/>
          <a:lstStyle/>
          <a:p>
            <a:pPr algn="ctr" indent="0" marL="0">
              <a:buNone/>
            </a:pPr>
            <a:r>
              <a:rPr lang="en-US" sz="1000" dirty="0">
                <a:solidFill>
                  <a:srgbClr val="A3AEBB"/>
                </a:solidFill>
                <a:latin typeface="Calibri" pitchFamily="34" charset="0"/>
                <a:ea typeface="Calibri" pitchFamily="34" charset="-122"/>
                <a:cs typeface="Calibri" pitchFamily="34" charset="-120"/>
              </a:rPr>
              <a:t>precedence, then first match wins</a:t>
            </a:r>
            <a:endParaRPr lang="en-US" sz="1000" dirty="0"/>
          </a:p>
        </p:txBody>
      </p:sp>
      <p:sp>
        <p:nvSpPr>
          <p:cNvPr id="23" name="Shape 20"/>
          <p:cNvSpPr/>
          <p:nvPr/>
        </p:nvSpPr>
        <p:spPr>
          <a:xfrm>
            <a:off x="8165592" y="1911096"/>
            <a:ext cx="164592" cy="0"/>
          </a:xfrm>
          <a:prstGeom prst="line">
            <a:avLst/>
          </a:prstGeom>
          <a:noFill/>
          <a:ln w="15875">
            <a:solidFill>
              <a:srgbClr val="7D8A99"/>
            </a:solidFill>
            <a:prstDash val="solid"/>
            <a:tailEnd type="triangle"/>
          </a:ln>
        </p:spPr>
      </p:sp>
      <p:sp>
        <p:nvSpPr>
          <p:cNvPr id="24" name="Shape 21"/>
          <p:cNvSpPr/>
          <p:nvPr/>
        </p:nvSpPr>
        <p:spPr>
          <a:xfrm>
            <a:off x="8348472" y="1371600"/>
            <a:ext cx="1783080" cy="1078992"/>
          </a:xfrm>
          <a:prstGeom prst="roundRect">
            <a:avLst>
              <a:gd name="adj" fmla="val 5932"/>
            </a:avLst>
          </a:prstGeom>
          <a:solidFill>
            <a:srgbClr val="1D242E"/>
          </a:solidFill>
          <a:ln w="15875">
            <a:solidFill>
              <a:srgbClr val="E2B54E"/>
            </a:solidFill>
            <a:prstDash val="solid"/>
          </a:ln>
        </p:spPr>
      </p:sp>
      <p:sp>
        <p:nvSpPr>
          <p:cNvPr id="25" name="Text 22"/>
          <p:cNvSpPr txBox="1"/>
          <p:nvPr/>
        </p:nvSpPr>
        <p:spPr>
          <a:xfrm>
            <a:off x="8439912" y="1444752"/>
            <a:ext cx="1600200" cy="310896"/>
          </a:xfrm>
          <a:prstGeom prst="rect">
            <a:avLst/>
          </a:prstGeom>
          <a:noFill/>
          <a:ln/>
        </p:spPr>
        <p:txBody>
          <a:bodyPr wrap="square" lIns="0" tIns="0" rIns="0" bIns="0" rtlCol="0" anchor="t"/>
          <a:lstStyle/>
          <a:p>
            <a:pPr algn="ctr" indent="0" marL="0">
              <a:buNone/>
            </a:pPr>
            <a:r>
              <a:rPr lang="en-US" sz="1200" b="1" dirty="0">
                <a:solidFill>
                  <a:srgbClr val="E2B54E"/>
                </a:solidFill>
                <a:latin typeface="Calibri" pitchFamily="34" charset="0"/>
                <a:ea typeface="Calibri" pitchFamily="34" charset="-122"/>
                <a:cs typeface="Calibri" pitchFamily="34" charset="-120"/>
              </a:rPr>
              <a:t>Zone builder</a:t>
            </a:r>
            <a:endParaRPr lang="en-US" sz="1200" dirty="0"/>
          </a:p>
        </p:txBody>
      </p:sp>
      <p:sp>
        <p:nvSpPr>
          <p:cNvPr id="26" name="Text 23"/>
          <p:cNvSpPr txBox="1"/>
          <p:nvPr/>
        </p:nvSpPr>
        <p:spPr>
          <a:xfrm>
            <a:off x="8421624" y="1773936"/>
            <a:ext cx="1636776" cy="640080"/>
          </a:xfrm>
          <a:prstGeom prst="rect">
            <a:avLst/>
          </a:prstGeom>
          <a:noFill/>
          <a:ln/>
        </p:spPr>
        <p:txBody>
          <a:bodyPr wrap="square" lIns="0" tIns="0" rIns="0" bIns="0" rtlCol="0" anchor="t"/>
          <a:lstStyle/>
          <a:p>
            <a:pPr algn="ctr" indent="0" marL="0">
              <a:buNone/>
            </a:pPr>
            <a:r>
              <a:rPr lang="en-US" sz="1000" dirty="0">
                <a:solidFill>
                  <a:srgbClr val="A3AEBB"/>
                </a:solidFill>
                <a:latin typeface="Calibri" pitchFamily="34" charset="0"/>
                <a:ea typeface="Calibri" pitchFamily="34" charset="-122"/>
                <a:cs typeface="Calibri" pitchFamily="34" charset="-120"/>
              </a:rPr>
              <a:t>levels → zones → invalidation → runway</a:t>
            </a:r>
            <a:endParaRPr lang="en-US" sz="1000" dirty="0"/>
          </a:p>
        </p:txBody>
      </p:sp>
      <p:sp>
        <p:nvSpPr>
          <p:cNvPr id="27" name="Shape 24"/>
          <p:cNvSpPr/>
          <p:nvPr/>
        </p:nvSpPr>
        <p:spPr>
          <a:xfrm>
            <a:off x="10332720" y="1371600"/>
            <a:ext cx="1399032" cy="1078992"/>
          </a:xfrm>
          <a:prstGeom prst="roundRect">
            <a:avLst>
              <a:gd name="adj" fmla="val 5932"/>
            </a:avLst>
          </a:prstGeom>
          <a:solidFill>
            <a:srgbClr val="161C24"/>
          </a:solidFill>
          <a:ln w="9525">
            <a:solidFill>
              <a:srgbClr val="323C49"/>
            </a:solidFill>
            <a:prstDash val="dash"/>
          </a:ln>
        </p:spPr>
      </p:sp>
      <p:sp>
        <p:nvSpPr>
          <p:cNvPr id="28" name="Text 25"/>
          <p:cNvSpPr txBox="1"/>
          <p:nvPr/>
        </p:nvSpPr>
        <p:spPr>
          <a:xfrm>
            <a:off x="10369296" y="1371600"/>
            <a:ext cx="1325880" cy="1078992"/>
          </a:xfrm>
          <a:prstGeom prst="rect">
            <a:avLst/>
          </a:prstGeom>
          <a:noFill/>
          <a:ln/>
        </p:spPr>
        <p:txBody>
          <a:bodyPr wrap="square" lIns="0" tIns="0" rIns="0" bIns="0" rtlCol="0" anchor="ctr"/>
          <a:lstStyle/>
          <a:p>
            <a:pPr algn="ctr" indent="0" marL="0">
              <a:buNone/>
            </a:pPr>
            <a:r>
              <a:rPr lang="en-US" sz="1000" b="1" dirty="0">
                <a:solidFill>
                  <a:srgbClr val="A3AEBB"/>
                </a:solidFill>
                <a:latin typeface="Calibri" pitchFamily="34" charset="0"/>
                <a:ea typeface="Calibri" pitchFamily="34" charset="-122"/>
                <a:cs typeface="Calibri" pitchFamily="34" charset="-120"/>
              </a:rPr>
              <a:t>Saved: SYN reading + entry_zones</a:t>
            </a:r>
            <a:endParaRPr lang="en-US" sz="1000" dirty="0"/>
          </a:p>
        </p:txBody>
      </p:sp>
      <p:sp>
        <p:nvSpPr>
          <p:cNvPr id="29" name="Shape 26"/>
          <p:cNvSpPr/>
          <p:nvPr/>
        </p:nvSpPr>
        <p:spPr>
          <a:xfrm>
            <a:off x="10149840" y="1911096"/>
            <a:ext cx="164592" cy="0"/>
          </a:xfrm>
          <a:prstGeom prst="line">
            <a:avLst/>
          </a:prstGeom>
          <a:noFill/>
          <a:ln w="15875">
            <a:solidFill>
              <a:srgbClr val="7D8A99"/>
            </a:solidFill>
            <a:prstDash val="solid"/>
            <a:tailEnd type="triangle"/>
          </a:ln>
        </p:spPr>
      </p:sp>
      <p:sp>
        <p:nvSpPr>
          <p:cNvPr id="30" name="Shape 27"/>
          <p:cNvSpPr/>
          <p:nvPr/>
        </p:nvSpPr>
        <p:spPr>
          <a:xfrm>
            <a:off x="457200" y="2743200"/>
            <a:ext cx="5513832" cy="1645920"/>
          </a:xfrm>
          <a:prstGeom prst="roundRect">
            <a:avLst>
              <a:gd name="adj" fmla="val 3889"/>
            </a:avLst>
          </a:prstGeom>
          <a:solidFill>
            <a:srgbClr val="1D242E"/>
          </a:solidFill>
          <a:ln w="9525">
            <a:solidFill>
              <a:srgbClr val="323C49"/>
            </a:solidFill>
            <a:prstDash val="solid"/>
          </a:ln>
        </p:spPr>
      </p:sp>
      <p:sp>
        <p:nvSpPr>
          <p:cNvPr id="31" name="Shape 28"/>
          <p:cNvSpPr/>
          <p:nvPr/>
        </p:nvSpPr>
        <p:spPr>
          <a:xfrm>
            <a:off x="585216" y="2871216"/>
            <a:ext cx="347472" cy="347472"/>
          </a:xfrm>
          <a:prstGeom prst="ellipse">
            <a:avLst/>
          </a:prstGeom>
          <a:solidFill>
            <a:srgbClr val="E2B54E"/>
          </a:solidFill>
          <a:ln w="15875">
            <a:solidFill>
              <a:srgbClr val="E2B54E"/>
            </a:solidFill>
            <a:prstDash val="solid"/>
          </a:ln>
        </p:spPr>
      </p:sp>
      <p:sp>
        <p:nvSpPr>
          <p:cNvPr id="32" name="Text 29"/>
          <p:cNvSpPr txBox="1"/>
          <p:nvPr/>
        </p:nvSpPr>
        <p:spPr>
          <a:xfrm>
            <a:off x="585216" y="2871216"/>
            <a:ext cx="347472" cy="347472"/>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1</a:t>
            </a:r>
            <a:endParaRPr lang="en-US" sz="1200" dirty="0"/>
          </a:p>
        </p:txBody>
      </p:sp>
      <p:sp>
        <p:nvSpPr>
          <p:cNvPr id="33" name="Text 30"/>
          <p:cNvSpPr txBox="1"/>
          <p:nvPr/>
        </p:nvSpPr>
        <p:spPr>
          <a:xfrm>
            <a:off x="1042416" y="2852928"/>
            <a:ext cx="4754880" cy="384048"/>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Rules decide, the LLM explains</a:t>
            </a:r>
            <a:endParaRPr lang="en-US" sz="1300" dirty="0"/>
          </a:p>
        </p:txBody>
      </p:sp>
      <p:sp>
        <p:nvSpPr>
          <p:cNvPr id="34" name="Text 31"/>
          <p:cNvSpPr txBox="1"/>
          <p:nvPr/>
        </p:nvSpPr>
        <p:spPr>
          <a:xfrm>
            <a:off x="621792" y="3346704"/>
            <a:ext cx="5212080" cy="100584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Bias, archetype and stand-aside come from the rules table. The LLM explains them and cannot override stand-aside or flip the bias.</a:t>
            </a:r>
            <a:endParaRPr lang="en-US" sz="1200" dirty="0"/>
          </a:p>
        </p:txBody>
      </p:sp>
      <p:sp>
        <p:nvSpPr>
          <p:cNvPr id="35" name="Shape 32"/>
          <p:cNvSpPr/>
          <p:nvPr/>
        </p:nvSpPr>
        <p:spPr>
          <a:xfrm>
            <a:off x="6126480" y="2743200"/>
            <a:ext cx="5513832" cy="1645920"/>
          </a:xfrm>
          <a:prstGeom prst="roundRect">
            <a:avLst>
              <a:gd name="adj" fmla="val 3889"/>
            </a:avLst>
          </a:prstGeom>
          <a:solidFill>
            <a:srgbClr val="1D242E"/>
          </a:solidFill>
          <a:ln w="9525">
            <a:solidFill>
              <a:srgbClr val="323C49"/>
            </a:solidFill>
            <a:prstDash val="solid"/>
          </a:ln>
        </p:spPr>
      </p:sp>
      <p:sp>
        <p:nvSpPr>
          <p:cNvPr id="36" name="Shape 33"/>
          <p:cNvSpPr/>
          <p:nvPr/>
        </p:nvSpPr>
        <p:spPr>
          <a:xfrm>
            <a:off x="6254496" y="2871216"/>
            <a:ext cx="347472" cy="347472"/>
          </a:xfrm>
          <a:prstGeom prst="ellipse">
            <a:avLst/>
          </a:prstGeom>
          <a:solidFill>
            <a:srgbClr val="E2B54E"/>
          </a:solidFill>
          <a:ln w="15875">
            <a:solidFill>
              <a:srgbClr val="E2B54E"/>
            </a:solidFill>
            <a:prstDash val="solid"/>
          </a:ln>
        </p:spPr>
      </p:sp>
      <p:sp>
        <p:nvSpPr>
          <p:cNvPr id="37" name="Text 34"/>
          <p:cNvSpPr txBox="1"/>
          <p:nvPr/>
        </p:nvSpPr>
        <p:spPr>
          <a:xfrm>
            <a:off x="6254496" y="2871216"/>
            <a:ext cx="347472" cy="347472"/>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2</a:t>
            </a:r>
            <a:endParaRPr lang="en-US" sz="1200" dirty="0"/>
          </a:p>
        </p:txBody>
      </p:sp>
      <p:sp>
        <p:nvSpPr>
          <p:cNvPr id="38" name="Text 35"/>
          <p:cNvSpPr txBox="1"/>
          <p:nvPr/>
        </p:nvSpPr>
        <p:spPr>
          <a:xfrm>
            <a:off x="6711696" y="2852928"/>
            <a:ext cx="4754880" cy="384048"/>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Two views per cycle</a:t>
            </a:r>
            <a:endParaRPr lang="en-US" sz="1300" dirty="0"/>
          </a:p>
        </p:txBody>
      </p:sp>
      <p:sp>
        <p:nvSpPr>
          <p:cNvPr id="39" name="Text 36"/>
          <p:cNvSpPr txBox="1"/>
          <p:nvPr/>
        </p:nvSpPr>
        <p:spPr>
          <a:xfrm>
            <a:off x="6291072" y="3346704"/>
            <a:ext cx="5212080" cy="100584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A Day Trader reading (M15 structure, M5 timing) and a Scalper reading (M5 for both). A request uses the one matching the trader’s profile.</a:t>
            </a:r>
            <a:endParaRPr lang="en-US" sz="1200" dirty="0"/>
          </a:p>
        </p:txBody>
      </p:sp>
      <p:sp>
        <p:nvSpPr>
          <p:cNvPr id="40" name="Shape 37"/>
          <p:cNvSpPr/>
          <p:nvPr/>
        </p:nvSpPr>
        <p:spPr>
          <a:xfrm>
            <a:off x="457200" y="4526280"/>
            <a:ext cx="5513832" cy="1645920"/>
          </a:xfrm>
          <a:prstGeom prst="roundRect">
            <a:avLst>
              <a:gd name="adj" fmla="val 3889"/>
            </a:avLst>
          </a:prstGeom>
          <a:solidFill>
            <a:srgbClr val="1D242E"/>
          </a:solidFill>
          <a:ln w="9525">
            <a:solidFill>
              <a:srgbClr val="323C49"/>
            </a:solidFill>
            <a:prstDash val="solid"/>
          </a:ln>
        </p:spPr>
      </p:sp>
      <p:sp>
        <p:nvSpPr>
          <p:cNvPr id="41" name="Shape 38"/>
          <p:cNvSpPr/>
          <p:nvPr/>
        </p:nvSpPr>
        <p:spPr>
          <a:xfrm>
            <a:off x="585216" y="4654296"/>
            <a:ext cx="347472" cy="347472"/>
          </a:xfrm>
          <a:prstGeom prst="ellipse">
            <a:avLst/>
          </a:prstGeom>
          <a:solidFill>
            <a:srgbClr val="E2B54E"/>
          </a:solidFill>
          <a:ln w="15875">
            <a:solidFill>
              <a:srgbClr val="E2B54E"/>
            </a:solidFill>
            <a:prstDash val="solid"/>
          </a:ln>
        </p:spPr>
      </p:sp>
      <p:sp>
        <p:nvSpPr>
          <p:cNvPr id="42" name="Text 39"/>
          <p:cNvSpPr txBox="1"/>
          <p:nvPr/>
        </p:nvSpPr>
        <p:spPr>
          <a:xfrm>
            <a:off x="585216" y="4654296"/>
            <a:ext cx="347472" cy="347472"/>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3</a:t>
            </a:r>
            <a:endParaRPr lang="en-US" sz="1200" dirty="0"/>
          </a:p>
        </p:txBody>
      </p:sp>
      <p:sp>
        <p:nvSpPr>
          <p:cNvPr id="43" name="Text 40"/>
          <p:cNvSpPr txBox="1"/>
          <p:nvPr/>
        </p:nvSpPr>
        <p:spPr>
          <a:xfrm>
            <a:off x="1042416" y="4636008"/>
            <a:ext cx="4754880" cy="384048"/>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Same for every user</a:t>
            </a:r>
            <a:endParaRPr lang="en-US" sz="1300" dirty="0"/>
          </a:p>
        </p:txBody>
      </p:sp>
      <p:sp>
        <p:nvSpPr>
          <p:cNvPr id="44" name="Text 41"/>
          <p:cNvSpPr txBox="1"/>
          <p:nvPr/>
        </p:nvSpPr>
        <p:spPr>
          <a:xfrm>
            <a:off x="621792" y="5129784"/>
            <a:ext cx="5212080" cy="100584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Trading style, reward-to-risk caps and personal stop limits are applied later (Sections 5 and 6), so the cycle output never depends on who asks.</a:t>
            </a:r>
            <a:endParaRPr lang="en-US" sz="1200" dirty="0"/>
          </a:p>
        </p:txBody>
      </p:sp>
      <p:sp>
        <p:nvSpPr>
          <p:cNvPr id="45" name="Shape 42"/>
          <p:cNvSpPr/>
          <p:nvPr/>
        </p:nvSpPr>
        <p:spPr>
          <a:xfrm>
            <a:off x="6126480" y="4526280"/>
            <a:ext cx="5513832" cy="1645920"/>
          </a:xfrm>
          <a:prstGeom prst="roundRect">
            <a:avLst>
              <a:gd name="adj" fmla="val 3889"/>
            </a:avLst>
          </a:prstGeom>
          <a:solidFill>
            <a:srgbClr val="1D242E"/>
          </a:solidFill>
          <a:ln w="9525">
            <a:solidFill>
              <a:srgbClr val="323C49"/>
            </a:solidFill>
            <a:prstDash val="solid"/>
          </a:ln>
        </p:spPr>
      </p:sp>
      <p:sp>
        <p:nvSpPr>
          <p:cNvPr id="46" name="Shape 43"/>
          <p:cNvSpPr/>
          <p:nvPr/>
        </p:nvSpPr>
        <p:spPr>
          <a:xfrm>
            <a:off x="6254496" y="4654296"/>
            <a:ext cx="347472" cy="347472"/>
          </a:xfrm>
          <a:prstGeom prst="ellipse">
            <a:avLst/>
          </a:prstGeom>
          <a:solidFill>
            <a:srgbClr val="E2B54E"/>
          </a:solidFill>
          <a:ln w="15875">
            <a:solidFill>
              <a:srgbClr val="E2B54E"/>
            </a:solidFill>
            <a:prstDash val="solid"/>
          </a:ln>
        </p:spPr>
      </p:sp>
      <p:sp>
        <p:nvSpPr>
          <p:cNvPr id="47" name="Text 44"/>
          <p:cNvSpPr txBox="1"/>
          <p:nvPr/>
        </p:nvSpPr>
        <p:spPr>
          <a:xfrm>
            <a:off x="6254496" y="4654296"/>
            <a:ext cx="347472" cy="347472"/>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4</a:t>
            </a:r>
            <a:endParaRPr lang="en-US" sz="1200" dirty="0"/>
          </a:p>
        </p:txBody>
      </p:sp>
      <p:sp>
        <p:nvSpPr>
          <p:cNvPr id="48" name="Text 45"/>
          <p:cNvSpPr txBox="1"/>
          <p:nvPr/>
        </p:nvSpPr>
        <p:spPr>
          <a:xfrm>
            <a:off x="6711696" y="4636008"/>
            <a:ext cx="4754880" cy="384048"/>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Saved and replayable</a:t>
            </a:r>
            <a:endParaRPr lang="en-US" sz="1300" dirty="0"/>
          </a:p>
        </p:txBody>
      </p:sp>
      <p:sp>
        <p:nvSpPr>
          <p:cNvPr id="49" name="Text 46"/>
          <p:cNvSpPr txBox="1"/>
          <p:nvPr/>
        </p:nvSpPr>
        <p:spPr>
          <a:xfrm>
            <a:off x="6291072" y="5129784"/>
            <a:ext cx="5212080" cy="100584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Stored like a sensor reading (mcd_id “SYN”) with the rule id and rules version, so any past direction can be traced to the rule that produced it.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HOW RULES ARE APPLIED</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Precedence first, then the first matching rule wins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6</a:t>
            </a:r>
            <a:endParaRPr lang="en-US" sz="1000" dirty="0"/>
          </a:p>
        </p:txBody>
      </p:sp>
      <p:sp>
        <p:nvSpPr>
          <p:cNvPr id="8" name="Text 5"/>
          <p:cNvSpPr txBox="1"/>
          <p:nvPr/>
        </p:nvSpPr>
        <p:spPr>
          <a:xfrm>
            <a:off x="457200" y="1325880"/>
            <a:ext cx="45720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PRECEDENCE (FILE A)</a:t>
            </a:r>
            <a:endParaRPr lang="en-US" sz="950" dirty="0"/>
          </a:p>
        </p:txBody>
      </p:sp>
      <p:sp>
        <p:nvSpPr>
          <p:cNvPr id="9" name="Shape 6"/>
          <p:cNvSpPr/>
          <p:nvPr/>
        </p:nvSpPr>
        <p:spPr>
          <a:xfrm>
            <a:off x="457200" y="1691640"/>
            <a:ext cx="5120640" cy="786384"/>
          </a:xfrm>
          <a:prstGeom prst="roundRect">
            <a:avLst>
              <a:gd name="adj" fmla="val 8140"/>
            </a:avLst>
          </a:prstGeom>
          <a:solidFill>
            <a:srgbClr val="2E2715"/>
          </a:solidFill>
          <a:ln w="9525">
            <a:solidFill>
              <a:srgbClr val="E2B54E"/>
            </a:solidFill>
            <a:prstDash val="solid"/>
          </a:ln>
        </p:spPr>
      </p:sp>
      <p:sp>
        <p:nvSpPr>
          <p:cNvPr id="10" name="Shape 7"/>
          <p:cNvSpPr/>
          <p:nvPr/>
        </p:nvSpPr>
        <p:spPr>
          <a:xfrm>
            <a:off x="566928" y="1874520"/>
            <a:ext cx="420624" cy="420624"/>
          </a:xfrm>
          <a:prstGeom prst="ellipse">
            <a:avLst/>
          </a:prstGeom>
          <a:solidFill>
            <a:srgbClr val="E2B54E"/>
          </a:solidFill>
          <a:ln w="15875">
            <a:solidFill>
              <a:srgbClr val="E2B54E"/>
            </a:solidFill>
            <a:prstDash val="solid"/>
          </a:ln>
        </p:spPr>
      </p:sp>
      <p:sp>
        <p:nvSpPr>
          <p:cNvPr id="11" name="Text 8"/>
          <p:cNvSpPr txBox="1"/>
          <p:nvPr/>
        </p:nvSpPr>
        <p:spPr>
          <a:xfrm>
            <a:off x="566928" y="1874520"/>
            <a:ext cx="420624" cy="420624"/>
          </a:xfrm>
          <a:prstGeom prst="rect">
            <a:avLst/>
          </a:prstGeom>
          <a:noFill/>
          <a:ln/>
        </p:spPr>
        <p:txBody>
          <a:bodyPr wrap="square" lIns="0" tIns="0" rIns="0" bIns="0" rtlCol="0" anchor="ctr"/>
          <a:lstStyle/>
          <a:p>
            <a:pPr algn="ctr" indent="0" marL="0">
              <a:buNone/>
            </a:pPr>
            <a:r>
              <a:rPr lang="en-US" sz="1300" b="1" dirty="0">
                <a:solidFill>
                  <a:srgbClr val="0F1318"/>
                </a:solidFill>
                <a:latin typeface="Cambria" pitchFamily="34" charset="0"/>
                <a:ea typeface="Cambria" pitchFamily="34" charset="-122"/>
                <a:cs typeface="Cambria" pitchFamily="34" charset="-120"/>
              </a:rPr>
              <a:t>1</a:t>
            </a:r>
            <a:endParaRPr lang="en-US" sz="1300" dirty="0"/>
          </a:p>
        </p:txBody>
      </p:sp>
      <p:sp>
        <p:nvSpPr>
          <p:cNvPr id="12" name="Text 9"/>
          <p:cNvSpPr txBox="1"/>
          <p:nvPr/>
        </p:nvSpPr>
        <p:spPr>
          <a:xfrm>
            <a:off x="1097280" y="1746504"/>
            <a:ext cx="438912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Primary-timeframe structure</a:t>
            </a:r>
            <a:endParaRPr lang="en-US" sz="1250" dirty="0"/>
          </a:p>
        </p:txBody>
      </p:sp>
      <p:sp>
        <p:nvSpPr>
          <p:cNvPr id="13" name="Text 10"/>
          <p:cNvSpPr txBox="1"/>
          <p:nvPr/>
        </p:nvSpPr>
        <p:spPr>
          <a:xfrm>
            <a:off x="1097280" y="2093976"/>
            <a:ext cx="4389120" cy="347472"/>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MCD1 for Day Traders, MCD2 for Scalpers</a:t>
            </a:r>
            <a:endParaRPr lang="en-US" sz="1050" dirty="0"/>
          </a:p>
        </p:txBody>
      </p:sp>
      <p:sp>
        <p:nvSpPr>
          <p:cNvPr id="14" name="Shape 11"/>
          <p:cNvSpPr/>
          <p:nvPr/>
        </p:nvSpPr>
        <p:spPr>
          <a:xfrm>
            <a:off x="457200" y="2624328"/>
            <a:ext cx="4709160" cy="786384"/>
          </a:xfrm>
          <a:prstGeom prst="roundRect">
            <a:avLst>
              <a:gd name="adj" fmla="val 8140"/>
            </a:avLst>
          </a:prstGeom>
          <a:solidFill>
            <a:srgbClr val="1D242E"/>
          </a:solidFill>
          <a:ln w="9525">
            <a:solidFill>
              <a:srgbClr val="323C49"/>
            </a:solidFill>
            <a:prstDash val="solid"/>
          </a:ln>
        </p:spPr>
      </p:sp>
      <p:sp>
        <p:nvSpPr>
          <p:cNvPr id="15" name="Shape 12"/>
          <p:cNvSpPr/>
          <p:nvPr/>
        </p:nvSpPr>
        <p:spPr>
          <a:xfrm>
            <a:off x="566928" y="2807208"/>
            <a:ext cx="420624" cy="420624"/>
          </a:xfrm>
          <a:prstGeom prst="ellipse">
            <a:avLst/>
          </a:prstGeom>
          <a:solidFill>
            <a:srgbClr val="A3AEBB"/>
          </a:solidFill>
          <a:ln w="15875">
            <a:solidFill>
              <a:srgbClr val="A3AEBB"/>
            </a:solidFill>
            <a:prstDash val="solid"/>
          </a:ln>
        </p:spPr>
      </p:sp>
      <p:sp>
        <p:nvSpPr>
          <p:cNvPr id="16" name="Text 13"/>
          <p:cNvSpPr txBox="1"/>
          <p:nvPr/>
        </p:nvSpPr>
        <p:spPr>
          <a:xfrm>
            <a:off x="566928" y="2807208"/>
            <a:ext cx="420624" cy="420624"/>
          </a:xfrm>
          <a:prstGeom prst="rect">
            <a:avLst/>
          </a:prstGeom>
          <a:noFill/>
          <a:ln/>
        </p:spPr>
        <p:txBody>
          <a:bodyPr wrap="square" lIns="0" tIns="0" rIns="0" bIns="0" rtlCol="0" anchor="ctr"/>
          <a:lstStyle/>
          <a:p>
            <a:pPr algn="ctr" indent="0" marL="0">
              <a:buNone/>
            </a:pPr>
            <a:r>
              <a:rPr lang="en-US" sz="1300" b="1" dirty="0">
                <a:solidFill>
                  <a:srgbClr val="0F1318"/>
                </a:solidFill>
                <a:latin typeface="Cambria" pitchFamily="34" charset="0"/>
                <a:ea typeface="Cambria" pitchFamily="34" charset="-122"/>
                <a:cs typeface="Cambria" pitchFamily="34" charset="-120"/>
              </a:rPr>
              <a:t>2</a:t>
            </a:r>
            <a:endParaRPr lang="en-US" sz="1300" dirty="0"/>
          </a:p>
        </p:txBody>
      </p:sp>
      <p:sp>
        <p:nvSpPr>
          <p:cNvPr id="17" name="Text 14"/>
          <p:cNvSpPr txBox="1"/>
          <p:nvPr/>
        </p:nvSpPr>
        <p:spPr>
          <a:xfrm>
            <a:off x="1097280" y="2679192"/>
            <a:ext cx="397764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Support &amp; resistance</a:t>
            </a:r>
            <a:endParaRPr lang="en-US" sz="1250" dirty="0"/>
          </a:p>
        </p:txBody>
      </p:sp>
      <p:sp>
        <p:nvSpPr>
          <p:cNvPr id="18" name="Text 15"/>
          <p:cNvSpPr txBox="1"/>
          <p:nvPr/>
        </p:nvSpPr>
        <p:spPr>
          <a:xfrm>
            <a:off x="1097280" y="3026664"/>
            <a:ext cx="3977640" cy="347472"/>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sr_1–sr_16 levels</a:t>
            </a:r>
            <a:endParaRPr lang="en-US" sz="1050" dirty="0"/>
          </a:p>
        </p:txBody>
      </p:sp>
      <p:sp>
        <p:nvSpPr>
          <p:cNvPr id="19" name="Shape 16"/>
          <p:cNvSpPr/>
          <p:nvPr/>
        </p:nvSpPr>
        <p:spPr>
          <a:xfrm>
            <a:off x="457200" y="3557016"/>
            <a:ext cx="4297680" cy="786384"/>
          </a:xfrm>
          <a:prstGeom prst="roundRect">
            <a:avLst>
              <a:gd name="adj" fmla="val 8140"/>
            </a:avLst>
          </a:prstGeom>
          <a:solidFill>
            <a:srgbClr val="1D242E"/>
          </a:solidFill>
          <a:ln w="9525">
            <a:solidFill>
              <a:srgbClr val="323C49"/>
            </a:solidFill>
            <a:prstDash val="solid"/>
          </a:ln>
        </p:spPr>
      </p:sp>
      <p:sp>
        <p:nvSpPr>
          <p:cNvPr id="20" name="Shape 17"/>
          <p:cNvSpPr/>
          <p:nvPr/>
        </p:nvSpPr>
        <p:spPr>
          <a:xfrm>
            <a:off x="566928" y="3739896"/>
            <a:ext cx="420624" cy="420624"/>
          </a:xfrm>
          <a:prstGeom prst="ellipse">
            <a:avLst/>
          </a:prstGeom>
          <a:solidFill>
            <a:srgbClr val="A3AEBB"/>
          </a:solidFill>
          <a:ln w="15875">
            <a:solidFill>
              <a:srgbClr val="A3AEBB"/>
            </a:solidFill>
            <a:prstDash val="solid"/>
          </a:ln>
        </p:spPr>
      </p:sp>
      <p:sp>
        <p:nvSpPr>
          <p:cNvPr id="21" name="Text 18"/>
          <p:cNvSpPr txBox="1"/>
          <p:nvPr/>
        </p:nvSpPr>
        <p:spPr>
          <a:xfrm>
            <a:off x="566928" y="3739896"/>
            <a:ext cx="420624" cy="420624"/>
          </a:xfrm>
          <a:prstGeom prst="rect">
            <a:avLst/>
          </a:prstGeom>
          <a:noFill/>
          <a:ln/>
        </p:spPr>
        <p:txBody>
          <a:bodyPr wrap="square" lIns="0" tIns="0" rIns="0" bIns="0" rtlCol="0" anchor="ctr"/>
          <a:lstStyle/>
          <a:p>
            <a:pPr algn="ctr" indent="0" marL="0">
              <a:buNone/>
            </a:pPr>
            <a:r>
              <a:rPr lang="en-US" sz="1300" b="1" dirty="0">
                <a:solidFill>
                  <a:srgbClr val="0F1318"/>
                </a:solidFill>
                <a:latin typeface="Cambria" pitchFamily="34" charset="0"/>
                <a:ea typeface="Cambria" pitchFamily="34" charset="-122"/>
                <a:cs typeface="Cambria" pitchFamily="34" charset="-120"/>
              </a:rPr>
              <a:t>3</a:t>
            </a:r>
            <a:endParaRPr lang="en-US" sz="1300" dirty="0"/>
          </a:p>
        </p:txBody>
      </p:sp>
      <p:sp>
        <p:nvSpPr>
          <p:cNvPr id="22" name="Text 19"/>
          <p:cNvSpPr txBox="1"/>
          <p:nvPr/>
        </p:nvSpPr>
        <p:spPr>
          <a:xfrm>
            <a:off x="1097280" y="3611880"/>
            <a:ext cx="356616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Trendlines and channels</a:t>
            </a:r>
            <a:endParaRPr lang="en-US" sz="1250" dirty="0"/>
          </a:p>
        </p:txBody>
      </p:sp>
      <p:sp>
        <p:nvSpPr>
          <p:cNvPr id="23" name="Text 20"/>
          <p:cNvSpPr txBox="1"/>
          <p:nvPr/>
        </p:nvSpPr>
        <p:spPr>
          <a:xfrm>
            <a:off x="1097280" y="3959352"/>
            <a:ext cx="3566160" cy="347472"/>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the other timeframe’s channel</a:t>
            </a:r>
            <a:endParaRPr lang="en-US" sz="1050" dirty="0"/>
          </a:p>
        </p:txBody>
      </p:sp>
      <p:sp>
        <p:nvSpPr>
          <p:cNvPr id="24" name="Shape 21"/>
          <p:cNvSpPr/>
          <p:nvPr/>
        </p:nvSpPr>
        <p:spPr>
          <a:xfrm>
            <a:off x="457200" y="4489704"/>
            <a:ext cx="3886200" cy="786384"/>
          </a:xfrm>
          <a:prstGeom prst="roundRect">
            <a:avLst>
              <a:gd name="adj" fmla="val 8140"/>
            </a:avLst>
          </a:prstGeom>
          <a:solidFill>
            <a:srgbClr val="1D242E"/>
          </a:solidFill>
          <a:ln w="9525">
            <a:solidFill>
              <a:srgbClr val="323C49"/>
            </a:solidFill>
            <a:prstDash val="solid"/>
          </a:ln>
        </p:spPr>
      </p:sp>
      <p:sp>
        <p:nvSpPr>
          <p:cNvPr id="25" name="Shape 22"/>
          <p:cNvSpPr/>
          <p:nvPr/>
        </p:nvSpPr>
        <p:spPr>
          <a:xfrm>
            <a:off x="566928" y="4672584"/>
            <a:ext cx="420624" cy="420624"/>
          </a:xfrm>
          <a:prstGeom prst="ellipse">
            <a:avLst/>
          </a:prstGeom>
          <a:solidFill>
            <a:srgbClr val="A3AEBB"/>
          </a:solidFill>
          <a:ln w="15875">
            <a:solidFill>
              <a:srgbClr val="A3AEBB"/>
            </a:solidFill>
            <a:prstDash val="solid"/>
          </a:ln>
        </p:spPr>
      </p:sp>
      <p:sp>
        <p:nvSpPr>
          <p:cNvPr id="26" name="Text 23"/>
          <p:cNvSpPr txBox="1"/>
          <p:nvPr/>
        </p:nvSpPr>
        <p:spPr>
          <a:xfrm>
            <a:off x="566928" y="4672584"/>
            <a:ext cx="420624" cy="420624"/>
          </a:xfrm>
          <a:prstGeom prst="rect">
            <a:avLst/>
          </a:prstGeom>
          <a:noFill/>
          <a:ln/>
        </p:spPr>
        <p:txBody>
          <a:bodyPr wrap="square" lIns="0" tIns="0" rIns="0" bIns="0" rtlCol="0" anchor="ctr"/>
          <a:lstStyle/>
          <a:p>
            <a:pPr algn="ctr" indent="0" marL="0">
              <a:buNone/>
            </a:pPr>
            <a:r>
              <a:rPr lang="en-US" sz="1300" b="1" dirty="0">
                <a:solidFill>
                  <a:srgbClr val="0F1318"/>
                </a:solidFill>
                <a:latin typeface="Cambria" pitchFamily="34" charset="0"/>
                <a:ea typeface="Cambria" pitchFamily="34" charset="-122"/>
                <a:cs typeface="Cambria" pitchFamily="34" charset="-120"/>
              </a:rPr>
              <a:t>4</a:t>
            </a:r>
            <a:endParaRPr lang="en-US" sz="1300" dirty="0"/>
          </a:p>
        </p:txBody>
      </p:sp>
      <p:sp>
        <p:nvSpPr>
          <p:cNvPr id="27" name="Text 24"/>
          <p:cNvSpPr txBox="1"/>
          <p:nvPr/>
        </p:nvSpPr>
        <p:spPr>
          <a:xfrm>
            <a:off x="1097280" y="4544568"/>
            <a:ext cx="315468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Oscillators</a:t>
            </a:r>
            <a:endParaRPr lang="en-US" sz="1250" dirty="0"/>
          </a:p>
        </p:txBody>
      </p:sp>
      <p:sp>
        <p:nvSpPr>
          <p:cNvPr id="28" name="Text 25"/>
          <p:cNvSpPr txBox="1"/>
          <p:nvPr/>
        </p:nvSpPr>
        <p:spPr>
          <a:xfrm>
            <a:off x="1097280" y="4892040"/>
            <a:ext cx="3154680" cy="347472"/>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e.g. MCD3’s EDT stochastic</a:t>
            </a:r>
            <a:endParaRPr lang="en-US" sz="1050" dirty="0"/>
          </a:p>
        </p:txBody>
      </p:sp>
      <p:sp>
        <p:nvSpPr>
          <p:cNvPr id="29" name="Text 26"/>
          <p:cNvSpPr txBox="1"/>
          <p:nvPr/>
        </p:nvSpPr>
        <p:spPr>
          <a:xfrm>
            <a:off x="457200" y="5486400"/>
            <a:ext cx="5212080" cy="731520"/>
          </a:xfrm>
          <a:prstGeom prst="rect">
            <a:avLst/>
          </a:prstGeom>
          <a:noFill/>
          <a:ln/>
        </p:spPr>
        <p:txBody>
          <a:bodyPr wrap="square" lIns="0" tIns="0" rIns="0" bIns="0" rtlCol="0" anchor="t"/>
          <a:lstStyle/>
          <a:p>
            <a:pPr indent="0" marL="0">
              <a:buNone/>
            </a:pPr>
            <a:r>
              <a:rPr lang="en-US" sz="1100" i="1" dirty="0">
                <a:solidFill>
                  <a:srgbClr val="A3AEBB"/>
                </a:solidFill>
                <a:latin typeface="Calibri" pitchFamily="34" charset="0"/>
                <a:ea typeface="Calibri" pitchFamily="34" charset="-122"/>
                <a:cs typeface="Calibri" pitchFamily="34" charset="-120"/>
              </a:rPr>
              <a:t>A lower rung can never override a higher one: an oscillator’s “oversold” can’t reverse a primary-timeframe breakdown.</a:t>
            </a:r>
            <a:endParaRPr lang="en-US" sz="1100" dirty="0"/>
          </a:p>
        </p:txBody>
      </p:sp>
      <p:sp>
        <p:nvSpPr>
          <p:cNvPr id="30" name="Shape 27"/>
          <p:cNvSpPr/>
          <p:nvPr/>
        </p:nvSpPr>
        <p:spPr>
          <a:xfrm>
            <a:off x="5989320" y="1325880"/>
            <a:ext cx="5742432" cy="4956048"/>
          </a:xfrm>
          <a:prstGeom prst="roundRect">
            <a:avLst>
              <a:gd name="adj" fmla="val 1292"/>
            </a:avLst>
          </a:prstGeom>
          <a:solidFill>
            <a:srgbClr val="1D242E"/>
          </a:solidFill>
          <a:ln w="15875">
            <a:solidFill>
              <a:srgbClr val="E2B54E"/>
            </a:solidFill>
            <a:prstDash val="solid"/>
          </a:ln>
        </p:spPr>
      </p:sp>
      <p:sp>
        <p:nvSpPr>
          <p:cNvPr id="31" name="Text 28"/>
          <p:cNvSpPr txBox="1"/>
          <p:nvPr/>
        </p:nvSpPr>
        <p:spPr>
          <a:xfrm>
            <a:off x="6172200" y="1435608"/>
            <a:ext cx="530352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MECHANICS</a:t>
            </a:r>
            <a:endParaRPr lang="en-US" sz="950" dirty="0"/>
          </a:p>
        </p:txBody>
      </p:sp>
      <p:sp>
        <p:nvSpPr>
          <p:cNvPr id="32" name="Shape 29"/>
          <p:cNvSpPr/>
          <p:nvPr/>
        </p:nvSpPr>
        <p:spPr>
          <a:xfrm>
            <a:off x="6172200" y="1847088"/>
            <a:ext cx="310896" cy="310896"/>
          </a:xfrm>
          <a:prstGeom prst="ellipse">
            <a:avLst/>
          </a:prstGeom>
          <a:solidFill>
            <a:srgbClr val="E2B54E"/>
          </a:solidFill>
          <a:ln w="15875">
            <a:solidFill>
              <a:srgbClr val="E2B54E"/>
            </a:solidFill>
            <a:prstDash val="solid"/>
          </a:ln>
        </p:spPr>
      </p:sp>
      <p:sp>
        <p:nvSpPr>
          <p:cNvPr id="33" name="Text 30"/>
          <p:cNvSpPr txBox="1"/>
          <p:nvPr/>
        </p:nvSpPr>
        <p:spPr>
          <a:xfrm>
            <a:off x="6172200" y="1847088"/>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34" name="Text 31"/>
          <p:cNvSpPr txBox="1"/>
          <p:nvPr/>
        </p:nvSpPr>
        <p:spPr>
          <a:xfrm>
            <a:off x="6601968" y="1810512"/>
            <a:ext cx="49834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Required sensor first</a:t>
            </a:r>
            <a:endParaRPr lang="en-US" sz="1250" dirty="0"/>
          </a:p>
        </p:txBody>
      </p:sp>
      <p:sp>
        <p:nvSpPr>
          <p:cNvPr id="35" name="Text 32"/>
          <p:cNvSpPr txBox="1"/>
          <p:nvPr/>
        </p:nvSpPr>
        <p:spPr>
          <a:xfrm>
            <a:off x="6601968" y="2139696"/>
            <a:ext cx="4983480" cy="530352"/>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If the primary-timeframe sensor isn’t VALID or CAUTIONARY, the result is STAND_ASIDE with a data reason.</a:t>
            </a:r>
            <a:endParaRPr lang="en-US" sz="1100" dirty="0"/>
          </a:p>
        </p:txBody>
      </p:sp>
      <p:sp>
        <p:nvSpPr>
          <p:cNvPr id="36" name="Shape 33"/>
          <p:cNvSpPr/>
          <p:nvPr/>
        </p:nvSpPr>
        <p:spPr>
          <a:xfrm>
            <a:off x="6172200" y="2734056"/>
            <a:ext cx="310896" cy="310896"/>
          </a:xfrm>
          <a:prstGeom prst="ellipse">
            <a:avLst/>
          </a:prstGeom>
          <a:solidFill>
            <a:srgbClr val="E2B54E"/>
          </a:solidFill>
          <a:ln w="15875">
            <a:solidFill>
              <a:srgbClr val="E2B54E"/>
            </a:solidFill>
            <a:prstDash val="solid"/>
          </a:ln>
        </p:spPr>
      </p:sp>
      <p:sp>
        <p:nvSpPr>
          <p:cNvPr id="37" name="Text 34"/>
          <p:cNvSpPr txBox="1"/>
          <p:nvPr/>
        </p:nvSpPr>
        <p:spPr>
          <a:xfrm>
            <a:off x="6172200" y="273405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38" name="Text 35"/>
          <p:cNvSpPr txBox="1"/>
          <p:nvPr/>
        </p:nvSpPr>
        <p:spPr>
          <a:xfrm>
            <a:off x="6601968" y="2697480"/>
            <a:ext cx="49834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Fixed order, first match</a:t>
            </a:r>
            <a:endParaRPr lang="en-US" sz="1250" dirty="0"/>
          </a:p>
        </p:txBody>
      </p:sp>
      <p:sp>
        <p:nvSpPr>
          <p:cNvPr id="39" name="Text 36"/>
          <p:cNvSpPr txBox="1"/>
          <p:nvPr/>
        </p:nvSpPr>
        <p:spPr>
          <a:xfrm>
            <a:off x="6601968" y="3026664"/>
            <a:ext cx="4983480" cy="530352"/>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Rules run top to bottom; the first whose conditions hold decides. The order is part of the rules version.</a:t>
            </a:r>
            <a:endParaRPr lang="en-US" sz="1100" dirty="0"/>
          </a:p>
        </p:txBody>
      </p:sp>
      <p:sp>
        <p:nvSpPr>
          <p:cNvPr id="40" name="Shape 37"/>
          <p:cNvSpPr/>
          <p:nvPr/>
        </p:nvSpPr>
        <p:spPr>
          <a:xfrm>
            <a:off x="6172200" y="3621024"/>
            <a:ext cx="310896" cy="310896"/>
          </a:xfrm>
          <a:prstGeom prst="ellipse">
            <a:avLst/>
          </a:prstGeom>
          <a:solidFill>
            <a:srgbClr val="E2B54E"/>
          </a:solidFill>
          <a:ln w="15875">
            <a:solidFill>
              <a:srgbClr val="E2B54E"/>
            </a:solidFill>
            <a:prstDash val="solid"/>
          </a:ln>
        </p:spPr>
      </p:sp>
      <p:sp>
        <p:nvSpPr>
          <p:cNvPr id="41" name="Text 38"/>
          <p:cNvSpPr txBox="1"/>
          <p:nvPr/>
        </p:nvSpPr>
        <p:spPr>
          <a:xfrm>
            <a:off x="6172200" y="3621024"/>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42" name="Text 39"/>
          <p:cNvSpPr txBox="1"/>
          <p:nvPr/>
        </p:nvSpPr>
        <p:spPr>
          <a:xfrm>
            <a:off x="6601968" y="3584448"/>
            <a:ext cx="49834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Derived sensors modify</a:t>
            </a:r>
            <a:endParaRPr lang="en-US" sz="1250" dirty="0"/>
          </a:p>
        </p:txBody>
      </p:sp>
      <p:sp>
        <p:nvSpPr>
          <p:cNvPr id="43" name="Text 40"/>
          <p:cNvSpPr txBox="1"/>
          <p:nvPr/>
        </p:nvSpPr>
        <p:spPr>
          <a:xfrm>
            <a:off x="6601968" y="3913632"/>
            <a:ext cx="4983480" cy="530352"/>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MCD3 confirms or adds caution; it never casts a vote of its own.</a:t>
            </a:r>
            <a:endParaRPr lang="en-US" sz="1100" dirty="0"/>
          </a:p>
        </p:txBody>
      </p:sp>
      <p:sp>
        <p:nvSpPr>
          <p:cNvPr id="44" name="Shape 41"/>
          <p:cNvSpPr/>
          <p:nvPr/>
        </p:nvSpPr>
        <p:spPr>
          <a:xfrm>
            <a:off x="6172200" y="4507992"/>
            <a:ext cx="310896" cy="310896"/>
          </a:xfrm>
          <a:prstGeom prst="ellipse">
            <a:avLst/>
          </a:prstGeom>
          <a:solidFill>
            <a:srgbClr val="E2B54E"/>
          </a:solidFill>
          <a:ln w="15875">
            <a:solidFill>
              <a:srgbClr val="E2B54E"/>
            </a:solidFill>
            <a:prstDash val="solid"/>
          </a:ln>
        </p:spPr>
      </p:sp>
      <p:sp>
        <p:nvSpPr>
          <p:cNvPr id="45" name="Text 42"/>
          <p:cNvSpPr txBox="1"/>
          <p:nvPr/>
        </p:nvSpPr>
        <p:spPr>
          <a:xfrm>
            <a:off x="6172200" y="4507992"/>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46" name="Text 43"/>
          <p:cNvSpPr txBox="1"/>
          <p:nvPr/>
        </p:nvSpPr>
        <p:spPr>
          <a:xfrm>
            <a:off x="6601968" y="4471416"/>
            <a:ext cx="49834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Caution is inherited</a:t>
            </a:r>
            <a:endParaRPr lang="en-US" sz="1250" dirty="0"/>
          </a:p>
        </p:txBody>
      </p:sp>
      <p:sp>
        <p:nvSpPr>
          <p:cNvPr id="47" name="Text 44"/>
          <p:cNvSpPr txBox="1"/>
          <p:nvPr/>
        </p:nvSpPr>
        <p:spPr>
          <a:xfrm>
            <a:off x="6601968" y="4800600"/>
            <a:ext cx="4983480" cy="530352"/>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Any CAUTIONARY input makes the result CAUTIONARY, with the input’s reason.</a:t>
            </a:r>
            <a:endParaRPr lang="en-US" sz="1100" dirty="0"/>
          </a:p>
        </p:txBody>
      </p:sp>
      <p:sp>
        <p:nvSpPr>
          <p:cNvPr id="48" name="Shape 45"/>
          <p:cNvSpPr/>
          <p:nvPr/>
        </p:nvSpPr>
        <p:spPr>
          <a:xfrm>
            <a:off x="6172200" y="5394960"/>
            <a:ext cx="310896" cy="310896"/>
          </a:xfrm>
          <a:prstGeom prst="ellipse">
            <a:avLst/>
          </a:prstGeom>
          <a:solidFill>
            <a:srgbClr val="E2B54E"/>
          </a:solidFill>
          <a:ln w="15875">
            <a:solidFill>
              <a:srgbClr val="E2B54E"/>
            </a:solidFill>
            <a:prstDash val="solid"/>
          </a:ln>
        </p:spPr>
      </p:sp>
      <p:sp>
        <p:nvSpPr>
          <p:cNvPr id="49" name="Text 46"/>
          <p:cNvSpPr txBox="1"/>
          <p:nvPr/>
        </p:nvSpPr>
        <p:spPr>
          <a:xfrm>
            <a:off x="6172200" y="5394960"/>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50" name="Text 47"/>
          <p:cNvSpPr txBox="1"/>
          <p:nvPr/>
        </p:nvSpPr>
        <p:spPr>
          <a:xfrm>
            <a:off x="6601968" y="5358384"/>
            <a:ext cx="4983480" cy="32918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No match is recorded</a:t>
            </a:r>
            <a:endParaRPr lang="en-US" sz="1250" dirty="0"/>
          </a:p>
        </p:txBody>
      </p:sp>
      <p:sp>
        <p:nvSpPr>
          <p:cNvPr id="51" name="Text 48"/>
          <p:cNvSpPr txBox="1"/>
          <p:nvPr/>
        </p:nvSpPr>
        <p:spPr>
          <a:xfrm>
            <a:off x="6601968" y="5687568"/>
            <a:ext cx="4983480" cy="530352"/>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Result NEUTRAL, logged with the sensor states, so gaps in the rules show up in data.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DRAFT RULES (YOURS TO EDIT)</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A starting rules table, built only from sensors that exist</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457200"/>
                <a:gridCol w="2331720"/>
                <a:gridCol w="868680"/>
                <a:gridCol w="4965192"/>
                <a:gridCol w="2651760"/>
              </a:tblGrid>
              <a:tr h="32918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Profile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When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512064">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Data check</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Primary sensor not VALID or CAUTIONARY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5CC2B2"/>
                          </a:solidFill>
                          <a:latin typeface="Calibri" pitchFamily="34" charset="0"/>
                          <a:ea typeface="Calibri" pitchFamily="34" charset="-122"/>
                          <a:cs typeface="Calibri" pitchFamily="34" charset="-120"/>
                        </a:rPr>
                        <a:t>STAND_ASIDE (data)</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12064">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C · macro counter-trend rally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Day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MCD1 COUNTER_TREND_EXPANSION, and MCD2 trending in the breach direction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5CC2B2"/>
                          </a:solidFill>
                          <a:latin typeface="Calibri" pitchFamily="34" charset="0"/>
                          <a:ea typeface="Calibri" pitchFamily="34" charset="-122"/>
                          <a:cs typeface="Calibri" pitchFamily="34" charset="-120"/>
                        </a:rPr>
                        <a:t>Bias = breach direction · counter-trend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512064">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B · exhaustion / snapback</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MCD1 BREAKOUT_SAME_SLOPE, or MCD2 UPPER / LOWER_OVEREXTENSION_REVERSION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5CC2B2"/>
                          </a:solidFill>
                          <a:latin typeface="Calibri" pitchFamily="34" charset="0"/>
                          <a:ea typeface="Calibri" pitchFamily="34" charset="-122"/>
                          <a:cs typeface="Calibri" pitchFamily="34" charset="-120"/>
                        </a:rPr>
                        <a:t>Bias against the spike · counter-trend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12064">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A · trend continuation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Day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MCD1 TREND_ALIGNED_CONTINUATION, and MCD2 same trend (in corridor, value dip or value rally)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5CC2B2"/>
                          </a:solidFill>
                          <a:latin typeface="Calibri" pitchFamily="34" charset="0"/>
                          <a:ea typeface="Calibri" pitchFamily="34" charset="-122"/>
                          <a:cs typeface="Calibri" pitchFamily="34" charset="-120"/>
                        </a:rPr>
                        <a:t>Bias = M15 trend · with-trend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512064">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3s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A · trend continuation (M5)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Scalper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MCD2 TREND_ALIGNED_CONTINUATION, DIP_VALUE_BUY or RALLY_VALUE_SELL</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5CC2B2"/>
                          </a:solidFill>
                          <a:latin typeface="Calibri" pitchFamily="34" charset="0"/>
                          <a:ea typeface="Calibri" pitchFamily="34" charset="-122"/>
                          <a:cs typeface="Calibri" pitchFamily="34" charset="-120"/>
                        </a:rPr>
                        <a:t>Bias = M5 trend · with-trend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12064">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D · range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MCD1 CONSOLIDATION / RANGE_EXPANSION, or MCD2 SIDEWAYS_*</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5CC2B2"/>
                          </a:solidFill>
                          <a:latin typeface="Calibri" pitchFamily="34" charset="0"/>
                          <a:ea typeface="Calibri" pitchFamily="34" charset="-122"/>
                          <a:cs typeface="Calibri" pitchFamily="34" charset="-120"/>
                        </a:rPr>
                        <a:t>Edges only; middle = STAND_ASIDE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512064">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Unresolved conflict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MCD3 NON_CONSOLIDATED_* and nothing above matched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5CC2B2"/>
                          </a:solidFill>
                          <a:latin typeface="Calibri" pitchFamily="34" charset="0"/>
                          <a:ea typeface="Calibri" pitchFamily="34" charset="-122"/>
                          <a:cs typeface="Calibri" pitchFamily="34" charset="-120"/>
                        </a:rPr>
                        <a:t>STAND_ASIDE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512064">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No match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Nothing above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5CC2B2"/>
                          </a:solidFill>
                          <a:latin typeface="Calibri" pitchFamily="34" charset="0"/>
                          <a:ea typeface="Calibri" pitchFamily="34" charset="-122"/>
                          <a:cs typeface="Calibri" pitchFamily="34" charset="-120"/>
                        </a:rPr>
                        <a:t>NEUTRAL, logged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
        <p:nvSpPr>
          <p:cNvPr id="9" name="Shape 5"/>
          <p:cNvSpPr/>
          <p:nvPr/>
        </p:nvSpPr>
        <p:spPr>
          <a:xfrm>
            <a:off x="457200" y="5806440"/>
            <a:ext cx="11274552" cy="475488"/>
          </a:xfrm>
          <a:prstGeom prst="roundRect">
            <a:avLst>
              <a:gd name="adj" fmla="val 13462"/>
            </a:avLst>
          </a:prstGeom>
          <a:solidFill>
            <a:srgbClr val="2E2715"/>
          </a:solidFill>
          <a:ln w="9525">
            <a:solidFill>
              <a:srgbClr val="2E2715"/>
            </a:solidFill>
            <a:prstDash val="solid"/>
          </a:ln>
        </p:spPr>
      </p:sp>
      <p:sp>
        <p:nvSpPr>
          <p:cNvPr id="10" name="Text 6"/>
          <p:cNvSpPr txBox="1"/>
          <p:nvPr/>
        </p:nvSpPr>
        <p:spPr>
          <a:xfrm>
            <a:off x="640080" y="5806440"/>
            <a:ext cx="10972800" cy="475488"/>
          </a:xfrm>
          <a:prstGeom prst="rect">
            <a:avLst/>
          </a:prstGeom>
          <a:noFill/>
          <a:ln/>
        </p:spPr>
        <p:txBody>
          <a:bodyPr wrap="square" lIns="0" tIns="0" rIns="0" bIns="0" rtlCol="0" anchor="ctr"/>
          <a:lstStyle/>
          <a:p>
            <a:pPr indent="0" marL="0">
              <a:buNone/>
            </a:pPr>
            <a:r>
              <a:rPr lang="en-US" sz="1100" b="1" dirty="0">
                <a:solidFill>
                  <a:srgbClr val="E2B54E"/>
                </a:solidFill>
                <a:latin typeface="Calibri" pitchFamily="34" charset="0"/>
                <a:ea typeface="Calibri" pitchFamily="34" charset="-122"/>
                <a:cs typeface="Calibri" pitchFamily="34" charset="-120"/>
              </a:rPr>
              <a:t>MCD3 as modifier:  </a:t>
            </a:r>
            <a:pPr indent="0" marL="0">
              <a:buNone/>
            </a:pPr>
            <a:r>
              <a:rPr lang="en-US" sz="1100" dirty="0">
                <a:solidFill>
                  <a:srgbClr val="EEF1F4"/>
                </a:solidFill>
                <a:latin typeface="Calibri" pitchFamily="34" charset="0"/>
                <a:ea typeface="Calibri" pitchFamily="34" charset="-122"/>
                <a:cs typeface="Calibri" pitchFamily="34" charset="-120"/>
              </a:rPr>
              <a:t>consolidated in the same direction confirms the result; a trend conflict is noted as expected in rule 1 and adds caution elsewhere.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WORKED EXAMPLE</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One cycle, two trader types, two different readings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8</a:t>
            </a:r>
            <a:endParaRPr lang="en-US" sz="1000" dirty="0"/>
          </a:p>
        </p:txBody>
      </p:sp>
      <p:sp>
        <p:nvSpPr>
          <p:cNvPr id="8" name="Shape 5"/>
          <p:cNvSpPr/>
          <p:nvPr/>
        </p:nvSpPr>
        <p:spPr>
          <a:xfrm>
            <a:off x="457200" y="1325880"/>
            <a:ext cx="3749040" cy="4956048"/>
          </a:xfrm>
          <a:prstGeom prst="roundRect">
            <a:avLst>
              <a:gd name="adj" fmla="val 1707"/>
            </a:avLst>
          </a:prstGeom>
          <a:solidFill>
            <a:srgbClr val="1D242E"/>
          </a:solidFill>
          <a:ln w="9525">
            <a:solidFill>
              <a:srgbClr val="323C49"/>
            </a:solidFill>
            <a:prstDash val="solid"/>
          </a:ln>
        </p:spPr>
      </p:sp>
      <p:sp>
        <p:nvSpPr>
          <p:cNvPr id="9" name="Text 6"/>
          <p:cNvSpPr txBox="1"/>
          <p:nvPr/>
        </p:nvSpPr>
        <p:spPr>
          <a:xfrm>
            <a:off x="640080" y="1435608"/>
            <a:ext cx="3474720" cy="256032"/>
          </a:xfrm>
          <a:prstGeom prst="rect">
            <a:avLst/>
          </a:prstGeom>
          <a:noFill/>
          <a:ln/>
        </p:spPr>
        <p:txBody>
          <a:bodyPr wrap="square" lIns="0" tIns="0" rIns="0" bIns="0" rtlCol="0" anchor="t"/>
          <a:lstStyle/>
          <a:p>
            <a:pPr indent="0" marL="0">
              <a:buNone/>
            </a:pPr>
            <a:r>
              <a:rPr lang="en-US" sz="950" b="1" spc="150" kern="0" dirty="0">
                <a:solidFill>
                  <a:srgbClr val="A3AEBB"/>
                </a:solidFill>
                <a:latin typeface="Calibri" pitchFamily="34" charset="0"/>
                <a:ea typeface="Calibri" pitchFamily="34" charset="-122"/>
                <a:cs typeface="Calibri" pitchFamily="34" charset="-120"/>
              </a:rPr>
              <a:t>SENSOR READINGS · 18 SEP 20:55</a:t>
            </a:r>
            <a:endParaRPr lang="en-US" sz="950" dirty="0"/>
          </a:p>
        </p:txBody>
      </p:sp>
      <p:sp>
        <p:nvSpPr>
          <p:cNvPr id="10" name="Text 7"/>
          <p:cNvSpPr txBox="1"/>
          <p:nvPr/>
        </p:nvSpPr>
        <p:spPr>
          <a:xfrm>
            <a:off x="640080" y="1828800"/>
            <a:ext cx="3383280" cy="310896"/>
          </a:xfrm>
          <a:prstGeom prst="rect">
            <a:avLst/>
          </a:prstGeom>
          <a:noFill/>
          <a:ln/>
        </p:spPr>
        <p:txBody>
          <a:bodyPr wrap="square" lIns="0" tIns="0" rIns="0" bIns="0" rtlCol="0" anchor="t"/>
          <a:lstStyle/>
          <a:p>
            <a:pPr indent="0" marL="0">
              <a:buNone/>
            </a:pPr>
            <a:r>
              <a:rPr lang="en-US" sz="1250" b="1" dirty="0">
                <a:solidFill>
                  <a:srgbClr val="E2B54E"/>
                </a:solidFill>
                <a:latin typeface="Calibri" pitchFamily="34" charset="0"/>
                <a:ea typeface="Calibri" pitchFamily="34" charset="-122"/>
                <a:cs typeface="Calibri" pitchFamily="34" charset="-120"/>
              </a:rPr>
              <a:t>MCD1 · M15</a:t>
            </a:r>
            <a:endParaRPr lang="en-US" sz="1250" dirty="0"/>
          </a:p>
        </p:txBody>
      </p:sp>
      <p:sp>
        <p:nvSpPr>
          <p:cNvPr id="11" name="Text 8"/>
          <p:cNvSpPr txBox="1"/>
          <p:nvPr/>
        </p:nvSpPr>
        <p:spPr>
          <a:xfrm>
            <a:off x="640080" y="2157984"/>
            <a:ext cx="3383280" cy="512064"/>
          </a:xfrm>
          <a:prstGeom prst="rect">
            <a:avLst/>
          </a:prstGeom>
          <a:noFill/>
          <a:ln/>
        </p:spPr>
        <p:txBody>
          <a:bodyPr wrap="square" lIns="0" tIns="0" rIns="0" bIns="0" rtlCol="0" anchor="t"/>
          <a:lstStyle/>
          <a:p>
            <a:pPr indent="0" marL="0">
              <a:buNone/>
            </a:pPr>
            <a:r>
              <a:rPr lang="en-US" sz="1100" dirty="0">
                <a:solidFill>
                  <a:srgbClr val="EEF1F4"/>
                </a:solidFill>
                <a:latin typeface="Calibri" pitchFamily="34" charset="0"/>
                <a:ea typeface="Calibri" pitchFamily="34" charset="-122"/>
                <a:cs typeface="Calibri" pitchFamily="34" charset="-120"/>
              </a:rPr>
              <a:t>Downtrend, sustained breach above the upper band</a:t>
            </a:r>
            <a:endParaRPr lang="en-US" sz="1100" dirty="0"/>
          </a:p>
        </p:txBody>
      </p:sp>
      <p:sp>
        <p:nvSpPr>
          <p:cNvPr id="12" name="Text 9"/>
          <p:cNvSpPr txBox="1"/>
          <p:nvPr/>
        </p:nvSpPr>
        <p:spPr>
          <a:xfrm>
            <a:off x="640080" y="2670048"/>
            <a:ext cx="3383280" cy="365760"/>
          </a:xfrm>
          <a:prstGeom prst="rect">
            <a:avLst/>
          </a:prstGeom>
          <a:noFill/>
          <a:ln/>
        </p:spPr>
        <p:txBody>
          <a:bodyPr wrap="square" lIns="0" tIns="0" rIns="0" bIns="0" rtlCol="0" anchor="t"/>
          <a:lstStyle/>
          <a:p>
            <a:pPr indent="0" marL="0">
              <a:buNone/>
            </a:pPr>
            <a:r>
              <a:rPr lang="en-US" sz="950" dirty="0">
                <a:solidFill>
                  <a:srgbClr val="A3AEBB"/>
                </a:solidFill>
                <a:latin typeface="Courier New" pitchFamily="34" charset="0"/>
                <a:ea typeface="Courier New" pitchFamily="34" charset="-122"/>
                <a:cs typeface="Courier New" pitchFamily="34" charset="-120"/>
              </a:rPr>
              <a:t>COUNTER_TREND_EXPANSION</a:t>
            </a:r>
            <a:endParaRPr lang="en-US" sz="950" dirty="0"/>
          </a:p>
        </p:txBody>
      </p:sp>
      <p:sp>
        <p:nvSpPr>
          <p:cNvPr id="13" name="Text 10"/>
          <p:cNvSpPr txBox="1"/>
          <p:nvPr/>
        </p:nvSpPr>
        <p:spPr>
          <a:xfrm>
            <a:off x="640080" y="3246120"/>
            <a:ext cx="3383280" cy="310896"/>
          </a:xfrm>
          <a:prstGeom prst="rect">
            <a:avLst/>
          </a:prstGeom>
          <a:noFill/>
          <a:ln/>
        </p:spPr>
        <p:txBody>
          <a:bodyPr wrap="square" lIns="0" tIns="0" rIns="0" bIns="0" rtlCol="0" anchor="t"/>
          <a:lstStyle/>
          <a:p>
            <a:pPr indent="0" marL="0">
              <a:buNone/>
            </a:pPr>
            <a:r>
              <a:rPr lang="en-US" sz="1250" b="1" dirty="0">
                <a:solidFill>
                  <a:srgbClr val="E2B54E"/>
                </a:solidFill>
                <a:latin typeface="Calibri" pitchFamily="34" charset="0"/>
                <a:ea typeface="Calibri" pitchFamily="34" charset="-122"/>
                <a:cs typeface="Calibri" pitchFamily="34" charset="-120"/>
              </a:rPr>
              <a:t>MCD2 · M5</a:t>
            </a:r>
            <a:endParaRPr lang="en-US" sz="1250" dirty="0"/>
          </a:p>
        </p:txBody>
      </p:sp>
      <p:sp>
        <p:nvSpPr>
          <p:cNvPr id="14" name="Text 11"/>
          <p:cNvSpPr txBox="1"/>
          <p:nvPr/>
        </p:nvSpPr>
        <p:spPr>
          <a:xfrm>
            <a:off x="640080" y="3575304"/>
            <a:ext cx="3383280" cy="512064"/>
          </a:xfrm>
          <a:prstGeom prst="rect">
            <a:avLst/>
          </a:prstGeom>
          <a:noFill/>
          <a:ln/>
        </p:spPr>
        <p:txBody>
          <a:bodyPr wrap="square" lIns="0" tIns="0" rIns="0" bIns="0" rtlCol="0" anchor="t"/>
          <a:lstStyle/>
          <a:p>
            <a:pPr indent="0" marL="0">
              <a:buNone/>
            </a:pPr>
            <a:r>
              <a:rPr lang="en-US" sz="1100" dirty="0">
                <a:solidFill>
                  <a:srgbClr val="EEF1F4"/>
                </a:solidFill>
                <a:latin typeface="Calibri" pitchFamily="34" charset="0"/>
                <a:ea typeface="Calibri" pitchFamily="34" charset="-122"/>
                <a:cs typeface="Calibri" pitchFamily="34" charset="-120"/>
              </a:rPr>
              <a:t>Uptrend, price inside the corridor</a:t>
            </a:r>
            <a:endParaRPr lang="en-US" sz="1100" dirty="0"/>
          </a:p>
        </p:txBody>
      </p:sp>
      <p:sp>
        <p:nvSpPr>
          <p:cNvPr id="15" name="Text 12"/>
          <p:cNvSpPr txBox="1"/>
          <p:nvPr/>
        </p:nvSpPr>
        <p:spPr>
          <a:xfrm>
            <a:off x="640080" y="4087368"/>
            <a:ext cx="3383280" cy="365760"/>
          </a:xfrm>
          <a:prstGeom prst="rect">
            <a:avLst/>
          </a:prstGeom>
          <a:noFill/>
          <a:ln/>
        </p:spPr>
        <p:txBody>
          <a:bodyPr wrap="square" lIns="0" tIns="0" rIns="0" bIns="0" rtlCol="0" anchor="t"/>
          <a:lstStyle/>
          <a:p>
            <a:pPr indent="0" marL="0">
              <a:buNone/>
            </a:pPr>
            <a:r>
              <a:rPr lang="en-US" sz="950" dirty="0">
                <a:solidFill>
                  <a:srgbClr val="A3AEBB"/>
                </a:solidFill>
                <a:latin typeface="Courier New" pitchFamily="34" charset="0"/>
                <a:ea typeface="Courier New" pitchFamily="34" charset="-122"/>
                <a:cs typeface="Courier New" pitchFamily="34" charset="-120"/>
              </a:rPr>
              <a:t>MCD2_UP_IN_CORRIDOR</a:t>
            </a:r>
            <a:endParaRPr lang="en-US" sz="950" dirty="0"/>
          </a:p>
        </p:txBody>
      </p:sp>
      <p:sp>
        <p:nvSpPr>
          <p:cNvPr id="16" name="Text 13"/>
          <p:cNvSpPr txBox="1"/>
          <p:nvPr/>
        </p:nvSpPr>
        <p:spPr>
          <a:xfrm>
            <a:off x="640080" y="4663440"/>
            <a:ext cx="3383280" cy="310896"/>
          </a:xfrm>
          <a:prstGeom prst="rect">
            <a:avLst/>
          </a:prstGeom>
          <a:noFill/>
          <a:ln/>
        </p:spPr>
        <p:txBody>
          <a:bodyPr wrap="square" lIns="0" tIns="0" rIns="0" bIns="0" rtlCol="0" anchor="t"/>
          <a:lstStyle/>
          <a:p>
            <a:pPr indent="0" marL="0">
              <a:buNone/>
            </a:pPr>
            <a:r>
              <a:rPr lang="en-US" sz="1250" b="1" dirty="0">
                <a:solidFill>
                  <a:srgbClr val="E2B54E"/>
                </a:solidFill>
                <a:latin typeface="Calibri" pitchFamily="34" charset="0"/>
                <a:ea typeface="Calibri" pitchFamily="34" charset="-122"/>
                <a:cs typeface="Calibri" pitchFamily="34" charset="-120"/>
              </a:rPr>
              <a:t>MCD3 · both</a:t>
            </a:r>
            <a:endParaRPr lang="en-US" sz="1250" dirty="0"/>
          </a:p>
        </p:txBody>
      </p:sp>
      <p:sp>
        <p:nvSpPr>
          <p:cNvPr id="17" name="Text 14"/>
          <p:cNvSpPr txBox="1"/>
          <p:nvPr/>
        </p:nvSpPr>
        <p:spPr>
          <a:xfrm>
            <a:off x="640080" y="4992624"/>
            <a:ext cx="3383280" cy="512064"/>
          </a:xfrm>
          <a:prstGeom prst="rect">
            <a:avLst/>
          </a:prstGeom>
          <a:noFill/>
          <a:ln/>
        </p:spPr>
        <p:txBody>
          <a:bodyPr wrap="square" lIns="0" tIns="0" rIns="0" bIns="0" rtlCol="0" anchor="t"/>
          <a:lstStyle/>
          <a:p>
            <a:pPr indent="0" marL="0">
              <a:buNone/>
            </a:pPr>
            <a:r>
              <a:rPr lang="en-US" sz="1100" dirty="0">
                <a:solidFill>
                  <a:srgbClr val="EEF1F4"/>
                </a:solidFill>
                <a:latin typeface="Calibri" pitchFamily="34" charset="0"/>
                <a:ea typeface="Calibri" pitchFamily="34" charset="-122"/>
                <a:cs typeface="Calibri" pitchFamily="34" charset="-120"/>
              </a:rPr>
              <a:t>M15 and M5 trends disagree</a:t>
            </a:r>
            <a:endParaRPr lang="en-US" sz="1100" dirty="0"/>
          </a:p>
        </p:txBody>
      </p:sp>
      <p:sp>
        <p:nvSpPr>
          <p:cNvPr id="18" name="Text 15"/>
          <p:cNvSpPr txBox="1"/>
          <p:nvPr/>
        </p:nvSpPr>
        <p:spPr>
          <a:xfrm>
            <a:off x="640080" y="5504688"/>
            <a:ext cx="3383280" cy="365760"/>
          </a:xfrm>
          <a:prstGeom prst="rect">
            <a:avLst/>
          </a:prstGeom>
          <a:noFill/>
          <a:ln/>
        </p:spPr>
        <p:txBody>
          <a:bodyPr wrap="square" lIns="0" tIns="0" rIns="0" bIns="0" rtlCol="0" anchor="t"/>
          <a:lstStyle/>
          <a:p>
            <a:pPr indent="0" marL="0">
              <a:buNone/>
            </a:pPr>
            <a:r>
              <a:rPr lang="en-US" sz="950" dirty="0">
                <a:solidFill>
                  <a:srgbClr val="A3AEBB"/>
                </a:solidFill>
                <a:latin typeface="Courier New" pitchFamily="34" charset="0"/>
                <a:ea typeface="Courier New" pitchFamily="34" charset="-122"/>
                <a:cs typeface="Courier New" pitchFamily="34" charset="-120"/>
              </a:rPr>
              <a:t>NON_CONSOLIDATED_TREND_CONFLICT</a:t>
            </a:r>
            <a:endParaRPr lang="en-US" sz="950" dirty="0"/>
          </a:p>
        </p:txBody>
      </p:sp>
      <p:sp>
        <p:nvSpPr>
          <p:cNvPr id="19" name="Shape 16"/>
          <p:cNvSpPr/>
          <p:nvPr/>
        </p:nvSpPr>
        <p:spPr>
          <a:xfrm>
            <a:off x="4224528" y="2926080"/>
            <a:ext cx="192024" cy="0"/>
          </a:xfrm>
          <a:prstGeom prst="line">
            <a:avLst/>
          </a:prstGeom>
          <a:noFill/>
          <a:ln w="15875">
            <a:solidFill>
              <a:srgbClr val="7D8A99"/>
            </a:solidFill>
            <a:prstDash val="solid"/>
            <a:tailEnd type="triangle"/>
          </a:ln>
        </p:spPr>
      </p:sp>
      <p:sp>
        <p:nvSpPr>
          <p:cNvPr id="20" name="Shape 17"/>
          <p:cNvSpPr/>
          <p:nvPr/>
        </p:nvSpPr>
        <p:spPr>
          <a:xfrm>
            <a:off x="4434840" y="1325880"/>
            <a:ext cx="3547872" cy="3931920"/>
          </a:xfrm>
          <a:prstGeom prst="roundRect">
            <a:avLst>
              <a:gd name="adj" fmla="val 1804"/>
            </a:avLst>
          </a:prstGeom>
          <a:solidFill>
            <a:srgbClr val="1D242E"/>
          </a:solidFill>
          <a:ln w="15875">
            <a:solidFill>
              <a:srgbClr val="E2B54E"/>
            </a:solidFill>
            <a:prstDash val="solid"/>
          </a:ln>
        </p:spPr>
      </p:sp>
      <p:sp>
        <p:nvSpPr>
          <p:cNvPr id="21" name="Shape 18"/>
          <p:cNvSpPr/>
          <p:nvPr/>
        </p:nvSpPr>
        <p:spPr>
          <a:xfrm>
            <a:off x="4599432" y="1481328"/>
            <a:ext cx="1463040" cy="274320"/>
          </a:xfrm>
          <a:prstGeom prst="roundRect">
            <a:avLst>
              <a:gd name="adj" fmla="val 50000"/>
            </a:avLst>
          </a:prstGeom>
          <a:solidFill>
            <a:srgbClr val="7FA8E8"/>
          </a:solidFill>
          <a:ln w="9525">
            <a:solidFill>
              <a:srgbClr val="7FA8E8"/>
            </a:solidFill>
            <a:prstDash val="solid"/>
          </a:ln>
        </p:spPr>
      </p:sp>
      <p:sp>
        <p:nvSpPr>
          <p:cNvPr id="22" name="Text 19"/>
          <p:cNvSpPr txBox="1"/>
          <p:nvPr/>
        </p:nvSpPr>
        <p:spPr>
          <a:xfrm>
            <a:off x="4599432" y="1481328"/>
            <a:ext cx="1463040" cy="274320"/>
          </a:xfrm>
          <a:prstGeom prst="rect">
            <a:avLst/>
          </a:prstGeom>
          <a:noFill/>
          <a:ln/>
        </p:spPr>
        <p:txBody>
          <a:bodyPr wrap="square" lIns="0" tIns="0" rIns="0" bIns="0" rtlCol="0" anchor="ctr"/>
          <a:lstStyle/>
          <a:p>
            <a:pPr algn="ctr" indent="0" marL="0">
              <a:buNone/>
            </a:pPr>
            <a:r>
              <a:rPr lang="en-US" sz="900" b="1" spc="100" kern="0" dirty="0">
                <a:solidFill>
                  <a:srgbClr val="0F1318"/>
                </a:solidFill>
                <a:latin typeface="Calibri" pitchFamily="34" charset="0"/>
                <a:ea typeface="Calibri" pitchFamily="34" charset="-122"/>
                <a:cs typeface="Calibri" pitchFamily="34" charset="-120"/>
              </a:rPr>
              <a:t>DAY TRADER</a:t>
            </a:r>
            <a:endParaRPr lang="en-US" sz="900" dirty="0"/>
          </a:p>
        </p:txBody>
      </p:sp>
      <p:sp>
        <p:nvSpPr>
          <p:cNvPr id="23" name="Text 20"/>
          <p:cNvSpPr txBox="1"/>
          <p:nvPr/>
        </p:nvSpPr>
        <p:spPr>
          <a:xfrm>
            <a:off x="6172200" y="1481328"/>
            <a:ext cx="1737360" cy="274320"/>
          </a:xfrm>
          <a:prstGeom prst="rect">
            <a:avLst/>
          </a:prstGeom>
          <a:noFill/>
          <a:ln/>
        </p:spPr>
        <p:txBody>
          <a:bodyPr wrap="square" lIns="0" tIns="0" rIns="0" bIns="0" rtlCol="0" anchor="ctr"/>
          <a:lstStyle/>
          <a:p>
            <a:pPr indent="0" marL="0">
              <a:buNone/>
            </a:pPr>
            <a:r>
              <a:rPr lang="en-US" sz="1000" dirty="0">
                <a:solidFill>
                  <a:srgbClr val="A3AEBB"/>
                </a:solidFill>
                <a:latin typeface="Calibri" pitchFamily="34" charset="0"/>
                <a:ea typeface="Calibri" pitchFamily="34" charset="-122"/>
                <a:cs typeface="Calibri" pitchFamily="34" charset="-120"/>
              </a:rPr>
              <a:t>M15 structure, M5 timing</a:t>
            </a:r>
            <a:endParaRPr lang="en-US" sz="1000" dirty="0"/>
          </a:p>
        </p:txBody>
      </p:sp>
      <p:sp>
        <p:nvSpPr>
          <p:cNvPr id="24" name="Text 21"/>
          <p:cNvSpPr txBox="1"/>
          <p:nvPr/>
        </p:nvSpPr>
        <p:spPr>
          <a:xfrm>
            <a:off x="4617720" y="1965960"/>
            <a:ext cx="3200400" cy="237744"/>
          </a:xfrm>
          <a:prstGeom prst="rect">
            <a:avLst/>
          </a:prstGeom>
          <a:noFill/>
          <a:ln/>
        </p:spPr>
        <p:txBody>
          <a:bodyPr wrap="square" lIns="0" tIns="0" rIns="0" bIns="0" rtlCol="0" anchor="t"/>
          <a:lstStyle/>
          <a:p>
            <a:pPr indent="0" marL="0">
              <a:buNone/>
            </a:pPr>
            <a:r>
              <a:rPr lang="en-US" sz="900" b="1" spc="150" kern="0" dirty="0">
                <a:solidFill>
                  <a:srgbClr val="A3AEBB"/>
                </a:solidFill>
                <a:latin typeface="Calibri" pitchFamily="34" charset="0"/>
                <a:ea typeface="Calibri" pitchFamily="34" charset="-122"/>
                <a:cs typeface="Calibri" pitchFamily="34" charset="-120"/>
              </a:rPr>
              <a:t>RULE</a:t>
            </a:r>
            <a:endParaRPr lang="en-US" sz="900" dirty="0"/>
          </a:p>
        </p:txBody>
      </p:sp>
      <p:sp>
        <p:nvSpPr>
          <p:cNvPr id="25" name="Text 22"/>
          <p:cNvSpPr txBox="1"/>
          <p:nvPr/>
        </p:nvSpPr>
        <p:spPr>
          <a:xfrm>
            <a:off x="4617720" y="2212848"/>
            <a:ext cx="3246120" cy="512064"/>
          </a:xfrm>
          <a:prstGeom prst="rect">
            <a:avLst/>
          </a:prstGeom>
          <a:noFill/>
          <a:ln/>
        </p:spPr>
        <p:txBody>
          <a:bodyPr wrap="square" lIns="0" tIns="0" rIns="0" bIns="0" rtlCol="0" anchor="t"/>
          <a:lstStyle/>
          <a:p>
            <a:pPr indent="0" marL="0">
              <a:buNone/>
            </a:pPr>
            <a:r>
              <a:rPr lang="en-US" sz="1250" b="1" dirty="0">
                <a:solidFill>
                  <a:srgbClr val="EEF1F4"/>
                </a:solidFill>
                <a:latin typeface="Calibri" pitchFamily="34" charset="0"/>
                <a:ea typeface="Calibri" pitchFamily="34" charset="-122"/>
                <a:cs typeface="Calibri" pitchFamily="34" charset="-120"/>
              </a:rPr>
              <a:t>1 · C macro counter-trend rally</a:t>
            </a:r>
            <a:endParaRPr lang="en-US" sz="1250" dirty="0"/>
          </a:p>
        </p:txBody>
      </p:sp>
      <p:sp>
        <p:nvSpPr>
          <p:cNvPr id="26" name="Text 23"/>
          <p:cNvSpPr txBox="1"/>
          <p:nvPr/>
        </p:nvSpPr>
        <p:spPr>
          <a:xfrm>
            <a:off x="4617720" y="2770632"/>
            <a:ext cx="3200400" cy="237744"/>
          </a:xfrm>
          <a:prstGeom prst="rect">
            <a:avLst/>
          </a:prstGeom>
          <a:noFill/>
          <a:ln/>
        </p:spPr>
        <p:txBody>
          <a:bodyPr wrap="square" lIns="0" tIns="0" rIns="0" bIns="0" rtlCol="0" anchor="t"/>
          <a:lstStyle/>
          <a:p>
            <a:pPr indent="0" marL="0">
              <a:buNone/>
            </a:pPr>
            <a:r>
              <a:rPr lang="en-US" sz="900" b="1" spc="150" kern="0" dirty="0">
                <a:solidFill>
                  <a:srgbClr val="A3AEBB"/>
                </a:solidFill>
                <a:latin typeface="Calibri" pitchFamily="34" charset="0"/>
                <a:ea typeface="Calibri" pitchFamily="34" charset="-122"/>
                <a:cs typeface="Calibri" pitchFamily="34" charset="-120"/>
              </a:rPr>
              <a:t>BIAS</a:t>
            </a:r>
            <a:endParaRPr lang="en-US" sz="900" dirty="0"/>
          </a:p>
        </p:txBody>
      </p:sp>
      <p:sp>
        <p:nvSpPr>
          <p:cNvPr id="27" name="Text 24"/>
          <p:cNvSpPr txBox="1"/>
          <p:nvPr/>
        </p:nvSpPr>
        <p:spPr>
          <a:xfrm>
            <a:off x="4617720" y="3017520"/>
            <a:ext cx="3246120" cy="512064"/>
          </a:xfrm>
          <a:prstGeom prst="rect">
            <a:avLst/>
          </a:prstGeom>
          <a:noFill/>
          <a:ln/>
        </p:spPr>
        <p:txBody>
          <a:bodyPr wrap="square" lIns="0" tIns="0" rIns="0" bIns="0" rtlCol="0" anchor="t"/>
          <a:lstStyle/>
          <a:p>
            <a:pPr indent="0" marL="0">
              <a:buNone/>
            </a:pPr>
            <a:r>
              <a:rPr lang="en-US" sz="1250" b="1" dirty="0">
                <a:solidFill>
                  <a:srgbClr val="5CC2B2"/>
                </a:solidFill>
                <a:latin typeface="Calibri" pitchFamily="34" charset="0"/>
                <a:ea typeface="Calibri" pitchFamily="34" charset="-122"/>
                <a:cs typeface="Calibri" pitchFamily="34" charset="-120"/>
              </a:rPr>
              <a:t>LONG</a:t>
            </a:r>
            <a:endParaRPr lang="en-US" sz="1250" dirty="0"/>
          </a:p>
        </p:txBody>
      </p:sp>
      <p:sp>
        <p:nvSpPr>
          <p:cNvPr id="28" name="Text 25"/>
          <p:cNvSpPr txBox="1"/>
          <p:nvPr/>
        </p:nvSpPr>
        <p:spPr>
          <a:xfrm>
            <a:off x="4617720" y="3575304"/>
            <a:ext cx="3200400" cy="237744"/>
          </a:xfrm>
          <a:prstGeom prst="rect">
            <a:avLst/>
          </a:prstGeom>
          <a:noFill/>
          <a:ln/>
        </p:spPr>
        <p:txBody>
          <a:bodyPr wrap="square" lIns="0" tIns="0" rIns="0" bIns="0" rtlCol="0" anchor="t"/>
          <a:lstStyle/>
          <a:p>
            <a:pPr indent="0" marL="0">
              <a:buNone/>
            </a:pPr>
            <a:r>
              <a:rPr lang="en-US" sz="900" b="1" spc="150" kern="0" dirty="0">
                <a:solidFill>
                  <a:srgbClr val="A3AEBB"/>
                </a:solidFill>
                <a:latin typeface="Calibri" pitchFamily="34" charset="0"/>
                <a:ea typeface="Calibri" pitchFamily="34" charset="-122"/>
                <a:cs typeface="Calibri" pitchFamily="34" charset="-120"/>
              </a:rPr>
              <a:t>RELATION</a:t>
            </a:r>
            <a:endParaRPr lang="en-US" sz="900" dirty="0"/>
          </a:p>
        </p:txBody>
      </p:sp>
      <p:sp>
        <p:nvSpPr>
          <p:cNvPr id="29" name="Text 26"/>
          <p:cNvSpPr txBox="1"/>
          <p:nvPr/>
        </p:nvSpPr>
        <p:spPr>
          <a:xfrm>
            <a:off x="4617720" y="3822192"/>
            <a:ext cx="3246120" cy="512064"/>
          </a:xfrm>
          <a:prstGeom prst="rect">
            <a:avLst/>
          </a:prstGeom>
          <a:noFill/>
          <a:ln/>
        </p:spPr>
        <p:txBody>
          <a:bodyPr wrap="square" lIns="0" tIns="0" rIns="0" bIns="0" rtlCol="0" anchor="t"/>
          <a:lstStyle/>
          <a:p>
            <a:pPr indent="0" marL="0">
              <a:buNone/>
            </a:pPr>
            <a:r>
              <a:rPr lang="en-US" sz="1250" dirty="0">
                <a:solidFill>
                  <a:srgbClr val="EEF1F4"/>
                </a:solidFill>
                <a:latin typeface="Calibri" pitchFamily="34" charset="0"/>
                <a:ea typeface="Calibri" pitchFamily="34" charset="-122"/>
                <a:cs typeface="Calibri" pitchFamily="34" charset="-120"/>
              </a:rPr>
              <a:t>Counter-trend (against the M15 slope)</a:t>
            </a:r>
            <a:endParaRPr lang="en-US" sz="1250" dirty="0"/>
          </a:p>
        </p:txBody>
      </p:sp>
      <p:sp>
        <p:nvSpPr>
          <p:cNvPr id="30" name="Text 27"/>
          <p:cNvSpPr txBox="1"/>
          <p:nvPr/>
        </p:nvSpPr>
        <p:spPr>
          <a:xfrm>
            <a:off x="4617720" y="4379976"/>
            <a:ext cx="3200400" cy="237744"/>
          </a:xfrm>
          <a:prstGeom prst="rect">
            <a:avLst/>
          </a:prstGeom>
          <a:noFill/>
          <a:ln/>
        </p:spPr>
        <p:txBody>
          <a:bodyPr wrap="square" lIns="0" tIns="0" rIns="0" bIns="0" rtlCol="0" anchor="t"/>
          <a:lstStyle/>
          <a:p>
            <a:pPr indent="0" marL="0">
              <a:buNone/>
            </a:pPr>
            <a:r>
              <a:rPr lang="en-US" sz="900" b="1" spc="150" kern="0" dirty="0">
                <a:solidFill>
                  <a:srgbClr val="A3AEBB"/>
                </a:solidFill>
                <a:latin typeface="Calibri" pitchFamily="34" charset="0"/>
                <a:ea typeface="Calibri" pitchFamily="34" charset="-122"/>
                <a:cs typeface="Calibri" pitchFamily="34" charset="-120"/>
              </a:rPr>
              <a:t>MCD3</a:t>
            </a:r>
            <a:endParaRPr lang="en-US" sz="900" dirty="0"/>
          </a:p>
        </p:txBody>
      </p:sp>
      <p:sp>
        <p:nvSpPr>
          <p:cNvPr id="31" name="Text 28"/>
          <p:cNvSpPr txBox="1"/>
          <p:nvPr/>
        </p:nvSpPr>
        <p:spPr>
          <a:xfrm>
            <a:off x="4617720" y="4626864"/>
            <a:ext cx="3246120" cy="512064"/>
          </a:xfrm>
          <a:prstGeom prst="rect">
            <a:avLst/>
          </a:prstGeom>
          <a:noFill/>
          <a:ln/>
        </p:spPr>
        <p:txBody>
          <a:bodyPr wrap="square" lIns="0" tIns="0" rIns="0" bIns="0" rtlCol="0" anchor="t"/>
          <a:lstStyle/>
          <a:p>
            <a:pPr indent="0" marL="0">
              <a:buNone/>
            </a:pPr>
            <a:r>
              <a:rPr lang="en-US" sz="1250" dirty="0">
                <a:solidFill>
                  <a:srgbClr val="EEF1F4"/>
                </a:solidFill>
                <a:latin typeface="Calibri" pitchFamily="34" charset="0"/>
                <a:ea typeface="Calibri" pitchFamily="34" charset="-122"/>
                <a:cs typeface="Calibri" pitchFamily="34" charset="-120"/>
              </a:rPr>
              <a:t>Conflict expected while the M15 slope lags</a:t>
            </a:r>
            <a:endParaRPr lang="en-US" sz="1250" dirty="0"/>
          </a:p>
        </p:txBody>
      </p:sp>
      <p:sp>
        <p:nvSpPr>
          <p:cNvPr id="32" name="Shape 29"/>
          <p:cNvSpPr/>
          <p:nvPr/>
        </p:nvSpPr>
        <p:spPr>
          <a:xfrm>
            <a:off x="4224528" y="2935224"/>
            <a:ext cx="192024" cy="0"/>
          </a:xfrm>
          <a:prstGeom prst="line">
            <a:avLst/>
          </a:prstGeom>
          <a:noFill/>
          <a:ln w="15875">
            <a:solidFill>
              <a:srgbClr val="7D8A99"/>
            </a:solidFill>
            <a:prstDash val="solid"/>
            <a:tailEnd type="triangle"/>
          </a:ln>
        </p:spPr>
      </p:sp>
      <p:sp>
        <p:nvSpPr>
          <p:cNvPr id="33" name="Shape 30"/>
          <p:cNvSpPr/>
          <p:nvPr/>
        </p:nvSpPr>
        <p:spPr>
          <a:xfrm>
            <a:off x="8138160" y="1325880"/>
            <a:ext cx="3547872" cy="3931920"/>
          </a:xfrm>
          <a:prstGeom prst="roundRect">
            <a:avLst>
              <a:gd name="adj" fmla="val 1804"/>
            </a:avLst>
          </a:prstGeom>
          <a:solidFill>
            <a:srgbClr val="1D242E"/>
          </a:solidFill>
          <a:ln w="15875">
            <a:solidFill>
              <a:srgbClr val="E2B54E"/>
            </a:solidFill>
            <a:prstDash val="solid"/>
          </a:ln>
        </p:spPr>
      </p:sp>
      <p:sp>
        <p:nvSpPr>
          <p:cNvPr id="34" name="Shape 31"/>
          <p:cNvSpPr/>
          <p:nvPr/>
        </p:nvSpPr>
        <p:spPr>
          <a:xfrm>
            <a:off x="8302752" y="1481328"/>
            <a:ext cx="1463040" cy="274320"/>
          </a:xfrm>
          <a:prstGeom prst="roundRect">
            <a:avLst>
              <a:gd name="adj" fmla="val 50000"/>
            </a:avLst>
          </a:prstGeom>
          <a:solidFill>
            <a:srgbClr val="5CC2B2"/>
          </a:solidFill>
          <a:ln w="9525">
            <a:solidFill>
              <a:srgbClr val="5CC2B2"/>
            </a:solidFill>
            <a:prstDash val="solid"/>
          </a:ln>
        </p:spPr>
      </p:sp>
      <p:sp>
        <p:nvSpPr>
          <p:cNvPr id="35" name="Text 32"/>
          <p:cNvSpPr txBox="1"/>
          <p:nvPr/>
        </p:nvSpPr>
        <p:spPr>
          <a:xfrm>
            <a:off x="8302752" y="1481328"/>
            <a:ext cx="1463040" cy="274320"/>
          </a:xfrm>
          <a:prstGeom prst="rect">
            <a:avLst/>
          </a:prstGeom>
          <a:noFill/>
          <a:ln/>
        </p:spPr>
        <p:txBody>
          <a:bodyPr wrap="square" lIns="0" tIns="0" rIns="0" bIns="0" rtlCol="0" anchor="ctr"/>
          <a:lstStyle/>
          <a:p>
            <a:pPr algn="ctr" indent="0" marL="0">
              <a:buNone/>
            </a:pPr>
            <a:r>
              <a:rPr lang="en-US" sz="900" b="1" spc="100" kern="0" dirty="0">
                <a:solidFill>
                  <a:srgbClr val="0F1318"/>
                </a:solidFill>
                <a:latin typeface="Calibri" pitchFamily="34" charset="0"/>
                <a:ea typeface="Calibri" pitchFamily="34" charset="-122"/>
                <a:cs typeface="Calibri" pitchFamily="34" charset="-120"/>
              </a:rPr>
              <a:t>SCALPER</a:t>
            </a:r>
            <a:endParaRPr lang="en-US" sz="900" dirty="0"/>
          </a:p>
        </p:txBody>
      </p:sp>
      <p:sp>
        <p:nvSpPr>
          <p:cNvPr id="36" name="Text 33"/>
          <p:cNvSpPr txBox="1"/>
          <p:nvPr/>
        </p:nvSpPr>
        <p:spPr>
          <a:xfrm>
            <a:off x="9875520" y="1481328"/>
            <a:ext cx="1737360" cy="274320"/>
          </a:xfrm>
          <a:prstGeom prst="rect">
            <a:avLst/>
          </a:prstGeom>
          <a:noFill/>
          <a:ln/>
        </p:spPr>
        <p:txBody>
          <a:bodyPr wrap="square" lIns="0" tIns="0" rIns="0" bIns="0" rtlCol="0" anchor="ctr"/>
          <a:lstStyle/>
          <a:p>
            <a:pPr indent="0" marL="0">
              <a:buNone/>
            </a:pPr>
            <a:r>
              <a:rPr lang="en-US" sz="1000" dirty="0">
                <a:solidFill>
                  <a:srgbClr val="A3AEBB"/>
                </a:solidFill>
                <a:latin typeface="Calibri" pitchFamily="34" charset="0"/>
                <a:ea typeface="Calibri" pitchFamily="34" charset="-122"/>
                <a:cs typeface="Calibri" pitchFamily="34" charset="-120"/>
              </a:rPr>
              <a:t>M5 for both</a:t>
            </a:r>
            <a:endParaRPr lang="en-US" sz="1000" dirty="0"/>
          </a:p>
        </p:txBody>
      </p:sp>
      <p:sp>
        <p:nvSpPr>
          <p:cNvPr id="37" name="Text 34"/>
          <p:cNvSpPr txBox="1"/>
          <p:nvPr/>
        </p:nvSpPr>
        <p:spPr>
          <a:xfrm>
            <a:off x="8321040" y="1965960"/>
            <a:ext cx="3200400" cy="237744"/>
          </a:xfrm>
          <a:prstGeom prst="rect">
            <a:avLst/>
          </a:prstGeom>
          <a:noFill/>
          <a:ln/>
        </p:spPr>
        <p:txBody>
          <a:bodyPr wrap="square" lIns="0" tIns="0" rIns="0" bIns="0" rtlCol="0" anchor="t"/>
          <a:lstStyle/>
          <a:p>
            <a:pPr indent="0" marL="0">
              <a:buNone/>
            </a:pPr>
            <a:r>
              <a:rPr lang="en-US" sz="900" b="1" spc="150" kern="0" dirty="0">
                <a:solidFill>
                  <a:srgbClr val="A3AEBB"/>
                </a:solidFill>
                <a:latin typeface="Calibri" pitchFamily="34" charset="0"/>
                <a:ea typeface="Calibri" pitchFamily="34" charset="-122"/>
                <a:cs typeface="Calibri" pitchFamily="34" charset="-120"/>
              </a:rPr>
              <a:t>RULE</a:t>
            </a:r>
            <a:endParaRPr lang="en-US" sz="900" dirty="0"/>
          </a:p>
        </p:txBody>
      </p:sp>
      <p:sp>
        <p:nvSpPr>
          <p:cNvPr id="38" name="Text 35"/>
          <p:cNvSpPr txBox="1"/>
          <p:nvPr/>
        </p:nvSpPr>
        <p:spPr>
          <a:xfrm>
            <a:off x="8321040" y="2212848"/>
            <a:ext cx="3246120" cy="512064"/>
          </a:xfrm>
          <a:prstGeom prst="rect">
            <a:avLst/>
          </a:prstGeom>
          <a:noFill/>
          <a:ln/>
        </p:spPr>
        <p:txBody>
          <a:bodyPr wrap="square" lIns="0" tIns="0" rIns="0" bIns="0" rtlCol="0" anchor="t"/>
          <a:lstStyle/>
          <a:p>
            <a:pPr indent="0" marL="0">
              <a:buNone/>
            </a:pPr>
            <a:r>
              <a:rPr lang="en-US" sz="1250" b="1" dirty="0">
                <a:solidFill>
                  <a:srgbClr val="EEF1F4"/>
                </a:solidFill>
                <a:latin typeface="Calibri" pitchFamily="34" charset="0"/>
                <a:ea typeface="Calibri" pitchFamily="34" charset="-122"/>
                <a:cs typeface="Calibri" pitchFamily="34" charset="-120"/>
              </a:rPr>
              <a:t>3s · A trend continuation (M5)</a:t>
            </a:r>
            <a:endParaRPr lang="en-US" sz="1250" dirty="0"/>
          </a:p>
        </p:txBody>
      </p:sp>
      <p:sp>
        <p:nvSpPr>
          <p:cNvPr id="39" name="Text 36"/>
          <p:cNvSpPr txBox="1"/>
          <p:nvPr/>
        </p:nvSpPr>
        <p:spPr>
          <a:xfrm>
            <a:off x="8321040" y="2770632"/>
            <a:ext cx="3200400" cy="237744"/>
          </a:xfrm>
          <a:prstGeom prst="rect">
            <a:avLst/>
          </a:prstGeom>
          <a:noFill/>
          <a:ln/>
        </p:spPr>
        <p:txBody>
          <a:bodyPr wrap="square" lIns="0" tIns="0" rIns="0" bIns="0" rtlCol="0" anchor="t"/>
          <a:lstStyle/>
          <a:p>
            <a:pPr indent="0" marL="0">
              <a:buNone/>
            </a:pPr>
            <a:r>
              <a:rPr lang="en-US" sz="900" b="1" spc="150" kern="0" dirty="0">
                <a:solidFill>
                  <a:srgbClr val="A3AEBB"/>
                </a:solidFill>
                <a:latin typeface="Calibri" pitchFamily="34" charset="0"/>
                <a:ea typeface="Calibri" pitchFamily="34" charset="-122"/>
                <a:cs typeface="Calibri" pitchFamily="34" charset="-120"/>
              </a:rPr>
              <a:t>BIAS</a:t>
            </a:r>
            <a:endParaRPr lang="en-US" sz="900" dirty="0"/>
          </a:p>
        </p:txBody>
      </p:sp>
      <p:sp>
        <p:nvSpPr>
          <p:cNvPr id="40" name="Text 37"/>
          <p:cNvSpPr txBox="1"/>
          <p:nvPr/>
        </p:nvSpPr>
        <p:spPr>
          <a:xfrm>
            <a:off x="8321040" y="3017520"/>
            <a:ext cx="3246120" cy="512064"/>
          </a:xfrm>
          <a:prstGeom prst="rect">
            <a:avLst/>
          </a:prstGeom>
          <a:noFill/>
          <a:ln/>
        </p:spPr>
        <p:txBody>
          <a:bodyPr wrap="square" lIns="0" tIns="0" rIns="0" bIns="0" rtlCol="0" anchor="t"/>
          <a:lstStyle/>
          <a:p>
            <a:pPr indent="0" marL="0">
              <a:buNone/>
            </a:pPr>
            <a:r>
              <a:rPr lang="en-US" sz="1250" b="1" dirty="0">
                <a:solidFill>
                  <a:srgbClr val="5CC2B2"/>
                </a:solidFill>
                <a:latin typeface="Calibri" pitchFamily="34" charset="0"/>
                <a:ea typeface="Calibri" pitchFamily="34" charset="-122"/>
                <a:cs typeface="Calibri" pitchFamily="34" charset="-120"/>
              </a:rPr>
              <a:t>LONG</a:t>
            </a:r>
            <a:endParaRPr lang="en-US" sz="1250" dirty="0"/>
          </a:p>
        </p:txBody>
      </p:sp>
      <p:sp>
        <p:nvSpPr>
          <p:cNvPr id="41" name="Text 38"/>
          <p:cNvSpPr txBox="1"/>
          <p:nvPr/>
        </p:nvSpPr>
        <p:spPr>
          <a:xfrm>
            <a:off x="8321040" y="3575304"/>
            <a:ext cx="3200400" cy="237744"/>
          </a:xfrm>
          <a:prstGeom prst="rect">
            <a:avLst/>
          </a:prstGeom>
          <a:noFill/>
          <a:ln/>
        </p:spPr>
        <p:txBody>
          <a:bodyPr wrap="square" lIns="0" tIns="0" rIns="0" bIns="0" rtlCol="0" anchor="t"/>
          <a:lstStyle/>
          <a:p>
            <a:pPr indent="0" marL="0">
              <a:buNone/>
            </a:pPr>
            <a:r>
              <a:rPr lang="en-US" sz="900" b="1" spc="150" kern="0" dirty="0">
                <a:solidFill>
                  <a:srgbClr val="A3AEBB"/>
                </a:solidFill>
                <a:latin typeface="Calibri" pitchFamily="34" charset="0"/>
                <a:ea typeface="Calibri" pitchFamily="34" charset="-122"/>
                <a:cs typeface="Calibri" pitchFamily="34" charset="-120"/>
              </a:rPr>
              <a:t>RELATION</a:t>
            </a:r>
            <a:endParaRPr lang="en-US" sz="900" dirty="0"/>
          </a:p>
        </p:txBody>
      </p:sp>
      <p:sp>
        <p:nvSpPr>
          <p:cNvPr id="42" name="Text 39"/>
          <p:cNvSpPr txBox="1"/>
          <p:nvPr/>
        </p:nvSpPr>
        <p:spPr>
          <a:xfrm>
            <a:off x="8321040" y="3822192"/>
            <a:ext cx="3246120" cy="512064"/>
          </a:xfrm>
          <a:prstGeom prst="rect">
            <a:avLst/>
          </a:prstGeom>
          <a:noFill/>
          <a:ln/>
        </p:spPr>
        <p:txBody>
          <a:bodyPr wrap="square" lIns="0" tIns="0" rIns="0" bIns="0" rtlCol="0" anchor="t"/>
          <a:lstStyle/>
          <a:p>
            <a:pPr indent="0" marL="0">
              <a:buNone/>
            </a:pPr>
            <a:r>
              <a:rPr lang="en-US" sz="1250" dirty="0">
                <a:solidFill>
                  <a:srgbClr val="EEF1F4"/>
                </a:solidFill>
                <a:latin typeface="Calibri" pitchFamily="34" charset="0"/>
                <a:ea typeface="Calibri" pitchFamily="34" charset="-122"/>
                <a:cs typeface="Calibri" pitchFamily="34" charset="-120"/>
              </a:rPr>
              <a:t>With-trend (M5)</a:t>
            </a:r>
            <a:endParaRPr lang="en-US" sz="1250" dirty="0"/>
          </a:p>
        </p:txBody>
      </p:sp>
      <p:sp>
        <p:nvSpPr>
          <p:cNvPr id="43" name="Text 40"/>
          <p:cNvSpPr txBox="1"/>
          <p:nvPr/>
        </p:nvSpPr>
        <p:spPr>
          <a:xfrm>
            <a:off x="8321040" y="4379976"/>
            <a:ext cx="3200400" cy="237744"/>
          </a:xfrm>
          <a:prstGeom prst="rect">
            <a:avLst/>
          </a:prstGeom>
          <a:noFill/>
          <a:ln/>
        </p:spPr>
        <p:txBody>
          <a:bodyPr wrap="square" lIns="0" tIns="0" rIns="0" bIns="0" rtlCol="0" anchor="t"/>
          <a:lstStyle/>
          <a:p>
            <a:pPr indent="0" marL="0">
              <a:buNone/>
            </a:pPr>
            <a:r>
              <a:rPr lang="en-US" sz="900" b="1" spc="150" kern="0" dirty="0">
                <a:solidFill>
                  <a:srgbClr val="A3AEBB"/>
                </a:solidFill>
                <a:latin typeface="Calibri" pitchFamily="34" charset="0"/>
                <a:ea typeface="Calibri" pitchFamily="34" charset="-122"/>
                <a:cs typeface="Calibri" pitchFamily="34" charset="-120"/>
              </a:rPr>
              <a:t>MCD3</a:t>
            </a:r>
            <a:endParaRPr lang="en-US" sz="900" dirty="0"/>
          </a:p>
        </p:txBody>
      </p:sp>
      <p:sp>
        <p:nvSpPr>
          <p:cNvPr id="44" name="Text 41"/>
          <p:cNvSpPr txBox="1"/>
          <p:nvPr/>
        </p:nvSpPr>
        <p:spPr>
          <a:xfrm>
            <a:off x="8321040" y="4626864"/>
            <a:ext cx="3246120" cy="512064"/>
          </a:xfrm>
          <a:prstGeom prst="rect">
            <a:avLst/>
          </a:prstGeom>
          <a:noFill/>
          <a:ln/>
        </p:spPr>
        <p:txBody>
          <a:bodyPr wrap="square" lIns="0" tIns="0" rIns="0" bIns="0" rtlCol="0" anchor="t"/>
          <a:lstStyle/>
          <a:p>
            <a:pPr indent="0" marL="0">
              <a:buNone/>
            </a:pPr>
            <a:r>
              <a:rPr lang="en-US" sz="1250" dirty="0">
                <a:solidFill>
                  <a:srgbClr val="EEF1F4"/>
                </a:solidFill>
                <a:latin typeface="Calibri" pitchFamily="34" charset="0"/>
                <a:ea typeface="Calibri" pitchFamily="34" charset="-122"/>
                <a:cs typeface="Calibri" pitchFamily="34" charset="-120"/>
              </a:rPr>
              <a:t>Conflict noted as caution</a:t>
            </a:r>
            <a:endParaRPr lang="en-US" sz="1250" dirty="0"/>
          </a:p>
        </p:txBody>
      </p:sp>
      <p:sp>
        <p:nvSpPr>
          <p:cNvPr id="45" name="Shape 42"/>
          <p:cNvSpPr/>
          <p:nvPr/>
        </p:nvSpPr>
        <p:spPr>
          <a:xfrm>
            <a:off x="4434840" y="5413248"/>
            <a:ext cx="7296912" cy="868680"/>
          </a:xfrm>
          <a:prstGeom prst="roundRect">
            <a:avLst>
              <a:gd name="adj" fmla="val 7368"/>
            </a:avLst>
          </a:prstGeom>
          <a:solidFill>
            <a:srgbClr val="161C24"/>
          </a:solidFill>
          <a:ln w="9525">
            <a:solidFill>
              <a:srgbClr val="161C24"/>
            </a:solidFill>
            <a:prstDash val="solid"/>
          </a:ln>
        </p:spPr>
      </p:sp>
      <p:sp>
        <p:nvSpPr>
          <p:cNvPr id="46" name="Text 43"/>
          <p:cNvSpPr txBox="1"/>
          <p:nvPr/>
        </p:nvSpPr>
        <p:spPr>
          <a:xfrm>
            <a:off x="4617720" y="5413248"/>
            <a:ext cx="6995160" cy="868680"/>
          </a:xfrm>
          <a:prstGeom prst="rect">
            <a:avLst/>
          </a:prstGeom>
          <a:noFill/>
          <a:ln/>
        </p:spPr>
        <p:txBody>
          <a:bodyPr wrap="square" lIns="0" tIns="0" rIns="0" bIns="0" rtlCol="0" anchor="ctr"/>
          <a:lstStyle/>
          <a:p>
            <a:pPr indent="0" marL="0">
              <a:buNone/>
            </a:pPr>
            <a:r>
              <a:rPr lang="en-US" sz="1150" b="1" dirty="0">
                <a:solidFill>
                  <a:srgbClr val="E2B54E"/>
                </a:solidFill>
                <a:latin typeface="Calibri" pitchFamily="34" charset="0"/>
                <a:ea typeface="Calibri" pitchFamily="34" charset="-122"/>
                <a:cs typeface="Calibri" pitchFamily="34" charset="-120"/>
              </a:rPr>
              <a:t>Same data, two honest answers.  </a:t>
            </a:r>
            <a:pPr indent="0" marL="0">
              <a:buNone/>
            </a:pPr>
            <a:r>
              <a:rPr lang="en-US" sz="1150" dirty="0">
                <a:solidFill>
                  <a:srgbClr val="EEF1F4"/>
                </a:solidFill>
                <a:latin typeface="Calibri" pitchFamily="34" charset="0"/>
                <a:ea typeface="Calibri" pitchFamily="34" charset="-122"/>
                <a:cs typeface="Calibri" pitchFamily="34" charset="-120"/>
              </a:rPr>
              <a:t>Section 6 then applies the trader’s style: a trend-following Day Trader sees the setup marked counter-trend, with the 2.50× reward-to-risk cap.</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OUTPUT</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synthesis reading, saved every cycle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9</a:t>
            </a:r>
            <a:endParaRPr lang="en-US" sz="1000" dirty="0"/>
          </a:p>
        </p:txBody>
      </p:sp>
      <p:sp>
        <p:nvSpPr>
          <p:cNvPr id="8" name="Shape 5"/>
          <p:cNvSpPr/>
          <p:nvPr/>
        </p:nvSpPr>
        <p:spPr>
          <a:xfrm>
            <a:off x="457200" y="1325880"/>
            <a:ext cx="5760720" cy="4956048"/>
          </a:xfrm>
          <a:prstGeom prst="roundRect">
            <a:avLst>
              <a:gd name="adj" fmla="val 1292"/>
            </a:avLst>
          </a:prstGeom>
          <a:solidFill>
            <a:srgbClr val="161C24"/>
          </a:solidFill>
          <a:ln w="9525">
            <a:solidFill>
              <a:srgbClr val="323C49"/>
            </a:solidFill>
            <a:prstDash val="solid"/>
          </a:ln>
        </p:spPr>
      </p:sp>
      <p:sp>
        <p:nvSpPr>
          <p:cNvPr id="9" name="Text 6"/>
          <p:cNvSpPr txBox="1"/>
          <p:nvPr/>
        </p:nvSpPr>
        <p:spPr>
          <a:xfrm>
            <a:off x="640080" y="1463040"/>
            <a:ext cx="5486400" cy="4754880"/>
          </a:xfrm>
          <a:prstGeom prst="rect">
            <a:avLst/>
          </a:prstGeom>
          <a:noFill/>
          <a:ln/>
        </p:spPr>
        <p:txBody>
          <a:bodyPr wrap="square" lIns="0" tIns="0" rIns="0" bIns="0" rtlCol="0" anchor="t"/>
          <a:lstStyle/>
          <a:p>
            <a:pPr indent="0" marL="0">
              <a:buNone/>
            </a:pPr>
            <a:r>
              <a:rPr lang="en-US" sz="1050" dirty="0">
                <a:solidFill>
                  <a:srgbClr val="EEF1F4"/>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"schema_version": "syn-output/1",</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"mcd_id": "SYN",</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"profile": "DAY_TRADER",</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"cycle_slot": "2026-09-18T20:55Z",</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"rules_version": "draft-1",</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"rule_id": "R1_MACRO_COUNTER_TREND_RALLY",</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"status": "VALID",</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"archetype": "C",</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"bias": "LONG",</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"trend_relation": "COUNTER_TREND",</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"stand_aside": false,</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"inputs":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"MCD1": "COUNTER_TREND_EXPANSION",</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"MCD2": "MCD2_UP_IN_CORRIDOR",</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"MCD3": "..._TREND_CONFLICT"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"reasons": [ "M15 breach up against a",</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"falling channel", "M5 uptrend"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"zones": [ "Z1", "Z2"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"summary_line": "Counter-trend rally, LONG"</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a:t>
            </a:r>
            <a:endParaRPr lang="en-US" sz="1050" dirty="0"/>
          </a:p>
        </p:txBody>
      </p:sp>
      <p:sp>
        <p:nvSpPr>
          <p:cNvPr id="10" name="Shape 7"/>
          <p:cNvSpPr/>
          <p:nvPr/>
        </p:nvSpPr>
        <p:spPr>
          <a:xfrm>
            <a:off x="6446520" y="1325880"/>
            <a:ext cx="5285232" cy="896112"/>
          </a:xfrm>
          <a:prstGeom prst="roundRect">
            <a:avLst>
              <a:gd name="adj" fmla="val 7143"/>
            </a:avLst>
          </a:prstGeom>
          <a:solidFill>
            <a:srgbClr val="1D242E"/>
          </a:solidFill>
          <a:ln w="9525">
            <a:solidFill>
              <a:srgbClr val="323C49"/>
            </a:solidFill>
            <a:prstDash val="solid"/>
          </a:ln>
        </p:spPr>
      </p:sp>
      <p:sp>
        <p:nvSpPr>
          <p:cNvPr id="11" name="Text 8"/>
          <p:cNvSpPr txBox="1"/>
          <p:nvPr/>
        </p:nvSpPr>
        <p:spPr>
          <a:xfrm>
            <a:off x="6583680" y="1399032"/>
            <a:ext cx="1463040" cy="329184"/>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Which view</a:t>
            </a:r>
            <a:endParaRPr lang="en-US" sz="1250" dirty="0"/>
          </a:p>
        </p:txBody>
      </p:sp>
      <p:sp>
        <p:nvSpPr>
          <p:cNvPr id="12" name="Text 9"/>
          <p:cNvSpPr txBox="1"/>
          <p:nvPr/>
        </p:nvSpPr>
        <p:spPr>
          <a:xfrm>
            <a:off x="8046720" y="1399032"/>
            <a:ext cx="3611880" cy="329184"/>
          </a:xfrm>
          <a:prstGeom prst="rect">
            <a:avLst/>
          </a:prstGeom>
          <a:noFill/>
          <a:ln/>
        </p:spPr>
        <p:txBody>
          <a:bodyPr wrap="square" lIns="0" tIns="0" rIns="0" bIns="0" rtlCol="0" anchor="ctr"/>
          <a:lstStyle/>
          <a:p>
            <a:pPr indent="0" marL="0">
              <a:buNone/>
            </a:pPr>
            <a:r>
              <a:rPr lang="en-US" sz="950" dirty="0">
                <a:solidFill>
                  <a:srgbClr val="EEF1F4"/>
                </a:solidFill>
                <a:latin typeface="Courier New" pitchFamily="34" charset="0"/>
                <a:ea typeface="Courier New" pitchFamily="34" charset="-122"/>
                <a:cs typeface="Courier New" pitchFamily="34" charset="-120"/>
              </a:rPr>
              <a:t>profile · cycle_slot</a:t>
            </a:r>
            <a:endParaRPr lang="en-US" sz="950" dirty="0"/>
          </a:p>
        </p:txBody>
      </p:sp>
      <p:sp>
        <p:nvSpPr>
          <p:cNvPr id="13" name="Text 10"/>
          <p:cNvSpPr txBox="1"/>
          <p:nvPr/>
        </p:nvSpPr>
        <p:spPr>
          <a:xfrm>
            <a:off x="6583680" y="1783080"/>
            <a:ext cx="5029200" cy="384048"/>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Day Trader or Scalper; the cycle it belongs to.</a:t>
            </a:r>
            <a:endParaRPr lang="en-US" sz="1100" dirty="0"/>
          </a:p>
        </p:txBody>
      </p:sp>
      <p:sp>
        <p:nvSpPr>
          <p:cNvPr id="14" name="Shape 11"/>
          <p:cNvSpPr/>
          <p:nvPr/>
        </p:nvSpPr>
        <p:spPr>
          <a:xfrm>
            <a:off x="6446520" y="2331720"/>
            <a:ext cx="5285232" cy="896112"/>
          </a:xfrm>
          <a:prstGeom prst="roundRect">
            <a:avLst>
              <a:gd name="adj" fmla="val 7143"/>
            </a:avLst>
          </a:prstGeom>
          <a:solidFill>
            <a:srgbClr val="1D242E"/>
          </a:solidFill>
          <a:ln w="9525">
            <a:solidFill>
              <a:srgbClr val="323C49"/>
            </a:solidFill>
            <a:prstDash val="solid"/>
          </a:ln>
        </p:spPr>
      </p:sp>
      <p:sp>
        <p:nvSpPr>
          <p:cNvPr id="15" name="Text 12"/>
          <p:cNvSpPr txBox="1"/>
          <p:nvPr/>
        </p:nvSpPr>
        <p:spPr>
          <a:xfrm>
            <a:off x="6583680" y="2404872"/>
            <a:ext cx="1463040" cy="329184"/>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Which rule</a:t>
            </a:r>
            <a:endParaRPr lang="en-US" sz="1250" dirty="0"/>
          </a:p>
        </p:txBody>
      </p:sp>
      <p:sp>
        <p:nvSpPr>
          <p:cNvPr id="16" name="Text 13"/>
          <p:cNvSpPr txBox="1"/>
          <p:nvPr/>
        </p:nvSpPr>
        <p:spPr>
          <a:xfrm>
            <a:off x="8046720" y="2404872"/>
            <a:ext cx="3611880" cy="329184"/>
          </a:xfrm>
          <a:prstGeom prst="rect">
            <a:avLst/>
          </a:prstGeom>
          <a:noFill/>
          <a:ln/>
        </p:spPr>
        <p:txBody>
          <a:bodyPr wrap="square" lIns="0" tIns="0" rIns="0" bIns="0" rtlCol="0" anchor="ctr"/>
          <a:lstStyle/>
          <a:p>
            <a:pPr indent="0" marL="0">
              <a:buNone/>
            </a:pPr>
            <a:r>
              <a:rPr lang="en-US" sz="950" dirty="0">
                <a:solidFill>
                  <a:srgbClr val="EEF1F4"/>
                </a:solidFill>
                <a:latin typeface="Courier New" pitchFamily="34" charset="0"/>
                <a:ea typeface="Courier New" pitchFamily="34" charset="-122"/>
                <a:cs typeface="Courier New" pitchFamily="34" charset="-120"/>
              </a:rPr>
              <a:t>rules_version · rule_id</a:t>
            </a:r>
            <a:endParaRPr lang="en-US" sz="950" dirty="0"/>
          </a:p>
        </p:txBody>
      </p:sp>
      <p:sp>
        <p:nvSpPr>
          <p:cNvPr id="17" name="Text 14"/>
          <p:cNvSpPr txBox="1"/>
          <p:nvPr/>
        </p:nvSpPr>
        <p:spPr>
          <a:xfrm>
            <a:off x="6583680" y="2788920"/>
            <a:ext cx="5029200" cy="384048"/>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Traceable to one row of one version of your rules.</a:t>
            </a:r>
            <a:endParaRPr lang="en-US" sz="1100" dirty="0"/>
          </a:p>
        </p:txBody>
      </p:sp>
      <p:sp>
        <p:nvSpPr>
          <p:cNvPr id="18" name="Shape 15"/>
          <p:cNvSpPr/>
          <p:nvPr/>
        </p:nvSpPr>
        <p:spPr>
          <a:xfrm>
            <a:off x="6446520" y="3337560"/>
            <a:ext cx="5285232" cy="896112"/>
          </a:xfrm>
          <a:prstGeom prst="roundRect">
            <a:avLst>
              <a:gd name="adj" fmla="val 7143"/>
            </a:avLst>
          </a:prstGeom>
          <a:solidFill>
            <a:srgbClr val="1D242E"/>
          </a:solidFill>
          <a:ln w="9525">
            <a:solidFill>
              <a:srgbClr val="323C49"/>
            </a:solidFill>
            <a:prstDash val="solid"/>
          </a:ln>
        </p:spPr>
      </p:sp>
      <p:sp>
        <p:nvSpPr>
          <p:cNvPr id="19" name="Text 16"/>
          <p:cNvSpPr txBox="1"/>
          <p:nvPr/>
        </p:nvSpPr>
        <p:spPr>
          <a:xfrm>
            <a:off x="6583680" y="3410712"/>
            <a:ext cx="1463040" cy="329184"/>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The call</a:t>
            </a:r>
            <a:endParaRPr lang="en-US" sz="1250" dirty="0"/>
          </a:p>
        </p:txBody>
      </p:sp>
      <p:sp>
        <p:nvSpPr>
          <p:cNvPr id="20" name="Text 17"/>
          <p:cNvSpPr txBox="1"/>
          <p:nvPr/>
        </p:nvSpPr>
        <p:spPr>
          <a:xfrm>
            <a:off x="8046720" y="3410712"/>
            <a:ext cx="3611880" cy="329184"/>
          </a:xfrm>
          <a:prstGeom prst="rect">
            <a:avLst/>
          </a:prstGeom>
          <a:noFill/>
          <a:ln/>
        </p:spPr>
        <p:txBody>
          <a:bodyPr wrap="square" lIns="0" tIns="0" rIns="0" bIns="0" rtlCol="0" anchor="ctr"/>
          <a:lstStyle/>
          <a:p>
            <a:pPr indent="0" marL="0">
              <a:buNone/>
            </a:pPr>
            <a:r>
              <a:rPr lang="en-US" sz="950" dirty="0">
                <a:solidFill>
                  <a:srgbClr val="EEF1F4"/>
                </a:solidFill>
                <a:latin typeface="Courier New" pitchFamily="34" charset="0"/>
                <a:ea typeface="Courier New" pitchFamily="34" charset="-122"/>
                <a:cs typeface="Courier New" pitchFamily="34" charset="-120"/>
              </a:rPr>
              <a:t>archetype · bias · trend_relation · stand_aside</a:t>
            </a:r>
            <a:endParaRPr lang="en-US" sz="950" dirty="0"/>
          </a:p>
        </p:txBody>
      </p:sp>
      <p:sp>
        <p:nvSpPr>
          <p:cNvPr id="21" name="Text 18"/>
          <p:cNvSpPr txBox="1"/>
          <p:nvPr/>
        </p:nvSpPr>
        <p:spPr>
          <a:xfrm>
            <a:off x="6583680" y="3794760"/>
            <a:ext cx="5029200" cy="384048"/>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What Report 1 states and Section 6 filters on.</a:t>
            </a:r>
            <a:endParaRPr lang="en-US" sz="1100" dirty="0"/>
          </a:p>
        </p:txBody>
      </p:sp>
      <p:sp>
        <p:nvSpPr>
          <p:cNvPr id="22" name="Shape 19"/>
          <p:cNvSpPr/>
          <p:nvPr/>
        </p:nvSpPr>
        <p:spPr>
          <a:xfrm>
            <a:off x="6446520" y="4343400"/>
            <a:ext cx="5285232" cy="896112"/>
          </a:xfrm>
          <a:prstGeom prst="roundRect">
            <a:avLst>
              <a:gd name="adj" fmla="val 7143"/>
            </a:avLst>
          </a:prstGeom>
          <a:solidFill>
            <a:srgbClr val="1D242E"/>
          </a:solidFill>
          <a:ln w="9525">
            <a:solidFill>
              <a:srgbClr val="323C49"/>
            </a:solidFill>
            <a:prstDash val="solid"/>
          </a:ln>
        </p:spPr>
      </p:sp>
      <p:sp>
        <p:nvSpPr>
          <p:cNvPr id="23" name="Text 20"/>
          <p:cNvSpPr txBox="1"/>
          <p:nvPr/>
        </p:nvSpPr>
        <p:spPr>
          <a:xfrm>
            <a:off x="6583680" y="4416552"/>
            <a:ext cx="1463040" cy="329184"/>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Why</a:t>
            </a:r>
            <a:endParaRPr lang="en-US" sz="1250" dirty="0"/>
          </a:p>
        </p:txBody>
      </p:sp>
      <p:sp>
        <p:nvSpPr>
          <p:cNvPr id="24" name="Text 21"/>
          <p:cNvSpPr txBox="1"/>
          <p:nvPr/>
        </p:nvSpPr>
        <p:spPr>
          <a:xfrm>
            <a:off x="8046720" y="4416552"/>
            <a:ext cx="3611880" cy="329184"/>
          </a:xfrm>
          <a:prstGeom prst="rect">
            <a:avLst/>
          </a:prstGeom>
          <a:noFill/>
          <a:ln/>
        </p:spPr>
        <p:txBody>
          <a:bodyPr wrap="square" lIns="0" tIns="0" rIns="0" bIns="0" rtlCol="0" anchor="ctr"/>
          <a:lstStyle/>
          <a:p>
            <a:pPr indent="0" marL="0">
              <a:buNone/>
            </a:pPr>
            <a:r>
              <a:rPr lang="en-US" sz="950" dirty="0">
                <a:solidFill>
                  <a:srgbClr val="EEF1F4"/>
                </a:solidFill>
                <a:latin typeface="Courier New" pitchFamily="34" charset="0"/>
                <a:ea typeface="Courier New" pitchFamily="34" charset="-122"/>
                <a:cs typeface="Courier New" pitchFamily="34" charset="-120"/>
              </a:rPr>
              <a:t>inputs · reasons</a:t>
            </a:r>
            <a:endParaRPr lang="en-US" sz="950" dirty="0"/>
          </a:p>
        </p:txBody>
      </p:sp>
      <p:sp>
        <p:nvSpPr>
          <p:cNvPr id="25" name="Text 22"/>
          <p:cNvSpPr txBox="1"/>
          <p:nvPr/>
        </p:nvSpPr>
        <p:spPr>
          <a:xfrm>
            <a:off x="6583680" y="4800600"/>
            <a:ext cx="5029200" cy="384048"/>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The sensor states behind it, in plain words.</a:t>
            </a:r>
            <a:endParaRPr lang="en-US" sz="1100" dirty="0"/>
          </a:p>
        </p:txBody>
      </p:sp>
      <p:sp>
        <p:nvSpPr>
          <p:cNvPr id="26" name="Shape 23"/>
          <p:cNvSpPr/>
          <p:nvPr/>
        </p:nvSpPr>
        <p:spPr>
          <a:xfrm>
            <a:off x="6446520" y="5349240"/>
            <a:ext cx="5285232" cy="896112"/>
          </a:xfrm>
          <a:prstGeom prst="roundRect">
            <a:avLst>
              <a:gd name="adj" fmla="val 7143"/>
            </a:avLst>
          </a:prstGeom>
          <a:solidFill>
            <a:srgbClr val="1D242E"/>
          </a:solidFill>
          <a:ln w="9525">
            <a:solidFill>
              <a:srgbClr val="323C49"/>
            </a:solidFill>
            <a:prstDash val="solid"/>
          </a:ln>
        </p:spPr>
      </p:sp>
      <p:sp>
        <p:nvSpPr>
          <p:cNvPr id="27" name="Text 24"/>
          <p:cNvSpPr txBox="1"/>
          <p:nvPr/>
        </p:nvSpPr>
        <p:spPr>
          <a:xfrm>
            <a:off x="6583680" y="5422392"/>
            <a:ext cx="1463040" cy="329184"/>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Where</a:t>
            </a:r>
            <a:endParaRPr lang="en-US" sz="1250" dirty="0"/>
          </a:p>
        </p:txBody>
      </p:sp>
      <p:sp>
        <p:nvSpPr>
          <p:cNvPr id="28" name="Text 25"/>
          <p:cNvSpPr txBox="1"/>
          <p:nvPr/>
        </p:nvSpPr>
        <p:spPr>
          <a:xfrm>
            <a:off x="8046720" y="5422392"/>
            <a:ext cx="3611880" cy="329184"/>
          </a:xfrm>
          <a:prstGeom prst="rect">
            <a:avLst/>
          </a:prstGeom>
          <a:noFill/>
          <a:ln/>
        </p:spPr>
        <p:txBody>
          <a:bodyPr wrap="square" lIns="0" tIns="0" rIns="0" bIns="0" rtlCol="0" anchor="ctr"/>
          <a:lstStyle/>
          <a:p>
            <a:pPr indent="0" marL="0">
              <a:buNone/>
            </a:pPr>
            <a:r>
              <a:rPr lang="en-US" sz="950" dirty="0">
                <a:solidFill>
                  <a:srgbClr val="EEF1F4"/>
                </a:solidFill>
                <a:latin typeface="Courier New" pitchFamily="34" charset="0"/>
                <a:ea typeface="Courier New" pitchFamily="34" charset="-122"/>
                <a:cs typeface="Courier New" pitchFamily="34" charset="-120"/>
              </a:rPr>
              <a:t>zones</a:t>
            </a:r>
            <a:endParaRPr lang="en-US" sz="950" dirty="0"/>
          </a:p>
        </p:txBody>
      </p:sp>
      <p:sp>
        <p:nvSpPr>
          <p:cNvPr id="29" name="Text 26"/>
          <p:cNvSpPr txBox="1"/>
          <p:nvPr/>
        </p:nvSpPr>
        <p:spPr>
          <a:xfrm>
            <a:off x="6583680" y="5806440"/>
            <a:ext cx="5029200" cy="384048"/>
          </a:xfrm>
          <a:prstGeom prst="rect">
            <a:avLst/>
          </a:prstGeom>
          <a:noFill/>
          <a:ln/>
        </p:spPr>
        <p:txBody>
          <a:bodyPr wrap="square" lIns="0" tIns="0" rIns="0" bIns="0" rtlCol="0" anchor="ctr"/>
          <a:lstStyle/>
          <a:p>
            <a:pPr indent="0" marL="0">
              <a:buNone/>
            </a:pPr>
            <a:r>
              <a:rPr lang="en-US" sz="1100" dirty="0">
                <a:solidFill>
                  <a:srgbClr val="A3AEBB"/>
                </a:solidFill>
                <a:latin typeface="Calibri" pitchFamily="34" charset="0"/>
                <a:ea typeface="Calibri" pitchFamily="34" charset="-122"/>
                <a:cs typeface="Calibri" pitchFamily="34" charset="-120"/>
              </a:rPr>
              <a:t>Ids of the entry zones built for this reading.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ENTRY-ZONE SPEC (E1)</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How entry zones are built</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10</a:t>
            </a:r>
            <a:endParaRPr lang="en-US" sz="1000" dirty="0"/>
          </a:p>
        </p:txBody>
      </p:sp>
      <p:sp>
        <p:nvSpPr>
          <p:cNvPr id="8" name="Shape 5"/>
          <p:cNvSpPr/>
          <p:nvPr/>
        </p:nvSpPr>
        <p:spPr>
          <a:xfrm>
            <a:off x="457200" y="1371600"/>
            <a:ext cx="3639312" cy="1938528"/>
          </a:xfrm>
          <a:prstGeom prst="roundRect">
            <a:avLst>
              <a:gd name="adj" fmla="val 3302"/>
            </a:avLst>
          </a:prstGeom>
          <a:solidFill>
            <a:srgbClr val="1D242E"/>
          </a:solidFill>
          <a:ln w="9525">
            <a:solidFill>
              <a:srgbClr val="323C49"/>
            </a:solidFill>
            <a:prstDash val="solid"/>
          </a:ln>
        </p:spPr>
      </p:sp>
      <p:sp>
        <p:nvSpPr>
          <p:cNvPr id="9" name="Shape 6"/>
          <p:cNvSpPr/>
          <p:nvPr/>
        </p:nvSpPr>
        <p:spPr>
          <a:xfrm>
            <a:off x="603504" y="1517904"/>
            <a:ext cx="420624" cy="420624"/>
          </a:xfrm>
          <a:prstGeom prst="ellipse">
            <a:avLst/>
          </a:prstGeom>
          <a:solidFill>
            <a:srgbClr val="E2B54E"/>
          </a:solidFill>
          <a:ln w="15875">
            <a:solidFill>
              <a:srgbClr val="E2B54E"/>
            </a:solidFill>
            <a:prstDash val="solid"/>
          </a:ln>
        </p:spPr>
      </p:sp>
      <p:sp>
        <p:nvSpPr>
          <p:cNvPr id="10" name="Text 7"/>
          <p:cNvSpPr txBox="1"/>
          <p:nvPr/>
        </p:nvSpPr>
        <p:spPr>
          <a:xfrm>
            <a:off x="603504" y="151790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1</a:t>
            </a:r>
            <a:endParaRPr lang="en-US" sz="1400" dirty="0"/>
          </a:p>
        </p:txBody>
      </p:sp>
      <p:sp>
        <p:nvSpPr>
          <p:cNvPr id="11" name="Text 8"/>
          <p:cNvSpPr txBox="1"/>
          <p:nvPr/>
        </p:nvSpPr>
        <p:spPr>
          <a:xfrm>
            <a:off x="1152144" y="1499616"/>
            <a:ext cx="2834640" cy="457200"/>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Collect levels</a:t>
            </a:r>
            <a:endParaRPr lang="en-US" sz="1400" dirty="0"/>
          </a:p>
        </p:txBody>
      </p:sp>
      <p:sp>
        <p:nvSpPr>
          <p:cNvPr id="12" name="Text 9"/>
          <p:cNvSpPr txBox="1"/>
          <p:nvPr/>
        </p:nvSpPr>
        <p:spPr>
          <a:xfrm>
            <a:off x="640080" y="2066544"/>
            <a:ext cx="3291840" cy="118872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On the bias side of price: levels from the sensors behind the reading, plus support &amp; resistance context levels.</a:t>
            </a:r>
            <a:endParaRPr lang="en-US" sz="1200" dirty="0"/>
          </a:p>
        </p:txBody>
      </p:sp>
      <p:sp>
        <p:nvSpPr>
          <p:cNvPr id="13" name="Shape 10"/>
          <p:cNvSpPr/>
          <p:nvPr/>
        </p:nvSpPr>
        <p:spPr>
          <a:xfrm>
            <a:off x="4261104" y="1371600"/>
            <a:ext cx="3639312" cy="1938528"/>
          </a:xfrm>
          <a:prstGeom prst="roundRect">
            <a:avLst>
              <a:gd name="adj" fmla="val 3302"/>
            </a:avLst>
          </a:prstGeom>
          <a:solidFill>
            <a:srgbClr val="1D242E"/>
          </a:solidFill>
          <a:ln w="9525">
            <a:solidFill>
              <a:srgbClr val="323C49"/>
            </a:solidFill>
            <a:prstDash val="solid"/>
          </a:ln>
        </p:spPr>
      </p:sp>
      <p:sp>
        <p:nvSpPr>
          <p:cNvPr id="14" name="Shape 11"/>
          <p:cNvSpPr/>
          <p:nvPr/>
        </p:nvSpPr>
        <p:spPr>
          <a:xfrm>
            <a:off x="4407408" y="1517904"/>
            <a:ext cx="420624" cy="420624"/>
          </a:xfrm>
          <a:prstGeom prst="ellipse">
            <a:avLst/>
          </a:prstGeom>
          <a:solidFill>
            <a:srgbClr val="E2B54E"/>
          </a:solidFill>
          <a:ln w="15875">
            <a:solidFill>
              <a:srgbClr val="E2B54E"/>
            </a:solidFill>
            <a:prstDash val="solid"/>
          </a:ln>
        </p:spPr>
      </p:sp>
      <p:sp>
        <p:nvSpPr>
          <p:cNvPr id="15" name="Text 12"/>
          <p:cNvSpPr txBox="1"/>
          <p:nvPr/>
        </p:nvSpPr>
        <p:spPr>
          <a:xfrm>
            <a:off x="4407408" y="151790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2</a:t>
            </a:r>
            <a:endParaRPr lang="en-US" sz="1400" dirty="0"/>
          </a:p>
        </p:txBody>
      </p:sp>
      <p:sp>
        <p:nvSpPr>
          <p:cNvPr id="16" name="Text 13"/>
          <p:cNvSpPr txBox="1"/>
          <p:nvPr/>
        </p:nvSpPr>
        <p:spPr>
          <a:xfrm>
            <a:off x="4956048" y="1499616"/>
            <a:ext cx="2834640" cy="457200"/>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Make zones</a:t>
            </a:r>
            <a:endParaRPr lang="en-US" sz="1400" dirty="0"/>
          </a:p>
        </p:txBody>
      </p:sp>
      <p:sp>
        <p:nvSpPr>
          <p:cNvPr id="17" name="Text 14"/>
          <p:cNvSpPr txBox="1"/>
          <p:nvPr/>
        </p:nvSpPr>
        <p:spPr>
          <a:xfrm>
            <a:off x="4443984" y="2066544"/>
            <a:ext cx="3291840" cy="118872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Each level ± a half-width of 10% of its source channel’s width. Overlapping zones merge and count as confluence.</a:t>
            </a:r>
            <a:endParaRPr lang="en-US" sz="1200" dirty="0"/>
          </a:p>
        </p:txBody>
      </p:sp>
      <p:sp>
        <p:nvSpPr>
          <p:cNvPr id="18" name="Shape 15"/>
          <p:cNvSpPr/>
          <p:nvPr/>
        </p:nvSpPr>
        <p:spPr>
          <a:xfrm>
            <a:off x="8065008" y="1371600"/>
            <a:ext cx="3639312" cy="1938528"/>
          </a:xfrm>
          <a:prstGeom prst="roundRect">
            <a:avLst>
              <a:gd name="adj" fmla="val 3302"/>
            </a:avLst>
          </a:prstGeom>
          <a:solidFill>
            <a:srgbClr val="1D242E"/>
          </a:solidFill>
          <a:ln w="9525">
            <a:solidFill>
              <a:srgbClr val="323C49"/>
            </a:solidFill>
            <a:prstDash val="solid"/>
          </a:ln>
        </p:spPr>
      </p:sp>
      <p:sp>
        <p:nvSpPr>
          <p:cNvPr id="19" name="Shape 16"/>
          <p:cNvSpPr/>
          <p:nvPr/>
        </p:nvSpPr>
        <p:spPr>
          <a:xfrm>
            <a:off x="8211312" y="1517904"/>
            <a:ext cx="420624" cy="420624"/>
          </a:xfrm>
          <a:prstGeom prst="ellipse">
            <a:avLst/>
          </a:prstGeom>
          <a:solidFill>
            <a:srgbClr val="E2B54E"/>
          </a:solidFill>
          <a:ln w="15875">
            <a:solidFill>
              <a:srgbClr val="E2B54E"/>
            </a:solidFill>
            <a:prstDash val="solid"/>
          </a:ln>
        </p:spPr>
      </p:sp>
      <p:sp>
        <p:nvSpPr>
          <p:cNvPr id="20" name="Text 17"/>
          <p:cNvSpPr txBox="1"/>
          <p:nvPr/>
        </p:nvSpPr>
        <p:spPr>
          <a:xfrm>
            <a:off x="8211312" y="151790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3</a:t>
            </a:r>
            <a:endParaRPr lang="en-US" sz="1400" dirty="0"/>
          </a:p>
        </p:txBody>
      </p:sp>
      <p:sp>
        <p:nvSpPr>
          <p:cNvPr id="21" name="Text 18"/>
          <p:cNvSpPr txBox="1"/>
          <p:nvPr/>
        </p:nvSpPr>
        <p:spPr>
          <a:xfrm>
            <a:off x="8759952" y="1499616"/>
            <a:ext cx="2834640" cy="457200"/>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Invalidation</a:t>
            </a:r>
            <a:endParaRPr lang="en-US" sz="1400" dirty="0"/>
          </a:p>
        </p:txBody>
      </p:sp>
      <p:sp>
        <p:nvSpPr>
          <p:cNvPr id="22" name="Text 19"/>
          <p:cNvSpPr txBox="1"/>
          <p:nvPr/>
        </p:nvSpPr>
        <p:spPr>
          <a:xfrm>
            <a:off x="8247888" y="2066544"/>
            <a:ext cx="3291840" cy="118872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$0.50 beyond the next structural level past the zone, and never closer than Engine 4’s minimum stop ($13).</a:t>
            </a:r>
            <a:endParaRPr lang="en-US" sz="1200" dirty="0"/>
          </a:p>
        </p:txBody>
      </p:sp>
      <p:sp>
        <p:nvSpPr>
          <p:cNvPr id="23" name="Shape 20"/>
          <p:cNvSpPr/>
          <p:nvPr/>
        </p:nvSpPr>
        <p:spPr>
          <a:xfrm>
            <a:off x="457200" y="3474720"/>
            <a:ext cx="3639312" cy="1938528"/>
          </a:xfrm>
          <a:prstGeom prst="roundRect">
            <a:avLst>
              <a:gd name="adj" fmla="val 3302"/>
            </a:avLst>
          </a:prstGeom>
          <a:solidFill>
            <a:srgbClr val="1D242E"/>
          </a:solidFill>
          <a:ln w="9525">
            <a:solidFill>
              <a:srgbClr val="323C49"/>
            </a:solidFill>
            <a:prstDash val="solid"/>
          </a:ln>
        </p:spPr>
      </p:sp>
      <p:sp>
        <p:nvSpPr>
          <p:cNvPr id="24" name="Shape 21"/>
          <p:cNvSpPr/>
          <p:nvPr/>
        </p:nvSpPr>
        <p:spPr>
          <a:xfrm>
            <a:off x="603504" y="3621024"/>
            <a:ext cx="420624" cy="420624"/>
          </a:xfrm>
          <a:prstGeom prst="ellipse">
            <a:avLst/>
          </a:prstGeom>
          <a:solidFill>
            <a:srgbClr val="E2B54E"/>
          </a:solidFill>
          <a:ln w="15875">
            <a:solidFill>
              <a:srgbClr val="E2B54E"/>
            </a:solidFill>
            <a:prstDash val="solid"/>
          </a:ln>
        </p:spPr>
      </p:sp>
      <p:sp>
        <p:nvSpPr>
          <p:cNvPr id="25" name="Text 22"/>
          <p:cNvSpPr txBox="1"/>
          <p:nvPr/>
        </p:nvSpPr>
        <p:spPr>
          <a:xfrm>
            <a:off x="603504" y="362102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4</a:t>
            </a:r>
            <a:endParaRPr lang="en-US" sz="1400" dirty="0"/>
          </a:p>
        </p:txBody>
      </p:sp>
      <p:sp>
        <p:nvSpPr>
          <p:cNvPr id="26" name="Text 23"/>
          <p:cNvSpPr txBox="1"/>
          <p:nvPr/>
        </p:nvSpPr>
        <p:spPr>
          <a:xfrm>
            <a:off x="1152144" y="3602736"/>
            <a:ext cx="2834640" cy="457200"/>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Runway</a:t>
            </a:r>
            <a:endParaRPr lang="en-US" sz="1400" dirty="0"/>
          </a:p>
        </p:txBody>
      </p:sp>
      <p:sp>
        <p:nvSpPr>
          <p:cNvPr id="27" name="Text 24"/>
          <p:cNvSpPr txBox="1"/>
          <p:nvPr/>
        </p:nvSpPr>
        <p:spPr>
          <a:xfrm>
            <a:off x="640080" y="4169664"/>
            <a:ext cx="3291840" cy="118872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Distance from the zone to the first opposing level, divided by the stop distance.</a:t>
            </a:r>
            <a:endParaRPr lang="en-US" sz="1200" dirty="0"/>
          </a:p>
        </p:txBody>
      </p:sp>
      <p:sp>
        <p:nvSpPr>
          <p:cNvPr id="28" name="Shape 25"/>
          <p:cNvSpPr/>
          <p:nvPr/>
        </p:nvSpPr>
        <p:spPr>
          <a:xfrm>
            <a:off x="4261104" y="3474720"/>
            <a:ext cx="3639312" cy="1938528"/>
          </a:xfrm>
          <a:prstGeom prst="roundRect">
            <a:avLst>
              <a:gd name="adj" fmla="val 3302"/>
            </a:avLst>
          </a:prstGeom>
          <a:solidFill>
            <a:srgbClr val="1D242E"/>
          </a:solidFill>
          <a:ln w="9525">
            <a:solidFill>
              <a:srgbClr val="323C49"/>
            </a:solidFill>
            <a:prstDash val="solid"/>
          </a:ln>
        </p:spPr>
      </p:sp>
      <p:sp>
        <p:nvSpPr>
          <p:cNvPr id="29" name="Shape 26"/>
          <p:cNvSpPr/>
          <p:nvPr/>
        </p:nvSpPr>
        <p:spPr>
          <a:xfrm>
            <a:off x="4407408" y="3621024"/>
            <a:ext cx="420624" cy="420624"/>
          </a:xfrm>
          <a:prstGeom prst="ellipse">
            <a:avLst/>
          </a:prstGeom>
          <a:solidFill>
            <a:srgbClr val="E2B54E"/>
          </a:solidFill>
          <a:ln w="15875">
            <a:solidFill>
              <a:srgbClr val="E2B54E"/>
            </a:solidFill>
            <a:prstDash val="solid"/>
          </a:ln>
        </p:spPr>
      </p:sp>
      <p:sp>
        <p:nvSpPr>
          <p:cNvPr id="30" name="Text 27"/>
          <p:cNvSpPr txBox="1"/>
          <p:nvPr/>
        </p:nvSpPr>
        <p:spPr>
          <a:xfrm>
            <a:off x="4407408" y="362102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5</a:t>
            </a:r>
            <a:endParaRPr lang="en-US" sz="1400" dirty="0"/>
          </a:p>
        </p:txBody>
      </p:sp>
      <p:sp>
        <p:nvSpPr>
          <p:cNvPr id="31" name="Text 28"/>
          <p:cNvSpPr txBox="1"/>
          <p:nvPr/>
        </p:nvSpPr>
        <p:spPr>
          <a:xfrm>
            <a:off x="4956048" y="3602736"/>
            <a:ext cx="2834640" cy="457200"/>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Rank</a:t>
            </a:r>
            <a:endParaRPr lang="en-US" sz="1400" dirty="0"/>
          </a:p>
        </p:txBody>
      </p:sp>
      <p:sp>
        <p:nvSpPr>
          <p:cNvPr id="32" name="Text 29"/>
          <p:cNvSpPr txBox="1"/>
          <p:nvPr/>
        </p:nvSpPr>
        <p:spPr>
          <a:xfrm>
            <a:off x="4443984" y="4169664"/>
            <a:ext cx="3291840" cy="118872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Confluence first, then runway ÷ stop, then distance from price. Keep at most five.</a:t>
            </a:r>
            <a:endParaRPr lang="en-US" sz="1200" dirty="0"/>
          </a:p>
        </p:txBody>
      </p:sp>
      <p:sp>
        <p:nvSpPr>
          <p:cNvPr id="33" name="Shape 30"/>
          <p:cNvSpPr/>
          <p:nvPr/>
        </p:nvSpPr>
        <p:spPr>
          <a:xfrm>
            <a:off x="8065008" y="3474720"/>
            <a:ext cx="3639312" cy="1938528"/>
          </a:xfrm>
          <a:prstGeom prst="roundRect">
            <a:avLst>
              <a:gd name="adj" fmla="val 3302"/>
            </a:avLst>
          </a:prstGeom>
          <a:solidFill>
            <a:srgbClr val="1D242E"/>
          </a:solidFill>
          <a:ln w="9525">
            <a:solidFill>
              <a:srgbClr val="323C49"/>
            </a:solidFill>
            <a:prstDash val="solid"/>
          </a:ln>
        </p:spPr>
      </p:sp>
      <p:sp>
        <p:nvSpPr>
          <p:cNvPr id="34" name="Shape 31"/>
          <p:cNvSpPr/>
          <p:nvPr/>
        </p:nvSpPr>
        <p:spPr>
          <a:xfrm>
            <a:off x="8211312" y="3621024"/>
            <a:ext cx="420624" cy="420624"/>
          </a:xfrm>
          <a:prstGeom prst="ellipse">
            <a:avLst/>
          </a:prstGeom>
          <a:solidFill>
            <a:srgbClr val="E2B54E"/>
          </a:solidFill>
          <a:ln w="15875">
            <a:solidFill>
              <a:srgbClr val="E2B54E"/>
            </a:solidFill>
            <a:prstDash val="solid"/>
          </a:ln>
        </p:spPr>
      </p:sp>
      <p:sp>
        <p:nvSpPr>
          <p:cNvPr id="35" name="Text 32"/>
          <p:cNvSpPr txBox="1"/>
          <p:nvPr/>
        </p:nvSpPr>
        <p:spPr>
          <a:xfrm>
            <a:off x="8211312" y="362102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6</a:t>
            </a:r>
            <a:endParaRPr lang="en-US" sz="1400" dirty="0"/>
          </a:p>
        </p:txBody>
      </p:sp>
      <p:sp>
        <p:nvSpPr>
          <p:cNvPr id="36" name="Text 33"/>
          <p:cNvSpPr txBox="1"/>
          <p:nvPr/>
        </p:nvSpPr>
        <p:spPr>
          <a:xfrm>
            <a:off x="8759952" y="3602736"/>
            <a:ext cx="2834640" cy="457200"/>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Hand on</a:t>
            </a:r>
            <a:endParaRPr lang="en-US" sz="1400" dirty="0"/>
          </a:p>
        </p:txBody>
      </p:sp>
      <p:sp>
        <p:nvSpPr>
          <p:cNvPr id="37" name="Text 34"/>
          <p:cNvSpPr txBox="1"/>
          <p:nvPr/>
        </p:nvSpPr>
        <p:spPr>
          <a:xfrm>
            <a:off x="8247888" y="4169664"/>
            <a:ext cx="3291840" cy="1188720"/>
          </a:xfrm>
          <a:prstGeom prst="rect">
            <a:avLst/>
          </a:prstGeom>
          <a:noFill/>
          <a:ln/>
        </p:spPr>
        <p:txBody>
          <a:bodyPr wrap="square" lIns="0" tIns="0" rIns="0" bIns="0" rtlCol="0" anchor="t"/>
          <a:lstStyle/>
          <a:p>
            <a:pPr indent="0" marL="0">
              <a:buNone/>
            </a:pPr>
            <a:r>
              <a:rPr lang="en-US" sz="1200" dirty="0">
                <a:solidFill>
                  <a:srgbClr val="A3AEBB"/>
                </a:solidFill>
                <a:latin typeface="Calibri" pitchFamily="34" charset="0"/>
                <a:ea typeface="Calibri" pitchFamily="34" charset="-122"/>
                <a:cs typeface="Calibri" pitchFamily="34" charset="-120"/>
              </a:rPr>
              <a:t>Report 1 shows the zones; the modal’s price pills are their reference prices, best first.</a:t>
            </a:r>
            <a:endParaRPr lang="en-US" sz="1200" dirty="0"/>
          </a:p>
        </p:txBody>
      </p:sp>
      <p:sp>
        <p:nvSpPr>
          <p:cNvPr id="38" name="Shape 35"/>
          <p:cNvSpPr/>
          <p:nvPr/>
        </p:nvSpPr>
        <p:spPr>
          <a:xfrm>
            <a:off x="457200" y="5650992"/>
            <a:ext cx="11274552" cy="630936"/>
          </a:xfrm>
          <a:prstGeom prst="roundRect">
            <a:avLst>
              <a:gd name="adj" fmla="val 10145"/>
            </a:avLst>
          </a:prstGeom>
          <a:solidFill>
            <a:srgbClr val="2E2715"/>
          </a:solidFill>
          <a:ln w="9525">
            <a:solidFill>
              <a:srgbClr val="2E2715"/>
            </a:solidFill>
            <a:prstDash val="solid"/>
          </a:ln>
        </p:spPr>
      </p:sp>
      <p:sp>
        <p:nvSpPr>
          <p:cNvPr id="39" name="Text 36"/>
          <p:cNvSpPr txBox="1"/>
          <p:nvPr/>
        </p:nvSpPr>
        <p:spPr>
          <a:xfrm>
            <a:off x="640080" y="5650992"/>
            <a:ext cx="10972800" cy="630936"/>
          </a:xfrm>
          <a:prstGeom prst="rect">
            <a:avLst/>
          </a:prstGeom>
          <a:noFill/>
          <a:ln/>
        </p:spPr>
        <p:txBody>
          <a:bodyPr wrap="square" lIns="0" tIns="0" rIns="0" bIns="0" rtlCol="0" anchor="ctr"/>
          <a:lstStyle/>
          <a:p>
            <a:pPr indent="0" marL="0">
              <a:buNone/>
            </a:pPr>
            <a:r>
              <a:rPr lang="en-US" sz="1150" b="1" dirty="0">
                <a:solidFill>
                  <a:srgbClr val="E2B54E"/>
                </a:solidFill>
                <a:latin typeface="Calibri" pitchFamily="34" charset="0"/>
                <a:ea typeface="Calibri" pitchFamily="34" charset="-122"/>
                <a:cs typeface="Calibri" pitchFamily="34" charset="-120"/>
              </a:rPr>
              <a:t>Stand aside means no zones.  </a:t>
            </a:r>
            <a:pPr indent="0" marL="0">
              <a:buNone/>
            </a:pPr>
            <a:r>
              <a:rPr lang="en-US" sz="1150" dirty="0">
                <a:solidFill>
                  <a:srgbClr val="EEF1F4"/>
                </a:solidFill>
                <a:latin typeface="Calibri" pitchFamily="34" charset="0"/>
                <a:ea typeface="Calibri" pitchFamily="34" charset="-122"/>
                <a:cs typeface="Calibri" pitchFamily="34" charset="-120"/>
              </a:rPr>
              <a:t>Report 1 says why. A custom entry stays possible within the 1-day range widened by half its height; ±5% remains only as a typo filter.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ZONES, WORKED</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example cycle on a price ladder</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11</a:t>
            </a:r>
            <a:endParaRPr lang="en-US" sz="1000" dirty="0"/>
          </a:p>
        </p:txBody>
      </p:sp>
      <p:sp>
        <p:nvSpPr>
          <p:cNvPr id="8" name="Shape 5"/>
          <p:cNvSpPr/>
          <p:nvPr/>
        </p:nvSpPr>
        <p:spPr>
          <a:xfrm>
            <a:off x="2560320" y="1463040"/>
            <a:ext cx="0" cy="4663440"/>
          </a:xfrm>
          <a:prstGeom prst="line">
            <a:avLst/>
          </a:prstGeom>
          <a:noFill/>
          <a:ln w="19050">
            <a:solidFill>
              <a:srgbClr val="323C49"/>
            </a:solidFill>
            <a:prstDash val="solid"/>
          </a:ln>
        </p:spPr>
      </p:sp>
      <p:sp>
        <p:nvSpPr>
          <p:cNvPr id="9" name="Shape 6"/>
          <p:cNvSpPr/>
          <p:nvPr/>
        </p:nvSpPr>
        <p:spPr>
          <a:xfrm>
            <a:off x="2606040" y="1600200"/>
            <a:ext cx="1325880" cy="0"/>
          </a:xfrm>
          <a:prstGeom prst="line">
            <a:avLst/>
          </a:prstGeom>
          <a:noFill/>
          <a:ln w="19050">
            <a:solidFill>
              <a:srgbClr val="E5746A"/>
            </a:solidFill>
            <a:prstDash val="solid"/>
          </a:ln>
        </p:spPr>
      </p:sp>
      <p:sp>
        <p:nvSpPr>
          <p:cNvPr id="10" name="Text 7"/>
          <p:cNvSpPr txBox="1"/>
          <p:nvPr/>
        </p:nvSpPr>
        <p:spPr>
          <a:xfrm>
            <a:off x="457200" y="1417320"/>
            <a:ext cx="1371600" cy="365760"/>
          </a:xfrm>
          <a:prstGeom prst="rect">
            <a:avLst/>
          </a:prstGeom>
          <a:noFill/>
          <a:ln/>
        </p:spPr>
        <p:txBody>
          <a:bodyPr wrap="square" lIns="0" tIns="0" rIns="0" bIns="0" rtlCol="0" anchor="ctr"/>
          <a:lstStyle/>
          <a:p>
            <a:pPr algn="r" indent="0" marL="0">
              <a:buNone/>
            </a:pPr>
            <a:r>
              <a:rPr lang="en-US" sz="1100" b="1" dirty="0">
                <a:solidFill>
                  <a:srgbClr val="E5746A"/>
                </a:solidFill>
                <a:latin typeface="Calibri" pitchFamily="34" charset="0"/>
                <a:ea typeface="Calibri" pitchFamily="34" charset="-122"/>
                <a:cs typeface="Calibri" pitchFamily="34" charset="-120"/>
              </a:rPr>
              <a:t>M5 UOEDT</a:t>
            </a:r>
            <a:endParaRPr lang="en-US" sz="1100" dirty="0"/>
          </a:p>
        </p:txBody>
      </p:sp>
      <p:sp>
        <p:nvSpPr>
          <p:cNvPr id="11" name="Text 8"/>
          <p:cNvSpPr txBox="1"/>
          <p:nvPr/>
        </p:nvSpPr>
        <p:spPr>
          <a:xfrm>
            <a:off x="1828800" y="1417320"/>
            <a:ext cx="685800" cy="365760"/>
          </a:xfrm>
          <a:prstGeom prst="rect">
            <a:avLst/>
          </a:prstGeom>
          <a:noFill/>
          <a:ln/>
        </p:spPr>
        <p:txBody>
          <a:bodyPr wrap="square" lIns="0" tIns="0" rIns="0" bIns="0" rtlCol="0" anchor="ctr"/>
          <a:lstStyle/>
          <a:p>
            <a:pPr algn="r" indent="0" marL="0">
              <a:buNone/>
            </a:pPr>
            <a:r>
              <a:rPr lang="en-US" sz="1050" dirty="0">
                <a:solidFill>
                  <a:srgbClr val="A3AEBB"/>
                </a:solidFill>
                <a:latin typeface="Calibri" pitchFamily="34" charset="0"/>
                <a:ea typeface="Calibri" pitchFamily="34" charset="-122"/>
                <a:cs typeface="Calibri" pitchFamily="34" charset="-120"/>
              </a:rPr>
              <a:t>4384.28</a:t>
            </a:r>
            <a:endParaRPr lang="en-US" sz="1050" dirty="0"/>
          </a:p>
        </p:txBody>
      </p:sp>
      <p:sp>
        <p:nvSpPr>
          <p:cNvPr id="12" name="Text 9"/>
          <p:cNvSpPr txBox="1"/>
          <p:nvPr/>
        </p:nvSpPr>
        <p:spPr>
          <a:xfrm>
            <a:off x="4023360" y="1417320"/>
            <a:ext cx="2743200" cy="365760"/>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next opposing level</a:t>
            </a:r>
            <a:endParaRPr lang="en-US" sz="1050" dirty="0"/>
          </a:p>
        </p:txBody>
      </p:sp>
      <p:sp>
        <p:nvSpPr>
          <p:cNvPr id="13" name="Shape 10"/>
          <p:cNvSpPr/>
          <p:nvPr/>
        </p:nvSpPr>
        <p:spPr>
          <a:xfrm>
            <a:off x="2606040" y="2148840"/>
            <a:ext cx="4114800" cy="0"/>
          </a:xfrm>
          <a:prstGeom prst="line">
            <a:avLst/>
          </a:prstGeom>
          <a:noFill/>
          <a:ln w="12700">
            <a:solidFill>
              <a:srgbClr val="EEF1F4"/>
            </a:solidFill>
            <a:prstDash val="dash"/>
          </a:ln>
        </p:spPr>
      </p:sp>
      <p:sp>
        <p:nvSpPr>
          <p:cNvPr id="14" name="Text 11"/>
          <p:cNvSpPr txBox="1"/>
          <p:nvPr/>
        </p:nvSpPr>
        <p:spPr>
          <a:xfrm>
            <a:off x="457200" y="1965960"/>
            <a:ext cx="1371600" cy="365760"/>
          </a:xfrm>
          <a:prstGeom prst="rect">
            <a:avLst/>
          </a:prstGeom>
          <a:noFill/>
          <a:ln/>
        </p:spPr>
        <p:txBody>
          <a:bodyPr wrap="square" lIns="0" tIns="0" rIns="0" bIns="0" rtlCol="0" anchor="ctr"/>
          <a:lstStyle/>
          <a:p>
            <a:pPr algn="r" indent="0" marL="0">
              <a:buNone/>
            </a:pPr>
            <a:r>
              <a:rPr lang="en-US" sz="1100" b="1" dirty="0">
                <a:solidFill>
                  <a:srgbClr val="EEF1F4"/>
                </a:solidFill>
                <a:latin typeface="Calibri" pitchFamily="34" charset="0"/>
                <a:ea typeface="Calibri" pitchFamily="34" charset="-122"/>
                <a:cs typeface="Calibri" pitchFamily="34" charset="-120"/>
              </a:rPr>
              <a:t>Last price</a:t>
            </a:r>
            <a:endParaRPr lang="en-US" sz="1100" dirty="0"/>
          </a:p>
        </p:txBody>
      </p:sp>
      <p:sp>
        <p:nvSpPr>
          <p:cNvPr id="15" name="Text 12"/>
          <p:cNvSpPr txBox="1"/>
          <p:nvPr/>
        </p:nvSpPr>
        <p:spPr>
          <a:xfrm>
            <a:off x="1828800" y="1965960"/>
            <a:ext cx="685800" cy="365760"/>
          </a:xfrm>
          <a:prstGeom prst="rect">
            <a:avLst/>
          </a:prstGeom>
          <a:noFill/>
          <a:ln/>
        </p:spPr>
        <p:txBody>
          <a:bodyPr wrap="square" lIns="0" tIns="0" rIns="0" bIns="0" rtlCol="0" anchor="ctr"/>
          <a:lstStyle/>
          <a:p>
            <a:pPr algn="r" indent="0" marL="0">
              <a:buNone/>
            </a:pPr>
            <a:r>
              <a:rPr lang="en-US" sz="1050" dirty="0">
                <a:solidFill>
                  <a:srgbClr val="A3AEBB"/>
                </a:solidFill>
                <a:latin typeface="Calibri" pitchFamily="34" charset="0"/>
                <a:ea typeface="Calibri" pitchFamily="34" charset="-122"/>
                <a:cs typeface="Calibri" pitchFamily="34" charset="-120"/>
              </a:rPr>
              <a:t>4377.99</a:t>
            </a:r>
            <a:endParaRPr lang="en-US" sz="1050" dirty="0"/>
          </a:p>
        </p:txBody>
      </p:sp>
      <p:sp>
        <p:nvSpPr>
          <p:cNvPr id="16" name="Shape 13"/>
          <p:cNvSpPr/>
          <p:nvPr/>
        </p:nvSpPr>
        <p:spPr>
          <a:xfrm>
            <a:off x="2606040" y="2587752"/>
            <a:ext cx="4114800" cy="402336"/>
          </a:xfrm>
          <a:prstGeom prst="roundRect">
            <a:avLst>
              <a:gd name="adj" fmla="val 9091"/>
            </a:avLst>
          </a:prstGeom>
          <a:solidFill>
            <a:srgbClr val="2E2715"/>
          </a:solidFill>
          <a:ln w="9525">
            <a:solidFill>
              <a:srgbClr val="E2B54E"/>
            </a:solidFill>
            <a:prstDash val="solid"/>
          </a:ln>
        </p:spPr>
      </p:sp>
      <p:sp>
        <p:nvSpPr>
          <p:cNvPr id="17" name="Shape 14"/>
          <p:cNvSpPr/>
          <p:nvPr/>
        </p:nvSpPr>
        <p:spPr>
          <a:xfrm>
            <a:off x="2606040" y="2788920"/>
            <a:ext cx="1325880" cy="0"/>
          </a:xfrm>
          <a:prstGeom prst="line">
            <a:avLst/>
          </a:prstGeom>
          <a:noFill/>
          <a:ln w="19050">
            <a:solidFill>
              <a:srgbClr val="E2B54E"/>
            </a:solidFill>
            <a:prstDash val="solid"/>
          </a:ln>
        </p:spPr>
      </p:sp>
      <p:sp>
        <p:nvSpPr>
          <p:cNvPr id="18" name="Text 15"/>
          <p:cNvSpPr txBox="1"/>
          <p:nvPr/>
        </p:nvSpPr>
        <p:spPr>
          <a:xfrm>
            <a:off x="457200" y="2606040"/>
            <a:ext cx="1371600" cy="365760"/>
          </a:xfrm>
          <a:prstGeom prst="rect">
            <a:avLst/>
          </a:prstGeom>
          <a:noFill/>
          <a:ln/>
        </p:spPr>
        <p:txBody>
          <a:bodyPr wrap="square" lIns="0" tIns="0" rIns="0" bIns="0" rtlCol="0" anchor="ctr"/>
          <a:lstStyle/>
          <a:p>
            <a:pPr algn="r" indent="0" marL="0">
              <a:buNone/>
            </a:pPr>
            <a:r>
              <a:rPr lang="en-US" sz="1100" b="1" dirty="0">
                <a:solidFill>
                  <a:srgbClr val="E2B54E"/>
                </a:solidFill>
                <a:latin typeface="Calibri" pitchFamily="34" charset="0"/>
                <a:ea typeface="Calibri" pitchFamily="34" charset="-122"/>
                <a:cs typeface="Calibri" pitchFamily="34" charset="-120"/>
              </a:rPr>
              <a:t>M5 baseline</a:t>
            </a:r>
            <a:endParaRPr lang="en-US" sz="1100" dirty="0"/>
          </a:p>
        </p:txBody>
      </p:sp>
      <p:sp>
        <p:nvSpPr>
          <p:cNvPr id="19" name="Text 16"/>
          <p:cNvSpPr txBox="1"/>
          <p:nvPr/>
        </p:nvSpPr>
        <p:spPr>
          <a:xfrm>
            <a:off x="1828800" y="2606040"/>
            <a:ext cx="685800" cy="365760"/>
          </a:xfrm>
          <a:prstGeom prst="rect">
            <a:avLst/>
          </a:prstGeom>
          <a:noFill/>
          <a:ln/>
        </p:spPr>
        <p:txBody>
          <a:bodyPr wrap="square" lIns="0" tIns="0" rIns="0" bIns="0" rtlCol="0" anchor="ctr"/>
          <a:lstStyle/>
          <a:p>
            <a:pPr algn="r" indent="0" marL="0">
              <a:buNone/>
            </a:pPr>
            <a:r>
              <a:rPr lang="en-US" sz="1050" dirty="0">
                <a:solidFill>
                  <a:srgbClr val="A3AEBB"/>
                </a:solidFill>
                <a:latin typeface="Calibri" pitchFamily="34" charset="0"/>
                <a:ea typeface="Calibri" pitchFamily="34" charset="-122"/>
                <a:cs typeface="Calibri" pitchFamily="34" charset="-120"/>
              </a:rPr>
              <a:t>4367.25</a:t>
            </a:r>
            <a:endParaRPr lang="en-US" sz="1050" dirty="0"/>
          </a:p>
        </p:txBody>
      </p:sp>
      <p:sp>
        <p:nvSpPr>
          <p:cNvPr id="20" name="Text 17"/>
          <p:cNvSpPr txBox="1"/>
          <p:nvPr/>
        </p:nvSpPr>
        <p:spPr>
          <a:xfrm>
            <a:off x="4023360" y="2606040"/>
            <a:ext cx="2743200" cy="365760"/>
          </a:xfrm>
          <a:prstGeom prst="rect">
            <a:avLst/>
          </a:prstGeom>
          <a:noFill/>
          <a:ln/>
        </p:spPr>
        <p:txBody>
          <a:bodyPr wrap="square" lIns="0" tIns="0" rIns="0" bIns="0" rtlCol="0" anchor="ctr"/>
          <a:lstStyle/>
          <a:p>
            <a:pPr indent="0" marL="0">
              <a:buNone/>
            </a:pPr>
            <a:r>
              <a:rPr lang="en-US" sz="1050" b="1" dirty="0">
                <a:solidFill>
                  <a:srgbClr val="E2B54E"/>
                </a:solidFill>
                <a:latin typeface="Calibri" pitchFamily="34" charset="0"/>
                <a:ea typeface="Calibri" pitchFamily="34" charset="-122"/>
                <a:cs typeface="Calibri" pitchFamily="34" charset="-120"/>
              </a:rPr>
              <a:t>Z1  4363.84 – 4370.66</a:t>
            </a:r>
            <a:endParaRPr lang="en-US" sz="1050" dirty="0"/>
          </a:p>
        </p:txBody>
      </p:sp>
      <p:sp>
        <p:nvSpPr>
          <p:cNvPr id="21" name="Shape 18"/>
          <p:cNvSpPr/>
          <p:nvPr/>
        </p:nvSpPr>
        <p:spPr>
          <a:xfrm>
            <a:off x="2606040" y="3502152"/>
            <a:ext cx="4114800" cy="402336"/>
          </a:xfrm>
          <a:prstGeom prst="roundRect">
            <a:avLst>
              <a:gd name="adj" fmla="val 9091"/>
            </a:avLst>
          </a:prstGeom>
          <a:solidFill>
            <a:srgbClr val="2E2715"/>
          </a:solidFill>
          <a:ln w="9525">
            <a:solidFill>
              <a:srgbClr val="E2B54E"/>
            </a:solidFill>
            <a:prstDash val="solid"/>
          </a:ln>
        </p:spPr>
      </p:sp>
      <p:sp>
        <p:nvSpPr>
          <p:cNvPr id="22" name="Shape 19"/>
          <p:cNvSpPr/>
          <p:nvPr/>
        </p:nvSpPr>
        <p:spPr>
          <a:xfrm>
            <a:off x="2606040" y="3703320"/>
            <a:ext cx="1325880" cy="0"/>
          </a:xfrm>
          <a:prstGeom prst="line">
            <a:avLst/>
          </a:prstGeom>
          <a:noFill/>
          <a:ln w="19050">
            <a:solidFill>
              <a:srgbClr val="E2B54E"/>
            </a:solidFill>
            <a:prstDash val="solid"/>
          </a:ln>
        </p:spPr>
      </p:sp>
      <p:sp>
        <p:nvSpPr>
          <p:cNvPr id="23" name="Text 20"/>
          <p:cNvSpPr txBox="1"/>
          <p:nvPr/>
        </p:nvSpPr>
        <p:spPr>
          <a:xfrm>
            <a:off x="457200" y="3520440"/>
            <a:ext cx="1371600" cy="365760"/>
          </a:xfrm>
          <a:prstGeom prst="rect">
            <a:avLst/>
          </a:prstGeom>
          <a:noFill/>
          <a:ln/>
        </p:spPr>
        <p:txBody>
          <a:bodyPr wrap="square" lIns="0" tIns="0" rIns="0" bIns="0" rtlCol="0" anchor="ctr"/>
          <a:lstStyle/>
          <a:p>
            <a:pPr algn="r" indent="0" marL="0">
              <a:buNone/>
            </a:pPr>
            <a:r>
              <a:rPr lang="en-US" sz="1100" b="1" dirty="0">
                <a:solidFill>
                  <a:srgbClr val="E2B54E"/>
                </a:solidFill>
                <a:latin typeface="Calibri" pitchFamily="34" charset="0"/>
                <a:ea typeface="Calibri" pitchFamily="34" charset="-122"/>
                <a:cs typeface="Calibri" pitchFamily="34" charset="-120"/>
              </a:rPr>
              <a:t>M5 LOEDT</a:t>
            </a:r>
            <a:endParaRPr lang="en-US" sz="1100" dirty="0"/>
          </a:p>
        </p:txBody>
      </p:sp>
      <p:sp>
        <p:nvSpPr>
          <p:cNvPr id="24" name="Text 21"/>
          <p:cNvSpPr txBox="1"/>
          <p:nvPr/>
        </p:nvSpPr>
        <p:spPr>
          <a:xfrm>
            <a:off x="1828800" y="3520440"/>
            <a:ext cx="685800" cy="365760"/>
          </a:xfrm>
          <a:prstGeom prst="rect">
            <a:avLst/>
          </a:prstGeom>
          <a:noFill/>
          <a:ln/>
        </p:spPr>
        <p:txBody>
          <a:bodyPr wrap="square" lIns="0" tIns="0" rIns="0" bIns="0" rtlCol="0" anchor="ctr"/>
          <a:lstStyle/>
          <a:p>
            <a:pPr algn="r" indent="0" marL="0">
              <a:buNone/>
            </a:pPr>
            <a:r>
              <a:rPr lang="en-US" sz="1050" dirty="0">
                <a:solidFill>
                  <a:srgbClr val="A3AEBB"/>
                </a:solidFill>
                <a:latin typeface="Calibri" pitchFamily="34" charset="0"/>
                <a:ea typeface="Calibri" pitchFamily="34" charset="-122"/>
                <a:cs typeface="Calibri" pitchFamily="34" charset="-120"/>
              </a:rPr>
              <a:t>4350.22</a:t>
            </a:r>
            <a:endParaRPr lang="en-US" sz="1050" dirty="0"/>
          </a:p>
        </p:txBody>
      </p:sp>
      <p:sp>
        <p:nvSpPr>
          <p:cNvPr id="25" name="Text 22"/>
          <p:cNvSpPr txBox="1"/>
          <p:nvPr/>
        </p:nvSpPr>
        <p:spPr>
          <a:xfrm>
            <a:off x="4023360" y="3520440"/>
            <a:ext cx="2743200" cy="365760"/>
          </a:xfrm>
          <a:prstGeom prst="rect">
            <a:avLst/>
          </a:prstGeom>
          <a:noFill/>
          <a:ln/>
        </p:spPr>
        <p:txBody>
          <a:bodyPr wrap="square" lIns="0" tIns="0" rIns="0" bIns="0" rtlCol="0" anchor="ctr"/>
          <a:lstStyle/>
          <a:p>
            <a:pPr indent="0" marL="0">
              <a:buNone/>
            </a:pPr>
            <a:r>
              <a:rPr lang="en-US" sz="1050" b="1" dirty="0">
                <a:solidFill>
                  <a:srgbClr val="E2B54E"/>
                </a:solidFill>
                <a:latin typeface="Calibri" pitchFamily="34" charset="0"/>
                <a:ea typeface="Calibri" pitchFamily="34" charset="-122"/>
                <a:cs typeface="Calibri" pitchFamily="34" charset="-120"/>
              </a:rPr>
              <a:t>Z2  4346.81 – 4353.63</a:t>
            </a:r>
            <a:endParaRPr lang="en-US" sz="1050" dirty="0"/>
          </a:p>
        </p:txBody>
      </p:sp>
      <p:sp>
        <p:nvSpPr>
          <p:cNvPr id="26" name="Shape 23"/>
          <p:cNvSpPr/>
          <p:nvPr/>
        </p:nvSpPr>
        <p:spPr>
          <a:xfrm>
            <a:off x="2606040" y="5074920"/>
            <a:ext cx="1325880" cy="0"/>
          </a:xfrm>
          <a:prstGeom prst="line">
            <a:avLst/>
          </a:prstGeom>
          <a:noFill/>
          <a:ln w="19050">
            <a:solidFill>
              <a:srgbClr val="7FA8E8"/>
            </a:solidFill>
            <a:prstDash val="solid"/>
          </a:ln>
        </p:spPr>
      </p:sp>
      <p:sp>
        <p:nvSpPr>
          <p:cNvPr id="27" name="Text 24"/>
          <p:cNvSpPr txBox="1"/>
          <p:nvPr/>
        </p:nvSpPr>
        <p:spPr>
          <a:xfrm>
            <a:off x="457200" y="4892040"/>
            <a:ext cx="1371600" cy="365760"/>
          </a:xfrm>
          <a:prstGeom prst="rect">
            <a:avLst/>
          </a:prstGeom>
          <a:noFill/>
          <a:ln/>
        </p:spPr>
        <p:txBody>
          <a:bodyPr wrap="square" lIns="0" tIns="0" rIns="0" bIns="0" rtlCol="0" anchor="ctr"/>
          <a:lstStyle/>
          <a:p>
            <a:pPr algn="r" indent="0" marL="0">
              <a:buNone/>
            </a:pPr>
            <a:r>
              <a:rPr lang="en-US" sz="1100" b="1" dirty="0">
                <a:solidFill>
                  <a:srgbClr val="7FA8E8"/>
                </a:solidFill>
                <a:latin typeface="Calibri" pitchFamily="34" charset="0"/>
                <a:ea typeface="Calibri" pitchFamily="34" charset="-122"/>
                <a:cs typeface="Calibri" pitchFamily="34" charset="-120"/>
              </a:rPr>
              <a:t>M15 UOEDT</a:t>
            </a:r>
            <a:endParaRPr lang="en-US" sz="1100" dirty="0"/>
          </a:p>
        </p:txBody>
      </p:sp>
      <p:sp>
        <p:nvSpPr>
          <p:cNvPr id="28" name="Text 25"/>
          <p:cNvSpPr txBox="1"/>
          <p:nvPr/>
        </p:nvSpPr>
        <p:spPr>
          <a:xfrm>
            <a:off x="1828800" y="4892040"/>
            <a:ext cx="685800" cy="365760"/>
          </a:xfrm>
          <a:prstGeom prst="rect">
            <a:avLst/>
          </a:prstGeom>
          <a:noFill/>
          <a:ln/>
        </p:spPr>
        <p:txBody>
          <a:bodyPr wrap="square" lIns="0" tIns="0" rIns="0" bIns="0" rtlCol="0" anchor="ctr"/>
          <a:lstStyle/>
          <a:p>
            <a:pPr algn="r" indent="0" marL="0">
              <a:buNone/>
            </a:pPr>
            <a:r>
              <a:rPr lang="en-US" sz="1050" dirty="0">
                <a:solidFill>
                  <a:srgbClr val="A3AEBB"/>
                </a:solidFill>
                <a:latin typeface="Calibri" pitchFamily="34" charset="0"/>
                <a:ea typeface="Calibri" pitchFamily="34" charset="-122"/>
                <a:cs typeface="Calibri" pitchFamily="34" charset="-120"/>
              </a:rPr>
              <a:t>4279.21</a:t>
            </a:r>
            <a:endParaRPr lang="en-US" sz="1050" dirty="0"/>
          </a:p>
        </p:txBody>
      </p:sp>
      <p:sp>
        <p:nvSpPr>
          <p:cNvPr id="29" name="Text 26"/>
          <p:cNvSpPr txBox="1"/>
          <p:nvPr/>
        </p:nvSpPr>
        <p:spPr>
          <a:xfrm>
            <a:off x="4023360" y="4892040"/>
            <a:ext cx="2743200" cy="365760"/>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next level below Z2</a:t>
            </a:r>
            <a:endParaRPr lang="en-US" sz="1050" dirty="0"/>
          </a:p>
        </p:txBody>
      </p:sp>
      <p:sp>
        <p:nvSpPr>
          <p:cNvPr id="30" name="Shape 27"/>
          <p:cNvSpPr/>
          <p:nvPr/>
        </p:nvSpPr>
        <p:spPr>
          <a:xfrm>
            <a:off x="2606040" y="5897880"/>
            <a:ext cx="4114800" cy="0"/>
          </a:xfrm>
          <a:prstGeom prst="line">
            <a:avLst/>
          </a:prstGeom>
          <a:noFill/>
          <a:ln w="19050">
            <a:solidFill>
              <a:srgbClr val="7FA8E8"/>
            </a:solidFill>
            <a:prstDash val="solid"/>
          </a:ln>
        </p:spPr>
      </p:sp>
      <p:sp>
        <p:nvSpPr>
          <p:cNvPr id="31" name="Text 28"/>
          <p:cNvSpPr txBox="1"/>
          <p:nvPr/>
        </p:nvSpPr>
        <p:spPr>
          <a:xfrm>
            <a:off x="457200" y="5715000"/>
            <a:ext cx="1371600" cy="365760"/>
          </a:xfrm>
          <a:prstGeom prst="rect">
            <a:avLst/>
          </a:prstGeom>
          <a:noFill/>
          <a:ln/>
        </p:spPr>
        <p:txBody>
          <a:bodyPr wrap="square" lIns="0" tIns="0" rIns="0" bIns="0" rtlCol="0" anchor="ctr"/>
          <a:lstStyle/>
          <a:p>
            <a:pPr algn="r" indent="0" marL="0">
              <a:buNone/>
            </a:pPr>
            <a:r>
              <a:rPr lang="en-US" sz="1100" b="1" dirty="0">
                <a:solidFill>
                  <a:srgbClr val="7FA8E8"/>
                </a:solidFill>
                <a:latin typeface="Calibri" pitchFamily="34" charset="0"/>
                <a:ea typeface="Calibri" pitchFamily="34" charset="-122"/>
                <a:cs typeface="Calibri" pitchFamily="34" charset="-120"/>
              </a:rPr>
              <a:t>M15 LOEDT</a:t>
            </a:r>
            <a:endParaRPr lang="en-US" sz="1100" dirty="0"/>
          </a:p>
        </p:txBody>
      </p:sp>
      <p:sp>
        <p:nvSpPr>
          <p:cNvPr id="32" name="Text 29"/>
          <p:cNvSpPr txBox="1"/>
          <p:nvPr/>
        </p:nvSpPr>
        <p:spPr>
          <a:xfrm>
            <a:off x="1828800" y="5715000"/>
            <a:ext cx="685800" cy="365760"/>
          </a:xfrm>
          <a:prstGeom prst="rect">
            <a:avLst/>
          </a:prstGeom>
          <a:noFill/>
          <a:ln/>
        </p:spPr>
        <p:txBody>
          <a:bodyPr wrap="square" lIns="0" tIns="0" rIns="0" bIns="0" rtlCol="0" anchor="ctr"/>
          <a:lstStyle/>
          <a:p>
            <a:pPr algn="r" indent="0" marL="0">
              <a:buNone/>
            </a:pPr>
            <a:r>
              <a:rPr lang="en-US" sz="1050" dirty="0">
                <a:solidFill>
                  <a:srgbClr val="A3AEBB"/>
                </a:solidFill>
                <a:latin typeface="Calibri" pitchFamily="34" charset="0"/>
                <a:ea typeface="Calibri" pitchFamily="34" charset="-122"/>
                <a:cs typeface="Calibri" pitchFamily="34" charset="-120"/>
              </a:rPr>
              <a:t>4125.99</a:t>
            </a:r>
            <a:endParaRPr lang="en-US" sz="1050" dirty="0"/>
          </a:p>
        </p:txBody>
      </p:sp>
      <p:sp>
        <p:nvSpPr>
          <p:cNvPr id="33" name="Text 30"/>
          <p:cNvSpPr txBox="1"/>
          <p:nvPr/>
        </p:nvSpPr>
        <p:spPr>
          <a:xfrm>
            <a:off x="2743200" y="4160520"/>
            <a:ext cx="3657600" cy="365760"/>
          </a:xfrm>
          <a:prstGeom prst="rect">
            <a:avLst/>
          </a:prstGeom>
          <a:noFill/>
          <a:ln/>
        </p:spPr>
        <p:txBody>
          <a:bodyPr wrap="square" lIns="0" tIns="0" rIns="0" bIns="0" rtlCol="0" anchor="ctr"/>
          <a:lstStyle/>
          <a:p>
            <a:pPr indent="0" marL="0">
              <a:buNone/>
            </a:pPr>
            <a:r>
              <a:rPr lang="en-US" sz="1000" i="1" dirty="0">
                <a:solidFill>
                  <a:srgbClr val="6E7A88"/>
                </a:solidFill>
                <a:latin typeface="Calibri" pitchFamily="34" charset="0"/>
                <a:ea typeface="Calibri" pitchFamily="34" charset="-122"/>
                <a:cs typeface="Calibri" pitchFamily="34" charset="-120"/>
              </a:rPr>
              <a:t>⋮  gap of ~$71, not to scale</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178040" y="1325880"/>
          <a:ext cx="4553712" cy="914400"/>
        </p:xfrm>
        <a:graphic>
          <a:graphicData uri="http://schemas.openxmlformats.org/drawingml/2006/table">
            <a:tbl>
              <a:tblPr/>
              <a:tblGrid>
                <a:gridCol w="1554480"/>
                <a:gridCol w="1499616"/>
                <a:gridCol w="1499616"/>
              </a:tblGrid>
              <a:tr h="329184">
                <a:tc>
                  <a:txBody>
                    <a:bodyPr/>
                    <a:lstStyle/>
                    <a:p>
                      <a:pPr indent="0" marL="0">
                        <a:buNone/>
                      </a:pP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Z1 · M5 baseline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Z2 · M5 LOEDT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20624">
                <a:tc>
                  <a:txBody>
                    <a:bodyPr/>
                    <a:lstStyle/>
                    <a:p>
                      <a:pPr indent="0" marL="0">
                        <a:buNone/>
                      </a:pPr>
                      <a:r>
                        <a:rPr lang="en-US" sz="1050" b="1" dirty="0">
                          <a:solidFill>
                            <a:srgbClr val="A3AEBB"/>
                          </a:solidFill>
                          <a:latin typeface="Calibri" pitchFamily="34" charset="0"/>
                          <a:ea typeface="Calibri" pitchFamily="34" charset="-122"/>
                          <a:cs typeface="Calibri" pitchFamily="34" charset="-120"/>
                        </a:rPr>
                        <a:t>Reference price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4367.25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4350.22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A3AEBB"/>
                          </a:solidFill>
                          <a:latin typeface="Calibri" pitchFamily="34" charset="0"/>
                          <a:ea typeface="Calibri" pitchFamily="34" charset="-122"/>
                          <a:cs typeface="Calibri" pitchFamily="34" charset="-120"/>
                        </a:rPr>
                        <a:t>Invalidation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4349.72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4278.71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A3AEBB"/>
                          </a:solidFill>
                          <a:latin typeface="Calibri" pitchFamily="34" charset="0"/>
                          <a:ea typeface="Calibri" pitchFamily="34" charset="-122"/>
                          <a:cs typeface="Calibri" pitchFamily="34" charset="-120"/>
                        </a:rPr>
                        <a:t>Stop distance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$17.53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$71.51 (wide)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A3AEBB"/>
                          </a:solidFill>
                          <a:latin typeface="Calibri" pitchFamily="34" charset="0"/>
                          <a:ea typeface="Calibri" pitchFamily="34" charset="-122"/>
                          <a:cs typeface="Calibri" pitchFamily="34" charset="-120"/>
                        </a:rPr>
                        <a:t>Next opposing level</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M5 UOEDT 4384.28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M5 baseline 4367.25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A3AEBB"/>
                          </a:solidFill>
                          <a:latin typeface="Calibri" pitchFamily="34" charset="0"/>
                          <a:ea typeface="Calibri" pitchFamily="34" charset="-122"/>
                          <a:cs typeface="Calibri" pitchFamily="34" charset="-120"/>
                        </a:rPr>
                        <a:t>Runway ÷ stop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0.97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0.24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A3AEBB"/>
                          </a:solidFill>
                          <a:latin typeface="Calibri" pitchFamily="34" charset="0"/>
                          <a:ea typeface="Calibri" pitchFamily="34" charset="-122"/>
                          <a:cs typeface="Calibri" pitchFamily="34" charset="-120"/>
                        </a:rPr>
                        <a:t>Rank</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
        <p:nvSpPr>
          <p:cNvPr id="35" name="Shape 31"/>
          <p:cNvSpPr/>
          <p:nvPr/>
        </p:nvSpPr>
        <p:spPr>
          <a:xfrm>
            <a:off x="7178040" y="4343400"/>
            <a:ext cx="4553712" cy="1938528"/>
          </a:xfrm>
          <a:prstGeom prst="roundRect">
            <a:avLst>
              <a:gd name="adj" fmla="val 3302"/>
            </a:avLst>
          </a:prstGeom>
          <a:solidFill>
            <a:srgbClr val="1D242E"/>
          </a:solidFill>
          <a:ln w="15875">
            <a:solidFill>
              <a:srgbClr val="E5746A"/>
            </a:solidFill>
            <a:prstDash val="solid"/>
          </a:ln>
        </p:spPr>
      </p:sp>
      <p:sp>
        <p:nvSpPr>
          <p:cNvPr id="36" name="Text 32"/>
          <p:cNvSpPr txBox="1"/>
          <p:nvPr/>
        </p:nvSpPr>
        <p:spPr>
          <a:xfrm>
            <a:off x="7360920" y="4434840"/>
            <a:ext cx="4206240" cy="256032"/>
          </a:xfrm>
          <a:prstGeom prst="rect">
            <a:avLst/>
          </a:prstGeom>
          <a:noFill/>
          <a:ln/>
        </p:spPr>
        <p:txBody>
          <a:bodyPr wrap="square" lIns="0" tIns="0" rIns="0" bIns="0" rtlCol="0" anchor="t"/>
          <a:lstStyle/>
          <a:p>
            <a:pPr indent="0" marL="0">
              <a:buNone/>
            </a:pPr>
            <a:r>
              <a:rPr lang="en-US" sz="950" b="1" spc="150" kern="0" dirty="0">
                <a:solidFill>
                  <a:srgbClr val="E5746A"/>
                </a:solidFill>
                <a:latin typeface="Calibri" pitchFamily="34" charset="0"/>
                <a:ea typeface="Calibri" pitchFamily="34" charset="-122"/>
                <a:cs typeface="Calibri" pitchFamily="34" charset="-120"/>
              </a:rPr>
              <a:t>WHAT THIS SHOWS</a:t>
            </a:r>
            <a:endParaRPr lang="en-US" sz="950" dirty="0"/>
          </a:p>
        </p:txBody>
      </p:sp>
      <p:sp>
        <p:nvSpPr>
          <p:cNvPr id="37" name="Text 33"/>
          <p:cNvSpPr txBox="1"/>
          <p:nvPr/>
        </p:nvSpPr>
        <p:spPr>
          <a:xfrm>
            <a:off x="7360920" y="4727448"/>
            <a:ext cx="4251960" cy="1508760"/>
          </a:xfrm>
          <a:prstGeom prst="rect">
            <a:avLst/>
          </a:prstGeom>
          <a:noFill/>
          <a:ln/>
        </p:spPr>
        <p:txBody>
          <a:bodyPr wrap="square" lIns="0" tIns="0" rIns="0" bIns="0" rtlCol="0" anchor="t"/>
          <a:lstStyle/>
          <a:p>
            <a:pPr indent="0" marL="0">
              <a:buNone/>
            </a:pPr>
            <a:r>
              <a:rPr lang="en-US" sz="1100" dirty="0">
                <a:solidFill>
                  <a:srgbClr val="EEF1F4"/>
                </a:solidFill>
                <a:latin typeface="Calibri" pitchFamily="34" charset="0"/>
                <a:ea typeface="Calibri" pitchFamily="34" charset="-122"/>
                <a:cs typeface="Calibri" pitchFamily="34" charset="-120"/>
              </a:rPr>
              <a:t>Neither zone has room before the next resistance: even the Conservative scenario needs about 1.5× the stop. Report 2 would say so instead of printing a target beyond 4384. Support &amp; resistance levels between these lines would tighten Z2’s stop and add targets.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CHANGE LIST</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Keep, change, add, remove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12</a:t>
            </a:r>
            <a:endParaRPr lang="en-US" sz="1000" dirty="0"/>
          </a:p>
        </p:txBody>
      </p:sp>
      <p:sp>
        <p:nvSpPr>
          <p:cNvPr id="8" name="Shape 5"/>
          <p:cNvSpPr/>
          <p:nvPr/>
        </p:nvSpPr>
        <p:spPr>
          <a:xfrm>
            <a:off x="457200" y="1371600"/>
            <a:ext cx="2697480" cy="4892040"/>
          </a:xfrm>
          <a:prstGeom prst="roundRect">
            <a:avLst>
              <a:gd name="adj" fmla="val 2373"/>
            </a:avLst>
          </a:prstGeom>
          <a:solidFill>
            <a:srgbClr val="1D242E"/>
          </a:solidFill>
          <a:ln w="9525">
            <a:solidFill>
              <a:srgbClr val="323C49"/>
            </a:solidFill>
            <a:prstDash val="solid"/>
          </a:ln>
        </p:spPr>
      </p:sp>
      <p:sp>
        <p:nvSpPr>
          <p:cNvPr id="9" name="Shape 6"/>
          <p:cNvSpPr/>
          <p:nvPr/>
        </p:nvSpPr>
        <p:spPr>
          <a:xfrm>
            <a:off x="621792" y="1536192"/>
            <a:ext cx="1188720" cy="274320"/>
          </a:xfrm>
          <a:prstGeom prst="roundRect">
            <a:avLst>
              <a:gd name="adj" fmla="val 50000"/>
            </a:avLst>
          </a:prstGeom>
          <a:solidFill>
            <a:srgbClr val="5CC2B2"/>
          </a:solidFill>
          <a:ln w="9525">
            <a:solidFill>
              <a:srgbClr val="5CC2B2"/>
            </a:solidFill>
            <a:prstDash val="solid"/>
          </a:ln>
        </p:spPr>
      </p:sp>
      <p:sp>
        <p:nvSpPr>
          <p:cNvPr id="10" name="Text 7"/>
          <p:cNvSpPr txBox="1"/>
          <p:nvPr/>
        </p:nvSpPr>
        <p:spPr>
          <a:xfrm>
            <a:off x="621792"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KEEP</a:t>
            </a:r>
            <a:endParaRPr lang="en-US" sz="950" dirty="0"/>
          </a:p>
        </p:txBody>
      </p:sp>
      <p:sp>
        <p:nvSpPr>
          <p:cNvPr id="11" name="Shape 8"/>
          <p:cNvSpPr/>
          <p:nvPr/>
        </p:nvSpPr>
        <p:spPr>
          <a:xfrm>
            <a:off x="640080" y="2112264"/>
            <a:ext cx="100584" cy="100584"/>
          </a:xfrm>
          <a:prstGeom prst="ellipse">
            <a:avLst/>
          </a:prstGeom>
          <a:solidFill>
            <a:srgbClr val="5CC2B2"/>
          </a:solidFill>
          <a:ln w="12700">
            <a:solidFill>
              <a:srgbClr val="5CC2B2"/>
            </a:solidFill>
            <a:prstDash val="solid"/>
          </a:ln>
        </p:spPr>
      </p:sp>
      <p:sp>
        <p:nvSpPr>
          <p:cNvPr id="12" name="Text 9"/>
          <p:cNvSpPr txBox="1"/>
          <p:nvPr/>
        </p:nvSpPr>
        <p:spPr>
          <a:xfrm>
            <a:off x="841248"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The seed’s four archetypes as names</a:t>
            </a:r>
            <a:endParaRPr lang="en-US" sz="1150" dirty="0"/>
          </a:p>
        </p:txBody>
      </p:sp>
      <p:sp>
        <p:nvSpPr>
          <p:cNvPr id="13" name="Shape 10"/>
          <p:cNvSpPr/>
          <p:nvPr/>
        </p:nvSpPr>
        <p:spPr>
          <a:xfrm>
            <a:off x="640080" y="2898648"/>
            <a:ext cx="100584" cy="100584"/>
          </a:xfrm>
          <a:prstGeom prst="ellipse">
            <a:avLst/>
          </a:prstGeom>
          <a:solidFill>
            <a:srgbClr val="5CC2B2"/>
          </a:solidFill>
          <a:ln w="12700">
            <a:solidFill>
              <a:srgbClr val="5CC2B2"/>
            </a:solidFill>
            <a:prstDash val="solid"/>
          </a:ln>
        </p:spPr>
      </p:sp>
      <p:sp>
        <p:nvSpPr>
          <p:cNvPr id="14" name="Text 11"/>
          <p:cNvSpPr txBox="1"/>
          <p:nvPr/>
        </p:nvSpPr>
        <p:spPr>
          <a:xfrm>
            <a:off x="841248"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File A’s precedence: M15 structure first</a:t>
            </a:r>
            <a:endParaRPr lang="en-US" sz="1150" dirty="0"/>
          </a:p>
        </p:txBody>
      </p:sp>
      <p:sp>
        <p:nvSpPr>
          <p:cNvPr id="15" name="Shape 12"/>
          <p:cNvSpPr/>
          <p:nvPr/>
        </p:nvSpPr>
        <p:spPr>
          <a:xfrm>
            <a:off x="640080" y="3685032"/>
            <a:ext cx="100584" cy="100584"/>
          </a:xfrm>
          <a:prstGeom prst="ellipse">
            <a:avLst/>
          </a:prstGeom>
          <a:solidFill>
            <a:srgbClr val="5CC2B2"/>
          </a:solidFill>
          <a:ln w="12700">
            <a:solidFill>
              <a:srgbClr val="5CC2B2"/>
            </a:solidFill>
            <a:prstDash val="solid"/>
          </a:ln>
        </p:spPr>
      </p:sp>
      <p:sp>
        <p:nvSpPr>
          <p:cNvPr id="16" name="Text 13"/>
          <p:cNvSpPr txBox="1"/>
          <p:nvPr/>
        </p:nvSpPr>
        <p:spPr>
          <a:xfrm>
            <a:off x="841248"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Stops behind structure ($0.50 buffer)</a:t>
            </a:r>
            <a:endParaRPr lang="en-US" sz="1150" dirty="0"/>
          </a:p>
        </p:txBody>
      </p:sp>
      <p:sp>
        <p:nvSpPr>
          <p:cNvPr id="17" name="Shape 14"/>
          <p:cNvSpPr/>
          <p:nvPr/>
        </p:nvSpPr>
        <p:spPr>
          <a:xfrm>
            <a:off x="640080" y="4471416"/>
            <a:ext cx="100584" cy="100584"/>
          </a:xfrm>
          <a:prstGeom prst="ellipse">
            <a:avLst/>
          </a:prstGeom>
          <a:solidFill>
            <a:srgbClr val="5CC2B2"/>
          </a:solidFill>
          <a:ln w="12700">
            <a:solidFill>
              <a:srgbClr val="5CC2B2"/>
            </a:solidFill>
            <a:prstDash val="solid"/>
          </a:ln>
        </p:spPr>
      </p:sp>
      <p:sp>
        <p:nvSpPr>
          <p:cNvPr id="18" name="Text 15"/>
          <p:cNvSpPr txBox="1"/>
          <p:nvPr/>
        </p:nvSpPr>
        <p:spPr>
          <a:xfrm>
            <a:off x="841248"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Counter-trend reward-to-risk cap of 2.50×</a:t>
            </a:r>
            <a:endParaRPr lang="en-US" sz="1150" dirty="0"/>
          </a:p>
        </p:txBody>
      </p:sp>
      <p:sp>
        <p:nvSpPr>
          <p:cNvPr id="19" name="Shape 16"/>
          <p:cNvSpPr/>
          <p:nvPr/>
        </p:nvSpPr>
        <p:spPr>
          <a:xfrm>
            <a:off x="640080" y="5257800"/>
            <a:ext cx="100584" cy="100584"/>
          </a:xfrm>
          <a:prstGeom prst="ellipse">
            <a:avLst/>
          </a:prstGeom>
          <a:solidFill>
            <a:srgbClr val="5CC2B2"/>
          </a:solidFill>
          <a:ln w="12700">
            <a:solidFill>
              <a:srgbClr val="5CC2B2"/>
            </a:solidFill>
            <a:prstDash val="solid"/>
          </a:ln>
        </p:spPr>
      </p:sp>
      <p:sp>
        <p:nvSpPr>
          <p:cNvPr id="20" name="Text 17"/>
          <p:cNvSpPr txBox="1"/>
          <p:nvPr/>
        </p:nvSpPr>
        <p:spPr>
          <a:xfrm>
            <a:off x="841248" y="5157216"/>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Five entry prices in the modal</a:t>
            </a:r>
            <a:endParaRPr lang="en-US" sz="1150" dirty="0"/>
          </a:p>
        </p:txBody>
      </p:sp>
      <p:sp>
        <p:nvSpPr>
          <p:cNvPr id="21" name="Shape 18"/>
          <p:cNvSpPr/>
          <p:nvPr/>
        </p:nvSpPr>
        <p:spPr>
          <a:xfrm>
            <a:off x="3319272" y="1371600"/>
            <a:ext cx="2697480" cy="4892040"/>
          </a:xfrm>
          <a:prstGeom prst="roundRect">
            <a:avLst>
              <a:gd name="adj" fmla="val 2373"/>
            </a:avLst>
          </a:prstGeom>
          <a:solidFill>
            <a:srgbClr val="1D242E"/>
          </a:solidFill>
          <a:ln w="9525">
            <a:solidFill>
              <a:srgbClr val="323C49"/>
            </a:solidFill>
            <a:prstDash val="solid"/>
          </a:ln>
        </p:spPr>
      </p:sp>
      <p:sp>
        <p:nvSpPr>
          <p:cNvPr id="22" name="Shape 19"/>
          <p:cNvSpPr/>
          <p:nvPr/>
        </p:nvSpPr>
        <p:spPr>
          <a:xfrm>
            <a:off x="3483864" y="1536192"/>
            <a:ext cx="1188720" cy="274320"/>
          </a:xfrm>
          <a:prstGeom prst="roundRect">
            <a:avLst>
              <a:gd name="adj" fmla="val 50000"/>
            </a:avLst>
          </a:prstGeom>
          <a:solidFill>
            <a:srgbClr val="F0A54A"/>
          </a:solidFill>
          <a:ln w="9525">
            <a:solidFill>
              <a:srgbClr val="F0A54A"/>
            </a:solidFill>
            <a:prstDash val="solid"/>
          </a:ln>
        </p:spPr>
      </p:sp>
      <p:sp>
        <p:nvSpPr>
          <p:cNvPr id="23" name="Text 20"/>
          <p:cNvSpPr txBox="1"/>
          <p:nvPr/>
        </p:nvSpPr>
        <p:spPr>
          <a:xfrm>
            <a:off x="3483864"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CHANGE</a:t>
            </a:r>
            <a:endParaRPr lang="en-US" sz="950" dirty="0"/>
          </a:p>
        </p:txBody>
      </p:sp>
      <p:sp>
        <p:nvSpPr>
          <p:cNvPr id="24" name="Shape 21"/>
          <p:cNvSpPr/>
          <p:nvPr/>
        </p:nvSpPr>
        <p:spPr>
          <a:xfrm>
            <a:off x="3502152" y="2112264"/>
            <a:ext cx="100584" cy="100584"/>
          </a:xfrm>
          <a:prstGeom prst="ellipse">
            <a:avLst/>
          </a:prstGeom>
          <a:solidFill>
            <a:srgbClr val="F0A54A"/>
          </a:solidFill>
          <a:ln w="12700">
            <a:solidFill>
              <a:srgbClr val="F0A54A"/>
            </a:solidFill>
            <a:prstDash val="solid"/>
          </a:ln>
        </p:spPr>
      </p:sp>
      <p:sp>
        <p:nvSpPr>
          <p:cNvPr id="25" name="Text 22"/>
          <p:cNvSpPr txBox="1"/>
          <p:nvPr/>
        </p:nvSpPr>
        <p:spPr>
          <a:xfrm>
            <a:off x="3703320"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Archetypes rewritten on sensors that exist</a:t>
            </a:r>
            <a:endParaRPr lang="en-US" sz="1150" dirty="0"/>
          </a:p>
        </p:txBody>
      </p:sp>
      <p:sp>
        <p:nvSpPr>
          <p:cNvPr id="26" name="Shape 23"/>
          <p:cNvSpPr/>
          <p:nvPr/>
        </p:nvSpPr>
        <p:spPr>
          <a:xfrm>
            <a:off x="3502152" y="2898648"/>
            <a:ext cx="100584" cy="100584"/>
          </a:xfrm>
          <a:prstGeom prst="ellipse">
            <a:avLst/>
          </a:prstGeom>
          <a:solidFill>
            <a:srgbClr val="F0A54A"/>
          </a:solidFill>
          <a:ln w="12700">
            <a:solidFill>
              <a:srgbClr val="F0A54A"/>
            </a:solidFill>
            <a:prstDash val="solid"/>
          </a:ln>
        </p:spPr>
      </p:sp>
      <p:sp>
        <p:nvSpPr>
          <p:cNvPr id="27" name="Text 24"/>
          <p:cNvSpPr txBox="1"/>
          <p:nvPr/>
        </p:nvSpPr>
        <p:spPr>
          <a:xfrm>
            <a:off x="3703320"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The five prices come from zones, not a fixed ladder</a:t>
            </a:r>
            <a:endParaRPr lang="en-US" sz="1150" dirty="0"/>
          </a:p>
        </p:txBody>
      </p:sp>
      <p:sp>
        <p:nvSpPr>
          <p:cNvPr id="28" name="Shape 25"/>
          <p:cNvSpPr/>
          <p:nvPr/>
        </p:nvSpPr>
        <p:spPr>
          <a:xfrm>
            <a:off x="3502152" y="3685032"/>
            <a:ext cx="100584" cy="100584"/>
          </a:xfrm>
          <a:prstGeom prst="ellipse">
            <a:avLst/>
          </a:prstGeom>
          <a:solidFill>
            <a:srgbClr val="F0A54A"/>
          </a:solidFill>
          <a:ln w="12700">
            <a:solidFill>
              <a:srgbClr val="F0A54A"/>
            </a:solidFill>
            <a:prstDash val="solid"/>
          </a:ln>
        </p:spPr>
      </p:sp>
      <p:sp>
        <p:nvSpPr>
          <p:cNvPr id="29" name="Text 26"/>
          <p:cNvSpPr txBox="1"/>
          <p:nvPr/>
        </p:nvSpPr>
        <p:spPr>
          <a:xfrm>
            <a:off x="3703320"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Custom entry bounded by the 1-day range</a:t>
            </a:r>
            <a:endParaRPr lang="en-US" sz="1150" dirty="0"/>
          </a:p>
        </p:txBody>
      </p:sp>
      <p:sp>
        <p:nvSpPr>
          <p:cNvPr id="30" name="Shape 27"/>
          <p:cNvSpPr/>
          <p:nvPr/>
        </p:nvSpPr>
        <p:spPr>
          <a:xfrm>
            <a:off x="3502152" y="4471416"/>
            <a:ext cx="100584" cy="100584"/>
          </a:xfrm>
          <a:prstGeom prst="ellipse">
            <a:avLst/>
          </a:prstGeom>
          <a:solidFill>
            <a:srgbClr val="F0A54A"/>
          </a:solidFill>
          <a:ln w="12700">
            <a:solidFill>
              <a:srgbClr val="F0A54A"/>
            </a:solidFill>
            <a:prstDash val="solid"/>
          </a:ln>
        </p:spPr>
      </p:sp>
      <p:sp>
        <p:nvSpPr>
          <p:cNvPr id="31" name="Text 28"/>
          <p:cNvSpPr txBox="1"/>
          <p:nvPr/>
        </p:nvSpPr>
        <p:spPr>
          <a:xfrm>
            <a:off x="3703320"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Confidence shown as reasons, not grades</a:t>
            </a:r>
            <a:endParaRPr lang="en-US" sz="1150" dirty="0"/>
          </a:p>
        </p:txBody>
      </p:sp>
      <p:sp>
        <p:nvSpPr>
          <p:cNvPr id="32" name="Shape 29"/>
          <p:cNvSpPr/>
          <p:nvPr/>
        </p:nvSpPr>
        <p:spPr>
          <a:xfrm>
            <a:off x="6181344" y="1371600"/>
            <a:ext cx="2697480" cy="4892040"/>
          </a:xfrm>
          <a:prstGeom prst="roundRect">
            <a:avLst>
              <a:gd name="adj" fmla="val 2373"/>
            </a:avLst>
          </a:prstGeom>
          <a:solidFill>
            <a:srgbClr val="1D242E"/>
          </a:solidFill>
          <a:ln w="9525">
            <a:solidFill>
              <a:srgbClr val="323C49"/>
            </a:solidFill>
            <a:prstDash val="solid"/>
          </a:ln>
        </p:spPr>
      </p:sp>
      <p:sp>
        <p:nvSpPr>
          <p:cNvPr id="33" name="Shape 30"/>
          <p:cNvSpPr/>
          <p:nvPr/>
        </p:nvSpPr>
        <p:spPr>
          <a:xfrm>
            <a:off x="6345936" y="1536192"/>
            <a:ext cx="1188720" cy="274320"/>
          </a:xfrm>
          <a:prstGeom prst="roundRect">
            <a:avLst>
              <a:gd name="adj" fmla="val 50000"/>
            </a:avLst>
          </a:prstGeom>
          <a:solidFill>
            <a:srgbClr val="E2B54E"/>
          </a:solidFill>
          <a:ln w="9525">
            <a:solidFill>
              <a:srgbClr val="E2B54E"/>
            </a:solidFill>
            <a:prstDash val="solid"/>
          </a:ln>
        </p:spPr>
      </p:sp>
      <p:sp>
        <p:nvSpPr>
          <p:cNvPr id="34" name="Text 31"/>
          <p:cNvSpPr txBox="1"/>
          <p:nvPr/>
        </p:nvSpPr>
        <p:spPr>
          <a:xfrm>
            <a:off x="6345936"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ADD</a:t>
            </a:r>
            <a:endParaRPr lang="en-US" sz="950" dirty="0"/>
          </a:p>
        </p:txBody>
      </p:sp>
      <p:sp>
        <p:nvSpPr>
          <p:cNvPr id="35" name="Shape 32"/>
          <p:cNvSpPr/>
          <p:nvPr/>
        </p:nvSpPr>
        <p:spPr>
          <a:xfrm>
            <a:off x="6364224" y="2112264"/>
            <a:ext cx="100584" cy="100584"/>
          </a:xfrm>
          <a:prstGeom prst="ellipse">
            <a:avLst/>
          </a:prstGeom>
          <a:solidFill>
            <a:srgbClr val="E2B54E"/>
          </a:solidFill>
          <a:ln w="12700">
            <a:solidFill>
              <a:srgbClr val="E2B54E"/>
            </a:solidFill>
            <a:prstDash val="solid"/>
          </a:ln>
        </p:spPr>
      </p:sp>
      <p:sp>
        <p:nvSpPr>
          <p:cNvPr id="36" name="Text 33"/>
          <p:cNvSpPr txBox="1"/>
          <p:nvPr/>
        </p:nvSpPr>
        <p:spPr>
          <a:xfrm>
            <a:off x="6565392"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Rules table: ordered, versioned, yours</a:t>
            </a:r>
            <a:endParaRPr lang="en-US" sz="1150" dirty="0"/>
          </a:p>
        </p:txBody>
      </p:sp>
      <p:sp>
        <p:nvSpPr>
          <p:cNvPr id="37" name="Shape 34"/>
          <p:cNvSpPr/>
          <p:nvPr/>
        </p:nvSpPr>
        <p:spPr>
          <a:xfrm>
            <a:off x="6364224" y="2898648"/>
            <a:ext cx="100584" cy="100584"/>
          </a:xfrm>
          <a:prstGeom prst="ellipse">
            <a:avLst/>
          </a:prstGeom>
          <a:solidFill>
            <a:srgbClr val="E2B54E"/>
          </a:solidFill>
          <a:ln w="12700">
            <a:solidFill>
              <a:srgbClr val="E2B54E"/>
            </a:solidFill>
            <a:prstDash val="solid"/>
          </a:ln>
        </p:spPr>
      </p:sp>
      <p:sp>
        <p:nvSpPr>
          <p:cNvPr id="38" name="Text 35"/>
          <p:cNvSpPr txBox="1"/>
          <p:nvPr/>
        </p:nvSpPr>
        <p:spPr>
          <a:xfrm>
            <a:off x="6565392"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Synthesis reading per trader type, every cycle</a:t>
            </a:r>
            <a:endParaRPr lang="en-US" sz="1150" dirty="0"/>
          </a:p>
        </p:txBody>
      </p:sp>
      <p:sp>
        <p:nvSpPr>
          <p:cNvPr id="39" name="Shape 36"/>
          <p:cNvSpPr/>
          <p:nvPr/>
        </p:nvSpPr>
        <p:spPr>
          <a:xfrm>
            <a:off x="6364224" y="3685032"/>
            <a:ext cx="100584" cy="100584"/>
          </a:xfrm>
          <a:prstGeom prst="ellipse">
            <a:avLst/>
          </a:prstGeom>
          <a:solidFill>
            <a:srgbClr val="E2B54E"/>
          </a:solidFill>
          <a:ln w="12700">
            <a:solidFill>
              <a:srgbClr val="E2B54E"/>
            </a:solidFill>
            <a:prstDash val="solid"/>
          </a:ln>
        </p:spPr>
      </p:sp>
      <p:sp>
        <p:nvSpPr>
          <p:cNvPr id="40" name="Text 37"/>
          <p:cNvSpPr txBox="1"/>
          <p:nvPr/>
        </p:nvSpPr>
        <p:spPr>
          <a:xfrm>
            <a:off x="6565392"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Entry-zone builder and entry_zones table</a:t>
            </a:r>
            <a:endParaRPr lang="en-US" sz="1150" dirty="0"/>
          </a:p>
        </p:txBody>
      </p:sp>
      <p:sp>
        <p:nvSpPr>
          <p:cNvPr id="41" name="Shape 38"/>
          <p:cNvSpPr/>
          <p:nvPr/>
        </p:nvSpPr>
        <p:spPr>
          <a:xfrm>
            <a:off x="6364224" y="4471416"/>
            <a:ext cx="100584" cy="100584"/>
          </a:xfrm>
          <a:prstGeom prst="ellipse">
            <a:avLst/>
          </a:prstGeom>
          <a:solidFill>
            <a:srgbClr val="E2B54E"/>
          </a:solidFill>
          <a:ln w="12700">
            <a:solidFill>
              <a:srgbClr val="E2B54E"/>
            </a:solidFill>
            <a:prstDash val="solid"/>
          </a:ln>
        </p:spPr>
      </p:sp>
      <p:sp>
        <p:nvSpPr>
          <p:cNvPr id="42" name="Text 39"/>
          <p:cNvSpPr txBox="1"/>
          <p:nvPr/>
        </p:nvSpPr>
        <p:spPr>
          <a:xfrm>
            <a:off x="6565392"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Invalidation and runway per zone</a:t>
            </a:r>
            <a:endParaRPr lang="en-US" sz="1150" dirty="0"/>
          </a:p>
        </p:txBody>
      </p:sp>
      <p:sp>
        <p:nvSpPr>
          <p:cNvPr id="43" name="Shape 40"/>
          <p:cNvSpPr/>
          <p:nvPr/>
        </p:nvSpPr>
        <p:spPr>
          <a:xfrm>
            <a:off x="6364224" y="5257800"/>
            <a:ext cx="100584" cy="100584"/>
          </a:xfrm>
          <a:prstGeom prst="ellipse">
            <a:avLst/>
          </a:prstGeom>
          <a:solidFill>
            <a:srgbClr val="E2B54E"/>
          </a:solidFill>
          <a:ln w="12700">
            <a:solidFill>
              <a:srgbClr val="E2B54E"/>
            </a:solidFill>
            <a:prstDash val="solid"/>
          </a:ln>
        </p:spPr>
      </p:sp>
      <p:sp>
        <p:nvSpPr>
          <p:cNvPr id="44" name="Text 41"/>
          <p:cNvSpPr txBox="1"/>
          <p:nvPr/>
        </p:nvSpPr>
        <p:spPr>
          <a:xfrm>
            <a:off x="6565392" y="5157216"/>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Support &amp; resistance levels as context</a:t>
            </a:r>
            <a:endParaRPr lang="en-US" sz="1150" dirty="0"/>
          </a:p>
        </p:txBody>
      </p:sp>
      <p:sp>
        <p:nvSpPr>
          <p:cNvPr id="45" name="Shape 42"/>
          <p:cNvSpPr/>
          <p:nvPr/>
        </p:nvSpPr>
        <p:spPr>
          <a:xfrm>
            <a:off x="9043416" y="1371600"/>
            <a:ext cx="2697480" cy="4892040"/>
          </a:xfrm>
          <a:prstGeom prst="roundRect">
            <a:avLst>
              <a:gd name="adj" fmla="val 2373"/>
            </a:avLst>
          </a:prstGeom>
          <a:solidFill>
            <a:srgbClr val="1D242E"/>
          </a:solidFill>
          <a:ln w="9525">
            <a:solidFill>
              <a:srgbClr val="323C49"/>
            </a:solidFill>
            <a:prstDash val="solid"/>
          </a:ln>
        </p:spPr>
      </p:sp>
      <p:sp>
        <p:nvSpPr>
          <p:cNvPr id="46" name="Shape 43"/>
          <p:cNvSpPr/>
          <p:nvPr/>
        </p:nvSpPr>
        <p:spPr>
          <a:xfrm>
            <a:off x="9208008" y="1536192"/>
            <a:ext cx="1188720" cy="274320"/>
          </a:xfrm>
          <a:prstGeom prst="roundRect">
            <a:avLst>
              <a:gd name="adj" fmla="val 50000"/>
            </a:avLst>
          </a:prstGeom>
          <a:solidFill>
            <a:srgbClr val="E5746A"/>
          </a:solidFill>
          <a:ln w="9525">
            <a:solidFill>
              <a:srgbClr val="E5746A"/>
            </a:solidFill>
            <a:prstDash val="solid"/>
          </a:ln>
        </p:spPr>
      </p:sp>
      <p:sp>
        <p:nvSpPr>
          <p:cNvPr id="47" name="Text 44"/>
          <p:cNvSpPr txBox="1"/>
          <p:nvPr/>
        </p:nvSpPr>
        <p:spPr>
          <a:xfrm>
            <a:off x="9208008"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REMOVE</a:t>
            </a:r>
            <a:endParaRPr lang="en-US" sz="950" dirty="0"/>
          </a:p>
        </p:txBody>
      </p:sp>
      <p:sp>
        <p:nvSpPr>
          <p:cNvPr id="48" name="Shape 45"/>
          <p:cNvSpPr/>
          <p:nvPr/>
        </p:nvSpPr>
        <p:spPr>
          <a:xfrm>
            <a:off x="9226296" y="2112264"/>
            <a:ext cx="100584" cy="100584"/>
          </a:xfrm>
          <a:prstGeom prst="ellipse">
            <a:avLst/>
          </a:prstGeom>
          <a:solidFill>
            <a:srgbClr val="E5746A"/>
          </a:solidFill>
          <a:ln w="12700">
            <a:solidFill>
              <a:srgbClr val="E5746A"/>
            </a:solidFill>
            <a:prstDash val="solid"/>
          </a:ln>
        </p:spPr>
      </p:sp>
      <p:sp>
        <p:nvSpPr>
          <p:cNvPr id="49" name="Text 46"/>
          <p:cNvSpPr txBox="1"/>
          <p:nvPr/>
        </p:nvSpPr>
        <p:spPr>
          <a:xfrm>
            <a:off x="9427464"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WACS confidence tiers (S / A / B)</a:t>
            </a:r>
            <a:endParaRPr lang="en-US" sz="1150" dirty="0"/>
          </a:p>
        </p:txBody>
      </p:sp>
      <p:sp>
        <p:nvSpPr>
          <p:cNvPr id="50" name="Shape 47"/>
          <p:cNvSpPr/>
          <p:nvPr/>
        </p:nvSpPr>
        <p:spPr>
          <a:xfrm>
            <a:off x="9226296" y="2898648"/>
            <a:ext cx="100584" cy="100584"/>
          </a:xfrm>
          <a:prstGeom prst="ellipse">
            <a:avLst/>
          </a:prstGeom>
          <a:solidFill>
            <a:srgbClr val="E5746A"/>
          </a:solidFill>
          <a:ln w="12700">
            <a:solidFill>
              <a:srgbClr val="E5746A"/>
            </a:solidFill>
            <a:prstDash val="solid"/>
          </a:ln>
        </p:spPr>
      </p:sp>
      <p:sp>
        <p:nvSpPr>
          <p:cNvPr id="51" name="Text 48"/>
          <p:cNvSpPr txBox="1"/>
          <p:nvPr/>
        </p:nvSpPr>
        <p:spPr>
          <a:xfrm>
            <a:off x="9427464"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Direction chosen by the LLM</a:t>
            </a:r>
            <a:endParaRPr lang="en-US" sz="1150" dirty="0"/>
          </a:p>
        </p:txBody>
      </p:sp>
      <p:sp>
        <p:nvSpPr>
          <p:cNvPr id="52" name="Shape 49"/>
          <p:cNvSpPr/>
          <p:nvPr/>
        </p:nvSpPr>
        <p:spPr>
          <a:xfrm>
            <a:off x="9226296" y="3685032"/>
            <a:ext cx="100584" cy="100584"/>
          </a:xfrm>
          <a:prstGeom prst="ellipse">
            <a:avLst/>
          </a:prstGeom>
          <a:solidFill>
            <a:srgbClr val="E5746A"/>
          </a:solidFill>
          <a:ln w="12700">
            <a:solidFill>
              <a:srgbClr val="E5746A"/>
            </a:solidFill>
            <a:prstDash val="solid"/>
          </a:ln>
        </p:spPr>
      </p:sp>
      <p:sp>
        <p:nvSpPr>
          <p:cNvPr id="53" name="Text 50"/>
          <p:cNvSpPr txBox="1"/>
          <p:nvPr/>
        </p:nvSpPr>
        <p:spPr>
          <a:xfrm>
            <a:off x="9427464"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Fixed $2.50 price ladder</a:t>
            </a:r>
            <a:endParaRPr lang="en-US" sz="1150" dirty="0"/>
          </a:p>
        </p:txBody>
      </p:sp>
      <p:sp>
        <p:nvSpPr>
          <p:cNvPr id="54" name="Shape 51"/>
          <p:cNvSpPr/>
          <p:nvPr/>
        </p:nvSpPr>
        <p:spPr>
          <a:xfrm>
            <a:off x="9226296" y="4471416"/>
            <a:ext cx="100584" cy="100584"/>
          </a:xfrm>
          <a:prstGeom prst="ellipse">
            <a:avLst/>
          </a:prstGeom>
          <a:solidFill>
            <a:srgbClr val="E5746A"/>
          </a:solidFill>
          <a:ln w="12700">
            <a:solidFill>
              <a:srgbClr val="E5746A"/>
            </a:solidFill>
            <a:prstDash val="solid"/>
          </a:ln>
        </p:spPr>
      </p:sp>
      <p:sp>
        <p:nvSpPr>
          <p:cNvPr id="55" name="Text 52"/>
          <p:cNvSpPr txBox="1"/>
          <p:nvPr/>
        </p:nvSpPr>
        <p:spPr>
          <a:xfrm>
            <a:off x="9427464"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Seed archetype conditions on sensors that don’t exist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HANDOFFS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Section 3 hands on, and what it replaces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1143000"/>
                <a:gridCol w="2743200"/>
                <a:gridCol w="4800600"/>
                <a:gridCol w="2587752"/>
              </a:tblGrid>
              <a:tr h="34747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To</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What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Form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Replaces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Synthesis line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Top line of the sensor board: archetype, bias, relation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Synthesis reading for the trader’s profile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SYN envelope: bias, archetype, reasons, stand-aside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The LLM choosing direction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Zones for Report 1</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entry_zones rows: range, reference price, invalidation, runway, rank</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A missing spec</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Modal price pills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Zone reference prices, best first; none when standing aside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A fixed $2.50 ladder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Stop and target inputs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Invalidation price and next opposing level per zone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Fixed dollar stop pills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Trend relation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WITH_TREND or COUNTER_TREND, for style filter and 2.50× cap</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Section 7</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Provenance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Rules version, rule id, input readings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DECISIONS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Section 3 decisions, settled 29 September</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48640"/>
                <a:gridCol w="2240280"/>
                <a:gridCol w="5257800"/>
                <a:gridCol w="2130552"/>
                <a:gridCol w="109728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Decided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Not chosen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Who decides direction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The rules table; the LLM explains and can’t override stand-aside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The LLM, guided by playbooks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Rules format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Ordered, versioned file; first match wins; no match = NEUTRAL, logged; draft as a start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Weighted scoring</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Where synthesis runs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In the sensor worker, right after Section 2, same cycle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Per request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Trader types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Two readings per cycle: Day Trader (M15 + M5) and Scalper (M5)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One reading for everyone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Precedence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File A’s ladder; derived sensors modify, don’t vote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All sensors vote equally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Levels beyond the MCDs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sr_1–sr_16 as context levels until an S&amp;R sensor exists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MCD channel levels only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Zone geometry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Half-width 10% of the source channel width; overlaps merge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ATR-based width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Invalidation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$0.50 beyond the next structural level, never under $13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Fixed dollar stops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The modal’s five prices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reference price per zone, best first; fewer if fewer qualify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 5-step ladder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Custom entry bound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1-day range widened by half its height; ±5% stays as typo filter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±5% only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3.11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Grades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No confidence grades until state statistics exist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Keep S / A / B</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5CC2B2"/>
          </a:solidFill>
          <a:ln w="15875">
            <a:solidFill>
              <a:srgbClr val="5CC2B2"/>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3</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3 · SYNTHESIS &amp; ENTRY ZONES · DONE WHEN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Section 3 is finished when these checks pass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15</a:t>
            </a:r>
            <a:endParaRPr lang="en-US" sz="1000" dirty="0"/>
          </a:p>
        </p:txBody>
      </p:sp>
      <p:pic>
        <p:nvPicPr>
          <p:cNvPr id="8" name="Image 0" descr="preencoded.png">    </p:cNvPr>
          <p:cNvPicPr>
            <a:picLocks noChangeAspect="1"/>
          </p:cNvPicPr>
          <p:nvPr/>
        </p:nvPicPr>
        <p:blipFill>
          <a:blip r:embed="rId1"/>
          <a:stretch>
            <a:fillRect/>
          </a:stretch>
        </p:blipFill>
        <p:spPr>
          <a:xfrm>
            <a:off x="457200" y="1463040"/>
            <a:ext cx="384048" cy="384048"/>
          </a:xfrm>
          <a:prstGeom prst="rect">
            <a:avLst/>
          </a:prstGeom>
        </p:spPr>
      </p:pic>
      <p:sp>
        <p:nvSpPr>
          <p:cNvPr id="9" name="Text 5"/>
          <p:cNvSpPr txBox="1"/>
          <p:nvPr/>
        </p:nvSpPr>
        <p:spPr>
          <a:xfrm>
            <a:off x="1005840" y="1417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Two readings every cycle</a:t>
            </a:r>
            <a:endParaRPr lang="en-US" sz="1350" dirty="0"/>
          </a:p>
        </p:txBody>
      </p:sp>
      <p:sp>
        <p:nvSpPr>
          <p:cNvPr id="10" name="Text 6"/>
          <p:cNvSpPr txBox="1"/>
          <p:nvPr/>
        </p:nvSpPr>
        <p:spPr>
          <a:xfrm>
            <a:off x="1005840" y="1801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Day Trader and a Scalper SYN reading per cycle, saved with rule id and version.</a:t>
            </a:r>
            <a:endParaRPr lang="en-US" sz="1150" dirty="0"/>
          </a:p>
        </p:txBody>
      </p:sp>
      <p:pic>
        <p:nvPicPr>
          <p:cNvPr id="11" name="Image 1" descr="preencoded.png">    </p:cNvPr>
          <p:cNvPicPr>
            <a:picLocks noChangeAspect="1"/>
          </p:cNvPicPr>
          <p:nvPr/>
        </p:nvPicPr>
        <p:blipFill>
          <a:blip r:embed="rId2"/>
          <a:stretch>
            <a:fillRect/>
          </a:stretch>
        </p:blipFill>
        <p:spPr>
          <a:xfrm>
            <a:off x="6126480" y="1463040"/>
            <a:ext cx="384048" cy="384048"/>
          </a:xfrm>
          <a:prstGeom prst="rect">
            <a:avLst/>
          </a:prstGeom>
        </p:spPr>
      </p:pic>
      <p:sp>
        <p:nvSpPr>
          <p:cNvPr id="12" name="Text 7"/>
          <p:cNvSpPr txBox="1"/>
          <p:nvPr/>
        </p:nvSpPr>
        <p:spPr>
          <a:xfrm>
            <a:off x="6675120" y="1417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Same inputs, same answer</a:t>
            </a:r>
            <a:endParaRPr lang="en-US" sz="1350" dirty="0"/>
          </a:p>
        </p:txBody>
      </p:sp>
      <p:sp>
        <p:nvSpPr>
          <p:cNvPr id="13" name="Text 8"/>
          <p:cNvSpPr txBox="1"/>
          <p:nvPr/>
        </p:nvSpPr>
        <p:spPr>
          <a:xfrm>
            <a:off x="6675120" y="1801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Replaying a stored cycle gives the same bias, archetype and zones.</a:t>
            </a:r>
            <a:endParaRPr lang="en-US" sz="1150" dirty="0"/>
          </a:p>
        </p:txBody>
      </p:sp>
      <p:pic>
        <p:nvPicPr>
          <p:cNvPr id="14" name="Image 2" descr="preencoded.png">    </p:cNvPr>
          <p:cNvPicPr>
            <a:picLocks noChangeAspect="1"/>
          </p:cNvPicPr>
          <p:nvPr/>
        </p:nvPicPr>
        <p:blipFill>
          <a:blip r:embed="rId3"/>
          <a:stretch>
            <a:fillRect/>
          </a:stretch>
        </p:blipFill>
        <p:spPr>
          <a:xfrm>
            <a:off x="457200" y="2606040"/>
            <a:ext cx="384048" cy="384048"/>
          </a:xfrm>
          <a:prstGeom prst="rect">
            <a:avLst/>
          </a:prstGeom>
        </p:spPr>
      </p:pic>
      <p:sp>
        <p:nvSpPr>
          <p:cNvPr id="15" name="Text 9"/>
          <p:cNvSpPr txBox="1"/>
          <p:nvPr/>
        </p:nvSpPr>
        <p:spPr>
          <a:xfrm>
            <a:off x="1005840" y="2560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Every result traces to a rule</a:t>
            </a:r>
            <a:endParaRPr lang="en-US" sz="1350" dirty="0"/>
          </a:p>
        </p:txBody>
      </p:sp>
      <p:sp>
        <p:nvSpPr>
          <p:cNvPr id="16" name="Text 10"/>
          <p:cNvSpPr txBox="1"/>
          <p:nvPr/>
        </p:nvSpPr>
        <p:spPr>
          <a:xfrm>
            <a:off x="1005840" y="2944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Each reading names its rule; unmatched cycles are logged as NEUTRAL.</a:t>
            </a:r>
            <a:endParaRPr lang="en-US" sz="1150" dirty="0"/>
          </a:p>
        </p:txBody>
      </p:sp>
      <p:pic>
        <p:nvPicPr>
          <p:cNvPr id="17" name="Image 3" descr="preencoded.png">    </p:cNvPr>
          <p:cNvPicPr>
            <a:picLocks noChangeAspect="1"/>
          </p:cNvPicPr>
          <p:nvPr/>
        </p:nvPicPr>
        <p:blipFill>
          <a:blip r:embed="rId4"/>
          <a:stretch>
            <a:fillRect/>
          </a:stretch>
        </p:blipFill>
        <p:spPr>
          <a:xfrm>
            <a:off x="6126480" y="2606040"/>
            <a:ext cx="384048" cy="384048"/>
          </a:xfrm>
          <a:prstGeom prst="rect">
            <a:avLst/>
          </a:prstGeom>
        </p:spPr>
      </p:pic>
      <p:sp>
        <p:nvSpPr>
          <p:cNvPr id="18" name="Text 11"/>
          <p:cNvSpPr txBox="1"/>
          <p:nvPr/>
        </p:nvSpPr>
        <p:spPr>
          <a:xfrm>
            <a:off x="6675120" y="2560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Stand-aside holds</a:t>
            </a:r>
            <a:endParaRPr lang="en-US" sz="1350" dirty="0"/>
          </a:p>
        </p:txBody>
      </p:sp>
      <p:sp>
        <p:nvSpPr>
          <p:cNvPr id="19" name="Text 12"/>
          <p:cNvSpPr txBox="1"/>
          <p:nvPr/>
        </p:nvSpPr>
        <p:spPr>
          <a:xfrm>
            <a:off x="6675120" y="2944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When the rules say stand aside, no zones are built and Report 1 cannot give a direction.</a:t>
            </a:r>
            <a:endParaRPr lang="en-US" sz="1150" dirty="0"/>
          </a:p>
        </p:txBody>
      </p:sp>
      <p:pic>
        <p:nvPicPr>
          <p:cNvPr id="20" name="Image 4" descr="preencoded.png">    </p:cNvPr>
          <p:cNvPicPr>
            <a:picLocks noChangeAspect="1"/>
          </p:cNvPicPr>
          <p:nvPr/>
        </p:nvPicPr>
        <p:blipFill>
          <a:blip r:embed="rId5"/>
          <a:stretch>
            <a:fillRect/>
          </a:stretch>
        </p:blipFill>
        <p:spPr>
          <a:xfrm>
            <a:off x="457200" y="3749040"/>
            <a:ext cx="384048" cy="384048"/>
          </a:xfrm>
          <a:prstGeom prst="rect">
            <a:avLst/>
          </a:prstGeom>
        </p:spPr>
      </p:pic>
      <p:sp>
        <p:nvSpPr>
          <p:cNvPr id="21" name="Text 13"/>
          <p:cNvSpPr txBox="1"/>
          <p:nvPr/>
        </p:nvSpPr>
        <p:spPr>
          <a:xfrm>
            <a:off x="1005840" y="3703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Zones carry their stops</a:t>
            </a:r>
            <a:endParaRPr lang="en-US" sz="1350" dirty="0"/>
          </a:p>
        </p:txBody>
      </p:sp>
      <p:sp>
        <p:nvSpPr>
          <p:cNvPr id="22" name="Text 14"/>
          <p:cNvSpPr txBox="1"/>
          <p:nvPr/>
        </p:nvSpPr>
        <p:spPr>
          <a:xfrm>
            <a:off x="1005840" y="4087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Every zone has a reference price, invalidation ≥ $13 away and a runway ratio.</a:t>
            </a:r>
            <a:endParaRPr lang="en-US" sz="1150" dirty="0"/>
          </a:p>
        </p:txBody>
      </p:sp>
      <p:pic>
        <p:nvPicPr>
          <p:cNvPr id="23" name="Image 5" descr="preencoded.png">    </p:cNvPr>
          <p:cNvPicPr>
            <a:picLocks noChangeAspect="1"/>
          </p:cNvPicPr>
          <p:nvPr/>
        </p:nvPicPr>
        <p:blipFill>
          <a:blip r:embed="rId6"/>
          <a:stretch>
            <a:fillRect/>
          </a:stretch>
        </p:blipFill>
        <p:spPr>
          <a:xfrm>
            <a:off x="6126480" y="3749040"/>
            <a:ext cx="384048" cy="384048"/>
          </a:xfrm>
          <a:prstGeom prst="rect">
            <a:avLst/>
          </a:prstGeom>
        </p:spPr>
      </p:pic>
      <p:sp>
        <p:nvSpPr>
          <p:cNvPr id="24" name="Text 15"/>
          <p:cNvSpPr txBox="1"/>
          <p:nvPr/>
        </p:nvSpPr>
        <p:spPr>
          <a:xfrm>
            <a:off x="6675120" y="3703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No target past resistance</a:t>
            </a:r>
            <a:endParaRPr lang="en-US" sz="1350" dirty="0"/>
          </a:p>
        </p:txBody>
      </p:sp>
      <p:sp>
        <p:nvSpPr>
          <p:cNvPr id="25" name="Text 16"/>
          <p:cNvSpPr txBox="1"/>
          <p:nvPr/>
        </p:nvSpPr>
        <p:spPr>
          <a:xfrm>
            <a:off x="6675120" y="4087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test cycle with a level just above entry blocks targets beyond it (Section 6).</a:t>
            </a:r>
            <a:endParaRPr lang="en-US" sz="1150" dirty="0"/>
          </a:p>
        </p:txBody>
      </p:sp>
      <p:pic>
        <p:nvPicPr>
          <p:cNvPr id="26" name="Image 6" descr="preencoded.png">    </p:cNvPr>
          <p:cNvPicPr>
            <a:picLocks noChangeAspect="1"/>
          </p:cNvPicPr>
          <p:nvPr/>
        </p:nvPicPr>
        <p:blipFill>
          <a:blip r:embed="rId7"/>
          <a:stretch>
            <a:fillRect/>
          </a:stretch>
        </p:blipFill>
        <p:spPr>
          <a:xfrm>
            <a:off x="457200" y="4892040"/>
            <a:ext cx="384048" cy="384048"/>
          </a:xfrm>
          <a:prstGeom prst="rect">
            <a:avLst/>
          </a:prstGeom>
        </p:spPr>
      </p:pic>
      <p:sp>
        <p:nvSpPr>
          <p:cNvPr id="27" name="Text 17"/>
          <p:cNvSpPr txBox="1"/>
          <p:nvPr/>
        </p:nvSpPr>
        <p:spPr>
          <a:xfrm>
            <a:off x="1005840" y="4846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Modal prices come from zones</a:t>
            </a:r>
            <a:endParaRPr lang="en-US" sz="1350" dirty="0"/>
          </a:p>
        </p:txBody>
      </p:sp>
      <p:sp>
        <p:nvSpPr>
          <p:cNvPr id="28" name="Text 18"/>
          <p:cNvSpPr txBox="1"/>
          <p:nvPr/>
        </p:nvSpPr>
        <p:spPr>
          <a:xfrm>
            <a:off x="1005840" y="5230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pills equal zone reference prices; no filler prices when fewer zones qualify.</a:t>
            </a:r>
            <a:endParaRPr lang="en-US" sz="1150" dirty="0"/>
          </a:p>
        </p:txBody>
      </p:sp>
      <p:pic>
        <p:nvPicPr>
          <p:cNvPr id="29" name="Image 7" descr="preencoded.png">    </p:cNvPr>
          <p:cNvPicPr>
            <a:picLocks noChangeAspect="1"/>
          </p:cNvPicPr>
          <p:nvPr/>
        </p:nvPicPr>
        <p:blipFill>
          <a:blip r:embed="rId8"/>
          <a:stretch>
            <a:fillRect/>
          </a:stretch>
        </p:blipFill>
        <p:spPr>
          <a:xfrm>
            <a:off x="6126480" y="4892040"/>
            <a:ext cx="384048" cy="384048"/>
          </a:xfrm>
          <a:prstGeom prst="rect">
            <a:avLst/>
          </a:prstGeom>
        </p:spPr>
      </p:pic>
      <p:sp>
        <p:nvSpPr>
          <p:cNvPr id="30" name="Text 19"/>
          <p:cNvSpPr txBox="1"/>
          <p:nvPr/>
        </p:nvSpPr>
        <p:spPr>
          <a:xfrm>
            <a:off x="6675120" y="4846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The example cycle reproduces</a:t>
            </a:r>
            <a:endParaRPr lang="en-US" sz="1350" dirty="0"/>
          </a:p>
        </p:txBody>
      </p:sp>
      <p:sp>
        <p:nvSpPr>
          <p:cNvPr id="31" name="Text 20"/>
          <p:cNvSpPr txBox="1"/>
          <p:nvPr/>
        </p:nvSpPr>
        <p:spPr>
          <a:xfrm>
            <a:off x="6675120" y="5230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18 Sep test cycle gives rule 1 for Day Traders and rule 3s for Scalpers under the draft rules.</a:t>
            </a:r>
            <a:endParaRPr lang="en-US" sz="1150" dirty="0"/>
          </a:p>
        </p:txBody>
      </p:sp>
      <p:sp>
        <p:nvSpPr>
          <p:cNvPr id="32" name="Text 21"/>
          <p:cNvSpPr txBox="1"/>
          <p:nvPr/>
        </p:nvSpPr>
        <p:spPr>
          <a:xfrm>
            <a:off x="457200" y="6035040"/>
            <a:ext cx="10972800" cy="320040"/>
          </a:xfrm>
          <a:prstGeom prst="rect">
            <a:avLst/>
          </a:prstGeom>
          <a:noFill/>
          <a:ln/>
        </p:spPr>
        <p:txBody>
          <a:bodyPr wrap="square" lIns="0" tIns="0" rIns="0" bIns="0" rtlCol="0" anchor="t"/>
          <a:lstStyle/>
          <a:p>
            <a:pPr indent="0" marL="0">
              <a:buNone/>
            </a:pPr>
            <a:r>
              <a:rPr lang="en-US" sz="1200" b="1" dirty="0">
                <a:solidFill>
                  <a:srgbClr val="E2B54E"/>
                </a:solidFill>
                <a:latin typeface="Calibri" pitchFamily="34" charset="0"/>
                <a:ea typeface="Calibri" pitchFamily="34" charset="-122"/>
                <a:cs typeface="Calibri" pitchFamily="34" charset="-120"/>
              </a:rPr>
              <a:t>Next deck: Section 4 · Intake, routing &amp; knowledge, delivered with this update.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 D Revised Architecture — Section 3: Synthesis &amp; entry zones</dc:title>
  <dc:subject>PptxGenJS Presentation</dc:subject>
  <dc:creator>DavinTrade</dc:creator>
  <cp:lastModifiedBy>DavinTrade</cp:lastModifiedBy>
  <cp:revision>1</cp:revision>
  <dcterms:created xsi:type="dcterms:W3CDTF">2026-09-29T16:28:03Z</dcterms:created>
  <dcterms:modified xsi:type="dcterms:W3CDTF">2026-09-29T16:28:03Z</dcterms:modified>
</cp:coreProperties>
</file>