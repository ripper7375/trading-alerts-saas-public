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Executive summary of the updated Stack D operational workflow. Replaces the earlier diagram (market_data_v6 95 columns, VANNA NL2SQL, WACS54, pgvector). Source priority: A (STACK-D-OKF-CONVERSATIONAL-AI-ARCHITECTURE-V2) is newest and wins on conflict; older documents fill in detail where A is silent.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messages. Sources: A (Engine 1.5C retirement, 1.5E router, txtai scoped RAG, token figures), B (103 columns, 15 indicators), MCD1-3 folders (13/13 unit tests each), E and G (Engine 4 gate, consent-gated Report 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Updated version of the previous Stack D workflow image (revision 3: fixed 54-bar rule dropped; Engine 1 feeds each MCD its own window and gives the LLM one day of M5 and M15 OHLC bars; Engine 2 index stored as local Faiss HNSW + SQLite files rebuilt on every deploy). Layer 1 runs continuously; layers 2-5 run for each chat request. Gold outlines mark components that are new or changed. Revision 2: JSONB54 / FREQ54 removed (replaced by each MCD’s regime output); Engine 3 is the live 2-panel M5/M15 PNG in private R2 (MTF dual-stacked + R2 manifests, 10-11 Sep); entry price zones added (single MCD or multi-MCD synthesis). Sources: A (7 pillars, Engine 1.5E, txtai), B (data pipeline and three tables), D (economic events input, instant prompts, scope guardrail), E (Engine 4 gate), G (Report 1 -&gt; entry zones -&gt; modal -&gt; risk math -&gt; Report 2 -&gt; consent).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Row sources: Market data = B (103 columns, point-in-time and indicator_statistics tables, drift test); Engine 1 = A (data access) as amended by your decision of 29 Sep (fixed 54-bar rule dropped; 1 day of OHLC: M5 288 bars + M15 96 bars x 4 columns = 1,536 values, versus 54 x 103 = 5,562); Engine 1.5A = A + hand-off report + MCD folders; Engine 1.5B = your instruction of 29 Sep (JSONB54 / FREQ54 replaced by MCD regime); Engine 1.5C = A section 1.2; Engine 2 = A sections 4.4-4.5 + txtai seed code; Engine 3 = MTF-DUAL-STACKED-LAYOUT and r2-chart-storage manifests (10-11 Sep); Engine 4 = E section 3 + G; Report 2 = G sections 1-7 + your instruction on entry zones.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B sections 1, 3.1 and 5 (pipeline, 103/84/87 tables, drift test of 2026-09-20 over 2,114 M15 bars); A section 4.1 and file tree (txtai index build, router_compiler.py -&gt; TRADING_ROUTER.md); r2-chart-storage manifest (MT5Renderer service on the VPS uploading xauusd/mtf_render_xauusd_m5_m15_{overlay,standard}.png to private bucket davintrade-renders roughly every 300 s; renders use a synthetic fixture until the .ex5 rebuild).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E sections 2-3 (8 constraints, defaults, confirmation loop, Redis cache, audit history), D section 6 (instant prompts, scope interception), A pillar 1 (PRO tier, Redis token quota). Engine 4 never performs a suitability assessment (E section 4.1). With the fixed 54-bar rule dropped (29 Sep), the “Lookback Window: Fixed 54-Bar Standard” line on E’s summary card comes out of the UI spec.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mcd1.md, mcd2.md, mcd3.md and their output JSON and unit tests (13/13 each); mcd-definition.md; HAND-OFF-REPORT-MCD1-TO-MCD-SERIES.md (5-deliverable standard, user-driven topics, early MCD01-10 list was a mock-up); A section 4.2.1. Note: A lists illustrative router rows for MCD2/MCD3 that differ from the certified modules; this deck uses the certified definitions.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C sections 3-5 (4-quadrant matrix, thresholds, example audit with M15 coverage 42 &lt; 60), A sections 4.2.2 and Domain 4 (cautionary defect flag, 50% size cut, risk scaled 1.5% -&gt; 0.75%/0.50%), A section 6.3 (cautionaryDefectWarning on the Trade Setup Card). Right side: JSONB54 and FREQ54 are removed per your instruction of 29 Sep and replaced by each MCD’s regime output. Excerpt abbreviated from mcd1_output.json; persistence rules from mcd1.md (&gt;= 80% breach over N_micro = max(96, 5% of T_EDT)), mcd2_output.json (window 48-288 bars, contained vs breached counts) and mcd3.md (&gt;= 75% nesting).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A sections 1.2-1.3 (fallacy of compensatory averaging, 12-bar channel example), 2.3 and 4.4 (TRADING_ROUTER.md under 5 KB, router compiler, alpha = 0.60, cosine threshold 0.72 or top-3, MCD1 invariant inclusion, M* as metadata pre-filter, 25,000+ -&gt; under 2,000 tokens, up to 90% fewer).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Your decision of 29 Sep: the fixed 54-bar, 103-column telemetry slice is replaced by one day of M5 and M15 OHLC bars (288 + 96 bars x 4 columns = 1,536 values); current price, channel and S&amp;R levels come from the routed MCD outputs. Sources: A sections 2.2, 4.5 (5 knowledge domains, SQL pre-filter, hybrid 70/30 ranking, 3-5 chunks of 1,500-2,500 tokens), pillar 6 (super-prompt contents, Claude Opus 5.5 / Gemini). Engine 3 per the latest manifests: MTF-DUAL-STACKED-LAYOUT-MANIFEST-WORK-COMPLETION.md (M5 upper, M15 lower, shared time axis, PRO overlay on the M15 panel) and r2-chart-storage-manifest-work-completion.md (private bucket davintrade-renders, MT5Renderer uploads ~every 300 s, variant chosen by tier + stored preference, FREE gets no chart, on-demand rendering rejected for the &lt;120 ms budget, Pillar 6 consumer is Session 12-2 and must reuse getM5OnM15Preference()). D pillar 8 (economic events: null forecast = not published, empty = omit section) and the Redis chat buffer.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seed-code/txtai docs (embeddings/index.md, indexing.md, query.md, configuration/general.md, database.md, ann.md, scoring.md; pipeline/llm/rag.md; pipeline/text/reranker.md; examples/rag_quickstart.py) and the trading design doc CONVERSATIONAL-AI-TRADING-STRATEGY-RAG-MODEL/.../Agentic_RAG_Implementation_Architecture.md (two knowledge systems; section-based chunking with 200 / 1,500-token merge-split bounds; metadata pre-filter, then semantic ranking, top 3-5, cross-reference expansion, ordered assembly; constructed retrieval queries). txtai facts used: content=True stores text + metadata in SQLite and enables SQL; hybrid=True adds a BM25 index beside the dense index; similar(query, candidates, index, weights); with multiple filter clauses the candidate count defaults to 10x the limit; upsert() avoids a full rebuild; subindexes via the indexes setting; ANN backends include faiss (default), hnsw and pgvector; keyword scoring can use pgtext on Postgres. Hybrid weights 70/30 from A. Storage decision (29 Sep): Option A, local Faiss HNSW + SQLite index files rebuilt from the Markdown on every deploy (file A section 4.5.3); Railway PostgreSQL via pgvector remains a later settings-only switch. The subindex layout is a suggestion, not a decision in the source documents.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MCD-SYNTHESIS-SCENARIOS-AND-LLM-TRADING-RECOMMENDATIONS-SEED-IDEA.md (archetypes A-D, pure modular isolation, grand synthesis phase), mcd1_output.json, mcd2_output.json, mcd3_output.json (live values), A section 4.5.2 Domain 3 (conflict-resolution hierarchy). The seed idea placed scenario classification and WACS confidence grades in Engine 1.5C; with 1.5C retired (A), the archetypes are shown as Domain 3 playbooks and no confluence percentage is quoted.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 your instruction (29 Sep): the entry price zone calculation is based on any single MCD or on multiple MCDs in synthesis. Doc G section 2.1 names the companion spec STACK-D-ENTRY-PRICE-ZONE-CALCULATION-DOCUMENT.md for the 5 pre-populated levels of modal input 2 (example levels $2,550.00 / $2,547.50 / $2,545.00 / $2,542.50 / $2,540.00); that file was not found in the Stack D folder, so the level-selection rules are shown as still to be written. G section 2 / 6.3 of D: custom entries must fall within +/-5% of the live price; Decline exits to chat. Anchor values come from mcd1_output.json, mcd2_output.json and mcd3_output.json (same dataset). The examples in the mode cards are illustrative.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Revision 2 adds the entry-price-zone step (previous slide). Sources: G sections 1-8 (trigger flow, 5-input modal, +/-5% plausibility gate, 6-step sizing maths, sub-0.01 lot underflow protocol, 3-tier profit taking and recommendation matrix, post-report consent gate, custom-parameter validation), E (constraint ceilings), A section 6.3 (TradeSetupCard schema). Worked example: inputs from G section 6 (equity implied $10,000, max leverage 5.0x) recomputed with G’s own formulas: risk lot 100/(1500+4)=0.0665 -&gt; 0.06; leverage 0.06x100x2545/10000=1.53x; effective RRR (RRR x 100 + 4 x 0.06)/100. G’s printed sample table (1.54x/1.80x/2.05x) does not reproduce from its formulas.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A section 8 (architectural invariants) and Domains 4-5; C section 2 (non-compensatory gate); E sections 1.2-1.4, 2.1 and 4 (scope, leverage ceiling, RRR cap, single-order scope, EU AI Act Art. 50, CFTC 4.41, FCA PERG 8.29 / PS19/18, JFSA FIEA Art. 29/37, audit history); D pillar 8 (news honesty rules).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B section 5 and note (27 migrations applied on Railway 2026-09-22; 103/84/87 tables; 15 indicators configured); MCD1-3 manifests (13/13 unit tests); r2-chart-storage manifest (bucket, MT5Renderer and PRO download path live and verified on 2026-09-11; renders use a synthetic fixture until the MQL5 .ex5 rebuild; Pillar 6 consumer is Session 12-2); D pillar 8 (economic-events retrieval built and in use); A section 7 (downstream roadmap: router, txtai corpus, Stack E UI); seed idea section 6 (user supplies master synthesis rules); G section 2.1 (entry-price-zone spec). JSONB54 / FREQ54 removed per your instruction of 29 Sep. Decided 29 Sep: Engine 2 index as local files rebuilt each deploy; fixed 54-bar rule dropped in favour of each MCD’s own window plus 1 day of OHLC.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Revisions 2-3 apply your instructions of 29 Sep (JSONB54/FREQ54 removed, entry zones from MCDs, Engine 3 per the latest manifests, fixed 54-bar rule dropped for 1-day OHLC, Engine 2 index as local files). Rule applied: files A-I are ordered newest to oldest; on conflict the newer file wins. Letters: A OKF V2, B market data 103 columns, C Engine 1.5A/B/C plan, D chart analysis V2, E Engine 4, F master modification plan, G trade setup report workflow, H chart analysis V1, I previous executive deck. MCD folders and the seed idea are treated as authoritative for what each MCD actually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344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DAVINTRADE  ·  STACK D  ·  EXECUTIVE 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00200"/>
            <a:ext cx="6949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D Operational Workflow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3375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trader’s question becomes a governed, mathematically grounded XAUUSD trade setup — the updated end-to-end pipeline.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16636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XAUUSD  ·  M5 / M15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from 9 Stack D architecture documents, the MCD1–MCD3 deliverables and the chart-render manifests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September 2026  ·  revision 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485632" y="1600200"/>
            <a:ext cx="0" cy="3657600"/>
          </a:xfrm>
          <a:prstGeom prst="line">
            <a:avLst/>
          </a:prstGeom>
          <a:noFill/>
          <a:ln w="19050">
            <a:solidFill>
              <a:srgbClr val="323C4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0" y="1325880"/>
            <a:ext cx="512064" cy="512064"/>
          </a:xfrm>
          <a:prstGeom prst="ellipse">
            <a:avLst/>
          </a:prstGeom>
          <a:solidFill>
            <a:srgbClr val="E2B54E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0" y="13258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961120" y="130759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961120" y="16002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continuous, every 5 minutes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0" y="2240280"/>
            <a:ext cx="512064" cy="512064"/>
          </a:xfrm>
          <a:prstGeom prst="ellipse">
            <a:avLst/>
          </a:prstGeom>
          <a:solidFill>
            <a:srgbClr val="E2B54E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0" y="2240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0" y="222199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gate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0" y="25146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profile locked first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0" y="3154680"/>
            <a:ext cx="512064" cy="512064"/>
          </a:xfrm>
          <a:prstGeom prst="ellipse">
            <a:avLst/>
          </a:prstGeom>
          <a:solidFill>
            <a:srgbClr val="E2B54E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0" y="31546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961120" y="313639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 state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0" y="34290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MCD sensors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29600" y="4069080"/>
            <a:ext cx="512064" cy="512064"/>
          </a:xfrm>
          <a:prstGeom prst="ellipse">
            <a:avLst/>
          </a:prstGeom>
          <a:solidFill>
            <a:srgbClr val="E2B54E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0" y="40690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961120" y="405079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&amp; synthesis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961120" y="43434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context that matters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29600" y="4983480"/>
            <a:ext cx="512064" cy="512064"/>
          </a:xfrm>
          <a:prstGeom prst="ellipse">
            <a:avLst/>
          </a:prstGeom>
          <a:solidFill>
            <a:srgbClr val="E2B54E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0" y="49834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961120" y="496519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report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961120" y="52578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trader decides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workflow now routes questions instead of averaging scores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508760"/>
            <a:ext cx="566928" cy="566928"/>
          </a:xfrm>
          <a:prstGeom prst="ellipse">
            <a:avLst/>
          </a:prstGeom>
          <a:solidFill>
            <a:srgbClr val="262F3B"/>
          </a:solidFill>
          <a:ln w="12700">
            <a:solidFill>
              <a:srgbClr val="262F3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636776"/>
            <a:ext cx="310896" cy="31089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34440" y="146304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stay deterministic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1234440" y="1810512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MQL5 indicators feed a 103-column table. MCD sensors turn it into certified discrete states with fixed English commentary, so the LLM never calculates a price.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57200" y="2697480"/>
            <a:ext cx="566928" cy="566928"/>
          </a:xfrm>
          <a:prstGeom prst="ellipse">
            <a:avLst/>
          </a:prstGeom>
          <a:solidFill>
            <a:srgbClr val="262F3B"/>
          </a:solidFill>
          <a:ln w="12700">
            <a:solidFill>
              <a:srgbClr val="262F3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2825496"/>
            <a:ext cx="310896" cy="31089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34440" y="265176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Averaging is out, routing is in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1234440" y="2999232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1.5C’s WACS54 score is retired. The new Engine 1.5E router sends each question only to the MCDs that fit the trader’s intent and the live market regime.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457200" y="3886200"/>
            <a:ext cx="566928" cy="566928"/>
          </a:xfrm>
          <a:prstGeom prst="ellipse">
            <a:avLst/>
          </a:prstGeom>
          <a:solidFill>
            <a:srgbClr val="262F3B"/>
          </a:solidFill>
          <a:ln w="12700">
            <a:solidFill>
              <a:srgbClr val="262F3B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4014216"/>
            <a:ext cx="310896" cy="31089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234440" y="384048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is scoped</a:t>
            </a:r>
            <a:endParaRPr lang="en-US" sz="1600" dirty="0"/>
          </a:p>
        </p:txBody>
      </p:sp>
      <p:sp>
        <p:nvSpPr>
          <p:cNvPr id="17" name="Text 11"/>
          <p:cNvSpPr txBox="1"/>
          <p:nvPr/>
        </p:nvSpPr>
        <p:spPr>
          <a:xfrm>
            <a:off x="1234440" y="4187952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from the txtai knowledge vault is pre-filtered to the routed MCDs plus synthesis, risk and governance rules — nothing else reaches the prompt.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457200" y="5074920"/>
            <a:ext cx="566928" cy="566928"/>
          </a:xfrm>
          <a:prstGeom prst="ellipse">
            <a:avLst/>
          </a:prstGeom>
          <a:solidFill>
            <a:srgbClr val="262F3B"/>
          </a:solidFill>
          <a:ln w="12700">
            <a:solidFill>
              <a:srgbClr val="262F3B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5202936"/>
            <a:ext cx="310896" cy="310896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234440" y="502920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trader keeps control</a:t>
            </a:r>
            <a:endParaRPr lang="en-US" sz="1600" dirty="0"/>
          </a:p>
        </p:txBody>
      </p:sp>
      <p:sp>
        <p:nvSpPr>
          <p:cNvPr id="21" name="Text 14"/>
          <p:cNvSpPr txBox="1"/>
          <p:nvPr/>
        </p:nvSpPr>
        <p:spPr>
          <a:xfrm>
            <a:off x="1234440" y="5376672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4 locks the risk profile before any analysis. Report 2 is built only from the trader’s own inputs and ends in Accept, Modify or Decline.</a:t>
            </a:r>
            <a:endParaRPr lang="en-US" sz="1250" dirty="0"/>
          </a:p>
        </p:txBody>
      </p:sp>
      <p:sp>
        <p:nvSpPr>
          <p:cNvPr id="22" name="Shape 15"/>
          <p:cNvSpPr/>
          <p:nvPr/>
        </p:nvSpPr>
        <p:spPr>
          <a:xfrm>
            <a:off x="7726680" y="1463040"/>
            <a:ext cx="1911096" cy="2212848"/>
          </a:xfrm>
          <a:prstGeom prst="roundRect">
            <a:avLst>
              <a:gd name="adj" fmla="val 3349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7909560" y="1719072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2B5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103</a:t>
            </a:r>
            <a:endParaRPr lang="en-US" sz="3800" dirty="0"/>
          </a:p>
        </p:txBody>
      </p:sp>
      <p:sp>
        <p:nvSpPr>
          <p:cNvPr id="24" name="Text 17"/>
          <p:cNvSpPr txBox="1"/>
          <p:nvPr/>
        </p:nvSpPr>
        <p:spPr>
          <a:xfrm>
            <a:off x="7909560" y="2542032"/>
            <a:ext cx="1572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columns in market_data_v6, fed by 15 MQL5 indicators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9820656" y="1463040"/>
            <a:ext cx="1911096" cy="2212848"/>
          </a:xfrm>
          <a:prstGeom prst="roundRect">
            <a:avLst>
              <a:gd name="adj" fmla="val 3349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10003536" y="1719072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2B5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of 15</a:t>
            </a:r>
            <a:endParaRPr lang="en-US" sz="3800" dirty="0"/>
          </a:p>
        </p:txBody>
      </p:sp>
      <p:sp>
        <p:nvSpPr>
          <p:cNvPr id="27" name="Text 20"/>
          <p:cNvSpPr txBox="1"/>
          <p:nvPr/>
        </p:nvSpPr>
        <p:spPr>
          <a:xfrm>
            <a:off x="10003536" y="2542032"/>
            <a:ext cx="1572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 sensors certified so far, each passing 13/13 unit tests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7726680" y="3858768"/>
            <a:ext cx="1911096" cy="2212848"/>
          </a:xfrm>
          <a:prstGeom prst="roundRect">
            <a:avLst>
              <a:gd name="adj" fmla="val 3349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7909560" y="41148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2B5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2k</a:t>
            </a:r>
            <a:endParaRPr lang="en-US" sz="3800" dirty="0"/>
          </a:p>
        </p:txBody>
      </p:sp>
      <p:sp>
        <p:nvSpPr>
          <p:cNvPr id="30" name="Text 23"/>
          <p:cNvSpPr txBox="1"/>
          <p:nvPr/>
        </p:nvSpPr>
        <p:spPr>
          <a:xfrm>
            <a:off x="7909560" y="4937760"/>
            <a:ext cx="1572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tokens per request after scoped routing, down from 25,000+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9820656" y="3858768"/>
            <a:ext cx="1911096" cy="2212848"/>
          </a:xfrm>
          <a:prstGeom prst="roundRect">
            <a:avLst>
              <a:gd name="adj" fmla="val 3349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10003536" y="41148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2B5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1:5x</a:t>
            </a:r>
            <a:endParaRPr lang="en-US" sz="3800" dirty="0"/>
          </a:p>
        </p:txBody>
      </p:sp>
      <p:sp>
        <p:nvSpPr>
          <p:cNvPr id="33" name="Text 26"/>
          <p:cNvSpPr txBox="1"/>
          <p:nvPr/>
        </p:nvSpPr>
        <p:spPr>
          <a:xfrm>
            <a:off x="10003536" y="4937760"/>
            <a:ext cx="1572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leverage ceiling; risk per trade capped at 2%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OPERATIONAL WORKFLOW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layers, from market data to a consented trade setup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325880"/>
            <a:ext cx="2103120" cy="4910328"/>
          </a:xfrm>
          <a:prstGeom prst="roundRect">
            <a:avLst>
              <a:gd name="adj" fmla="val 2174"/>
            </a:avLst>
          </a:prstGeom>
          <a:solidFill>
            <a:srgbClr val="161C24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" y="1444752"/>
            <a:ext cx="420624" cy="420624"/>
          </a:xfrm>
          <a:prstGeom prst="ellipse">
            <a:avLst/>
          </a:prstGeom>
          <a:solidFill>
            <a:srgbClr val="E2B54E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66928" y="1444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078992" y="1399032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078992" y="1673352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· every 5 min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 rot="5400000">
            <a:off x="2592324" y="1563624"/>
            <a:ext cx="182880" cy="118872"/>
          </a:xfrm>
          <a:prstGeom prst="triangle">
            <a:avLst/>
          </a:prstGeom>
          <a:solidFill>
            <a:srgbClr val="E2B54E"/>
          </a:solidFill>
          <a:ln w="12700">
            <a:solidFill>
              <a:srgbClr val="E2B54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2148840"/>
            <a:ext cx="1920240" cy="850392"/>
          </a:xfrm>
          <a:prstGeom prst="roundRect">
            <a:avLst>
              <a:gd name="adj" fmla="val 7527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2148840"/>
            <a:ext cx="1920240" cy="850392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MT5 · 15 MQL5 indicators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+ M15 exports at second :59, every 5 minutes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508760" y="3017520"/>
            <a:ext cx="0" cy="155448"/>
          </a:xfrm>
          <a:prstGeom prst="line">
            <a:avLst/>
          </a:prstGeom>
          <a:noFill/>
          <a:ln w="15875">
            <a:solidFill>
              <a:srgbClr val="7D8A99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548640" y="3191256"/>
            <a:ext cx="1920240" cy="850392"/>
          </a:xfrm>
          <a:prstGeom prst="roundRect">
            <a:avLst>
              <a:gd name="adj" fmla="val 7527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3191256"/>
            <a:ext cx="1920240" cy="850392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calc → NestJS gateway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103-field contract, idempotent UPSERT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1508760" y="4059936"/>
            <a:ext cx="0" cy="155448"/>
          </a:xfrm>
          <a:prstGeom prst="line">
            <a:avLst/>
          </a:prstGeom>
          <a:noFill/>
          <a:ln w="15875">
            <a:solidFill>
              <a:srgbClr val="7D8A99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548640" y="4233672"/>
            <a:ext cx="1920240" cy="850392"/>
          </a:xfrm>
          <a:prstGeom prst="roundRect">
            <a:avLst>
              <a:gd name="adj" fmla="val 7527"/>
            </a:avLst>
          </a:prstGeom>
          <a:solidFill>
            <a:srgbClr val="1D242E"/>
          </a:solidFill>
          <a:ln w="19050">
            <a:solidFill>
              <a:srgbClr val="E2B54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48640" y="4233672"/>
            <a:ext cx="1920240" cy="850392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3 tables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market_data_v6 (103 cols) · point-in-time (84) · indicator_statistics (87)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48640" y="5276088"/>
            <a:ext cx="1920240" cy="850392"/>
          </a:xfrm>
          <a:prstGeom prst="roundRect">
            <a:avLst>
              <a:gd name="adj" fmla="val 7527"/>
            </a:avLst>
          </a:prstGeom>
          <a:solidFill>
            <a:srgbClr val="1D242E"/>
          </a:solidFill>
          <a:ln w="19050">
            <a:solidFill>
              <a:srgbClr val="E2B54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5276088"/>
            <a:ext cx="1920240" cy="850392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builds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PNGs → R2 (~5 min) · txtai index (each deploy) · TRADING_ROUTER.md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2743200" y="1325880"/>
            <a:ext cx="2103120" cy="4910328"/>
          </a:xfrm>
          <a:prstGeom prst="roundRect">
            <a:avLst>
              <a:gd name="adj" fmla="val 2174"/>
            </a:avLst>
          </a:prstGeom>
          <a:solidFill>
            <a:srgbClr val="161C24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852928" y="1444752"/>
            <a:ext cx="420624" cy="420624"/>
          </a:xfrm>
          <a:prstGeom prst="ellipse">
            <a:avLst/>
          </a:prstGeom>
          <a:solidFill>
            <a:srgbClr val="E2B54E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852928" y="1444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3364992" y="1399032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gate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3364992" y="1673352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per chat session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 rot="5400000">
            <a:off x="4878324" y="1563624"/>
            <a:ext cx="182880" cy="118872"/>
          </a:xfrm>
          <a:prstGeom prst="triangle">
            <a:avLst/>
          </a:prstGeom>
          <a:solidFill>
            <a:srgbClr val="E2B54E"/>
          </a:solidFill>
          <a:ln w="12700">
            <a:solidFill>
              <a:srgbClr val="E2B54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834640" y="2148840"/>
            <a:ext cx="1920240" cy="850392"/>
          </a:xfrm>
          <a:prstGeom prst="roundRect">
            <a:avLst>
              <a:gd name="adj" fmla="val 7527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2834640" y="2148840"/>
            <a:ext cx="1920240" cy="850392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Trader asks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question or 1-click “Ask AI about M5 / M15”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3794760" y="3017520"/>
            <a:ext cx="0" cy="155448"/>
          </a:xfrm>
          <a:prstGeom prst="line">
            <a:avLst/>
          </a:prstGeom>
          <a:noFill/>
          <a:ln w="15875">
            <a:solidFill>
              <a:srgbClr val="7D8A99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2834640" y="3191256"/>
            <a:ext cx="1920240" cy="850392"/>
          </a:xfrm>
          <a:prstGeom prst="roundRect">
            <a:avLst>
              <a:gd name="adj" fmla="val 7527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2834640" y="3191256"/>
            <a:ext cx="1920240" cy="850392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E gating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tier · token quota · active thread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3794760" y="4059936"/>
            <a:ext cx="0" cy="155448"/>
          </a:xfrm>
          <a:prstGeom prst="line">
            <a:avLst/>
          </a:prstGeom>
          <a:noFill/>
          <a:ln w="15875">
            <a:solidFill>
              <a:srgbClr val="7D8A99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2834640" y="4233672"/>
            <a:ext cx="1920240" cy="850392"/>
          </a:xfrm>
          <a:prstGeom prst="roundRect">
            <a:avLst>
              <a:gd name="adj" fmla="val 7527"/>
            </a:avLst>
          </a:prstGeom>
          <a:solidFill>
            <a:srgbClr val="1D242E"/>
          </a:solidFill>
          <a:ln w="19050">
            <a:solidFill>
              <a:srgbClr val="E2B54E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2834640" y="4233672"/>
            <a:ext cx="1920240" cy="850392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guardrail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XAUUSD only · M5 / M15 only; other requests redirected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3794760" y="5102352"/>
            <a:ext cx="0" cy="155448"/>
          </a:xfrm>
          <a:prstGeom prst="line">
            <a:avLst/>
          </a:prstGeom>
          <a:noFill/>
          <a:ln w="15875">
            <a:solidFill>
              <a:srgbClr val="7D8A99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2834640" y="5276088"/>
            <a:ext cx="1920240" cy="850392"/>
          </a:xfrm>
          <a:prstGeom prst="roundRect">
            <a:avLst>
              <a:gd name="adj" fmla="val 7527"/>
            </a:avLst>
          </a:prstGeom>
          <a:solidFill>
            <a:srgbClr val="1D242E"/>
          </a:solidFill>
          <a:ln w="19050">
            <a:solidFill>
              <a:srgbClr val="E2B54E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2834640" y="5276088"/>
            <a:ext cx="1920240" cy="850392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4 · profile gate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constraints confirmed, then locked for the session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5029200" y="1325880"/>
            <a:ext cx="2103120" cy="4910328"/>
          </a:xfrm>
          <a:prstGeom prst="roundRect">
            <a:avLst>
              <a:gd name="adj" fmla="val 2174"/>
            </a:avLst>
          </a:prstGeom>
          <a:solidFill>
            <a:srgbClr val="161C24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138928" y="1444752"/>
            <a:ext cx="420624" cy="420624"/>
          </a:xfrm>
          <a:prstGeom prst="ellipse">
            <a:avLst/>
          </a:prstGeom>
          <a:solidFill>
            <a:srgbClr val="E2B54E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138928" y="1444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5650992" y="1399032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 state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5650992" y="1673352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request · deterministic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 rot="5400000">
            <a:off x="7164324" y="1563624"/>
            <a:ext cx="182880" cy="118872"/>
          </a:xfrm>
          <a:prstGeom prst="triangle">
            <a:avLst/>
          </a:prstGeom>
          <a:solidFill>
            <a:srgbClr val="E2B54E"/>
          </a:solidFill>
          <a:ln w="12700">
            <a:solidFill>
              <a:srgbClr val="E2B54E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120640" y="2148840"/>
            <a:ext cx="1920240" cy="850392"/>
          </a:xfrm>
          <a:prstGeom prst="roundRect">
            <a:avLst>
              <a:gd name="adj" fmla="val 7527"/>
            </a:avLst>
          </a:prstGeom>
          <a:solidFill>
            <a:srgbClr val="1D242E"/>
          </a:solidFill>
          <a:ln w="19050">
            <a:solidFill>
              <a:srgbClr val="E2B54E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120640" y="2148840"/>
            <a:ext cx="1920240" cy="850392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1 · data access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MCD’s own window + 1 day of OHLC for the LLM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6080760" y="3017520"/>
            <a:ext cx="0" cy="155448"/>
          </a:xfrm>
          <a:prstGeom prst="line">
            <a:avLst/>
          </a:prstGeom>
          <a:noFill/>
          <a:ln w="15875">
            <a:solidFill>
              <a:srgbClr val="7D8A99"/>
            </a:solidFill>
            <a:prstDash val="solid"/>
            <a:tailEnd type="triangle"/>
          </a:ln>
        </p:spPr>
      </p:sp>
      <p:sp>
        <p:nvSpPr>
          <p:cNvPr id="48" name="Shape 45"/>
          <p:cNvSpPr/>
          <p:nvPr/>
        </p:nvSpPr>
        <p:spPr>
          <a:xfrm>
            <a:off x="5120640" y="3191256"/>
            <a:ext cx="1920240" cy="850392"/>
          </a:xfrm>
          <a:prstGeom prst="roundRect">
            <a:avLst>
              <a:gd name="adj" fmla="val 7527"/>
            </a:avLst>
          </a:prstGeom>
          <a:solidFill>
            <a:srgbClr val="1D242E"/>
          </a:solidFill>
          <a:ln w="19050">
            <a:solidFill>
              <a:srgbClr val="E2B54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5120640" y="3191256"/>
            <a:ext cx="1920240" cy="850392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1.5A · MCD sensors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MCD1–MCD15, one market dimension each; MCD1–3 certified</a:t>
            </a:r>
            <a:endParaRPr lang="en-US" sz="1050" dirty="0"/>
          </a:p>
        </p:txBody>
      </p:sp>
      <p:sp>
        <p:nvSpPr>
          <p:cNvPr id="50" name="Shape 47"/>
          <p:cNvSpPr/>
          <p:nvPr/>
        </p:nvSpPr>
        <p:spPr>
          <a:xfrm>
            <a:off x="6080760" y="4059936"/>
            <a:ext cx="0" cy="155448"/>
          </a:xfrm>
          <a:prstGeom prst="line">
            <a:avLst/>
          </a:prstGeom>
          <a:noFill/>
          <a:ln w="15875">
            <a:solidFill>
              <a:srgbClr val="7D8A99"/>
            </a:solidFill>
            <a:prstDash val="solid"/>
            <a:tailEnd type="triangle"/>
          </a:ln>
        </p:spPr>
      </p:sp>
      <p:sp>
        <p:nvSpPr>
          <p:cNvPr id="51" name="Shape 48"/>
          <p:cNvSpPr/>
          <p:nvPr/>
        </p:nvSpPr>
        <p:spPr>
          <a:xfrm>
            <a:off x="5120640" y="4233672"/>
            <a:ext cx="1920240" cy="850392"/>
          </a:xfrm>
          <a:prstGeom prst="roundRect">
            <a:avLst>
              <a:gd name="adj" fmla="val 7527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5120640" y="4233672"/>
            <a:ext cx="1920240" cy="850392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4-Quadrant quality gate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Non-compensatory; any fail raises a Cautionary Defect Flag</a:t>
            </a:r>
            <a:endParaRPr lang="en-US" sz="1050" dirty="0"/>
          </a:p>
        </p:txBody>
      </p:sp>
      <p:sp>
        <p:nvSpPr>
          <p:cNvPr id="53" name="Shape 50"/>
          <p:cNvSpPr/>
          <p:nvPr/>
        </p:nvSpPr>
        <p:spPr>
          <a:xfrm>
            <a:off x="6080760" y="5102352"/>
            <a:ext cx="0" cy="155448"/>
          </a:xfrm>
          <a:prstGeom prst="line">
            <a:avLst/>
          </a:prstGeom>
          <a:noFill/>
          <a:ln w="15875">
            <a:solidFill>
              <a:srgbClr val="7D8A99"/>
            </a:solidFill>
            <a:prstDash val="solid"/>
            <a:tailEnd type="triangle"/>
          </a:ln>
        </p:spPr>
      </p:sp>
      <p:sp>
        <p:nvSpPr>
          <p:cNvPr id="54" name="Shape 51"/>
          <p:cNvSpPr/>
          <p:nvPr/>
        </p:nvSpPr>
        <p:spPr>
          <a:xfrm>
            <a:off x="5120640" y="5276088"/>
            <a:ext cx="1920240" cy="850392"/>
          </a:xfrm>
          <a:prstGeom prst="roundRect">
            <a:avLst>
              <a:gd name="adj" fmla="val 7527"/>
            </a:avLst>
          </a:prstGeom>
          <a:solidFill>
            <a:srgbClr val="1D242E"/>
          </a:solidFill>
          <a:ln w="19050">
            <a:solidFill>
              <a:srgbClr val="E2B54E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5120640" y="5276088"/>
            <a:ext cx="1920240" cy="850392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 regime outputs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regime_status + fixed English commentary from each MCD</a:t>
            </a:r>
            <a:endParaRPr lang="en-US" sz="1050" dirty="0"/>
          </a:p>
        </p:txBody>
      </p:sp>
      <p:sp>
        <p:nvSpPr>
          <p:cNvPr id="56" name="Shape 53"/>
          <p:cNvSpPr/>
          <p:nvPr/>
        </p:nvSpPr>
        <p:spPr>
          <a:xfrm>
            <a:off x="7315200" y="1325880"/>
            <a:ext cx="2103120" cy="4910328"/>
          </a:xfrm>
          <a:prstGeom prst="roundRect">
            <a:avLst>
              <a:gd name="adj" fmla="val 2174"/>
            </a:avLst>
          </a:prstGeom>
          <a:solidFill>
            <a:srgbClr val="161C24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7424928" y="1444752"/>
            <a:ext cx="420624" cy="420624"/>
          </a:xfrm>
          <a:prstGeom prst="ellipse">
            <a:avLst/>
          </a:prstGeom>
          <a:solidFill>
            <a:srgbClr val="E2B54E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7424928" y="1444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59" name="Text 56"/>
          <p:cNvSpPr txBox="1"/>
          <p:nvPr/>
        </p:nvSpPr>
        <p:spPr>
          <a:xfrm>
            <a:off x="7936992" y="1399032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&amp; synthesis</a:t>
            </a:r>
            <a:endParaRPr lang="en-US" sz="1200" dirty="0"/>
          </a:p>
        </p:txBody>
      </p:sp>
      <p:sp>
        <p:nvSpPr>
          <p:cNvPr id="60" name="Text 57"/>
          <p:cNvSpPr txBox="1"/>
          <p:nvPr/>
        </p:nvSpPr>
        <p:spPr>
          <a:xfrm>
            <a:off x="7936992" y="1673352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request · scoped</a:t>
            </a:r>
            <a:endParaRPr lang="en-US" sz="950" dirty="0"/>
          </a:p>
        </p:txBody>
      </p:sp>
      <p:sp>
        <p:nvSpPr>
          <p:cNvPr id="61" name="Shape 58"/>
          <p:cNvSpPr/>
          <p:nvPr/>
        </p:nvSpPr>
        <p:spPr>
          <a:xfrm rot="5400000">
            <a:off x="9450324" y="1563624"/>
            <a:ext cx="182880" cy="118872"/>
          </a:xfrm>
          <a:prstGeom prst="triangle">
            <a:avLst/>
          </a:prstGeom>
          <a:solidFill>
            <a:srgbClr val="E2B54E"/>
          </a:solidFill>
          <a:ln w="12700">
            <a:solidFill>
              <a:srgbClr val="E2B54E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7406640" y="2148840"/>
            <a:ext cx="1920240" cy="850392"/>
          </a:xfrm>
          <a:prstGeom prst="roundRect">
            <a:avLst>
              <a:gd name="adj" fmla="val 7527"/>
            </a:avLst>
          </a:prstGeom>
          <a:solidFill>
            <a:srgbClr val="1D242E"/>
          </a:solidFill>
          <a:ln w="19050">
            <a:solidFill>
              <a:srgbClr val="E2B54E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7406640" y="2148840"/>
            <a:ext cx="1920240" cy="850392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1.5E · OKF router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+ live regime → M* = {MCD1, …}; replaces 1.5C</a:t>
            </a:r>
            <a:endParaRPr lang="en-US" sz="1050" dirty="0"/>
          </a:p>
        </p:txBody>
      </p:sp>
      <p:sp>
        <p:nvSpPr>
          <p:cNvPr id="64" name="Shape 61"/>
          <p:cNvSpPr/>
          <p:nvPr/>
        </p:nvSpPr>
        <p:spPr>
          <a:xfrm>
            <a:off x="8366760" y="3017520"/>
            <a:ext cx="0" cy="155448"/>
          </a:xfrm>
          <a:prstGeom prst="line">
            <a:avLst/>
          </a:prstGeom>
          <a:noFill/>
          <a:ln w="15875">
            <a:solidFill>
              <a:srgbClr val="7D8A99"/>
            </a:solidFill>
            <a:prstDash val="solid"/>
            <a:tailEnd type="triangle"/>
          </a:ln>
        </p:spPr>
      </p:sp>
      <p:sp>
        <p:nvSpPr>
          <p:cNvPr id="65" name="Shape 62"/>
          <p:cNvSpPr/>
          <p:nvPr/>
        </p:nvSpPr>
        <p:spPr>
          <a:xfrm>
            <a:off x="7406640" y="3191256"/>
            <a:ext cx="1920240" cy="850392"/>
          </a:xfrm>
          <a:prstGeom prst="roundRect">
            <a:avLst>
              <a:gd name="adj" fmla="val 7527"/>
            </a:avLst>
          </a:prstGeom>
          <a:solidFill>
            <a:srgbClr val="1D242E"/>
          </a:solidFill>
          <a:ln w="19050">
            <a:solidFill>
              <a:srgbClr val="E2B54E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7406640" y="3191256"/>
            <a:ext cx="1920240" cy="850392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2 · scoped RAG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txtai, filtered to M* + synthesis, risk, governance</a:t>
            </a:r>
            <a:endParaRPr lang="en-US" sz="1050" dirty="0"/>
          </a:p>
        </p:txBody>
      </p:sp>
      <p:sp>
        <p:nvSpPr>
          <p:cNvPr id="67" name="Text 64"/>
          <p:cNvSpPr txBox="1"/>
          <p:nvPr/>
        </p:nvSpPr>
        <p:spPr>
          <a:xfrm>
            <a:off x="7406640" y="40462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parallel</a:t>
            </a:r>
            <a:endParaRPr lang="en-US" sz="800" dirty="0"/>
          </a:p>
        </p:txBody>
      </p:sp>
      <p:sp>
        <p:nvSpPr>
          <p:cNvPr id="68" name="Shape 65"/>
          <p:cNvSpPr/>
          <p:nvPr/>
        </p:nvSpPr>
        <p:spPr>
          <a:xfrm>
            <a:off x="7406640" y="4233672"/>
            <a:ext cx="1920240" cy="850392"/>
          </a:xfrm>
          <a:prstGeom prst="roundRect">
            <a:avLst>
              <a:gd name="adj" fmla="val 7527"/>
            </a:avLst>
          </a:prstGeom>
          <a:solidFill>
            <a:srgbClr val="1D242E"/>
          </a:solidFill>
          <a:ln w="19050">
            <a:solidFill>
              <a:srgbClr val="E2B54E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7406640" y="4233672"/>
            <a:ext cx="1920240" cy="850392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3 · chart vision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2-panel M5 / M15 PNG from private R2, plus economic events</a:t>
            </a:r>
            <a:endParaRPr lang="en-US" sz="1050" dirty="0"/>
          </a:p>
        </p:txBody>
      </p:sp>
      <p:sp>
        <p:nvSpPr>
          <p:cNvPr id="70" name="Shape 67"/>
          <p:cNvSpPr/>
          <p:nvPr/>
        </p:nvSpPr>
        <p:spPr>
          <a:xfrm>
            <a:off x="8366760" y="5102352"/>
            <a:ext cx="0" cy="155448"/>
          </a:xfrm>
          <a:prstGeom prst="line">
            <a:avLst/>
          </a:prstGeom>
          <a:noFill/>
          <a:ln w="15875">
            <a:solidFill>
              <a:srgbClr val="7D8A99"/>
            </a:solidFill>
            <a:prstDash val="solid"/>
            <a:tailEnd type="triangle"/>
          </a:ln>
        </p:spPr>
      </p:sp>
      <p:sp>
        <p:nvSpPr>
          <p:cNvPr id="71" name="Shape 68"/>
          <p:cNvSpPr/>
          <p:nvPr/>
        </p:nvSpPr>
        <p:spPr>
          <a:xfrm>
            <a:off x="7406640" y="5276088"/>
            <a:ext cx="1920240" cy="850392"/>
          </a:xfrm>
          <a:prstGeom prst="roundRect">
            <a:avLst>
              <a:gd name="adj" fmla="val 7527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7406640" y="5276088"/>
            <a:ext cx="1920240" cy="850392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Super-prompt → LLM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numbers + Markdown rules + chart image</a:t>
            </a:r>
            <a:endParaRPr lang="en-US" sz="1050" dirty="0"/>
          </a:p>
        </p:txBody>
      </p:sp>
      <p:sp>
        <p:nvSpPr>
          <p:cNvPr id="73" name="Shape 70"/>
          <p:cNvSpPr/>
          <p:nvPr/>
        </p:nvSpPr>
        <p:spPr>
          <a:xfrm>
            <a:off x="9601200" y="1325880"/>
            <a:ext cx="2103120" cy="4910328"/>
          </a:xfrm>
          <a:prstGeom prst="roundRect">
            <a:avLst>
              <a:gd name="adj" fmla="val 2174"/>
            </a:avLst>
          </a:prstGeom>
          <a:solidFill>
            <a:srgbClr val="161C24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9710928" y="1444752"/>
            <a:ext cx="420624" cy="420624"/>
          </a:xfrm>
          <a:prstGeom prst="ellipse">
            <a:avLst/>
          </a:prstGeom>
          <a:solidFill>
            <a:srgbClr val="E2B54E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9710928" y="1444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76" name="Text 73"/>
          <p:cNvSpPr txBox="1"/>
          <p:nvPr/>
        </p:nvSpPr>
        <p:spPr>
          <a:xfrm>
            <a:off x="10222992" y="1399032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report</a:t>
            </a:r>
            <a:endParaRPr lang="en-US" sz="1200" dirty="0"/>
          </a:p>
        </p:txBody>
      </p:sp>
      <p:sp>
        <p:nvSpPr>
          <p:cNvPr id="77" name="Text 74"/>
          <p:cNvSpPr txBox="1"/>
          <p:nvPr/>
        </p:nvSpPr>
        <p:spPr>
          <a:xfrm>
            <a:off x="10222992" y="1673352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trader decides</a:t>
            </a:r>
            <a:endParaRPr lang="en-US" sz="950" dirty="0"/>
          </a:p>
        </p:txBody>
      </p:sp>
      <p:sp>
        <p:nvSpPr>
          <p:cNvPr id="78" name="Shape 75"/>
          <p:cNvSpPr/>
          <p:nvPr/>
        </p:nvSpPr>
        <p:spPr>
          <a:xfrm>
            <a:off x="9692640" y="2148840"/>
            <a:ext cx="1920240" cy="641909"/>
          </a:xfrm>
          <a:prstGeom prst="roundRect">
            <a:avLst>
              <a:gd name="adj" fmla="val 9972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9692640" y="2148840"/>
            <a:ext cx="1920240" cy="641909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1 + offer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streamed (SSE), then the setup offer</a:t>
            </a:r>
            <a:endParaRPr lang="en-US" sz="1050" dirty="0"/>
          </a:p>
        </p:txBody>
      </p:sp>
      <p:sp>
        <p:nvSpPr>
          <p:cNvPr id="80" name="Shape 77"/>
          <p:cNvSpPr/>
          <p:nvPr/>
        </p:nvSpPr>
        <p:spPr>
          <a:xfrm>
            <a:off x="10652760" y="2809037"/>
            <a:ext cx="0" cy="155448"/>
          </a:xfrm>
          <a:prstGeom prst="line">
            <a:avLst/>
          </a:prstGeom>
          <a:noFill/>
          <a:ln w="15875">
            <a:solidFill>
              <a:srgbClr val="7D8A99"/>
            </a:solidFill>
            <a:prstDash val="solid"/>
            <a:tailEnd type="triangle"/>
          </a:ln>
        </p:spPr>
      </p:sp>
      <p:sp>
        <p:nvSpPr>
          <p:cNvPr id="81" name="Shape 78"/>
          <p:cNvSpPr/>
          <p:nvPr/>
        </p:nvSpPr>
        <p:spPr>
          <a:xfrm>
            <a:off x="9692640" y="2982773"/>
            <a:ext cx="1920240" cy="641909"/>
          </a:xfrm>
          <a:prstGeom prst="roundRect">
            <a:avLst>
              <a:gd name="adj" fmla="val 9972"/>
            </a:avLst>
          </a:prstGeom>
          <a:solidFill>
            <a:srgbClr val="1D242E"/>
          </a:solidFill>
          <a:ln w="19050">
            <a:solidFill>
              <a:srgbClr val="E2B54E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9692640" y="2982773"/>
            <a:ext cx="1920240" cy="641909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price zones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levels from one MCD or a multi-MCD synthesis</a:t>
            </a:r>
            <a:endParaRPr lang="en-US" sz="1050" dirty="0"/>
          </a:p>
        </p:txBody>
      </p:sp>
      <p:sp>
        <p:nvSpPr>
          <p:cNvPr id="83" name="Shape 80"/>
          <p:cNvSpPr/>
          <p:nvPr/>
        </p:nvSpPr>
        <p:spPr>
          <a:xfrm>
            <a:off x="10652760" y="3642970"/>
            <a:ext cx="0" cy="155448"/>
          </a:xfrm>
          <a:prstGeom prst="line">
            <a:avLst/>
          </a:prstGeom>
          <a:noFill/>
          <a:ln w="15875">
            <a:solidFill>
              <a:srgbClr val="7D8A99"/>
            </a:solidFill>
            <a:prstDash val="solid"/>
            <a:tailEnd type="triangle"/>
          </a:ln>
        </p:spPr>
      </p:sp>
      <p:sp>
        <p:nvSpPr>
          <p:cNvPr id="84" name="Shape 81"/>
          <p:cNvSpPr/>
          <p:nvPr/>
        </p:nvSpPr>
        <p:spPr>
          <a:xfrm>
            <a:off x="9692640" y="3816706"/>
            <a:ext cx="1920240" cy="641909"/>
          </a:xfrm>
          <a:prstGeom prst="roundRect">
            <a:avLst>
              <a:gd name="adj" fmla="val 9972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9692640" y="3816706"/>
            <a:ext cx="1920240" cy="641909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modal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· level or custom ±5% · equity · RPT · SLD</a:t>
            </a:r>
            <a:endParaRPr lang="en-US" sz="1050" dirty="0"/>
          </a:p>
        </p:txBody>
      </p:sp>
      <p:sp>
        <p:nvSpPr>
          <p:cNvPr id="86" name="Shape 83"/>
          <p:cNvSpPr/>
          <p:nvPr/>
        </p:nvSpPr>
        <p:spPr>
          <a:xfrm>
            <a:off x="10652760" y="4476902"/>
            <a:ext cx="0" cy="155448"/>
          </a:xfrm>
          <a:prstGeom prst="line">
            <a:avLst/>
          </a:prstGeom>
          <a:noFill/>
          <a:ln w="15875">
            <a:solidFill>
              <a:srgbClr val="7D8A99"/>
            </a:solidFill>
            <a:prstDash val="solid"/>
            <a:tailEnd type="triangle"/>
          </a:ln>
        </p:spPr>
      </p:sp>
      <p:sp>
        <p:nvSpPr>
          <p:cNvPr id="87" name="Shape 84"/>
          <p:cNvSpPr/>
          <p:nvPr/>
        </p:nvSpPr>
        <p:spPr>
          <a:xfrm>
            <a:off x="9692640" y="4650638"/>
            <a:ext cx="1920240" cy="641909"/>
          </a:xfrm>
          <a:prstGeom prst="roundRect">
            <a:avLst>
              <a:gd name="adj" fmla="val 9972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9692640" y="4650638"/>
            <a:ext cx="1920240" cy="641909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4 · risk math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 · SL · leverage within cap · 3 TP tiers</a:t>
            </a:r>
            <a:endParaRPr lang="en-US" sz="1050" dirty="0"/>
          </a:p>
        </p:txBody>
      </p:sp>
      <p:sp>
        <p:nvSpPr>
          <p:cNvPr id="89" name="Shape 86"/>
          <p:cNvSpPr/>
          <p:nvPr/>
        </p:nvSpPr>
        <p:spPr>
          <a:xfrm>
            <a:off x="10652760" y="5310835"/>
            <a:ext cx="0" cy="155448"/>
          </a:xfrm>
          <a:prstGeom prst="line">
            <a:avLst/>
          </a:prstGeom>
          <a:noFill/>
          <a:ln w="15875">
            <a:solidFill>
              <a:srgbClr val="7D8A99"/>
            </a:solidFill>
            <a:prstDash val="solid"/>
            <a:tailEnd type="triangle"/>
          </a:ln>
        </p:spPr>
      </p:sp>
      <p:sp>
        <p:nvSpPr>
          <p:cNvPr id="90" name="Shape 87"/>
          <p:cNvSpPr/>
          <p:nvPr/>
        </p:nvSpPr>
        <p:spPr>
          <a:xfrm>
            <a:off x="9692640" y="5484571"/>
            <a:ext cx="1920240" cy="641909"/>
          </a:xfrm>
          <a:prstGeom prst="roundRect">
            <a:avLst>
              <a:gd name="adj" fmla="val 9972"/>
            </a:avLst>
          </a:prstGeom>
          <a:solidFill>
            <a:srgbClr val="1D242E"/>
          </a:solidFill>
          <a:ln w="19050">
            <a:solidFill>
              <a:srgbClr val="E2B54E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9692640" y="5484571"/>
            <a:ext cx="1920240" cy="641909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2 + consent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· Modify · Decline</a:t>
            </a:r>
            <a:endParaRPr lang="en-US" sz="1050" dirty="0"/>
          </a:p>
        </p:txBody>
      </p:sp>
      <p:sp>
        <p:nvSpPr>
          <p:cNvPr id="92" name="Text 89"/>
          <p:cNvSpPr txBox="1"/>
          <p:nvPr/>
        </p:nvSpPr>
        <p:spPr>
          <a:xfrm>
            <a:off x="457200" y="637336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outline = new or changed since the previous diagram.   Layer 1 runs continuously; layers 2–5 run for every chat request.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changes versus the previous workflow diagram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53312"/>
          <a:ext cx="1127455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240280"/>
                <a:gridCol w="320040"/>
                <a:gridCol w="4297680"/>
                <a:gridCol w="304495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Previous diagram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Updated workflow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changed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F3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market_data_v6 · 95 columns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 columns, plus a frozen point-in-time table (84 fields) and indicator_statistics (87 columns)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15th indicator added sr_9–sr_16; snapshots remove look-ahead drift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NL2SQL (VANNA)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 data access: each MCD’s own window; 1 day of M5 + M15 OHLC for the LLM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54-bar rule dropped; candles are still quoted to traders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 1.5A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MCD01–10+ fixed list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MCD1–MCD15, each topic defined by you; MCD1–3 certified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early list was a mock-up; each MCD is an isolated sensor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 1.5B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JSONB54 storyline + FREQ54 counts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Removed — each MCD’s regime_status and commentary carry the state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MCD already tests persistence over its own window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 1.5C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WACS54 weighted confluence score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Retired — replaced by the Engine 1.5E Tactical OKF Router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Averaging lets a strong fit hide weak coverage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 rules via pgvector RAG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txtai vault, 5 domains, scoped by the router; local index files rebuilt each deploy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context falls from 25,000+ to under 2,000 tokens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Computer-vision chart panel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2-panel PNG (M5 over M15), overlay / standard variants, private R2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since 11 Sep; the variant follows tier and toggle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 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Applied only after Report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Also a session gate: profile confirmed before any analysis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Advice must match the trader’s horizon and style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 Setup Card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zones from the MCDs, then a consent-gated report with 3 TP tiers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Levels come from the same sensors as the analysis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627278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“Previous diagram” is the workflow image supplied with this request. Slides 5–14 detail each layer; the appendix lists how conflicting documents were resolved.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768096" cy="768096"/>
          </a:xfrm>
          <a:prstGeom prst="ellipse">
            <a:avLst/>
          </a:prstGeom>
          <a:solidFill>
            <a:srgbClr val="E2B54E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9184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31089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· DATA FOUNDATION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566928"/>
            <a:ext cx="10317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5-minute cycle feeds every engine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463040"/>
            <a:ext cx="4572000" cy="960120"/>
          </a:xfrm>
          <a:prstGeom prst="roundRect">
            <a:avLst>
              <a:gd name="adj" fmla="val 6667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1463040"/>
            <a:ext cx="4572000" cy="96012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MT5 terminals (Contabo VPS)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MQL5 indicators on M5 and M15 export 3,000 bars at second :59, every 5 minutes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743200" y="2441448"/>
            <a:ext cx="0" cy="237744"/>
          </a:xfrm>
          <a:prstGeom prst="line">
            <a:avLst/>
          </a:prstGeom>
          <a:noFill/>
          <a:ln w="15875">
            <a:solidFill>
              <a:srgbClr val="7D8A99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457200" y="2697480"/>
            <a:ext cx="4572000" cy="960120"/>
          </a:xfrm>
          <a:prstGeom prst="roundRect">
            <a:avLst>
              <a:gd name="adj" fmla="val 6667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200" y="2697480"/>
            <a:ext cx="4572000" cy="96012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staging + Python calc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 regression, fractal lines, candle Z-score and ZigZag metrics are derived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743200" y="3675888"/>
            <a:ext cx="0" cy="237744"/>
          </a:xfrm>
          <a:prstGeom prst="line">
            <a:avLst/>
          </a:prstGeom>
          <a:noFill/>
          <a:ln w="15875">
            <a:solidFill>
              <a:srgbClr val="7D8A99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57200" y="3931920"/>
            <a:ext cx="4572000" cy="960120"/>
          </a:xfrm>
          <a:prstGeom prst="roundRect">
            <a:avLst>
              <a:gd name="adj" fmla="val 6667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7200" y="3931920"/>
            <a:ext cx="4572000" cy="96012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worker → Railway NestJS gateway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against the 103-field contract; idempotent UPSERT on symbol, timeframe, timestamp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193792" y="2990088"/>
            <a:ext cx="411480" cy="384048"/>
          </a:xfrm>
          <a:prstGeom prst="rightArrow">
            <a:avLst/>
          </a:prstGeom>
          <a:solidFill>
            <a:srgbClr val="E2B54E"/>
          </a:solidFill>
          <a:ln w="12700">
            <a:solidFill>
              <a:srgbClr val="E2B54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760720" y="1463040"/>
            <a:ext cx="5971032" cy="960120"/>
          </a:xfrm>
          <a:prstGeom prst="roundRect">
            <a:avLst>
              <a:gd name="adj" fmla="val 6667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925312" y="155448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market_data_v6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10561320" y="1581912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5CC2B2"/>
          </a:solidFill>
          <a:ln w="9525">
            <a:solidFill>
              <a:srgbClr val="5CC2B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0561320" y="15819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F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21" name="Text 18"/>
          <p:cNvSpPr txBox="1"/>
          <p:nvPr/>
        </p:nvSpPr>
        <p:spPr>
          <a:xfrm>
            <a:off x="5925312" y="1865376"/>
            <a:ext cx="5641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 contract columns in 14 groups (106 Prisma fields). Sliding ~3,000 bars, re-fitted every bar. Source for Engines 1–1.5 and the charts.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760720" y="2697480"/>
            <a:ext cx="5971032" cy="960120"/>
          </a:xfrm>
          <a:prstGeom prst="roundRect">
            <a:avLst>
              <a:gd name="adj" fmla="val 6667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925312" y="278892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market_data_point_in_time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10561320" y="2816352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E2B54E"/>
          </a:solidFill>
          <a:ln w="9525">
            <a:solidFill>
              <a:srgbClr val="E2B54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61320" y="281635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F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endParaRPr 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5925312" y="3099816"/>
            <a:ext cx="5641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 fields, append-only: every bar frozen as it stood at close. For backtests, ML and fitness scoring — zero look-ahead bias.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760720" y="3931920"/>
            <a:ext cx="5971032" cy="960120"/>
          </a:xfrm>
          <a:prstGeom prst="roundRect">
            <a:avLst>
              <a:gd name="adj" fmla="val 6667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925312" y="402336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indicator_statistics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10561320" y="4050792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A3AEBB"/>
          </a:solidFill>
          <a:ln w="9525">
            <a:solidFill>
              <a:srgbClr val="A3AEBB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561320" y="405079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F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850" dirty="0"/>
          </a:p>
        </p:txBody>
      </p:sp>
      <p:sp>
        <p:nvSpPr>
          <p:cNvPr id="31" name="Text 28"/>
          <p:cNvSpPr txBox="1"/>
          <p:nvPr/>
        </p:nvSpPr>
        <p:spPr>
          <a:xfrm>
            <a:off x="5925312" y="4334256"/>
            <a:ext cx="5641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 columns across 12 sources: containment rate, regression angle, EDT time horizon, S&amp;R calibration. Feeds every MCD pre-flight check.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57200" y="5166360"/>
            <a:ext cx="5532120" cy="1051560"/>
          </a:xfrm>
          <a:prstGeom prst="roundRect">
            <a:avLst>
              <a:gd name="adj" fmla="val 6087"/>
            </a:avLst>
          </a:prstGeom>
          <a:solidFill>
            <a:srgbClr val="161C24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57200" y="5166360"/>
            <a:ext cx="5532120" cy="105156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frozen snapshot table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2,114 M15 bars, EDT channels re-fitted on 100% of historical bars (average drift $19.26, max $22.86) and SSA curves shifted on 100%. OHLCV and confirmed ZigZag pivots drifted 0%.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6199632" y="5166360"/>
            <a:ext cx="5532120" cy="1051560"/>
          </a:xfrm>
          <a:prstGeom prst="roundRect">
            <a:avLst>
              <a:gd name="adj" fmla="val 6087"/>
            </a:avLst>
          </a:prstGeom>
          <a:solidFill>
            <a:srgbClr val="161C24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199632" y="5166360"/>
            <a:ext cx="5532120" cy="105156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builds that Stack D relies on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~5 min the VPS renders the 2-panel M5 / M15 chart and uploads both variants to a private R2 bucket. On every deploy: Markdown corpus → txtai index files. On MCD change: commentary → router compiler → TRADING_ROUTER.md.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768096" cy="768096"/>
          </a:xfrm>
          <a:prstGeom prst="ellipse">
            <a:avLst/>
          </a:prstGeom>
          <a:solidFill>
            <a:srgbClr val="E2B54E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9184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31089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· SESSION GATE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566928"/>
            <a:ext cx="10317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risk profile is locked before any analysis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463040"/>
            <a:ext cx="4434840" cy="896112"/>
          </a:xfrm>
          <a:prstGeom prst="roundRect">
            <a:avLst>
              <a:gd name="adj" fmla="val 7143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1463040"/>
            <a:ext cx="4434840" cy="896112"/>
          </a:xfrm>
          <a:prstGeom prst="rect">
            <a:avLst/>
          </a:prstGeom>
          <a:noFill/>
          <a:ln/>
        </p:spPr>
        <p:txBody>
          <a:bodyPr wrap="square" lIns="152400" tIns="63500" rIns="152400" bIns="635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Trader asks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question, or a 1-click “Ask AI about M5 / M15 chart” preset prompt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674620" y="2377440"/>
            <a:ext cx="0" cy="182880"/>
          </a:xfrm>
          <a:prstGeom prst="line">
            <a:avLst/>
          </a:prstGeom>
          <a:noFill/>
          <a:ln w="15875">
            <a:solidFill>
              <a:srgbClr val="7D8A99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457200" y="2578608"/>
            <a:ext cx="4434840" cy="896112"/>
          </a:xfrm>
          <a:prstGeom prst="roundRect">
            <a:avLst>
              <a:gd name="adj" fmla="val 7143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200" y="2578608"/>
            <a:ext cx="4434840" cy="896112"/>
          </a:xfrm>
          <a:prstGeom prst="rect">
            <a:avLst/>
          </a:prstGeom>
          <a:noFill/>
          <a:ln/>
        </p:spPr>
        <p:txBody>
          <a:bodyPr wrap="square" lIns="152400" tIns="63500" rIns="152400" bIns="635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E gating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subscription, monthly token quota (Redis), active thread: XAUUSD · M5 or M15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674620" y="3493008"/>
            <a:ext cx="0" cy="182880"/>
          </a:xfrm>
          <a:prstGeom prst="line">
            <a:avLst/>
          </a:prstGeom>
          <a:noFill/>
          <a:ln w="15875">
            <a:solidFill>
              <a:srgbClr val="7D8A99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57200" y="3694176"/>
            <a:ext cx="4434840" cy="896112"/>
          </a:xfrm>
          <a:prstGeom prst="roundRect">
            <a:avLst>
              <a:gd name="adj" fmla="val 7143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7200" y="3694176"/>
            <a:ext cx="4434840" cy="896112"/>
          </a:xfrm>
          <a:prstGeom prst="rect">
            <a:avLst/>
          </a:prstGeom>
          <a:noFill/>
          <a:ln/>
        </p:spPr>
        <p:txBody>
          <a:bodyPr wrap="square" lIns="152400" tIns="63500" rIns="152400" bIns="635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guardrail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symbols or timeframes (EURUSD, BTC, H1, H4, D1…) are politely redirected to XAUUSD M5 / M15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2674620" y="4608576"/>
            <a:ext cx="0" cy="182880"/>
          </a:xfrm>
          <a:prstGeom prst="line">
            <a:avLst/>
          </a:prstGeom>
          <a:noFill/>
          <a:ln w="15875">
            <a:solidFill>
              <a:srgbClr val="7D8A99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457200" y="4809744"/>
            <a:ext cx="4434840" cy="896112"/>
          </a:xfrm>
          <a:prstGeom prst="roundRect">
            <a:avLst>
              <a:gd name="adj" fmla="val 7143"/>
            </a:avLst>
          </a:prstGeom>
          <a:solidFill>
            <a:srgbClr val="1D242E"/>
          </a:solidFill>
          <a:ln w="19050">
            <a:solidFill>
              <a:srgbClr val="E2B54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7200" y="4809744"/>
            <a:ext cx="4434840" cy="896112"/>
          </a:xfrm>
          <a:prstGeom prst="rect">
            <a:avLst/>
          </a:prstGeom>
          <a:noFill/>
          <a:ln/>
        </p:spPr>
        <p:txBody>
          <a:bodyPr wrap="square" lIns="152400" tIns="63500" rIns="152400" bIns="635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4 summary card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↔ Modify loop until confirmed; saved to PostgreSQL, audit history and Redis (&lt; 2 ms)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5257800" y="144475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4 · eight user constraints (defaults shown)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257800" y="1874520"/>
            <a:ext cx="3145536" cy="896112"/>
          </a:xfrm>
          <a:prstGeom prst="roundRect">
            <a:avLst>
              <a:gd name="adj" fmla="val 7143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04104" y="194767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Trader type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5404104" y="216712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Trader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404104" y="248716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within 12 h  (Scalper: 2 h)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8586216" y="1874520"/>
            <a:ext cx="3145536" cy="896112"/>
          </a:xfrm>
          <a:prstGeom prst="roundRect">
            <a:avLst>
              <a:gd name="adj" fmla="val 7143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732520" y="194767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Trading style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8732520" y="216712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Following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8732520" y="248716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Countering / Both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257800" y="2880360"/>
            <a:ext cx="3145536" cy="896112"/>
          </a:xfrm>
          <a:prstGeom prst="roundRect">
            <a:avLst>
              <a:gd name="adj" fmla="val 7143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404104" y="295351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Max risk per trade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5404104" y="317296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1.50%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5404104" y="349300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0.5–2.0%, commission included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586216" y="2880360"/>
            <a:ext cx="3145536" cy="896112"/>
          </a:xfrm>
          <a:prstGeom prst="roundRect">
            <a:avLst>
              <a:gd name="adj" fmla="val 7143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732520" y="295351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Maximum leverage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8732520" y="317296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1.5x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8732520" y="349300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ceiling 1 : 5.0x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5257800" y="3886200"/>
            <a:ext cx="3145536" cy="896112"/>
          </a:xfrm>
          <a:prstGeom prst="roundRect">
            <a:avLst>
              <a:gd name="adj" fmla="val 7143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404104" y="395935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Target RRR</a:t>
            </a:r>
            <a:endParaRPr lang="en-US" sz="1050" dirty="0"/>
          </a:p>
        </p:txBody>
      </p:sp>
      <p:sp>
        <p:nvSpPr>
          <p:cNvPr id="38" name="Text 35"/>
          <p:cNvSpPr txBox="1"/>
          <p:nvPr/>
        </p:nvSpPr>
        <p:spPr>
          <a:xfrm>
            <a:off x="5404104" y="417880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1.75x</a:t>
            </a:r>
            <a:endParaRPr lang="en-US" sz="1600" dirty="0"/>
          </a:p>
        </p:txBody>
      </p:sp>
      <p:sp>
        <p:nvSpPr>
          <p:cNvPr id="39" name="Text 36"/>
          <p:cNvSpPr txBox="1"/>
          <p:nvPr/>
        </p:nvSpPr>
        <p:spPr>
          <a:xfrm>
            <a:off x="5404104" y="449884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capped at 2.50x for counter-trend styles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8586216" y="3886200"/>
            <a:ext cx="3145536" cy="896112"/>
          </a:xfrm>
          <a:prstGeom prst="roundRect">
            <a:avLst>
              <a:gd name="adj" fmla="val 7143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732520" y="395935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Equity balance</a:t>
            </a:r>
            <a:endParaRPr lang="en-US" sz="1050" dirty="0"/>
          </a:p>
        </p:txBody>
      </p:sp>
      <p:sp>
        <p:nvSpPr>
          <p:cNvPr id="42" name="Text 39"/>
          <p:cNvSpPr txBox="1"/>
          <p:nvPr/>
        </p:nvSpPr>
        <p:spPr>
          <a:xfrm>
            <a:off x="8732520" y="417880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$5,000</a:t>
            </a:r>
            <a:endParaRPr lang="en-US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8732520" y="449884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input for sizing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5257800" y="4892040"/>
            <a:ext cx="3145536" cy="896112"/>
          </a:xfrm>
          <a:prstGeom prst="roundRect">
            <a:avLst>
              <a:gd name="adj" fmla="val 7143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5404104" y="496519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Min stop-loss distance</a:t>
            </a:r>
            <a:endParaRPr lang="en-US" sz="1050" dirty="0"/>
          </a:p>
        </p:txBody>
      </p:sp>
      <p:sp>
        <p:nvSpPr>
          <p:cNvPr id="46" name="Text 43"/>
          <p:cNvSpPr txBox="1"/>
          <p:nvPr/>
        </p:nvSpPr>
        <p:spPr>
          <a:xfrm>
            <a:off x="5404104" y="518464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$13.00</a:t>
            </a:r>
            <a:endParaRPr lang="en-US" sz="1600" dirty="0"/>
          </a:p>
        </p:txBody>
      </p:sp>
      <p:sp>
        <p:nvSpPr>
          <p:cNvPr id="47" name="Text 44"/>
          <p:cNvSpPr txBox="1"/>
          <p:nvPr/>
        </p:nvSpPr>
        <p:spPr>
          <a:xfrm>
            <a:off x="5404104" y="550468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against spread noise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8586216" y="4892040"/>
            <a:ext cx="3145536" cy="896112"/>
          </a:xfrm>
          <a:prstGeom prst="roundRect">
            <a:avLst>
              <a:gd name="adj" fmla="val 7143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732520" y="496519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Round-trip commission</a:t>
            </a:r>
            <a:endParaRPr lang="en-US" sz="1050" dirty="0"/>
          </a:p>
        </p:txBody>
      </p:sp>
      <p:sp>
        <p:nvSpPr>
          <p:cNvPr id="50" name="Text 47"/>
          <p:cNvSpPr txBox="1"/>
          <p:nvPr/>
        </p:nvSpPr>
        <p:spPr>
          <a:xfrm>
            <a:off x="8732520" y="518464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$4.00 / lot</a:t>
            </a:r>
            <a:endParaRPr lang="en-US" sz="16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50468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deducted in every net figure</a:t>
            </a:r>
            <a:endParaRPr lang="en-US" sz="1000" dirty="0"/>
          </a:p>
        </p:txBody>
      </p:sp>
      <p:sp>
        <p:nvSpPr>
          <p:cNvPr id="52" name="Text 49"/>
          <p:cNvSpPr txBox="1"/>
          <p:nvPr/>
        </p:nvSpPr>
        <p:spPr>
          <a:xfrm>
            <a:off x="5257800" y="59436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are user-specified simulation parameters, not a suitability assessment. Changing them mid-session re-opens the modal and appends an audit snapshot.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768096" cy="768096"/>
          </a:xfrm>
          <a:prstGeom prst="ellipse">
            <a:avLst/>
          </a:prstGeom>
          <a:solidFill>
            <a:srgbClr val="E2B54E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9184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31089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· QUANT STATE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566928"/>
            <a:ext cx="10317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Certified MCD sensors turn 103 columns into discrete states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417320"/>
            <a:ext cx="3520440" cy="713232"/>
          </a:xfrm>
          <a:prstGeom prst="roundRect">
            <a:avLst>
              <a:gd name="adj" fmla="val 8974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1417320"/>
            <a:ext cx="3520440" cy="713232"/>
          </a:xfrm>
          <a:prstGeom prst="rect">
            <a:avLst/>
          </a:prstGeom>
          <a:noFill/>
          <a:ln/>
        </p:spPr>
        <p:txBody>
          <a:bodyPr wrap="square" lIns="127000" tIns="50800" rIns="127000" bIns="508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1 · data access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MCD’s own window + 1 day of M5 / M15 OHLC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005072" y="1773936"/>
            <a:ext cx="301752" cy="0"/>
          </a:xfrm>
          <a:prstGeom prst="line">
            <a:avLst/>
          </a:prstGeom>
          <a:noFill/>
          <a:ln w="15875">
            <a:solidFill>
              <a:srgbClr val="7D8A99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4334256" y="1417320"/>
            <a:ext cx="3520440" cy="713232"/>
          </a:xfrm>
          <a:prstGeom prst="roundRect">
            <a:avLst>
              <a:gd name="adj" fmla="val 8974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334256" y="1417320"/>
            <a:ext cx="3520440" cy="713232"/>
          </a:xfrm>
          <a:prstGeom prst="rect">
            <a:avLst/>
          </a:prstGeom>
          <a:noFill/>
          <a:ln/>
        </p:spPr>
        <p:txBody>
          <a:bodyPr wrap="square" lIns="127000" tIns="50800" rIns="127000" bIns="508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1.5A · MCD sensors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observes one market dimension, in isolation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882128" y="1773936"/>
            <a:ext cx="301752" cy="0"/>
          </a:xfrm>
          <a:prstGeom prst="line">
            <a:avLst/>
          </a:prstGeom>
          <a:noFill/>
          <a:ln w="15875">
            <a:solidFill>
              <a:srgbClr val="7D8A99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8211312" y="1417320"/>
            <a:ext cx="3520440" cy="713232"/>
          </a:xfrm>
          <a:prstGeom prst="roundRect">
            <a:avLst>
              <a:gd name="adj" fmla="val 8974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11312" y="1417320"/>
            <a:ext cx="3520440" cy="713232"/>
          </a:xfrm>
          <a:prstGeom prst="rect">
            <a:avLst/>
          </a:prstGeom>
          <a:noFill/>
          <a:ln/>
        </p:spPr>
        <p:txBody>
          <a:bodyPr wrap="square" lIns="127000" tIns="50800" rIns="127000" bIns="508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 regime outputs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regime_status + fixed English commentary (next slide)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2377440"/>
            <a:ext cx="2651760" cy="3200400"/>
          </a:xfrm>
          <a:prstGeom prst="roundRect">
            <a:avLst>
              <a:gd name="adj" fmla="val 2414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24871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B5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MCD1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1792224" y="2551176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5CC2B2"/>
          </a:solidFill>
          <a:ln w="9525">
            <a:solidFill>
              <a:srgbClr val="5CC2B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792224" y="255117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F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· 13/13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603504" y="2907792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M15 primary trend &amp; breakout implication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03504" y="3474720"/>
            <a:ext cx="23591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active of 7 centroid variants + indicator_statistics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window = max(96, 5% of EDT horizon); a breakout needs ≥ 80% sustained breach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trend-aligned continuation · breakout same slope · counter-trend expansion · consolidation · range expansion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3331159" y="2377440"/>
            <a:ext cx="2651760" cy="3200400"/>
          </a:xfrm>
          <a:prstGeom prst="roundRect">
            <a:avLst>
              <a:gd name="adj" fmla="val 2414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477463" y="24871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B5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MCD2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4666183" y="2551176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5CC2B2"/>
          </a:solidFill>
          <a:ln w="9525">
            <a:solidFill>
              <a:srgbClr val="5CC2B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666183" y="255117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F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· 13/13</a:t>
            </a:r>
            <a:endParaRPr 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3477463" y="2907792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defined trend &amp; breakout implication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3477463" y="3474720"/>
            <a:ext cx="23591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active of 8 (7 centroids + fractal)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SSA channel position; a breach is an abnormal deviation that favours mean reversion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 e.g. dip-value buy · rally-value sell · upper / lower over-extension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205118" y="2377440"/>
            <a:ext cx="2651760" cy="3200400"/>
          </a:xfrm>
          <a:prstGeom prst="roundRect">
            <a:avLst>
              <a:gd name="adj" fmla="val 2414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351422" y="24871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B5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MCD3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7540142" y="2551176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5CC2B2"/>
          </a:solidFill>
          <a:ln w="9525">
            <a:solidFill>
              <a:srgbClr val="5CC2B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540142" y="255117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F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· 13/13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6351422" y="2907792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trend &amp; EDT stochastic (M15 + M5)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6351422" y="3474720"/>
            <a:ext cx="23591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aligned; M5 corridor nested in M15 ≥ 75% of the time; nested on the latest bar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 stochastic 0–100% (≤ 20 value, ≥ 80 overbought); otherwise null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consolidated + 3 non-consolidated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9079078" y="2377440"/>
            <a:ext cx="2651760" cy="3200400"/>
          </a:xfrm>
          <a:prstGeom prst="roundRect">
            <a:avLst>
              <a:gd name="adj" fmla="val 2414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dash"/>
          </a:ln>
        </p:spPr>
      </p:sp>
      <p:sp>
        <p:nvSpPr>
          <p:cNvPr id="35" name="Text 32"/>
          <p:cNvSpPr txBox="1"/>
          <p:nvPr/>
        </p:nvSpPr>
        <p:spPr>
          <a:xfrm>
            <a:off x="9225382" y="24871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B5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MCD4–15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10414102" y="2551176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F0A54A"/>
          </a:solidFill>
          <a:ln w="9525">
            <a:solidFill>
              <a:srgbClr val="F0A54A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414102" y="255117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F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SPEC</a:t>
            </a:r>
            <a:endParaRPr lang="en-US" sz="850" dirty="0"/>
          </a:p>
        </p:txBody>
      </p:sp>
      <p:sp>
        <p:nvSpPr>
          <p:cNvPr id="38" name="Text 35"/>
          <p:cNvSpPr txBox="1"/>
          <p:nvPr/>
        </p:nvSpPr>
        <p:spPr>
          <a:xfrm>
            <a:off x="9225382" y="2907792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User-defined sensors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9225382" y="3474720"/>
            <a:ext cx="23591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topic, timeframe, columns, formulas and states are set by you for each module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pre-assumed from the early mock-up lists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 · unit tests · output JSON · spec · manifest</a:t>
            </a:r>
            <a:endParaRPr lang="en-US" sz="1150" dirty="0"/>
          </a:p>
        </p:txBody>
      </p:sp>
      <p:sp>
        <p:nvSpPr>
          <p:cNvPr id="40" name="Text 37"/>
          <p:cNvSpPr txBox="1"/>
          <p:nvPr/>
        </p:nvSpPr>
        <p:spPr>
          <a:xfrm>
            <a:off x="457200" y="576072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sensor runs a 4-tier pre-flight check first — exactly one active indicator, continuous data, upper band above lower band, containment ≥ 50% — and returns INVALID rather than a guess.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768096" cy="768096"/>
          </a:xfrm>
          <a:prstGeom prst="ellipse">
            <a:avLst/>
          </a:prstGeom>
          <a:solidFill>
            <a:srgbClr val="E2B54E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9184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31089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· QUANT STATE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566928"/>
            <a:ext cx="10317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non-compensatory gate, then each MCD states its regime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38988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4-Quadrant quality gate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783080" y="1783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· micro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3904488" y="1783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M15 · macro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2103120"/>
            <a:ext cx="1234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SSA crossings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783080" y="2103120"/>
            <a:ext cx="2011680" cy="896112"/>
          </a:xfrm>
          <a:prstGeom prst="roundRect">
            <a:avLst>
              <a:gd name="adj" fmla="val 7143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911096" y="21945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911096" y="2578608"/>
            <a:ext cx="731520" cy="237744"/>
          </a:xfrm>
          <a:prstGeom prst="roundRect">
            <a:avLst>
              <a:gd name="adj" fmla="val 50000"/>
            </a:avLst>
          </a:prstGeom>
          <a:solidFill>
            <a:srgbClr val="5CC2B2"/>
          </a:solidFill>
          <a:ln w="9525">
            <a:solidFill>
              <a:srgbClr val="5CC2B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911096" y="257860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F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904488" y="2103120"/>
            <a:ext cx="2011680" cy="896112"/>
          </a:xfrm>
          <a:prstGeom prst="roundRect">
            <a:avLst>
              <a:gd name="adj" fmla="val 7143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032504" y="21945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032504" y="2578608"/>
            <a:ext cx="1737360" cy="237744"/>
          </a:xfrm>
          <a:prstGeom prst="roundRect">
            <a:avLst>
              <a:gd name="adj" fmla="val 50000"/>
            </a:avLst>
          </a:prstGeom>
          <a:solidFill>
            <a:srgbClr val="F0A54A"/>
          </a:solidFill>
          <a:ln w="9525">
            <a:solidFill>
              <a:srgbClr val="F0A54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032504" y="257860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F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· coverage 42 &lt; 60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3108960"/>
            <a:ext cx="1234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price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783080" y="3108960"/>
            <a:ext cx="2011680" cy="896112"/>
          </a:xfrm>
          <a:prstGeom prst="roundRect">
            <a:avLst>
              <a:gd name="adj" fmla="val 7143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911096" y="32004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1911096" y="3584448"/>
            <a:ext cx="731520" cy="237744"/>
          </a:xfrm>
          <a:prstGeom prst="roundRect">
            <a:avLst>
              <a:gd name="adj" fmla="val 50000"/>
            </a:avLst>
          </a:prstGeom>
          <a:solidFill>
            <a:srgbClr val="5CC2B2"/>
          </a:solidFill>
          <a:ln w="9525">
            <a:solidFill>
              <a:srgbClr val="5CC2B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911096" y="358444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F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904488" y="3108960"/>
            <a:ext cx="2011680" cy="896112"/>
          </a:xfrm>
          <a:prstGeom prst="roundRect">
            <a:avLst>
              <a:gd name="adj" fmla="val 7143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032504" y="32004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032504" y="3584448"/>
            <a:ext cx="1737360" cy="237744"/>
          </a:xfrm>
          <a:prstGeom prst="roundRect">
            <a:avLst>
              <a:gd name="adj" fmla="val 50000"/>
            </a:avLst>
          </a:prstGeom>
          <a:solidFill>
            <a:srgbClr val="F0A54A"/>
          </a:solidFill>
          <a:ln w="9525">
            <a:solidFill>
              <a:srgbClr val="F0A54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032504" y="358444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F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· coverage 42 &lt; 60</a:t>
            </a:r>
            <a:endParaRPr lang="en-US" sz="85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40873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audit from the Engine 1.5 plan: a young M15 channel fails coverage on both models.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57200" y="4462272"/>
            <a:ext cx="1289304" cy="658368"/>
          </a:xfrm>
          <a:prstGeom prst="roundRect">
            <a:avLst>
              <a:gd name="adj" fmla="val 9722"/>
            </a:avLst>
          </a:prstGeom>
          <a:solidFill>
            <a:srgbClr val="262F3B"/>
          </a:solidFill>
          <a:ln w="9525">
            <a:solidFill>
              <a:srgbClr val="262F3B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48640" y="4462272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60 bars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1856232" y="4462272"/>
            <a:ext cx="1289304" cy="658368"/>
          </a:xfrm>
          <a:prstGeom prst="roundRect">
            <a:avLst>
              <a:gd name="adj" fmla="val 9722"/>
            </a:avLst>
          </a:prstGeom>
          <a:solidFill>
            <a:srgbClr val="262F3B"/>
          </a:solidFill>
          <a:ln w="9525">
            <a:solidFill>
              <a:srgbClr val="262F3B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947672" y="4462272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0.65 (A: 0.70)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3255264" y="4462272"/>
            <a:ext cx="1289304" cy="658368"/>
          </a:xfrm>
          <a:prstGeom prst="roundRect">
            <a:avLst>
              <a:gd name="adj" fmla="val 9722"/>
            </a:avLst>
          </a:prstGeom>
          <a:solidFill>
            <a:srgbClr val="262F3B"/>
          </a:solidFill>
          <a:ln w="9525">
            <a:solidFill>
              <a:srgbClr val="262F3B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3346704" y="4462272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ratio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1.50 – 3.20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4654296" y="4462272"/>
            <a:ext cx="1289304" cy="658368"/>
          </a:xfrm>
          <a:prstGeom prst="roundRect">
            <a:avLst>
              <a:gd name="adj" fmla="val 9722"/>
            </a:avLst>
          </a:prstGeom>
          <a:solidFill>
            <a:srgbClr val="262F3B"/>
          </a:solidFill>
          <a:ln w="9525">
            <a:solidFill>
              <a:srgbClr val="262F3B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45736" y="4462272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0.60 – 1.65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457200" y="5285232"/>
            <a:ext cx="5486400" cy="868680"/>
          </a:xfrm>
          <a:prstGeom prst="roundRect">
            <a:avLst>
              <a:gd name="adj" fmla="val 7368"/>
            </a:avLst>
          </a:prstGeom>
          <a:solidFill>
            <a:srgbClr val="161C24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457200" y="5285232"/>
            <a:ext cx="5486400" cy="868680"/>
          </a:xfrm>
          <a:prstGeom prst="rect">
            <a:avLst/>
          </a:prstGeom>
          <a:noFill/>
          <a:ln/>
        </p:spPr>
        <p:txBody>
          <a:bodyPr wrap="square" lIns="152400" tIns="63500" rIns="1524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pass: </a:t>
            </a:r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setup card.   </a:t>
            </a:r>
            <a:pPr indent="0" marL="0">
              <a:buNone/>
            </a:pPr>
            <a:r>
              <a:rPr lang="en-US" sz="1100" b="1" dirty="0">
                <a:solidFill>
                  <a:srgbClr val="F0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fail: </a:t>
            </a:r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setup is still shown, with an amber Cautionary Defect Flag and a 50% size cut (risk scaled 1.5% → 0.75% / 0.50%).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6400800" y="1389888"/>
            <a:ext cx="5330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 regime outputs replace JSONB54 and FREQ54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6400800" y="1755648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sensor already says what state the market is in — abbreviated from mcd1_output.json: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6400800" y="2103120"/>
            <a:ext cx="5330952" cy="1847088"/>
          </a:xfrm>
          <a:prstGeom prst="roundRect">
            <a:avLst>
              <a:gd name="adj" fmla="val 1980"/>
            </a:avLst>
          </a:prstGeom>
          <a:solidFill>
            <a:srgbClr val="0A0D11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537960" y="2157984"/>
            <a:ext cx="50566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A3AE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"mcd_id":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E2B5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"MCD1",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A3AE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"validation":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5CC2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"status": "PASS" },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A3AE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"macro_trend":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EE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"DOWNTREND",  "regression_angle": -29.72,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A3AE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"micro_regime":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EE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"UPPER_BREAKOUT",  "upper_breach_pct": 100.0,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A3AE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"regime_status":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E2B5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"COUNTER_TREND_EXPANSION",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A3AE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"commentary":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EE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"XAUUSD M15 macro slope is DOWNTREND (-29.72°), yet … persistent counter-trend buying expansion …"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6400800" y="4087368"/>
            <a:ext cx="5330952" cy="621792"/>
          </a:xfrm>
          <a:prstGeom prst="roundRect">
            <a:avLst>
              <a:gd name="adj" fmla="val 10294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6400800" y="4087368"/>
            <a:ext cx="5330952" cy="621792"/>
          </a:xfrm>
          <a:prstGeom prst="rect">
            <a:avLst/>
          </a:prstGeom>
          <a:noFill/>
          <a:ln/>
        </p:spPr>
        <p:txBody>
          <a:bodyPr wrap="square" lIns="152400" tIns="38100" rIns="152400" bIns="3810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Storyline → regime + commentary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regime_status and fixed English commentary are what the router and the LLM read.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6400800" y="4791456"/>
            <a:ext cx="5330952" cy="621792"/>
          </a:xfrm>
          <a:prstGeom prst="roundRect">
            <a:avLst>
              <a:gd name="adj" fmla="val 10294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6400800" y="4791456"/>
            <a:ext cx="5330952" cy="621792"/>
          </a:xfrm>
          <a:prstGeom prst="rect">
            <a:avLst/>
          </a:prstGeom>
          <a:noFill/>
          <a:ln/>
        </p:spPr>
        <p:txBody>
          <a:bodyPr wrap="square" lIns="152400" tIns="38100" rIns="152400" bIns="3810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FREQ54 → persistence inside each MCD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MCD1 needs ≥ 80% breach over ≥ 96 bars; MCD2 counts contained vs breached bars; MCD3 needs ≥ 75% nesting.</a:t>
            </a:r>
            <a:endParaRPr lang="en-US" sz="1050" dirty="0"/>
          </a:p>
        </p:txBody>
      </p:sp>
      <p:sp>
        <p:nvSpPr>
          <p:cNvPr id="48" name="Shape 45"/>
          <p:cNvSpPr/>
          <p:nvPr/>
        </p:nvSpPr>
        <p:spPr>
          <a:xfrm>
            <a:off x="6400800" y="5495544"/>
            <a:ext cx="5330952" cy="621792"/>
          </a:xfrm>
          <a:prstGeom prst="roundRect">
            <a:avLst>
              <a:gd name="adj" fmla="val 10294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6400800" y="5495544"/>
            <a:ext cx="5330952" cy="621792"/>
          </a:xfrm>
          <a:prstGeom prst="rect">
            <a:avLst/>
          </a:prstGeom>
          <a:noFill/>
          <a:ln/>
        </p:spPr>
        <p:txBody>
          <a:bodyPr wrap="square" lIns="152400" tIns="38100" rIns="152400" bIns="3810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result → Trade Setup Card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4-Quadrant failure travels to the card as a cautionary defect warning.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768096" cy="768096"/>
          </a:xfrm>
          <a:prstGeom prst="ellipse">
            <a:avLst/>
          </a:prstGeom>
          <a:solidFill>
            <a:srgbClr val="E2B54E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9184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31089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· ROUTING &amp; SYNTHESIS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566928"/>
            <a:ext cx="10317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 1.5E sends each question to the MCDs that matter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417320"/>
            <a:ext cx="4206240" cy="4709160"/>
          </a:xfrm>
          <a:prstGeom prst="roundRect">
            <a:avLst>
              <a:gd name="adj" fmla="val 1522"/>
            </a:avLst>
          </a:prstGeom>
          <a:solidFill>
            <a:srgbClr val="161C24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8368" y="157276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Engine 1.5C was retired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456432" y="1609344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E5746A"/>
          </a:solidFill>
          <a:ln w="9525">
            <a:solidFill>
              <a:srgbClr val="E5746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56432" y="160934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F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RETIRED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20116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WACS54 averaged 54 bars into one score from −100 to +100. Consider a 12-bar channel: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658368" y="269748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coverage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3566160" y="2697480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5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8368" y="2953512"/>
            <a:ext cx="3776472" cy="164592"/>
          </a:xfrm>
          <a:prstGeom prst="rect">
            <a:avLst/>
          </a:prstGeom>
          <a:solidFill>
            <a:srgbClr val="262F3B"/>
          </a:solidFill>
          <a:ln w="12700">
            <a:solidFill>
              <a:srgbClr val="262F3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58368" y="2953512"/>
            <a:ext cx="566471" cy="164592"/>
          </a:xfrm>
          <a:prstGeom prst="rect">
            <a:avLst/>
          </a:prstGeom>
          <a:solidFill>
            <a:srgbClr val="E5746A"/>
          </a:solidFill>
          <a:ln w="12700">
            <a:solidFill>
              <a:srgbClr val="E5746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8368" y="33009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quality R²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3566160" y="3300984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C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58368" y="3557016"/>
            <a:ext cx="3776472" cy="164592"/>
          </a:xfrm>
          <a:prstGeom prst="rect">
            <a:avLst/>
          </a:prstGeom>
          <a:solidFill>
            <a:srgbClr val="262F3B"/>
          </a:solidFill>
          <a:ln w="12700">
            <a:solidFill>
              <a:srgbClr val="262F3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58368" y="3557016"/>
            <a:ext cx="3700943" cy="164592"/>
          </a:xfrm>
          <a:prstGeom prst="rect">
            <a:avLst/>
          </a:prstGeom>
          <a:solidFill>
            <a:srgbClr val="5CC2B2"/>
          </a:solidFill>
          <a:ln w="12700">
            <a:solidFill>
              <a:srgbClr val="5CC2B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8368" y="3977640"/>
            <a:ext cx="3803904" cy="566928"/>
          </a:xfrm>
          <a:prstGeom prst="roundRect">
            <a:avLst>
              <a:gd name="adj" fmla="val 11290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3977640"/>
            <a:ext cx="3803904" cy="566928"/>
          </a:xfrm>
          <a:prstGeom prst="rect">
            <a:avLst/>
          </a:prstGeom>
          <a:noFill/>
          <a:ln/>
        </p:spPr>
        <p:txBody>
          <a:bodyPr wrap="square" lIns="127000" tIns="38100" rIns="127000" bIns="381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average ≈ 65%  →  </a:t>
            </a:r>
            <a:pPr indent="0" marL="0">
              <a:buNone/>
            </a:pPr>
            <a:r>
              <a:rPr lang="en-US" sz="1200" b="1" dirty="0">
                <a:solidFill>
                  <a:srgbClr val="E5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false “pass”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58368" y="4709160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bars are noise: a high fit cannot make up for too few bars. Averaging opposed regimes — an M15 trend and an M5 mean-reversion — also flattens the very signal the trader needs. Every threshold now has to pass on its own.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983480" y="1490472"/>
            <a:ext cx="457200" cy="457200"/>
          </a:xfrm>
          <a:prstGeom prst="ellipse">
            <a:avLst/>
          </a:prstGeom>
          <a:solidFill>
            <a:srgbClr val="0F1318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983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5623560" y="1435608"/>
            <a:ext cx="6108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intent and regime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5623560" y="1746504"/>
            <a:ext cx="6108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the question (direction, entry timing, S&amp;R, volatility, risk) and read the live regime from Engine 1.5A.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4983480" y="2496312"/>
            <a:ext cx="457200" cy="457200"/>
          </a:xfrm>
          <a:prstGeom prst="ellipse">
            <a:avLst/>
          </a:prstGeom>
          <a:solidFill>
            <a:srgbClr val="0F1318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983480" y="2496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5623560" y="2441448"/>
            <a:ext cx="6108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dispatch vector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5623560" y="2752344"/>
            <a:ext cx="6108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 × embed(question)  +  0.40 × embed(live MCD commentary) — intent weighed against what the market is doing now.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4983480" y="3502152"/>
            <a:ext cx="457200" cy="457200"/>
          </a:xfrm>
          <a:prstGeom prst="ellipse">
            <a:avLst/>
          </a:prstGeom>
          <a:solidFill>
            <a:srgbClr val="0F1318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983480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5623560" y="3447288"/>
            <a:ext cx="6108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TRADING_ROUTER.md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5623560" y="3758184"/>
            <a:ext cx="6108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against each MCD’s capability node, compiled from its canonical commentary. Keep scores ≥ 0.72 or the top 3; MCD1 is always in when direction matters.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4983480" y="4507992"/>
            <a:ext cx="457200" cy="457200"/>
          </a:xfrm>
          <a:prstGeom prst="ellipse">
            <a:avLst/>
          </a:prstGeom>
          <a:solidFill>
            <a:srgbClr val="0F1318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983480" y="4507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5623560" y="4453128"/>
            <a:ext cx="6108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M* and scope everything downstream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5623560" y="4764024"/>
            <a:ext cx="6108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M* = {MCD1, MCD2, MCD3} becomes a hard metadata filter on Engine 2 retrieval.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4983480" y="5486400"/>
            <a:ext cx="6748272" cy="640080"/>
          </a:xfrm>
          <a:prstGeom prst="roundRect">
            <a:avLst>
              <a:gd name="adj" fmla="val 10000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4983480" y="5486400"/>
            <a:ext cx="6748272" cy="640080"/>
          </a:xfrm>
          <a:prstGeom prst="rect">
            <a:avLst/>
          </a:prstGeom>
          <a:noFill/>
          <a:ln/>
        </p:spPr>
        <p:txBody>
          <a:bodyPr wrap="square" lIns="177800" tIns="38100" rIns="152400" bIns="3810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B5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25,000+  →  &lt; 2,000</a:t>
            </a:r>
            <a:pPr indent="0" marL="0">
              <a:buNone/>
            </a:pPr>
            <a:r>
              <a:rPr lang="en-US" sz="12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prompt tokens per request — up to 90% fewer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768096" cy="768096"/>
          </a:xfrm>
          <a:prstGeom prst="ellipse">
            <a:avLst/>
          </a:prstGeom>
          <a:solidFill>
            <a:srgbClr val="E2B54E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9184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31089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· ROUTING &amp; SYNTHESIS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566928"/>
            <a:ext cx="10317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assembly: rules from Markdown, numbers from JSON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417320"/>
            <a:ext cx="4160520" cy="4754880"/>
          </a:xfrm>
          <a:prstGeom prst="roundRect">
            <a:avLst>
              <a:gd name="adj" fmla="val 1538"/>
            </a:avLst>
          </a:prstGeom>
          <a:solidFill>
            <a:srgbClr val="161C24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153619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2 · scoped txtai RAG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1965960"/>
            <a:ext cx="502920" cy="420624"/>
          </a:xfrm>
          <a:prstGeom prst="roundRect">
            <a:avLst>
              <a:gd name="adj" fmla="val 15217"/>
            </a:avLst>
          </a:prstGeom>
          <a:solidFill>
            <a:srgbClr val="0F1318"/>
          </a:solidFill>
          <a:ln w="12700">
            <a:solidFill>
              <a:srgbClr val="E2B54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1965960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280160" y="196596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 foundations &amp; maths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0080" y="2532888"/>
            <a:ext cx="502920" cy="420624"/>
          </a:xfrm>
          <a:prstGeom prst="roundRect">
            <a:avLst>
              <a:gd name="adj" fmla="val 15217"/>
            </a:avLst>
          </a:prstGeom>
          <a:solidFill>
            <a:srgbClr val="0F1318"/>
          </a:solidFill>
          <a:ln w="12700">
            <a:solidFill>
              <a:srgbClr val="E2B54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2532888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280160" y="253288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Single-MCD trading playbooks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40080" y="3099816"/>
            <a:ext cx="502920" cy="420624"/>
          </a:xfrm>
          <a:prstGeom prst="roundRect">
            <a:avLst>
              <a:gd name="adj" fmla="val 15217"/>
            </a:avLst>
          </a:prstGeom>
          <a:solidFill>
            <a:srgbClr val="0F1318"/>
          </a:solidFill>
          <a:ln w="12700">
            <a:solidFill>
              <a:srgbClr val="E2B54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3099816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3099816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Multi-MCD synthesis &amp; conflict resolution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40080" y="3666744"/>
            <a:ext cx="502920" cy="420624"/>
          </a:xfrm>
          <a:prstGeom prst="roundRect">
            <a:avLst>
              <a:gd name="adj" fmla="val 15217"/>
            </a:avLst>
          </a:prstGeom>
          <a:solidFill>
            <a:srgbClr val="0F1318"/>
          </a:solidFill>
          <a:ln w="12700">
            <a:solidFill>
              <a:srgbClr val="E2B54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0080" y="3666744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366674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 &amp; position sizing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40080" y="4233672"/>
            <a:ext cx="502920" cy="420624"/>
          </a:xfrm>
          <a:prstGeom prst="roundRect">
            <a:avLst>
              <a:gd name="adj" fmla="val 15217"/>
            </a:avLst>
          </a:prstGeom>
          <a:solidFill>
            <a:srgbClr val="0F1318"/>
          </a:solidFill>
          <a:ln w="12700">
            <a:solidFill>
              <a:srgbClr val="E2B54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0080" y="423367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1280160" y="4233672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compliance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640080" y="489204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scoped SQL search: similar(question) and mcd_id in M*, or domain in {synthesis, risk, governance}  →  hybrid dense + BM25 (70 / 30)  →  top 3–5 chunks (1,500–2,500 tokens). Build detail on the next slide.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846320" y="1417320"/>
            <a:ext cx="3383280" cy="4754880"/>
          </a:xfrm>
          <a:prstGeom prst="roundRect">
            <a:avLst>
              <a:gd name="adj" fmla="val 1892"/>
            </a:avLst>
          </a:prstGeom>
          <a:solidFill>
            <a:srgbClr val="161C24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029200" y="153619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3 · chart vision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5029200" y="1965960"/>
            <a:ext cx="3017520" cy="1143000"/>
          </a:xfrm>
          <a:prstGeom prst="roundRect">
            <a:avLst>
              <a:gd name="adj" fmla="val 2400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 flipV="1">
            <a:off x="6766560" y="2498598"/>
            <a:ext cx="1143000" cy="349758"/>
          </a:xfrm>
          <a:prstGeom prst="line">
            <a:avLst/>
          </a:prstGeom>
          <a:noFill/>
          <a:ln w="12700">
            <a:solidFill>
              <a:srgbClr val="4A566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 flipV="1">
            <a:off x="6766560" y="2577236"/>
            <a:ext cx="1143000" cy="348844"/>
          </a:xfrm>
          <a:prstGeom prst="line">
            <a:avLst/>
          </a:prstGeom>
          <a:noFill/>
          <a:ln w="12700">
            <a:solidFill>
              <a:srgbClr val="4A5666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 flipV="1">
            <a:off x="6766560" y="2576322"/>
            <a:ext cx="228600" cy="155448"/>
          </a:xfrm>
          <a:prstGeom prst="line">
            <a:avLst/>
          </a:prstGeom>
          <a:noFill/>
          <a:ln w="15875">
            <a:solidFill>
              <a:srgbClr val="E2B54E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995160" y="2576322"/>
            <a:ext cx="171450" cy="101041"/>
          </a:xfrm>
          <a:prstGeom prst="line">
            <a:avLst/>
          </a:prstGeom>
          <a:noFill/>
          <a:ln w="15875">
            <a:solidFill>
              <a:srgbClr val="E2B54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 flipV="1">
            <a:off x="7166610" y="2459736"/>
            <a:ext cx="228600" cy="217627"/>
          </a:xfrm>
          <a:prstGeom prst="line">
            <a:avLst/>
          </a:prstGeom>
          <a:noFill/>
          <a:ln w="15875">
            <a:solidFill>
              <a:srgbClr val="E2B54E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395210" y="2459736"/>
            <a:ext cx="171450" cy="77724"/>
          </a:xfrm>
          <a:prstGeom prst="line">
            <a:avLst/>
          </a:prstGeom>
          <a:noFill/>
          <a:ln w="15875">
            <a:solidFill>
              <a:srgbClr val="E2B54E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 flipV="1">
            <a:off x="7566660" y="2319833"/>
            <a:ext cx="228600" cy="217627"/>
          </a:xfrm>
          <a:prstGeom prst="line">
            <a:avLst/>
          </a:prstGeom>
          <a:noFill/>
          <a:ln w="15875">
            <a:solidFill>
              <a:srgbClr val="E2B54E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795260" y="2319833"/>
            <a:ext cx="114300" cy="62179"/>
          </a:xfrm>
          <a:prstGeom prst="line">
            <a:avLst/>
          </a:prstGeom>
          <a:noFill/>
          <a:ln w="15875">
            <a:solidFill>
              <a:srgbClr val="E2B54E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029200" y="1965960"/>
            <a:ext cx="1691640" cy="1143000"/>
          </a:xfrm>
          <a:prstGeom prst="rect">
            <a:avLst/>
          </a:prstGeom>
          <a:noFill/>
          <a:ln/>
        </p:spPr>
        <p:txBody>
          <a:bodyPr wrap="square" lIns="114300" tIns="38100" rIns="76200" bIns="381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· XAUUSD M5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candles + its own channel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5029200" y="3182112"/>
            <a:ext cx="3017520" cy="1143000"/>
          </a:xfrm>
          <a:prstGeom prst="roundRect">
            <a:avLst>
              <a:gd name="adj" fmla="val 2400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 flipV="1">
            <a:off x="6766560" y="3714750"/>
            <a:ext cx="1143000" cy="349758"/>
          </a:xfrm>
          <a:prstGeom prst="line">
            <a:avLst/>
          </a:prstGeom>
          <a:noFill/>
          <a:ln w="12700">
            <a:solidFill>
              <a:srgbClr val="4A5666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 flipV="1">
            <a:off x="6766560" y="3793388"/>
            <a:ext cx="1143000" cy="348844"/>
          </a:xfrm>
          <a:prstGeom prst="line">
            <a:avLst/>
          </a:prstGeom>
          <a:noFill/>
          <a:ln w="12700">
            <a:solidFill>
              <a:srgbClr val="4A5666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 flipV="1">
            <a:off x="7280910" y="3504895"/>
            <a:ext cx="628650" cy="217627"/>
          </a:xfrm>
          <a:prstGeom prst="line">
            <a:avLst/>
          </a:prstGeom>
          <a:noFill/>
          <a:ln w="12700">
            <a:solidFill>
              <a:srgbClr val="5CC2B2"/>
            </a:solidFill>
            <a:prstDash val="dash"/>
          </a:ln>
        </p:spPr>
      </p:sp>
      <p:sp>
        <p:nvSpPr>
          <p:cNvPr id="42" name="Shape 39"/>
          <p:cNvSpPr/>
          <p:nvPr/>
        </p:nvSpPr>
        <p:spPr>
          <a:xfrm flipV="1">
            <a:off x="7280910" y="3675888"/>
            <a:ext cx="628650" cy="217627"/>
          </a:xfrm>
          <a:prstGeom prst="line">
            <a:avLst/>
          </a:prstGeom>
          <a:noFill/>
          <a:ln w="12700">
            <a:solidFill>
              <a:srgbClr val="5CC2B2"/>
            </a:solidFill>
            <a:prstDash val="dash"/>
          </a:ln>
        </p:spPr>
      </p:sp>
      <p:sp>
        <p:nvSpPr>
          <p:cNvPr id="43" name="Shape 40"/>
          <p:cNvSpPr/>
          <p:nvPr/>
        </p:nvSpPr>
        <p:spPr>
          <a:xfrm flipV="1">
            <a:off x="6766560" y="3792474"/>
            <a:ext cx="228600" cy="155448"/>
          </a:xfrm>
          <a:prstGeom prst="line">
            <a:avLst/>
          </a:prstGeom>
          <a:noFill/>
          <a:ln w="15875">
            <a:solidFill>
              <a:srgbClr val="E2B54E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995160" y="3792474"/>
            <a:ext cx="171450" cy="101041"/>
          </a:xfrm>
          <a:prstGeom prst="line">
            <a:avLst/>
          </a:prstGeom>
          <a:noFill/>
          <a:ln w="15875">
            <a:solidFill>
              <a:srgbClr val="E2B54E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 flipV="1">
            <a:off x="7166610" y="3675888"/>
            <a:ext cx="228600" cy="217627"/>
          </a:xfrm>
          <a:prstGeom prst="line">
            <a:avLst/>
          </a:prstGeom>
          <a:noFill/>
          <a:ln w="15875">
            <a:solidFill>
              <a:srgbClr val="E2B54E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395210" y="3675888"/>
            <a:ext cx="171450" cy="77724"/>
          </a:xfrm>
          <a:prstGeom prst="line">
            <a:avLst/>
          </a:prstGeom>
          <a:noFill/>
          <a:ln w="15875">
            <a:solidFill>
              <a:srgbClr val="E2B54E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 flipV="1">
            <a:off x="7566660" y="3535985"/>
            <a:ext cx="228600" cy="217627"/>
          </a:xfrm>
          <a:prstGeom prst="line">
            <a:avLst/>
          </a:prstGeom>
          <a:noFill/>
          <a:ln w="15875">
            <a:solidFill>
              <a:srgbClr val="E2B54E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7795260" y="3535985"/>
            <a:ext cx="114300" cy="62179"/>
          </a:xfrm>
          <a:prstGeom prst="line">
            <a:avLst/>
          </a:prstGeom>
          <a:noFill/>
          <a:ln w="15875">
            <a:solidFill>
              <a:srgbClr val="E2B54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5029200" y="3182112"/>
            <a:ext cx="1691640" cy="1143000"/>
          </a:xfrm>
          <a:prstGeom prst="rect">
            <a:avLst/>
          </a:prstGeom>
          <a:noFill/>
          <a:ln/>
        </p:spPr>
        <p:txBody>
          <a:bodyPr wrap="square" lIns="114300" tIns="38100" rIns="76200" bIns="381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· XAUUSD M15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channel; PRO overlay adds the M5 channel</a:t>
            </a:r>
            <a:endParaRPr lang="en-US" sz="1050" dirty="0"/>
          </a:p>
        </p:txBody>
      </p:sp>
      <p:sp>
        <p:nvSpPr>
          <p:cNvPr id="50" name="Text 47"/>
          <p:cNvSpPr txBox="1"/>
          <p:nvPr/>
        </p:nvSpPr>
        <p:spPr>
          <a:xfrm>
            <a:off x="5029200" y="448056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time axis. Rendered every ~5 minutes on the VPS and kept in a private R2 bucket. The variant follows the trader’s tier and saved M5-on-M15 toggle; FREE users get no chart. Always pre-rendered, never on demand, to hold the &lt; 120 ms retrieval budget.</a:t>
            </a:r>
            <a:endParaRPr lang="en-US" sz="1050" dirty="0"/>
          </a:p>
        </p:txBody>
      </p:sp>
      <p:sp>
        <p:nvSpPr>
          <p:cNvPr id="51" name="Shape 48"/>
          <p:cNvSpPr/>
          <p:nvPr/>
        </p:nvSpPr>
        <p:spPr>
          <a:xfrm>
            <a:off x="8458200" y="1417320"/>
            <a:ext cx="3273552" cy="4754880"/>
          </a:xfrm>
          <a:prstGeom prst="roundRect">
            <a:avLst>
              <a:gd name="adj" fmla="val 1955"/>
            </a:avLst>
          </a:prstGeom>
          <a:solidFill>
            <a:srgbClr val="161C24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641080" y="153619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Super-prompt → LLM</a:t>
            </a:r>
            <a:endParaRPr lang="en-US" sz="1400" dirty="0"/>
          </a:p>
        </p:txBody>
      </p:sp>
      <p:sp>
        <p:nvSpPr>
          <p:cNvPr id="53" name="Shape 50"/>
          <p:cNvSpPr/>
          <p:nvPr/>
        </p:nvSpPr>
        <p:spPr>
          <a:xfrm>
            <a:off x="8641080" y="1965960"/>
            <a:ext cx="2907792" cy="356616"/>
          </a:xfrm>
          <a:prstGeom prst="roundRect">
            <a:avLst>
              <a:gd name="adj" fmla="val 12821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8778240" y="1965960"/>
            <a:ext cx="2743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1-day OHLC: M5 × 288 · M15 × 96 bars</a:t>
            </a:r>
            <a:endParaRPr lang="en-US" sz="1050" dirty="0"/>
          </a:p>
        </p:txBody>
      </p:sp>
      <p:sp>
        <p:nvSpPr>
          <p:cNvPr id="55" name="Shape 52"/>
          <p:cNvSpPr/>
          <p:nvPr/>
        </p:nvSpPr>
        <p:spPr>
          <a:xfrm>
            <a:off x="8641080" y="2395728"/>
            <a:ext cx="2907792" cy="356616"/>
          </a:xfrm>
          <a:prstGeom prst="roundRect">
            <a:avLst>
              <a:gd name="adj" fmla="val 12821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8778240" y="2395728"/>
            <a:ext cx="2743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MCD outputs: regime + commentary</a:t>
            </a:r>
            <a:endParaRPr lang="en-US" sz="1050" dirty="0"/>
          </a:p>
        </p:txBody>
      </p:sp>
      <p:sp>
        <p:nvSpPr>
          <p:cNvPr id="57" name="Shape 54"/>
          <p:cNvSpPr/>
          <p:nvPr/>
        </p:nvSpPr>
        <p:spPr>
          <a:xfrm>
            <a:off x="8641080" y="2825496"/>
            <a:ext cx="2907792" cy="356616"/>
          </a:xfrm>
          <a:prstGeom prst="roundRect">
            <a:avLst>
              <a:gd name="adj" fmla="val 12821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8778240" y="2825496"/>
            <a:ext cx="2743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knowledge chunks (txtai)</a:t>
            </a:r>
            <a:endParaRPr lang="en-US" sz="1050" dirty="0"/>
          </a:p>
        </p:txBody>
      </p:sp>
      <p:sp>
        <p:nvSpPr>
          <p:cNvPr id="59" name="Shape 56"/>
          <p:cNvSpPr/>
          <p:nvPr/>
        </p:nvSpPr>
        <p:spPr>
          <a:xfrm>
            <a:off x="8641080" y="3255264"/>
            <a:ext cx="2907792" cy="356616"/>
          </a:xfrm>
          <a:prstGeom prst="roundRect">
            <a:avLst>
              <a:gd name="adj" fmla="val 12821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8778240" y="3255264"/>
            <a:ext cx="2743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4 limits + risk rules</a:t>
            </a:r>
            <a:endParaRPr lang="en-US" sz="1050" dirty="0"/>
          </a:p>
        </p:txBody>
      </p:sp>
      <p:sp>
        <p:nvSpPr>
          <p:cNvPr id="61" name="Shape 58"/>
          <p:cNvSpPr/>
          <p:nvPr/>
        </p:nvSpPr>
        <p:spPr>
          <a:xfrm>
            <a:off x="8641080" y="3685032"/>
            <a:ext cx="2907792" cy="356616"/>
          </a:xfrm>
          <a:prstGeom prst="roundRect">
            <a:avLst>
              <a:gd name="adj" fmla="val 12821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778240" y="3685032"/>
            <a:ext cx="2743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2-panel chart image (PRO)</a:t>
            </a:r>
            <a:endParaRPr lang="en-US" sz="1050" dirty="0"/>
          </a:p>
        </p:txBody>
      </p:sp>
      <p:sp>
        <p:nvSpPr>
          <p:cNvPr id="63" name="Shape 60"/>
          <p:cNvSpPr/>
          <p:nvPr/>
        </p:nvSpPr>
        <p:spPr>
          <a:xfrm>
            <a:off x="8641080" y="4114800"/>
            <a:ext cx="2907792" cy="356616"/>
          </a:xfrm>
          <a:prstGeom prst="roundRect">
            <a:avLst>
              <a:gd name="adj" fmla="val 12821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778240" y="4114800"/>
            <a:ext cx="2743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events + recent chat turns</a:t>
            </a:r>
            <a:endParaRPr lang="en-US" sz="1050" dirty="0"/>
          </a:p>
        </p:txBody>
      </p:sp>
      <p:sp>
        <p:nvSpPr>
          <p:cNvPr id="65" name="Shape 62"/>
          <p:cNvSpPr/>
          <p:nvPr/>
        </p:nvSpPr>
        <p:spPr>
          <a:xfrm>
            <a:off x="10094976" y="4572000"/>
            <a:ext cx="0" cy="274320"/>
          </a:xfrm>
          <a:prstGeom prst="line">
            <a:avLst/>
          </a:prstGeom>
          <a:noFill/>
          <a:ln w="15875">
            <a:solidFill>
              <a:srgbClr val="E2B54E"/>
            </a:solidFill>
            <a:prstDash val="solid"/>
            <a:tailEnd type="triangle"/>
          </a:ln>
        </p:spPr>
      </p:sp>
      <p:sp>
        <p:nvSpPr>
          <p:cNvPr id="66" name="Shape 63"/>
          <p:cNvSpPr/>
          <p:nvPr/>
        </p:nvSpPr>
        <p:spPr>
          <a:xfrm>
            <a:off x="8641080" y="4882896"/>
            <a:ext cx="2907792" cy="731520"/>
          </a:xfrm>
          <a:prstGeom prst="roundRect">
            <a:avLst>
              <a:gd name="adj" fmla="val 8750"/>
            </a:avLst>
          </a:prstGeom>
          <a:solidFill>
            <a:srgbClr val="1D242E"/>
          </a:solidFill>
          <a:ln w="19050">
            <a:solidFill>
              <a:srgbClr val="E2B54E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8641080" y="4882896"/>
            <a:ext cx="2907792" cy="731520"/>
          </a:xfrm>
          <a:prstGeom prst="rect">
            <a:avLst/>
          </a:prstGeom>
          <a:noFill/>
          <a:ln/>
        </p:spPr>
        <p:txBody>
          <a:bodyPr wrap="square" lIns="127000" tIns="38100" rIns="101600" bIns="381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LLM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Claude Opus 5.5 or Gemini, via the LLM gateway</a:t>
            </a:r>
            <a:endParaRPr lang="en-US" sz="1200" dirty="0"/>
          </a:p>
        </p:txBody>
      </p:sp>
      <p:sp>
        <p:nvSpPr>
          <p:cNvPr id="68" name="Text 65"/>
          <p:cNvSpPr txBox="1"/>
          <p:nvPr/>
        </p:nvSpPr>
        <p:spPr>
          <a:xfrm>
            <a:off x="8641080" y="5660136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1-day OHLC is 1,536 numbers, down from 5,562 (54 bars × 103 columns). Report 1 streams over SSE.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768096" cy="768096"/>
          </a:xfrm>
          <a:prstGeom prst="ellipse">
            <a:avLst/>
          </a:prstGeom>
          <a:solidFill>
            <a:srgbClr val="E2B54E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9184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31089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· ENGINE 2 BUILD FROM THE TXTAI SEED CODE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566928"/>
            <a:ext cx="10317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Engine 2 will be built on txtai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371600"/>
            <a:ext cx="11274552" cy="658368"/>
          </a:xfrm>
          <a:prstGeom prst="roundRect">
            <a:avLst>
              <a:gd name="adj" fmla="val 9722"/>
            </a:avLst>
          </a:prstGeom>
          <a:solidFill>
            <a:srgbClr val="161C24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1371600"/>
            <a:ext cx="11274552" cy="658368"/>
          </a:xfrm>
          <a:prstGeom prst="rect">
            <a:avLst/>
          </a:prstGeom>
          <a:noFill/>
          <a:ln/>
        </p:spPr>
        <p:txBody>
          <a:bodyPr wrap="square" lIns="177800" tIns="38100" rIns="177800" bIns="381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knowledge systems.  </a:t>
            </a:r>
            <a:pPr indent="0" marL="0">
              <a:buNone/>
            </a:pPr>
            <a:r>
              <a:rPr lang="en-US" sz="12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and the MCD JSON say </a:t>
            </a:r>
            <a:pPr indent="0" marL="0">
              <a:buNone/>
            </a:pPr>
            <a:r>
              <a:rPr lang="en-US" sz="12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happening now</a:t>
            </a:r>
            <a:pPr indent="0" marL="0">
              <a:buNone/>
            </a:pPr>
            <a:r>
              <a:rPr lang="en-US" sz="12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read by exact query, never vector-searched. txtai says </a:t>
            </a:r>
            <a:pPr indent="0" marL="0">
              <a:buNone/>
            </a:pPr>
            <a:r>
              <a:rPr lang="en-US" sz="12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interpret it</a:t>
            </a:r>
            <a:pPr indent="0" marL="0">
              <a:buNone/>
            </a:pPr>
            <a:r>
              <a:rPr lang="en-US" sz="12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rules and playbooks, searched by meaning.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2585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25603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deploy, from the Markdown in git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1691640" y="2212848"/>
            <a:ext cx="2331720" cy="1645920"/>
          </a:xfrm>
          <a:prstGeom prst="roundRect">
            <a:avLst>
              <a:gd name="adj" fmla="val 3889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801368" y="2322576"/>
            <a:ext cx="310896" cy="310896"/>
          </a:xfrm>
          <a:prstGeom prst="ellipse">
            <a:avLst/>
          </a:prstGeom>
          <a:solidFill>
            <a:srgbClr val="0F1318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801368" y="2322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2B5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2185416" y="2304288"/>
            <a:ext cx="1764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by section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819656" y="2743200"/>
            <a:ext cx="207568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each Markdown file on ## / ### headings; merge chunks under 200 tokens, split those over 1,500.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050792" y="3035808"/>
            <a:ext cx="146304" cy="0"/>
          </a:xfrm>
          <a:prstGeom prst="line">
            <a:avLst/>
          </a:prstGeom>
          <a:noFill/>
          <a:ln w="15875">
            <a:solidFill>
              <a:srgbClr val="7D8A99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4224528" y="2212848"/>
            <a:ext cx="2331720" cy="1645920"/>
          </a:xfrm>
          <a:prstGeom prst="roundRect">
            <a:avLst>
              <a:gd name="adj" fmla="val 3889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334256" y="2322576"/>
            <a:ext cx="310896" cy="310896"/>
          </a:xfrm>
          <a:prstGeom prst="ellipse">
            <a:avLst/>
          </a:prstGeom>
          <a:solidFill>
            <a:srgbClr val="0F1318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34256" y="2322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2B5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4718304" y="2304288"/>
            <a:ext cx="1764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every chunk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4352544" y="2743200"/>
            <a:ext cx="207568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dict rows: text plus mcd_id, domain, timeframe, regime states and version from the YAML front-matter.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583680" y="3035808"/>
            <a:ext cx="146304" cy="0"/>
          </a:xfrm>
          <a:prstGeom prst="line">
            <a:avLst/>
          </a:prstGeom>
          <a:noFill/>
          <a:ln w="15875">
            <a:solidFill>
              <a:srgbClr val="7D8A99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6757416" y="2212848"/>
            <a:ext cx="2331720" cy="1645920"/>
          </a:xfrm>
          <a:prstGeom prst="roundRect">
            <a:avLst>
              <a:gd name="adj" fmla="val 3889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867144" y="2322576"/>
            <a:ext cx="310896" cy="310896"/>
          </a:xfrm>
          <a:prstGeom prst="ellipse">
            <a:avLst/>
          </a:prstGeom>
          <a:solidFill>
            <a:srgbClr val="0F1318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867144" y="2322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2B5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7251192" y="2304288"/>
            <a:ext cx="1764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6885432" y="2743200"/>
            <a:ext cx="207568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Embeddings(content=True, hybrid=True): Faiss HNSW vectors + a BM25 keyword index, text and tags in SQLite.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9116568" y="3035808"/>
            <a:ext cx="146304" cy="0"/>
          </a:xfrm>
          <a:prstGeom prst="line">
            <a:avLst/>
          </a:prstGeom>
          <a:noFill/>
          <a:ln w="15875">
            <a:solidFill>
              <a:srgbClr val="7D8A99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9290304" y="2212848"/>
            <a:ext cx="2331720" cy="1645920"/>
          </a:xfrm>
          <a:prstGeom prst="roundRect">
            <a:avLst>
              <a:gd name="adj" fmla="val 3889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400032" y="2322576"/>
            <a:ext cx="310896" cy="310896"/>
          </a:xfrm>
          <a:prstGeom prst="ellipse">
            <a:avLst/>
          </a:prstGeom>
          <a:solidFill>
            <a:srgbClr val="0F1318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400032" y="2322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2B5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9784080" y="2304288"/>
            <a:ext cx="1764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as local files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9418320" y="2743200"/>
            <a:ext cx="207568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save() writes the index folder beside Engine 2; load() reads it at start-up. No database involved.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457200" y="40873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457200" y="43891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online, for every request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1691640" y="4041648"/>
            <a:ext cx="2331720" cy="1645920"/>
          </a:xfrm>
          <a:prstGeom prst="roundRect">
            <a:avLst>
              <a:gd name="adj" fmla="val 3889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801368" y="4151376"/>
            <a:ext cx="310896" cy="310896"/>
          </a:xfrm>
          <a:prstGeom prst="ellipse">
            <a:avLst/>
          </a:prstGeom>
          <a:solidFill>
            <a:srgbClr val="0F1318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1801368" y="4151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2B5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900" dirty="0"/>
          </a:p>
        </p:txBody>
      </p:sp>
      <p:sp>
        <p:nvSpPr>
          <p:cNvPr id="40" name="Text 37"/>
          <p:cNvSpPr txBox="1"/>
          <p:nvPr/>
        </p:nvSpPr>
        <p:spPr>
          <a:xfrm>
            <a:off x="2185416" y="4133088"/>
            <a:ext cx="1764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query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1819656" y="4572000"/>
            <a:ext cx="207568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the question with the routed MCDs’ current regime states — not the raw chat text alone.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4050792" y="4864608"/>
            <a:ext cx="146304" cy="0"/>
          </a:xfrm>
          <a:prstGeom prst="line">
            <a:avLst/>
          </a:prstGeom>
          <a:noFill/>
          <a:ln w="15875">
            <a:solidFill>
              <a:srgbClr val="7D8A99"/>
            </a:solidFill>
            <a:prstDash val="solid"/>
            <a:tailEnd type="triangle"/>
          </a:ln>
        </p:spPr>
      </p:sp>
      <p:sp>
        <p:nvSpPr>
          <p:cNvPr id="43" name="Shape 40"/>
          <p:cNvSpPr/>
          <p:nvPr/>
        </p:nvSpPr>
        <p:spPr>
          <a:xfrm>
            <a:off x="4224528" y="4041648"/>
            <a:ext cx="2331720" cy="1645920"/>
          </a:xfrm>
          <a:prstGeom prst="roundRect">
            <a:avLst>
              <a:gd name="adj" fmla="val 3889"/>
            </a:avLst>
          </a:prstGeom>
          <a:solidFill>
            <a:srgbClr val="1D242E"/>
          </a:solidFill>
          <a:ln w="19050">
            <a:solidFill>
              <a:srgbClr val="E2B54E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334256" y="4151376"/>
            <a:ext cx="310896" cy="310896"/>
          </a:xfrm>
          <a:prstGeom prst="ellipse">
            <a:avLst/>
          </a:prstGeom>
          <a:solidFill>
            <a:srgbClr val="0F1318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4334256" y="4151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2B5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900" dirty="0"/>
          </a:p>
        </p:txBody>
      </p:sp>
      <p:sp>
        <p:nvSpPr>
          <p:cNvPr id="46" name="Text 43"/>
          <p:cNvSpPr txBox="1"/>
          <p:nvPr/>
        </p:nvSpPr>
        <p:spPr>
          <a:xfrm>
            <a:off x="4718304" y="4133088"/>
            <a:ext cx="1764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SQL search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4334256" y="4535424"/>
            <a:ext cx="2112264" cy="1042416"/>
          </a:xfrm>
          <a:prstGeom prst="roundRect">
            <a:avLst>
              <a:gd name="adj" fmla="val 3509"/>
            </a:avLst>
          </a:prstGeom>
          <a:solidFill>
            <a:srgbClr val="0A0D11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4407408" y="4553712"/>
            <a:ext cx="2002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id, text, score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E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txtai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B5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similar(:q, 40)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E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(mcd_id IN (:mstar)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E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OR domain IN (:shared))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E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4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6583680" y="4864608"/>
            <a:ext cx="146304" cy="0"/>
          </a:xfrm>
          <a:prstGeom prst="line">
            <a:avLst/>
          </a:prstGeom>
          <a:noFill/>
          <a:ln w="15875">
            <a:solidFill>
              <a:srgbClr val="7D8A99"/>
            </a:solidFill>
            <a:prstDash val="solid"/>
            <a:tailEnd type="triangle"/>
          </a:ln>
        </p:spPr>
      </p:sp>
      <p:sp>
        <p:nvSpPr>
          <p:cNvPr id="50" name="Shape 47"/>
          <p:cNvSpPr/>
          <p:nvPr/>
        </p:nvSpPr>
        <p:spPr>
          <a:xfrm>
            <a:off x="6757416" y="4041648"/>
            <a:ext cx="2331720" cy="1645920"/>
          </a:xfrm>
          <a:prstGeom prst="roundRect">
            <a:avLst>
              <a:gd name="adj" fmla="val 3889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867144" y="4151376"/>
            <a:ext cx="310896" cy="310896"/>
          </a:xfrm>
          <a:prstGeom prst="ellipse">
            <a:avLst/>
          </a:prstGeom>
          <a:solidFill>
            <a:srgbClr val="0F1318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6867144" y="4151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2B5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900" dirty="0"/>
          </a:p>
        </p:txBody>
      </p:sp>
      <p:sp>
        <p:nvSpPr>
          <p:cNvPr id="53" name="Text 50"/>
          <p:cNvSpPr txBox="1"/>
          <p:nvPr/>
        </p:nvSpPr>
        <p:spPr>
          <a:xfrm>
            <a:off x="7251192" y="4133088"/>
            <a:ext cx="1764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ranking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6885432" y="4572000"/>
            <a:ext cx="207568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weights setting balances dense and BM25 scores (70 / 30); a Reranker pipeline can re-order the top hits.</a:t>
            </a:r>
            <a:endParaRPr lang="en-US" sz="1050" dirty="0"/>
          </a:p>
        </p:txBody>
      </p:sp>
      <p:sp>
        <p:nvSpPr>
          <p:cNvPr id="55" name="Shape 52"/>
          <p:cNvSpPr/>
          <p:nvPr/>
        </p:nvSpPr>
        <p:spPr>
          <a:xfrm>
            <a:off x="9116568" y="4864608"/>
            <a:ext cx="146304" cy="0"/>
          </a:xfrm>
          <a:prstGeom prst="line">
            <a:avLst/>
          </a:prstGeom>
          <a:noFill/>
          <a:ln w="15875">
            <a:solidFill>
              <a:srgbClr val="7D8A99"/>
            </a:solidFill>
            <a:prstDash val="solid"/>
            <a:tailEnd type="triangle"/>
          </a:ln>
        </p:spPr>
      </p:sp>
      <p:sp>
        <p:nvSpPr>
          <p:cNvPr id="56" name="Shape 53"/>
          <p:cNvSpPr/>
          <p:nvPr/>
        </p:nvSpPr>
        <p:spPr>
          <a:xfrm>
            <a:off x="9290304" y="4041648"/>
            <a:ext cx="2331720" cy="1645920"/>
          </a:xfrm>
          <a:prstGeom prst="roundRect">
            <a:avLst>
              <a:gd name="adj" fmla="val 3889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9400032" y="4151376"/>
            <a:ext cx="310896" cy="310896"/>
          </a:xfrm>
          <a:prstGeom prst="ellipse">
            <a:avLst/>
          </a:prstGeom>
          <a:solidFill>
            <a:srgbClr val="0F1318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9400032" y="4151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2B5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900" dirty="0"/>
          </a:p>
        </p:txBody>
      </p:sp>
      <p:sp>
        <p:nvSpPr>
          <p:cNvPr id="59" name="Text 56"/>
          <p:cNvSpPr txBox="1"/>
          <p:nvPr/>
        </p:nvSpPr>
        <p:spPr>
          <a:xfrm>
            <a:off x="9784080" y="4133088"/>
            <a:ext cx="1764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context</a:t>
            </a:r>
            <a:endParaRPr lang="en-US" sz="1200" dirty="0"/>
          </a:p>
        </p:txBody>
      </p:sp>
      <p:sp>
        <p:nvSpPr>
          <p:cNvPr id="60" name="Text 57"/>
          <p:cNvSpPr txBox="1"/>
          <p:nvPr/>
        </p:nvSpPr>
        <p:spPr>
          <a:xfrm>
            <a:off x="9418320" y="4572000"/>
            <a:ext cx="207568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 first, then MCD-specific playbooks, then reference; 3–5 chunks in total.</a:t>
            </a:r>
            <a:endParaRPr lang="en-US" sz="1050" dirty="0"/>
          </a:p>
        </p:txBody>
      </p:sp>
      <p:sp>
        <p:nvSpPr>
          <p:cNvPr id="61" name="Text 58"/>
          <p:cNvSpPr txBox="1"/>
          <p:nvPr/>
        </p:nvSpPr>
        <p:spPr>
          <a:xfrm>
            <a:off x="457200" y="583387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decided (29 Sep): </a:t>
            </a:r>
            <a:pPr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Faiss HNSW + SQLite files, rebuilt on every deploy. Moving to Railway PostgreSQL later (txtai’s pgvector backend) is a settings change, worth it only with several Engine 2 servers or live edits. Candidates (40) sit well above LIMIT so the MCD filter still leaves enough rows.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 SYNTHESIS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Synthesis turns independent sensors into tradeable scenarios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389888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scenario archetypes → Domain 3 playbooks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810512"/>
            <a:ext cx="3081528" cy="2084832"/>
          </a:xfrm>
          <a:prstGeom prst="roundRect">
            <a:avLst>
              <a:gd name="adj" fmla="val 3070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190195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B5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1024128" y="1901952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continuation</a:t>
            </a:r>
            <a:endParaRPr lang="en-US" sz="1300" dirty="0"/>
          </a:p>
          <a:p>
            <a:pPr indent="0" marL="0">
              <a:buNone/>
            </a:pPr>
            <a:r>
              <a:rPr lang="en-US" sz="1000" i="1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power play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496312"/>
            <a:ext cx="2807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M15 uptrend inside its corridor · M5 dips below its lower band into major support · normal volatility · higher low defended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3383280"/>
            <a:ext cx="2807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Buy the dip with the trend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85032" y="1810512"/>
            <a:ext cx="3081528" cy="2084832"/>
          </a:xfrm>
          <a:prstGeom prst="roundRect">
            <a:avLst>
              <a:gd name="adj" fmla="val 3070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822192" y="190195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B5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4251960" y="1901952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Climax exhaustion</a:t>
            </a:r>
            <a:endParaRPr lang="en-US" sz="1300" dirty="0"/>
          </a:p>
          <a:p>
            <a:pPr indent="0" marL="0">
              <a:buNone/>
            </a:pPr>
            <a:r>
              <a:rPr lang="en-US" sz="1000" i="1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 play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3822192" y="2496312"/>
            <a:ext cx="2807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Same-slope breakout on M15 and M5 · straight into a resistance cluster · candle Z-score ≥ 2.5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3822192" y="3383280"/>
            <a:ext cx="2807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Take profit, or a counter-trend scalp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4023360"/>
            <a:ext cx="3081528" cy="2084832"/>
          </a:xfrm>
          <a:prstGeom prst="roundRect">
            <a:avLst>
              <a:gd name="adj" fmla="val 3070"/>
            </a:avLst>
          </a:prstGeom>
          <a:solidFill>
            <a:srgbClr val="1D242E"/>
          </a:solidFill>
          <a:ln w="19050">
            <a:solidFill>
              <a:srgbClr val="E2B54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94360" y="411480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B5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1024128" y="4114800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Counter-trend expansion</a:t>
            </a:r>
            <a:endParaRPr lang="en-US" sz="1300" dirty="0"/>
          </a:p>
          <a:p>
            <a:pPr indent="0" marL="0">
              <a:buNone/>
            </a:pPr>
            <a:r>
              <a:rPr lang="en-US" sz="1000" i="1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deep-value play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94360" y="4709160"/>
            <a:ext cx="2807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M15 downtrend with a sustained break above its upper band · M5 uptrend · bullish break of structure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594360" y="5596128"/>
            <a:ext cx="2807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Buy pullbacks; don’t short the M15 slope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685032" y="4023360"/>
            <a:ext cx="3081528" cy="2084832"/>
          </a:xfrm>
          <a:prstGeom prst="roundRect">
            <a:avLst>
              <a:gd name="adj" fmla="val 3070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822192" y="411480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B5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200" dirty="0"/>
          </a:p>
        </p:txBody>
      </p:sp>
      <p:sp>
        <p:nvSpPr>
          <p:cNvPr id="24" name="Text 21"/>
          <p:cNvSpPr txBox="1"/>
          <p:nvPr/>
        </p:nvSpPr>
        <p:spPr>
          <a:xfrm>
            <a:off x="4251960" y="4114800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chop</a:t>
            </a:r>
            <a:endParaRPr lang="en-US" sz="1300" dirty="0"/>
          </a:p>
          <a:p>
            <a:pPr indent="0" marL="0">
              <a:buNone/>
            </a:pPr>
            <a:r>
              <a:rPr lang="en-US" sz="1000" i="1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patience play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3822192" y="4709160"/>
            <a:ext cx="2807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M15 and M5 both sideways · price mid-range between S&amp;R levels · subdued volatility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3822192" y="5596128"/>
            <a:ext cx="2807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 trade — preserve capital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995160" y="1389888"/>
            <a:ext cx="4736592" cy="4754880"/>
          </a:xfrm>
          <a:prstGeom prst="roundRect">
            <a:avLst>
              <a:gd name="adj" fmla="val 1351"/>
            </a:avLst>
          </a:prstGeom>
          <a:solidFill>
            <a:srgbClr val="161C24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178040" y="1499616"/>
            <a:ext cx="4370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live cycle, three certified sensors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7178040" y="1810512"/>
            <a:ext cx="4370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evaluator outputs on the replicated market_data_v6 dataset, September 2026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7178040" y="2194560"/>
            <a:ext cx="4370832" cy="694944"/>
          </a:xfrm>
          <a:prstGeom prst="roundRect">
            <a:avLst>
              <a:gd name="adj" fmla="val 9211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287768" y="2194560"/>
            <a:ext cx="685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MCD1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7982712" y="2194560"/>
            <a:ext cx="34564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Counter-trend expansion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M15 downtrend (−29.72°) · 96 of 96 bars above the upper band (CP 1.64)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7178040" y="2980944"/>
            <a:ext cx="4370832" cy="694944"/>
          </a:xfrm>
          <a:prstGeom prst="roundRect">
            <a:avLst>
              <a:gd name="adj" fmla="val 9211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287768" y="2980944"/>
            <a:ext cx="685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MCD2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7982712" y="2980944"/>
            <a:ext cx="34564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Trend-aligned continuation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uptrend (+6.94°) · SSA inside the corridor (CP 0.80)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7178040" y="3767328"/>
            <a:ext cx="4370832" cy="694944"/>
          </a:xfrm>
          <a:prstGeom prst="roundRect">
            <a:avLst>
              <a:gd name="adj" fmla="val 9211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7287768" y="3767328"/>
            <a:ext cx="685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MCD3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7982712" y="3767328"/>
            <a:ext cx="34564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Non-consolidated: trend conflict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M15 and M5 disagree · EDT stochastic unavailable · bias: stand aside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7178040" y="4599432"/>
            <a:ext cx="4370832" cy="932688"/>
          </a:xfrm>
          <a:prstGeom prst="roundRect">
            <a:avLst>
              <a:gd name="adj" fmla="val 6863"/>
            </a:avLst>
          </a:prstGeom>
          <a:solidFill>
            <a:srgbClr val="262F3B"/>
          </a:solidFill>
          <a:ln w="12700">
            <a:solidFill>
              <a:srgbClr val="E2B54E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306056" y="4599432"/>
            <a:ext cx="4114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 </a:t>
            </a:r>
            <a:pPr indent="0" marL="0">
              <a:buNone/>
            </a:pPr>
            <a:r>
              <a:rPr lang="en-US" sz="105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MCD1 + MCD2 match archetype C. MCD3 flags the horizon conflict. Weighing that disagreement is the job of the Domain 3 synthesis rules — still to be specified.</a:t>
            </a:r>
            <a:endParaRPr lang="en-US" sz="1050" dirty="0"/>
          </a:p>
        </p:txBody>
      </p:sp>
      <p:sp>
        <p:nvSpPr>
          <p:cNvPr id="41" name="Text 38"/>
          <p:cNvSpPr txBox="1"/>
          <p:nvPr/>
        </p:nvSpPr>
        <p:spPr>
          <a:xfrm>
            <a:off x="7178040" y="5614416"/>
            <a:ext cx="4370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sensors disagree: M15 structure  &gt;  horizontal S&amp;R  &gt;  geometric trendline  &gt;  oscillators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768096" cy="768096"/>
          </a:xfrm>
          <a:prstGeom prst="ellipse">
            <a:avLst/>
          </a:prstGeom>
          <a:solidFill>
            <a:srgbClr val="E2B54E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9184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31089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 · ENTRY PRICE ZONES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566928"/>
            <a:ext cx="10317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Entry price zones come from the MCDs, alone or in synthesis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417320"/>
            <a:ext cx="4114800" cy="1444752"/>
          </a:xfrm>
          <a:prstGeom prst="roundRect">
            <a:avLst>
              <a:gd name="adj" fmla="val 4430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154533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Single-MCD mode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401568" y="1591056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E2B54E"/>
          </a:solidFill>
          <a:ln w="9525">
            <a:solidFill>
              <a:srgbClr val="E2B54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01568" y="159105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F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2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19659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routed MCD sets the zone from its own output and standalone playbook — e.g. MCD2’s M5 corridor for an intraday entry-timing question.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2990088"/>
            <a:ext cx="4114800" cy="1444752"/>
          </a:xfrm>
          <a:prstGeom prst="roundRect">
            <a:avLst>
              <a:gd name="adj" fmla="val 4430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311810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mode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401568" y="3163824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E2B54E"/>
          </a:solidFill>
          <a:ln w="9525">
            <a:solidFill>
              <a:srgbClr val="E2B54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01568" y="316382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F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3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353872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routed MCDs point to one scenario, and that scenario’s playbook sets the zone — e.g. archetype A places entries where the M5 dip meets major support.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4617720"/>
            <a:ext cx="4114800" cy="1508760"/>
          </a:xfrm>
          <a:prstGeom prst="roundRect">
            <a:avLst>
              <a:gd name="adj" fmla="val 4242"/>
            </a:avLst>
          </a:prstGeom>
          <a:solidFill>
            <a:srgbClr val="161C24"/>
          </a:solidFill>
          <a:ln w="15875">
            <a:solidFill>
              <a:srgbClr val="F0A54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0080" y="4681728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0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still to write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STACK-D-ENTRY-PRICE-ZONE-CALCULATION-DOCUMENT.md is named in doc G but not yet in the Stack D folder. It needs the level-selection rules for each MCD and each synthesis scenario.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846320" y="1417320"/>
            <a:ext cx="3520440" cy="566928"/>
          </a:xfrm>
          <a:prstGeom prst="roundRect">
            <a:avLst>
              <a:gd name="adj" fmla="val 11290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846320" y="1417320"/>
            <a:ext cx="3520440" cy="566928"/>
          </a:xfrm>
          <a:prstGeom prst="rect">
            <a:avLst/>
          </a:prstGeom>
          <a:noFill/>
          <a:ln/>
        </p:spPr>
        <p:txBody>
          <a:bodyPr wrap="square" lIns="152400" tIns="38100" rIns="127000" bIns="381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Router: M* + regime states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606540" y="2002536"/>
            <a:ext cx="0" cy="192024"/>
          </a:xfrm>
          <a:prstGeom prst="line">
            <a:avLst/>
          </a:prstGeom>
          <a:noFill/>
          <a:ln w="15875">
            <a:solidFill>
              <a:srgbClr val="E2B54E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4846320" y="2212848"/>
            <a:ext cx="3520440" cy="658368"/>
          </a:xfrm>
          <a:prstGeom prst="roundRect">
            <a:avLst>
              <a:gd name="adj" fmla="val 9722"/>
            </a:avLst>
          </a:prstGeom>
          <a:solidFill>
            <a:srgbClr val="1D242E"/>
          </a:solidFill>
          <a:ln w="19050">
            <a:solidFill>
              <a:srgbClr val="E2B54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846320" y="2212848"/>
            <a:ext cx="3520440" cy="658368"/>
          </a:xfrm>
          <a:prstGeom prst="rect">
            <a:avLst/>
          </a:prstGeom>
          <a:noFill/>
          <a:ln/>
        </p:spPr>
        <p:txBody>
          <a:bodyPr wrap="square" lIns="152400" tIns="38100" rIns="127000" bIns="381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price zone engine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the MCD anchors, then five levels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606540" y="2889504"/>
            <a:ext cx="0" cy="182880"/>
          </a:xfrm>
          <a:prstGeom prst="line">
            <a:avLst/>
          </a:prstGeom>
          <a:noFill/>
          <a:ln w="15875">
            <a:solidFill>
              <a:srgbClr val="E2B54E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4846320" y="3090672"/>
            <a:ext cx="3520440" cy="3035808"/>
          </a:xfrm>
          <a:prstGeom prst="roundRect">
            <a:avLst>
              <a:gd name="adj" fmla="val 2108"/>
            </a:avLst>
          </a:prstGeom>
          <a:solidFill>
            <a:srgbClr val="161C24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029200" y="31638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input 2 · entry price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6949440" y="31638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levels, doc G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029200" y="3529584"/>
            <a:ext cx="3154680" cy="283464"/>
          </a:xfrm>
          <a:prstGeom prst="roundRect">
            <a:avLst>
              <a:gd name="adj" fmla="val 48387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138928" y="3602736"/>
            <a:ext cx="137160" cy="137160"/>
          </a:xfrm>
          <a:prstGeom prst="ellipse">
            <a:avLst/>
          </a:prstGeom>
          <a:solidFill>
            <a:srgbClr val="1D242E"/>
          </a:solidFill>
          <a:ln w="12700">
            <a:solidFill>
              <a:srgbClr val="E2B54E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394960" y="3529584"/>
            <a:ext cx="1828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$2,550.00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7635240" y="3529584"/>
            <a:ext cx="411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5029200" y="3867912"/>
            <a:ext cx="3154680" cy="283464"/>
          </a:xfrm>
          <a:prstGeom prst="roundRect">
            <a:avLst>
              <a:gd name="adj" fmla="val 48387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138928" y="3941064"/>
            <a:ext cx="137160" cy="137160"/>
          </a:xfrm>
          <a:prstGeom prst="ellipse">
            <a:avLst/>
          </a:prstGeom>
          <a:solidFill>
            <a:srgbClr val="1D242E"/>
          </a:solidFill>
          <a:ln w="12700">
            <a:solidFill>
              <a:srgbClr val="E2B54E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394960" y="3867912"/>
            <a:ext cx="1828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$2,547.50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635240" y="3867912"/>
            <a:ext cx="411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5029200" y="4206240"/>
            <a:ext cx="3154680" cy="283464"/>
          </a:xfrm>
          <a:prstGeom prst="roundRect">
            <a:avLst>
              <a:gd name="adj" fmla="val 48387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138928" y="4279392"/>
            <a:ext cx="137160" cy="137160"/>
          </a:xfrm>
          <a:prstGeom prst="ellipse">
            <a:avLst/>
          </a:prstGeom>
          <a:solidFill>
            <a:srgbClr val="E2B54E"/>
          </a:solidFill>
          <a:ln w="12700">
            <a:solidFill>
              <a:srgbClr val="E2B54E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394960" y="4206240"/>
            <a:ext cx="1828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$2,545.00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7635240" y="4206240"/>
            <a:ext cx="411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5029200" y="4544568"/>
            <a:ext cx="3154680" cy="283464"/>
          </a:xfrm>
          <a:prstGeom prst="roundRect">
            <a:avLst>
              <a:gd name="adj" fmla="val 48387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138928" y="4617720"/>
            <a:ext cx="137160" cy="137160"/>
          </a:xfrm>
          <a:prstGeom prst="ellipse">
            <a:avLst/>
          </a:prstGeom>
          <a:solidFill>
            <a:srgbClr val="1D242E"/>
          </a:solidFill>
          <a:ln w="12700">
            <a:solidFill>
              <a:srgbClr val="E2B54E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5394960" y="4544568"/>
            <a:ext cx="1828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$2,542.50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7635240" y="4544568"/>
            <a:ext cx="411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5029200" y="4882896"/>
            <a:ext cx="3154680" cy="283464"/>
          </a:xfrm>
          <a:prstGeom prst="roundRect">
            <a:avLst>
              <a:gd name="adj" fmla="val 48387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138928" y="4956048"/>
            <a:ext cx="137160" cy="137160"/>
          </a:xfrm>
          <a:prstGeom prst="ellipse">
            <a:avLst/>
          </a:prstGeom>
          <a:solidFill>
            <a:srgbClr val="1D242E"/>
          </a:solidFill>
          <a:ln w="12700">
            <a:solidFill>
              <a:srgbClr val="E2B54E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394960" y="4882896"/>
            <a:ext cx="1828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$2,540.00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7635240" y="4882896"/>
            <a:ext cx="411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5029200" y="5276088"/>
            <a:ext cx="3154680" cy="283464"/>
          </a:xfrm>
          <a:prstGeom prst="roundRect">
            <a:avLst>
              <a:gd name="adj" fmla="val 48387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5166360" y="5276088"/>
            <a:ext cx="2971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$ ______   (within ±5% of live)</a:t>
            </a:r>
            <a:endParaRPr lang="en-US" sz="1050" dirty="0"/>
          </a:p>
        </p:txBody>
      </p:sp>
      <p:sp>
        <p:nvSpPr>
          <p:cNvPr id="51" name="Shape 48"/>
          <p:cNvSpPr/>
          <p:nvPr/>
        </p:nvSpPr>
        <p:spPr>
          <a:xfrm>
            <a:off x="5029200" y="5669280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E5746A"/>
          </a:solidFill>
          <a:ln w="9525">
            <a:solidFill>
              <a:srgbClr val="E5746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5029200" y="56692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F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</a:t>
            </a:r>
            <a:endParaRPr lang="en-US" sz="850" dirty="0"/>
          </a:p>
        </p:txBody>
      </p:sp>
      <p:sp>
        <p:nvSpPr>
          <p:cNvPr id="53" name="Text 50"/>
          <p:cNvSpPr txBox="1"/>
          <p:nvPr/>
        </p:nvSpPr>
        <p:spPr>
          <a:xfrm>
            <a:off x="6217920" y="566928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back to normal chat</a:t>
            </a:r>
            <a:endParaRPr lang="en-US" sz="950" dirty="0"/>
          </a:p>
        </p:txBody>
      </p:sp>
      <p:sp>
        <p:nvSpPr>
          <p:cNvPr id="54" name="Shape 51"/>
          <p:cNvSpPr/>
          <p:nvPr/>
        </p:nvSpPr>
        <p:spPr>
          <a:xfrm>
            <a:off x="8595360" y="1417320"/>
            <a:ext cx="3136392" cy="4709160"/>
          </a:xfrm>
          <a:prstGeom prst="roundRect">
            <a:avLst>
              <a:gd name="adj" fmla="val 2041"/>
            </a:avLst>
          </a:prstGeom>
          <a:solidFill>
            <a:srgbClr val="161C24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8759952" y="1517904"/>
            <a:ext cx="2807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Anchors in the certified outputs today</a:t>
            </a:r>
            <a:endParaRPr lang="en-US" sz="1250" dirty="0"/>
          </a:p>
        </p:txBody>
      </p:sp>
      <p:sp>
        <p:nvSpPr>
          <p:cNvPr id="56" name="Shape 53"/>
          <p:cNvSpPr/>
          <p:nvPr/>
        </p:nvSpPr>
        <p:spPr>
          <a:xfrm>
            <a:off x="8741664" y="2121408"/>
            <a:ext cx="2843784" cy="841248"/>
          </a:xfrm>
          <a:prstGeom prst="roundRect">
            <a:avLst>
              <a:gd name="adj" fmla="val 7609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8851392" y="2121408"/>
            <a:ext cx="2624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MCD1 · M15 channel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4,279.21 · lower 4,125.99</a:t>
            </a:r>
            <a:endParaRPr lang="en-US" sz="1100" dirty="0"/>
          </a:p>
        </p:txBody>
      </p:sp>
      <p:sp>
        <p:nvSpPr>
          <p:cNvPr id="58" name="Shape 55"/>
          <p:cNvSpPr/>
          <p:nvPr/>
        </p:nvSpPr>
        <p:spPr>
          <a:xfrm>
            <a:off x="8741664" y="3054096"/>
            <a:ext cx="2843784" cy="841248"/>
          </a:xfrm>
          <a:prstGeom prst="roundRect">
            <a:avLst>
              <a:gd name="adj" fmla="val 7609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8851392" y="3054096"/>
            <a:ext cx="2624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MCD2 · M5 channel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4,384.28 · base 4,367.25 · lower 4,350.22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>
            <a:off x="8741664" y="3986784"/>
            <a:ext cx="2843784" cy="841248"/>
          </a:xfrm>
          <a:prstGeom prst="roundRect">
            <a:avLst>
              <a:gd name="adj" fmla="val 7609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8851392" y="3986784"/>
            <a:ext cx="2624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MCD3 · M15 corridor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 stochastic ≤ 20 value zone, ≥ 80 premium zone — only when both horizons are consolidated</a:t>
            </a:r>
            <a:endParaRPr lang="en-US" sz="1100" dirty="0"/>
          </a:p>
        </p:txBody>
      </p:sp>
      <p:sp>
        <p:nvSpPr>
          <p:cNvPr id="62" name="Shape 59"/>
          <p:cNvSpPr/>
          <p:nvPr/>
        </p:nvSpPr>
        <p:spPr>
          <a:xfrm>
            <a:off x="8741664" y="4919472"/>
            <a:ext cx="2843784" cy="841248"/>
          </a:xfrm>
          <a:prstGeom prst="roundRect">
            <a:avLst>
              <a:gd name="adj" fmla="val 7609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8851392" y="4919472"/>
            <a:ext cx="2624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MCDs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own anchors, e.g. S&amp;R clusters sr_1–sr_16</a:t>
            </a:r>
            <a:endParaRPr lang="en-US" sz="1100" dirty="0"/>
          </a:p>
        </p:txBody>
      </p:sp>
      <p:sp>
        <p:nvSpPr>
          <p:cNvPr id="64" name="Text 61"/>
          <p:cNvSpPr txBox="1"/>
          <p:nvPr/>
        </p:nvSpPr>
        <p:spPr>
          <a:xfrm>
            <a:off x="8759952" y="5852160"/>
            <a:ext cx="2807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from the same September 2026 dataset as slide 12.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768096" cy="768096"/>
          </a:xfrm>
          <a:prstGeom prst="ellipse">
            <a:avLst/>
          </a:prstGeom>
          <a:solidFill>
            <a:srgbClr val="E2B54E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9184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31089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 · DUAL REPORT &amp; EXECUTION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566928"/>
            <a:ext cx="10317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reports, with the trader deciding at every step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417320"/>
            <a:ext cx="2103120" cy="1298448"/>
          </a:xfrm>
          <a:prstGeom prst="roundRect">
            <a:avLst>
              <a:gd name="adj" fmla="val 4930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85216" y="1527048"/>
            <a:ext cx="329184" cy="329184"/>
          </a:xfrm>
          <a:prstGeom prst="ellipse">
            <a:avLst/>
          </a:prstGeom>
          <a:solidFill>
            <a:srgbClr val="0F1318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85216" y="1527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2B5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1527048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1 + offer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585216" y="1920240"/>
            <a:ext cx="18653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streamed, then “Generate the Trade Setup Report?”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 rot="5400000">
            <a:off x="2592324" y="1975104"/>
            <a:ext cx="182880" cy="118872"/>
          </a:xfrm>
          <a:prstGeom prst="triangle">
            <a:avLst/>
          </a:prstGeom>
          <a:solidFill>
            <a:srgbClr val="E2B54E"/>
          </a:solidFill>
          <a:ln w="12700">
            <a:solidFill>
              <a:srgbClr val="E2B54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743200" y="1417320"/>
            <a:ext cx="2103120" cy="1298448"/>
          </a:xfrm>
          <a:prstGeom prst="roundRect">
            <a:avLst>
              <a:gd name="adj" fmla="val 4930"/>
            </a:avLst>
          </a:prstGeom>
          <a:solidFill>
            <a:srgbClr val="1D242E"/>
          </a:solidFill>
          <a:ln w="19050">
            <a:solidFill>
              <a:srgbClr val="E2B54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871216" y="1527048"/>
            <a:ext cx="329184" cy="329184"/>
          </a:xfrm>
          <a:prstGeom prst="ellipse">
            <a:avLst/>
          </a:prstGeom>
          <a:solidFill>
            <a:srgbClr val="0F1318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871216" y="1527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2B5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3291840" y="1527048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price zones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2871216" y="1920240"/>
            <a:ext cx="18653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levels from one MCD or a multi-MCD synthesis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 rot="5400000">
            <a:off x="4878324" y="1975104"/>
            <a:ext cx="182880" cy="118872"/>
          </a:xfrm>
          <a:prstGeom prst="triangle">
            <a:avLst/>
          </a:prstGeom>
          <a:solidFill>
            <a:srgbClr val="E2B54E"/>
          </a:solidFill>
          <a:ln w="12700">
            <a:solidFill>
              <a:srgbClr val="E2B54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029200" y="1417320"/>
            <a:ext cx="2103120" cy="1298448"/>
          </a:xfrm>
          <a:prstGeom prst="roundRect">
            <a:avLst>
              <a:gd name="adj" fmla="val 4930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157216" y="1527048"/>
            <a:ext cx="329184" cy="329184"/>
          </a:xfrm>
          <a:prstGeom prst="ellipse">
            <a:avLst/>
          </a:prstGeom>
          <a:solidFill>
            <a:srgbClr val="0F1318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157216" y="1527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2B5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5577840" y="1527048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modal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5157216" y="1920240"/>
            <a:ext cx="18653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side · pick a level or custom ±5% · equity · RPT ≤ max · SLD ≥ min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 rot="5400000">
            <a:off x="7164324" y="1975104"/>
            <a:ext cx="182880" cy="118872"/>
          </a:xfrm>
          <a:prstGeom prst="triangle">
            <a:avLst/>
          </a:prstGeom>
          <a:solidFill>
            <a:srgbClr val="E2B54E"/>
          </a:solidFill>
          <a:ln w="12700">
            <a:solidFill>
              <a:srgbClr val="E2B54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315200" y="1417320"/>
            <a:ext cx="2103120" cy="1298448"/>
          </a:xfrm>
          <a:prstGeom prst="roundRect">
            <a:avLst>
              <a:gd name="adj" fmla="val 4930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443216" y="1527048"/>
            <a:ext cx="329184" cy="329184"/>
          </a:xfrm>
          <a:prstGeom prst="ellipse">
            <a:avLst/>
          </a:prstGeom>
          <a:solidFill>
            <a:srgbClr val="0F1318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443216" y="1527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2B5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7863840" y="1527048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4 risk math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7443216" y="1920240"/>
            <a:ext cx="18653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Lot, stop-loss, leverage check and three take-profit tiers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 rot="5400000">
            <a:off x="9450324" y="1975104"/>
            <a:ext cx="182880" cy="118872"/>
          </a:xfrm>
          <a:prstGeom prst="triangle">
            <a:avLst/>
          </a:prstGeom>
          <a:solidFill>
            <a:srgbClr val="E2B54E"/>
          </a:solidFill>
          <a:ln w="12700">
            <a:solidFill>
              <a:srgbClr val="E2B54E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9601200" y="1417320"/>
            <a:ext cx="2103120" cy="1298448"/>
          </a:xfrm>
          <a:prstGeom prst="roundRect">
            <a:avLst>
              <a:gd name="adj" fmla="val 4930"/>
            </a:avLst>
          </a:prstGeom>
          <a:solidFill>
            <a:srgbClr val="1D242E"/>
          </a:solidFill>
          <a:ln w="19050">
            <a:solidFill>
              <a:srgbClr val="E2B54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729216" y="1527048"/>
            <a:ext cx="329184" cy="329184"/>
          </a:xfrm>
          <a:prstGeom prst="ellipse">
            <a:avLst/>
          </a:prstGeom>
          <a:solidFill>
            <a:srgbClr val="0F1318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9729216" y="1527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2B5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10149840" y="1527048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2 + consent</a:t>
            </a:r>
            <a:endParaRPr lang="en-US" sz="1250" dirty="0"/>
          </a:p>
        </p:txBody>
      </p:sp>
      <p:sp>
        <p:nvSpPr>
          <p:cNvPr id="36" name="Text 33"/>
          <p:cNvSpPr txBox="1"/>
          <p:nvPr/>
        </p:nvSpPr>
        <p:spPr>
          <a:xfrm>
            <a:off x="9729216" y="1920240"/>
            <a:ext cx="18653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&amp; log · Modify (re-opens modal) · Decline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457200" y="281635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Declining at any step returns to normal chat. A typed objection (“reduce risk to 0.5%”) re-opens the modal with the new value.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457200" y="3246120"/>
            <a:ext cx="5394960" cy="2898648"/>
          </a:xfrm>
          <a:prstGeom prst="roundRect">
            <a:avLst>
              <a:gd name="adj" fmla="val 2208"/>
            </a:avLst>
          </a:prstGeom>
          <a:solidFill>
            <a:srgbClr val="161C24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0080" y="334670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4 risk math · single order, 1 lot = 100 oz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640080" y="3767328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cap</a:t>
            </a:r>
            <a:endParaRPr lang="en-US" sz="1050" dirty="0"/>
          </a:p>
        </p:txBody>
      </p:sp>
      <p:sp>
        <p:nvSpPr>
          <p:cNvPr id="41" name="Text 38"/>
          <p:cNvSpPr txBox="1"/>
          <p:nvPr/>
        </p:nvSpPr>
        <p:spPr>
          <a:xfrm>
            <a:off x="1920240" y="3767328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lot = max leverage × equity ÷ (entry × 100)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40080" y="4352544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budget</a:t>
            </a:r>
            <a:endParaRPr lang="en-US" sz="1050" dirty="0"/>
          </a:p>
        </p:txBody>
      </p:sp>
      <p:sp>
        <p:nvSpPr>
          <p:cNvPr id="43" name="Text 40"/>
          <p:cNvSpPr txBox="1"/>
          <p:nvPr/>
        </p:nvSpPr>
        <p:spPr>
          <a:xfrm>
            <a:off x="1920240" y="4352544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lot = RPT × equity ÷ (SLD × 100 + commission)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640080" y="4937760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 size</a:t>
            </a:r>
            <a:endParaRPr lang="en-US" sz="1050" dirty="0"/>
          </a:p>
        </p:txBody>
      </p:sp>
      <p:sp>
        <p:nvSpPr>
          <p:cNvPr id="45" name="Text 42"/>
          <p:cNvSpPr txBox="1"/>
          <p:nvPr/>
        </p:nvSpPr>
        <p:spPr>
          <a:xfrm>
            <a:off x="1920240" y="4937760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down the smaller of the two to 0.01; below 0.01 it is never rounded up — three guided fixes instead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640080" y="5522976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</a:t>
            </a:r>
            <a:endParaRPr lang="en-US" sz="1050" dirty="0"/>
          </a:p>
        </p:txBody>
      </p:sp>
      <p:sp>
        <p:nvSpPr>
          <p:cNvPr id="47" name="Text 44"/>
          <p:cNvSpPr txBox="1"/>
          <p:nvPr/>
        </p:nvSpPr>
        <p:spPr>
          <a:xfrm>
            <a:off x="1920240" y="5522976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RRR adds commission back; TP = entry ± SLD × effective RRR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6062472" y="3246120"/>
            <a:ext cx="5669280" cy="2898648"/>
          </a:xfrm>
          <a:prstGeom prst="roundRect">
            <a:avLst>
              <a:gd name="adj" fmla="val 2208"/>
            </a:avLst>
          </a:prstGeom>
          <a:solidFill>
            <a:srgbClr val="161C24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6245352" y="334670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245352" y="365760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$10,000 · leverage cap 1:5.0x · BUY at $2,545.00 · RPT 1.00% · SLD $15.00 · $4 / lot · style: Trend Countering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6245352" y="4096512"/>
            <a:ext cx="1252728" cy="566928"/>
          </a:xfrm>
          <a:prstGeom prst="roundRect">
            <a:avLst>
              <a:gd name="adj" fmla="val 11290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6336792" y="409651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risk</a:t>
            </a:r>
            <a:endParaRPr lang="en-US" sz="9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$100.00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7589520" y="4096512"/>
            <a:ext cx="1252728" cy="566928"/>
          </a:xfrm>
          <a:prstGeom prst="roundRect">
            <a:avLst>
              <a:gd name="adj" fmla="val 11290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7680960" y="409651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Stop-loss</a:t>
            </a:r>
            <a:endParaRPr lang="en-US" sz="9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$2,530.00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8933688" y="4096512"/>
            <a:ext cx="1252728" cy="566928"/>
          </a:xfrm>
          <a:prstGeom prst="roundRect">
            <a:avLst>
              <a:gd name="adj" fmla="val 11290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9025128" y="409651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 size</a:t>
            </a:r>
            <a:endParaRPr lang="en-US" sz="9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10277856" y="4096512"/>
            <a:ext cx="1252728" cy="566928"/>
          </a:xfrm>
          <a:prstGeom prst="roundRect">
            <a:avLst>
              <a:gd name="adj" fmla="val 11290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10369296" y="409651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used</a:t>
            </a:r>
            <a:endParaRPr lang="en-US" sz="9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1.53x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4754880"/>
          <a:ext cx="53035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463040"/>
                <a:gridCol w="1325880"/>
                <a:gridCol w="1325880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CC2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Conservative — rec.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Aggressive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F3B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RRR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4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4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1.75x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4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42E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Take-profit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4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$2,567.54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4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$2,571.29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4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$2,575.04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42E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profit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4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$134.98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4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$157.48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4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$179.98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42E"/>
                    </a:solidFill>
                  </a:tcPr>
                </a:tc>
              </a:tr>
            </a:tbl>
          </a:graphicData>
        </a:graphic>
      </p:graphicFrame>
      <p:sp>
        <p:nvSpPr>
          <p:cNvPr id="60" name="Text 56"/>
          <p:cNvSpPr txBox="1"/>
          <p:nvPr/>
        </p:nvSpPr>
        <p:spPr>
          <a:xfrm>
            <a:off x="6245352" y="587044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Counter-trend style, so Conservative is recommended. Figures recomputed from the Report 2 formulas.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Non-negotiables built into every request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463040"/>
            <a:ext cx="2651760" cy="2212848"/>
          </a:xfrm>
          <a:prstGeom prst="roundRect">
            <a:avLst>
              <a:gd name="adj" fmla="val 2893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664208"/>
            <a:ext cx="585216" cy="585216"/>
          </a:xfrm>
          <a:prstGeom prst="ellipse">
            <a:avLst/>
          </a:prstGeom>
          <a:solidFill>
            <a:srgbClr val="262F3B"/>
          </a:solidFill>
          <a:ln w="12700">
            <a:solidFill>
              <a:srgbClr val="262F3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01368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008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compensatory averaging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2779776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channel threshold must pass on its own; defects are flagged on the card, never hidden.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332988" y="1463040"/>
            <a:ext cx="2651760" cy="2212848"/>
          </a:xfrm>
          <a:prstGeom prst="roundRect">
            <a:avLst>
              <a:gd name="adj" fmla="val 2893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515868" y="1664208"/>
            <a:ext cx="585216" cy="585216"/>
          </a:xfrm>
          <a:prstGeom prst="ellipse">
            <a:avLst/>
          </a:prstGeom>
          <a:solidFill>
            <a:srgbClr val="262F3B"/>
          </a:solidFill>
          <a:ln w="12700">
            <a:solidFill>
              <a:srgbClr val="262F3B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3028" y="1801368"/>
            <a:ext cx="310896" cy="31089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515868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unscoped retrieval</a:t>
            </a:r>
            <a:endParaRPr lang="en-US" sz="1350" dirty="0"/>
          </a:p>
        </p:txBody>
      </p:sp>
      <p:sp>
        <p:nvSpPr>
          <p:cNvPr id="15" name="Text 10"/>
          <p:cNvSpPr txBox="1"/>
          <p:nvPr/>
        </p:nvSpPr>
        <p:spPr>
          <a:xfrm>
            <a:off x="3515868" y="2779776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knowledge search is pre-filtered by the router’s MCD set.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208776" y="1463040"/>
            <a:ext cx="2651760" cy="2212848"/>
          </a:xfrm>
          <a:prstGeom prst="roundRect">
            <a:avLst>
              <a:gd name="adj" fmla="val 2893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391656" y="1664208"/>
            <a:ext cx="585216" cy="585216"/>
          </a:xfrm>
          <a:prstGeom prst="ellipse">
            <a:avLst/>
          </a:prstGeom>
          <a:solidFill>
            <a:srgbClr val="262F3B"/>
          </a:solidFill>
          <a:ln w="12700">
            <a:solidFill>
              <a:srgbClr val="262F3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816" y="1801368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391656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never invents numbers</a:t>
            </a:r>
            <a:endParaRPr lang="en-US" sz="1350" dirty="0"/>
          </a:p>
        </p:txBody>
      </p:sp>
      <p:sp>
        <p:nvSpPr>
          <p:cNvPr id="20" name="Text 14"/>
          <p:cNvSpPr txBox="1"/>
          <p:nvPr/>
        </p:nvSpPr>
        <p:spPr>
          <a:xfrm>
            <a:off x="6391656" y="2779776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Prices, levels and sizes come from MCD JSON, OHLC data and Engine 4 maths.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9084564" y="1463040"/>
            <a:ext cx="2651760" cy="2212848"/>
          </a:xfrm>
          <a:prstGeom prst="roundRect">
            <a:avLst>
              <a:gd name="adj" fmla="val 2893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9267444" y="1664208"/>
            <a:ext cx="585216" cy="585216"/>
          </a:xfrm>
          <a:prstGeom prst="ellipse">
            <a:avLst/>
          </a:prstGeom>
          <a:solidFill>
            <a:srgbClr val="262F3B"/>
          </a:solidFill>
          <a:ln w="12700">
            <a:solidFill>
              <a:srgbClr val="262F3B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4604" y="1801368"/>
            <a:ext cx="310896" cy="310896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9267444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risk caps</a:t>
            </a:r>
            <a:endParaRPr lang="en-US" sz="1350" dirty="0"/>
          </a:p>
        </p:txBody>
      </p:sp>
      <p:sp>
        <p:nvSpPr>
          <p:cNvPr id="25" name="Text 18"/>
          <p:cNvSpPr txBox="1"/>
          <p:nvPr/>
        </p:nvSpPr>
        <p:spPr>
          <a:xfrm>
            <a:off x="9267444" y="2779776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≤ 1:5.0x · risk ≤ 2.0% per trade · stop-loss mandatory · counter-trend RRR ≤ 2.50x.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457200" y="3858768"/>
            <a:ext cx="2651760" cy="2212848"/>
          </a:xfrm>
          <a:prstGeom prst="roundRect">
            <a:avLst>
              <a:gd name="adj" fmla="val 2893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640080" y="4059936"/>
            <a:ext cx="585216" cy="585216"/>
          </a:xfrm>
          <a:prstGeom prst="ellipse">
            <a:avLst/>
          </a:prstGeom>
          <a:solidFill>
            <a:srgbClr val="262F3B"/>
          </a:solidFill>
          <a:ln w="12700">
            <a:solidFill>
              <a:srgbClr val="262F3B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197096"/>
            <a:ext cx="310896" cy="310896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640080" y="47731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Single-order scope</a:t>
            </a:r>
            <a:endParaRPr lang="en-US" sz="1350" dirty="0"/>
          </a:p>
        </p:txBody>
      </p:sp>
      <p:sp>
        <p:nvSpPr>
          <p:cNvPr id="30" name="Text 22"/>
          <p:cNvSpPr txBox="1"/>
          <p:nvPr/>
        </p:nvSpPr>
        <p:spPr>
          <a:xfrm>
            <a:off x="640080" y="5175504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setup stands alone — no portfolio margin, hedging or correlation is assumed.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3332988" y="3858768"/>
            <a:ext cx="2651760" cy="2212848"/>
          </a:xfrm>
          <a:prstGeom prst="roundRect">
            <a:avLst>
              <a:gd name="adj" fmla="val 2893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3515868" y="4059936"/>
            <a:ext cx="585216" cy="585216"/>
          </a:xfrm>
          <a:prstGeom prst="ellipse">
            <a:avLst/>
          </a:prstGeom>
          <a:solidFill>
            <a:srgbClr val="262F3B"/>
          </a:solidFill>
          <a:ln w="12700">
            <a:solidFill>
              <a:srgbClr val="262F3B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3028" y="4197096"/>
            <a:ext cx="310896" cy="310896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3515868" y="47731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discipline</a:t>
            </a:r>
            <a:endParaRPr lang="en-US" sz="1350" dirty="0"/>
          </a:p>
        </p:txBody>
      </p:sp>
      <p:sp>
        <p:nvSpPr>
          <p:cNvPr id="35" name="Text 26"/>
          <p:cNvSpPr txBox="1"/>
          <p:nvPr/>
        </p:nvSpPr>
        <p:spPr>
          <a:xfrm>
            <a:off x="3515868" y="5175504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orders 15 min either side of CPI, Core PCE, FOMC and NFP; missing forecasts shown as “not published”.</a:t>
            </a:r>
            <a:endParaRPr lang="en-US" sz="1050" dirty="0"/>
          </a:p>
        </p:txBody>
      </p:sp>
      <p:sp>
        <p:nvSpPr>
          <p:cNvPr id="36" name="Shape 27"/>
          <p:cNvSpPr/>
          <p:nvPr/>
        </p:nvSpPr>
        <p:spPr>
          <a:xfrm>
            <a:off x="6208776" y="3858768"/>
            <a:ext cx="2651760" cy="2212848"/>
          </a:xfrm>
          <a:prstGeom prst="roundRect">
            <a:avLst>
              <a:gd name="adj" fmla="val 2893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6391656" y="4059936"/>
            <a:ext cx="585216" cy="585216"/>
          </a:xfrm>
          <a:prstGeom prst="ellipse">
            <a:avLst/>
          </a:prstGeom>
          <a:solidFill>
            <a:srgbClr val="262F3B"/>
          </a:solidFill>
          <a:ln w="12700">
            <a:solidFill>
              <a:srgbClr val="262F3B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8816" y="4197096"/>
            <a:ext cx="310896" cy="310896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6391656" y="47731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by design</a:t>
            </a:r>
            <a:endParaRPr lang="en-US" sz="1350" dirty="0"/>
          </a:p>
        </p:txBody>
      </p:sp>
      <p:sp>
        <p:nvSpPr>
          <p:cNvPr id="40" name="Text 30"/>
          <p:cNvSpPr txBox="1"/>
          <p:nvPr/>
        </p:nvSpPr>
        <p:spPr>
          <a:xfrm>
            <a:off x="6391656" y="5175504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XAUUSD only, M5 and M15 only; anything else is redirected rather than guessed.</a:t>
            </a:r>
            <a:endParaRPr lang="en-US" sz="1050" dirty="0"/>
          </a:p>
        </p:txBody>
      </p:sp>
      <p:sp>
        <p:nvSpPr>
          <p:cNvPr id="41" name="Shape 31"/>
          <p:cNvSpPr/>
          <p:nvPr/>
        </p:nvSpPr>
        <p:spPr>
          <a:xfrm>
            <a:off x="9084564" y="3858768"/>
            <a:ext cx="2651760" cy="2212848"/>
          </a:xfrm>
          <a:prstGeom prst="roundRect">
            <a:avLst>
              <a:gd name="adj" fmla="val 2893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42" name="Shape 32"/>
          <p:cNvSpPr/>
          <p:nvPr/>
        </p:nvSpPr>
        <p:spPr>
          <a:xfrm>
            <a:off x="9267444" y="4059936"/>
            <a:ext cx="585216" cy="585216"/>
          </a:xfrm>
          <a:prstGeom prst="ellipse">
            <a:avLst/>
          </a:prstGeom>
          <a:solidFill>
            <a:srgbClr val="262F3B"/>
          </a:solidFill>
          <a:ln w="12700">
            <a:solidFill>
              <a:srgbClr val="262F3B"/>
            </a:solidFill>
            <a:prstDash val="solid"/>
          </a:ln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4604" y="4197096"/>
            <a:ext cx="310896" cy="310896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9267444" y="47731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and audit</a:t>
            </a:r>
            <a:endParaRPr lang="en-US" sz="1350" dirty="0"/>
          </a:p>
        </p:txBody>
      </p:sp>
      <p:sp>
        <p:nvSpPr>
          <p:cNvPr id="45" name="Text 34"/>
          <p:cNvSpPr txBox="1"/>
          <p:nvPr/>
        </p:nvSpPr>
        <p:spPr>
          <a:xfrm>
            <a:off x="9267444" y="5175504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badge (EU AI Act Art. 50), CFTC 4.41 / FCA / JFSA disclaimers, append-only preference history.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&amp; NEXT STEPS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 are live; routing and synthesis come next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3602736" cy="3200400"/>
          </a:xfrm>
          <a:prstGeom prst="roundRect">
            <a:avLst>
              <a:gd name="adj" fmla="val 2000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36192"/>
            <a:ext cx="329184" cy="3291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97280" y="1472184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or certified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658368" y="2048256"/>
            <a:ext cx="3200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PostgreSQL: 27 migrations; 103 / 84 / 87-column tables</a:t>
            </a:r>
            <a:endParaRPr lang="en-US" sz="11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15 MQL5 indicators configured, 3,000-bar exports</a:t>
            </a:r>
            <a:endParaRPr lang="en-US" sz="11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MCD1, MCD2 and MCD3 certified, 13/13 unit tests each</a:t>
            </a:r>
            <a:endParaRPr lang="en-US" sz="11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2-panel chart PNGs in private R2, PRO download live (synthetic data until the .ex5 rebuild)</a:t>
            </a:r>
            <a:endParaRPr lang="en-US" sz="11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Economic-events retrieval built and in use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293108" y="1371600"/>
            <a:ext cx="3602736" cy="3200400"/>
          </a:xfrm>
          <a:prstGeom prst="roundRect">
            <a:avLst>
              <a:gd name="adj" fmla="val 2000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4276" y="1536192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933188" y="1472184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Designed, to build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4494276" y="2048256"/>
            <a:ext cx="3200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1.5E router: intent classifier, router compiler, vector dispatcher</a:t>
            </a:r>
            <a:endParaRPr lang="en-US" sz="11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2 on txtai: local index files rebuilt each deploy, section chunking, scoped SQL search</a:t>
            </a:r>
            <a:endParaRPr lang="en-US" sz="11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1: each MCD’s own window + 1 day of M5 / M15 OHLC; MCDs run every 5-minute bar</a:t>
            </a:r>
            <a:endParaRPr lang="en-US" sz="11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6 vision fetch, reusing the saved M5-on-M15 preference</a:t>
            </a:r>
            <a:endParaRPr lang="en-US" sz="11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E: SSE chat, TradeSetupCard, Engine 4 modals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8129016" y="1371600"/>
            <a:ext cx="3602736" cy="3200400"/>
          </a:xfrm>
          <a:prstGeom prst="roundRect">
            <a:avLst>
              <a:gd name="adj" fmla="val 2000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0184" y="1536192"/>
            <a:ext cx="329184" cy="32918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769096" y="1472184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your decision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8330184" y="2048256"/>
            <a:ext cx="3200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and specifications for MCD4 onward</a:t>
            </a:r>
            <a:endParaRPr lang="en-US" sz="11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synthesis rules and the scenario library (Domain 3)</a:t>
            </a:r>
            <a:endParaRPr lang="en-US" sz="11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Entry-zone rules per MCD and per scenario (the entry-price-zone spec)</a:t>
            </a:r>
            <a:endParaRPr lang="en-US" sz="1150" dirty="0"/>
          </a:p>
        </p:txBody>
      </p:sp>
      <p:sp>
        <p:nvSpPr>
          <p:cNvPr id="18" name="Text 12"/>
          <p:cNvSpPr txBox="1"/>
          <p:nvPr/>
        </p:nvSpPr>
        <p:spPr>
          <a:xfrm>
            <a:off x="457200" y="47548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 build order — from the synthesis seed idea, updated for Engine 1.5E and the MCD regime outputs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57200" y="5120640"/>
            <a:ext cx="2578608" cy="1024128"/>
          </a:xfrm>
          <a:prstGeom prst="roundRect">
            <a:avLst>
              <a:gd name="adj" fmla="val 6250"/>
            </a:avLst>
          </a:prstGeom>
          <a:solidFill>
            <a:srgbClr val="161C24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585216" y="5239512"/>
            <a:ext cx="329184" cy="329184"/>
          </a:xfrm>
          <a:prstGeom prst="ellipse">
            <a:avLst/>
          </a:prstGeom>
          <a:solidFill>
            <a:srgbClr val="0F1318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585216" y="5239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2B5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1005840" y="5212080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the MCD sensors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585216" y="5596128"/>
            <a:ext cx="2322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MCD1–3 done; MCD4 onward built in isolation, 5 deliverables each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081528" y="5614416"/>
            <a:ext cx="228600" cy="0"/>
          </a:xfrm>
          <a:prstGeom prst="line">
            <a:avLst/>
          </a:prstGeom>
          <a:noFill/>
          <a:ln w="15875">
            <a:solidFill>
              <a:srgbClr val="E2B54E"/>
            </a:solidFill>
            <a:prstDash val="solid"/>
            <a:tailEnd type="triangle"/>
          </a:ln>
        </p:spPr>
      </p:sp>
      <p:sp>
        <p:nvSpPr>
          <p:cNvPr id="25" name="Shape 19"/>
          <p:cNvSpPr/>
          <p:nvPr/>
        </p:nvSpPr>
        <p:spPr>
          <a:xfrm>
            <a:off x="3355848" y="5120640"/>
            <a:ext cx="2578608" cy="1024128"/>
          </a:xfrm>
          <a:prstGeom prst="roundRect">
            <a:avLst>
              <a:gd name="adj" fmla="val 6250"/>
            </a:avLst>
          </a:prstGeom>
          <a:solidFill>
            <a:srgbClr val="161C24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3483864" y="5239512"/>
            <a:ext cx="329184" cy="329184"/>
          </a:xfrm>
          <a:prstGeom prst="ellipse">
            <a:avLst/>
          </a:prstGeom>
          <a:solidFill>
            <a:srgbClr val="0F1318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3483864" y="5239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2B5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900" dirty="0"/>
          </a:p>
        </p:txBody>
      </p:sp>
      <p:sp>
        <p:nvSpPr>
          <p:cNvPr id="28" name="Text 22"/>
          <p:cNvSpPr txBox="1"/>
          <p:nvPr/>
        </p:nvSpPr>
        <p:spPr>
          <a:xfrm>
            <a:off x="3904488" y="5212080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master synthesis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3483864" y="5596128"/>
            <a:ext cx="2322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scenario rules, precedence and playbooks (Domain 3)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5980176" y="5614416"/>
            <a:ext cx="228600" cy="0"/>
          </a:xfrm>
          <a:prstGeom prst="line">
            <a:avLst/>
          </a:prstGeom>
          <a:noFill/>
          <a:ln w="15875">
            <a:solidFill>
              <a:srgbClr val="E2B54E"/>
            </a:solidFill>
            <a:prstDash val="solid"/>
            <a:tailEnd type="triangle"/>
          </a:ln>
        </p:spPr>
      </p:sp>
      <p:sp>
        <p:nvSpPr>
          <p:cNvPr id="31" name="Shape 25"/>
          <p:cNvSpPr/>
          <p:nvPr/>
        </p:nvSpPr>
        <p:spPr>
          <a:xfrm>
            <a:off x="6254496" y="5120640"/>
            <a:ext cx="2578608" cy="1024128"/>
          </a:xfrm>
          <a:prstGeom prst="roundRect">
            <a:avLst>
              <a:gd name="adj" fmla="val 6250"/>
            </a:avLst>
          </a:prstGeom>
          <a:solidFill>
            <a:srgbClr val="161C24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6382512" y="5239512"/>
            <a:ext cx="329184" cy="329184"/>
          </a:xfrm>
          <a:prstGeom prst="ellipse">
            <a:avLst/>
          </a:prstGeom>
          <a:solidFill>
            <a:srgbClr val="0F1318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6382512" y="5239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2B5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6803136" y="5212080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and synthesise</a:t>
            </a:r>
            <a:endParaRPr lang="en-US" sz="1200" dirty="0"/>
          </a:p>
        </p:txBody>
      </p:sp>
      <p:sp>
        <p:nvSpPr>
          <p:cNvPr id="35" name="Text 29"/>
          <p:cNvSpPr txBox="1"/>
          <p:nvPr/>
        </p:nvSpPr>
        <p:spPr>
          <a:xfrm>
            <a:off x="6382512" y="5596128"/>
            <a:ext cx="2322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1.5E router + Domain 3 synthesis over the MCD regime outputs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8878824" y="5614416"/>
            <a:ext cx="228600" cy="0"/>
          </a:xfrm>
          <a:prstGeom prst="line">
            <a:avLst/>
          </a:prstGeom>
          <a:noFill/>
          <a:ln w="15875">
            <a:solidFill>
              <a:srgbClr val="E2B54E"/>
            </a:solidFill>
            <a:prstDash val="solid"/>
            <a:tailEnd type="triangle"/>
          </a:ln>
        </p:spPr>
      </p:sp>
      <p:sp>
        <p:nvSpPr>
          <p:cNvPr id="37" name="Shape 31"/>
          <p:cNvSpPr/>
          <p:nvPr/>
        </p:nvSpPr>
        <p:spPr>
          <a:xfrm>
            <a:off x="9153144" y="5120640"/>
            <a:ext cx="2578608" cy="1024128"/>
          </a:xfrm>
          <a:prstGeom prst="roundRect">
            <a:avLst>
              <a:gd name="adj" fmla="val 6250"/>
            </a:avLst>
          </a:prstGeom>
          <a:solidFill>
            <a:srgbClr val="161C24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9281160" y="5239512"/>
            <a:ext cx="329184" cy="329184"/>
          </a:xfrm>
          <a:prstGeom prst="ellipse">
            <a:avLst/>
          </a:prstGeom>
          <a:solidFill>
            <a:srgbClr val="0F1318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9281160" y="5239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2B5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900" dirty="0"/>
          </a:p>
        </p:txBody>
      </p:sp>
      <p:sp>
        <p:nvSpPr>
          <p:cNvPr id="40" name="Text 34"/>
          <p:cNvSpPr txBox="1"/>
          <p:nvPr/>
        </p:nvSpPr>
        <p:spPr>
          <a:xfrm>
            <a:off x="9701784" y="5212080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Co-pilot integration</a:t>
            </a:r>
            <a:endParaRPr lang="en-US" sz="1200" dirty="0"/>
          </a:p>
        </p:txBody>
      </p:sp>
      <p:sp>
        <p:nvSpPr>
          <p:cNvPr id="41" name="Text 35"/>
          <p:cNvSpPr txBox="1"/>
          <p:nvPr/>
        </p:nvSpPr>
        <p:spPr>
          <a:xfrm>
            <a:off x="9281160" y="5596128"/>
            <a:ext cx="2322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2 vault, strategy output, Stack E chat and alerts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conflicts between the documents were resolved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383280"/>
                <a:gridCol w="3566160"/>
                <a:gridCol w="2724912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Earlier position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Adopted in this deck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F3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Confluence engine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 1.5C WACS54 score (C, D, E, F, seed idea)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Retired; Engine 1.5E Tactical OKF Router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(newest)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Strategy-rule store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pgvector HNSW inside PostgreSQL (D)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txtai: local Faiss HNSW + SQLite files, rebuilt each deploy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A; your decision, 29 Sep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VANNA NL2SQL (B, D, E, F, H)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 data access; VANNA is not named in 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— confirm whether NL2SQL stays as a fallback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 image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3-panel MTF chart (A); 2-panel R2 variants (D)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2-panel PNG, M5 over M15, overlay / standard, private R2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MTF layout + R2 manifests (10–11 Sep)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Storyline &amp; density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JSONB54 storyline, FREQ54 counts (A, C, D, E, F)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Removed; each MCD’s regime_status + commentary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instruction, 29 Sep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Lookback window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54 bars × 103 columns for the LLM (A, 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MCD’s own window; 1 day of M5 + M15 OHLC for the LLM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decision, 29 Sep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width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 / 87 / 92 / 95 columns (C, D, F, H, old diagram)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 columns / 106 Prisma fields + 2 companion tables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A,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MCD catalogue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MCD01–10 list (C, F); illustrative router rows (A)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MCD1–15 user-defined; MCD2 / MCD3 as certified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Hand-off report, MCD folders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synthesis lives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 classifier + WACS grades in 1.5C (seed idea)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3 playbooks + conflict hierarchy, reasoned by the LLM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price zones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SSA bands, EDT bounds, wick clusters (G)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single MCD or a multi-MCD synthesis; spec to write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instruction, 29 Sep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2 sample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Effective RRR 1.54x / 1.80x / 2.05x (G’s table)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Recomputed: 1.50x / 1.75x / 2.00x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G’s own formulas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6089904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from older documents where the newest is silent: economic-events input (D), dual-report flow and risk maths (G), the eight Engine 4 constraints (E). A = newest.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Stack D Operational Workflow — Executive Summary</dc:title>
  <dc:subject>PptxGenJS Presentation</dc:subject>
  <dc:creator>DavinTrade</dc:creator>
  <cp:lastModifiedBy>DavinTrade</cp:lastModifiedBy>
  <cp:revision>1</cp:revision>
  <dcterms:created xsi:type="dcterms:W3CDTF">2026-09-29T11:10:19Z</dcterms:created>
  <dcterms:modified xsi:type="dcterms:W3CDTF">2026-09-29T11:10:19Z</dcterms:modified>
</cp:coreProperties>
</file>