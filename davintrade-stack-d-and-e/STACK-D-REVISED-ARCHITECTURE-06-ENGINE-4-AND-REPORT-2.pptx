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6 of the section series. Engine 4 holds the trader’s profile and does all position maths; Report 2 is its output. Nothing in this section is written by a language model: the maths and the report are deterministic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is the last per-question section. It reads the synthesis reading and zones (Section 3), the cycle and broker data (Section 1) and Report 1 (Section 5), and writes the consent record that Section 7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file E §1-3 (trader types: Scalper &lt; 2 h, Day Trader &lt; 12 h; 8 metrics with defaults Day Trader, Trend Following, 1.50%, 1:1.5, 1.75x, $5,000, $13.00, $4.00; leverage ceiling 1:5.0; RRR capped at 2.50x for counter-trend styles; confirmation at the start of every session; history table), §4 (compliance matrix; anonymisation after deletion; audit kept 5-7 years), §5 (schema). File G §1 (trigger flow), §2 (modal: 5 inputs, ±5% entry band, stop pills $13/15/17/19/21), §4 (sizing steps 1-6), §4.1 (underflow options), §5 (three scenarios, badge matrix on WACS), §6 (report layout, accept / modify / decline), §8 (custom setups typed in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1 G §2 line 86 (stop pills) and §5.3 (targets = entry ± stop x RRR); 18 Sep Z1: entry 4367.25, stop 17.53, next level 4384.28, Conservative target about 4393.6. 2 G §5.1 (WACS 25-60, &gt; 60); WACS retired by decision 001. 3 file A line 449 (no new orders 15 minutes before and after US CPI, Core PCE, FOMC, NFP). 4 file A line 250 (Cautionary Defect Flag halves size). 5 review E3: printed net profits equal 0.06 x 100 x distance, so commission was not subtracted; 0.06 lot risks $90.24, not $100. 6 G §4.1: $500 equity, 0.50%, $15 stop needs 3.01% (profile maximum is 2.00%) or $3,008 of equity. 7 G §4: 1 lot = 100 oz and a 0.01 step are constants; Position Sizer.mq5 handles spread and commission, Symbol Information.mq5 reads contract size and swap. 8 E §5: user_trade_preferences_history.user_id references users(id) ON DELETE CASCADE, while E §4.4 says the rows stay, hashed, for 5-7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step is deterministic code. The only model involvement is upstream: Section 4 extracts values when a trader types a setup in chat, and those values only pre-fill the modal (decision 6.10). Direction always comes from the synthesis reading (decision 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check runs before Report 1 is shown, so Report 1 can say in the same reply whether Report 2 is available (handoff to Section 5). It runs again when the modal is submitted, because minutes may pass between the two. Report 2 stays pinned to the cycle Report 1 used; a newer cycle with a different synthesis offers a refresh rather than silently changing the setup. RETUNING is decision 015, still proposed; it is treated like any CAUTIONARY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values come from the 18 Sep example cycle (test data, not the live pipeline), Day Trader view: synthesis rule 1, counter-trend rally, LONG; entry = Z1 reference price 4367.25. Stop option A = M5 LOEDT 4350.22 - 0.50 = 4349.72 (distance 17.53); option B = M15 UOEDT 4279.21 - 0.50 = 4278.71 (88.54). Next opposing level = M5 UOEDT 4384.28, runway 17.03, runway / stop = 0.97. Conservative (1.50x) needs a target distance of about 26.40 including commission, so the target (about 4393.6) lies beyond 4384.28. No scenario fits, so no badge is given and Report 2 names the level. The ladder is not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Blackout: file A line 449 names US CPI, Core PCE, the FOMC rate decision and NFP. The list is a versioned config file, so you can add releases. Events come from economic_events, live in production since 11 Sep (market-session and high-impact news manifest): MT5’s own calendar, exported every 15 minutes, converted from broker server time to UTC, stored append-only. The Tier-1 list should key on MT5 calendar event ids, not names (Pillar 8 rules: a non-zero time_mode means the time is approximate, so the window widens; an empty or failed feed is labelled "news calendar unavailable", never read as "no news"). Other HIGH-impact USD releases inside the trader’s holding window (2 h Scalper, 12 h Day Trader) are shown as warnings, not blocks. Defect flag: file A lines 250 and 443 (halve risk when a Cautionary Defect Flag is raised). The override is the trader’s choice (review decision 10) and is recorded in the consent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G §6 inputs: equity $10,000, BUY at 2,545.00, risk 1.00%, stop distance $15.00, commission $4 a lot round trip. Lot = min(leverage cap, 100 / (1,500 + 4) = 0.0665) rounded down = 0.06. Actual loss = 0.06 x (1,500 + 4) = $90.24 (0.90%). Leverage used = 0.06 x 100 x 2,545 / 10,000 = 1.527x (G prints 1.52). Note: with the default Max Leverage of 1:1.5, the leverage cap would clamp the lot to 0.05; the example assumes a higher maximum. Proposed RRR: target distance = RRR x stop + commission x (RRR + 1) / 100, so that net profit = RRR x actual loss, both after commission. Check: Normal 1.75 x 90.24 = 157.92 = 0.06 x 100 x 26.36 - 0.24. The table becomes a fixture in Engine 4’s unit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G §4.1 example: $500 equity, 0.50% risk ($2.50), $15.00 stop, $4 commission. Raw lot = 2.50 / 1,504 = 0.0017, below the 0.01 minimum. A 0.01 lot would lose $15.04 (3.01%). G’s option 1 offers 3.01%, above the 2.00% maximum any profile can hold; option 2 tightens the stop without regard to structure; option 3 asks the trader to enter $3,008 of equity, which does not change the real account, so the real risk would be 3.01% while the report says 0.50%. G’s own rule never to round up to 0.01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collector (Section 1) reads the symbol properties from the same MT5 terminal that runs the export indicators and writes a symbol_specs row daily and whenever a value changes; Engine 4 reads the latest row and records its version in the consent record. MT5 does not expose commission as a symbol property, so commission stays the trader’s input (Engine 4 metric 8). Charts show bid prices: a BUY fills on the ask, and a SELL’s stop and target trigger on the ask, so the typical spread is applied on the side where each price triggers, and the report shows the spread it used. Per-broker profiles (the trader’s own broker specs)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G §8 lets a trader type a fully custom setup in chat and computes it directly. In the revised design the values Section 4 extracts only pre-fill the modal, so the trader confirms each input and one validator serves both paths. Check 0 uses decision 034 (1-day range widened by half its height; ±5% kept as a typo filter). Report 2 is a fixed template: numbers come from Engine 4, labels and the disclaimer from reviewed per-language text (decision 056).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consent record replaces "logged to the chat session" (G §6.1). It is written for every Accept, Modify and Decline, so a support or regulatory question ("why did it size 0.06 lot?") is answered from one row plus the trace (review G3). Account deletion follows file E §4.4: direct personal data is deleted; history and consent rows keep an HMAC hash instead of the user id. That requires removing ON DELETE CASCADE from the history table’s foreign key. The retention figure (7 years in file D, 5-7 in file E) is settled in Section 7. The button text changes because DavinTrade places no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revised Engine 4 and Report 2. Also corrected: files D and E §4 refer to "9 constraints"; Engine 4 has 8 metrics, and the documents should say 8 throughout. The profile card’s "Lookback Window: Fixed 54-Bar Standard" line goes, since decision 003 removed the 54-bar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rows are requests rather than outputs: Section 1 fills symbol_specs, and Section 7 settles one retention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twelve were settled on 30 Sep by adopting the suggestion; they are entries 058-069 in the decision log. 6.3 follows file A’s own list; the list is a config file you can extend. 6.4 follows review decision 10 (override allowed and logged). 6.7 applies the counter-trend caps to the setup itself, so a trend-following profile can’t take a counter-trend setup at a 3.5x target. 6.8 changes the RRR definition slightly; the difference from G’s formula is a few cents on the target, but the ratio shown becomes exact. I am not a lawyer; the consent wording in 6.12 belongs in the counsel review from decision 056.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checks for Section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640080" y="1188720"/>
            <a:ext cx="6583680" cy="274320"/>
          </a:xfrm>
          <a:prstGeom prst="rect">
            <a:avLst/>
          </a:prstGeom>
          <a:noFill/>
          <a:ln/>
        </p:spPr>
        <p:txBody>
          <a:bodyPr wrap="square" lIns="0" tIns="0" rIns="0" bIns="0" rtlCol="0" anchor="t"/>
          <a:lstStyle/>
          <a:p>
            <a:pPr indent="0" marL="0">
              <a:buNone/>
            </a:pPr>
            <a:r>
              <a:rPr lang="en-US" sz="1200" b="1" spc="300" kern="0" dirty="0">
                <a:solidFill>
                  <a:srgbClr val="E2B54E"/>
                </a:solidFill>
                <a:latin typeface="Calibri" pitchFamily="34" charset="0"/>
                <a:ea typeface="Calibri" pitchFamily="34" charset="-122"/>
                <a:cs typeface="Calibri" pitchFamily="34" charset="-120"/>
              </a:rPr>
              <a:t>STACK D  ·  REVISED ARCHITECTURE  ·  DECK 6 OF 7</a:t>
            </a:r>
            <a:endParaRPr lang="en-US" sz="1200" dirty="0"/>
          </a:p>
        </p:txBody>
      </p:sp>
      <p:sp>
        <p:nvSpPr>
          <p:cNvPr id="3" name="Text 1"/>
          <p:cNvSpPr txBox="1"/>
          <p:nvPr/>
        </p:nvSpPr>
        <p:spPr>
          <a:xfrm>
            <a:off x="640080" y="1572768"/>
            <a:ext cx="6035040" cy="1554480"/>
          </a:xfrm>
          <a:prstGeom prst="rect">
            <a:avLst/>
          </a:prstGeom>
          <a:noFill/>
          <a:ln/>
        </p:spPr>
        <p:txBody>
          <a:bodyPr wrap="square" lIns="0" tIns="0" rIns="0" bIns="0" rtlCol="0" anchor="t"/>
          <a:lstStyle/>
          <a:p>
            <a:pPr indent="0" marL="0">
              <a:buNone/>
            </a:pPr>
            <a:r>
              <a:rPr lang="en-US" sz="4000" b="1" dirty="0">
                <a:solidFill>
                  <a:srgbClr val="EEF1F4"/>
                </a:solidFill>
                <a:latin typeface="Cambria" pitchFamily="34" charset="0"/>
                <a:ea typeface="Cambria" pitchFamily="34" charset="-122"/>
                <a:cs typeface="Cambria" pitchFamily="34" charset="-120"/>
              </a:rPr>
              <a:t>Section 6 · Engine 4 &amp; Report 2</a:t>
            </a:r>
            <a:endParaRPr lang="en-US" sz="4000" dirty="0"/>
          </a:p>
        </p:txBody>
      </p:sp>
      <p:sp>
        <p:nvSpPr>
          <p:cNvPr id="4" name="Text 2"/>
          <p:cNvSpPr txBox="1"/>
          <p:nvPr/>
        </p:nvSpPr>
        <p:spPr>
          <a:xfrm>
            <a:off x="640080" y="3291840"/>
            <a:ext cx="5760720" cy="1280160"/>
          </a:xfrm>
          <a:prstGeom prst="rect">
            <a:avLst/>
          </a:prstGeom>
          <a:noFill/>
          <a:ln/>
        </p:spPr>
        <p:txBody>
          <a:bodyPr wrap="square" lIns="0" tIns="0" rIns="0" bIns="0" rtlCol="0" anchor="t"/>
          <a:lstStyle/>
          <a:p>
            <a:pPr indent="0" marL="0">
              <a:buNone/>
            </a:pPr>
            <a:r>
              <a:rPr lang="en-US" sz="1700" dirty="0">
                <a:solidFill>
                  <a:srgbClr val="A3AEBB"/>
                </a:solidFill>
                <a:latin typeface="Calibri" pitchFamily="34" charset="0"/>
                <a:ea typeface="Calibri" pitchFamily="34" charset="-122"/>
                <a:cs typeface="Calibri" pitchFamily="34" charset="-120"/>
              </a:rPr>
              <a:t>Turn one checked reading into one sized, single-order setup: offered only when it is safe to size, built on structure, calculated exactly, and recorded with the trader’s consent.</a:t>
            </a:r>
            <a:endParaRPr lang="en-US" sz="1700" dirty="0"/>
          </a:p>
        </p:txBody>
      </p:sp>
      <p:sp>
        <p:nvSpPr>
          <p:cNvPr id="5" name="Text 3"/>
          <p:cNvSpPr txBox="1"/>
          <p:nvPr/>
        </p:nvSpPr>
        <p:spPr>
          <a:xfrm>
            <a:off x="640080" y="4754880"/>
            <a:ext cx="5943600" cy="1371600"/>
          </a:xfrm>
          <a:prstGeom prst="rect">
            <a:avLst/>
          </a:prstGeom>
          <a:noFill/>
          <a:ln/>
        </p:spPr>
        <p:txBody>
          <a:bodyPr wrap="square" lIns="0" tIns="0" rIns="0" bIns="0" rtlCol="0" anchor="t"/>
          <a:lstStyle/>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Decisions 6.1–6.12 settled 30 September 2026</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Recommendations landing here: D2 · E3 (P1) · D4 · E2 · E4; uses E1 from Section 3</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Builds on Sections 1–5 (settled 29 September)</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Sources: file E (Engine 4 v1.8.0) · file G (Report 2 workflow v2.0.0) · file A (domain 4, blackouts) · Position Sizer.mq5 · Symbol Information.mq5</a:t>
            </a:r>
            <a:endParaRPr lang="en-US" sz="1200" dirty="0"/>
          </a:p>
        </p:txBody>
      </p:sp>
      <p:sp>
        <p:nvSpPr>
          <p:cNvPr id="6" name="Shape 4"/>
          <p:cNvSpPr/>
          <p:nvPr/>
        </p:nvSpPr>
        <p:spPr>
          <a:xfrm>
            <a:off x="6903720" y="1188720"/>
            <a:ext cx="4846320" cy="1700784"/>
          </a:xfrm>
          <a:prstGeom prst="roundRect">
            <a:avLst>
              <a:gd name="adj" fmla="val 3226"/>
            </a:avLst>
          </a:prstGeom>
          <a:solidFill>
            <a:srgbClr val="15302D"/>
          </a:solidFill>
          <a:ln w="9525">
            <a:solidFill>
              <a:srgbClr val="15302D"/>
            </a:solidFill>
            <a:prstDash val="solid"/>
          </a:ln>
        </p:spPr>
      </p:sp>
      <p:sp>
        <p:nvSpPr>
          <p:cNvPr id="7" name="Text 5"/>
          <p:cNvSpPr txBox="1"/>
          <p:nvPr/>
        </p:nvSpPr>
        <p:spPr>
          <a:xfrm>
            <a:off x="7031736" y="1261872"/>
            <a:ext cx="3004718" cy="219456"/>
          </a:xfrm>
          <a:prstGeom prst="rect">
            <a:avLst/>
          </a:prstGeom>
          <a:noFill/>
          <a:ln/>
        </p:spPr>
        <p:txBody>
          <a:bodyPr wrap="square" lIns="0" tIns="0" rIns="0" bIns="0" rtlCol="0" anchor="t"/>
          <a:lstStyle/>
          <a:p>
            <a:pPr indent="0" marL="0">
              <a:buNone/>
            </a:pPr>
            <a:r>
              <a:rPr lang="en-US" sz="850" b="1" spc="200" kern="0" dirty="0">
                <a:solidFill>
                  <a:srgbClr val="5CC2B2"/>
                </a:solidFill>
                <a:latin typeface="Calibri" pitchFamily="34" charset="0"/>
                <a:ea typeface="Calibri" pitchFamily="34" charset="-122"/>
                <a:cs typeface="Calibri" pitchFamily="34" charset="-120"/>
              </a:rPr>
              <a:t>EVERY 5-MINUTE CYCLE</a:t>
            </a:r>
            <a:endParaRPr lang="en-US" sz="850" dirty="0"/>
          </a:p>
        </p:txBody>
      </p:sp>
      <p:sp>
        <p:nvSpPr>
          <p:cNvPr id="8" name="Text 6"/>
          <p:cNvSpPr txBox="1"/>
          <p:nvPr/>
        </p:nvSpPr>
        <p:spPr>
          <a:xfrm>
            <a:off x="9084564" y="1261872"/>
            <a:ext cx="2537460"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runs whether or not anyone asks</a:t>
            </a:r>
            <a:endParaRPr lang="en-US" sz="800" dirty="0"/>
          </a:p>
        </p:txBody>
      </p:sp>
      <p:sp>
        <p:nvSpPr>
          <p:cNvPr id="9" name="Shape 7"/>
          <p:cNvSpPr/>
          <p:nvPr/>
        </p:nvSpPr>
        <p:spPr>
          <a:xfrm>
            <a:off x="7031736" y="1554480"/>
            <a:ext cx="1347216" cy="1207008"/>
          </a:xfrm>
          <a:prstGeom prst="roundRect">
            <a:avLst>
              <a:gd name="adj" fmla="val 5303"/>
            </a:avLst>
          </a:prstGeom>
          <a:solidFill>
            <a:srgbClr val="161C24"/>
          </a:solidFill>
          <a:ln w="9525">
            <a:solidFill>
              <a:srgbClr val="161C24"/>
            </a:solidFill>
            <a:prstDash val="solid"/>
          </a:ln>
        </p:spPr>
      </p:sp>
      <p:sp>
        <p:nvSpPr>
          <p:cNvPr id="10" name="Shape 8"/>
          <p:cNvSpPr/>
          <p:nvPr/>
        </p:nvSpPr>
        <p:spPr>
          <a:xfrm>
            <a:off x="7123176" y="1965960"/>
            <a:ext cx="384048" cy="384048"/>
          </a:xfrm>
          <a:prstGeom prst="ellipse">
            <a:avLst/>
          </a:prstGeom>
          <a:solidFill>
            <a:srgbClr val="6E7A88"/>
          </a:solidFill>
          <a:ln w="15875">
            <a:solidFill>
              <a:srgbClr val="6E7A88"/>
            </a:solidFill>
            <a:prstDash val="solid"/>
          </a:ln>
        </p:spPr>
      </p:sp>
      <p:sp>
        <p:nvSpPr>
          <p:cNvPr id="11" name="Text 9"/>
          <p:cNvSpPr txBox="1"/>
          <p:nvPr/>
        </p:nvSpPr>
        <p:spPr>
          <a:xfrm>
            <a:off x="7123176"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598664" y="1554480"/>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Market data &amp; chart</a:t>
            </a:r>
            <a:endParaRPr lang="en-US" sz="1000" dirty="0"/>
          </a:p>
        </p:txBody>
      </p:sp>
      <p:sp>
        <p:nvSpPr>
          <p:cNvPr id="13" name="Shape 11"/>
          <p:cNvSpPr/>
          <p:nvPr/>
        </p:nvSpPr>
        <p:spPr>
          <a:xfrm>
            <a:off x="8415528" y="2157984"/>
            <a:ext cx="201168" cy="0"/>
          </a:xfrm>
          <a:prstGeom prst="line">
            <a:avLst/>
          </a:prstGeom>
          <a:noFill/>
          <a:ln w="15875">
            <a:solidFill>
              <a:srgbClr val="323C49"/>
            </a:solidFill>
            <a:prstDash val="solid"/>
            <a:tailEnd type="triangle"/>
          </a:ln>
        </p:spPr>
      </p:sp>
      <p:sp>
        <p:nvSpPr>
          <p:cNvPr id="14" name="Shape 12"/>
          <p:cNvSpPr/>
          <p:nvPr/>
        </p:nvSpPr>
        <p:spPr>
          <a:xfrm>
            <a:off x="8653272" y="1554480"/>
            <a:ext cx="1347216" cy="1207008"/>
          </a:xfrm>
          <a:prstGeom prst="roundRect">
            <a:avLst>
              <a:gd name="adj" fmla="val 5303"/>
            </a:avLst>
          </a:prstGeom>
          <a:solidFill>
            <a:srgbClr val="161C24"/>
          </a:solidFill>
          <a:ln w="9525">
            <a:solidFill>
              <a:srgbClr val="161C24"/>
            </a:solidFill>
            <a:prstDash val="solid"/>
          </a:ln>
        </p:spPr>
      </p:sp>
      <p:sp>
        <p:nvSpPr>
          <p:cNvPr id="15" name="Shape 13"/>
          <p:cNvSpPr/>
          <p:nvPr/>
        </p:nvSpPr>
        <p:spPr>
          <a:xfrm>
            <a:off x="8744712" y="1965960"/>
            <a:ext cx="384048" cy="384048"/>
          </a:xfrm>
          <a:prstGeom prst="ellipse">
            <a:avLst/>
          </a:prstGeom>
          <a:solidFill>
            <a:srgbClr val="6E7A88"/>
          </a:solidFill>
          <a:ln w="15875">
            <a:solidFill>
              <a:srgbClr val="6E7A88"/>
            </a:solidFill>
            <a:prstDash val="solid"/>
          </a:ln>
        </p:spPr>
      </p:sp>
      <p:sp>
        <p:nvSpPr>
          <p:cNvPr id="16" name="Text 14"/>
          <p:cNvSpPr txBox="1"/>
          <p:nvPr/>
        </p:nvSpPr>
        <p:spPr>
          <a:xfrm>
            <a:off x="8744712"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9220200" y="1554480"/>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Sensors (MCDs)</a:t>
            </a:r>
            <a:endParaRPr lang="en-US" sz="1000" dirty="0"/>
          </a:p>
        </p:txBody>
      </p:sp>
      <p:sp>
        <p:nvSpPr>
          <p:cNvPr id="18" name="Shape 16"/>
          <p:cNvSpPr/>
          <p:nvPr/>
        </p:nvSpPr>
        <p:spPr>
          <a:xfrm>
            <a:off x="10037064" y="2157984"/>
            <a:ext cx="201168" cy="0"/>
          </a:xfrm>
          <a:prstGeom prst="line">
            <a:avLst/>
          </a:prstGeom>
          <a:noFill/>
          <a:ln w="15875">
            <a:solidFill>
              <a:srgbClr val="323C49"/>
            </a:solidFill>
            <a:prstDash val="solid"/>
            <a:tailEnd type="triangle"/>
          </a:ln>
        </p:spPr>
      </p:sp>
      <p:sp>
        <p:nvSpPr>
          <p:cNvPr id="19" name="Shape 17"/>
          <p:cNvSpPr/>
          <p:nvPr/>
        </p:nvSpPr>
        <p:spPr>
          <a:xfrm>
            <a:off x="10274808" y="1554480"/>
            <a:ext cx="1347216" cy="1207008"/>
          </a:xfrm>
          <a:prstGeom prst="roundRect">
            <a:avLst>
              <a:gd name="adj" fmla="val 5303"/>
            </a:avLst>
          </a:prstGeom>
          <a:solidFill>
            <a:srgbClr val="161C24"/>
          </a:solidFill>
          <a:ln w="9525">
            <a:solidFill>
              <a:srgbClr val="161C24"/>
            </a:solidFill>
            <a:prstDash val="solid"/>
          </a:ln>
        </p:spPr>
      </p:sp>
      <p:sp>
        <p:nvSpPr>
          <p:cNvPr id="20" name="Shape 18"/>
          <p:cNvSpPr/>
          <p:nvPr/>
        </p:nvSpPr>
        <p:spPr>
          <a:xfrm>
            <a:off x="10366248" y="1965960"/>
            <a:ext cx="384048" cy="384048"/>
          </a:xfrm>
          <a:prstGeom prst="ellipse">
            <a:avLst/>
          </a:prstGeom>
          <a:solidFill>
            <a:srgbClr val="6E7A88"/>
          </a:solidFill>
          <a:ln w="15875">
            <a:solidFill>
              <a:srgbClr val="6E7A88"/>
            </a:solidFill>
            <a:prstDash val="solid"/>
          </a:ln>
        </p:spPr>
      </p:sp>
      <p:sp>
        <p:nvSpPr>
          <p:cNvPr id="21" name="Text 19"/>
          <p:cNvSpPr txBox="1"/>
          <p:nvPr/>
        </p:nvSpPr>
        <p:spPr>
          <a:xfrm>
            <a:off x="10366248"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10841736" y="1554480"/>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Synthesis &amp; entry zones</a:t>
            </a:r>
            <a:endParaRPr lang="en-US" sz="1000" dirty="0"/>
          </a:p>
        </p:txBody>
      </p:sp>
      <p:sp>
        <p:nvSpPr>
          <p:cNvPr id="23" name="Shape 21"/>
          <p:cNvSpPr/>
          <p:nvPr/>
        </p:nvSpPr>
        <p:spPr>
          <a:xfrm>
            <a:off x="6903720" y="3273552"/>
            <a:ext cx="4846320" cy="1700784"/>
          </a:xfrm>
          <a:prstGeom prst="roundRect">
            <a:avLst>
              <a:gd name="adj" fmla="val 3226"/>
            </a:avLst>
          </a:prstGeom>
          <a:solidFill>
            <a:srgbClr val="17243A"/>
          </a:solidFill>
          <a:ln w="9525">
            <a:solidFill>
              <a:srgbClr val="17243A"/>
            </a:solidFill>
            <a:prstDash val="solid"/>
          </a:ln>
        </p:spPr>
      </p:sp>
      <p:sp>
        <p:nvSpPr>
          <p:cNvPr id="24" name="Text 22"/>
          <p:cNvSpPr txBox="1"/>
          <p:nvPr/>
        </p:nvSpPr>
        <p:spPr>
          <a:xfrm>
            <a:off x="7031736" y="3346704"/>
            <a:ext cx="3004718" cy="219456"/>
          </a:xfrm>
          <a:prstGeom prst="rect">
            <a:avLst/>
          </a:prstGeom>
          <a:noFill/>
          <a:ln/>
        </p:spPr>
        <p:txBody>
          <a:bodyPr wrap="square" lIns="0" tIns="0" rIns="0" bIns="0" rtlCol="0" anchor="t"/>
          <a:lstStyle/>
          <a:p>
            <a:pPr indent="0" marL="0">
              <a:buNone/>
            </a:pPr>
            <a:r>
              <a:rPr lang="en-US" sz="850" b="1" spc="200" kern="0" dirty="0">
                <a:solidFill>
                  <a:srgbClr val="7FA8E8"/>
                </a:solidFill>
                <a:latin typeface="Calibri" pitchFamily="34" charset="0"/>
                <a:ea typeface="Calibri" pitchFamily="34" charset="-122"/>
                <a:cs typeface="Calibri" pitchFamily="34" charset="-120"/>
              </a:rPr>
              <a:t>PER USER QUESTION</a:t>
            </a:r>
            <a:endParaRPr lang="en-US" sz="850" dirty="0"/>
          </a:p>
        </p:txBody>
      </p:sp>
      <p:sp>
        <p:nvSpPr>
          <p:cNvPr id="25" name="Text 23"/>
          <p:cNvSpPr txBox="1"/>
          <p:nvPr/>
        </p:nvSpPr>
        <p:spPr>
          <a:xfrm>
            <a:off x="9084564" y="3346704"/>
            <a:ext cx="2537460"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reads the latest complete cycle</a:t>
            </a:r>
            <a:endParaRPr lang="en-US" sz="800" dirty="0"/>
          </a:p>
        </p:txBody>
      </p:sp>
      <p:sp>
        <p:nvSpPr>
          <p:cNvPr id="26" name="Shape 24"/>
          <p:cNvSpPr/>
          <p:nvPr/>
        </p:nvSpPr>
        <p:spPr>
          <a:xfrm>
            <a:off x="7031736" y="3639312"/>
            <a:ext cx="1347216" cy="1207008"/>
          </a:xfrm>
          <a:prstGeom prst="roundRect">
            <a:avLst>
              <a:gd name="adj" fmla="val 5303"/>
            </a:avLst>
          </a:prstGeom>
          <a:solidFill>
            <a:srgbClr val="161C24"/>
          </a:solidFill>
          <a:ln w="9525">
            <a:solidFill>
              <a:srgbClr val="161C24"/>
            </a:solidFill>
            <a:prstDash val="solid"/>
          </a:ln>
        </p:spPr>
      </p:sp>
      <p:sp>
        <p:nvSpPr>
          <p:cNvPr id="27" name="Shape 25"/>
          <p:cNvSpPr/>
          <p:nvPr/>
        </p:nvSpPr>
        <p:spPr>
          <a:xfrm>
            <a:off x="7123176" y="4050792"/>
            <a:ext cx="384048" cy="384048"/>
          </a:xfrm>
          <a:prstGeom prst="ellipse">
            <a:avLst/>
          </a:prstGeom>
          <a:solidFill>
            <a:srgbClr val="6E7A88"/>
          </a:solidFill>
          <a:ln w="15875">
            <a:solidFill>
              <a:srgbClr val="6E7A88"/>
            </a:solidFill>
            <a:prstDash val="solid"/>
          </a:ln>
        </p:spPr>
      </p:sp>
      <p:sp>
        <p:nvSpPr>
          <p:cNvPr id="28" name="Text 26"/>
          <p:cNvSpPr txBox="1"/>
          <p:nvPr/>
        </p:nvSpPr>
        <p:spPr>
          <a:xfrm>
            <a:off x="7123176"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29" name="Text 27"/>
          <p:cNvSpPr txBox="1"/>
          <p:nvPr/>
        </p:nvSpPr>
        <p:spPr>
          <a:xfrm>
            <a:off x="7598664" y="3639312"/>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Intake, routing &amp; knowledge</a:t>
            </a:r>
            <a:endParaRPr lang="en-US" sz="1000" dirty="0"/>
          </a:p>
        </p:txBody>
      </p:sp>
      <p:sp>
        <p:nvSpPr>
          <p:cNvPr id="30" name="Shape 28"/>
          <p:cNvSpPr/>
          <p:nvPr/>
        </p:nvSpPr>
        <p:spPr>
          <a:xfrm>
            <a:off x="8415528" y="4242816"/>
            <a:ext cx="201168" cy="0"/>
          </a:xfrm>
          <a:prstGeom prst="line">
            <a:avLst/>
          </a:prstGeom>
          <a:noFill/>
          <a:ln w="15875">
            <a:solidFill>
              <a:srgbClr val="323C49"/>
            </a:solidFill>
            <a:prstDash val="solid"/>
            <a:tailEnd type="triangle"/>
          </a:ln>
        </p:spPr>
      </p:sp>
      <p:sp>
        <p:nvSpPr>
          <p:cNvPr id="31" name="Shape 29"/>
          <p:cNvSpPr/>
          <p:nvPr/>
        </p:nvSpPr>
        <p:spPr>
          <a:xfrm>
            <a:off x="8653272" y="3639312"/>
            <a:ext cx="1347216" cy="1207008"/>
          </a:xfrm>
          <a:prstGeom prst="roundRect">
            <a:avLst>
              <a:gd name="adj" fmla="val 5303"/>
            </a:avLst>
          </a:prstGeom>
          <a:solidFill>
            <a:srgbClr val="161C24"/>
          </a:solidFill>
          <a:ln w="9525">
            <a:solidFill>
              <a:srgbClr val="161C24"/>
            </a:solidFill>
            <a:prstDash val="solid"/>
          </a:ln>
        </p:spPr>
      </p:sp>
      <p:sp>
        <p:nvSpPr>
          <p:cNvPr id="32" name="Shape 30"/>
          <p:cNvSpPr/>
          <p:nvPr/>
        </p:nvSpPr>
        <p:spPr>
          <a:xfrm>
            <a:off x="8744712" y="4050792"/>
            <a:ext cx="384048" cy="384048"/>
          </a:xfrm>
          <a:prstGeom prst="ellipse">
            <a:avLst/>
          </a:prstGeom>
          <a:solidFill>
            <a:srgbClr val="6E7A88"/>
          </a:solidFill>
          <a:ln w="15875">
            <a:solidFill>
              <a:srgbClr val="6E7A88"/>
            </a:solidFill>
            <a:prstDash val="solid"/>
          </a:ln>
        </p:spPr>
      </p:sp>
      <p:sp>
        <p:nvSpPr>
          <p:cNvPr id="33" name="Text 31"/>
          <p:cNvSpPr txBox="1"/>
          <p:nvPr/>
        </p:nvSpPr>
        <p:spPr>
          <a:xfrm>
            <a:off x="8744712"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34" name="Text 32"/>
          <p:cNvSpPr txBox="1"/>
          <p:nvPr/>
        </p:nvSpPr>
        <p:spPr>
          <a:xfrm>
            <a:off x="9220200" y="3639312"/>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Prompt &amp; AI reply</a:t>
            </a:r>
            <a:endParaRPr lang="en-US" sz="1000" dirty="0"/>
          </a:p>
        </p:txBody>
      </p:sp>
      <p:sp>
        <p:nvSpPr>
          <p:cNvPr id="35" name="Shape 33"/>
          <p:cNvSpPr/>
          <p:nvPr/>
        </p:nvSpPr>
        <p:spPr>
          <a:xfrm>
            <a:off x="10037064" y="4242816"/>
            <a:ext cx="201168" cy="0"/>
          </a:xfrm>
          <a:prstGeom prst="line">
            <a:avLst/>
          </a:prstGeom>
          <a:noFill/>
          <a:ln w="15875">
            <a:solidFill>
              <a:srgbClr val="323C49"/>
            </a:solidFill>
            <a:prstDash val="solid"/>
            <a:tailEnd type="triangle"/>
          </a:ln>
        </p:spPr>
      </p:sp>
      <p:sp>
        <p:nvSpPr>
          <p:cNvPr id="36" name="Shape 34"/>
          <p:cNvSpPr/>
          <p:nvPr/>
        </p:nvSpPr>
        <p:spPr>
          <a:xfrm>
            <a:off x="10274808" y="3639312"/>
            <a:ext cx="1347216" cy="1207008"/>
          </a:xfrm>
          <a:prstGeom prst="roundRect">
            <a:avLst>
              <a:gd name="adj" fmla="val 5303"/>
            </a:avLst>
          </a:prstGeom>
          <a:solidFill>
            <a:srgbClr val="1D242E"/>
          </a:solidFill>
          <a:ln w="22225">
            <a:solidFill>
              <a:srgbClr val="E2B54E"/>
            </a:solidFill>
            <a:prstDash val="solid"/>
          </a:ln>
        </p:spPr>
      </p:sp>
      <p:sp>
        <p:nvSpPr>
          <p:cNvPr id="37" name="Shape 35"/>
          <p:cNvSpPr/>
          <p:nvPr/>
        </p:nvSpPr>
        <p:spPr>
          <a:xfrm>
            <a:off x="10366248" y="4050792"/>
            <a:ext cx="384048" cy="384048"/>
          </a:xfrm>
          <a:prstGeom prst="ellipse">
            <a:avLst/>
          </a:prstGeom>
          <a:solidFill>
            <a:srgbClr val="E2B54E"/>
          </a:solidFill>
          <a:ln w="15875">
            <a:solidFill>
              <a:srgbClr val="E2B54E"/>
            </a:solidFill>
            <a:prstDash val="solid"/>
          </a:ln>
        </p:spPr>
      </p:sp>
      <p:sp>
        <p:nvSpPr>
          <p:cNvPr id="38" name="Text 36"/>
          <p:cNvSpPr txBox="1"/>
          <p:nvPr/>
        </p:nvSpPr>
        <p:spPr>
          <a:xfrm>
            <a:off x="10366248"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39" name="Text 37"/>
          <p:cNvSpPr txBox="1"/>
          <p:nvPr/>
        </p:nvSpPr>
        <p:spPr>
          <a:xfrm>
            <a:off x="10841736" y="3639312"/>
            <a:ext cx="725424" cy="120700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Engine 4 &amp; Report 2</a:t>
            </a:r>
            <a:endParaRPr lang="en-US" sz="1000" dirty="0"/>
          </a:p>
        </p:txBody>
      </p:sp>
      <p:sp>
        <p:nvSpPr>
          <p:cNvPr id="40" name="Shape 38"/>
          <p:cNvSpPr/>
          <p:nvPr/>
        </p:nvSpPr>
        <p:spPr>
          <a:xfrm>
            <a:off x="9326880" y="2916936"/>
            <a:ext cx="0" cy="329184"/>
          </a:xfrm>
          <a:prstGeom prst="line">
            <a:avLst/>
          </a:prstGeom>
          <a:noFill/>
          <a:ln w="15875">
            <a:solidFill>
              <a:srgbClr val="7D8A99"/>
            </a:solidFill>
            <a:prstDash val="solid"/>
            <a:tailEnd type="triangle"/>
          </a:ln>
        </p:spPr>
      </p:sp>
      <p:sp>
        <p:nvSpPr>
          <p:cNvPr id="41" name="Text 39"/>
          <p:cNvSpPr txBox="1"/>
          <p:nvPr/>
        </p:nvSpPr>
        <p:spPr>
          <a:xfrm>
            <a:off x="9418320" y="2916936"/>
            <a:ext cx="2240280" cy="329184"/>
          </a:xfrm>
          <a:prstGeom prst="rect">
            <a:avLst/>
          </a:prstGeom>
          <a:noFill/>
          <a:ln/>
        </p:spPr>
        <p:txBody>
          <a:bodyPr wrap="square" lIns="0" tIns="0" rIns="0" bIns="0" rtlCol="0" anchor="ctr"/>
          <a:lstStyle/>
          <a:p>
            <a:pPr indent="0" marL="0">
              <a:buNone/>
            </a:pPr>
            <a:r>
              <a:rPr lang="en-US" sz="850" i="1" dirty="0">
                <a:solidFill>
                  <a:srgbClr val="A3AEBB"/>
                </a:solidFill>
                <a:latin typeface="Calibri" pitchFamily="34" charset="0"/>
                <a:ea typeface="Calibri" pitchFamily="34" charset="-122"/>
                <a:cs typeface="Calibri" pitchFamily="34" charset="-120"/>
              </a:rPr>
              <a:t>latest complete cycle (read-only)</a:t>
            </a:r>
            <a:endParaRPr lang="en-US" sz="850" dirty="0"/>
          </a:p>
        </p:txBody>
      </p:sp>
      <p:sp>
        <p:nvSpPr>
          <p:cNvPr id="42" name="Shape 40"/>
          <p:cNvSpPr/>
          <p:nvPr/>
        </p:nvSpPr>
        <p:spPr>
          <a:xfrm>
            <a:off x="6903720" y="5102352"/>
            <a:ext cx="4846320" cy="566928"/>
          </a:xfrm>
          <a:prstGeom prst="roundRect">
            <a:avLst>
              <a:gd name="adj" fmla="val 9677"/>
            </a:avLst>
          </a:prstGeom>
          <a:solidFill>
            <a:srgbClr val="231E33"/>
          </a:solidFill>
          <a:ln w="9525">
            <a:solidFill>
              <a:srgbClr val="231E33"/>
            </a:solidFill>
            <a:prstDash val="solid"/>
          </a:ln>
        </p:spPr>
      </p:sp>
      <p:sp>
        <p:nvSpPr>
          <p:cNvPr id="43" name="Shape 41"/>
          <p:cNvSpPr/>
          <p:nvPr/>
        </p:nvSpPr>
        <p:spPr>
          <a:xfrm>
            <a:off x="7031736" y="5210068"/>
            <a:ext cx="351495" cy="351495"/>
          </a:xfrm>
          <a:prstGeom prst="ellipse">
            <a:avLst/>
          </a:prstGeom>
          <a:solidFill>
            <a:srgbClr val="6E7A88"/>
          </a:solidFill>
          <a:ln w="15875">
            <a:solidFill>
              <a:srgbClr val="6E7A88"/>
            </a:solidFill>
            <a:prstDash val="solid"/>
          </a:ln>
        </p:spPr>
      </p:sp>
      <p:sp>
        <p:nvSpPr>
          <p:cNvPr id="44" name="Text 42"/>
          <p:cNvSpPr txBox="1"/>
          <p:nvPr/>
        </p:nvSpPr>
        <p:spPr>
          <a:xfrm>
            <a:off x="7031736" y="5210068"/>
            <a:ext cx="351495" cy="351495"/>
          </a:xfrm>
          <a:prstGeom prst="rect">
            <a:avLst/>
          </a:prstGeom>
          <a:noFill/>
          <a:ln/>
        </p:spPr>
        <p:txBody>
          <a:bodyPr wrap="square" lIns="0" tIns="0" rIns="0" bIns="0" rtlCol="0" anchor="ctr"/>
          <a:lstStyle/>
          <a:p>
            <a:pPr algn="ctr" indent="0" marL="0">
              <a:buNone/>
            </a:pPr>
            <a:r>
              <a:rPr lang="en-US" sz="1000" b="1" dirty="0">
                <a:solidFill>
                  <a:srgbClr val="0F1318"/>
                </a:solidFill>
                <a:latin typeface="Cambria" pitchFamily="34" charset="0"/>
                <a:ea typeface="Cambria" pitchFamily="34" charset="-122"/>
                <a:cs typeface="Cambria" pitchFamily="34" charset="-120"/>
              </a:rPr>
              <a:t>7</a:t>
            </a:r>
            <a:endParaRPr lang="en-US" sz="1000" dirty="0"/>
          </a:p>
        </p:txBody>
      </p:sp>
      <p:sp>
        <p:nvSpPr>
          <p:cNvPr id="45" name="Text 43"/>
          <p:cNvSpPr txBox="1"/>
          <p:nvPr/>
        </p:nvSpPr>
        <p:spPr>
          <a:xfrm>
            <a:off x="7492959" y="5102352"/>
            <a:ext cx="4037625" cy="56692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Platform &amp; governance</a:t>
            </a:r>
            <a:pPr indent="0" marL="0">
              <a:buNone/>
            </a:pPr>
            <a:r>
              <a:rPr lang="en-US" sz="1000" i="1" dirty="0">
                <a:solidFill>
                  <a:srgbClr val="A3AEBB"/>
                </a:solidFill>
                <a:latin typeface="Calibri" pitchFamily="34" charset="0"/>
                <a:ea typeface="Calibri" pitchFamily="34" charset="-122"/>
                <a:cs typeface="Calibri" pitchFamily="34" charset="-120"/>
              </a:rPr>
              <a:t>   across both clocks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What Section 6 owns, and what it depends on</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2</a:t>
            </a:r>
            <a:endParaRPr lang="en-US" sz="1000" dirty="0"/>
          </a:p>
        </p:txBody>
      </p:sp>
      <p:sp>
        <p:nvSpPr>
          <p:cNvPr id="8" name="Shape 5"/>
          <p:cNvSpPr/>
          <p:nvPr/>
        </p:nvSpPr>
        <p:spPr>
          <a:xfrm>
            <a:off x="457200" y="1371600"/>
            <a:ext cx="4937760" cy="1700784"/>
          </a:xfrm>
          <a:prstGeom prst="roundRect">
            <a:avLst>
              <a:gd name="adj" fmla="val 3226"/>
            </a:avLst>
          </a:prstGeom>
          <a:solidFill>
            <a:srgbClr val="15302D"/>
          </a:solidFill>
          <a:ln w="9525">
            <a:solidFill>
              <a:srgbClr val="15302D"/>
            </a:solidFill>
            <a:prstDash val="solid"/>
          </a:ln>
        </p:spPr>
      </p:sp>
      <p:sp>
        <p:nvSpPr>
          <p:cNvPr id="9" name="Text 6"/>
          <p:cNvSpPr txBox="1"/>
          <p:nvPr/>
        </p:nvSpPr>
        <p:spPr>
          <a:xfrm>
            <a:off x="585216" y="1444752"/>
            <a:ext cx="3061411" cy="219456"/>
          </a:xfrm>
          <a:prstGeom prst="rect">
            <a:avLst/>
          </a:prstGeom>
          <a:noFill/>
          <a:ln/>
        </p:spPr>
        <p:txBody>
          <a:bodyPr wrap="square" lIns="0" tIns="0" rIns="0" bIns="0" rtlCol="0" anchor="t"/>
          <a:lstStyle/>
          <a:p>
            <a:pPr indent="0" marL="0">
              <a:buNone/>
            </a:pPr>
            <a:r>
              <a:rPr lang="en-US" sz="850" b="1" spc="200" kern="0" dirty="0">
                <a:solidFill>
                  <a:srgbClr val="5CC2B2"/>
                </a:solidFill>
                <a:latin typeface="Calibri" pitchFamily="34" charset="0"/>
                <a:ea typeface="Calibri" pitchFamily="34" charset="-122"/>
                <a:cs typeface="Calibri" pitchFamily="34" charset="-120"/>
              </a:rPr>
              <a:t>EVERY 5-MINUTE CYCLE</a:t>
            </a:r>
            <a:endParaRPr lang="en-US" sz="850" dirty="0"/>
          </a:p>
        </p:txBody>
      </p:sp>
      <p:sp>
        <p:nvSpPr>
          <p:cNvPr id="10" name="Text 7"/>
          <p:cNvSpPr txBox="1"/>
          <p:nvPr/>
        </p:nvSpPr>
        <p:spPr>
          <a:xfrm>
            <a:off x="2679192" y="1444752"/>
            <a:ext cx="2587752"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runs whether or not anyone asks</a:t>
            </a:r>
            <a:endParaRPr lang="en-US" sz="800" dirty="0"/>
          </a:p>
        </p:txBody>
      </p:sp>
      <p:sp>
        <p:nvSpPr>
          <p:cNvPr id="11" name="Shape 8"/>
          <p:cNvSpPr/>
          <p:nvPr/>
        </p:nvSpPr>
        <p:spPr>
          <a:xfrm>
            <a:off x="585216" y="1737360"/>
            <a:ext cx="1377696" cy="1207008"/>
          </a:xfrm>
          <a:prstGeom prst="roundRect">
            <a:avLst>
              <a:gd name="adj" fmla="val 5303"/>
            </a:avLst>
          </a:prstGeom>
          <a:solidFill>
            <a:srgbClr val="161C24"/>
          </a:solidFill>
          <a:ln w="9525">
            <a:solidFill>
              <a:srgbClr val="161C24"/>
            </a:solidFill>
            <a:prstDash val="solid"/>
          </a:ln>
        </p:spPr>
      </p:sp>
      <p:sp>
        <p:nvSpPr>
          <p:cNvPr id="12" name="Shape 9"/>
          <p:cNvSpPr/>
          <p:nvPr/>
        </p:nvSpPr>
        <p:spPr>
          <a:xfrm>
            <a:off x="676656" y="2148840"/>
            <a:ext cx="384048" cy="384048"/>
          </a:xfrm>
          <a:prstGeom prst="ellipse">
            <a:avLst/>
          </a:prstGeom>
          <a:solidFill>
            <a:srgbClr val="6E7A88"/>
          </a:solidFill>
          <a:ln w="15875">
            <a:solidFill>
              <a:srgbClr val="6E7A88"/>
            </a:solidFill>
            <a:prstDash val="solid"/>
          </a:ln>
        </p:spPr>
      </p:sp>
      <p:sp>
        <p:nvSpPr>
          <p:cNvPr id="13" name="Text 10"/>
          <p:cNvSpPr txBox="1"/>
          <p:nvPr/>
        </p:nvSpPr>
        <p:spPr>
          <a:xfrm>
            <a:off x="676656"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4" name="Text 11"/>
          <p:cNvSpPr txBox="1"/>
          <p:nvPr/>
        </p:nvSpPr>
        <p:spPr>
          <a:xfrm>
            <a:off x="1152144" y="1737360"/>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Market data &amp; chart</a:t>
            </a:r>
            <a:endParaRPr lang="en-US" sz="1000" dirty="0"/>
          </a:p>
        </p:txBody>
      </p:sp>
      <p:sp>
        <p:nvSpPr>
          <p:cNvPr id="15" name="Shape 12"/>
          <p:cNvSpPr/>
          <p:nvPr/>
        </p:nvSpPr>
        <p:spPr>
          <a:xfrm>
            <a:off x="1999488" y="2340864"/>
            <a:ext cx="201168" cy="0"/>
          </a:xfrm>
          <a:prstGeom prst="line">
            <a:avLst/>
          </a:prstGeom>
          <a:noFill/>
          <a:ln w="15875">
            <a:solidFill>
              <a:srgbClr val="323C49"/>
            </a:solidFill>
            <a:prstDash val="solid"/>
            <a:tailEnd type="triangle"/>
          </a:ln>
        </p:spPr>
      </p:sp>
      <p:sp>
        <p:nvSpPr>
          <p:cNvPr id="16" name="Shape 13"/>
          <p:cNvSpPr/>
          <p:nvPr/>
        </p:nvSpPr>
        <p:spPr>
          <a:xfrm>
            <a:off x="2237232" y="1737360"/>
            <a:ext cx="1377696" cy="1207008"/>
          </a:xfrm>
          <a:prstGeom prst="roundRect">
            <a:avLst>
              <a:gd name="adj" fmla="val 5303"/>
            </a:avLst>
          </a:prstGeom>
          <a:solidFill>
            <a:srgbClr val="161C24"/>
          </a:solidFill>
          <a:ln w="9525">
            <a:solidFill>
              <a:srgbClr val="161C24"/>
            </a:solidFill>
            <a:prstDash val="solid"/>
          </a:ln>
        </p:spPr>
      </p:sp>
      <p:sp>
        <p:nvSpPr>
          <p:cNvPr id="17" name="Shape 14"/>
          <p:cNvSpPr/>
          <p:nvPr/>
        </p:nvSpPr>
        <p:spPr>
          <a:xfrm>
            <a:off x="2328672" y="2148840"/>
            <a:ext cx="384048" cy="384048"/>
          </a:xfrm>
          <a:prstGeom prst="ellipse">
            <a:avLst/>
          </a:prstGeom>
          <a:solidFill>
            <a:srgbClr val="6E7A88"/>
          </a:solidFill>
          <a:ln w="15875">
            <a:solidFill>
              <a:srgbClr val="6E7A88"/>
            </a:solidFill>
            <a:prstDash val="solid"/>
          </a:ln>
        </p:spPr>
      </p:sp>
      <p:sp>
        <p:nvSpPr>
          <p:cNvPr id="18" name="Text 15"/>
          <p:cNvSpPr txBox="1"/>
          <p:nvPr/>
        </p:nvSpPr>
        <p:spPr>
          <a:xfrm>
            <a:off x="2328672"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19" name="Text 16"/>
          <p:cNvSpPr txBox="1"/>
          <p:nvPr/>
        </p:nvSpPr>
        <p:spPr>
          <a:xfrm>
            <a:off x="2804160" y="1737360"/>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Sensors (MCDs)</a:t>
            </a:r>
            <a:endParaRPr lang="en-US" sz="1000" dirty="0"/>
          </a:p>
        </p:txBody>
      </p:sp>
      <p:sp>
        <p:nvSpPr>
          <p:cNvPr id="20" name="Shape 17"/>
          <p:cNvSpPr/>
          <p:nvPr/>
        </p:nvSpPr>
        <p:spPr>
          <a:xfrm>
            <a:off x="3651504" y="2340864"/>
            <a:ext cx="201168" cy="0"/>
          </a:xfrm>
          <a:prstGeom prst="line">
            <a:avLst/>
          </a:prstGeom>
          <a:noFill/>
          <a:ln w="15875">
            <a:solidFill>
              <a:srgbClr val="323C49"/>
            </a:solidFill>
            <a:prstDash val="solid"/>
            <a:tailEnd type="triangle"/>
          </a:ln>
        </p:spPr>
      </p:sp>
      <p:sp>
        <p:nvSpPr>
          <p:cNvPr id="21" name="Shape 18"/>
          <p:cNvSpPr/>
          <p:nvPr/>
        </p:nvSpPr>
        <p:spPr>
          <a:xfrm>
            <a:off x="3889248" y="1737360"/>
            <a:ext cx="1377696" cy="1207008"/>
          </a:xfrm>
          <a:prstGeom prst="roundRect">
            <a:avLst>
              <a:gd name="adj" fmla="val 5303"/>
            </a:avLst>
          </a:prstGeom>
          <a:solidFill>
            <a:srgbClr val="161C24"/>
          </a:solidFill>
          <a:ln w="9525">
            <a:solidFill>
              <a:srgbClr val="161C24"/>
            </a:solidFill>
            <a:prstDash val="solid"/>
          </a:ln>
        </p:spPr>
      </p:sp>
      <p:sp>
        <p:nvSpPr>
          <p:cNvPr id="22" name="Shape 19"/>
          <p:cNvSpPr/>
          <p:nvPr/>
        </p:nvSpPr>
        <p:spPr>
          <a:xfrm>
            <a:off x="3980688" y="2148840"/>
            <a:ext cx="384048" cy="384048"/>
          </a:xfrm>
          <a:prstGeom prst="ellipse">
            <a:avLst/>
          </a:prstGeom>
          <a:solidFill>
            <a:srgbClr val="6E7A88"/>
          </a:solidFill>
          <a:ln w="15875">
            <a:solidFill>
              <a:srgbClr val="6E7A88"/>
            </a:solidFill>
            <a:prstDash val="solid"/>
          </a:ln>
        </p:spPr>
      </p:sp>
      <p:sp>
        <p:nvSpPr>
          <p:cNvPr id="23" name="Text 20"/>
          <p:cNvSpPr txBox="1"/>
          <p:nvPr/>
        </p:nvSpPr>
        <p:spPr>
          <a:xfrm>
            <a:off x="3980688"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4" name="Text 21"/>
          <p:cNvSpPr txBox="1"/>
          <p:nvPr/>
        </p:nvSpPr>
        <p:spPr>
          <a:xfrm>
            <a:off x="4456176" y="1737360"/>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Synthesis &amp; entry zones</a:t>
            </a:r>
            <a:endParaRPr lang="en-US" sz="1000" dirty="0"/>
          </a:p>
        </p:txBody>
      </p:sp>
      <p:sp>
        <p:nvSpPr>
          <p:cNvPr id="25" name="Shape 22"/>
          <p:cNvSpPr/>
          <p:nvPr/>
        </p:nvSpPr>
        <p:spPr>
          <a:xfrm>
            <a:off x="457200" y="3456432"/>
            <a:ext cx="4937760" cy="1700784"/>
          </a:xfrm>
          <a:prstGeom prst="roundRect">
            <a:avLst>
              <a:gd name="adj" fmla="val 3226"/>
            </a:avLst>
          </a:prstGeom>
          <a:solidFill>
            <a:srgbClr val="17243A"/>
          </a:solidFill>
          <a:ln w="9525">
            <a:solidFill>
              <a:srgbClr val="17243A"/>
            </a:solidFill>
            <a:prstDash val="solid"/>
          </a:ln>
        </p:spPr>
      </p:sp>
      <p:sp>
        <p:nvSpPr>
          <p:cNvPr id="26" name="Text 23"/>
          <p:cNvSpPr txBox="1"/>
          <p:nvPr/>
        </p:nvSpPr>
        <p:spPr>
          <a:xfrm>
            <a:off x="585216" y="3529584"/>
            <a:ext cx="3061411" cy="219456"/>
          </a:xfrm>
          <a:prstGeom prst="rect">
            <a:avLst/>
          </a:prstGeom>
          <a:noFill/>
          <a:ln/>
        </p:spPr>
        <p:txBody>
          <a:bodyPr wrap="square" lIns="0" tIns="0" rIns="0" bIns="0" rtlCol="0" anchor="t"/>
          <a:lstStyle/>
          <a:p>
            <a:pPr indent="0" marL="0">
              <a:buNone/>
            </a:pPr>
            <a:r>
              <a:rPr lang="en-US" sz="850" b="1" spc="200" kern="0" dirty="0">
                <a:solidFill>
                  <a:srgbClr val="7FA8E8"/>
                </a:solidFill>
                <a:latin typeface="Calibri" pitchFamily="34" charset="0"/>
                <a:ea typeface="Calibri" pitchFamily="34" charset="-122"/>
                <a:cs typeface="Calibri" pitchFamily="34" charset="-120"/>
              </a:rPr>
              <a:t>PER USER QUESTION</a:t>
            </a:r>
            <a:endParaRPr lang="en-US" sz="850" dirty="0"/>
          </a:p>
        </p:txBody>
      </p:sp>
      <p:sp>
        <p:nvSpPr>
          <p:cNvPr id="27" name="Text 24"/>
          <p:cNvSpPr txBox="1"/>
          <p:nvPr/>
        </p:nvSpPr>
        <p:spPr>
          <a:xfrm>
            <a:off x="2679192" y="3529584"/>
            <a:ext cx="2587752"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reads the latest complete cycle</a:t>
            </a:r>
            <a:endParaRPr lang="en-US" sz="800" dirty="0"/>
          </a:p>
        </p:txBody>
      </p:sp>
      <p:sp>
        <p:nvSpPr>
          <p:cNvPr id="28" name="Shape 25"/>
          <p:cNvSpPr/>
          <p:nvPr/>
        </p:nvSpPr>
        <p:spPr>
          <a:xfrm>
            <a:off x="585216" y="3822192"/>
            <a:ext cx="1377696" cy="1207008"/>
          </a:xfrm>
          <a:prstGeom prst="roundRect">
            <a:avLst>
              <a:gd name="adj" fmla="val 5303"/>
            </a:avLst>
          </a:prstGeom>
          <a:solidFill>
            <a:srgbClr val="161C24"/>
          </a:solidFill>
          <a:ln w="9525">
            <a:solidFill>
              <a:srgbClr val="161C24"/>
            </a:solidFill>
            <a:prstDash val="solid"/>
          </a:ln>
        </p:spPr>
      </p:sp>
      <p:sp>
        <p:nvSpPr>
          <p:cNvPr id="29" name="Shape 26"/>
          <p:cNvSpPr/>
          <p:nvPr/>
        </p:nvSpPr>
        <p:spPr>
          <a:xfrm>
            <a:off x="676656" y="4233672"/>
            <a:ext cx="384048" cy="384048"/>
          </a:xfrm>
          <a:prstGeom prst="ellipse">
            <a:avLst/>
          </a:prstGeom>
          <a:solidFill>
            <a:srgbClr val="6E7A88"/>
          </a:solidFill>
          <a:ln w="15875">
            <a:solidFill>
              <a:srgbClr val="6E7A88"/>
            </a:solidFill>
            <a:prstDash val="solid"/>
          </a:ln>
        </p:spPr>
      </p:sp>
      <p:sp>
        <p:nvSpPr>
          <p:cNvPr id="30" name="Text 27"/>
          <p:cNvSpPr txBox="1"/>
          <p:nvPr/>
        </p:nvSpPr>
        <p:spPr>
          <a:xfrm>
            <a:off x="676656"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31" name="Text 28"/>
          <p:cNvSpPr txBox="1"/>
          <p:nvPr/>
        </p:nvSpPr>
        <p:spPr>
          <a:xfrm>
            <a:off x="1152144" y="3822192"/>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Intake, routing &amp; knowledge</a:t>
            </a:r>
            <a:endParaRPr lang="en-US" sz="1000" dirty="0"/>
          </a:p>
        </p:txBody>
      </p:sp>
      <p:sp>
        <p:nvSpPr>
          <p:cNvPr id="32" name="Shape 29"/>
          <p:cNvSpPr/>
          <p:nvPr/>
        </p:nvSpPr>
        <p:spPr>
          <a:xfrm>
            <a:off x="1999488" y="4425696"/>
            <a:ext cx="201168" cy="0"/>
          </a:xfrm>
          <a:prstGeom prst="line">
            <a:avLst/>
          </a:prstGeom>
          <a:noFill/>
          <a:ln w="15875">
            <a:solidFill>
              <a:srgbClr val="323C49"/>
            </a:solidFill>
            <a:prstDash val="solid"/>
            <a:tailEnd type="triangle"/>
          </a:ln>
        </p:spPr>
      </p:sp>
      <p:sp>
        <p:nvSpPr>
          <p:cNvPr id="33" name="Shape 30"/>
          <p:cNvSpPr/>
          <p:nvPr/>
        </p:nvSpPr>
        <p:spPr>
          <a:xfrm>
            <a:off x="2237232" y="3822192"/>
            <a:ext cx="1377696" cy="1207008"/>
          </a:xfrm>
          <a:prstGeom prst="roundRect">
            <a:avLst>
              <a:gd name="adj" fmla="val 5303"/>
            </a:avLst>
          </a:prstGeom>
          <a:solidFill>
            <a:srgbClr val="161C24"/>
          </a:solidFill>
          <a:ln w="9525">
            <a:solidFill>
              <a:srgbClr val="161C24"/>
            </a:solidFill>
            <a:prstDash val="solid"/>
          </a:ln>
        </p:spPr>
      </p:sp>
      <p:sp>
        <p:nvSpPr>
          <p:cNvPr id="34" name="Shape 31"/>
          <p:cNvSpPr/>
          <p:nvPr/>
        </p:nvSpPr>
        <p:spPr>
          <a:xfrm>
            <a:off x="2328672" y="4233672"/>
            <a:ext cx="384048" cy="384048"/>
          </a:xfrm>
          <a:prstGeom prst="ellipse">
            <a:avLst/>
          </a:prstGeom>
          <a:solidFill>
            <a:srgbClr val="6E7A88"/>
          </a:solidFill>
          <a:ln w="15875">
            <a:solidFill>
              <a:srgbClr val="6E7A88"/>
            </a:solidFill>
            <a:prstDash val="solid"/>
          </a:ln>
        </p:spPr>
      </p:sp>
      <p:sp>
        <p:nvSpPr>
          <p:cNvPr id="35" name="Text 32"/>
          <p:cNvSpPr txBox="1"/>
          <p:nvPr/>
        </p:nvSpPr>
        <p:spPr>
          <a:xfrm>
            <a:off x="2328672"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36" name="Text 33"/>
          <p:cNvSpPr txBox="1"/>
          <p:nvPr/>
        </p:nvSpPr>
        <p:spPr>
          <a:xfrm>
            <a:off x="2804160" y="3822192"/>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Prompt &amp; AI reply</a:t>
            </a:r>
            <a:endParaRPr lang="en-US" sz="1000" dirty="0"/>
          </a:p>
        </p:txBody>
      </p:sp>
      <p:sp>
        <p:nvSpPr>
          <p:cNvPr id="37" name="Shape 34"/>
          <p:cNvSpPr/>
          <p:nvPr/>
        </p:nvSpPr>
        <p:spPr>
          <a:xfrm>
            <a:off x="3651504" y="4425696"/>
            <a:ext cx="201168" cy="0"/>
          </a:xfrm>
          <a:prstGeom prst="line">
            <a:avLst/>
          </a:prstGeom>
          <a:noFill/>
          <a:ln w="15875">
            <a:solidFill>
              <a:srgbClr val="323C49"/>
            </a:solidFill>
            <a:prstDash val="solid"/>
            <a:tailEnd type="triangle"/>
          </a:ln>
        </p:spPr>
      </p:sp>
      <p:sp>
        <p:nvSpPr>
          <p:cNvPr id="38" name="Shape 35"/>
          <p:cNvSpPr/>
          <p:nvPr/>
        </p:nvSpPr>
        <p:spPr>
          <a:xfrm>
            <a:off x="3889248" y="3822192"/>
            <a:ext cx="1377696" cy="1207008"/>
          </a:xfrm>
          <a:prstGeom prst="roundRect">
            <a:avLst>
              <a:gd name="adj" fmla="val 5303"/>
            </a:avLst>
          </a:prstGeom>
          <a:solidFill>
            <a:srgbClr val="1D242E"/>
          </a:solidFill>
          <a:ln w="22225">
            <a:solidFill>
              <a:srgbClr val="E2B54E"/>
            </a:solidFill>
            <a:prstDash val="solid"/>
          </a:ln>
        </p:spPr>
      </p:sp>
      <p:sp>
        <p:nvSpPr>
          <p:cNvPr id="39" name="Shape 36"/>
          <p:cNvSpPr/>
          <p:nvPr/>
        </p:nvSpPr>
        <p:spPr>
          <a:xfrm>
            <a:off x="3980688" y="4233672"/>
            <a:ext cx="384048" cy="384048"/>
          </a:xfrm>
          <a:prstGeom prst="ellipse">
            <a:avLst/>
          </a:prstGeom>
          <a:solidFill>
            <a:srgbClr val="E2B54E"/>
          </a:solidFill>
          <a:ln w="15875">
            <a:solidFill>
              <a:srgbClr val="E2B54E"/>
            </a:solidFill>
            <a:prstDash val="solid"/>
          </a:ln>
        </p:spPr>
      </p:sp>
      <p:sp>
        <p:nvSpPr>
          <p:cNvPr id="40" name="Text 37"/>
          <p:cNvSpPr txBox="1"/>
          <p:nvPr/>
        </p:nvSpPr>
        <p:spPr>
          <a:xfrm>
            <a:off x="3980688"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41" name="Text 38"/>
          <p:cNvSpPr txBox="1"/>
          <p:nvPr/>
        </p:nvSpPr>
        <p:spPr>
          <a:xfrm>
            <a:off x="4456176" y="3822192"/>
            <a:ext cx="755904" cy="120700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Engine 4 &amp; Report 2</a:t>
            </a:r>
            <a:endParaRPr lang="en-US" sz="1000" dirty="0"/>
          </a:p>
        </p:txBody>
      </p:sp>
      <p:sp>
        <p:nvSpPr>
          <p:cNvPr id="42" name="Shape 39"/>
          <p:cNvSpPr/>
          <p:nvPr/>
        </p:nvSpPr>
        <p:spPr>
          <a:xfrm>
            <a:off x="2926080" y="3099816"/>
            <a:ext cx="0" cy="329184"/>
          </a:xfrm>
          <a:prstGeom prst="line">
            <a:avLst/>
          </a:prstGeom>
          <a:noFill/>
          <a:ln w="15875">
            <a:solidFill>
              <a:srgbClr val="7D8A99"/>
            </a:solidFill>
            <a:prstDash val="solid"/>
            <a:tailEnd type="triangle"/>
          </a:ln>
        </p:spPr>
      </p:sp>
      <p:sp>
        <p:nvSpPr>
          <p:cNvPr id="43" name="Text 40"/>
          <p:cNvSpPr txBox="1"/>
          <p:nvPr/>
        </p:nvSpPr>
        <p:spPr>
          <a:xfrm>
            <a:off x="3017520" y="3099816"/>
            <a:ext cx="2286000" cy="329184"/>
          </a:xfrm>
          <a:prstGeom prst="rect">
            <a:avLst/>
          </a:prstGeom>
          <a:noFill/>
          <a:ln/>
        </p:spPr>
        <p:txBody>
          <a:bodyPr wrap="square" lIns="0" tIns="0" rIns="0" bIns="0" rtlCol="0" anchor="ctr"/>
          <a:lstStyle/>
          <a:p>
            <a:pPr indent="0" marL="0">
              <a:buNone/>
            </a:pPr>
            <a:r>
              <a:rPr lang="en-US" sz="850" i="1" dirty="0">
                <a:solidFill>
                  <a:srgbClr val="A3AEBB"/>
                </a:solidFill>
                <a:latin typeface="Calibri" pitchFamily="34" charset="0"/>
                <a:ea typeface="Calibri" pitchFamily="34" charset="-122"/>
                <a:cs typeface="Calibri" pitchFamily="34" charset="-120"/>
              </a:rPr>
              <a:t>latest complete cycle (read-only)</a:t>
            </a:r>
            <a:endParaRPr lang="en-US" sz="850" dirty="0"/>
          </a:p>
        </p:txBody>
      </p:sp>
      <p:sp>
        <p:nvSpPr>
          <p:cNvPr id="44" name="Shape 41"/>
          <p:cNvSpPr/>
          <p:nvPr/>
        </p:nvSpPr>
        <p:spPr>
          <a:xfrm>
            <a:off x="457200" y="5285232"/>
            <a:ext cx="4937760" cy="566928"/>
          </a:xfrm>
          <a:prstGeom prst="roundRect">
            <a:avLst>
              <a:gd name="adj" fmla="val 9677"/>
            </a:avLst>
          </a:prstGeom>
          <a:solidFill>
            <a:srgbClr val="231E33"/>
          </a:solidFill>
          <a:ln w="9525">
            <a:solidFill>
              <a:srgbClr val="231E33"/>
            </a:solidFill>
            <a:prstDash val="solid"/>
          </a:ln>
        </p:spPr>
      </p:sp>
      <p:sp>
        <p:nvSpPr>
          <p:cNvPr id="45" name="Shape 42"/>
          <p:cNvSpPr/>
          <p:nvPr/>
        </p:nvSpPr>
        <p:spPr>
          <a:xfrm>
            <a:off x="585216" y="5392948"/>
            <a:ext cx="351495" cy="351495"/>
          </a:xfrm>
          <a:prstGeom prst="ellipse">
            <a:avLst/>
          </a:prstGeom>
          <a:solidFill>
            <a:srgbClr val="6E7A88"/>
          </a:solidFill>
          <a:ln w="15875">
            <a:solidFill>
              <a:srgbClr val="6E7A88"/>
            </a:solidFill>
            <a:prstDash val="solid"/>
          </a:ln>
        </p:spPr>
      </p:sp>
      <p:sp>
        <p:nvSpPr>
          <p:cNvPr id="46" name="Text 43"/>
          <p:cNvSpPr txBox="1"/>
          <p:nvPr/>
        </p:nvSpPr>
        <p:spPr>
          <a:xfrm>
            <a:off x="585216" y="5392948"/>
            <a:ext cx="351495" cy="351495"/>
          </a:xfrm>
          <a:prstGeom prst="rect">
            <a:avLst/>
          </a:prstGeom>
          <a:noFill/>
          <a:ln/>
        </p:spPr>
        <p:txBody>
          <a:bodyPr wrap="square" lIns="0" tIns="0" rIns="0" bIns="0" rtlCol="0" anchor="ctr"/>
          <a:lstStyle/>
          <a:p>
            <a:pPr algn="ctr" indent="0" marL="0">
              <a:buNone/>
            </a:pPr>
            <a:r>
              <a:rPr lang="en-US" sz="1000" b="1" dirty="0">
                <a:solidFill>
                  <a:srgbClr val="0F1318"/>
                </a:solidFill>
                <a:latin typeface="Cambria" pitchFamily="34" charset="0"/>
                <a:ea typeface="Cambria" pitchFamily="34" charset="-122"/>
                <a:cs typeface="Cambria" pitchFamily="34" charset="-120"/>
              </a:rPr>
              <a:t>7</a:t>
            </a:r>
            <a:endParaRPr lang="en-US" sz="1000" dirty="0"/>
          </a:p>
        </p:txBody>
      </p:sp>
      <p:sp>
        <p:nvSpPr>
          <p:cNvPr id="47" name="Text 44"/>
          <p:cNvSpPr txBox="1"/>
          <p:nvPr/>
        </p:nvSpPr>
        <p:spPr>
          <a:xfrm>
            <a:off x="1046439" y="5285232"/>
            <a:ext cx="4129065" cy="56692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Platform &amp; governance</a:t>
            </a:r>
            <a:pPr indent="0" marL="0">
              <a:buNone/>
            </a:pPr>
            <a:r>
              <a:rPr lang="en-US" sz="1000" i="1" dirty="0">
                <a:solidFill>
                  <a:srgbClr val="A3AEBB"/>
                </a:solidFill>
                <a:latin typeface="Calibri" pitchFamily="34" charset="0"/>
                <a:ea typeface="Calibri" pitchFamily="34" charset="-122"/>
                <a:cs typeface="Calibri" pitchFamily="34" charset="-120"/>
              </a:rPr>
              <a:t>   across both clocks</a:t>
            </a:r>
            <a:endParaRPr lang="en-US" sz="1000" dirty="0"/>
          </a:p>
        </p:txBody>
      </p:sp>
      <p:sp>
        <p:nvSpPr>
          <p:cNvPr id="48" name="Text 45"/>
          <p:cNvSpPr txBox="1"/>
          <p:nvPr/>
        </p:nvSpPr>
        <p:spPr>
          <a:xfrm>
            <a:off x="5806440" y="1325880"/>
            <a:ext cx="27432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OWNS</a:t>
            </a:r>
            <a:endParaRPr lang="en-US" sz="1000" dirty="0"/>
          </a:p>
        </p:txBody>
      </p:sp>
      <p:sp>
        <p:nvSpPr>
          <p:cNvPr id="49" name="Text 46"/>
          <p:cNvSpPr txBox="1"/>
          <p:nvPr/>
        </p:nvSpPr>
        <p:spPr>
          <a:xfrm>
            <a:off x="5806440" y="1591056"/>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Engine 4 profile  </a:t>
            </a:r>
            <a:pPr indent="0" marL="0">
              <a:buNone/>
            </a:pPr>
            <a:r>
              <a:rPr lang="en-US" sz="1150" dirty="0">
                <a:solidFill>
                  <a:srgbClr val="A3AEBB"/>
                </a:solidFill>
                <a:latin typeface="Calibri" pitchFamily="34" charset="0"/>
                <a:ea typeface="Calibri" pitchFamily="34" charset="-122"/>
                <a:cs typeface="Calibri" pitchFamily="34" charset="-120"/>
              </a:rPr>
              <a:t>8 metrics, confirmation, history</a:t>
            </a:r>
            <a:endParaRPr lang="en-US" sz="1150" dirty="0"/>
          </a:p>
        </p:txBody>
      </p:sp>
      <p:sp>
        <p:nvSpPr>
          <p:cNvPr id="50" name="Text 47"/>
          <p:cNvSpPr txBox="1"/>
          <p:nvPr/>
        </p:nvSpPr>
        <p:spPr>
          <a:xfrm>
            <a:off x="5806440" y="1929384"/>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Offer check  </a:t>
            </a:r>
            <a:pPr indent="0" marL="0">
              <a:buNone/>
            </a:pPr>
            <a:r>
              <a:rPr lang="en-US" sz="1150" dirty="0">
                <a:solidFill>
                  <a:srgbClr val="A3AEBB"/>
                </a:solidFill>
                <a:latin typeface="Calibri" pitchFamily="34" charset="0"/>
                <a:ea typeface="Calibri" pitchFamily="34" charset="-122"/>
                <a:cs typeface="Calibri" pitchFamily="34" charset="-120"/>
              </a:rPr>
              <a:t>whether a setup may be sized right now</a:t>
            </a:r>
            <a:endParaRPr lang="en-US" sz="1150" dirty="0"/>
          </a:p>
        </p:txBody>
      </p:sp>
      <p:sp>
        <p:nvSpPr>
          <p:cNvPr id="51" name="Text 48"/>
          <p:cNvSpPr txBox="1"/>
          <p:nvPr/>
        </p:nvSpPr>
        <p:spPr>
          <a:xfrm>
            <a:off x="5806440" y="2267712"/>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Modal + validator  </a:t>
            </a:r>
            <a:pPr indent="0" marL="0">
              <a:buNone/>
            </a:pPr>
            <a:r>
              <a:rPr lang="en-US" sz="1150" dirty="0">
                <a:solidFill>
                  <a:srgbClr val="A3AEBB"/>
                </a:solidFill>
                <a:latin typeface="Calibri" pitchFamily="34" charset="0"/>
                <a:ea typeface="Calibri" pitchFamily="34" charset="-122"/>
                <a:cs typeface="Calibri" pitchFamily="34" charset="-120"/>
              </a:rPr>
              <a:t>one validator for the modal and for chat</a:t>
            </a:r>
            <a:endParaRPr lang="en-US" sz="1150" dirty="0"/>
          </a:p>
        </p:txBody>
      </p:sp>
      <p:sp>
        <p:nvSpPr>
          <p:cNvPr id="52" name="Text 49"/>
          <p:cNvSpPr txBox="1"/>
          <p:nvPr/>
        </p:nvSpPr>
        <p:spPr>
          <a:xfrm>
            <a:off x="5806440" y="2606040"/>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Sizing maths  </a:t>
            </a:r>
            <a:pPr indent="0" marL="0">
              <a:buNone/>
            </a:pPr>
            <a:r>
              <a:rPr lang="en-US" sz="1150" dirty="0">
                <a:solidFill>
                  <a:srgbClr val="A3AEBB"/>
                </a:solidFill>
                <a:latin typeface="Calibri" pitchFamily="34" charset="0"/>
                <a:ea typeface="Calibri" pitchFamily="34" charset="-122"/>
                <a:cs typeface="Calibri" pitchFamily="34" charset="-120"/>
              </a:rPr>
              <a:t>lot, declared and actual risk, stop, targets</a:t>
            </a:r>
            <a:endParaRPr lang="en-US" sz="1150" dirty="0"/>
          </a:p>
        </p:txBody>
      </p:sp>
      <p:sp>
        <p:nvSpPr>
          <p:cNvPr id="53" name="Text 50"/>
          <p:cNvSpPr txBox="1"/>
          <p:nvPr/>
        </p:nvSpPr>
        <p:spPr>
          <a:xfrm>
            <a:off x="5806440" y="2944368"/>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Badge  </a:t>
            </a:r>
            <a:pPr indent="0" marL="0">
              <a:buNone/>
            </a:pPr>
            <a:r>
              <a:rPr lang="en-US" sz="1150" dirty="0">
                <a:solidFill>
                  <a:srgbClr val="A3AEBB"/>
                </a:solidFill>
                <a:latin typeface="Calibri" pitchFamily="34" charset="0"/>
                <a:ea typeface="Calibri" pitchFamily="34" charset="-122"/>
                <a:cs typeface="Calibri" pitchFamily="34" charset="-120"/>
              </a:rPr>
              <a:t>from synthesis and the room to the next level</a:t>
            </a:r>
            <a:endParaRPr lang="en-US" sz="1150" dirty="0"/>
          </a:p>
        </p:txBody>
      </p:sp>
      <p:sp>
        <p:nvSpPr>
          <p:cNvPr id="54" name="Text 51"/>
          <p:cNvSpPr txBox="1"/>
          <p:nvPr/>
        </p:nvSpPr>
        <p:spPr>
          <a:xfrm>
            <a:off x="5806440" y="3282696"/>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Consent record  </a:t>
            </a:r>
            <a:pPr indent="0" marL="0">
              <a:buNone/>
            </a:pPr>
            <a:r>
              <a:rPr lang="en-US" sz="1150" dirty="0">
                <a:solidFill>
                  <a:srgbClr val="A3AEBB"/>
                </a:solidFill>
                <a:latin typeface="Calibri" pitchFamily="34" charset="0"/>
                <a:ea typeface="Calibri" pitchFamily="34" charset="-122"/>
                <a:cs typeface="Calibri" pitchFamily="34" charset="-120"/>
              </a:rPr>
              <a:t>every accept, modify and decline</a:t>
            </a:r>
            <a:endParaRPr lang="en-US" sz="1150" dirty="0"/>
          </a:p>
        </p:txBody>
      </p:sp>
      <p:sp>
        <p:nvSpPr>
          <p:cNvPr id="55" name="Text 52"/>
          <p:cNvSpPr txBox="1"/>
          <p:nvPr/>
        </p:nvSpPr>
        <p:spPr>
          <a:xfrm>
            <a:off x="5806440" y="3730752"/>
            <a:ext cx="36576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RECEIVES</a:t>
            </a:r>
            <a:endParaRPr lang="en-US" sz="1000" dirty="0"/>
          </a:p>
        </p:txBody>
      </p:sp>
      <p:sp>
        <p:nvSpPr>
          <p:cNvPr id="56" name="Text 53"/>
          <p:cNvSpPr txBox="1"/>
          <p:nvPr/>
        </p:nvSpPr>
        <p:spPr>
          <a:xfrm>
            <a:off x="5806440" y="3986784"/>
            <a:ext cx="5897880" cy="603504"/>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Data status, last price, events and broker specs (1) · CAUTIONARY status and reasons (2) · synthesis reading and zones with invalidation and runway (3) · Report 1 JSON (5) · entitlements (7)</a:t>
            </a:r>
            <a:endParaRPr lang="en-US" sz="1150" dirty="0"/>
          </a:p>
        </p:txBody>
      </p:sp>
      <p:sp>
        <p:nvSpPr>
          <p:cNvPr id="57" name="Text 54"/>
          <p:cNvSpPr txBox="1"/>
          <p:nvPr/>
        </p:nvSpPr>
        <p:spPr>
          <a:xfrm>
            <a:off x="5806440" y="4645152"/>
            <a:ext cx="27432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HANDS ON TO</a:t>
            </a:r>
            <a:endParaRPr lang="en-US" sz="1000" dirty="0"/>
          </a:p>
        </p:txBody>
      </p:sp>
      <p:sp>
        <p:nvSpPr>
          <p:cNvPr id="58" name="Shape 55"/>
          <p:cNvSpPr/>
          <p:nvPr/>
        </p:nvSpPr>
        <p:spPr>
          <a:xfrm>
            <a:off x="5806440" y="4937760"/>
            <a:ext cx="310896" cy="310896"/>
          </a:xfrm>
          <a:prstGeom prst="ellipse">
            <a:avLst/>
          </a:prstGeom>
          <a:solidFill>
            <a:srgbClr val="7FA8E8"/>
          </a:solidFill>
          <a:ln w="15875">
            <a:solidFill>
              <a:srgbClr val="7FA8E8"/>
            </a:solidFill>
            <a:prstDash val="solid"/>
          </a:ln>
        </p:spPr>
      </p:sp>
      <p:sp>
        <p:nvSpPr>
          <p:cNvPr id="59" name="Text 56"/>
          <p:cNvSpPr txBox="1"/>
          <p:nvPr/>
        </p:nvSpPr>
        <p:spPr>
          <a:xfrm>
            <a:off x="5806440" y="4937760"/>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60" name="Text 57"/>
          <p:cNvSpPr txBox="1"/>
          <p:nvPr/>
        </p:nvSpPr>
        <p:spPr>
          <a:xfrm>
            <a:off x="6245352" y="4901184"/>
            <a:ext cx="5486400" cy="38404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Prompt &amp; AI reply  </a:t>
            </a:r>
            <a:pPr indent="0" marL="0">
              <a:buNone/>
            </a:pPr>
            <a:r>
              <a:rPr lang="en-US" sz="1150" dirty="0">
                <a:solidFill>
                  <a:srgbClr val="A3AEBB"/>
                </a:solidFill>
                <a:latin typeface="Calibri" pitchFamily="34" charset="0"/>
                <a:ea typeface="Calibri" pitchFamily="34" charset="-122"/>
                <a:cs typeface="Calibri" pitchFamily="34" charset="-120"/>
              </a:rPr>
              <a:t>whether Report 2 is available, and why not</a:t>
            </a:r>
            <a:endParaRPr lang="en-US" sz="1150" dirty="0"/>
          </a:p>
        </p:txBody>
      </p:sp>
      <p:sp>
        <p:nvSpPr>
          <p:cNvPr id="61" name="Shape 58"/>
          <p:cNvSpPr/>
          <p:nvPr/>
        </p:nvSpPr>
        <p:spPr>
          <a:xfrm>
            <a:off x="5806440" y="5340096"/>
            <a:ext cx="310896" cy="310896"/>
          </a:xfrm>
          <a:prstGeom prst="ellipse">
            <a:avLst/>
          </a:prstGeom>
          <a:solidFill>
            <a:srgbClr val="B7A3E0"/>
          </a:solidFill>
          <a:ln w="15875">
            <a:solidFill>
              <a:srgbClr val="B7A3E0"/>
            </a:solidFill>
            <a:prstDash val="solid"/>
          </a:ln>
        </p:spPr>
      </p:sp>
      <p:sp>
        <p:nvSpPr>
          <p:cNvPr id="62" name="Text 59"/>
          <p:cNvSpPr txBox="1"/>
          <p:nvPr/>
        </p:nvSpPr>
        <p:spPr>
          <a:xfrm>
            <a:off x="5806440" y="534009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7</a:t>
            </a:r>
            <a:endParaRPr lang="en-US" sz="1100" dirty="0"/>
          </a:p>
        </p:txBody>
      </p:sp>
      <p:sp>
        <p:nvSpPr>
          <p:cNvPr id="63" name="Text 60"/>
          <p:cNvSpPr txBox="1"/>
          <p:nvPr/>
        </p:nvSpPr>
        <p:spPr>
          <a:xfrm>
            <a:off x="6245352" y="5303520"/>
            <a:ext cx="5486400" cy="38404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Platform &amp; governance  </a:t>
            </a:r>
            <a:pPr indent="0" marL="0">
              <a:buNone/>
            </a:pPr>
            <a:r>
              <a:rPr lang="en-US" sz="1150" dirty="0">
                <a:solidFill>
                  <a:srgbClr val="A3AEBB"/>
                </a:solidFill>
                <a:latin typeface="Calibri" pitchFamily="34" charset="0"/>
                <a:ea typeface="Calibri" pitchFamily="34" charset="-122"/>
                <a:cs typeface="Calibri" pitchFamily="34" charset="-120"/>
              </a:rPr>
              <a:t>consent records, trace, validator results</a:t>
            </a:r>
            <a:endParaRPr lang="en-US" sz="1150" dirty="0"/>
          </a:p>
        </p:txBody>
      </p:sp>
      <p:sp>
        <p:nvSpPr>
          <p:cNvPr id="64" name="Shape 61"/>
          <p:cNvSpPr/>
          <p:nvPr/>
        </p:nvSpPr>
        <p:spPr>
          <a:xfrm>
            <a:off x="5806440" y="5870448"/>
            <a:ext cx="5925312" cy="411480"/>
          </a:xfrm>
          <a:prstGeom prst="roundRect">
            <a:avLst>
              <a:gd name="adj" fmla="val 15556"/>
            </a:avLst>
          </a:prstGeom>
          <a:solidFill>
            <a:srgbClr val="2E2715"/>
          </a:solidFill>
          <a:ln w="9525">
            <a:solidFill>
              <a:srgbClr val="2E2715"/>
            </a:solidFill>
            <a:prstDash val="solid"/>
          </a:ln>
        </p:spPr>
      </p:sp>
      <p:sp>
        <p:nvSpPr>
          <p:cNvPr id="65" name="Text 62"/>
          <p:cNvSpPr txBox="1"/>
          <p:nvPr/>
        </p:nvSpPr>
        <p:spPr>
          <a:xfrm>
            <a:off x="5943600" y="5870448"/>
            <a:ext cx="5760720" cy="411480"/>
          </a:xfrm>
          <a:prstGeom prst="rect">
            <a:avLst/>
          </a:prstGeom>
          <a:noFill/>
          <a:ln/>
        </p:spPr>
        <p:txBody>
          <a:bodyPr wrap="square" lIns="0" tIns="0" rIns="0" bIns="0" rtlCol="0" anchor="ctr"/>
          <a:lstStyle/>
          <a:p>
            <a:pPr indent="0" marL="0">
              <a:buNone/>
            </a:pPr>
            <a:r>
              <a:rPr lang="en-US" sz="1100" b="1" dirty="0">
                <a:solidFill>
                  <a:srgbClr val="E2B54E"/>
                </a:solidFill>
                <a:latin typeface="Calibri" pitchFamily="34" charset="0"/>
                <a:ea typeface="Calibri" pitchFamily="34" charset="-122"/>
                <a:cs typeface="Calibri" pitchFamily="34" charset="-120"/>
              </a:rPr>
              <a:t>Recommendations here:  </a:t>
            </a:r>
            <a:pPr indent="0" marL="0">
              <a:buNone/>
            </a:pPr>
            <a:r>
              <a:rPr lang="en-US" sz="1100" dirty="0">
                <a:solidFill>
                  <a:srgbClr val="EEF1F4"/>
                </a:solidFill>
                <a:latin typeface="Calibri" pitchFamily="34" charset="0"/>
                <a:ea typeface="Calibri" pitchFamily="34" charset="-122"/>
                <a:cs typeface="Calibri" pitchFamily="34" charset="-120"/>
              </a:rPr>
              <a:t>D2 blackout · D4 defect flag · E2 structure · E3 maths · E4 broker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ORIGINAL DESIGN</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Engine 4 and Report 2 as documented</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3</a:t>
            </a:r>
            <a:endParaRPr lang="en-US" sz="1000" dirty="0"/>
          </a:p>
        </p:txBody>
      </p:sp>
      <p:sp>
        <p:nvSpPr>
          <p:cNvPr id="8" name="Shape 5"/>
          <p:cNvSpPr/>
          <p:nvPr/>
        </p:nvSpPr>
        <p:spPr>
          <a:xfrm>
            <a:off x="457200" y="1371600"/>
            <a:ext cx="2103120" cy="1417320"/>
          </a:xfrm>
          <a:prstGeom prst="roundRect">
            <a:avLst>
              <a:gd name="adj" fmla="val 4516"/>
            </a:avLst>
          </a:prstGeom>
          <a:solidFill>
            <a:srgbClr val="1D242E"/>
          </a:solidFill>
          <a:ln w="9525">
            <a:solidFill>
              <a:srgbClr val="323C49"/>
            </a:solidFill>
            <a:prstDash val="solid"/>
          </a:ln>
        </p:spPr>
      </p:sp>
      <p:sp>
        <p:nvSpPr>
          <p:cNvPr id="9" name="Shape 6"/>
          <p:cNvSpPr/>
          <p:nvPr/>
        </p:nvSpPr>
        <p:spPr>
          <a:xfrm>
            <a:off x="566928" y="1463040"/>
            <a:ext cx="365760" cy="365760"/>
          </a:xfrm>
          <a:prstGeom prst="ellipse">
            <a:avLst/>
          </a:prstGeom>
          <a:solidFill>
            <a:srgbClr val="7FA8E8"/>
          </a:solidFill>
          <a:ln w="15875">
            <a:solidFill>
              <a:srgbClr val="7FA8E8"/>
            </a:solidFill>
            <a:prstDash val="solid"/>
          </a:ln>
        </p:spPr>
      </p:sp>
      <p:sp>
        <p:nvSpPr>
          <p:cNvPr id="10" name="Text 7"/>
          <p:cNvSpPr txBox="1"/>
          <p:nvPr/>
        </p:nvSpPr>
        <p:spPr>
          <a:xfrm>
            <a:off x="566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1</a:t>
            </a:r>
            <a:endParaRPr lang="en-US" sz="1200" dirty="0"/>
          </a:p>
        </p:txBody>
      </p:sp>
      <p:sp>
        <p:nvSpPr>
          <p:cNvPr id="11" name="Text 8"/>
          <p:cNvSpPr txBox="1"/>
          <p:nvPr/>
        </p:nvSpPr>
        <p:spPr>
          <a:xfrm>
            <a:off x="1005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Profile</a:t>
            </a:r>
            <a:endParaRPr lang="en-US" sz="1200" dirty="0"/>
          </a:p>
        </p:txBody>
      </p:sp>
      <p:sp>
        <p:nvSpPr>
          <p:cNvPr id="12" name="Text 9"/>
          <p:cNvSpPr txBox="1"/>
          <p:nvPr/>
        </p:nvSpPr>
        <p:spPr>
          <a:xfrm>
            <a:off x="585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8 metrics confirmed at the start of every session</a:t>
            </a:r>
            <a:endParaRPr lang="en-US" sz="1050" dirty="0"/>
          </a:p>
        </p:txBody>
      </p:sp>
      <p:sp>
        <p:nvSpPr>
          <p:cNvPr id="13" name="Shape 10"/>
          <p:cNvSpPr/>
          <p:nvPr/>
        </p:nvSpPr>
        <p:spPr>
          <a:xfrm>
            <a:off x="2578608" y="2075688"/>
            <a:ext cx="146304" cy="0"/>
          </a:xfrm>
          <a:prstGeom prst="line">
            <a:avLst/>
          </a:prstGeom>
          <a:noFill/>
          <a:ln w="15875">
            <a:solidFill>
              <a:srgbClr val="7D8A99"/>
            </a:solidFill>
            <a:prstDash val="solid"/>
            <a:tailEnd type="triangle"/>
          </a:ln>
        </p:spPr>
      </p:sp>
      <p:sp>
        <p:nvSpPr>
          <p:cNvPr id="14" name="Shape 11"/>
          <p:cNvSpPr/>
          <p:nvPr/>
        </p:nvSpPr>
        <p:spPr>
          <a:xfrm>
            <a:off x="2743200" y="1371600"/>
            <a:ext cx="2103120" cy="1417320"/>
          </a:xfrm>
          <a:prstGeom prst="roundRect">
            <a:avLst>
              <a:gd name="adj" fmla="val 4516"/>
            </a:avLst>
          </a:prstGeom>
          <a:solidFill>
            <a:srgbClr val="1D242E"/>
          </a:solidFill>
          <a:ln w="9525">
            <a:solidFill>
              <a:srgbClr val="323C49"/>
            </a:solidFill>
            <a:prstDash val="solid"/>
          </a:ln>
        </p:spPr>
      </p:sp>
      <p:sp>
        <p:nvSpPr>
          <p:cNvPr id="15" name="Shape 12"/>
          <p:cNvSpPr/>
          <p:nvPr/>
        </p:nvSpPr>
        <p:spPr>
          <a:xfrm>
            <a:off x="2852928" y="1463040"/>
            <a:ext cx="365760" cy="365760"/>
          </a:xfrm>
          <a:prstGeom prst="ellipse">
            <a:avLst/>
          </a:prstGeom>
          <a:solidFill>
            <a:srgbClr val="7FA8E8"/>
          </a:solidFill>
          <a:ln w="15875">
            <a:solidFill>
              <a:srgbClr val="7FA8E8"/>
            </a:solidFill>
            <a:prstDash val="solid"/>
          </a:ln>
        </p:spPr>
      </p:sp>
      <p:sp>
        <p:nvSpPr>
          <p:cNvPr id="16" name="Text 13"/>
          <p:cNvSpPr txBox="1"/>
          <p:nvPr/>
        </p:nvSpPr>
        <p:spPr>
          <a:xfrm>
            <a:off x="2852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2</a:t>
            </a:r>
            <a:endParaRPr lang="en-US" sz="1200" dirty="0"/>
          </a:p>
        </p:txBody>
      </p:sp>
      <p:sp>
        <p:nvSpPr>
          <p:cNvPr id="17" name="Text 14"/>
          <p:cNvSpPr txBox="1"/>
          <p:nvPr/>
        </p:nvSpPr>
        <p:spPr>
          <a:xfrm>
            <a:off x="3291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Report 1</a:t>
            </a:r>
            <a:endParaRPr lang="en-US" sz="1200" dirty="0"/>
          </a:p>
        </p:txBody>
      </p:sp>
      <p:sp>
        <p:nvSpPr>
          <p:cNvPr id="18" name="Text 15"/>
          <p:cNvSpPr txBox="1"/>
          <p:nvPr/>
        </p:nvSpPr>
        <p:spPr>
          <a:xfrm>
            <a:off x="2871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then “Create the trade setup report?”</a:t>
            </a:r>
            <a:endParaRPr lang="en-US" sz="1050" dirty="0"/>
          </a:p>
        </p:txBody>
      </p:sp>
      <p:sp>
        <p:nvSpPr>
          <p:cNvPr id="19" name="Shape 16"/>
          <p:cNvSpPr/>
          <p:nvPr/>
        </p:nvSpPr>
        <p:spPr>
          <a:xfrm>
            <a:off x="4864608" y="2075688"/>
            <a:ext cx="146304" cy="0"/>
          </a:xfrm>
          <a:prstGeom prst="line">
            <a:avLst/>
          </a:prstGeom>
          <a:noFill/>
          <a:ln w="15875">
            <a:solidFill>
              <a:srgbClr val="7D8A99"/>
            </a:solidFill>
            <a:prstDash val="solid"/>
            <a:tailEnd type="triangle"/>
          </a:ln>
        </p:spPr>
      </p:sp>
      <p:sp>
        <p:nvSpPr>
          <p:cNvPr id="20" name="Shape 17"/>
          <p:cNvSpPr/>
          <p:nvPr/>
        </p:nvSpPr>
        <p:spPr>
          <a:xfrm>
            <a:off x="5029200" y="1371600"/>
            <a:ext cx="2103120" cy="1417320"/>
          </a:xfrm>
          <a:prstGeom prst="roundRect">
            <a:avLst>
              <a:gd name="adj" fmla="val 4516"/>
            </a:avLst>
          </a:prstGeom>
          <a:solidFill>
            <a:srgbClr val="1D242E"/>
          </a:solidFill>
          <a:ln w="9525">
            <a:solidFill>
              <a:srgbClr val="323C49"/>
            </a:solidFill>
            <a:prstDash val="solid"/>
          </a:ln>
        </p:spPr>
      </p:sp>
      <p:sp>
        <p:nvSpPr>
          <p:cNvPr id="21" name="Shape 18"/>
          <p:cNvSpPr/>
          <p:nvPr/>
        </p:nvSpPr>
        <p:spPr>
          <a:xfrm>
            <a:off x="5138928" y="1463040"/>
            <a:ext cx="365760" cy="365760"/>
          </a:xfrm>
          <a:prstGeom prst="ellipse">
            <a:avLst/>
          </a:prstGeom>
          <a:solidFill>
            <a:srgbClr val="7FA8E8"/>
          </a:solidFill>
          <a:ln w="15875">
            <a:solidFill>
              <a:srgbClr val="7FA8E8"/>
            </a:solidFill>
            <a:prstDash val="solid"/>
          </a:ln>
        </p:spPr>
      </p:sp>
      <p:sp>
        <p:nvSpPr>
          <p:cNvPr id="22" name="Text 19"/>
          <p:cNvSpPr txBox="1"/>
          <p:nvPr/>
        </p:nvSpPr>
        <p:spPr>
          <a:xfrm>
            <a:off x="5138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3</a:t>
            </a:r>
            <a:endParaRPr lang="en-US" sz="1200" dirty="0"/>
          </a:p>
        </p:txBody>
      </p:sp>
      <p:sp>
        <p:nvSpPr>
          <p:cNvPr id="23" name="Text 20"/>
          <p:cNvSpPr txBox="1"/>
          <p:nvPr/>
        </p:nvSpPr>
        <p:spPr>
          <a:xfrm>
            <a:off x="5577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Modal</a:t>
            </a:r>
            <a:endParaRPr lang="en-US" sz="1200" dirty="0"/>
          </a:p>
        </p:txBody>
      </p:sp>
      <p:sp>
        <p:nvSpPr>
          <p:cNvPr id="24" name="Text 21"/>
          <p:cNvSpPr txBox="1"/>
          <p:nvPr/>
        </p:nvSpPr>
        <p:spPr>
          <a:xfrm>
            <a:off x="5157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5 inputs: side, entry, equity, risk %, stop distance</a:t>
            </a:r>
            <a:endParaRPr lang="en-US" sz="1050" dirty="0"/>
          </a:p>
        </p:txBody>
      </p:sp>
      <p:sp>
        <p:nvSpPr>
          <p:cNvPr id="25" name="Shape 22"/>
          <p:cNvSpPr/>
          <p:nvPr/>
        </p:nvSpPr>
        <p:spPr>
          <a:xfrm>
            <a:off x="7150608" y="2075688"/>
            <a:ext cx="146304" cy="0"/>
          </a:xfrm>
          <a:prstGeom prst="line">
            <a:avLst/>
          </a:prstGeom>
          <a:noFill/>
          <a:ln w="15875">
            <a:solidFill>
              <a:srgbClr val="7D8A99"/>
            </a:solidFill>
            <a:prstDash val="solid"/>
            <a:tailEnd type="triangle"/>
          </a:ln>
        </p:spPr>
      </p:sp>
      <p:sp>
        <p:nvSpPr>
          <p:cNvPr id="26" name="Shape 23"/>
          <p:cNvSpPr/>
          <p:nvPr/>
        </p:nvSpPr>
        <p:spPr>
          <a:xfrm>
            <a:off x="7315200" y="1371600"/>
            <a:ext cx="2103120" cy="1417320"/>
          </a:xfrm>
          <a:prstGeom prst="roundRect">
            <a:avLst>
              <a:gd name="adj" fmla="val 4516"/>
            </a:avLst>
          </a:prstGeom>
          <a:solidFill>
            <a:srgbClr val="1D242E"/>
          </a:solidFill>
          <a:ln w="9525">
            <a:solidFill>
              <a:srgbClr val="323C49"/>
            </a:solidFill>
            <a:prstDash val="solid"/>
          </a:ln>
        </p:spPr>
      </p:sp>
      <p:sp>
        <p:nvSpPr>
          <p:cNvPr id="27" name="Shape 24"/>
          <p:cNvSpPr/>
          <p:nvPr/>
        </p:nvSpPr>
        <p:spPr>
          <a:xfrm>
            <a:off x="7424928" y="1463040"/>
            <a:ext cx="365760" cy="365760"/>
          </a:xfrm>
          <a:prstGeom prst="ellipse">
            <a:avLst/>
          </a:prstGeom>
          <a:solidFill>
            <a:srgbClr val="7FA8E8"/>
          </a:solidFill>
          <a:ln w="15875">
            <a:solidFill>
              <a:srgbClr val="7FA8E8"/>
            </a:solidFill>
            <a:prstDash val="solid"/>
          </a:ln>
        </p:spPr>
      </p:sp>
      <p:sp>
        <p:nvSpPr>
          <p:cNvPr id="28" name="Text 25"/>
          <p:cNvSpPr txBox="1"/>
          <p:nvPr/>
        </p:nvSpPr>
        <p:spPr>
          <a:xfrm>
            <a:off x="7424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4</a:t>
            </a:r>
            <a:endParaRPr lang="en-US" sz="1200" dirty="0"/>
          </a:p>
        </p:txBody>
      </p:sp>
      <p:sp>
        <p:nvSpPr>
          <p:cNvPr id="29" name="Text 26"/>
          <p:cNvSpPr txBox="1"/>
          <p:nvPr/>
        </p:nvSpPr>
        <p:spPr>
          <a:xfrm>
            <a:off x="7863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Maths</a:t>
            </a:r>
            <a:endParaRPr lang="en-US" sz="1200" dirty="0"/>
          </a:p>
        </p:txBody>
      </p:sp>
      <p:sp>
        <p:nvSpPr>
          <p:cNvPr id="30" name="Text 27"/>
          <p:cNvSpPr txBox="1"/>
          <p:nvPr/>
        </p:nvSpPr>
        <p:spPr>
          <a:xfrm>
            <a:off x="7443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lot, stop, leverage; three profit scenarios + badge</a:t>
            </a:r>
            <a:endParaRPr lang="en-US" sz="1050" dirty="0"/>
          </a:p>
        </p:txBody>
      </p:sp>
      <p:sp>
        <p:nvSpPr>
          <p:cNvPr id="31" name="Shape 28"/>
          <p:cNvSpPr/>
          <p:nvPr/>
        </p:nvSpPr>
        <p:spPr>
          <a:xfrm>
            <a:off x="9436608" y="2075688"/>
            <a:ext cx="146304" cy="0"/>
          </a:xfrm>
          <a:prstGeom prst="line">
            <a:avLst/>
          </a:prstGeom>
          <a:noFill/>
          <a:ln w="15875">
            <a:solidFill>
              <a:srgbClr val="7D8A99"/>
            </a:solidFill>
            <a:prstDash val="solid"/>
            <a:tailEnd type="triangle"/>
          </a:ln>
        </p:spPr>
      </p:sp>
      <p:sp>
        <p:nvSpPr>
          <p:cNvPr id="32" name="Shape 29"/>
          <p:cNvSpPr/>
          <p:nvPr/>
        </p:nvSpPr>
        <p:spPr>
          <a:xfrm>
            <a:off x="9601200" y="1371600"/>
            <a:ext cx="2103120" cy="1417320"/>
          </a:xfrm>
          <a:prstGeom prst="roundRect">
            <a:avLst>
              <a:gd name="adj" fmla="val 4516"/>
            </a:avLst>
          </a:prstGeom>
          <a:solidFill>
            <a:srgbClr val="1D242E"/>
          </a:solidFill>
          <a:ln w="9525">
            <a:solidFill>
              <a:srgbClr val="323C49"/>
            </a:solidFill>
            <a:prstDash val="solid"/>
          </a:ln>
        </p:spPr>
      </p:sp>
      <p:sp>
        <p:nvSpPr>
          <p:cNvPr id="33" name="Shape 30"/>
          <p:cNvSpPr/>
          <p:nvPr/>
        </p:nvSpPr>
        <p:spPr>
          <a:xfrm>
            <a:off x="9710928" y="1463040"/>
            <a:ext cx="365760" cy="365760"/>
          </a:xfrm>
          <a:prstGeom prst="ellipse">
            <a:avLst/>
          </a:prstGeom>
          <a:solidFill>
            <a:srgbClr val="7FA8E8"/>
          </a:solidFill>
          <a:ln w="15875">
            <a:solidFill>
              <a:srgbClr val="7FA8E8"/>
            </a:solidFill>
            <a:prstDash val="solid"/>
          </a:ln>
        </p:spPr>
      </p:sp>
      <p:sp>
        <p:nvSpPr>
          <p:cNvPr id="34" name="Text 31"/>
          <p:cNvSpPr txBox="1"/>
          <p:nvPr/>
        </p:nvSpPr>
        <p:spPr>
          <a:xfrm>
            <a:off x="9710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5</a:t>
            </a:r>
            <a:endParaRPr lang="en-US" sz="1200" dirty="0"/>
          </a:p>
        </p:txBody>
      </p:sp>
      <p:sp>
        <p:nvSpPr>
          <p:cNvPr id="35" name="Text 32"/>
          <p:cNvSpPr txBox="1"/>
          <p:nvPr/>
        </p:nvSpPr>
        <p:spPr>
          <a:xfrm>
            <a:off x="10149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Consent</a:t>
            </a:r>
            <a:endParaRPr lang="en-US" sz="1200" dirty="0"/>
          </a:p>
        </p:txBody>
      </p:sp>
      <p:sp>
        <p:nvSpPr>
          <p:cNvPr id="36" name="Text 33"/>
          <p:cNvSpPr txBox="1"/>
          <p:nvPr/>
        </p:nvSpPr>
        <p:spPr>
          <a:xfrm>
            <a:off x="9729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Accept &amp; Ready to Execute · Modify · Decline</a:t>
            </a:r>
            <a:endParaRPr lang="en-US" sz="1050" dirty="0"/>
          </a:p>
        </p:txBody>
      </p:sp>
      <p:sp>
        <p:nvSpPr>
          <p:cNvPr id="37" name="Shape 34"/>
          <p:cNvSpPr/>
          <p:nvPr/>
        </p:nvSpPr>
        <p:spPr>
          <a:xfrm>
            <a:off x="457200" y="3063240"/>
            <a:ext cx="5513832" cy="1481328"/>
          </a:xfrm>
          <a:prstGeom prst="roundRect">
            <a:avLst>
              <a:gd name="adj" fmla="val 4321"/>
            </a:avLst>
          </a:prstGeom>
          <a:solidFill>
            <a:srgbClr val="1D242E"/>
          </a:solidFill>
          <a:ln w="9525">
            <a:solidFill>
              <a:srgbClr val="323C49"/>
            </a:solidFill>
            <a:prstDash val="solid"/>
          </a:ln>
        </p:spPr>
      </p:sp>
      <p:sp>
        <p:nvSpPr>
          <p:cNvPr id="38" name="Text 35"/>
          <p:cNvSpPr txBox="1"/>
          <p:nvPr/>
        </p:nvSpPr>
        <p:spPr>
          <a:xfrm>
            <a:off x="640080" y="3172968"/>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ENGINE 4 PROFILE (FILE E)</a:t>
            </a:r>
            <a:endParaRPr lang="en-US" sz="950" dirty="0"/>
          </a:p>
        </p:txBody>
      </p:sp>
      <p:sp>
        <p:nvSpPr>
          <p:cNvPr id="39" name="Text 36"/>
          <p:cNvSpPr txBox="1"/>
          <p:nvPr/>
        </p:nvSpPr>
        <p:spPr>
          <a:xfrm>
            <a:off x="640080" y="3474720"/>
            <a:ext cx="5166360" cy="1024128"/>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Trader type · style · max risk per trade · max leverage (ceiling 1:5) · target RRR (≤ 2.5× for counter-trend) · equity · min stop distance $13 · commission $4 a lot. History kept for audit.</a:t>
            </a:r>
            <a:endParaRPr lang="en-US" sz="1150" dirty="0"/>
          </a:p>
        </p:txBody>
      </p:sp>
      <p:sp>
        <p:nvSpPr>
          <p:cNvPr id="40" name="Shape 37"/>
          <p:cNvSpPr/>
          <p:nvPr/>
        </p:nvSpPr>
        <p:spPr>
          <a:xfrm>
            <a:off x="6126480" y="3063240"/>
            <a:ext cx="5513832" cy="1481328"/>
          </a:xfrm>
          <a:prstGeom prst="roundRect">
            <a:avLst>
              <a:gd name="adj" fmla="val 4321"/>
            </a:avLst>
          </a:prstGeom>
          <a:solidFill>
            <a:srgbClr val="1D242E"/>
          </a:solidFill>
          <a:ln w="9525">
            <a:solidFill>
              <a:srgbClr val="323C49"/>
            </a:solidFill>
            <a:prstDash val="solid"/>
          </a:ln>
        </p:spPr>
      </p:sp>
      <p:sp>
        <p:nvSpPr>
          <p:cNvPr id="41" name="Text 38"/>
          <p:cNvSpPr txBox="1"/>
          <p:nvPr/>
        </p:nvSpPr>
        <p:spPr>
          <a:xfrm>
            <a:off x="6309360" y="3172968"/>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THE MODAL (FILE G §2)</a:t>
            </a:r>
            <a:endParaRPr lang="en-US" sz="950" dirty="0"/>
          </a:p>
        </p:txBody>
      </p:sp>
      <p:sp>
        <p:nvSpPr>
          <p:cNvPr id="42" name="Text 39"/>
          <p:cNvSpPr txBox="1"/>
          <p:nvPr/>
        </p:nvSpPr>
        <p:spPr>
          <a:xfrm>
            <a:off x="6309360" y="3474720"/>
            <a:ext cx="5166360" cy="1024128"/>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1 accept or decline the direction · 2 entry: five zone prices or custom within ±5% · 3 equity · 4 risk % ≤ max · 5 stop distance ≥ min, from $13 / 15 / 17 / 19 / 21 pills.</a:t>
            </a:r>
            <a:endParaRPr lang="en-US" sz="1150" dirty="0"/>
          </a:p>
        </p:txBody>
      </p:sp>
      <p:sp>
        <p:nvSpPr>
          <p:cNvPr id="43" name="Shape 40"/>
          <p:cNvSpPr/>
          <p:nvPr/>
        </p:nvSpPr>
        <p:spPr>
          <a:xfrm>
            <a:off x="457200" y="4690872"/>
            <a:ext cx="5513832" cy="1481328"/>
          </a:xfrm>
          <a:prstGeom prst="roundRect">
            <a:avLst>
              <a:gd name="adj" fmla="val 4321"/>
            </a:avLst>
          </a:prstGeom>
          <a:solidFill>
            <a:srgbClr val="1D242E"/>
          </a:solidFill>
          <a:ln w="9525">
            <a:solidFill>
              <a:srgbClr val="323C49"/>
            </a:solidFill>
            <a:prstDash val="solid"/>
          </a:ln>
        </p:spPr>
      </p:sp>
      <p:sp>
        <p:nvSpPr>
          <p:cNvPr id="44" name="Text 41"/>
          <p:cNvSpPr txBox="1"/>
          <p:nvPr/>
        </p:nvSpPr>
        <p:spPr>
          <a:xfrm>
            <a:off x="640080" y="4800600"/>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THE MATHS (FILE G §4–5)</a:t>
            </a:r>
            <a:endParaRPr lang="en-US" sz="950" dirty="0"/>
          </a:p>
        </p:txBody>
      </p:sp>
      <p:sp>
        <p:nvSpPr>
          <p:cNvPr id="45" name="Text 42"/>
          <p:cNvSpPr txBox="1"/>
          <p:nvPr/>
        </p:nvSpPr>
        <p:spPr>
          <a:xfrm>
            <a:off x="640080" y="5102352"/>
            <a:ext cx="5166360" cy="1024128"/>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Lot = min(leverage cap, risk ÷ (stop × 100 + commission)), rounded down to 0.01. Under 0.01: guided options, never rounded up. Scenarios at target RRR −1, 0, +1 notch; badge from WACS.</a:t>
            </a:r>
            <a:endParaRPr lang="en-US" sz="1150" dirty="0"/>
          </a:p>
        </p:txBody>
      </p:sp>
      <p:sp>
        <p:nvSpPr>
          <p:cNvPr id="46" name="Shape 43"/>
          <p:cNvSpPr/>
          <p:nvPr/>
        </p:nvSpPr>
        <p:spPr>
          <a:xfrm>
            <a:off x="6126480" y="4690872"/>
            <a:ext cx="5513832" cy="1481328"/>
          </a:xfrm>
          <a:prstGeom prst="roundRect">
            <a:avLst>
              <a:gd name="adj" fmla="val 4321"/>
            </a:avLst>
          </a:prstGeom>
          <a:solidFill>
            <a:srgbClr val="1D242E"/>
          </a:solidFill>
          <a:ln w="9525">
            <a:solidFill>
              <a:srgbClr val="323C49"/>
            </a:solidFill>
            <a:prstDash val="solid"/>
          </a:ln>
        </p:spPr>
      </p:sp>
      <p:sp>
        <p:nvSpPr>
          <p:cNvPr id="47" name="Text 44"/>
          <p:cNvSpPr txBox="1"/>
          <p:nvPr/>
        </p:nvSpPr>
        <p:spPr>
          <a:xfrm>
            <a:off x="6309360" y="4800600"/>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COMPLIANCE (FILES E, G)</a:t>
            </a:r>
            <a:endParaRPr lang="en-US" sz="950" dirty="0"/>
          </a:p>
        </p:txBody>
      </p:sp>
      <p:sp>
        <p:nvSpPr>
          <p:cNvPr id="48" name="Text 45"/>
          <p:cNvSpPr txBox="1"/>
          <p:nvPr/>
        </p:nvSpPr>
        <p:spPr>
          <a:xfrm>
            <a:off x="6309360" y="5102352"/>
            <a:ext cx="5166360" cy="1024128"/>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Execution-only calculator; single-order scope notice on every output; AI badge and provenance metadata; audit history anonymised after account deletion and kept 5–7 years.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WHAT’S MISSING</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Eight gaps between a reading and a sized setup</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4</a:t>
            </a:r>
            <a:endParaRPr lang="en-US" sz="1000" dirty="0"/>
          </a:p>
        </p:txBody>
      </p:sp>
      <p:sp>
        <p:nvSpPr>
          <p:cNvPr id="8" name="Shape 5"/>
          <p:cNvSpPr/>
          <p:nvPr/>
        </p:nvSpPr>
        <p:spPr>
          <a:xfrm>
            <a:off x="457200" y="1371600"/>
            <a:ext cx="2697480" cy="2359152"/>
          </a:xfrm>
          <a:prstGeom prst="roundRect">
            <a:avLst>
              <a:gd name="adj" fmla="val 2713"/>
            </a:avLst>
          </a:prstGeom>
          <a:solidFill>
            <a:srgbClr val="33201F"/>
          </a:solidFill>
          <a:ln w="15875">
            <a:solidFill>
              <a:srgbClr val="E5746A"/>
            </a:solidFill>
            <a:prstDash val="solid"/>
          </a:ln>
        </p:spPr>
      </p:sp>
      <p:sp>
        <p:nvSpPr>
          <p:cNvPr id="9" name="Shape 6"/>
          <p:cNvSpPr/>
          <p:nvPr/>
        </p:nvSpPr>
        <p:spPr>
          <a:xfrm>
            <a:off x="585216" y="1499616"/>
            <a:ext cx="438912" cy="438912"/>
          </a:xfrm>
          <a:prstGeom prst="ellipse">
            <a:avLst/>
          </a:prstGeom>
          <a:solidFill>
            <a:srgbClr val="0F1318"/>
          </a:solidFill>
          <a:ln w="12700">
            <a:solidFill>
              <a:srgbClr val="0F1318"/>
            </a:solidFill>
            <a:prstDash val="solid"/>
          </a:ln>
        </p:spPr>
      </p:sp>
      <p:pic>
        <p:nvPicPr>
          <p:cNvPr id="10" name="Image 0" descr="preencoded.png">    </p:cNvPr>
          <p:cNvPicPr>
            <a:picLocks noChangeAspect="1"/>
          </p:cNvPicPr>
          <p:nvPr/>
        </p:nvPicPr>
        <p:blipFill>
          <a:blip r:embed="rId1"/>
          <a:stretch>
            <a:fillRect/>
          </a:stretch>
        </p:blipFill>
        <p:spPr>
          <a:xfrm>
            <a:off x="686166" y="1600566"/>
            <a:ext cx="237012" cy="237012"/>
          </a:xfrm>
          <a:prstGeom prst="rect">
            <a:avLst/>
          </a:prstGeom>
        </p:spPr>
      </p:pic>
      <p:sp>
        <p:nvSpPr>
          <p:cNvPr id="11" name="Text 7"/>
          <p:cNvSpPr txBox="1"/>
          <p:nvPr/>
        </p:nvSpPr>
        <p:spPr>
          <a:xfrm>
            <a:off x="111556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Targets ignore structure</a:t>
            </a:r>
            <a:endParaRPr lang="en-US" sz="1200" dirty="0"/>
          </a:p>
        </p:txBody>
      </p:sp>
      <p:sp>
        <p:nvSpPr>
          <p:cNvPr id="12" name="Text 8"/>
          <p:cNvSpPr txBox="1"/>
          <p:nvPr/>
        </p:nvSpPr>
        <p:spPr>
          <a:xfrm>
            <a:off x="603504" y="2048256"/>
            <a:ext cx="2432304" cy="1097280"/>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Stops are fixed $13–21 pills; targets are entry ± stop × RRR, whatever lies in between.</a:t>
            </a:r>
            <a:endParaRPr lang="en-US" sz="1050" dirty="0"/>
          </a:p>
        </p:txBody>
      </p:sp>
      <p:sp>
        <p:nvSpPr>
          <p:cNvPr id="13" name="Text 9"/>
          <p:cNvSpPr txBox="1"/>
          <p:nvPr/>
        </p:nvSpPr>
        <p:spPr>
          <a:xfrm>
            <a:off x="60350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On 18 Sep even Conservative lands past 4384.28.</a:t>
            </a:r>
            <a:endParaRPr lang="en-US" sz="1000" dirty="0"/>
          </a:p>
        </p:txBody>
      </p:sp>
      <p:sp>
        <p:nvSpPr>
          <p:cNvPr id="14" name="Shape 10"/>
          <p:cNvSpPr/>
          <p:nvPr/>
        </p:nvSpPr>
        <p:spPr>
          <a:xfrm>
            <a:off x="3291840" y="1371600"/>
            <a:ext cx="2697480" cy="2359152"/>
          </a:xfrm>
          <a:prstGeom prst="roundRect">
            <a:avLst>
              <a:gd name="adj" fmla="val 2713"/>
            </a:avLst>
          </a:prstGeom>
          <a:solidFill>
            <a:srgbClr val="1D242E"/>
          </a:solidFill>
          <a:ln w="9525">
            <a:solidFill>
              <a:srgbClr val="323C49"/>
            </a:solidFill>
            <a:prstDash val="solid"/>
          </a:ln>
        </p:spPr>
      </p:sp>
      <p:sp>
        <p:nvSpPr>
          <p:cNvPr id="15" name="Shape 11"/>
          <p:cNvSpPr/>
          <p:nvPr/>
        </p:nvSpPr>
        <p:spPr>
          <a:xfrm>
            <a:off x="3419856" y="1499616"/>
            <a:ext cx="438912" cy="438912"/>
          </a:xfrm>
          <a:prstGeom prst="ellipse">
            <a:avLst/>
          </a:prstGeom>
          <a:solidFill>
            <a:srgbClr val="0F1318"/>
          </a:solidFill>
          <a:ln w="12700">
            <a:solidFill>
              <a:srgbClr val="0F1318"/>
            </a:solidFill>
            <a:prstDash val="solid"/>
          </a:ln>
        </p:spPr>
      </p:sp>
      <p:pic>
        <p:nvPicPr>
          <p:cNvPr id="16" name="Image 1" descr="preencoded.png">    </p:cNvPr>
          <p:cNvPicPr>
            <a:picLocks noChangeAspect="1"/>
          </p:cNvPicPr>
          <p:nvPr/>
        </p:nvPicPr>
        <p:blipFill>
          <a:blip r:embed="rId2"/>
          <a:stretch>
            <a:fillRect/>
          </a:stretch>
        </p:blipFill>
        <p:spPr>
          <a:xfrm>
            <a:off x="3520806" y="1600566"/>
            <a:ext cx="237012" cy="237012"/>
          </a:xfrm>
          <a:prstGeom prst="rect">
            <a:avLst/>
          </a:prstGeom>
        </p:spPr>
      </p:pic>
      <p:sp>
        <p:nvSpPr>
          <p:cNvPr id="17" name="Text 12"/>
          <p:cNvSpPr txBox="1"/>
          <p:nvPr/>
        </p:nvSpPr>
        <p:spPr>
          <a:xfrm>
            <a:off x="395020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Badge runs on WACS</a:t>
            </a:r>
            <a:endParaRPr lang="en-US" sz="1200" dirty="0"/>
          </a:p>
        </p:txBody>
      </p:sp>
      <p:sp>
        <p:nvSpPr>
          <p:cNvPr id="18" name="Text 13"/>
          <p:cNvSpPr txBox="1"/>
          <p:nvPr/>
        </p:nvSpPr>
        <p:spPr>
          <a:xfrm>
            <a:off x="343814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The badge uses WACS 25–60 and &gt; 60; WACS was retired (decision 001).</a:t>
            </a:r>
            <a:endParaRPr lang="en-US" sz="1050" dirty="0"/>
          </a:p>
        </p:txBody>
      </p:sp>
      <p:sp>
        <p:nvSpPr>
          <p:cNvPr id="19" name="Text 14"/>
          <p:cNvSpPr txBox="1"/>
          <p:nvPr/>
        </p:nvSpPr>
        <p:spPr>
          <a:xfrm>
            <a:off x="343814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The badge can’t be computed.</a:t>
            </a:r>
            <a:endParaRPr lang="en-US" sz="1000" dirty="0"/>
          </a:p>
        </p:txBody>
      </p:sp>
      <p:sp>
        <p:nvSpPr>
          <p:cNvPr id="20" name="Shape 15"/>
          <p:cNvSpPr/>
          <p:nvPr/>
        </p:nvSpPr>
        <p:spPr>
          <a:xfrm>
            <a:off x="6126480" y="1371600"/>
            <a:ext cx="2697480" cy="2359152"/>
          </a:xfrm>
          <a:prstGeom prst="roundRect">
            <a:avLst>
              <a:gd name="adj" fmla="val 2713"/>
            </a:avLst>
          </a:prstGeom>
          <a:solidFill>
            <a:srgbClr val="1D242E"/>
          </a:solidFill>
          <a:ln w="9525">
            <a:solidFill>
              <a:srgbClr val="323C49"/>
            </a:solidFill>
            <a:prstDash val="solid"/>
          </a:ln>
        </p:spPr>
      </p:sp>
      <p:sp>
        <p:nvSpPr>
          <p:cNvPr id="21" name="Shape 16"/>
          <p:cNvSpPr/>
          <p:nvPr/>
        </p:nvSpPr>
        <p:spPr>
          <a:xfrm>
            <a:off x="6254496" y="1499616"/>
            <a:ext cx="438912" cy="438912"/>
          </a:xfrm>
          <a:prstGeom prst="ellipse">
            <a:avLst/>
          </a:prstGeom>
          <a:solidFill>
            <a:srgbClr val="0F1318"/>
          </a:solidFill>
          <a:ln w="12700">
            <a:solidFill>
              <a:srgbClr val="0F1318"/>
            </a:solidFill>
            <a:prstDash val="solid"/>
          </a:ln>
        </p:spPr>
      </p:sp>
      <p:pic>
        <p:nvPicPr>
          <p:cNvPr id="22" name="Image 2" descr="preencoded.png">    </p:cNvPr>
          <p:cNvPicPr>
            <a:picLocks noChangeAspect="1"/>
          </p:cNvPicPr>
          <p:nvPr/>
        </p:nvPicPr>
        <p:blipFill>
          <a:blip r:embed="rId3"/>
          <a:stretch>
            <a:fillRect/>
          </a:stretch>
        </p:blipFill>
        <p:spPr>
          <a:xfrm>
            <a:off x="6355446" y="1600566"/>
            <a:ext cx="237012" cy="237012"/>
          </a:xfrm>
          <a:prstGeom prst="rect">
            <a:avLst/>
          </a:prstGeom>
        </p:spPr>
      </p:pic>
      <p:sp>
        <p:nvSpPr>
          <p:cNvPr id="23" name="Text 17"/>
          <p:cNvSpPr txBox="1"/>
          <p:nvPr/>
        </p:nvSpPr>
        <p:spPr>
          <a:xfrm>
            <a:off x="678484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No news blackout</a:t>
            </a:r>
            <a:endParaRPr lang="en-US" sz="1200" dirty="0"/>
          </a:p>
        </p:txBody>
      </p:sp>
      <p:sp>
        <p:nvSpPr>
          <p:cNvPr id="24" name="Text 18"/>
          <p:cNvSpPr txBox="1"/>
          <p:nvPr/>
        </p:nvSpPr>
        <p:spPr>
          <a:xfrm>
            <a:off x="627278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File A bans new orders 15 minutes either side of CPI, Core PCE, FOMC and NFP. Nothing checks it.</a:t>
            </a:r>
            <a:endParaRPr lang="en-US" sz="1050" dirty="0"/>
          </a:p>
        </p:txBody>
      </p:sp>
      <p:sp>
        <p:nvSpPr>
          <p:cNvPr id="25" name="Text 19"/>
          <p:cNvSpPr txBox="1"/>
          <p:nvPr/>
        </p:nvSpPr>
        <p:spPr>
          <a:xfrm>
            <a:off x="627278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A setup can be sized into NFP.</a:t>
            </a:r>
            <a:endParaRPr lang="en-US" sz="1000" dirty="0"/>
          </a:p>
        </p:txBody>
      </p:sp>
      <p:sp>
        <p:nvSpPr>
          <p:cNvPr id="26" name="Shape 20"/>
          <p:cNvSpPr/>
          <p:nvPr/>
        </p:nvSpPr>
        <p:spPr>
          <a:xfrm>
            <a:off x="8961120" y="1371600"/>
            <a:ext cx="2697480" cy="2359152"/>
          </a:xfrm>
          <a:prstGeom prst="roundRect">
            <a:avLst>
              <a:gd name="adj" fmla="val 2713"/>
            </a:avLst>
          </a:prstGeom>
          <a:solidFill>
            <a:srgbClr val="1D242E"/>
          </a:solidFill>
          <a:ln w="9525">
            <a:solidFill>
              <a:srgbClr val="323C49"/>
            </a:solidFill>
            <a:prstDash val="solid"/>
          </a:ln>
        </p:spPr>
      </p:sp>
      <p:sp>
        <p:nvSpPr>
          <p:cNvPr id="27" name="Shape 21"/>
          <p:cNvSpPr/>
          <p:nvPr/>
        </p:nvSpPr>
        <p:spPr>
          <a:xfrm>
            <a:off x="9089136" y="1499616"/>
            <a:ext cx="438912" cy="438912"/>
          </a:xfrm>
          <a:prstGeom prst="ellipse">
            <a:avLst/>
          </a:prstGeom>
          <a:solidFill>
            <a:srgbClr val="0F1318"/>
          </a:solidFill>
          <a:ln w="12700">
            <a:solidFill>
              <a:srgbClr val="0F1318"/>
            </a:solidFill>
            <a:prstDash val="solid"/>
          </a:ln>
        </p:spPr>
      </p:sp>
      <p:pic>
        <p:nvPicPr>
          <p:cNvPr id="28" name="Image 3" descr="preencoded.png">    </p:cNvPr>
          <p:cNvPicPr>
            <a:picLocks noChangeAspect="1"/>
          </p:cNvPicPr>
          <p:nvPr/>
        </p:nvPicPr>
        <p:blipFill>
          <a:blip r:embed="rId4"/>
          <a:stretch>
            <a:fillRect/>
          </a:stretch>
        </p:blipFill>
        <p:spPr>
          <a:xfrm>
            <a:off x="9190086" y="1600566"/>
            <a:ext cx="237012" cy="237012"/>
          </a:xfrm>
          <a:prstGeom prst="rect">
            <a:avLst/>
          </a:prstGeom>
        </p:spPr>
      </p:pic>
      <p:sp>
        <p:nvSpPr>
          <p:cNvPr id="29" name="Text 22"/>
          <p:cNvSpPr txBox="1"/>
          <p:nvPr/>
        </p:nvSpPr>
        <p:spPr>
          <a:xfrm>
            <a:off x="961948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Defect flag ignored</a:t>
            </a:r>
            <a:endParaRPr lang="en-US" sz="1200" dirty="0"/>
          </a:p>
        </p:txBody>
      </p:sp>
      <p:sp>
        <p:nvSpPr>
          <p:cNvPr id="30" name="Text 23"/>
          <p:cNvSpPr txBox="1"/>
          <p:nvPr/>
        </p:nvSpPr>
        <p:spPr>
          <a:xfrm>
            <a:off x="910742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A CAUTIONARY channel should halve position size; Engine 4 never receives the flag.</a:t>
            </a:r>
            <a:endParaRPr lang="en-US" sz="1050" dirty="0"/>
          </a:p>
        </p:txBody>
      </p:sp>
      <p:sp>
        <p:nvSpPr>
          <p:cNvPr id="31" name="Text 24"/>
          <p:cNvSpPr txBox="1"/>
          <p:nvPr/>
        </p:nvSpPr>
        <p:spPr>
          <a:xfrm>
            <a:off x="910742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Full size on a flagged channel.</a:t>
            </a:r>
            <a:endParaRPr lang="en-US" sz="1000" dirty="0"/>
          </a:p>
        </p:txBody>
      </p:sp>
      <p:sp>
        <p:nvSpPr>
          <p:cNvPr id="32" name="Shape 25"/>
          <p:cNvSpPr/>
          <p:nvPr/>
        </p:nvSpPr>
        <p:spPr>
          <a:xfrm>
            <a:off x="457200" y="3858768"/>
            <a:ext cx="2697480" cy="2359152"/>
          </a:xfrm>
          <a:prstGeom prst="roundRect">
            <a:avLst>
              <a:gd name="adj" fmla="val 2713"/>
            </a:avLst>
          </a:prstGeom>
          <a:solidFill>
            <a:srgbClr val="1D242E"/>
          </a:solidFill>
          <a:ln w="9525">
            <a:solidFill>
              <a:srgbClr val="323C49"/>
            </a:solidFill>
            <a:prstDash val="solid"/>
          </a:ln>
        </p:spPr>
      </p:sp>
      <p:sp>
        <p:nvSpPr>
          <p:cNvPr id="33" name="Shape 26"/>
          <p:cNvSpPr/>
          <p:nvPr/>
        </p:nvSpPr>
        <p:spPr>
          <a:xfrm>
            <a:off x="585216" y="3986784"/>
            <a:ext cx="438912" cy="438912"/>
          </a:xfrm>
          <a:prstGeom prst="ellipse">
            <a:avLst/>
          </a:prstGeom>
          <a:solidFill>
            <a:srgbClr val="0F1318"/>
          </a:solidFill>
          <a:ln w="12700">
            <a:solidFill>
              <a:srgbClr val="0F1318"/>
            </a:solidFill>
            <a:prstDash val="solid"/>
          </a:ln>
        </p:spPr>
      </p:sp>
      <p:pic>
        <p:nvPicPr>
          <p:cNvPr id="34" name="Image 4" descr="preencoded.png">    </p:cNvPr>
          <p:cNvPicPr>
            <a:picLocks noChangeAspect="1"/>
          </p:cNvPicPr>
          <p:nvPr/>
        </p:nvPicPr>
        <p:blipFill>
          <a:blip r:embed="rId5"/>
          <a:stretch>
            <a:fillRect/>
          </a:stretch>
        </p:blipFill>
        <p:spPr>
          <a:xfrm>
            <a:off x="686166" y="4087734"/>
            <a:ext cx="237012" cy="237012"/>
          </a:xfrm>
          <a:prstGeom prst="rect">
            <a:avLst/>
          </a:prstGeom>
        </p:spPr>
      </p:pic>
      <p:sp>
        <p:nvSpPr>
          <p:cNvPr id="35" name="Text 27"/>
          <p:cNvSpPr txBox="1"/>
          <p:nvPr/>
        </p:nvSpPr>
        <p:spPr>
          <a:xfrm>
            <a:off x="111556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Worked example is wrong</a:t>
            </a:r>
            <a:endParaRPr lang="en-US" sz="1200" dirty="0"/>
          </a:p>
        </p:txBody>
      </p:sp>
      <p:sp>
        <p:nvSpPr>
          <p:cNvPr id="36" name="Text 28"/>
          <p:cNvSpPr txBox="1"/>
          <p:nvPr/>
        </p:nvSpPr>
        <p:spPr>
          <a:xfrm>
            <a:off x="60350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Net profit leaves out commission; the “$100 at risk” is $90.24 after rounding down.</a:t>
            </a:r>
            <a:endParaRPr lang="en-US" sz="1050" dirty="0"/>
          </a:p>
        </p:txBody>
      </p:sp>
      <p:sp>
        <p:nvSpPr>
          <p:cNvPr id="37" name="Text 29"/>
          <p:cNvSpPr txBox="1"/>
          <p:nvPr/>
        </p:nvSpPr>
        <p:spPr>
          <a:xfrm>
            <a:off x="60350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Docs and code will disagree.</a:t>
            </a:r>
            <a:endParaRPr lang="en-US" sz="1000" dirty="0"/>
          </a:p>
        </p:txBody>
      </p:sp>
      <p:sp>
        <p:nvSpPr>
          <p:cNvPr id="38" name="Shape 30"/>
          <p:cNvSpPr/>
          <p:nvPr/>
        </p:nvSpPr>
        <p:spPr>
          <a:xfrm>
            <a:off x="3291840" y="3858768"/>
            <a:ext cx="2697480" cy="2359152"/>
          </a:xfrm>
          <a:prstGeom prst="roundRect">
            <a:avLst>
              <a:gd name="adj" fmla="val 2713"/>
            </a:avLst>
          </a:prstGeom>
          <a:solidFill>
            <a:srgbClr val="1D242E"/>
          </a:solidFill>
          <a:ln w="9525">
            <a:solidFill>
              <a:srgbClr val="323C49"/>
            </a:solidFill>
            <a:prstDash val="solid"/>
          </a:ln>
        </p:spPr>
      </p:sp>
      <p:sp>
        <p:nvSpPr>
          <p:cNvPr id="39" name="Shape 31"/>
          <p:cNvSpPr/>
          <p:nvPr/>
        </p:nvSpPr>
        <p:spPr>
          <a:xfrm>
            <a:off x="3419856" y="3986784"/>
            <a:ext cx="438912" cy="438912"/>
          </a:xfrm>
          <a:prstGeom prst="ellipse">
            <a:avLst/>
          </a:prstGeom>
          <a:solidFill>
            <a:srgbClr val="0F1318"/>
          </a:solidFill>
          <a:ln w="12700">
            <a:solidFill>
              <a:srgbClr val="0F1318"/>
            </a:solidFill>
            <a:prstDash val="solid"/>
          </a:ln>
        </p:spPr>
      </p:sp>
      <p:pic>
        <p:nvPicPr>
          <p:cNvPr id="40" name="Image 5" descr="preencoded.png">    </p:cNvPr>
          <p:cNvPicPr>
            <a:picLocks noChangeAspect="1"/>
          </p:cNvPicPr>
          <p:nvPr/>
        </p:nvPicPr>
        <p:blipFill>
          <a:blip r:embed="rId6"/>
          <a:stretch>
            <a:fillRect/>
          </a:stretch>
        </p:blipFill>
        <p:spPr>
          <a:xfrm>
            <a:off x="3520806" y="4087734"/>
            <a:ext cx="237012" cy="237012"/>
          </a:xfrm>
          <a:prstGeom prst="rect">
            <a:avLst/>
          </a:prstGeom>
        </p:spPr>
      </p:pic>
      <p:sp>
        <p:nvSpPr>
          <p:cNvPr id="41" name="Text 32"/>
          <p:cNvSpPr txBox="1"/>
          <p:nvPr/>
        </p:nvSpPr>
        <p:spPr>
          <a:xfrm>
            <a:off x="395020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Underflow options break limits</a:t>
            </a:r>
            <a:endParaRPr lang="en-US" sz="1200" dirty="0"/>
          </a:p>
        </p:txBody>
      </p:sp>
      <p:sp>
        <p:nvSpPr>
          <p:cNvPr id="42" name="Text 33"/>
          <p:cNvSpPr txBox="1"/>
          <p:nvPr/>
        </p:nvSpPr>
        <p:spPr>
          <a:xfrm>
            <a:off x="343814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Option 1 suggests 3.01% risk (profile max 2%); option 3 asks for a larger equity than the account holds.</a:t>
            </a:r>
            <a:endParaRPr lang="en-US" sz="1050" dirty="0"/>
          </a:p>
        </p:txBody>
      </p:sp>
      <p:sp>
        <p:nvSpPr>
          <p:cNvPr id="43" name="Text 34"/>
          <p:cNvSpPr txBox="1"/>
          <p:nvPr/>
        </p:nvSpPr>
        <p:spPr>
          <a:xfrm>
            <a:off x="343814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Real risk 6× the stated tolerance.</a:t>
            </a:r>
            <a:endParaRPr lang="en-US" sz="1000" dirty="0"/>
          </a:p>
        </p:txBody>
      </p:sp>
      <p:sp>
        <p:nvSpPr>
          <p:cNvPr id="44" name="Shape 35"/>
          <p:cNvSpPr/>
          <p:nvPr/>
        </p:nvSpPr>
        <p:spPr>
          <a:xfrm>
            <a:off x="6126480" y="3858768"/>
            <a:ext cx="2697480" cy="2359152"/>
          </a:xfrm>
          <a:prstGeom prst="roundRect">
            <a:avLst>
              <a:gd name="adj" fmla="val 2713"/>
            </a:avLst>
          </a:prstGeom>
          <a:solidFill>
            <a:srgbClr val="1D242E"/>
          </a:solidFill>
          <a:ln w="9525">
            <a:solidFill>
              <a:srgbClr val="323C49"/>
            </a:solidFill>
            <a:prstDash val="solid"/>
          </a:ln>
        </p:spPr>
      </p:sp>
      <p:sp>
        <p:nvSpPr>
          <p:cNvPr id="45" name="Shape 36"/>
          <p:cNvSpPr/>
          <p:nvPr/>
        </p:nvSpPr>
        <p:spPr>
          <a:xfrm>
            <a:off x="6254496" y="3986784"/>
            <a:ext cx="438912" cy="438912"/>
          </a:xfrm>
          <a:prstGeom prst="ellipse">
            <a:avLst/>
          </a:prstGeom>
          <a:solidFill>
            <a:srgbClr val="0F1318"/>
          </a:solidFill>
          <a:ln w="12700">
            <a:solidFill>
              <a:srgbClr val="0F1318"/>
            </a:solidFill>
            <a:prstDash val="solid"/>
          </a:ln>
        </p:spPr>
      </p:sp>
      <p:pic>
        <p:nvPicPr>
          <p:cNvPr id="46" name="Image 6" descr="preencoded.png">    </p:cNvPr>
          <p:cNvPicPr>
            <a:picLocks noChangeAspect="1"/>
          </p:cNvPicPr>
          <p:nvPr/>
        </p:nvPicPr>
        <p:blipFill>
          <a:blip r:embed="rId7"/>
          <a:stretch>
            <a:fillRect/>
          </a:stretch>
        </p:blipFill>
        <p:spPr>
          <a:xfrm>
            <a:off x="6355446" y="4087734"/>
            <a:ext cx="237012" cy="237012"/>
          </a:xfrm>
          <a:prstGeom prst="rect">
            <a:avLst/>
          </a:prstGeom>
        </p:spPr>
      </p:pic>
      <p:sp>
        <p:nvSpPr>
          <p:cNvPr id="47" name="Text 37"/>
          <p:cNvSpPr txBox="1"/>
          <p:nvPr/>
        </p:nvSpPr>
        <p:spPr>
          <a:xfrm>
            <a:off x="678484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Broker figures hard-coded</a:t>
            </a:r>
            <a:endParaRPr lang="en-US" sz="1200" dirty="0"/>
          </a:p>
        </p:txBody>
      </p:sp>
      <p:sp>
        <p:nvSpPr>
          <p:cNvPr id="48" name="Text 38"/>
          <p:cNvSpPr txBox="1"/>
          <p:nvPr/>
        </p:nvSpPr>
        <p:spPr>
          <a:xfrm>
            <a:off x="627278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100 oz a lot and a 0.01 step are constants; no spread, no swap. Your Position Sizer.mq5 has both.</a:t>
            </a:r>
            <a:endParaRPr lang="en-US" sz="1050" dirty="0"/>
          </a:p>
        </p:txBody>
      </p:sp>
      <p:sp>
        <p:nvSpPr>
          <p:cNvPr id="49" name="Text 39"/>
          <p:cNvSpPr txBox="1"/>
          <p:nvPr/>
        </p:nvSpPr>
        <p:spPr>
          <a:xfrm>
            <a:off x="627278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Sizes drift from the broker’s.</a:t>
            </a:r>
            <a:endParaRPr lang="en-US" sz="1000" dirty="0"/>
          </a:p>
        </p:txBody>
      </p:sp>
      <p:sp>
        <p:nvSpPr>
          <p:cNvPr id="50" name="Shape 40"/>
          <p:cNvSpPr/>
          <p:nvPr/>
        </p:nvSpPr>
        <p:spPr>
          <a:xfrm>
            <a:off x="8961120" y="3858768"/>
            <a:ext cx="2697480" cy="2359152"/>
          </a:xfrm>
          <a:prstGeom prst="roundRect">
            <a:avLst>
              <a:gd name="adj" fmla="val 2713"/>
            </a:avLst>
          </a:prstGeom>
          <a:solidFill>
            <a:srgbClr val="1D242E"/>
          </a:solidFill>
          <a:ln w="9525">
            <a:solidFill>
              <a:srgbClr val="323C49"/>
            </a:solidFill>
            <a:prstDash val="solid"/>
          </a:ln>
        </p:spPr>
      </p:sp>
      <p:sp>
        <p:nvSpPr>
          <p:cNvPr id="51" name="Shape 41"/>
          <p:cNvSpPr/>
          <p:nvPr/>
        </p:nvSpPr>
        <p:spPr>
          <a:xfrm>
            <a:off x="9089136" y="3986784"/>
            <a:ext cx="438912" cy="438912"/>
          </a:xfrm>
          <a:prstGeom prst="ellipse">
            <a:avLst/>
          </a:prstGeom>
          <a:solidFill>
            <a:srgbClr val="0F1318"/>
          </a:solidFill>
          <a:ln w="12700">
            <a:solidFill>
              <a:srgbClr val="0F1318"/>
            </a:solidFill>
            <a:prstDash val="solid"/>
          </a:ln>
        </p:spPr>
      </p:sp>
      <p:pic>
        <p:nvPicPr>
          <p:cNvPr id="52" name="Image 7" descr="preencoded.png">    </p:cNvPr>
          <p:cNvPicPr>
            <a:picLocks noChangeAspect="1"/>
          </p:cNvPicPr>
          <p:nvPr/>
        </p:nvPicPr>
        <p:blipFill>
          <a:blip r:embed="rId8"/>
          <a:stretch>
            <a:fillRect/>
          </a:stretch>
        </p:blipFill>
        <p:spPr>
          <a:xfrm>
            <a:off x="9190086" y="4087734"/>
            <a:ext cx="237012" cy="237012"/>
          </a:xfrm>
          <a:prstGeom prst="rect">
            <a:avLst/>
          </a:prstGeom>
        </p:spPr>
      </p:pic>
      <p:sp>
        <p:nvSpPr>
          <p:cNvPr id="53" name="Text 42"/>
          <p:cNvSpPr txBox="1"/>
          <p:nvPr/>
        </p:nvSpPr>
        <p:spPr>
          <a:xfrm>
            <a:off x="961948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Audit trail can vanish</a:t>
            </a:r>
            <a:endParaRPr lang="en-US" sz="1200" dirty="0"/>
          </a:p>
        </p:txBody>
      </p:sp>
      <p:sp>
        <p:nvSpPr>
          <p:cNvPr id="54" name="Text 43"/>
          <p:cNvSpPr txBox="1"/>
          <p:nvPr/>
        </p:nvSpPr>
        <p:spPr>
          <a:xfrm>
            <a:off x="910742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History rows use ON DELETE CASCADE, yet the design keeps them 5–7 years after deletion.</a:t>
            </a:r>
            <a:endParaRPr lang="en-US" sz="1050" dirty="0"/>
          </a:p>
        </p:txBody>
      </p:sp>
      <p:sp>
        <p:nvSpPr>
          <p:cNvPr id="55" name="Text 44"/>
          <p:cNvSpPr txBox="1"/>
          <p:nvPr/>
        </p:nvSpPr>
        <p:spPr>
          <a:xfrm>
            <a:off x="910742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Deleting an account deletes the evidence.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REVISED DESIGN</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From reading to recorded setup, step by step</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5</a:t>
            </a:r>
            <a:endParaRPr lang="en-US" sz="1000" dirty="0"/>
          </a:p>
        </p:txBody>
      </p:sp>
      <p:sp>
        <p:nvSpPr>
          <p:cNvPr id="8" name="Shape 5"/>
          <p:cNvSpPr/>
          <p:nvPr/>
        </p:nvSpPr>
        <p:spPr>
          <a:xfrm>
            <a:off x="457200" y="1371600"/>
            <a:ext cx="2697480" cy="2286000"/>
          </a:xfrm>
          <a:prstGeom prst="roundRect">
            <a:avLst>
              <a:gd name="adj" fmla="val 2800"/>
            </a:avLst>
          </a:prstGeom>
          <a:solidFill>
            <a:srgbClr val="1D242E"/>
          </a:solidFill>
          <a:ln w="15875">
            <a:solidFill>
              <a:srgbClr val="E2B54E"/>
            </a:solidFill>
            <a:prstDash val="solid"/>
          </a:ln>
        </p:spPr>
      </p:sp>
      <p:sp>
        <p:nvSpPr>
          <p:cNvPr id="9" name="Shape 6"/>
          <p:cNvSpPr/>
          <p:nvPr/>
        </p:nvSpPr>
        <p:spPr>
          <a:xfrm>
            <a:off x="585216" y="1499616"/>
            <a:ext cx="420624" cy="420624"/>
          </a:xfrm>
          <a:prstGeom prst="ellipse">
            <a:avLst/>
          </a:prstGeom>
          <a:solidFill>
            <a:srgbClr val="E2B54E"/>
          </a:solidFill>
          <a:ln w="15875">
            <a:solidFill>
              <a:srgbClr val="E2B54E"/>
            </a:solidFill>
            <a:prstDash val="solid"/>
          </a:ln>
        </p:spPr>
      </p:sp>
      <p:sp>
        <p:nvSpPr>
          <p:cNvPr id="10" name="Text 7"/>
          <p:cNvSpPr txBox="1"/>
          <p:nvPr/>
        </p:nvSpPr>
        <p:spPr>
          <a:xfrm>
            <a:off x="58521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1</a:t>
            </a:r>
            <a:endParaRPr lang="en-US" sz="1400" dirty="0"/>
          </a:p>
        </p:txBody>
      </p:sp>
      <p:sp>
        <p:nvSpPr>
          <p:cNvPr id="11" name="Text 8"/>
          <p:cNvSpPr txBox="1"/>
          <p:nvPr/>
        </p:nvSpPr>
        <p:spPr>
          <a:xfrm>
            <a:off x="1115568" y="1499616"/>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Offer check</a:t>
            </a:r>
            <a:endParaRPr lang="en-US" sz="1400" dirty="0"/>
          </a:p>
        </p:txBody>
      </p:sp>
      <p:sp>
        <p:nvSpPr>
          <p:cNvPr id="12" name="Text 9"/>
          <p:cNvSpPr txBox="1"/>
          <p:nvPr/>
        </p:nvSpPr>
        <p:spPr>
          <a:xfrm>
            <a:off x="62179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Direction, data status, blackout and setup validity decide whether Report 2 is offered, or why not</a:t>
            </a:r>
            <a:endParaRPr lang="en-US" sz="1250" dirty="0"/>
          </a:p>
        </p:txBody>
      </p:sp>
      <p:sp>
        <p:nvSpPr>
          <p:cNvPr id="13" name="Shape 10"/>
          <p:cNvSpPr/>
          <p:nvPr/>
        </p:nvSpPr>
        <p:spPr>
          <a:xfrm>
            <a:off x="3172968" y="1709928"/>
            <a:ext cx="100584" cy="0"/>
          </a:xfrm>
          <a:prstGeom prst="line">
            <a:avLst/>
          </a:prstGeom>
          <a:noFill/>
          <a:ln w="15875">
            <a:solidFill>
              <a:srgbClr val="E2B54E"/>
            </a:solidFill>
            <a:prstDash val="solid"/>
            <a:tailEnd type="triangle"/>
          </a:ln>
        </p:spPr>
      </p:sp>
      <p:sp>
        <p:nvSpPr>
          <p:cNvPr id="14" name="Shape 11"/>
          <p:cNvSpPr/>
          <p:nvPr/>
        </p:nvSpPr>
        <p:spPr>
          <a:xfrm>
            <a:off x="3291840" y="1371600"/>
            <a:ext cx="2697480" cy="2286000"/>
          </a:xfrm>
          <a:prstGeom prst="roundRect">
            <a:avLst>
              <a:gd name="adj" fmla="val 2800"/>
            </a:avLst>
          </a:prstGeom>
          <a:solidFill>
            <a:srgbClr val="1D242E"/>
          </a:solidFill>
          <a:ln w="9525">
            <a:solidFill>
              <a:srgbClr val="323C49"/>
            </a:solidFill>
            <a:prstDash val="solid"/>
          </a:ln>
        </p:spPr>
      </p:sp>
      <p:sp>
        <p:nvSpPr>
          <p:cNvPr id="15" name="Shape 12"/>
          <p:cNvSpPr/>
          <p:nvPr/>
        </p:nvSpPr>
        <p:spPr>
          <a:xfrm>
            <a:off x="3419856" y="1499616"/>
            <a:ext cx="420624" cy="420624"/>
          </a:xfrm>
          <a:prstGeom prst="ellipse">
            <a:avLst/>
          </a:prstGeom>
          <a:solidFill>
            <a:srgbClr val="E2B54E"/>
          </a:solidFill>
          <a:ln w="15875">
            <a:solidFill>
              <a:srgbClr val="E2B54E"/>
            </a:solidFill>
            <a:prstDash val="solid"/>
          </a:ln>
        </p:spPr>
      </p:sp>
      <p:sp>
        <p:nvSpPr>
          <p:cNvPr id="16" name="Text 13"/>
          <p:cNvSpPr txBox="1"/>
          <p:nvPr/>
        </p:nvSpPr>
        <p:spPr>
          <a:xfrm>
            <a:off x="341985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3950208" y="1499616"/>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Pre-fill</a:t>
            </a:r>
            <a:endParaRPr lang="en-US" sz="1400" dirty="0"/>
          </a:p>
        </p:txBody>
      </p:sp>
      <p:sp>
        <p:nvSpPr>
          <p:cNvPr id="18" name="Text 15"/>
          <p:cNvSpPr txBox="1"/>
          <p:nvPr/>
        </p:nvSpPr>
        <p:spPr>
          <a:xfrm>
            <a:off x="345643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Direction from synthesis; zone prices; structural stops; risk halved if CAUTIONARY; equity from the profile</a:t>
            </a:r>
            <a:endParaRPr lang="en-US" sz="1250" dirty="0"/>
          </a:p>
        </p:txBody>
      </p:sp>
      <p:sp>
        <p:nvSpPr>
          <p:cNvPr id="19" name="Shape 16"/>
          <p:cNvSpPr/>
          <p:nvPr/>
        </p:nvSpPr>
        <p:spPr>
          <a:xfrm>
            <a:off x="6007608" y="1709928"/>
            <a:ext cx="100584" cy="0"/>
          </a:xfrm>
          <a:prstGeom prst="line">
            <a:avLst/>
          </a:prstGeom>
          <a:noFill/>
          <a:ln w="15875">
            <a:solidFill>
              <a:srgbClr val="E2B54E"/>
            </a:solidFill>
            <a:prstDash val="solid"/>
            <a:tailEnd type="triangle"/>
          </a:ln>
        </p:spPr>
      </p:sp>
      <p:sp>
        <p:nvSpPr>
          <p:cNvPr id="20" name="Shape 17"/>
          <p:cNvSpPr/>
          <p:nvPr/>
        </p:nvSpPr>
        <p:spPr>
          <a:xfrm>
            <a:off x="6126480" y="1371600"/>
            <a:ext cx="2697480" cy="2286000"/>
          </a:xfrm>
          <a:prstGeom prst="roundRect">
            <a:avLst>
              <a:gd name="adj" fmla="val 2800"/>
            </a:avLst>
          </a:prstGeom>
          <a:solidFill>
            <a:srgbClr val="1D242E"/>
          </a:solidFill>
          <a:ln w="15875">
            <a:solidFill>
              <a:srgbClr val="E2B54E"/>
            </a:solidFill>
            <a:prstDash val="solid"/>
          </a:ln>
        </p:spPr>
      </p:sp>
      <p:sp>
        <p:nvSpPr>
          <p:cNvPr id="21" name="Shape 18"/>
          <p:cNvSpPr/>
          <p:nvPr/>
        </p:nvSpPr>
        <p:spPr>
          <a:xfrm>
            <a:off x="6254496" y="1499616"/>
            <a:ext cx="420624" cy="420624"/>
          </a:xfrm>
          <a:prstGeom prst="ellipse">
            <a:avLst/>
          </a:prstGeom>
          <a:solidFill>
            <a:srgbClr val="E2B54E"/>
          </a:solidFill>
          <a:ln w="15875">
            <a:solidFill>
              <a:srgbClr val="E2B54E"/>
            </a:solidFill>
            <a:prstDash val="solid"/>
          </a:ln>
        </p:spPr>
      </p:sp>
      <p:sp>
        <p:nvSpPr>
          <p:cNvPr id="22" name="Text 19"/>
          <p:cNvSpPr txBox="1"/>
          <p:nvPr/>
        </p:nvSpPr>
        <p:spPr>
          <a:xfrm>
            <a:off x="625449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3</a:t>
            </a:r>
            <a:endParaRPr lang="en-US" sz="1400" dirty="0"/>
          </a:p>
        </p:txBody>
      </p:sp>
      <p:sp>
        <p:nvSpPr>
          <p:cNvPr id="23" name="Text 20"/>
          <p:cNvSpPr txBox="1"/>
          <p:nvPr/>
        </p:nvSpPr>
        <p:spPr>
          <a:xfrm>
            <a:off x="6784848" y="1499616"/>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Validate</a:t>
            </a:r>
            <a:endParaRPr lang="en-US" sz="1400" dirty="0"/>
          </a:p>
        </p:txBody>
      </p:sp>
      <p:sp>
        <p:nvSpPr>
          <p:cNvPr id="24" name="Text 21"/>
          <p:cNvSpPr txBox="1"/>
          <p:nvPr/>
        </p:nvSpPr>
        <p:spPr>
          <a:xfrm>
            <a:off x="629107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One validator for the modal and for chat: bounds, ceilings, caps, blackout, freshness</a:t>
            </a:r>
            <a:endParaRPr lang="en-US" sz="1250" dirty="0"/>
          </a:p>
        </p:txBody>
      </p:sp>
      <p:sp>
        <p:nvSpPr>
          <p:cNvPr id="25" name="Shape 22"/>
          <p:cNvSpPr/>
          <p:nvPr/>
        </p:nvSpPr>
        <p:spPr>
          <a:xfrm>
            <a:off x="8842248" y="1709928"/>
            <a:ext cx="100584" cy="0"/>
          </a:xfrm>
          <a:prstGeom prst="line">
            <a:avLst/>
          </a:prstGeom>
          <a:noFill/>
          <a:ln w="15875">
            <a:solidFill>
              <a:srgbClr val="E2B54E"/>
            </a:solidFill>
            <a:prstDash val="solid"/>
            <a:tailEnd type="triangle"/>
          </a:ln>
        </p:spPr>
      </p:sp>
      <p:sp>
        <p:nvSpPr>
          <p:cNvPr id="26" name="Shape 23"/>
          <p:cNvSpPr/>
          <p:nvPr/>
        </p:nvSpPr>
        <p:spPr>
          <a:xfrm>
            <a:off x="8961120" y="1371600"/>
            <a:ext cx="2697480" cy="2286000"/>
          </a:xfrm>
          <a:prstGeom prst="roundRect">
            <a:avLst>
              <a:gd name="adj" fmla="val 2800"/>
            </a:avLst>
          </a:prstGeom>
          <a:solidFill>
            <a:srgbClr val="1D242E"/>
          </a:solidFill>
          <a:ln w="9525">
            <a:solidFill>
              <a:srgbClr val="323C49"/>
            </a:solidFill>
            <a:prstDash val="solid"/>
          </a:ln>
        </p:spPr>
      </p:sp>
      <p:sp>
        <p:nvSpPr>
          <p:cNvPr id="27" name="Shape 24"/>
          <p:cNvSpPr/>
          <p:nvPr/>
        </p:nvSpPr>
        <p:spPr>
          <a:xfrm>
            <a:off x="9089136" y="1499616"/>
            <a:ext cx="420624" cy="420624"/>
          </a:xfrm>
          <a:prstGeom prst="ellipse">
            <a:avLst/>
          </a:prstGeom>
          <a:solidFill>
            <a:srgbClr val="E2B54E"/>
          </a:solidFill>
          <a:ln w="15875">
            <a:solidFill>
              <a:srgbClr val="E2B54E"/>
            </a:solidFill>
            <a:prstDash val="solid"/>
          </a:ln>
        </p:spPr>
      </p:sp>
      <p:sp>
        <p:nvSpPr>
          <p:cNvPr id="28" name="Text 25"/>
          <p:cNvSpPr txBox="1"/>
          <p:nvPr/>
        </p:nvSpPr>
        <p:spPr>
          <a:xfrm>
            <a:off x="908913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4</a:t>
            </a:r>
            <a:endParaRPr lang="en-US" sz="1400" dirty="0"/>
          </a:p>
        </p:txBody>
      </p:sp>
      <p:sp>
        <p:nvSpPr>
          <p:cNvPr id="29" name="Text 26"/>
          <p:cNvSpPr txBox="1"/>
          <p:nvPr/>
        </p:nvSpPr>
        <p:spPr>
          <a:xfrm>
            <a:off x="9619488" y="1499616"/>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Size</a:t>
            </a:r>
            <a:endParaRPr lang="en-US" sz="1400" dirty="0"/>
          </a:p>
        </p:txBody>
      </p:sp>
      <p:sp>
        <p:nvSpPr>
          <p:cNvPr id="30" name="Text 27"/>
          <p:cNvSpPr txBox="1"/>
          <p:nvPr/>
        </p:nvSpPr>
        <p:spPr>
          <a:xfrm>
            <a:off x="912571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Lot from broker specs; declared and actual risk; stop price; leverage used</a:t>
            </a:r>
            <a:endParaRPr lang="en-US" sz="1250" dirty="0"/>
          </a:p>
        </p:txBody>
      </p:sp>
      <p:sp>
        <p:nvSpPr>
          <p:cNvPr id="31" name="Shape 28"/>
          <p:cNvSpPr/>
          <p:nvPr/>
        </p:nvSpPr>
        <p:spPr>
          <a:xfrm>
            <a:off x="457200" y="3858768"/>
            <a:ext cx="2697480" cy="2286000"/>
          </a:xfrm>
          <a:prstGeom prst="roundRect">
            <a:avLst>
              <a:gd name="adj" fmla="val 2800"/>
            </a:avLst>
          </a:prstGeom>
          <a:solidFill>
            <a:srgbClr val="1D242E"/>
          </a:solidFill>
          <a:ln w="15875">
            <a:solidFill>
              <a:srgbClr val="E2B54E"/>
            </a:solidFill>
            <a:prstDash val="solid"/>
          </a:ln>
        </p:spPr>
      </p:sp>
      <p:sp>
        <p:nvSpPr>
          <p:cNvPr id="32" name="Shape 29"/>
          <p:cNvSpPr/>
          <p:nvPr/>
        </p:nvSpPr>
        <p:spPr>
          <a:xfrm>
            <a:off x="585216" y="3986784"/>
            <a:ext cx="420624" cy="420624"/>
          </a:xfrm>
          <a:prstGeom prst="ellipse">
            <a:avLst/>
          </a:prstGeom>
          <a:solidFill>
            <a:srgbClr val="E2B54E"/>
          </a:solidFill>
          <a:ln w="15875">
            <a:solidFill>
              <a:srgbClr val="E2B54E"/>
            </a:solidFill>
            <a:prstDash val="solid"/>
          </a:ln>
        </p:spPr>
      </p:sp>
      <p:sp>
        <p:nvSpPr>
          <p:cNvPr id="33" name="Text 30"/>
          <p:cNvSpPr txBox="1"/>
          <p:nvPr/>
        </p:nvSpPr>
        <p:spPr>
          <a:xfrm>
            <a:off x="58521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5</a:t>
            </a:r>
            <a:endParaRPr lang="en-US" sz="1400" dirty="0"/>
          </a:p>
        </p:txBody>
      </p:sp>
      <p:sp>
        <p:nvSpPr>
          <p:cNvPr id="34" name="Text 31"/>
          <p:cNvSpPr txBox="1"/>
          <p:nvPr/>
        </p:nvSpPr>
        <p:spPr>
          <a:xfrm>
            <a:off x="1115568" y="3986784"/>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Targets + badge</a:t>
            </a:r>
            <a:endParaRPr lang="en-US" sz="1400" dirty="0"/>
          </a:p>
        </p:txBody>
      </p:sp>
      <p:sp>
        <p:nvSpPr>
          <p:cNvPr id="35" name="Text 32"/>
          <p:cNvSpPr txBox="1"/>
          <p:nvPr/>
        </p:nvSpPr>
        <p:spPr>
          <a:xfrm>
            <a:off x="62179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Three scenarios; room to the next opposing level; badge from synthesis</a:t>
            </a:r>
            <a:endParaRPr lang="en-US" sz="1250" dirty="0"/>
          </a:p>
        </p:txBody>
      </p:sp>
      <p:sp>
        <p:nvSpPr>
          <p:cNvPr id="36" name="Shape 33"/>
          <p:cNvSpPr/>
          <p:nvPr/>
        </p:nvSpPr>
        <p:spPr>
          <a:xfrm>
            <a:off x="3172968" y="4197096"/>
            <a:ext cx="100584" cy="0"/>
          </a:xfrm>
          <a:prstGeom prst="line">
            <a:avLst/>
          </a:prstGeom>
          <a:noFill/>
          <a:ln w="15875">
            <a:solidFill>
              <a:srgbClr val="E2B54E"/>
            </a:solidFill>
            <a:prstDash val="solid"/>
            <a:tailEnd type="triangle"/>
          </a:ln>
        </p:spPr>
      </p:sp>
      <p:sp>
        <p:nvSpPr>
          <p:cNvPr id="37" name="Shape 34"/>
          <p:cNvSpPr/>
          <p:nvPr/>
        </p:nvSpPr>
        <p:spPr>
          <a:xfrm>
            <a:off x="3291840" y="3858768"/>
            <a:ext cx="2697480" cy="2286000"/>
          </a:xfrm>
          <a:prstGeom prst="roundRect">
            <a:avLst>
              <a:gd name="adj" fmla="val 2800"/>
            </a:avLst>
          </a:prstGeom>
          <a:solidFill>
            <a:srgbClr val="1D242E"/>
          </a:solidFill>
          <a:ln w="9525">
            <a:solidFill>
              <a:srgbClr val="323C49"/>
            </a:solidFill>
            <a:prstDash val="solid"/>
          </a:ln>
        </p:spPr>
      </p:sp>
      <p:sp>
        <p:nvSpPr>
          <p:cNvPr id="38" name="Shape 35"/>
          <p:cNvSpPr/>
          <p:nvPr/>
        </p:nvSpPr>
        <p:spPr>
          <a:xfrm>
            <a:off x="3419856" y="3986784"/>
            <a:ext cx="420624" cy="420624"/>
          </a:xfrm>
          <a:prstGeom prst="ellipse">
            <a:avLst/>
          </a:prstGeom>
          <a:solidFill>
            <a:srgbClr val="E2B54E"/>
          </a:solidFill>
          <a:ln w="15875">
            <a:solidFill>
              <a:srgbClr val="E2B54E"/>
            </a:solidFill>
            <a:prstDash val="solid"/>
          </a:ln>
        </p:spPr>
      </p:sp>
      <p:sp>
        <p:nvSpPr>
          <p:cNvPr id="39" name="Text 36"/>
          <p:cNvSpPr txBox="1"/>
          <p:nvPr/>
        </p:nvSpPr>
        <p:spPr>
          <a:xfrm>
            <a:off x="341985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6</a:t>
            </a:r>
            <a:endParaRPr lang="en-US" sz="1400" dirty="0"/>
          </a:p>
        </p:txBody>
      </p:sp>
      <p:sp>
        <p:nvSpPr>
          <p:cNvPr id="40" name="Text 37"/>
          <p:cNvSpPr txBox="1"/>
          <p:nvPr/>
        </p:nvSpPr>
        <p:spPr>
          <a:xfrm>
            <a:off x="3950208" y="3986784"/>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Render</a:t>
            </a:r>
            <a:endParaRPr lang="en-US" sz="1400" dirty="0"/>
          </a:p>
        </p:txBody>
      </p:sp>
      <p:sp>
        <p:nvSpPr>
          <p:cNvPr id="41" name="Text 38"/>
          <p:cNvSpPr txBox="1"/>
          <p:nvPr/>
        </p:nvSpPr>
        <p:spPr>
          <a:xfrm>
            <a:off x="345643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Fixed template in the user’s language, with the single-order notice</a:t>
            </a:r>
            <a:endParaRPr lang="en-US" sz="1250" dirty="0"/>
          </a:p>
        </p:txBody>
      </p:sp>
      <p:sp>
        <p:nvSpPr>
          <p:cNvPr id="42" name="Shape 39"/>
          <p:cNvSpPr/>
          <p:nvPr/>
        </p:nvSpPr>
        <p:spPr>
          <a:xfrm>
            <a:off x="6007608" y="4197096"/>
            <a:ext cx="100584" cy="0"/>
          </a:xfrm>
          <a:prstGeom prst="line">
            <a:avLst/>
          </a:prstGeom>
          <a:noFill/>
          <a:ln w="15875">
            <a:solidFill>
              <a:srgbClr val="E2B54E"/>
            </a:solidFill>
            <a:prstDash val="solid"/>
            <a:tailEnd type="triangle"/>
          </a:ln>
        </p:spPr>
      </p:sp>
      <p:sp>
        <p:nvSpPr>
          <p:cNvPr id="43" name="Shape 40"/>
          <p:cNvSpPr/>
          <p:nvPr/>
        </p:nvSpPr>
        <p:spPr>
          <a:xfrm>
            <a:off x="6126480" y="3858768"/>
            <a:ext cx="2697480" cy="2286000"/>
          </a:xfrm>
          <a:prstGeom prst="roundRect">
            <a:avLst>
              <a:gd name="adj" fmla="val 2800"/>
            </a:avLst>
          </a:prstGeom>
          <a:solidFill>
            <a:srgbClr val="1D242E"/>
          </a:solidFill>
          <a:ln w="9525">
            <a:solidFill>
              <a:srgbClr val="323C49"/>
            </a:solidFill>
            <a:prstDash val="solid"/>
          </a:ln>
        </p:spPr>
      </p:sp>
      <p:sp>
        <p:nvSpPr>
          <p:cNvPr id="44" name="Shape 41"/>
          <p:cNvSpPr/>
          <p:nvPr/>
        </p:nvSpPr>
        <p:spPr>
          <a:xfrm>
            <a:off x="6254496" y="3986784"/>
            <a:ext cx="420624" cy="420624"/>
          </a:xfrm>
          <a:prstGeom prst="ellipse">
            <a:avLst/>
          </a:prstGeom>
          <a:solidFill>
            <a:srgbClr val="E2B54E"/>
          </a:solidFill>
          <a:ln w="15875">
            <a:solidFill>
              <a:srgbClr val="E2B54E"/>
            </a:solidFill>
            <a:prstDash val="solid"/>
          </a:ln>
        </p:spPr>
      </p:sp>
      <p:sp>
        <p:nvSpPr>
          <p:cNvPr id="45" name="Text 42"/>
          <p:cNvSpPr txBox="1"/>
          <p:nvPr/>
        </p:nvSpPr>
        <p:spPr>
          <a:xfrm>
            <a:off x="625449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7</a:t>
            </a:r>
            <a:endParaRPr lang="en-US" sz="1400" dirty="0"/>
          </a:p>
        </p:txBody>
      </p:sp>
      <p:sp>
        <p:nvSpPr>
          <p:cNvPr id="46" name="Text 43"/>
          <p:cNvSpPr txBox="1"/>
          <p:nvPr/>
        </p:nvSpPr>
        <p:spPr>
          <a:xfrm>
            <a:off x="6784848" y="3986784"/>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Consent</a:t>
            </a:r>
            <a:endParaRPr lang="en-US" sz="1400" dirty="0"/>
          </a:p>
        </p:txBody>
      </p:sp>
      <p:sp>
        <p:nvSpPr>
          <p:cNvPr id="47" name="Text 44"/>
          <p:cNvSpPr txBox="1"/>
          <p:nvPr/>
        </p:nvSpPr>
        <p:spPr>
          <a:xfrm>
            <a:off x="629107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Accept · Modify · Decline; “you place the order with your broker”</a:t>
            </a:r>
            <a:endParaRPr lang="en-US" sz="1250" dirty="0"/>
          </a:p>
        </p:txBody>
      </p:sp>
      <p:sp>
        <p:nvSpPr>
          <p:cNvPr id="48" name="Shape 45"/>
          <p:cNvSpPr/>
          <p:nvPr/>
        </p:nvSpPr>
        <p:spPr>
          <a:xfrm>
            <a:off x="8842248" y="4197096"/>
            <a:ext cx="100584" cy="0"/>
          </a:xfrm>
          <a:prstGeom prst="line">
            <a:avLst/>
          </a:prstGeom>
          <a:noFill/>
          <a:ln w="15875">
            <a:solidFill>
              <a:srgbClr val="E2B54E"/>
            </a:solidFill>
            <a:prstDash val="solid"/>
            <a:tailEnd type="triangle"/>
          </a:ln>
        </p:spPr>
      </p:sp>
      <p:sp>
        <p:nvSpPr>
          <p:cNvPr id="49" name="Shape 46"/>
          <p:cNvSpPr/>
          <p:nvPr/>
        </p:nvSpPr>
        <p:spPr>
          <a:xfrm>
            <a:off x="8961120" y="3858768"/>
            <a:ext cx="2697480" cy="2286000"/>
          </a:xfrm>
          <a:prstGeom prst="roundRect">
            <a:avLst>
              <a:gd name="adj" fmla="val 2800"/>
            </a:avLst>
          </a:prstGeom>
          <a:solidFill>
            <a:srgbClr val="1D242E"/>
          </a:solidFill>
          <a:ln w="15875">
            <a:solidFill>
              <a:srgbClr val="E2B54E"/>
            </a:solidFill>
            <a:prstDash val="solid"/>
          </a:ln>
        </p:spPr>
      </p:sp>
      <p:sp>
        <p:nvSpPr>
          <p:cNvPr id="50" name="Shape 47"/>
          <p:cNvSpPr/>
          <p:nvPr/>
        </p:nvSpPr>
        <p:spPr>
          <a:xfrm>
            <a:off x="9089136" y="3986784"/>
            <a:ext cx="420624" cy="420624"/>
          </a:xfrm>
          <a:prstGeom prst="ellipse">
            <a:avLst/>
          </a:prstGeom>
          <a:solidFill>
            <a:srgbClr val="E2B54E"/>
          </a:solidFill>
          <a:ln w="15875">
            <a:solidFill>
              <a:srgbClr val="E2B54E"/>
            </a:solidFill>
            <a:prstDash val="solid"/>
          </a:ln>
        </p:spPr>
      </p:sp>
      <p:sp>
        <p:nvSpPr>
          <p:cNvPr id="51" name="Text 48"/>
          <p:cNvSpPr txBox="1"/>
          <p:nvPr/>
        </p:nvSpPr>
        <p:spPr>
          <a:xfrm>
            <a:off x="908913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8</a:t>
            </a:r>
            <a:endParaRPr lang="en-US" sz="1400" dirty="0"/>
          </a:p>
        </p:txBody>
      </p:sp>
      <p:sp>
        <p:nvSpPr>
          <p:cNvPr id="52" name="Text 49"/>
          <p:cNvSpPr txBox="1"/>
          <p:nvPr/>
        </p:nvSpPr>
        <p:spPr>
          <a:xfrm>
            <a:off x="9619488" y="3986784"/>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Record</a:t>
            </a:r>
            <a:endParaRPr lang="en-US" sz="1400" dirty="0"/>
          </a:p>
        </p:txBody>
      </p:sp>
      <p:sp>
        <p:nvSpPr>
          <p:cNvPr id="53" name="Text 50"/>
          <p:cNvSpPr txBox="1"/>
          <p:nvPr/>
        </p:nvSpPr>
        <p:spPr>
          <a:xfrm>
            <a:off x="912571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Consent record and trace to Section 7</a:t>
            </a:r>
            <a:endParaRPr lang="en-US" sz="1250" dirty="0"/>
          </a:p>
        </p:txBody>
      </p:sp>
      <p:sp>
        <p:nvSpPr>
          <p:cNvPr id="54" name="Text 51"/>
          <p:cNvSpPr txBox="1"/>
          <p:nvPr/>
        </p:nvSpPr>
        <p:spPr>
          <a:xfrm>
            <a:off x="457200" y="6373368"/>
            <a:ext cx="10972800" cy="274320"/>
          </a:xfrm>
          <a:prstGeom prst="rect">
            <a:avLst/>
          </a:prstGeom>
          <a:noFill/>
          <a:ln/>
        </p:spPr>
        <p:txBody>
          <a:bodyPr wrap="square" lIns="0" tIns="0" rIns="0" bIns="0" rtlCol="0" anchor="t"/>
          <a:lstStyle/>
          <a:p>
            <a:pPr indent="0" marL="0">
              <a:buNone/>
            </a:pPr>
            <a:r>
              <a:rPr lang="en-US" sz="1000" dirty="0">
                <a:solidFill>
                  <a:srgbClr val="A3AEBB"/>
                </a:solidFill>
                <a:latin typeface="Calibri" pitchFamily="34" charset="0"/>
                <a:ea typeface="Calibri" pitchFamily="34" charset="-122"/>
                <a:cs typeface="Calibri" pitchFamily="34" charset="-120"/>
              </a:rPr>
              <a:t>Gold outline = new in this design. No language model writes any number in Report 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OFFER CHECK</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When a setup may be sized, and what the trader is told</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4023360"/>
                <a:gridCol w="2377440"/>
                <a:gridCol w="4873752"/>
              </a:tblGrid>
              <a:tr h="32918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Condition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Report 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What the reply says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457200">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Synthesis LONG or SHORT, cycle FRESH</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b="1" dirty="0">
                          <a:solidFill>
                            <a:srgbClr val="5CC2B2"/>
                          </a:solidFill>
                          <a:latin typeface="Calibri" pitchFamily="34" charset="0"/>
                          <a:ea typeface="Calibri" pitchFamily="34" charset="-122"/>
                          <a:cs typeface="Calibri" pitchFamily="34" charset="-120"/>
                        </a:rPr>
                        <a:t>Offered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57200">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Cycle DELAYED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b="1" dirty="0">
                          <a:solidFill>
                            <a:srgbClr val="5CC2B2"/>
                          </a:solidFill>
                          <a:latin typeface="Calibri" pitchFamily="34" charset="0"/>
                          <a:ea typeface="Calibri" pitchFamily="34" charset="-122"/>
                          <a:cs typeface="Calibri" pitchFamily="34" charset="-120"/>
                        </a:rPr>
                        <a:t>Offered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The delay: “data as of 20:50 UTC”</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57200">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Sensors CAUTIONARY, or cycle RETUNING</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b="1" dirty="0">
                          <a:solidFill>
                            <a:srgbClr val="F0A54A"/>
                          </a:solidFill>
                          <a:latin typeface="Calibri" pitchFamily="34" charset="0"/>
                          <a:ea typeface="Calibri" pitchFamily="34" charset="-122"/>
                          <a:cs typeface="Calibri" pitchFamily="34" charset="-120"/>
                        </a:rPr>
                        <a:t>Offered, half risk pre-set</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The reason, and that the trader may override</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57200">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Setup outside the trader’s style</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b="1" dirty="0">
                          <a:solidFill>
                            <a:srgbClr val="F0A54A"/>
                          </a:solidFill>
                          <a:latin typeface="Calibri" pitchFamily="34" charset="0"/>
                          <a:ea typeface="Calibri" pitchFamily="34" charset="-122"/>
                          <a:cs typeface="Calibri" pitchFamily="34" charset="-120"/>
                        </a:rPr>
                        <a:t>Offered, with a notice</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“Counter-trend setup; your style is trend following”</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57200">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A newer cycle changed the synthesis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b="1" dirty="0">
                          <a:solidFill>
                            <a:srgbClr val="F0A54A"/>
                          </a:solidFill>
                          <a:latin typeface="Calibri" pitchFamily="34" charset="0"/>
                          <a:ea typeface="Calibri" pitchFamily="34" charset="-122"/>
                          <a:cs typeface="Calibri" pitchFamily="34" charset="-120"/>
                        </a:rPr>
                        <a:t>Refresh offered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“The picture changed at 21:00 UTC”</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57200">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Synthesis NEUTRAL or STAND_ASIDE</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b="1" dirty="0">
                          <a:solidFill>
                            <a:srgbClr val="E5746A"/>
                          </a:solidFill>
                          <a:latin typeface="Calibri" pitchFamily="34" charset="0"/>
                          <a:ea typeface="Calibri" pitchFamily="34" charset="-122"/>
                          <a:cs typeface="Calibri" pitchFamily="34" charset="-120"/>
                        </a:rPr>
                        <a:t>Not offered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The synthesis reason</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57200">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Cycle STALE or MARKET CLOSED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b="1" dirty="0">
                          <a:solidFill>
                            <a:srgbClr val="E5746A"/>
                          </a:solidFill>
                          <a:latin typeface="Calibri" pitchFamily="34" charset="0"/>
                          <a:ea typeface="Calibri" pitchFamily="34" charset="-122"/>
                          <a:cs typeface="Calibri" pitchFamily="34" charset="-120"/>
                        </a:rPr>
                        <a:t>Not offered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“Data stopped at hh:mm” or “market closed”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57200">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Tier-1 release within ±15 minutes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b="1" dirty="0">
                          <a:solidFill>
                            <a:srgbClr val="E5746A"/>
                          </a:solidFill>
                          <a:latin typeface="Calibri" pitchFamily="34" charset="0"/>
                          <a:ea typeface="Calibri" pitchFamily="34" charset="-122"/>
                          <a:cs typeface="Calibri" pitchFamily="34" charset="-120"/>
                        </a:rPr>
                        <a:t>Not offered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The release, and when the window ends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57200">
                <a:tc>
                  <a:txBody>
                    <a:bodyPr/>
                    <a:lstStyle/>
                    <a:p>
                      <a:pPr indent="0" marL="0">
                        <a:buNone/>
                      </a:pPr>
                      <a:r>
                        <a:rPr lang="en-US" sz="1150" b="1" dirty="0">
                          <a:solidFill>
                            <a:srgbClr val="EEF1F4"/>
                          </a:solidFill>
                          <a:latin typeface="Calibri" pitchFamily="34" charset="0"/>
                          <a:ea typeface="Calibri" pitchFamily="34" charset="-122"/>
                          <a:cs typeface="Calibri" pitchFamily="34" charset="-120"/>
                        </a:rPr>
                        <a:t>Price already past the zone’s invalidation</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b="1" dirty="0">
                          <a:solidFill>
                            <a:srgbClr val="E5746A"/>
                          </a:solidFill>
                          <a:latin typeface="Calibri" pitchFamily="34" charset="0"/>
                          <a:ea typeface="Calibri" pitchFamily="34" charset="-122"/>
                          <a:cs typeface="Calibri" pitchFamily="34" charset="-120"/>
                        </a:rPr>
                        <a:t>Not offered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A3AEBB"/>
                          </a:solidFill>
                          <a:latin typeface="Calibri" pitchFamily="34" charset="0"/>
                          <a:ea typeface="Calibri" pitchFamily="34" charset="-122"/>
                          <a:cs typeface="Calibri" pitchFamily="34" charset="-120"/>
                        </a:rPr>
                        <a:t>“This setup is no longer valid”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
        <p:nvSpPr>
          <p:cNvPr id="9" name="Text 5"/>
          <p:cNvSpPr txBox="1"/>
          <p:nvPr/>
        </p:nvSpPr>
        <p:spPr>
          <a:xfrm>
            <a:off x="457200" y="5961888"/>
            <a:ext cx="10972800" cy="320040"/>
          </a:xfrm>
          <a:prstGeom prst="rect">
            <a:avLst/>
          </a:prstGeom>
          <a:noFill/>
          <a:ln/>
        </p:spPr>
        <p:txBody>
          <a:bodyPr wrap="square" lIns="0" tIns="0" rIns="0" bIns="0" rtlCol="0" anchor="t"/>
          <a:lstStyle/>
          <a:p>
            <a:pPr indent="0" marL="0">
              <a:buNone/>
            </a:pPr>
            <a:r>
              <a:rPr lang="en-US" sz="1150" b="1" dirty="0">
                <a:solidFill>
                  <a:srgbClr val="E2B54E"/>
                </a:solidFill>
                <a:latin typeface="Calibri" pitchFamily="34" charset="0"/>
                <a:ea typeface="Calibri" pitchFamily="34" charset="-122"/>
                <a:cs typeface="Calibri" pitchFamily="34" charset="-120"/>
              </a:rPr>
              <a:t>Checked twice: before Report 1 is shown, and again when the modal is submitted.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STOPS, TARGETS, BADGE (E2)</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Stops and targets from structure, not from pills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7</a:t>
            </a:r>
            <a:endParaRPr lang="en-US" sz="1000" dirty="0"/>
          </a:p>
        </p:txBody>
      </p:sp>
      <p:sp>
        <p:nvSpPr>
          <p:cNvPr id="8" name="Shape 5"/>
          <p:cNvSpPr/>
          <p:nvPr/>
        </p:nvSpPr>
        <p:spPr>
          <a:xfrm>
            <a:off x="457200" y="1325880"/>
            <a:ext cx="5852160" cy="4956048"/>
          </a:xfrm>
          <a:prstGeom prst="roundRect">
            <a:avLst>
              <a:gd name="adj" fmla="val 1292"/>
            </a:avLst>
          </a:prstGeom>
          <a:solidFill>
            <a:srgbClr val="161C24"/>
          </a:solidFill>
          <a:ln w="9525">
            <a:solidFill>
              <a:srgbClr val="323C49"/>
            </a:solidFill>
            <a:prstDash val="solid"/>
          </a:ln>
        </p:spPr>
      </p:sp>
      <p:sp>
        <p:nvSpPr>
          <p:cNvPr id="9" name="Text 6"/>
          <p:cNvSpPr txBox="1"/>
          <p:nvPr/>
        </p:nvSpPr>
        <p:spPr>
          <a:xfrm>
            <a:off x="640080" y="1426464"/>
            <a:ext cx="5577840" cy="237744"/>
          </a:xfrm>
          <a:prstGeom prst="rect">
            <a:avLst/>
          </a:prstGeom>
          <a:noFill/>
          <a:ln/>
        </p:spPr>
        <p:txBody>
          <a:bodyPr wrap="square" lIns="0" tIns="0" rIns="0" bIns="0" rtlCol="0" anchor="t"/>
          <a:lstStyle/>
          <a:p>
            <a:pPr indent="0" marL="0">
              <a:buNone/>
            </a:pPr>
            <a:r>
              <a:rPr lang="en-US" sz="950" b="1" spc="150" kern="0" dirty="0">
                <a:solidFill>
                  <a:srgbClr val="A3AEBB"/>
                </a:solidFill>
                <a:latin typeface="Calibri" pitchFamily="34" charset="0"/>
                <a:ea typeface="Calibri" pitchFamily="34" charset="-122"/>
                <a:cs typeface="Calibri" pitchFamily="34" charset="-120"/>
              </a:rPr>
              <a:t>18 SEP TEST CYCLE · DAY TRADER · ZONE Z1 · NOT TO SCALE</a:t>
            </a:r>
            <a:endParaRPr lang="en-US" sz="950" dirty="0"/>
          </a:p>
        </p:txBody>
      </p:sp>
      <p:sp>
        <p:nvSpPr>
          <p:cNvPr id="10" name="Text 7"/>
          <p:cNvSpPr txBox="1"/>
          <p:nvPr/>
        </p:nvSpPr>
        <p:spPr>
          <a:xfrm>
            <a:off x="640080" y="1801368"/>
            <a:ext cx="1005840" cy="329184"/>
          </a:xfrm>
          <a:prstGeom prst="rect">
            <a:avLst/>
          </a:prstGeom>
          <a:noFill/>
          <a:ln/>
        </p:spPr>
        <p:txBody>
          <a:bodyPr wrap="square" lIns="0" tIns="0" rIns="0" bIns="0" rtlCol="0" anchor="ctr"/>
          <a:lstStyle/>
          <a:p>
            <a:pPr indent="0" marL="0">
              <a:buNone/>
            </a:pPr>
            <a:r>
              <a:rPr lang="en-US" sz="1200" b="1" dirty="0">
                <a:solidFill>
                  <a:srgbClr val="E5746A"/>
                </a:solidFill>
                <a:latin typeface="Courier New" pitchFamily="34" charset="0"/>
                <a:ea typeface="Courier New" pitchFamily="34" charset="-122"/>
                <a:cs typeface="Courier New" pitchFamily="34" charset="-120"/>
              </a:rPr>
              <a:t>≈ 4393.6</a:t>
            </a:r>
            <a:endParaRPr lang="en-US" sz="1200" dirty="0"/>
          </a:p>
        </p:txBody>
      </p:sp>
      <p:sp>
        <p:nvSpPr>
          <p:cNvPr id="11" name="Shape 8"/>
          <p:cNvSpPr/>
          <p:nvPr/>
        </p:nvSpPr>
        <p:spPr>
          <a:xfrm>
            <a:off x="1691640" y="1965960"/>
            <a:ext cx="1463040" cy="0"/>
          </a:xfrm>
          <a:prstGeom prst="line">
            <a:avLst/>
          </a:prstGeom>
          <a:noFill/>
          <a:ln w="25400">
            <a:solidFill>
              <a:srgbClr val="E5746A"/>
            </a:solidFill>
            <a:prstDash val="dash"/>
          </a:ln>
        </p:spPr>
      </p:sp>
      <p:sp>
        <p:nvSpPr>
          <p:cNvPr id="12" name="Text 9"/>
          <p:cNvSpPr txBox="1"/>
          <p:nvPr/>
        </p:nvSpPr>
        <p:spPr>
          <a:xfrm>
            <a:off x="3291840" y="1691640"/>
            <a:ext cx="2926080" cy="274320"/>
          </a:xfrm>
          <a:prstGeom prst="rect">
            <a:avLst/>
          </a:prstGeom>
          <a:noFill/>
          <a:ln/>
        </p:spPr>
        <p:txBody>
          <a:bodyPr wrap="square" lIns="0" tIns="0" rIns="0" bIns="0" rtlCol="0" anchor="b"/>
          <a:lstStyle/>
          <a:p>
            <a:pPr indent="0" marL="0">
              <a:buNone/>
            </a:pPr>
            <a:r>
              <a:rPr lang="en-US" sz="1100" b="1" dirty="0">
                <a:solidFill>
                  <a:srgbClr val="EEF1F4"/>
                </a:solidFill>
                <a:latin typeface="Calibri" pitchFamily="34" charset="0"/>
                <a:ea typeface="Calibri" pitchFamily="34" charset="-122"/>
                <a:cs typeface="Calibri" pitchFamily="34" charset="-120"/>
              </a:rPr>
              <a:t>Conservative target, 1.50×</a:t>
            </a:r>
            <a:endParaRPr lang="en-US" sz="1100" dirty="0"/>
          </a:p>
        </p:txBody>
      </p:sp>
      <p:sp>
        <p:nvSpPr>
          <p:cNvPr id="13" name="Text 10"/>
          <p:cNvSpPr txBox="1"/>
          <p:nvPr/>
        </p:nvSpPr>
        <p:spPr>
          <a:xfrm>
            <a:off x="3291840" y="1965960"/>
            <a:ext cx="2926080" cy="256032"/>
          </a:xfrm>
          <a:prstGeom prst="rect">
            <a:avLst/>
          </a:prstGeom>
          <a:noFill/>
          <a:ln/>
        </p:spPr>
        <p:txBody>
          <a:bodyPr wrap="square" lIns="0" tIns="0" rIns="0" bIns="0" rtlCol="0" anchor="t"/>
          <a:lstStyle/>
          <a:p>
            <a:pPr indent="0" marL="0">
              <a:buNone/>
            </a:pPr>
            <a:r>
              <a:rPr lang="en-US" sz="1050" dirty="0">
                <a:solidFill>
                  <a:srgbClr val="E5746A"/>
                </a:solidFill>
                <a:latin typeface="Calibri" pitchFamily="34" charset="0"/>
                <a:ea typeface="Calibri" pitchFamily="34" charset="-122"/>
                <a:cs typeface="Calibri" pitchFamily="34" charset="-120"/>
              </a:rPr>
              <a:t>past the level → no badge</a:t>
            </a:r>
            <a:endParaRPr lang="en-US" sz="1050" dirty="0"/>
          </a:p>
        </p:txBody>
      </p:sp>
      <p:sp>
        <p:nvSpPr>
          <p:cNvPr id="14" name="Text 11"/>
          <p:cNvSpPr txBox="1"/>
          <p:nvPr/>
        </p:nvSpPr>
        <p:spPr>
          <a:xfrm>
            <a:off x="640080" y="2496312"/>
            <a:ext cx="1005840" cy="329184"/>
          </a:xfrm>
          <a:prstGeom prst="rect">
            <a:avLst/>
          </a:prstGeom>
          <a:noFill/>
          <a:ln/>
        </p:spPr>
        <p:txBody>
          <a:bodyPr wrap="square" lIns="0" tIns="0" rIns="0" bIns="0" rtlCol="0" anchor="ctr"/>
          <a:lstStyle/>
          <a:p>
            <a:pPr indent="0" marL="0">
              <a:buNone/>
            </a:pPr>
            <a:r>
              <a:rPr lang="en-US" sz="1200" b="1" dirty="0">
                <a:solidFill>
                  <a:srgbClr val="F0A54A"/>
                </a:solidFill>
                <a:latin typeface="Courier New" pitchFamily="34" charset="0"/>
                <a:ea typeface="Courier New" pitchFamily="34" charset="-122"/>
                <a:cs typeface="Courier New" pitchFamily="34" charset="-120"/>
              </a:rPr>
              <a:t>4384.28</a:t>
            </a:r>
            <a:endParaRPr lang="en-US" sz="1200" dirty="0"/>
          </a:p>
        </p:txBody>
      </p:sp>
      <p:sp>
        <p:nvSpPr>
          <p:cNvPr id="15" name="Shape 12"/>
          <p:cNvSpPr/>
          <p:nvPr/>
        </p:nvSpPr>
        <p:spPr>
          <a:xfrm>
            <a:off x="1691640" y="2660904"/>
            <a:ext cx="1463040" cy="0"/>
          </a:xfrm>
          <a:prstGeom prst="line">
            <a:avLst/>
          </a:prstGeom>
          <a:noFill/>
          <a:ln w="25400">
            <a:solidFill>
              <a:srgbClr val="F0A54A"/>
            </a:solidFill>
            <a:prstDash val="solid"/>
          </a:ln>
        </p:spPr>
      </p:sp>
      <p:sp>
        <p:nvSpPr>
          <p:cNvPr id="16" name="Text 13"/>
          <p:cNvSpPr txBox="1"/>
          <p:nvPr/>
        </p:nvSpPr>
        <p:spPr>
          <a:xfrm>
            <a:off x="3291840" y="2386584"/>
            <a:ext cx="2926080" cy="274320"/>
          </a:xfrm>
          <a:prstGeom prst="rect">
            <a:avLst/>
          </a:prstGeom>
          <a:noFill/>
          <a:ln/>
        </p:spPr>
        <p:txBody>
          <a:bodyPr wrap="square" lIns="0" tIns="0" rIns="0" bIns="0" rtlCol="0" anchor="b"/>
          <a:lstStyle/>
          <a:p>
            <a:pPr indent="0" marL="0">
              <a:buNone/>
            </a:pPr>
            <a:r>
              <a:rPr lang="en-US" sz="1100" b="1" dirty="0">
                <a:solidFill>
                  <a:srgbClr val="EEF1F4"/>
                </a:solidFill>
                <a:latin typeface="Calibri" pitchFamily="34" charset="0"/>
                <a:ea typeface="Calibri" pitchFamily="34" charset="-122"/>
                <a:cs typeface="Calibri" pitchFamily="34" charset="-120"/>
              </a:rPr>
              <a:t>M5 UOEDT · next opposing level</a:t>
            </a:r>
            <a:endParaRPr lang="en-US" sz="1100" dirty="0"/>
          </a:p>
        </p:txBody>
      </p:sp>
      <p:sp>
        <p:nvSpPr>
          <p:cNvPr id="17" name="Text 14"/>
          <p:cNvSpPr txBox="1"/>
          <p:nvPr/>
        </p:nvSpPr>
        <p:spPr>
          <a:xfrm>
            <a:off x="3291840" y="2660904"/>
            <a:ext cx="2926080" cy="256032"/>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room 17.03 = 0.97 × stop</a:t>
            </a:r>
            <a:endParaRPr lang="en-US" sz="1050" dirty="0"/>
          </a:p>
        </p:txBody>
      </p:sp>
      <p:sp>
        <p:nvSpPr>
          <p:cNvPr id="18" name="Text 15"/>
          <p:cNvSpPr txBox="1"/>
          <p:nvPr/>
        </p:nvSpPr>
        <p:spPr>
          <a:xfrm>
            <a:off x="640080" y="3191256"/>
            <a:ext cx="1005840" cy="329184"/>
          </a:xfrm>
          <a:prstGeom prst="rect">
            <a:avLst/>
          </a:prstGeom>
          <a:noFill/>
          <a:ln/>
        </p:spPr>
        <p:txBody>
          <a:bodyPr wrap="square" lIns="0" tIns="0" rIns="0" bIns="0" rtlCol="0" anchor="ctr"/>
          <a:lstStyle/>
          <a:p>
            <a:pPr indent="0" marL="0">
              <a:buNone/>
            </a:pPr>
            <a:r>
              <a:rPr lang="en-US" sz="1200" b="1" dirty="0">
                <a:solidFill>
                  <a:srgbClr val="E2B54E"/>
                </a:solidFill>
                <a:latin typeface="Courier New" pitchFamily="34" charset="0"/>
                <a:ea typeface="Courier New" pitchFamily="34" charset="-122"/>
                <a:cs typeface="Courier New" pitchFamily="34" charset="-120"/>
              </a:rPr>
              <a:t>4367.25</a:t>
            </a:r>
            <a:endParaRPr lang="en-US" sz="1200" dirty="0"/>
          </a:p>
        </p:txBody>
      </p:sp>
      <p:sp>
        <p:nvSpPr>
          <p:cNvPr id="19" name="Shape 16"/>
          <p:cNvSpPr/>
          <p:nvPr/>
        </p:nvSpPr>
        <p:spPr>
          <a:xfrm>
            <a:off x="1691640" y="3355848"/>
            <a:ext cx="1463040" cy="0"/>
          </a:xfrm>
          <a:prstGeom prst="line">
            <a:avLst/>
          </a:prstGeom>
          <a:noFill/>
          <a:ln w="25400">
            <a:solidFill>
              <a:srgbClr val="E2B54E"/>
            </a:solidFill>
            <a:prstDash val="solid"/>
          </a:ln>
        </p:spPr>
      </p:sp>
      <p:sp>
        <p:nvSpPr>
          <p:cNvPr id="20" name="Text 17"/>
          <p:cNvSpPr txBox="1"/>
          <p:nvPr/>
        </p:nvSpPr>
        <p:spPr>
          <a:xfrm>
            <a:off x="3291840" y="3081528"/>
            <a:ext cx="2926080" cy="274320"/>
          </a:xfrm>
          <a:prstGeom prst="rect">
            <a:avLst/>
          </a:prstGeom>
          <a:noFill/>
          <a:ln/>
        </p:spPr>
        <p:txBody>
          <a:bodyPr wrap="square" lIns="0" tIns="0" rIns="0" bIns="0" rtlCol="0" anchor="b"/>
          <a:lstStyle/>
          <a:p>
            <a:pPr indent="0" marL="0">
              <a:buNone/>
            </a:pPr>
            <a:r>
              <a:rPr lang="en-US" sz="1100" b="1" dirty="0">
                <a:solidFill>
                  <a:srgbClr val="EEF1F4"/>
                </a:solidFill>
                <a:latin typeface="Calibri" pitchFamily="34" charset="0"/>
                <a:ea typeface="Calibri" pitchFamily="34" charset="-122"/>
                <a:cs typeface="Calibri" pitchFamily="34" charset="-120"/>
              </a:rPr>
              <a:t>Entry · Z1 reference price</a:t>
            </a:r>
            <a:endParaRPr lang="en-US" sz="1100" dirty="0"/>
          </a:p>
        </p:txBody>
      </p:sp>
      <p:sp>
        <p:nvSpPr>
          <p:cNvPr id="21" name="Text 18"/>
          <p:cNvSpPr txBox="1"/>
          <p:nvPr/>
        </p:nvSpPr>
        <p:spPr>
          <a:xfrm>
            <a:off x="640080" y="3886200"/>
            <a:ext cx="1005840" cy="329184"/>
          </a:xfrm>
          <a:prstGeom prst="rect">
            <a:avLst/>
          </a:prstGeom>
          <a:noFill/>
          <a:ln/>
        </p:spPr>
        <p:txBody>
          <a:bodyPr wrap="square" lIns="0" tIns="0" rIns="0" bIns="0" rtlCol="0" anchor="ctr"/>
          <a:lstStyle/>
          <a:p>
            <a:pPr indent="0" marL="0">
              <a:buNone/>
            </a:pPr>
            <a:r>
              <a:rPr lang="en-US" sz="1200" b="1" dirty="0">
                <a:solidFill>
                  <a:srgbClr val="5CC2B2"/>
                </a:solidFill>
                <a:latin typeface="Courier New" pitchFamily="34" charset="0"/>
                <a:ea typeface="Courier New" pitchFamily="34" charset="-122"/>
                <a:cs typeface="Courier New" pitchFamily="34" charset="-120"/>
              </a:rPr>
              <a:t>4350.22</a:t>
            </a:r>
            <a:endParaRPr lang="en-US" sz="1200" dirty="0"/>
          </a:p>
        </p:txBody>
      </p:sp>
      <p:sp>
        <p:nvSpPr>
          <p:cNvPr id="22" name="Shape 19"/>
          <p:cNvSpPr/>
          <p:nvPr/>
        </p:nvSpPr>
        <p:spPr>
          <a:xfrm>
            <a:off x="1691640" y="4050792"/>
            <a:ext cx="1463040" cy="0"/>
          </a:xfrm>
          <a:prstGeom prst="line">
            <a:avLst/>
          </a:prstGeom>
          <a:noFill/>
          <a:ln w="25400">
            <a:solidFill>
              <a:srgbClr val="5CC2B2"/>
            </a:solidFill>
            <a:prstDash val="solid"/>
          </a:ln>
        </p:spPr>
      </p:sp>
      <p:sp>
        <p:nvSpPr>
          <p:cNvPr id="23" name="Text 20"/>
          <p:cNvSpPr txBox="1"/>
          <p:nvPr/>
        </p:nvSpPr>
        <p:spPr>
          <a:xfrm>
            <a:off x="3291840" y="3776472"/>
            <a:ext cx="2926080" cy="274320"/>
          </a:xfrm>
          <a:prstGeom prst="rect">
            <a:avLst/>
          </a:prstGeom>
          <a:noFill/>
          <a:ln/>
        </p:spPr>
        <p:txBody>
          <a:bodyPr wrap="square" lIns="0" tIns="0" rIns="0" bIns="0" rtlCol="0" anchor="b"/>
          <a:lstStyle/>
          <a:p>
            <a:pPr indent="0" marL="0">
              <a:buNone/>
            </a:pPr>
            <a:r>
              <a:rPr lang="en-US" sz="1100" b="1" dirty="0">
                <a:solidFill>
                  <a:srgbClr val="EEF1F4"/>
                </a:solidFill>
                <a:latin typeface="Calibri" pitchFamily="34" charset="0"/>
                <a:ea typeface="Calibri" pitchFamily="34" charset="-122"/>
                <a:cs typeface="Calibri" pitchFamily="34" charset="-120"/>
              </a:rPr>
              <a:t>M5 LOEDT</a:t>
            </a:r>
            <a:endParaRPr lang="en-US" sz="1100" dirty="0"/>
          </a:p>
        </p:txBody>
      </p:sp>
      <p:sp>
        <p:nvSpPr>
          <p:cNvPr id="24" name="Text 21"/>
          <p:cNvSpPr txBox="1"/>
          <p:nvPr/>
        </p:nvSpPr>
        <p:spPr>
          <a:xfrm>
            <a:off x="640080" y="4581144"/>
            <a:ext cx="1005840" cy="329184"/>
          </a:xfrm>
          <a:prstGeom prst="rect">
            <a:avLst/>
          </a:prstGeom>
          <a:noFill/>
          <a:ln/>
        </p:spPr>
        <p:txBody>
          <a:bodyPr wrap="square" lIns="0" tIns="0" rIns="0" bIns="0" rtlCol="0" anchor="ctr"/>
          <a:lstStyle/>
          <a:p>
            <a:pPr indent="0" marL="0">
              <a:buNone/>
            </a:pPr>
            <a:r>
              <a:rPr lang="en-US" sz="1200" b="1" dirty="0">
                <a:solidFill>
                  <a:srgbClr val="7FA8E8"/>
                </a:solidFill>
                <a:latin typeface="Courier New" pitchFamily="34" charset="0"/>
                <a:ea typeface="Courier New" pitchFamily="34" charset="-122"/>
                <a:cs typeface="Courier New" pitchFamily="34" charset="-120"/>
              </a:rPr>
              <a:t>4349.72</a:t>
            </a:r>
            <a:endParaRPr lang="en-US" sz="1200" dirty="0"/>
          </a:p>
        </p:txBody>
      </p:sp>
      <p:sp>
        <p:nvSpPr>
          <p:cNvPr id="25" name="Shape 22"/>
          <p:cNvSpPr/>
          <p:nvPr/>
        </p:nvSpPr>
        <p:spPr>
          <a:xfrm>
            <a:off x="1691640" y="4745736"/>
            <a:ext cx="1463040" cy="0"/>
          </a:xfrm>
          <a:prstGeom prst="line">
            <a:avLst/>
          </a:prstGeom>
          <a:noFill/>
          <a:ln w="25400">
            <a:solidFill>
              <a:srgbClr val="7FA8E8"/>
            </a:solidFill>
            <a:prstDash val="solid"/>
          </a:ln>
        </p:spPr>
      </p:sp>
      <p:sp>
        <p:nvSpPr>
          <p:cNvPr id="26" name="Text 23"/>
          <p:cNvSpPr txBox="1"/>
          <p:nvPr/>
        </p:nvSpPr>
        <p:spPr>
          <a:xfrm>
            <a:off x="3291840" y="4471416"/>
            <a:ext cx="2926080" cy="274320"/>
          </a:xfrm>
          <a:prstGeom prst="rect">
            <a:avLst/>
          </a:prstGeom>
          <a:noFill/>
          <a:ln/>
        </p:spPr>
        <p:txBody>
          <a:bodyPr wrap="square" lIns="0" tIns="0" rIns="0" bIns="0" rtlCol="0" anchor="b"/>
          <a:lstStyle/>
          <a:p>
            <a:pPr indent="0" marL="0">
              <a:buNone/>
            </a:pPr>
            <a:r>
              <a:rPr lang="en-US" sz="1100" b="1" dirty="0">
                <a:solidFill>
                  <a:srgbClr val="EEF1F4"/>
                </a:solidFill>
                <a:latin typeface="Calibri" pitchFamily="34" charset="0"/>
                <a:ea typeface="Calibri" pitchFamily="34" charset="-122"/>
                <a:cs typeface="Calibri" pitchFamily="34" charset="-120"/>
              </a:rPr>
              <a:t>Stop option A</a:t>
            </a:r>
            <a:endParaRPr lang="en-US" sz="1100" dirty="0"/>
          </a:p>
        </p:txBody>
      </p:sp>
      <p:sp>
        <p:nvSpPr>
          <p:cNvPr id="27" name="Text 24"/>
          <p:cNvSpPr txBox="1"/>
          <p:nvPr/>
        </p:nvSpPr>
        <p:spPr>
          <a:xfrm>
            <a:off x="3291840" y="4745736"/>
            <a:ext cx="2926080" cy="256032"/>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$17.53</a:t>
            </a:r>
            <a:endParaRPr lang="en-US" sz="1050" dirty="0"/>
          </a:p>
        </p:txBody>
      </p:sp>
      <p:sp>
        <p:nvSpPr>
          <p:cNvPr id="28" name="Text 25"/>
          <p:cNvSpPr txBox="1"/>
          <p:nvPr/>
        </p:nvSpPr>
        <p:spPr>
          <a:xfrm>
            <a:off x="640080" y="5276088"/>
            <a:ext cx="1005840" cy="329184"/>
          </a:xfrm>
          <a:prstGeom prst="rect">
            <a:avLst/>
          </a:prstGeom>
          <a:noFill/>
          <a:ln/>
        </p:spPr>
        <p:txBody>
          <a:bodyPr wrap="square" lIns="0" tIns="0" rIns="0" bIns="0" rtlCol="0" anchor="ctr"/>
          <a:lstStyle/>
          <a:p>
            <a:pPr indent="0" marL="0">
              <a:buNone/>
            </a:pPr>
            <a:r>
              <a:rPr lang="en-US" sz="1200" b="1" dirty="0">
                <a:solidFill>
                  <a:srgbClr val="7FA8E8"/>
                </a:solidFill>
                <a:latin typeface="Courier New" pitchFamily="34" charset="0"/>
                <a:ea typeface="Courier New" pitchFamily="34" charset="-122"/>
                <a:cs typeface="Courier New" pitchFamily="34" charset="-120"/>
              </a:rPr>
              <a:t>4278.71</a:t>
            </a:r>
            <a:endParaRPr lang="en-US" sz="1200" dirty="0"/>
          </a:p>
        </p:txBody>
      </p:sp>
      <p:sp>
        <p:nvSpPr>
          <p:cNvPr id="29" name="Shape 26"/>
          <p:cNvSpPr/>
          <p:nvPr/>
        </p:nvSpPr>
        <p:spPr>
          <a:xfrm>
            <a:off x="1691640" y="5440680"/>
            <a:ext cx="1463040" cy="0"/>
          </a:xfrm>
          <a:prstGeom prst="line">
            <a:avLst/>
          </a:prstGeom>
          <a:noFill/>
          <a:ln w="25400">
            <a:solidFill>
              <a:srgbClr val="7FA8E8"/>
            </a:solidFill>
            <a:prstDash val="solid"/>
          </a:ln>
        </p:spPr>
      </p:sp>
      <p:sp>
        <p:nvSpPr>
          <p:cNvPr id="30" name="Text 27"/>
          <p:cNvSpPr txBox="1"/>
          <p:nvPr/>
        </p:nvSpPr>
        <p:spPr>
          <a:xfrm>
            <a:off x="3291840" y="5166360"/>
            <a:ext cx="2926080" cy="274320"/>
          </a:xfrm>
          <a:prstGeom prst="rect">
            <a:avLst/>
          </a:prstGeom>
          <a:noFill/>
          <a:ln/>
        </p:spPr>
        <p:txBody>
          <a:bodyPr wrap="square" lIns="0" tIns="0" rIns="0" bIns="0" rtlCol="0" anchor="b"/>
          <a:lstStyle/>
          <a:p>
            <a:pPr indent="0" marL="0">
              <a:buNone/>
            </a:pPr>
            <a:r>
              <a:rPr lang="en-US" sz="1100" b="1" dirty="0">
                <a:solidFill>
                  <a:srgbClr val="EEF1F4"/>
                </a:solidFill>
                <a:latin typeface="Calibri" pitchFamily="34" charset="0"/>
                <a:ea typeface="Calibri" pitchFamily="34" charset="-122"/>
                <a:cs typeface="Calibri" pitchFamily="34" charset="-120"/>
              </a:rPr>
              <a:t>Stop option B · below M15 UOEDT</a:t>
            </a:r>
            <a:endParaRPr lang="en-US" sz="1100" dirty="0"/>
          </a:p>
        </p:txBody>
      </p:sp>
      <p:sp>
        <p:nvSpPr>
          <p:cNvPr id="31" name="Text 28"/>
          <p:cNvSpPr txBox="1"/>
          <p:nvPr/>
        </p:nvSpPr>
        <p:spPr>
          <a:xfrm>
            <a:off x="3291840" y="5440680"/>
            <a:ext cx="2926080" cy="256032"/>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$88.54</a:t>
            </a:r>
            <a:endParaRPr lang="en-US" sz="1050" dirty="0"/>
          </a:p>
        </p:txBody>
      </p:sp>
      <p:sp>
        <p:nvSpPr>
          <p:cNvPr id="32" name="Shape 29"/>
          <p:cNvSpPr/>
          <p:nvPr/>
        </p:nvSpPr>
        <p:spPr>
          <a:xfrm>
            <a:off x="6537960" y="1325880"/>
            <a:ext cx="5193792" cy="914400"/>
          </a:xfrm>
          <a:prstGeom prst="roundRect">
            <a:avLst>
              <a:gd name="adj" fmla="val 7000"/>
            </a:avLst>
          </a:prstGeom>
          <a:solidFill>
            <a:srgbClr val="1D242E"/>
          </a:solidFill>
          <a:ln w="9525">
            <a:solidFill>
              <a:srgbClr val="323C49"/>
            </a:solidFill>
            <a:prstDash val="solid"/>
          </a:ln>
        </p:spPr>
      </p:sp>
      <p:sp>
        <p:nvSpPr>
          <p:cNvPr id="33" name="Text 30"/>
          <p:cNvSpPr txBox="1"/>
          <p:nvPr/>
        </p:nvSpPr>
        <p:spPr>
          <a:xfrm>
            <a:off x="6693408" y="1389888"/>
            <a:ext cx="4846320" cy="310896"/>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Stop options</a:t>
            </a:r>
            <a:endParaRPr lang="en-US" sz="1250" dirty="0"/>
          </a:p>
        </p:txBody>
      </p:sp>
      <p:sp>
        <p:nvSpPr>
          <p:cNvPr id="34" name="Text 31"/>
          <p:cNvSpPr txBox="1"/>
          <p:nvPr/>
        </p:nvSpPr>
        <p:spPr>
          <a:xfrm>
            <a:off x="6693408" y="1709928"/>
            <a:ext cx="4937760" cy="493776"/>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Distances from entry to each structural invalidation level at or beyond Min SLD, plus “custom”. No fixed pills.</a:t>
            </a:r>
            <a:endParaRPr lang="en-US" sz="1100" dirty="0"/>
          </a:p>
        </p:txBody>
      </p:sp>
      <p:sp>
        <p:nvSpPr>
          <p:cNvPr id="35" name="Shape 32"/>
          <p:cNvSpPr/>
          <p:nvPr/>
        </p:nvSpPr>
        <p:spPr>
          <a:xfrm>
            <a:off x="6537960" y="2350008"/>
            <a:ext cx="5193792" cy="914400"/>
          </a:xfrm>
          <a:prstGeom prst="roundRect">
            <a:avLst>
              <a:gd name="adj" fmla="val 7000"/>
            </a:avLst>
          </a:prstGeom>
          <a:solidFill>
            <a:srgbClr val="1D242E"/>
          </a:solidFill>
          <a:ln w="9525">
            <a:solidFill>
              <a:srgbClr val="323C49"/>
            </a:solidFill>
            <a:prstDash val="solid"/>
          </a:ln>
        </p:spPr>
      </p:sp>
      <p:sp>
        <p:nvSpPr>
          <p:cNvPr id="36" name="Text 33"/>
          <p:cNvSpPr txBox="1"/>
          <p:nvPr/>
        </p:nvSpPr>
        <p:spPr>
          <a:xfrm>
            <a:off x="6693408" y="2414016"/>
            <a:ext cx="4846320" cy="310896"/>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Room to the next level</a:t>
            </a:r>
            <a:endParaRPr lang="en-US" sz="1250" dirty="0"/>
          </a:p>
        </p:txBody>
      </p:sp>
      <p:sp>
        <p:nvSpPr>
          <p:cNvPr id="37" name="Text 34"/>
          <p:cNvSpPr txBox="1"/>
          <p:nvPr/>
        </p:nvSpPr>
        <p:spPr>
          <a:xfrm>
            <a:off x="6693408" y="2734056"/>
            <a:ext cx="4937760" cy="493776"/>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A target past the next opposing level is never recommended; the level is named.</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537960" y="3474720"/>
          <a:ext cx="5193792" cy="914400"/>
        </p:xfrm>
        <a:graphic>
          <a:graphicData uri="http://schemas.openxmlformats.org/drawingml/2006/table">
            <a:tbl>
              <a:tblPr/>
              <a:tblGrid>
                <a:gridCol w="3730752"/>
                <a:gridCol w="146304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Condition (from synthesis and room)</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Badge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457200">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No scenario fits before the next level</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5746A"/>
                          </a:solidFill>
                          <a:latin typeface="Calibri" pitchFamily="34" charset="0"/>
                          <a:ea typeface="Calibri" pitchFamily="34" charset="-122"/>
                          <a:cs typeface="Calibri" pitchFamily="34" charset="-120"/>
                        </a:rPr>
                        <a:t>No badge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57200">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Counter-trend or conflict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Conservative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57200">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With the trend; room ≥ Normal RRR</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Normal</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57200">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With the trend on M5 and M15; room ≥ Aggressive RRR</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Aggressive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
        <p:nvSpPr>
          <p:cNvPr id="39" name="Text 35"/>
          <p:cNvSpPr txBox="1"/>
          <p:nvPr/>
        </p:nvSpPr>
        <p:spPr>
          <a:xfrm>
            <a:off x="6537960" y="5943600"/>
            <a:ext cx="5193792" cy="329184"/>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A badge only goes to a scenario whose target sits before the next level.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NEWS BLACKOUT (D2) AND DEFECT FLAG (D4)</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Two rules from file A, now enforced in code</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8</a:t>
            </a:r>
            <a:endParaRPr lang="en-US" sz="1000" dirty="0"/>
          </a:p>
        </p:txBody>
      </p:sp>
      <p:sp>
        <p:nvSpPr>
          <p:cNvPr id="8" name="Shape 5"/>
          <p:cNvSpPr/>
          <p:nvPr/>
        </p:nvSpPr>
        <p:spPr>
          <a:xfrm>
            <a:off x="457200" y="1325880"/>
            <a:ext cx="5715000" cy="4956048"/>
          </a:xfrm>
          <a:prstGeom prst="roundRect">
            <a:avLst>
              <a:gd name="adj" fmla="val 1292"/>
            </a:avLst>
          </a:prstGeom>
          <a:solidFill>
            <a:srgbClr val="1D242E"/>
          </a:solidFill>
          <a:ln w="9525">
            <a:solidFill>
              <a:srgbClr val="323C49"/>
            </a:solidFill>
            <a:prstDash val="solid"/>
          </a:ln>
        </p:spPr>
      </p:sp>
      <p:sp>
        <p:nvSpPr>
          <p:cNvPr id="9" name="Text 6"/>
          <p:cNvSpPr txBox="1"/>
          <p:nvPr/>
        </p:nvSpPr>
        <p:spPr>
          <a:xfrm>
            <a:off x="640080" y="1435608"/>
            <a:ext cx="530352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NEWS BLACKOUT · TIER-1 RELEASES</a:t>
            </a:r>
            <a:endParaRPr lang="en-US" sz="950" dirty="0"/>
          </a:p>
        </p:txBody>
      </p:sp>
      <p:sp>
        <p:nvSpPr>
          <p:cNvPr id="10" name="Text 7"/>
          <p:cNvSpPr txBox="1"/>
          <p:nvPr/>
        </p:nvSpPr>
        <p:spPr>
          <a:xfrm>
            <a:off x="640080" y="1719072"/>
            <a:ext cx="5303520" cy="27432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US CPI · Core PCE · FOMC rate decision · NFP · from economic_events, live since 11 Sep</a:t>
            </a:r>
            <a:endParaRPr lang="en-US" sz="1100" dirty="0"/>
          </a:p>
        </p:txBody>
      </p:sp>
      <p:sp>
        <p:nvSpPr>
          <p:cNvPr id="11" name="Shape 8"/>
          <p:cNvSpPr/>
          <p:nvPr/>
        </p:nvSpPr>
        <p:spPr>
          <a:xfrm>
            <a:off x="2068830" y="2468880"/>
            <a:ext cx="2491740" cy="1005840"/>
          </a:xfrm>
          <a:prstGeom prst="roundRect">
            <a:avLst>
              <a:gd name="adj" fmla="val 3636"/>
            </a:avLst>
          </a:prstGeom>
          <a:solidFill>
            <a:srgbClr val="33201F"/>
          </a:solidFill>
          <a:ln w="9525">
            <a:solidFill>
              <a:srgbClr val="33201F"/>
            </a:solidFill>
            <a:prstDash val="solid"/>
          </a:ln>
        </p:spPr>
      </p:sp>
      <p:sp>
        <p:nvSpPr>
          <p:cNvPr id="12" name="Shape 9"/>
          <p:cNvSpPr/>
          <p:nvPr/>
        </p:nvSpPr>
        <p:spPr>
          <a:xfrm>
            <a:off x="822960" y="2971800"/>
            <a:ext cx="4983480" cy="0"/>
          </a:xfrm>
          <a:prstGeom prst="line">
            <a:avLst/>
          </a:prstGeom>
          <a:noFill/>
          <a:ln w="19050">
            <a:solidFill>
              <a:srgbClr val="7D8A99"/>
            </a:solidFill>
            <a:prstDash val="solid"/>
          </a:ln>
        </p:spPr>
      </p:sp>
      <p:sp>
        <p:nvSpPr>
          <p:cNvPr id="13" name="Shape 10"/>
          <p:cNvSpPr/>
          <p:nvPr/>
        </p:nvSpPr>
        <p:spPr>
          <a:xfrm>
            <a:off x="3314700" y="2468880"/>
            <a:ext cx="0" cy="1005840"/>
          </a:xfrm>
          <a:prstGeom prst="line">
            <a:avLst/>
          </a:prstGeom>
          <a:noFill/>
          <a:ln w="19050">
            <a:solidFill>
              <a:srgbClr val="E5746A"/>
            </a:solidFill>
            <a:prstDash val="dash"/>
          </a:ln>
        </p:spPr>
      </p:sp>
      <p:sp>
        <p:nvSpPr>
          <p:cNvPr id="14" name="Text 11"/>
          <p:cNvSpPr txBox="1"/>
          <p:nvPr/>
        </p:nvSpPr>
        <p:spPr>
          <a:xfrm>
            <a:off x="2766060" y="2194560"/>
            <a:ext cx="1097280" cy="237744"/>
          </a:xfrm>
          <a:prstGeom prst="rect">
            <a:avLst/>
          </a:prstGeom>
          <a:noFill/>
          <a:ln/>
        </p:spPr>
        <p:txBody>
          <a:bodyPr wrap="square" lIns="0" tIns="0" rIns="0" bIns="0" rtlCol="0" anchor="t"/>
          <a:lstStyle/>
          <a:p>
            <a:pPr algn="ctr" indent="0" marL="0">
              <a:buNone/>
            </a:pPr>
            <a:r>
              <a:rPr lang="en-US" sz="1000" b="1" dirty="0">
                <a:solidFill>
                  <a:srgbClr val="E5746A"/>
                </a:solidFill>
                <a:latin typeface="Calibri" pitchFamily="34" charset="0"/>
                <a:ea typeface="Calibri" pitchFamily="34" charset="-122"/>
                <a:cs typeface="Calibri" pitchFamily="34" charset="-120"/>
              </a:rPr>
              <a:t>release</a:t>
            </a:r>
            <a:endParaRPr lang="en-US" sz="1000" dirty="0"/>
          </a:p>
        </p:txBody>
      </p:sp>
      <p:sp>
        <p:nvSpPr>
          <p:cNvPr id="15" name="Text 12"/>
          <p:cNvSpPr txBox="1"/>
          <p:nvPr/>
        </p:nvSpPr>
        <p:spPr>
          <a:xfrm>
            <a:off x="2068830" y="3154680"/>
            <a:ext cx="1200150" cy="237744"/>
          </a:xfrm>
          <a:prstGeom prst="rect">
            <a:avLst/>
          </a:prstGeom>
          <a:noFill/>
          <a:ln/>
        </p:spPr>
        <p:txBody>
          <a:bodyPr wrap="square" lIns="0" tIns="0" rIns="0" bIns="0" rtlCol="0" anchor="t"/>
          <a:lstStyle/>
          <a:p>
            <a:pPr algn="ctr" indent="0" marL="0">
              <a:buNone/>
            </a:pPr>
            <a:r>
              <a:rPr lang="en-US" sz="1000" i="1" dirty="0">
                <a:solidFill>
                  <a:srgbClr val="E5746A"/>
                </a:solidFill>
                <a:latin typeface="Calibri" pitchFamily="34" charset="0"/>
                <a:ea typeface="Calibri" pitchFamily="34" charset="-122"/>
                <a:cs typeface="Calibri" pitchFamily="34" charset="-120"/>
              </a:rPr>
              <a:t>no Report 2</a:t>
            </a:r>
            <a:endParaRPr lang="en-US" sz="1000" dirty="0"/>
          </a:p>
        </p:txBody>
      </p:sp>
      <p:sp>
        <p:nvSpPr>
          <p:cNvPr id="16" name="Shape 13"/>
          <p:cNvSpPr/>
          <p:nvPr/>
        </p:nvSpPr>
        <p:spPr>
          <a:xfrm>
            <a:off x="1912620" y="2898648"/>
            <a:ext cx="146304" cy="146304"/>
          </a:xfrm>
          <a:prstGeom prst="ellipse">
            <a:avLst/>
          </a:prstGeom>
          <a:solidFill>
            <a:srgbClr val="5CC2B2"/>
          </a:solidFill>
          <a:ln w="12700">
            <a:solidFill>
              <a:srgbClr val="0F1318"/>
            </a:solidFill>
            <a:prstDash val="solid"/>
          </a:ln>
        </p:spPr>
      </p:sp>
      <p:sp>
        <p:nvSpPr>
          <p:cNvPr id="17" name="Shape 14"/>
          <p:cNvSpPr/>
          <p:nvPr/>
        </p:nvSpPr>
        <p:spPr>
          <a:xfrm>
            <a:off x="2078736" y="2898648"/>
            <a:ext cx="146304" cy="146304"/>
          </a:xfrm>
          <a:prstGeom prst="ellipse">
            <a:avLst/>
          </a:prstGeom>
          <a:solidFill>
            <a:srgbClr val="E5746A"/>
          </a:solidFill>
          <a:ln w="12700">
            <a:solidFill>
              <a:srgbClr val="0F1318"/>
            </a:solidFill>
            <a:prstDash val="solid"/>
          </a:ln>
        </p:spPr>
      </p:sp>
      <p:sp>
        <p:nvSpPr>
          <p:cNvPr id="18" name="Shape 15"/>
          <p:cNvSpPr/>
          <p:nvPr/>
        </p:nvSpPr>
        <p:spPr>
          <a:xfrm>
            <a:off x="4404360" y="2898648"/>
            <a:ext cx="146304" cy="146304"/>
          </a:xfrm>
          <a:prstGeom prst="ellipse">
            <a:avLst/>
          </a:prstGeom>
          <a:solidFill>
            <a:srgbClr val="E5746A"/>
          </a:solidFill>
          <a:ln w="12700">
            <a:solidFill>
              <a:srgbClr val="0F1318"/>
            </a:solidFill>
            <a:prstDash val="solid"/>
          </a:ln>
        </p:spPr>
      </p:sp>
      <p:sp>
        <p:nvSpPr>
          <p:cNvPr id="19" name="Shape 16"/>
          <p:cNvSpPr/>
          <p:nvPr/>
        </p:nvSpPr>
        <p:spPr>
          <a:xfrm>
            <a:off x="4570476" y="2898648"/>
            <a:ext cx="146304" cy="146304"/>
          </a:xfrm>
          <a:prstGeom prst="ellipse">
            <a:avLst/>
          </a:prstGeom>
          <a:solidFill>
            <a:srgbClr val="5CC2B2"/>
          </a:solidFill>
          <a:ln w="12700">
            <a:solidFill>
              <a:srgbClr val="0F1318"/>
            </a:solidFill>
            <a:prstDash val="solid"/>
          </a:ln>
        </p:spPr>
      </p:sp>
      <p:sp>
        <p:nvSpPr>
          <p:cNvPr id="20" name="Text 17"/>
          <p:cNvSpPr txBox="1"/>
          <p:nvPr/>
        </p:nvSpPr>
        <p:spPr>
          <a:xfrm>
            <a:off x="1611630" y="3520440"/>
            <a:ext cx="914400" cy="219456"/>
          </a:xfrm>
          <a:prstGeom prst="rect">
            <a:avLst/>
          </a:prstGeom>
          <a:noFill/>
          <a:ln/>
        </p:spPr>
        <p:txBody>
          <a:bodyPr wrap="square" lIns="0" tIns="0" rIns="0" bIns="0" rtlCol="0" anchor="t"/>
          <a:lstStyle/>
          <a:p>
            <a:pPr algn="ctr" indent="0" marL="0">
              <a:buNone/>
            </a:pPr>
            <a:r>
              <a:rPr lang="en-US" sz="1000" b="1" dirty="0">
                <a:solidFill>
                  <a:srgbClr val="E5746A"/>
                </a:solidFill>
                <a:latin typeface="Calibri" pitchFamily="34" charset="0"/>
                <a:ea typeface="Calibri" pitchFamily="34" charset="-122"/>
                <a:cs typeface="Calibri" pitchFamily="34" charset="-120"/>
              </a:rPr>
              <a:t>−15 min</a:t>
            </a:r>
            <a:endParaRPr lang="en-US" sz="1000" dirty="0"/>
          </a:p>
        </p:txBody>
      </p:sp>
      <p:sp>
        <p:nvSpPr>
          <p:cNvPr id="21" name="Text 18"/>
          <p:cNvSpPr txBox="1"/>
          <p:nvPr/>
        </p:nvSpPr>
        <p:spPr>
          <a:xfrm>
            <a:off x="4103370" y="3520440"/>
            <a:ext cx="914400" cy="219456"/>
          </a:xfrm>
          <a:prstGeom prst="rect">
            <a:avLst/>
          </a:prstGeom>
          <a:noFill/>
          <a:ln/>
        </p:spPr>
        <p:txBody>
          <a:bodyPr wrap="square" lIns="0" tIns="0" rIns="0" bIns="0" rtlCol="0" anchor="t"/>
          <a:lstStyle/>
          <a:p>
            <a:pPr algn="ctr" indent="0" marL="0">
              <a:buNone/>
            </a:pPr>
            <a:r>
              <a:rPr lang="en-US" sz="1000" b="1" dirty="0">
                <a:solidFill>
                  <a:srgbClr val="E5746A"/>
                </a:solidFill>
                <a:latin typeface="Calibri" pitchFamily="34" charset="0"/>
                <a:ea typeface="Calibri" pitchFamily="34" charset="-122"/>
                <a:cs typeface="Calibri" pitchFamily="34" charset="-120"/>
              </a:rPr>
              <a:t>+15 min</a:t>
            </a:r>
            <a:endParaRPr lang="en-US" sz="1000" dirty="0"/>
          </a:p>
        </p:txBody>
      </p:sp>
      <p:sp>
        <p:nvSpPr>
          <p:cNvPr id="22" name="Shape 19"/>
          <p:cNvSpPr/>
          <p:nvPr/>
        </p:nvSpPr>
        <p:spPr>
          <a:xfrm>
            <a:off x="685800" y="3867912"/>
            <a:ext cx="1234440" cy="256032"/>
          </a:xfrm>
          <a:prstGeom prst="roundRect">
            <a:avLst>
              <a:gd name="adj" fmla="val 50000"/>
            </a:avLst>
          </a:prstGeom>
          <a:solidFill>
            <a:srgbClr val="5CC2B2"/>
          </a:solidFill>
          <a:ln w="9525">
            <a:solidFill>
              <a:srgbClr val="5CC2B2"/>
            </a:solidFill>
            <a:prstDash val="solid"/>
          </a:ln>
        </p:spPr>
      </p:sp>
      <p:sp>
        <p:nvSpPr>
          <p:cNvPr id="23" name="Text 20"/>
          <p:cNvSpPr txBox="1"/>
          <p:nvPr/>
        </p:nvSpPr>
        <p:spPr>
          <a:xfrm>
            <a:off x="685800" y="3867912"/>
            <a:ext cx="1234440" cy="256032"/>
          </a:xfrm>
          <a:prstGeom prst="rect">
            <a:avLst/>
          </a:prstGeom>
          <a:noFill/>
          <a:ln/>
        </p:spPr>
        <p:txBody>
          <a:bodyPr wrap="square" lIns="0" tIns="0" rIns="0" bIns="0" rtlCol="0" anchor="ctr"/>
          <a:lstStyle/>
          <a:p>
            <a:pPr algn="ctr" indent="0" marL="0">
              <a:buNone/>
            </a:pPr>
            <a:r>
              <a:rPr lang="en-US" sz="900" b="1" spc="50" kern="0" dirty="0">
                <a:solidFill>
                  <a:srgbClr val="0F1318"/>
                </a:solidFill>
                <a:latin typeface="Calibri" pitchFamily="34" charset="0"/>
                <a:ea typeface="Calibri" pitchFamily="34" charset="-122"/>
                <a:cs typeface="Calibri" pitchFamily="34" charset="-120"/>
              </a:rPr>
              <a:t>−16 · allowed</a:t>
            </a:r>
            <a:endParaRPr lang="en-US" sz="900" dirty="0"/>
          </a:p>
        </p:txBody>
      </p:sp>
      <p:sp>
        <p:nvSpPr>
          <p:cNvPr id="24" name="Shape 21"/>
          <p:cNvSpPr/>
          <p:nvPr/>
        </p:nvSpPr>
        <p:spPr>
          <a:xfrm>
            <a:off x="2029968" y="3867912"/>
            <a:ext cx="1234440" cy="256032"/>
          </a:xfrm>
          <a:prstGeom prst="roundRect">
            <a:avLst>
              <a:gd name="adj" fmla="val 50000"/>
            </a:avLst>
          </a:prstGeom>
          <a:solidFill>
            <a:srgbClr val="E5746A"/>
          </a:solidFill>
          <a:ln w="9525">
            <a:solidFill>
              <a:srgbClr val="E5746A"/>
            </a:solidFill>
            <a:prstDash val="solid"/>
          </a:ln>
        </p:spPr>
      </p:sp>
      <p:sp>
        <p:nvSpPr>
          <p:cNvPr id="25" name="Text 22"/>
          <p:cNvSpPr txBox="1"/>
          <p:nvPr/>
        </p:nvSpPr>
        <p:spPr>
          <a:xfrm>
            <a:off x="2029968" y="3867912"/>
            <a:ext cx="1234440" cy="256032"/>
          </a:xfrm>
          <a:prstGeom prst="rect">
            <a:avLst/>
          </a:prstGeom>
          <a:noFill/>
          <a:ln/>
        </p:spPr>
        <p:txBody>
          <a:bodyPr wrap="square" lIns="0" tIns="0" rIns="0" bIns="0" rtlCol="0" anchor="ctr"/>
          <a:lstStyle/>
          <a:p>
            <a:pPr algn="ctr" indent="0" marL="0">
              <a:buNone/>
            </a:pPr>
            <a:r>
              <a:rPr lang="en-US" sz="900" b="1" spc="50" kern="0" dirty="0">
                <a:solidFill>
                  <a:srgbClr val="0F1318"/>
                </a:solidFill>
                <a:latin typeface="Calibri" pitchFamily="34" charset="0"/>
                <a:ea typeface="Calibri" pitchFamily="34" charset="-122"/>
                <a:cs typeface="Calibri" pitchFamily="34" charset="-120"/>
              </a:rPr>
              <a:t>−14 · blocked</a:t>
            </a:r>
            <a:endParaRPr lang="en-US" sz="900" dirty="0"/>
          </a:p>
        </p:txBody>
      </p:sp>
      <p:sp>
        <p:nvSpPr>
          <p:cNvPr id="26" name="Shape 23"/>
          <p:cNvSpPr/>
          <p:nvPr/>
        </p:nvSpPr>
        <p:spPr>
          <a:xfrm>
            <a:off x="3374136" y="3867912"/>
            <a:ext cx="1234440" cy="256032"/>
          </a:xfrm>
          <a:prstGeom prst="roundRect">
            <a:avLst>
              <a:gd name="adj" fmla="val 50000"/>
            </a:avLst>
          </a:prstGeom>
          <a:solidFill>
            <a:srgbClr val="E5746A"/>
          </a:solidFill>
          <a:ln w="9525">
            <a:solidFill>
              <a:srgbClr val="E5746A"/>
            </a:solidFill>
            <a:prstDash val="solid"/>
          </a:ln>
        </p:spPr>
      </p:sp>
      <p:sp>
        <p:nvSpPr>
          <p:cNvPr id="27" name="Text 24"/>
          <p:cNvSpPr txBox="1"/>
          <p:nvPr/>
        </p:nvSpPr>
        <p:spPr>
          <a:xfrm>
            <a:off x="3374136" y="3867912"/>
            <a:ext cx="1234440" cy="256032"/>
          </a:xfrm>
          <a:prstGeom prst="rect">
            <a:avLst/>
          </a:prstGeom>
          <a:noFill/>
          <a:ln/>
        </p:spPr>
        <p:txBody>
          <a:bodyPr wrap="square" lIns="0" tIns="0" rIns="0" bIns="0" rtlCol="0" anchor="ctr"/>
          <a:lstStyle/>
          <a:p>
            <a:pPr algn="ctr" indent="0" marL="0">
              <a:buNone/>
            </a:pPr>
            <a:r>
              <a:rPr lang="en-US" sz="900" b="1" spc="50" kern="0" dirty="0">
                <a:solidFill>
                  <a:srgbClr val="0F1318"/>
                </a:solidFill>
                <a:latin typeface="Calibri" pitchFamily="34" charset="0"/>
                <a:ea typeface="Calibri" pitchFamily="34" charset="-122"/>
                <a:cs typeface="Calibri" pitchFamily="34" charset="-120"/>
              </a:rPr>
              <a:t>+14 · blocked</a:t>
            </a:r>
            <a:endParaRPr lang="en-US" sz="900" dirty="0"/>
          </a:p>
        </p:txBody>
      </p:sp>
      <p:sp>
        <p:nvSpPr>
          <p:cNvPr id="28" name="Shape 25"/>
          <p:cNvSpPr/>
          <p:nvPr/>
        </p:nvSpPr>
        <p:spPr>
          <a:xfrm>
            <a:off x="4718304" y="3867912"/>
            <a:ext cx="1234440" cy="256032"/>
          </a:xfrm>
          <a:prstGeom prst="roundRect">
            <a:avLst>
              <a:gd name="adj" fmla="val 50000"/>
            </a:avLst>
          </a:prstGeom>
          <a:solidFill>
            <a:srgbClr val="5CC2B2"/>
          </a:solidFill>
          <a:ln w="9525">
            <a:solidFill>
              <a:srgbClr val="5CC2B2"/>
            </a:solidFill>
            <a:prstDash val="solid"/>
          </a:ln>
        </p:spPr>
      </p:sp>
      <p:sp>
        <p:nvSpPr>
          <p:cNvPr id="29" name="Text 26"/>
          <p:cNvSpPr txBox="1"/>
          <p:nvPr/>
        </p:nvSpPr>
        <p:spPr>
          <a:xfrm>
            <a:off x="4718304" y="3867912"/>
            <a:ext cx="1234440" cy="256032"/>
          </a:xfrm>
          <a:prstGeom prst="rect">
            <a:avLst/>
          </a:prstGeom>
          <a:noFill/>
          <a:ln/>
        </p:spPr>
        <p:txBody>
          <a:bodyPr wrap="square" lIns="0" tIns="0" rIns="0" bIns="0" rtlCol="0" anchor="ctr"/>
          <a:lstStyle/>
          <a:p>
            <a:pPr algn="ctr" indent="0" marL="0">
              <a:buNone/>
            </a:pPr>
            <a:r>
              <a:rPr lang="en-US" sz="900" b="1" spc="50" kern="0" dirty="0">
                <a:solidFill>
                  <a:srgbClr val="0F1318"/>
                </a:solidFill>
                <a:latin typeface="Calibri" pitchFamily="34" charset="0"/>
                <a:ea typeface="Calibri" pitchFamily="34" charset="-122"/>
                <a:cs typeface="Calibri" pitchFamily="34" charset="-120"/>
              </a:rPr>
              <a:t>+16 · allowed</a:t>
            </a:r>
            <a:endParaRPr lang="en-US" sz="900" dirty="0"/>
          </a:p>
        </p:txBody>
      </p:sp>
      <p:sp>
        <p:nvSpPr>
          <p:cNvPr id="30" name="Shape 27"/>
          <p:cNvSpPr/>
          <p:nvPr/>
        </p:nvSpPr>
        <p:spPr>
          <a:xfrm>
            <a:off x="658368" y="4544568"/>
            <a:ext cx="100584" cy="100584"/>
          </a:xfrm>
          <a:prstGeom prst="ellipse">
            <a:avLst/>
          </a:prstGeom>
          <a:solidFill>
            <a:srgbClr val="E2B54E"/>
          </a:solidFill>
          <a:ln w="12700">
            <a:solidFill>
              <a:srgbClr val="E2B54E"/>
            </a:solidFill>
            <a:prstDash val="solid"/>
          </a:ln>
        </p:spPr>
      </p:sp>
      <p:sp>
        <p:nvSpPr>
          <p:cNvPr id="31" name="Text 28"/>
          <p:cNvSpPr txBox="1"/>
          <p:nvPr/>
        </p:nvSpPr>
        <p:spPr>
          <a:xfrm>
            <a:off x="859536" y="4434840"/>
            <a:ext cx="5166360" cy="530352"/>
          </a:xfrm>
          <a:prstGeom prst="rect">
            <a:avLst/>
          </a:prstGeom>
          <a:noFill/>
          <a:ln/>
        </p:spPr>
        <p:txBody>
          <a:bodyPr wrap="square" lIns="0" tIns="0" rIns="0" bIns="0" rtlCol="0" anchor="t"/>
          <a:lstStyle/>
          <a:p>
            <a:pPr indent="0" marL="0">
              <a:buNone/>
            </a:pPr>
            <a:r>
              <a:rPr lang="en-US" sz="1150" b="1" dirty="0">
                <a:solidFill>
                  <a:srgbClr val="EEF1F4"/>
                </a:solidFill>
                <a:latin typeface="Calibri" pitchFamily="34" charset="0"/>
                <a:ea typeface="Calibri" pitchFamily="34" charset="-122"/>
                <a:cs typeface="Calibri" pitchFamily="34" charset="-120"/>
              </a:rPr>
              <a:t>Approximate time  </a:t>
            </a:r>
            <a:pPr indent="0" marL="0">
              <a:buNone/>
            </a:pPr>
            <a:r>
              <a:rPr lang="en-US" sz="1150" dirty="0">
                <a:solidFill>
                  <a:srgbClr val="A3AEBB"/>
                </a:solidFill>
                <a:latin typeface="Calibri" pitchFamily="34" charset="0"/>
                <a:ea typeface="Calibri" pitchFamily="34" charset="-122"/>
                <a:cs typeface="Calibri" pitchFamily="34" charset="-120"/>
              </a:rPr>
              <a:t>window widens to ±60 minutes</a:t>
            </a:r>
            <a:endParaRPr lang="en-US" sz="1150" dirty="0"/>
          </a:p>
        </p:txBody>
      </p:sp>
      <p:sp>
        <p:nvSpPr>
          <p:cNvPr id="32" name="Shape 29"/>
          <p:cNvSpPr/>
          <p:nvPr/>
        </p:nvSpPr>
        <p:spPr>
          <a:xfrm>
            <a:off x="658368" y="5129784"/>
            <a:ext cx="100584" cy="100584"/>
          </a:xfrm>
          <a:prstGeom prst="ellipse">
            <a:avLst/>
          </a:prstGeom>
          <a:solidFill>
            <a:srgbClr val="E2B54E"/>
          </a:solidFill>
          <a:ln w="12700">
            <a:solidFill>
              <a:srgbClr val="E2B54E"/>
            </a:solidFill>
            <a:prstDash val="solid"/>
          </a:ln>
        </p:spPr>
      </p:sp>
      <p:sp>
        <p:nvSpPr>
          <p:cNvPr id="33" name="Text 30"/>
          <p:cNvSpPr txBox="1"/>
          <p:nvPr/>
        </p:nvSpPr>
        <p:spPr>
          <a:xfrm>
            <a:off x="859536" y="5020056"/>
            <a:ext cx="5166360" cy="530352"/>
          </a:xfrm>
          <a:prstGeom prst="rect">
            <a:avLst/>
          </a:prstGeom>
          <a:noFill/>
          <a:ln/>
        </p:spPr>
        <p:txBody>
          <a:bodyPr wrap="square" lIns="0" tIns="0" rIns="0" bIns="0" rtlCol="0" anchor="t"/>
          <a:lstStyle/>
          <a:p>
            <a:pPr indent="0" marL="0">
              <a:buNone/>
            </a:pPr>
            <a:r>
              <a:rPr lang="en-US" sz="1150" b="1" dirty="0">
                <a:solidFill>
                  <a:srgbClr val="EEF1F4"/>
                </a:solidFill>
                <a:latin typeface="Calibri" pitchFamily="34" charset="0"/>
                <a:ea typeface="Calibri" pitchFamily="34" charset="-122"/>
                <a:cs typeface="Calibri" pitchFamily="34" charset="-120"/>
              </a:rPr>
              <a:t>Other HIGH releases in the holding window  </a:t>
            </a:r>
            <a:pPr indent="0" marL="0">
              <a:buNone/>
            </a:pPr>
            <a:r>
              <a:rPr lang="en-US" sz="1150" dirty="0">
                <a:solidFill>
                  <a:srgbClr val="A3AEBB"/>
                </a:solidFill>
                <a:latin typeface="Calibri" pitchFamily="34" charset="0"/>
                <a:ea typeface="Calibri" pitchFamily="34" charset="-122"/>
                <a:cs typeface="Calibri" pitchFamily="34" charset="-120"/>
              </a:rPr>
              <a:t>warning, not a block</a:t>
            </a:r>
            <a:endParaRPr lang="en-US" sz="1150" dirty="0"/>
          </a:p>
        </p:txBody>
      </p:sp>
      <p:sp>
        <p:nvSpPr>
          <p:cNvPr id="34" name="Shape 31"/>
          <p:cNvSpPr/>
          <p:nvPr/>
        </p:nvSpPr>
        <p:spPr>
          <a:xfrm>
            <a:off x="658368" y="5715000"/>
            <a:ext cx="100584" cy="100584"/>
          </a:xfrm>
          <a:prstGeom prst="ellipse">
            <a:avLst/>
          </a:prstGeom>
          <a:solidFill>
            <a:srgbClr val="E2B54E"/>
          </a:solidFill>
          <a:ln w="12700">
            <a:solidFill>
              <a:srgbClr val="E2B54E"/>
            </a:solidFill>
            <a:prstDash val="solid"/>
          </a:ln>
        </p:spPr>
      </p:sp>
      <p:sp>
        <p:nvSpPr>
          <p:cNvPr id="35" name="Text 32"/>
          <p:cNvSpPr txBox="1"/>
          <p:nvPr/>
        </p:nvSpPr>
        <p:spPr>
          <a:xfrm>
            <a:off x="859536" y="5605272"/>
            <a:ext cx="5166360" cy="530352"/>
          </a:xfrm>
          <a:prstGeom prst="rect">
            <a:avLst/>
          </a:prstGeom>
          <a:noFill/>
          <a:ln/>
        </p:spPr>
        <p:txBody>
          <a:bodyPr wrap="square" lIns="0" tIns="0" rIns="0" bIns="0" rtlCol="0" anchor="t"/>
          <a:lstStyle/>
          <a:p>
            <a:pPr indent="0" marL="0">
              <a:buNone/>
            </a:pPr>
            <a:r>
              <a:rPr lang="en-US" sz="1150" b="1" dirty="0">
                <a:solidFill>
                  <a:srgbClr val="EEF1F4"/>
                </a:solidFill>
                <a:latin typeface="Calibri" pitchFamily="34" charset="0"/>
                <a:ea typeface="Calibri" pitchFamily="34" charset="-122"/>
                <a:cs typeface="Calibri" pitchFamily="34" charset="-120"/>
              </a:rPr>
              <a:t>Calendar unavailable  </a:t>
            </a:r>
            <a:pPr indent="0" marL="0">
              <a:buNone/>
            </a:pPr>
            <a:r>
              <a:rPr lang="en-US" sz="1150" dirty="0">
                <a:solidFill>
                  <a:srgbClr val="A3AEBB"/>
                </a:solidFill>
                <a:latin typeface="Calibri" pitchFamily="34" charset="0"/>
                <a:ea typeface="Calibri" pitchFamily="34" charset="-122"/>
                <a:cs typeface="Calibri" pitchFamily="34" charset="-120"/>
              </a:rPr>
              <a:t>said out loud; never “no news”</a:t>
            </a:r>
            <a:endParaRPr lang="en-US" sz="1150" dirty="0"/>
          </a:p>
        </p:txBody>
      </p:sp>
      <p:sp>
        <p:nvSpPr>
          <p:cNvPr id="36" name="Shape 33"/>
          <p:cNvSpPr/>
          <p:nvPr/>
        </p:nvSpPr>
        <p:spPr>
          <a:xfrm>
            <a:off x="6400800" y="1325880"/>
            <a:ext cx="5330952" cy="4956048"/>
          </a:xfrm>
          <a:prstGeom prst="roundRect">
            <a:avLst>
              <a:gd name="adj" fmla="val 1292"/>
            </a:avLst>
          </a:prstGeom>
          <a:solidFill>
            <a:srgbClr val="1D242E"/>
          </a:solidFill>
          <a:ln w="9525">
            <a:solidFill>
              <a:srgbClr val="323C49"/>
            </a:solidFill>
            <a:prstDash val="solid"/>
          </a:ln>
        </p:spPr>
      </p:sp>
      <p:sp>
        <p:nvSpPr>
          <p:cNvPr id="37" name="Text 34"/>
          <p:cNvSpPr txBox="1"/>
          <p:nvPr/>
        </p:nvSpPr>
        <p:spPr>
          <a:xfrm>
            <a:off x="6583680" y="1435608"/>
            <a:ext cx="493776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DEFECT FLAG · CAUTIONARY READINGS</a:t>
            </a:r>
            <a:endParaRPr lang="en-US" sz="950" dirty="0"/>
          </a:p>
        </p:txBody>
      </p:sp>
      <p:sp>
        <p:nvSpPr>
          <p:cNvPr id="38" name="Shape 35"/>
          <p:cNvSpPr/>
          <p:nvPr/>
        </p:nvSpPr>
        <p:spPr>
          <a:xfrm>
            <a:off x="6583680" y="1865376"/>
            <a:ext cx="365760" cy="365760"/>
          </a:xfrm>
          <a:prstGeom prst="ellipse">
            <a:avLst/>
          </a:prstGeom>
          <a:solidFill>
            <a:srgbClr val="E2B54E"/>
          </a:solidFill>
          <a:ln w="15875">
            <a:solidFill>
              <a:srgbClr val="E2B54E"/>
            </a:solidFill>
            <a:prstDash val="solid"/>
          </a:ln>
        </p:spPr>
      </p:sp>
      <p:sp>
        <p:nvSpPr>
          <p:cNvPr id="39" name="Text 36"/>
          <p:cNvSpPr txBox="1"/>
          <p:nvPr/>
        </p:nvSpPr>
        <p:spPr>
          <a:xfrm>
            <a:off x="6583680" y="1865376"/>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1</a:t>
            </a:r>
            <a:endParaRPr lang="en-US" sz="1200" dirty="0"/>
          </a:p>
        </p:txBody>
      </p:sp>
      <p:sp>
        <p:nvSpPr>
          <p:cNvPr id="40" name="Text 37"/>
          <p:cNvSpPr txBox="1"/>
          <p:nvPr/>
        </p:nvSpPr>
        <p:spPr>
          <a:xfrm>
            <a:off x="7086600" y="1828800"/>
            <a:ext cx="4480560" cy="402336"/>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Flag arrives</a:t>
            </a:r>
            <a:endParaRPr lang="en-US" sz="1300" dirty="0"/>
          </a:p>
        </p:txBody>
      </p:sp>
      <p:sp>
        <p:nvSpPr>
          <p:cNvPr id="41" name="Text 38"/>
          <p:cNvSpPr txBox="1"/>
          <p:nvPr/>
        </p:nvSpPr>
        <p:spPr>
          <a:xfrm>
            <a:off x="7086600" y="2231136"/>
            <a:ext cx="4526280" cy="64008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The synthesis reading carries CAUTIONARY and its reason, for example the channel-quality gate (MCD0) or RETUNING.</a:t>
            </a:r>
            <a:endParaRPr lang="en-US" sz="1100" dirty="0"/>
          </a:p>
        </p:txBody>
      </p:sp>
      <p:sp>
        <p:nvSpPr>
          <p:cNvPr id="42" name="Shape 39"/>
          <p:cNvSpPr/>
          <p:nvPr/>
        </p:nvSpPr>
        <p:spPr>
          <a:xfrm>
            <a:off x="6583680" y="2944368"/>
            <a:ext cx="365760" cy="365760"/>
          </a:xfrm>
          <a:prstGeom prst="ellipse">
            <a:avLst/>
          </a:prstGeom>
          <a:solidFill>
            <a:srgbClr val="E2B54E"/>
          </a:solidFill>
          <a:ln w="15875">
            <a:solidFill>
              <a:srgbClr val="E2B54E"/>
            </a:solidFill>
            <a:prstDash val="solid"/>
          </a:ln>
        </p:spPr>
      </p:sp>
      <p:sp>
        <p:nvSpPr>
          <p:cNvPr id="43" name="Text 40"/>
          <p:cNvSpPr txBox="1"/>
          <p:nvPr/>
        </p:nvSpPr>
        <p:spPr>
          <a:xfrm>
            <a:off x="6583680" y="2944368"/>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2</a:t>
            </a:r>
            <a:endParaRPr lang="en-US" sz="1200" dirty="0"/>
          </a:p>
        </p:txBody>
      </p:sp>
      <p:sp>
        <p:nvSpPr>
          <p:cNvPr id="44" name="Text 41"/>
          <p:cNvSpPr txBox="1"/>
          <p:nvPr/>
        </p:nvSpPr>
        <p:spPr>
          <a:xfrm>
            <a:off x="7086600" y="2907792"/>
            <a:ext cx="4480560" cy="402336"/>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Half risk pre-set</a:t>
            </a:r>
            <a:endParaRPr lang="en-US" sz="1300" dirty="0"/>
          </a:p>
        </p:txBody>
      </p:sp>
      <p:sp>
        <p:nvSpPr>
          <p:cNvPr id="45" name="Text 42"/>
          <p:cNvSpPr txBox="1"/>
          <p:nvPr/>
        </p:nvSpPr>
        <p:spPr>
          <a:xfrm>
            <a:off x="7086600" y="3310128"/>
            <a:ext cx="4526280" cy="64008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The modal pre-selects half the trader’s risk %, e.g. 1.50% → 0.75%, with the reason beside it.</a:t>
            </a:r>
            <a:endParaRPr lang="en-US" sz="1100" dirty="0"/>
          </a:p>
        </p:txBody>
      </p:sp>
      <p:sp>
        <p:nvSpPr>
          <p:cNvPr id="46" name="Shape 43"/>
          <p:cNvSpPr/>
          <p:nvPr/>
        </p:nvSpPr>
        <p:spPr>
          <a:xfrm>
            <a:off x="6583680" y="4023360"/>
            <a:ext cx="365760" cy="365760"/>
          </a:xfrm>
          <a:prstGeom prst="ellipse">
            <a:avLst/>
          </a:prstGeom>
          <a:solidFill>
            <a:srgbClr val="E2B54E"/>
          </a:solidFill>
          <a:ln w="15875">
            <a:solidFill>
              <a:srgbClr val="E2B54E"/>
            </a:solidFill>
            <a:prstDash val="solid"/>
          </a:ln>
        </p:spPr>
      </p:sp>
      <p:sp>
        <p:nvSpPr>
          <p:cNvPr id="47" name="Text 44"/>
          <p:cNvSpPr txBox="1"/>
          <p:nvPr/>
        </p:nvSpPr>
        <p:spPr>
          <a:xfrm>
            <a:off x="6583680" y="402336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3</a:t>
            </a:r>
            <a:endParaRPr lang="en-US" sz="1200" dirty="0"/>
          </a:p>
        </p:txBody>
      </p:sp>
      <p:sp>
        <p:nvSpPr>
          <p:cNvPr id="48" name="Text 45"/>
          <p:cNvSpPr txBox="1"/>
          <p:nvPr/>
        </p:nvSpPr>
        <p:spPr>
          <a:xfrm>
            <a:off x="7086600" y="3986784"/>
            <a:ext cx="4480560" cy="402336"/>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Trader may override</a:t>
            </a:r>
            <a:endParaRPr lang="en-US" sz="1300" dirty="0"/>
          </a:p>
        </p:txBody>
      </p:sp>
      <p:sp>
        <p:nvSpPr>
          <p:cNvPr id="49" name="Text 46"/>
          <p:cNvSpPr txBox="1"/>
          <p:nvPr/>
        </p:nvSpPr>
        <p:spPr>
          <a:xfrm>
            <a:off x="7086600" y="4389120"/>
            <a:ext cx="4526280" cy="64008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Any value up to Max RPT is allowed. The override and the reason shown are stored in the consent record.</a:t>
            </a:r>
            <a:endParaRPr lang="en-US" sz="1100" dirty="0"/>
          </a:p>
        </p:txBody>
      </p:sp>
      <p:sp>
        <p:nvSpPr>
          <p:cNvPr id="50" name="Shape 47"/>
          <p:cNvSpPr/>
          <p:nvPr/>
        </p:nvSpPr>
        <p:spPr>
          <a:xfrm>
            <a:off x="6583680" y="5230368"/>
            <a:ext cx="4965192" cy="896112"/>
          </a:xfrm>
          <a:prstGeom prst="roundRect">
            <a:avLst>
              <a:gd name="adj" fmla="val 7143"/>
            </a:avLst>
          </a:prstGeom>
          <a:solidFill>
            <a:srgbClr val="2E2715"/>
          </a:solidFill>
          <a:ln w="9525">
            <a:solidFill>
              <a:srgbClr val="2E2715"/>
            </a:solidFill>
            <a:prstDash val="solid"/>
          </a:ln>
        </p:spPr>
      </p:sp>
      <p:sp>
        <p:nvSpPr>
          <p:cNvPr id="51" name="Text 48"/>
          <p:cNvSpPr txBox="1"/>
          <p:nvPr/>
        </p:nvSpPr>
        <p:spPr>
          <a:xfrm>
            <a:off x="6720840" y="5230368"/>
            <a:ext cx="4709160" cy="896112"/>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One path for every caution: a flagged channel and a promote in progress (decision 015) behave the same way.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THE MATHS (E3)</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The worked example, corrected and made a test</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9</a:t>
            </a:r>
            <a:endParaRPr lang="en-US" sz="1000" dirty="0"/>
          </a:p>
        </p:txBody>
      </p:sp>
      <p:sp>
        <p:nvSpPr>
          <p:cNvPr id="8" name="Text 5"/>
          <p:cNvSpPr txBox="1"/>
          <p:nvPr/>
        </p:nvSpPr>
        <p:spPr>
          <a:xfrm>
            <a:off x="457200" y="1325880"/>
            <a:ext cx="365760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INPUTS · FILE G §6</a:t>
            </a:r>
            <a:endParaRPr lang="en-US" sz="950" dirty="0"/>
          </a:p>
        </p:txBody>
      </p:sp>
      <p:sp>
        <p:nvSpPr>
          <p:cNvPr id="9" name="Text 6"/>
          <p:cNvSpPr txBox="1"/>
          <p:nvPr/>
        </p:nvSpPr>
        <p:spPr>
          <a:xfrm>
            <a:off x="457200" y="1645920"/>
            <a:ext cx="1737360" cy="365760"/>
          </a:xfrm>
          <a:prstGeom prst="rect">
            <a:avLst/>
          </a:prstGeom>
          <a:noFill/>
          <a:ln/>
        </p:spPr>
        <p:txBody>
          <a:bodyPr wrap="square" lIns="0" tIns="0" rIns="0" bIns="0" rtlCol="0" anchor="ctr"/>
          <a:lstStyle/>
          <a:p>
            <a:pPr indent="0" marL="0">
              <a:buNone/>
            </a:pPr>
            <a:r>
              <a:rPr lang="en-US" sz="1150" dirty="0">
                <a:solidFill>
                  <a:srgbClr val="A3AEBB"/>
                </a:solidFill>
                <a:latin typeface="Calibri" pitchFamily="34" charset="0"/>
                <a:ea typeface="Calibri" pitchFamily="34" charset="-122"/>
                <a:cs typeface="Calibri" pitchFamily="34" charset="-120"/>
              </a:rPr>
              <a:t>Equity</a:t>
            </a:r>
            <a:endParaRPr lang="en-US" sz="1150" dirty="0"/>
          </a:p>
        </p:txBody>
      </p:sp>
      <p:sp>
        <p:nvSpPr>
          <p:cNvPr id="10" name="Text 7"/>
          <p:cNvSpPr txBox="1"/>
          <p:nvPr/>
        </p:nvSpPr>
        <p:spPr>
          <a:xfrm>
            <a:off x="2194560" y="1645920"/>
            <a:ext cx="1737360" cy="365760"/>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$10,000</a:t>
            </a:r>
            <a:endParaRPr lang="en-US" sz="1150" dirty="0"/>
          </a:p>
        </p:txBody>
      </p:sp>
      <p:sp>
        <p:nvSpPr>
          <p:cNvPr id="11" name="Text 8"/>
          <p:cNvSpPr txBox="1"/>
          <p:nvPr/>
        </p:nvSpPr>
        <p:spPr>
          <a:xfrm>
            <a:off x="457200" y="2048256"/>
            <a:ext cx="1737360" cy="365760"/>
          </a:xfrm>
          <a:prstGeom prst="rect">
            <a:avLst/>
          </a:prstGeom>
          <a:noFill/>
          <a:ln/>
        </p:spPr>
        <p:txBody>
          <a:bodyPr wrap="square" lIns="0" tIns="0" rIns="0" bIns="0" rtlCol="0" anchor="ctr"/>
          <a:lstStyle/>
          <a:p>
            <a:pPr indent="0" marL="0">
              <a:buNone/>
            </a:pPr>
            <a:r>
              <a:rPr lang="en-US" sz="1150" dirty="0">
                <a:solidFill>
                  <a:srgbClr val="A3AEBB"/>
                </a:solidFill>
                <a:latin typeface="Calibri" pitchFamily="34" charset="0"/>
                <a:ea typeface="Calibri" pitchFamily="34" charset="-122"/>
                <a:cs typeface="Calibri" pitchFamily="34" charset="-120"/>
              </a:rPr>
              <a:t>Side · entry</a:t>
            </a:r>
            <a:endParaRPr lang="en-US" sz="1150" dirty="0"/>
          </a:p>
        </p:txBody>
      </p:sp>
      <p:sp>
        <p:nvSpPr>
          <p:cNvPr id="12" name="Text 9"/>
          <p:cNvSpPr txBox="1"/>
          <p:nvPr/>
        </p:nvSpPr>
        <p:spPr>
          <a:xfrm>
            <a:off x="2194560" y="2048256"/>
            <a:ext cx="1737360" cy="365760"/>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BUY · 2,545.00</a:t>
            </a:r>
            <a:endParaRPr lang="en-US" sz="1150" dirty="0"/>
          </a:p>
        </p:txBody>
      </p:sp>
      <p:sp>
        <p:nvSpPr>
          <p:cNvPr id="13" name="Text 10"/>
          <p:cNvSpPr txBox="1"/>
          <p:nvPr/>
        </p:nvSpPr>
        <p:spPr>
          <a:xfrm>
            <a:off x="457200" y="2450592"/>
            <a:ext cx="1737360" cy="365760"/>
          </a:xfrm>
          <a:prstGeom prst="rect">
            <a:avLst/>
          </a:prstGeom>
          <a:noFill/>
          <a:ln/>
        </p:spPr>
        <p:txBody>
          <a:bodyPr wrap="square" lIns="0" tIns="0" rIns="0" bIns="0" rtlCol="0" anchor="ctr"/>
          <a:lstStyle/>
          <a:p>
            <a:pPr indent="0" marL="0">
              <a:buNone/>
            </a:pPr>
            <a:r>
              <a:rPr lang="en-US" sz="1150" dirty="0">
                <a:solidFill>
                  <a:srgbClr val="A3AEBB"/>
                </a:solidFill>
                <a:latin typeface="Calibri" pitchFamily="34" charset="0"/>
                <a:ea typeface="Calibri" pitchFamily="34" charset="-122"/>
                <a:cs typeface="Calibri" pitchFamily="34" charset="-120"/>
              </a:rPr>
              <a:t>Risk</a:t>
            </a:r>
            <a:endParaRPr lang="en-US" sz="1150" dirty="0"/>
          </a:p>
        </p:txBody>
      </p:sp>
      <p:sp>
        <p:nvSpPr>
          <p:cNvPr id="14" name="Text 11"/>
          <p:cNvSpPr txBox="1"/>
          <p:nvPr/>
        </p:nvSpPr>
        <p:spPr>
          <a:xfrm>
            <a:off x="2194560" y="2450592"/>
            <a:ext cx="1737360" cy="365760"/>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1.00%</a:t>
            </a:r>
            <a:endParaRPr lang="en-US" sz="1150" dirty="0"/>
          </a:p>
        </p:txBody>
      </p:sp>
      <p:sp>
        <p:nvSpPr>
          <p:cNvPr id="15" name="Text 12"/>
          <p:cNvSpPr txBox="1"/>
          <p:nvPr/>
        </p:nvSpPr>
        <p:spPr>
          <a:xfrm>
            <a:off x="457200" y="2852928"/>
            <a:ext cx="1737360" cy="365760"/>
          </a:xfrm>
          <a:prstGeom prst="rect">
            <a:avLst/>
          </a:prstGeom>
          <a:noFill/>
          <a:ln/>
        </p:spPr>
        <p:txBody>
          <a:bodyPr wrap="square" lIns="0" tIns="0" rIns="0" bIns="0" rtlCol="0" anchor="ctr"/>
          <a:lstStyle/>
          <a:p>
            <a:pPr indent="0" marL="0">
              <a:buNone/>
            </a:pPr>
            <a:r>
              <a:rPr lang="en-US" sz="1150" dirty="0">
                <a:solidFill>
                  <a:srgbClr val="A3AEBB"/>
                </a:solidFill>
                <a:latin typeface="Calibri" pitchFamily="34" charset="0"/>
                <a:ea typeface="Calibri" pitchFamily="34" charset="-122"/>
                <a:cs typeface="Calibri" pitchFamily="34" charset="-120"/>
              </a:rPr>
              <a:t>Stop distance</a:t>
            </a:r>
            <a:endParaRPr lang="en-US" sz="1150" dirty="0"/>
          </a:p>
        </p:txBody>
      </p:sp>
      <p:sp>
        <p:nvSpPr>
          <p:cNvPr id="16" name="Text 13"/>
          <p:cNvSpPr txBox="1"/>
          <p:nvPr/>
        </p:nvSpPr>
        <p:spPr>
          <a:xfrm>
            <a:off x="2194560" y="2852928"/>
            <a:ext cx="1737360" cy="365760"/>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$15.00</a:t>
            </a:r>
            <a:endParaRPr lang="en-US" sz="1150" dirty="0"/>
          </a:p>
        </p:txBody>
      </p:sp>
      <p:sp>
        <p:nvSpPr>
          <p:cNvPr id="17" name="Text 14"/>
          <p:cNvSpPr txBox="1"/>
          <p:nvPr/>
        </p:nvSpPr>
        <p:spPr>
          <a:xfrm>
            <a:off x="457200" y="3255264"/>
            <a:ext cx="1737360" cy="365760"/>
          </a:xfrm>
          <a:prstGeom prst="rect">
            <a:avLst/>
          </a:prstGeom>
          <a:noFill/>
          <a:ln/>
        </p:spPr>
        <p:txBody>
          <a:bodyPr wrap="square" lIns="0" tIns="0" rIns="0" bIns="0" rtlCol="0" anchor="ctr"/>
          <a:lstStyle/>
          <a:p>
            <a:pPr indent="0" marL="0">
              <a:buNone/>
            </a:pPr>
            <a:r>
              <a:rPr lang="en-US" sz="1150" dirty="0">
                <a:solidFill>
                  <a:srgbClr val="A3AEBB"/>
                </a:solidFill>
                <a:latin typeface="Calibri" pitchFamily="34" charset="0"/>
                <a:ea typeface="Calibri" pitchFamily="34" charset="-122"/>
                <a:cs typeface="Calibri" pitchFamily="34" charset="-120"/>
              </a:rPr>
              <a:t>Commission</a:t>
            </a:r>
            <a:endParaRPr lang="en-US" sz="1150" dirty="0"/>
          </a:p>
        </p:txBody>
      </p:sp>
      <p:sp>
        <p:nvSpPr>
          <p:cNvPr id="18" name="Text 15"/>
          <p:cNvSpPr txBox="1"/>
          <p:nvPr/>
        </p:nvSpPr>
        <p:spPr>
          <a:xfrm>
            <a:off x="2194560" y="3255264"/>
            <a:ext cx="1737360" cy="365760"/>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$4 a lot, round trip</a:t>
            </a:r>
            <a:endParaRPr lang="en-US" sz="1150" dirty="0"/>
          </a:p>
        </p:txBody>
      </p:sp>
      <p:sp>
        <p:nvSpPr>
          <p:cNvPr id="19" name="Text 16"/>
          <p:cNvSpPr txBox="1"/>
          <p:nvPr/>
        </p:nvSpPr>
        <p:spPr>
          <a:xfrm>
            <a:off x="457200" y="3657600"/>
            <a:ext cx="1737360" cy="365760"/>
          </a:xfrm>
          <a:prstGeom prst="rect">
            <a:avLst/>
          </a:prstGeom>
          <a:noFill/>
          <a:ln/>
        </p:spPr>
        <p:txBody>
          <a:bodyPr wrap="square" lIns="0" tIns="0" rIns="0" bIns="0" rtlCol="0" anchor="ctr"/>
          <a:lstStyle/>
          <a:p>
            <a:pPr indent="0" marL="0">
              <a:buNone/>
            </a:pPr>
            <a:r>
              <a:rPr lang="en-US" sz="1150" dirty="0">
                <a:solidFill>
                  <a:srgbClr val="A3AEBB"/>
                </a:solidFill>
                <a:latin typeface="Calibri" pitchFamily="34" charset="0"/>
                <a:ea typeface="Calibri" pitchFamily="34" charset="-122"/>
                <a:cs typeface="Calibri" pitchFamily="34" charset="-120"/>
              </a:rPr>
              <a:t>Lot (rounded down)</a:t>
            </a:r>
            <a:endParaRPr lang="en-US" sz="1150" dirty="0"/>
          </a:p>
        </p:txBody>
      </p:sp>
      <p:sp>
        <p:nvSpPr>
          <p:cNvPr id="20" name="Text 17"/>
          <p:cNvSpPr txBox="1"/>
          <p:nvPr/>
        </p:nvSpPr>
        <p:spPr>
          <a:xfrm>
            <a:off x="2194560" y="3657600"/>
            <a:ext cx="1737360" cy="365760"/>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0.06</a:t>
            </a:r>
            <a:endParaRPr lang="en-US" sz="1150" dirty="0"/>
          </a:p>
        </p:txBody>
      </p:sp>
      <p:sp>
        <p:nvSpPr>
          <p:cNvPr id="21" name="Shape 18"/>
          <p:cNvSpPr/>
          <p:nvPr/>
        </p:nvSpPr>
        <p:spPr>
          <a:xfrm>
            <a:off x="457200" y="4224528"/>
            <a:ext cx="3566160" cy="603504"/>
          </a:xfrm>
          <a:prstGeom prst="roundRect">
            <a:avLst>
              <a:gd name="adj" fmla="val 10606"/>
            </a:avLst>
          </a:prstGeom>
          <a:solidFill>
            <a:srgbClr val="1D242E"/>
          </a:solidFill>
          <a:ln w="9525">
            <a:solidFill>
              <a:srgbClr val="323C49"/>
            </a:solidFill>
            <a:prstDash val="solid"/>
          </a:ln>
        </p:spPr>
      </p:sp>
      <p:sp>
        <p:nvSpPr>
          <p:cNvPr id="22" name="Text 19"/>
          <p:cNvSpPr txBox="1"/>
          <p:nvPr/>
        </p:nvSpPr>
        <p:spPr>
          <a:xfrm>
            <a:off x="594360" y="4224528"/>
            <a:ext cx="1463040" cy="603504"/>
          </a:xfrm>
          <a:prstGeom prst="rect">
            <a:avLst/>
          </a:prstGeom>
          <a:noFill/>
          <a:ln/>
        </p:spPr>
        <p:txBody>
          <a:bodyPr wrap="square" lIns="0" tIns="0" rIns="0" bIns="0" rtlCol="0" anchor="ctr"/>
          <a:lstStyle/>
          <a:p>
            <a:pPr indent="0" marL="0">
              <a:buNone/>
            </a:pPr>
            <a:r>
              <a:rPr lang="en-US" sz="1150" dirty="0">
                <a:solidFill>
                  <a:srgbClr val="A3AEBB"/>
                </a:solidFill>
                <a:latin typeface="Calibri" pitchFamily="34" charset="0"/>
                <a:ea typeface="Calibri" pitchFamily="34" charset="-122"/>
                <a:cs typeface="Calibri" pitchFamily="34" charset="-120"/>
              </a:rPr>
              <a:t>Declared risk</a:t>
            </a:r>
            <a:endParaRPr lang="en-US" sz="1150" dirty="0"/>
          </a:p>
        </p:txBody>
      </p:sp>
      <p:sp>
        <p:nvSpPr>
          <p:cNvPr id="23" name="Text 20"/>
          <p:cNvSpPr txBox="1"/>
          <p:nvPr/>
        </p:nvSpPr>
        <p:spPr>
          <a:xfrm>
            <a:off x="2011680" y="4224528"/>
            <a:ext cx="1005840" cy="60350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$100.00</a:t>
            </a:r>
            <a:endParaRPr lang="en-US" sz="1400" dirty="0"/>
          </a:p>
        </p:txBody>
      </p:sp>
      <p:sp>
        <p:nvSpPr>
          <p:cNvPr id="24" name="Text 21"/>
          <p:cNvSpPr txBox="1"/>
          <p:nvPr/>
        </p:nvSpPr>
        <p:spPr>
          <a:xfrm>
            <a:off x="2926080" y="4224528"/>
            <a:ext cx="1051560" cy="603504"/>
          </a:xfrm>
          <a:prstGeom prst="rect">
            <a:avLst/>
          </a:prstGeom>
          <a:noFill/>
          <a:ln/>
        </p:spPr>
        <p:txBody>
          <a:bodyPr wrap="square" lIns="0" tIns="0" rIns="0" bIns="0" rtlCol="0" anchor="ctr"/>
          <a:lstStyle/>
          <a:p>
            <a:pPr indent="0" marL="0">
              <a:buNone/>
            </a:pPr>
            <a:r>
              <a:rPr lang="en-US" sz="950" dirty="0">
                <a:solidFill>
                  <a:srgbClr val="A3AEBB"/>
                </a:solidFill>
                <a:latin typeface="Calibri" pitchFamily="34" charset="0"/>
                <a:ea typeface="Calibri" pitchFamily="34" charset="-122"/>
                <a:cs typeface="Calibri" pitchFamily="34" charset="-120"/>
              </a:rPr>
              <a:t>1.00%</a:t>
            </a:r>
            <a:endParaRPr lang="en-US" sz="950" dirty="0"/>
          </a:p>
        </p:txBody>
      </p:sp>
      <p:sp>
        <p:nvSpPr>
          <p:cNvPr id="25" name="Shape 22"/>
          <p:cNvSpPr/>
          <p:nvPr/>
        </p:nvSpPr>
        <p:spPr>
          <a:xfrm>
            <a:off x="457200" y="4910328"/>
            <a:ext cx="3566160" cy="603504"/>
          </a:xfrm>
          <a:prstGeom prst="roundRect">
            <a:avLst>
              <a:gd name="adj" fmla="val 10606"/>
            </a:avLst>
          </a:prstGeom>
          <a:solidFill>
            <a:srgbClr val="1D242E"/>
          </a:solidFill>
          <a:ln w="15875">
            <a:solidFill>
              <a:srgbClr val="E2B54E"/>
            </a:solidFill>
            <a:prstDash val="solid"/>
          </a:ln>
        </p:spPr>
      </p:sp>
      <p:sp>
        <p:nvSpPr>
          <p:cNvPr id="26" name="Text 23"/>
          <p:cNvSpPr txBox="1"/>
          <p:nvPr/>
        </p:nvSpPr>
        <p:spPr>
          <a:xfrm>
            <a:off x="594360" y="4910328"/>
            <a:ext cx="1463040" cy="603504"/>
          </a:xfrm>
          <a:prstGeom prst="rect">
            <a:avLst/>
          </a:prstGeom>
          <a:noFill/>
          <a:ln/>
        </p:spPr>
        <p:txBody>
          <a:bodyPr wrap="square" lIns="0" tIns="0" rIns="0" bIns="0" rtlCol="0" anchor="ctr"/>
          <a:lstStyle/>
          <a:p>
            <a:pPr indent="0" marL="0">
              <a:buNone/>
            </a:pPr>
            <a:r>
              <a:rPr lang="en-US" sz="1150" dirty="0">
                <a:solidFill>
                  <a:srgbClr val="A3AEBB"/>
                </a:solidFill>
                <a:latin typeface="Calibri" pitchFamily="34" charset="0"/>
                <a:ea typeface="Calibri" pitchFamily="34" charset="-122"/>
                <a:cs typeface="Calibri" pitchFamily="34" charset="-120"/>
              </a:rPr>
              <a:t>Actual risk</a:t>
            </a:r>
            <a:endParaRPr lang="en-US" sz="1150" dirty="0"/>
          </a:p>
        </p:txBody>
      </p:sp>
      <p:sp>
        <p:nvSpPr>
          <p:cNvPr id="27" name="Text 24"/>
          <p:cNvSpPr txBox="1"/>
          <p:nvPr/>
        </p:nvSpPr>
        <p:spPr>
          <a:xfrm>
            <a:off x="2011680" y="4910328"/>
            <a:ext cx="1005840" cy="603504"/>
          </a:xfrm>
          <a:prstGeom prst="rect">
            <a:avLst/>
          </a:prstGeom>
          <a:noFill/>
          <a:ln/>
        </p:spPr>
        <p:txBody>
          <a:bodyPr wrap="square" lIns="0" tIns="0" rIns="0" bIns="0" rtlCol="0" anchor="ctr"/>
          <a:lstStyle/>
          <a:p>
            <a:pPr indent="0" marL="0">
              <a:buNone/>
            </a:pPr>
            <a:r>
              <a:rPr lang="en-US" sz="1400" b="1" dirty="0">
                <a:solidFill>
                  <a:srgbClr val="E2B54E"/>
                </a:solidFill>
                <a:latin typeface="Calibri" pitchFamily="34" charset="0"/>
                <a:ea typeface="Calibri" pitchFamily="34" charset="-122"/>
                <a:cs typeface="Calibri" pitchFamily="34" charset="-120"/>
              </a:rPr>
              <a:t>$90.24</a:t>
            </a:r>
            <a:endParaRPr lang="en-US" sz="1400" dirty="0"/>
          </a:p>
        </p:txBody>
      </p:sp>
      <p:sp>
        <p:nvSpPr>
          <p:cNvPr id="28" name="Text 25"/>
          <p:cNvSpPr txBox="1"/>
          <p:nvPr/>
        </p:nvSpPr>
        <p:spPr>
          <a:xfrm>
            <a:off x="2926080" y="4910328"/>
            <a:ext cx="1051560" cy="603504"/>
          </a:xfrm>
          <a:prstGeom prst="rect">
            <a:avLst/>
          </a:prstGeom>
          <a:noFill/>
          <a:ln/>
        </p:spPr>
        <p:txBody>
          <a:bodyPr wrap="square" lIns="0" tIns="0" rIns="0" bIns="0" rtlCol="0" anchor="ctr"/>
          <a:lstStyle/>
          <a:p>
            <a:pPr indent="0" marL="0">
              <a:buNone/>
            </a:pPr>
            <a:r>
              <a:rPr lang="en-US" sz="950" dirty="0">
                <a:solidFill>
                  <a:srgbClr val="A3AEBB"/>
                </a:solidFill>
                <a:latin typeface="Calibri" pitchFamily="34" charset="0"/>
                <a:ea typeface="Calibri" pitchFamily="34" charset="-122"/>
                <a:cs typeface="Calibri" pitchFamily="34" charset="-120"/>
              </a:rPr>
              <a:t>0.90%</a:t>
            </a:r>
            <a:endParaRPr lang="en-US" sz="950" dirty="0"/>
          </a:p>
        </p:txBody>
      </p:sp>
      <p:sp>
        <p:nvSpPr>
          <p:cNvPr id="29" name="Shape 26"/>
          <p:cNvSpPr/>
          <p:nvPr/>
        </p:nvSpPr>
        <p:spPr>
          <a:xfrm>
            <a:off x="457200" y="5596128"/>
            <a:ext cx="3566160" cy="603504"/>
          </a:xfrm>
          <a:prstGeom prst="roundRect">
            <a:avLst>
              <a:gd name="adj" fmla="val 10606"/>
            </a:avLst>
          </a:prstGeom>
          <a:solidFill>
            <a:srgbClr val="1D242E"/>
          </a:solidFill>
          <a:ln w="9525">
            <a:solidFill>
              <a:srgbClr val="323C49"/>
            </a:solidFill>
            <a:prstDash val="solid"/>
          </a:ln>
        </p:spPr>
      </p:sp>
      <p:sp>
        <p:nvSpPr>
          <p:cNvPr id="30" name="Text 27"/>
          <p:cNvSpPr txBox="1"/>
          <p:nvPr/>
        </p:nvSpPr>
        <p:spPr>
          <a:xfrm>
            <a:off x="594360" y="5596128"/>
            <a:ext cx="1463040" cy="603504"/>
          </a:xfrm>
          <a:prstGeom prst="rect">
            <a:avLst/>
          </a:prstGeom>
          <a:noFill/>
          <a:ln/>
        </p:spPr>
        <p:txBody>
          <a:bodyPr wrap="square" lIns="0" tIns="0" rIns="0" bIns="0" rtlCol="0" anchor="ctr"/>
          <a:lstStyle/>
          <a:p>
            <a:pPr indent="0" marL="0">
              <a:buNone/>
            </a:pPr>
            <a:r>
              <a:rPr lang="en-US" sz="1150" dirty="0">
                <a:solidFill>
                  <a:srgbClr val="A3AEBB"/>
                </a:solidFill>
                <a:latin typeface="Calibri" pitchFamily="34" charset="0"/>
                <a:ea typeface="Calibri" pitchFamily="34" charset="-122"/>
                <a:cs typeface="Calibri" pitchFamily="34" charset="-120"/>
              </a:rPr>
              <a:t>Leverage used</a:t>
            </a:r>
            <a:endParaRPr lang="en-US" sz="1150" dirty="0"/>
          </a:p>
        </p:txBody>
      </p:sp>
      <p:sp>
        <p:nvSpPr>
          <p:cNvPr id="31" name="Text 28"/>
          <p:cNvSpPr txBox="1"/>
          <p:nvPr/>
        </p:nvSpPr>
        <p:spPr>
          <a:xfrm>
            <a:off x="2011680" y="5596128"/>
            <a:ext cx="1005840" cy="60350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1.527×</a:t>
            </a:r>
            <a:endParaRPr lang="en-US" sz="1400" dirty="0"/>
          </a:p>
        </p:txBody>
      </p:sp>
      <p:sp>
        <p:nvSpPr>
          <p:cNvPr id="32" name="Text 29"/>
          <p:cNvSpPr txBox="1"/>
          <p:nvPr/>
        </p:nvSpPr>
        <p:spPr>
          <a:xfrm>
            <a:off x="2926080" y="5596128"/>
            <a:ext cx="1051560" cy="603504"/>
          </a:xfrm>
          <a:prstGeom prst="rect">
            <a:avLst/>
          </a:prstGeom>
          <a:noFill/>
          <a:ln/>
        </p:spPr>
        <p:txBody>
          <a:bodyPr wrap="square" lIns="0" tIns="0" rIns="0" bIns="0" rtlCol="0" anchor="ctr"/>
          <a:lstStyle/>
          <a:p>
            <a:pPr indent="0" marL="0">
              <a:buNone/>
            </a:pPr>
            <a:r>
              <a:rPr lang="en-US" sz="950" dirty="0">
                <a:solidFill>
                  <a:srgbClr val="A3AEBB"/>
                </a:solidFill>
                <a:latin typeface="Calibri" pitchFamily="34" charset="0"/>
                <a:ea typeface="Calibri" pitchFamily="34" charset="-122"/>
                <a:cs typeface="Calibri" pitchFamily="34" charset="-120"/>
              </a:rPr>
              <a:t>G prints 1.52</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343400" y="1325880"/>
          <a:ext cx="7388352" cy="914400"/>
        </p:xfrm>
        <a:graphic>
          <a:graphicData uri="http://schemas.openxmlformats.org/drawingml/2006/table">
            <a:tbl>
              <a:tblPr/>
              <a:tblGrid>
                <a:gridCol w="1938528"/>
                <a:gridCol w="1819656"/>
                <a:gridCol w="1810512"/>
                <a:gridCol w="1819656"/>
              </a:tblGrid>
              <a:tr h="365760">
                <a:tc>
                  <a:txBody>
                    <a:bodyPr/>
                    <a:lstStyle/>
                    <a:p>
                      <a:pPr indent="0" marL="0">
                        <a:buNone/>
                      </a:pP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Conservative 1.50×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Normal 1.75×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Aggressive 2.00×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365760">
                <a:tc gridSpan="4">
                  <a:txBody>
                    <a:bodyPr/>
                    <a:lstStyle/>
                    <a:p>
                      <a:pPr indent="0" marL="0">
                        <a:buNone/>
                      </a:pPr>
                      <a:r>
                        <a:rPr lang="en-US" sz="1100" b="1" dirty="0">
                          <a:solidFill>
                            <a:srgbClr val="E5746A"/>
                          </a:solidFill>
                          <a:latin typeface="Calibri" pitchFamily="34" charset="0"/>
                          <a:ea typeface="Calibri" pitchFamily="34" charset="-122"/>
                          <a:cs typeface="Calibri" pitchFamily="34" charset="-120"/>
                        </a:rPr>
                        <a:t>As printed in file 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hMerge="1">
                  <a:tcPr/>
                </a:tc>
                <a:tc hMerge="1">
                  <a:tcPr/>
                </a:tc>
                <a:tc hMerge="1">
                  <a:tcPr/>
                </a:tc>
              </a:tr>
              <a:tr h="365760">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Effective RRR</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1.54×</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1.80×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2.05×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Target price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2,568.10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2,572.00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2,575.75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Net profit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$138.60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$162.00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$184.50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gridSpan="4">
                  <a:txBody>
                    <a:bodyPr/>
                    <a:lstStyle/>
                    <a:p>
                      <a:pPr indent="0" marL="0">
                        <a:buNone/>
                      </a:pPr>
                      <a:r>
                        <a:rPr lang="en-US" sz="1100" b="1" dirty="0">
                          <a:solidFill>
                            <a:srgbClr val="F0A54A"/>
                          </a:solidFill>
                          <a:latin typeface="Calibri" pitchFamily="34" charset="0"/>
                          <a:ea typeface="Calibri" pitchFamily="34" charset="-122"/>
                          <a:cs typeface="Calibri" pitchFamily="34" charset="-120"/>
                        </a:rPr>
                        <a:t>G’s own formulas, applied correctly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hMerge="1">
                  <a:tcPr/>
                </a:tc>
                <a:tc hMerge="1">
                  <a:tcPr/>
                </a:tc>
                <a:tc hMerge="1">
                  <a:tcPr/>
                </a:tc>
              </a:tr>
              <a:tr h="365760">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Target price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2,567.54</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2,571.29</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2,575.04</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Net profit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$134.98</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$157.48</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$179.98</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gridSpan="4">
                  <a:txBody>
                    <a:bodyPr/>
                    <a:lstStyle/>
                    <a:p>
                      <a:pPr indent="0" marL="0">
                        <a:buNone/>
                      </a:pPr>
                      <a:r>
                        <a:rPr lang="en-US" sz="1100" b="1" dirty="0">
                          <a:solidFill>
                            <a:srgbClr val="E2B54E"/>
                          </a:solidFill>
                          <a:latin typeface="Calibri" pitchFamily="34" charset="0"/>
                          <a:ea typeface="Calibri" pitchFamily="34" charset="-122"/>
                          <a:cs typeface="Calibri" pitchFamily="34" charset="-120"/>
                        </a:rPr>
                        <a:t>Proposed: net profit = RRR × actual loss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hMerge="1">
                  <a:tcPr/>
                </a:tc>
                <a:tc hMerge="1">
                  <a:tcPr/>
                </a:tc>
                <a:tc hMerge="1">
                  <a:tcPr/>
                </a:tc>
              </a:tr>
              <a:tr h="365760">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Target distance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EF1F4"/>
                          </a:solidFill>
                          <a:latin typeface="Calibri" pitchFamily="34" charset="0"/>
                          <a:ea typeface="Calibri" pitchFamily="34" charset="-122"/>
                          <a:cs typeface="Calibri" pitchFamily="34" charset="-120"/>
                        </a:rPr>
                        <a:t>$22.60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EF1F4"/>
                          </a:solidFill>
                          <a:latin typeface="Calibri" pitchFamily="34" charset="0"/>
                          <a:ea typeface="Calibri" pitchFamily="34" charset="-122"/>
                          <a:cs typeface="Calibri" pitchFamily="34" charset="-120"/>
                        </a:rPr>
                        <a:t>$26.36</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EF1F4"/>
                          </a:solidFill>
                          <a:latin typeface="Calibri" pitchFamily="34" charset="0"/>
                          <a:ea typeface="Calibri" pitchFamily="34" charset="-122"/>
                          <a:cs typeface="Calibri" pitchFamily="34" charset="-120"/>
                        </a:rPr>
                        <a:t>$30.12</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Target price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EF1F4"/>
                          </a:solidFill>
                          <a:latin typeface="Calibri" pitchFamily="34" charset="0"/>
                          <a:ea typeface="Calibri" pitchFamily="34" charset="-122"/>
                          <a:cs typeface="Calibri" pitchFamily="34" charset="-120"/>
                        </a:rPr>
                        <a:t>2,567.60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EF1F4"/>
                          </a:solidFill>
                          <a:latin typeface="Calibri" pitchFamily="34" charset="0"/>
                          <a:ea typeface="Calibri" pitchFamily="34" charset="-122"/>
                          <a:cs typeface="Calibri" pitchFamily="34" charset="-120"/>
                        </a:rPr>
                        <a:t>2,571.36</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EF1F4"/>
                          </a:solidFill>
                          <a:latin typeface="Calibri" pitchFamily="34" charset="0"/>
                          <a:ea typeface="Calibri" pitchFamily="34" charset="-122"/>
                          <a:cs typeface="Calibri" pitchFamily="34" charset="-120"/>
                        </a:rPr>
                        <a:t>2,575.12</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Net profit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EF1F4"/>
                          </a:solidFill>
                          <a:latin typeface="Calibri" pitchFamily="34" charset="0"/>
                          <a:ea typeface="Calibri" pitchFamily="34" charset="-122"/>
                          <a:cs typeface="Calibri" pitchFamily="34" charset="-120"/>
                        </a:rPr>
                        <a:t>$135.36</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EF1F4"/>
                          </a:solidFill>
                          <a:latin typeface="Calibri" pitchFamily="34" charset="0"/>
                          <a:ea typeface="Calibri" pitchFamily="34" charset="-122"/>
                          <a:cs typeface="Calibri" pitchFamily="34" charset="-120"/>
                        </a:rPr>
                        <a:t>$157.92</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EF1F4"/>
                          </a:solidFill>
                          <a:latin typeface="Calibri" pitchFamily="34" charset="0"/>
                          <a:ea typeface="Calibri" pitchFamily="34" charset="-122"/>
                          <a:cs typeface="Calibri" pitchFamily="34" charset="-120"/>
                        </a:rPr>
                        <a:t>$180.48</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
        <p:nvSpPr>
          <p:cNvPr id="34" name="Text 30"/>
          <p:cNvSpPr txBox="1"/>
          <p:nvPr/>
        </p:nvSpPr>
        <p:spPr>
          <a:xfrm>
            <a:off x="4343400" y="5806440"/>
            <a:ext cx="7388352" cy="457200"/>
          </a:xfrm>
          <a:prstGeom prst="rect">
            <a:avLst/>
          </a:prstGeom>
          <a:noFill/>
          <a:ln/>
        </p:spPr>
        <p:txBody>
          <a:bodyPr wrap="square" lIns="0" tIns="0" rIns="0" bIns="0" rtlCol="0" anchor="t"/>
          <a:lstStyle/>
          <a:p>
            <a:pPr indent="0" marL="0">
              <a:buNone/>
            </a:pPr>
            <a:r>
              <a:rPr lang="en-US" sz="1150" b="1" dirty="0">
                <a:solidFill>
                  <a:srgbClr val="E2B54E"/>
                </a:solidFill>
                <a:latin typeface="Calibri" pitchFamily="34" charset="0"/>
                <a:ea typeface="Calibri" pitchFamily="34" charset="-122"/>
                <a:cs typeface="Calibri" pitchFamily="34" charset="-120"/>
              </a:rPr>
              <a:t>The RRR the trader sees is then exactly net profit ÷ actual loss, both after commission and rounding.</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LOTS BELOW 0.01</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The underflow help stays inside the trader’s limits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10</a:t>
            </a:r>
            <a:endParaRPr lang="en-US" sz="1000" dirty="0"/>
          </a:p>
        </p:txBody>
      </p:sp>
      <p:sp>
        <p:nvSpPr>
          <p:cNvPr id="8" name="Shape 5"/>
          <p:cNvSpPr/>
          <p:nvPr/>
        </p:nvSpPr>
        <p:spPr>
          <a:xfrm>
            <a:off x="457200" y="1325880"/>
            <a:ext cx="11274552" cy="868680"/>
          </a:xfrm>
          <a:prstGeom prst="roundRect">
            <a:avLst>
              <a:gd name="adj" fmla="val 7368"/>
            </a:avLst>
          </a:prstGeom>
          <a:solidFill>
            <a:srgbClr val="1D242E"/>
          </a:solidFill>
          <a:ln w="9525">
            <a:solidFill>
              <a:srgbClr val="323C49"/>
            </a:solidFill>
            <a:prstDash val="solid"/>
          </a:ln>
        </p:spPr>
      </p:sp>
      <p:sp>
        <p:nvSpPr>
          <p:cNvPr id="9" name="Text 6"/>
          <p:cNvSpPr txBox="1"/>
          <p:nvPr/>
        </p:nvSpPr>
        <p:spPr>
          <a:xfrm>
            <a:off x="640080" y="1325880"/>
            <a:ext cx="10972800" cy="868680"/>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File G’s case:  </a:t>
            </a:r>
            <a:pPr indent="0" marL="0">
              <a:buNone/>
            </a:pPr>
            <a:r>
              <a:rPr lang="en-US" sz="1250" dirty="0">
                <a:solidFill>
                  <a:srgbClr val="EEF1F4"/>
                </a:solidFill>
                <a:latin typeface="Calibri" pitchFamily="34" charset="0"/>
                <a:ea typeface="Calibri" pitchFamily="34" charset="-122"/>
                <a:cs typeface="Calibri" pitchFamily="34" charset="-120"/>
              </a:rPr>
              <a:t>$500 equity · 0.50% risk = $2.50 · $15.00 stop · $4 commission → 0.0017 lot. One 0.01 lot would lose $15.04, i.e. 3.01%.</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423160"/>
          <a:ext cx="11274552" cy="914400"/>
        </p:xfrm>
        <a:graphic>
          <a:graphicData uri="http://schemas.openxmlformats.org/drawingml/2006/table">
            <a:tbl>
              <a:tblPr/>
              <a:tblGrid>
                <a:gridCol w="548640"/>
                <a:gridCol w="3291840"/>
                <a:gridCol w="7434072"/>
              </a:tblGrid>
              <a:tr h="32918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File G option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Revised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566928">
                <a:tc>
                  <a:txBody>
                    <a:bodyPr/>
                    <a:lstStyle/>
                    <a:p>
                      <a:pPr algn="ctr" indent="0" marL="0">
                        <a:buNone/>
                      </a:pPr>
                      <a:r>
                        <a:rPr lang="en-US" sz="1200" b="1" dirty="0">
                          <a:solidFill>
                            <a:srgbClr val="E2B54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200" b="1" dirty="0">
                          <a:solidFill>
                            <a:srgbClr val="EEF1F4"/>
                          </a:solidFill>
                          <a:latin typeface="Calibri" pitchFamily="34" charset="0"/>
                          <a:ea typeface="Calibri" pitchFamily="34" charset="-122"/>
                          <a:cs typeface="Calibri" pitchFamily="34" charset="-120"/>
                        </a:rPr>
                        <a:t>Raise risk to 3.01% ($15.04)</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200" dirty="0">
                          <a:solidFill>
                            <a:srgbClr val="EEF1F4"/>
                          </a:solidFill>
                          <a:latin typeface="Calibri" pitchFamily="34" charset="0"/>
                          <a:ea typeface="Calibri" pitchFamily="34" charset="-122"/>
                          <a:cs typeface="Calibri" pitchFamily="34" charset="-120"/>
                        </a:rPr>
                        <a:t>Shown only when the needed risk is at or under Max RPT. Here 3.01% &gt; 2.00%, so it isn’t offered.</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566928">
                <a:tc>
                  <a:txBody>
                    <a:bodyPr/>
                    <a:lstStyle/>
                    <a:p>
                      <a:pPr algn="ctr" indent="0" marL="0">
                        <a:buNone/>
                      </a:pPr>
                      <a:r>
                        <a:rPr lang="en-US" sz="1200" b="1" dirty="0">
                          <a:solidFill>
                            <a:srgbClr val="E2B54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200" b="1" dirty="0">
                          <a:solidFill>
                            <a:srgbClr val="EEF1F4"/>
                          </a:solidFill>
                          <a:latin typeface="Calibri" pitchFamily="34" charset="0"/>
                          <a:ea typeface="Calibri" pitchFamily="34" charset="-122"/>
                          <a:cs typeface="Calibri" pitchFamily="34" charset="-120"/>
                        </a:rPr>
                        <a:t>Tighten the stop</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200" dirty="0">
                          <a:solidFill>
                            <a:srgbClr val="EEF1F4"/>
                          </a:solidFill>
                          <a:latin typeface="Calibri" pitchFamily="34" charset="0"/>
                          <a:ea typeface="Calibri" pitchFamily="34" charset="-122"/>
                          <a:cs typeface="Calibri" pitchFamily="34" charset="-120"/>
                        </a:rPr>
                        <a:t>Only a nearer structural stop at or beyond Min SLD; no arbitrary tightening.</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566928">
                <a:tc>
                  <a:txBody>
                    <a:bodyPr/>
                    <a:lstStyle/>
                    <a:p>
                      <a:pPr algn="ctr" indent="0" marL="0">
                        <a:buNone/>
                      </a:pPr>
                      <a:r>
                        <a:rPr lang="en-US" sz="1200" b="1" dirty="0">
                          <a:solidFill>
                            <a:srgbClr val="E2B54E"/>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200" b="1" dirty="0">
                          <a:solidFill>
                            <a:srgbClr val="EEF1F4"/>
                          </a:solidFill>
                          <a:latin typeface="Calibri" pitchFamily="34" charset="0"/>
                          <a:ea typeface="Calibri" pitchFamily="34" charset="-122"/>
                          <a:cs typeface="Calibri" pitchFamily="34" charset="-120"/>
                        </a:rPr>
                        <a:t>Set equity to $3,008</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200" dirty="0">
                          <a:solidFill>
                            <a:srgbClr val="E5746A"/>
                          </a:solidFill>
                          <a:latin typeface="Calibri" pitchFamily="34" charset="0"/>
                          <a:ea typeface="Calibri" pitchFamily="34" charset="-122"/>
                          <a:cs typeface="Calibri" pitchFamily="34" charset="-120"/>
                        </a:rPr>
                        <a:t>Removed as a button. Shown as a fact: “this setup needs at least $3,008 of equity at 0.50% risk”.</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566928">
                <a:tc>
                  <a:txBody>
                    <a:bodyPr/>
                    <a:lstStyle/>
                    <a:p>
                      <a:pPr algn="ctr" indent="0" marL="0">
                        <a:buNone/>
                      </a:pPr>
                      <a:r>
                        <a:rPr lang="en-US" sz="1200" b="1" dirty="0">
                          <a:solidFill>
                            <a:srgbClr val="E2B54E"/>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200" b="1" dirty="0">
                          <a:solidFill>
                            <a:srgbClr val="EEF1F4"/>
                          </a:solidFill>
                          <a:latin typeface="Calibri" pitchFamily="34" charset="0"/>
                          <a:ea typeface="Calibri" pitchFamily="34" charset="-122"/>
                          <a:cs typeface="Calibri" pitchFamily="34" charset="-120"/>
                        </a:rPr>
                        <a:t>Decline the setup</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200" dirty="0">
                          <a:solidFill>
                            <a:srgbClr val="EEF1F4"/>
                          </a:solidFill>
                          <a:latin typeface="Calibri" pitchFamily="34" charset="0"/>
                          <a:ea typeface="Calibri" pitchFamily="34" charset="-122"/>
                          <a:cs typeface="Calibri" pitchFamily="34" charset="-120"/>
                        </a:rPr>
                        <a:t>Kept.</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566928">
                <a:tc>
                  <a:txBody>
                    <a:bodyPr/>
                    <a:lstStyle/>
                    <a:p>
                      <a:pPr algn="ctr" indent="0" marL="0">
                        <a:buNone/>
                      </a:pPr>
                      <a:r>
                        <a:rPr lang="en-US" sz="1200" b="1" dirty="0">
                          <a:solidFill>
                            <a:srgbClr val="E2B54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200" b="1" dirty="0">
                          <a:solidFill>
                            <a:srgbClr val="EEF1F4"/>
                          </a:solidFill>
                          <a:latin typeface="Calibri" pitchFamily="34" charset="0"/>
                          <a:ea typeface="Calibri" pitchFamily="34" charset="-122"/>
                          <a:cs typeface="Calibri" pitchFamily="34" charset="-120"/>
                        </a:rPr>
                        <a:t>Never round up to 0.01</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200" dirty="0">
                          <a:solidFill>
                            <a:srgbClr val="EEF1F4"/>
                          </a:solidFill>
                          <a:latin typeface="Calibri" pitchFamily="34" charset="0"/>
                          <a:ea typeface="Calibri" pitchFamily="34" charset="-122"/>
                          <a:cs typeface="Calibri" pitchFamily="34" charset="-120"/>
                        </a:rPr>
                        <a:t>Kept: G’s own rule.</a:t>
                      </a:r>
                      <a:endParaRPr lang="en-US" sz="12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
        <p:nvSpPr>
          <p:cNvPr id="11" name="Text 7"/>
          <p:cNvSpPr txBox="1"/>
          <p:nvPr/>
        </p:nvSpPr>
        <p:spPr>
          <a:xfrm>
            <a:off x="457200" y="5806440"/>
            <a:ext cx="11274552" cy="457200"/>
          </a:xfrm>
          <a:prstGeom prst="rect">
            <a:avLst/>
          </a:prstGeom>
          <a:noFill/>
          <a:ln/>
        </p:spPr>
        <p:txBody>
          <a:bodyPr wrap="square" lIns="0" tIns="0" rIns="0" bIns="0" rtlCol="0" anchor="t"/>
          <a:lstStyle/>
          <a:p>
            <a:pPr indent="0" marL="0">
              <a:buNone/>
            </a:pPr>
            <a:r>
              <a:rPr lang="en-US" sz="1200" b="1" dirty="0">
                <a:solidFill>
                  <a:srgbClr val="E2B54E"/>
                </a:solidFill>
                <a:latin typeface="Calibri" pitchFamily="34" charset="0"/>
                <a:ea typeface="Calibri" pitchFamily="34" charset="-122"/>
                <a:cs typeface="Calibri" pitchFamily="34" charset="-120"/>
              </a:rPr>
              <a:t>Equity is the trader’s real balance. The report never suggests entering a different number to make the maths work.</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BROKER REALISM (E4)</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Broker figures come from MT5, not from constants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11</a:t>
            </a:r>
            <a:endParaRPr lang="en-US" sz="1000" dirty="0"/>
          </a:p>
        </p:txBody>
      </p:sp>
      <p:sp>
        <p:nvSpPr>
          <p:cNvPr id="8" name="Shape 5"/>
          <p:cNvSpPr/>
          <p:nvPr/>
        </p:nvSpPr>
        <p:spPr>
          <a:xfrm>
            <a:off x="457200" y="1325880"/>
            <a:ext cx="5760720" cy="4956048"/>
          </a:xfrm>
          <a:prstGeom prst="roundRect">
            <a:avLst>
              <a:gd name="adj" fmla="val 1292"/>
            </a:avLst>
          </a:prstGeom>
          <a:solidFill>
            <a:srgbClr val="161C24"/>
          </a:solidFill>
          <a:ln w="9525">
            <a:solidFill>
              <a:srgbClr val="323C49"/>
            </a:solidFill>
            <a:prstDash val="solid"/>
          </a:ln>
        </p:spPr>
      </p:sp>
      <p:sp>
        <p:nvSpPr>
          <p:cNvPr id="9" name="Text 6"/>
          <p:cNvSpPr txBox="1"/>
          <p:nvPr/>
        </p:nvSpPr>
        <p:spPr>
          <a:xfrm>
            <a:off x="640080" y="1426464"/>
            <a:ext cx="5486400" cy="237744"/>
          </a:xfrm>
          <a:prstGeom prst="rect">
            <a:avLst/>
          </a:prstGeom>
          <a:noFill/>
          <a:ln/>
        </p:spPr>
        <p:txBody>
          <a:bodyPr wrap="square" lIns="0" tIns="0" rIns="0" bIns="0" rtlCol="0" anchor="t"/>
          <a:lstStyle/>
          <a:p>
            <a:pPr indent="0" marL="0">
              <a:buNone/>
            </a:pPr>
            <a:r>
              <a:rPr lang="en-US" sz="950" b="1" spc="150" kern="0" dirty="0">
                <a:solidFill>
                  <a:srgbClr val="A3AEBB"/>
                </a:solidFill>
                <a:latin typeface="Calibri" pitchFamily="34" charset="0"/>
                <a:ea typeface="Calibri" pitchFamily="34" charset="-122"/>
                <a:cs typeface="Calibri" pitchFamily="34" charset="-120"/>
              </a:rPr>
              <a:t>symbol_specs · FILLED BY THE COLLECTOR</a:t>
            </a:r>
            <a:endParaRPr lang="en-US" sz="950" dirty="0"/>
          </a:p>
        </p:txBody>
      </p:sp>
      <p:sp>
        <p:nvSpPr>
          <p:cNvPr id="10" name="Text 7"/>
          <p:cNvSpPr txBox="1"/>
          <p:nvPr/>
        </p:nvSpPr>
        <p:spPr>
          <a:xfrm>
            <a:off x="640080" y="1810512"/>
            <a:ext cx="2377440" cy="512064"/>
          </a:xfrm>
          <a:prstGeom prst="rect">
            <a:avLst/>
          </a:prstGeom>
          <a:noFill/>
          <a:ln/>
        </p:spPr>
        <p:txBody>
          <a:bodyPr wrap="square" lIns="0" tIns="0" rIns="0" bIns="0" rtlCol="0" anchor="ctr"/>
          <a:lstStyle/>
          <a:p>
            <a:pPr indent="0" marL="0">
              <a:buNone/>
            </a:pPr>
            <a:r>
              <a:rPr lang="en-US" sz="1150" b="1" dirty="0">
                <a:solidFill>
                  <a:srgbClr val="EEF1F4"/>
                </a:solidFill>
                <a:latin typeface="Courier New" pitchFamily="34" charset="0"/>
                <a:ea typeface="Courier New" pitchFamily="34" charset="-122"/>
                <a:cs typeface="Courier New" pitchFamily="34" charset="-120"/>
              </a:rPr>
              <a:t>contract_size</a:t>
            </a:r>
            <a:endParaRPr lang="en-US" sz="1150" dirty="0"/>
          </a:p>
        </p:txBody>
      </p:sp>
      <p:sp>
        <p:nvSpPr>
          <p:cNvPr id="11" name="Text 8"/>
          <p:cNvSpPr txBox="1"/>
          <p:nvPr/>
        </p:nvSpPr>
        <p:spPr>
          <a:xfrm>
            <a:off x="3017520" y="1810512"/>
            <a:ext cx="3108960" cy="512064"/>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SYMBOL_TRADE_CONTRACT_SIZE</a:t>
            </a:r>
            <a:endParaRPr lang="en-US" sz="1050" dirty="0"/>
          </a:p>
        </p:txBody>
      </p:sp>
      <p:sp>
        <p:nvSpPr>
          <p:cNvPr id="12" name="Text 9"/>
          <p:cNvSpPr txBox="1"/>
          <p:nvPr/>
        </p:nvSpPr>
        <p:spPr>
          <a:xfrm>
            <a:off x="640080" y="2414016"/>
            <a:ext cx="2377440" cy="512064"/>
          </a:xfrm>
          <a:prstGeom prst="rect">
            <a:avLst/>
          </a:prstGeom>
          <a:noFill/>
          <a:ln/>
        </p:spPr>
        <p:txBody>
          <a:bodyPr wrap="square" lIns="0" tIns="0" rIns="0" bIns="0" rtlCol="0" anchor="ctr"/>
          <a:lstStyle/>
          <a:p>
            <a:pPr indent="0" marL="0">
              <a:buNone/>
            </a:pPr>
            <a:r>
              <a:rPr lang="en-US" sz="1150" b="1" dirty="0">
                <a:solidFill>
                  <a:srgbClr val="EEF1F4"/>
                </a:solidFill>
                <a:latin typeface="Courier New" pitchFamily="34" charset="0"/>
                <a:ea typeface="Courier New" pitchFamily="34" charset="-122"/>
                <a:cs typeface="Courier New" pitchFamily="34" charset="-120"/>
              </a:rPr>
              <a:t>volume_min / step / max</a:t>
            </a:r>
            <a:endParaRPr lang="en-US" sz="1150" dirty="0"/>
          </a:p>
        </p:txBody>
      </p:sp>
      <p:sp>
        <p:nvSpPr>
          <p:cNvPr id="13" name="Text 10"/>
          <p:cNvSpPr txBox="1"/>
          <p:nvPr/>
        </p:nvSpPr>
        <p:spPr>
          <a:xfrm>
            <a:off x="3017520" y="2414016"/>
            <a:ext cx="3108960" cy="512064"/>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SYMBOL_VOLUME_MIN / _STEP / _MAX</a:t>
            </a:r>
            <a:endParaRPr lang="en-US" sz="1050" dirty="0"/>
          </a:p>
        </p:txBody>
      </p:sp>
      <p:sp>
        <p:nvSpPr>
          <p:cNvPr id="14" name="Text 11"/>
          <p:cNvSpPr txBox="1"/>
          <p:nvPr/>
        </p:nvSpPr>
        <p:spPr>
          <a:xfrm>
            <a:off x="640080" y="3017520"/>
            <a:ext cx="2377440" cy="512064"/>
          </a:xfrm>
          <a:prstGeom prst="rect">
            <a:avLst/>
          </a:prstGeom>
          <a:noFill/>
          <a:ln/>
        </p:spPr>
        <p:txBody>
          <a:bodyPr wrap="square" lIns="0" tIns="0" rIns="0" bIns="0" rtlCol="0" anchor="ctr"/>
          <a:lstStyle/>
          <a:p>
            <a:pPr indent="0" marL="0">
              <a:buNone/>
            </a:pPr>
            <a:r>
              <a:rPr lang="en-US" sz="1150" b="1" dirty="0">
                <a:solidFill>
                  <a:srgbClr val="EEF1F4"/>
                </a:solidFill>
                <a:latin typeface="Courier New" pitchFamily="34" charset="0"/>
                <a:ea typeface="Courier New" pitchFamily="34" charset="-122"/>
                <a:cs typeface="Courier New" pitchFamily="34" charset="-120"/>
              </a:rPr>
              <a:t>tick_size</a:t>
            </a:r>
            <a:endParaRPr lang="en-US" sz="1150" dirty="0"/>
          </a:p>
        </p:txBody>
      </p:sp>
      <p:sp>
        <p:nvSpPr>
          <p:cNvPr id="15" name="Text 12"/>
          <p:cNvSpPr txBox="1"/>
          <p:nvPr/>
        </p:nvSpPr>
        <p:spPr>
          <a:xfrm>
            <a:off x="3017520" y="3017520"/>
            <a:ext cx="3108960" cy="512064"/>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SYMBOL_TRADE_TICK_SIZE</a:t>
            </a:r>
            <a:endParaRPr lang="en-US" sz="1050" dirty="0"/>
          </a:p>
        </p:txBody>
      </p:sp>
      <p:sp>
        <p:nvSpPr>
          <p:cNvPr id="16" name="Text 13"/>
          <p:cNvSpPr txBox="1"/>
          <p:nvPr/>
        </p:nvSpPr>
        <p:spPr>
          <a:xfrm>
            <a:off x="640080" y="3621024"/>
            <a:ext cx="2377440" cy="512064"/>
          </a:xfrm>
          <a:prstGeom prst="rect">
            <a:avLst/>
          </a:prstGeom>
          <a:noFill/>
          <a:ln/>
        </p:spPr>
        <p:txBody>
          <a:bodyPr wrap="square" lIns="0" tIns="0" rIns="0" bIns="0" rtlCol="0" anchor="ctr"/>
          <a:lstStyle/>
          <a:p>
            <a:pPr indent="0" marL="0">
              <a:buNone/>
            </a:pPr>
            <a:r>
              <a:rPr lang="en-US" sz="1150" b="1" dirty="0">
                <a:solidFill>
                  <a:srgbClr val="EEF1F4"/>
                </a:solidFill>
                <a:latin typeface="Courier New" pitchFamily="34" charset="0"/>
                <a:ea typeface="Courier New" pitchFamily="34" charset="-122"/>
                <a:cs typeface="Courier New" pitchFamily="34" charset="-120"/>
              </a:rPr>
              <a:t>typical_spread</a:t>
            </a:r>
            <a:endParaRPr lang="en-US" sz="1150" dirty="0"/>
          </a:p>
        </p:txBody>
      </p:sp>
      <p:sp>
        <p:nvSpPr>
          <p:cNvPr id="17" name="Text 14"/>
          <p:cNvSpPr txBox="1"/>
          <p:nvPr/>
        </p:nvSpPr>
        <p:spPr>
          <a:xfrm>
            <a:off x="3017520" y="3621024"/>
            <a:ext cx="3108960" cy="512064"/>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median of SYMBOL_SPREAD per cycle</a:t>
            </a:r>
            <a:endParaRPr lang="en-US" sz="1050" dirty="0"/>
          </a:p>
        </p:txBody>
      </p:sp>
      <p:sp>
        <p:nvSpPr>
          <p:cNvPr id="18" name="Text 15"/>
          <p:cNvSpPr txBox="1"/>
          <p:nvPr/>
        </p:nvSpPr>
        <p:spPr>
          <a:xfrm>
            <a:off x="640080" y="4224528"/>
            <a:ext cx="2377440" cy="512064"/>
          </a:xfrm>
          <a:prstGeom prst="rect">
            <a:avLst/>
          </a:prstGeom>
          <a:noFill/>
          <a:ln/>
        </p:spPr>
        <p:txBody>
          <a:bodyPr wrap="square" lIns="0" tIns="0" rIns="0" bIns="0" rtlCol="0" anchor="ctr"/>
          <a:lstStyle/>
          <a:p>
            <a:pPr indent="0" marL="0">
              <a:buNone/>
            </a:pPr>
            <a:r>
              <a:rPr lang="en-US" sz="1150" b="1" dirty="0">
                <a:solidFill>
                  <a:srgbClr val="EEF1F4"/>
                </a:solidFill>
                <a:latin typeface="Courier New" pitchFamily="34" charset="0"/>
                <a:ea typeface="Courier New" pitchFamily="34" charset="-122"/>
                <a:cs typeface="Courier New" pitchFamily="34" charset="-120"/>
              </a:rPr>
              <a:t>swap_long / swap_short</a:t>
            </a:r>
            <a:endParaRPr lang="en-US" sz="1150" dirty="0"/>
          </a:p>
        </p:txBody>
      </p:sp>
      <p:sp>
        <p:nvSpPr>
          <p:cNvPr id="19" name="Text 16"/>
          <p:cNvSpPr txBox="1"/>
          <p:nvPr/>
        </p:nvSpPr>
        <p:spPr>
          <a:xfrm>
            <a:off x="3017520" y="4224528"/>
            <a:ext cx="3108960" cy="512064"/>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SYMBOL_SWAP_LONG / _SHORT</a:t>
            </a:r>
            <a:endParaRPr lang="en-US" sz="1050" dirty="0"/>
          </a:p>
        </p:txBody>
      </p:sp>
      <p:sp>
        <p:nvSpPr>
          <p:cNvPr id="20" name="Text 17"/>
          <p:cNvSpPr txBox="1"/>
          <p:nvPr/>
        </p:nvSpPr>
        <p:spPr>
          <a:xfrm>
            <a:off x="640080" y="4828032"/>
            <a:ext cx="2377440" cy="512064"/>
          </a:xfrm>
          <a:prstGeom prst="rect">
            <a:avLst/>
          </a:prstGeom>
          <a:noFill/>
          <a:ln/>
        </p:spPr>
        <p:txBody>
          <a:bodyPr wrap="square" lIns="0" tIns="0" rIns="0" bIns="0" rtlCol="0" anchor="ctr"/>
          <a:lstStyle/>
          <a:p>
            <a:pPr indent="0" marL="0">
              <a:buNone/>
            </a:pPr>
            <a:r>
              <a:rPr lang="en-US" sz="1150" b="1" dirty="0">
                <a:solidFill>
                  <a:srgbClr val="EEF1F4"/>
                </a:solidFill>
                <a:latin typeface="Courier New" pitchFamily="34" charset="0"/>
                <a:ea typeface="Courier New" pitchFamily="34" charset="-122"/>
                <a:cs typeface="Courier New" pitchFamily="34" charset="-120"/>
              </a:rPr>
              <a:t>commission</a:t>
            </a:r>
            <a:endParaRPr lang="en-US" sz="1150" dirty="0"/>
          </a:p>
        </p:txBody>
      </p:sp>
      <p:sp>
        <p:nvSpPr>
          <p:cNvPr id="21" name="Text 18"/>
          <p:cNvSpPr txBox="1"/>
          <p:nvPr/>
        </p:nvSpPr>
        <p:spPr>
          <a:xfrm>
            <a:off x="3017520" y="4828032"/>
            <a:ext cx="3108960" cy="512064"/>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the trader’s input (not in MT5)</a:t>
            </a:r>
            <a:endParaRPr lang="en-US" sz="1050" dirty="0"/>
          </a:p>
        </p:txBody>
      </p:sp>
      <p:sp>
        <p:nvSpPr>
          <p:cNvPr id="22" name="Text 19"/>
          <p:cNvSpPr txBox="1"/>
          <p:nvPr/>
        </p:nvSpPr>
        <p:spPr>
          <a:xfrm>
            <a:off x="640080" y="5431536"/>
            <a:ext cx="2377440" cy="512064"/>
          </a:xfrm>
          <a:prstGeom prst="rect">
            <a:avLst/>
          </a:prstGeom>
          <a:noFill/>
          <a:ln/>
        </p:spPr>
        <p:txBody>
          <a:bodyPr wrap="square" lIns="0" tIns="0" rIns="0" bIns="0" rtlCol="0" anchor="ctr"/>
          <a:lstStyle/>
          <a:p>
            <a:pPr indent="0" marL="0">
              <a:buNone/>
            </a:pPr>
            <a:r>
              <a:rPr lang="en-US" sz="1150" b="1" dirty="0">
                <a:solidFill>
                  <a:srgbClr val="EEF1F4"/>
                </a:solidFill>
                <a:latin typeface="Courier New" pitchFamily="34" charset="0"/>
                <a:ea typeface="Courier New" pitchFamily="34" charset="-122"/>
                <a:cs typeface="Courier New" pitchFamily="34" charset="-120"/>
              </a:rPr>
              <a:t>captured_at · version</a:t>
            </a:r>
            <a:endParaRPr lang="en-US" sz="1150" dirty="0"/>
          </a:p>
        </p:txBody>
      </p:sp>
      <p:sp>
        <p:nvSpPr>
          <p:cNvPr id="23" name="Text 20"/>
          <p:cNvSpPr txBox="1"/>
          <p:nvPr/>
        </p:nvSpPr>
        <p:spPr>
          <a:xfrm>
            <a:off x="3017520" y="5431536"/>
            <a:ext cx="3108960" cy="512064"/>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recorded with each setup</a:t>
            </a:r>
            <a:endParaRPr lang="en-US" sz="1050" dirty="0"/>
          </a:p>
        </p:txBody>
      </p:sp>
      <p:sp>
        <p:nvSpPr>
          <p:cNvPr id="24" name="Shape 21"/>
          <p:cNvSpPr/>
          <p:nvPr/>
        </p:nvSpPr>
        <p:spPr>
          <a:xfrm>
            <a:off x="6446520" y="1325880"/>
            <a:ext cx="5285232" cy="1243584"/>
          </a:xfrm>
          <a:prstGeom prst="roundRect">
            <a:avLst>
              <a:gd name="adj" fmla="val 5147"/>
            </a:avLst>
          </a:prstGeom>
          <a:solidFill>
            <a:srgbClr val="1D242E"/>
          </a:solidFill>
          <a:ln w="9525">
            <a:solidFill>
              <a:srgbClr val="323C49"/>
            </a:solidFill>
            <a:prstDash val="solid"/>
          </a:ln>
        </p:spPr>
      </p:sp>
      <p:sp>
        <p:nvSpPr>
          <p:cNvPr id="25" name="Text 22"/>
          <p:cNvSpPr txBox="1"/>
          <p:nvPr/>
        </p:nvSpPr>
        <p:spPr>
          <a:xfrm>
            <a:off x="6601968" y="1417320"/>
            <a:ext cx="4937760" cy="34747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Lot size from the specs</a:t>
            </a:r>
            <a:endParaRPr lang="en-US" sz="1250" dirty="0"/>
          </a:p>
        </p:txBody>
      </p:sp>
      <p:sp>
        <p:nvSpPr>
          <p:cNvPr id="26" name="Text 23"/>
          <p:cNvSpPr txBox="1"/>
          <p:nvPr/>
        </p:nvSpPr>
        <p:spPr>
          <a:xfrm>
            <a:off x="6601968" y="1801368"/>
            <a:ext cx="4983480" cy="73152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Contract size and lot step come from the table, so a broker with a different contract changes the maths, not the code.</a:t>
            </a:r>
            <a:endParaRPr lang="en-US" sz="1100" dirty="0"/>
          </a:p>
        </p:txBody>
      </p:sp>
      <p:sp>
        <p:nvSpPr>
          <p:cNvPr id="27" name="Shape 24"/>
          <p:cNvSpPr/>
          <p:nvPr/>
        </p:nvSpPr>
        <p:spPr>
          <a:xfrm>
            <a:off x="6446520" y="2697480"/>
            <a:ext cx="5285232" cy="1243584"/>
          </a:xfrm>
          <a:prstGeom prst="roundRect">
            <a:avLst>
              <a:gd name="adj" fmla="val 5147"/>
            </a:avLst>
          </a:prstGeom>
          <a:solidFill>
            <a:srgbClr val="1D242E"/>
          </a:solidFill>
          <a:ln w="9525">
            <a:solidFill>
              <a:srgbClr val="323C49"/>
            </a:solidFill>
            <a:prstDash val="solid"/>
          </a:ln>
        </p:spPr>
      </p:sp>
      <p:sp>
        <p:nvSpPr>
          <p:cNvPr id="28" name="Text 25"/>
          <p:cNvSpPr txBox="1"/>
          <p:nvPr/>
        </p:nvSpPr>
        <p:spPr>
          <a:xfrm>
            <a:off x="6601968" y="2788920"/>
            <a:ext cx="4937760" cy="34747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Spread where it triggers</a:t>
            </a:r>
            <a:endParaRPr lang="en-US" sz="1250" dirty="0"/>
          </a:p>
        </p:txBody>
      </p:sp>
      <p:sp>
        <p:nvSpPr>
          <p:cNvPr id="29" name="Text 26"/>
          <p:cNvSpPr txBox="1"/>
          <p:nvPr/>
        </p:nvSpPr>
        <p:spPr>
          <a:xfrm>
            <a:off x="6601968" y="3172968"/>
            <a:ext cx="4983480" cy="73152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Chart prices are bid. A BUY fills on the ask; a SELL’s stop and target trigger on the ask. The report shows the spread used.</a:t>
            </a:r>
            <a:endParaRPr lang="en-US" sz="1100" dirty="0"/>
          </a:p>
        </p:txBody>
      </p:sp>
      <p:sp>
        <p:nvSpPr>
          <p:cNvPr id="30" name="Shape 27"/>
          <p:cNvSpPr/>
          <p:nvPr/>
        </p:nvSpPr>
        <p:spPr>
          <a:xfrm>
            <a:off x="6446520" y="4069080"/>
            <a:ext cx="5285232" cy="1243584"/>
          </a:xfrm>
          <a:prstGeom prst="roundRect">
            <a:avLst>
              <a:gd name="adj" fmla="val 5147"/>
            </a:avLst>
          </a:prstGeom>
          <a:solidFill>
            <a:srgbClr val="1D242E"/>
          </a:solidFill>
          <a:ln w="9525">
            <a:solidFill>
              <a:srgbClr val="323C49"/>
            </a:solidFill>
            <a:prstDash val="solid"/>
          </a:ln>
        </p:spPr>
      </p:sp>
      <p:sp>
        <p:nvSpPr>
          <p:cNvPr id="31" name="Text 28"/>
          <p:cNvSpPr txBox="1"/>
          <p:nvPr/>
        </p:nvSpPr>
        <p:spPr>
          <a:xfrm>
            <a:off x="6601968" y="4160520"/>
            <a:ext cx="4937760" cy="34747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Swap for longer holds</a:t>
            </a:r>
            <a:endParaRPr lang="en-US" sz="1250" dirty="0"/>
          </a:p>
        </p:txBody>
      </p:sp>
      <p:sp>
        <p:nvSpPr>
          <p:cNvPr id="32" name="Text 29"/>
          <p:cNvSpPr txBox="1"/>
          <p:nvPr/>
        </p:nvSpPr>
        <p:spPr>
          <a:xfrm>
            <a:off x="6601968" y="4544568"/>
            <a:ext cx="4983480" cy="73152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A Day Trader setup that can cross the daily rollover shows the swap for its lot.</a:t>
            </a:r>
            <a:endParaRPr lang="en-US" sz="1100" dirty="0"/>
          </a:p>
        </p:txBody>
      </p:sp>
      <p:sp>
        <p:nvSpPr>
          <p:cNvPr id="33" name="Text 30"/>
          <p:cNvSpPr txBox="1"/>
          <p:nvPr/>
        </p:nvSpPr>
        <p:spPr>
          <a:xfrm>
            <a:off x="6446520" y="5577840"/>
            <a:ext cx="5285232" cy="548640"/>
          </a:xfrm>
          <a:prstGeom prst="rect">
            <a:avLst/>
          </a:prstGeom>
          <a:noFill/>
          <a:ln/>
        </p:spPr>
        <p:txBody>
          <a:bodyPr wrap="square" lIns="0" tIns="0" rIns="0" bIns="0" rtlCol="0" anchor="t"/>
          <a:lstStyle/>
          <a:p>
            <a:pPr indent="0" marL="0">
              <a:buNone/>
            </a:pPr>
            <a:r>
              <a:rPr lang="en-US" sz="1100" i="1" dirty="0">
                <a:solidFill>
                  <a:srgbClr val="A3AEBB"/>
                </a:solidFill>
                <a:latin typeface="Calibri" pitchFamily="34" charset="0"/>
                <a:ea typeface="Calibri" pitchFamily="34" charset="-122"/>
                <a:cs typeface="Calibri" pitchFamily="34" charset="-120"/>
              </a:rPr>
              <a:t>Per-broker profiles come later; the default is the feed broker’s specs.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ONE VALIDATOR, ONE TEMPLATE</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Typed or clicked, a setup goes through the same checks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12</a:t>
            </a:r>
            <a:endParaRPr lang="en-US" sz="1000" dirty="0"/>
          </a:p>
        </p:txBody>
      </p:sp>
      <p:sp>
        <p:nvSpPr>
          <p:cNvPr id="8" name="Shape 5"/>
          <p:cNvSpPr/>
          <p:nvPr/>
        </p:nvSpPr>
        <p:spPr>
          <a:xfrm>
            <a:off x="457200" y="1371600"/>
            <a:ext cx="2606040" cy="1188720"/>
          </a:xfrm>
          <a:prstGeom prst="roundRect">
            <a:avLst>
              <a:gd name="adj" fmla="val 5385"/>
            </a:avLst>
          </a:prstGeom>
          <a:solidFill>
            <a:srgbClr val="1D242E"/>
          </a:solidFill>
          <a:ln w="9525">
            <a:solidFill>
              <a:srgbClr val="323C49"/>
            </a:solidFill>
            <a:prstDash val="solid"/>
          </a:ln>
        </p:spPr>
      </p:sp>
      <p:sp>
        <p:nvSpPr>
          <p:cNvPr id="9" name="Text 6"/>
          <p:cNvSpPr txBox="1"/>
          <p:nvPr/>
        </p:nvSpPr>
        <p:spPr>
          <a:xfrm>
            <a:off x="594360" y="1463040"/>
            <a:ext cx="2331720" cy="384048"/>
          </a:xfrm>
          <a:prstGeom prst="rect">
            <a:avLst/>
          </a:prstGeom>
          <a:noFill/>
          <a:ln/>
        </p:spPr>
        <p:txBody>
          <a:bodyPr wrap="square" lIns="0" tIns="0" rIns="0" bIns="0" rtlCol="0" anchor="t"/>
          <a:lstStyle/>
          <a:p>
            <a:pPr indent="0" marL="0">
              <a:buNone/>
            </a:pPr>
            <a:r>
              <a:rPr lang="en-US" sz="1400" b="1" dirty="0">
                <a:solidFill>
                  <a:srgbClr val="EEF1F4"/>
                </a:solidFill>
                <a:latin typeface="Calibri" pitchFamily="34" charset="0"/>
                <a:ea typeface="Calibri" pitchFamily="34" charset="-122"/>
                <a:cs typeface="Calibri" pitchFamily="34" charset="-120"/>
              </a:rPr>
              <a:t>Chat</a:t>
            </a:r>
            <a:endParaRPr lang="en-US" sz="1400" dirty="0"/>
          </a:p>
        </p:txBody>
      </p:sp>
      <p:sp>
        <p:nvSpPr>
          <p:cNvPr id="10" name="Text 7"/>
          <p:cNvSpPr txBox="1"/>
          <p:nvPr/>
        </p:nvSpPr>
        <p:spPr>
          <a:xfrm>
            <a:off x="594360" y="1865376"/>
            <a:ext cx="2359152"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“risk 1.2%, stop $18.50, RRR 2.85”</a:t>
            </a:r>
            <a:endParaRPr lang="en-US" sz="1150" dirty="0"/>
          </a:p>
        </p:txBody>
      </p:sp>
      <p:sp>
        <p:nvSpPr>
          <p:cNvPr id="11" name="Shape 8"/>
          <p:cNvSpPr/>
          <p:nvPr/>
        </p:nvSpPr>
        <p:spPr>
          <a:xfrm>
            <a:off x="3081528" y="1965960"/>
            <a:ext cx="192024" cy="0"/>
          </a:xfrm>
          <a:prstGeom prst="line">
            <a:avLst/>
          </a:prstGeom>
          <a:noFill/>
          <a:ln w="15875">
            <a:solidFill>
              <a:srgbClr val="7D8A99"/>
            </a:solidFill>
            <a:prstDash val="solid"/>
            <a:tailEnd type="triangle"/>
          </a:ln>
        </p:spPr>
      </p:sp>
      <p:sp>
        <p:nvSpPr>
          <p:cNvPr id="12" name="Shape 9"/>
          <p:cNvSpPr/>
          <p:nvPr/>
        </p:nvSpPr>
        <p:spPr>
          <a:xfrm>
            <a:off x="3291840" y="1371600"/>
            <a:ext cx="2606040" cy="1188720"/>
          </a:xfrm>
          <a:prstGeom prst="roundRect">
            <a:avLst>
              <a:gd name="adj" fmla="val 5385"/>
            </a:avLst>
          </a:prstGeom>
          <a:solidFill>
            <a:srgbClr val="1D242E"/>
          </a:solidFill>
          <a:ln w="9525">
            <a:solidFill>
              <a:srgbClr val="323C49"/>
            </a:solidFill>
            <a:prstDash val="solid"/>
          </a:ln>
        </p:spPr>
      </p:sp>
      <p:sp>
        <p:nvSpPr>
          <p:cNvPr id="13" name="Text 10"/>
          <p:cNvSpPr txBox="1"/>
          <p:nvPr/>
        </p:nvSpPr>
        <p:spPr>
          <a:xfrm>
            <a:off x="3429000" y="1463040"/>
            <a:ext cx="2331720" cy="384048"/>
          </a:xfrm>
          <a:prstGeom prst="rect">
            <a:avLst/>
          </a:prstGeom>
          <a:noFill/>
          <a:ln/>
        </p:spPr>
        <p:txBody>
          <a:bodyPr wrap="square" lIns="0" tIns="0" rIns="0" bIns="0" rtlCol="0" anchor="t"/>
          <a:lstStyle/>
          <a:p>
            <a:pPr indent="0" marL="0">
              <a:buNone/>
            </a:pPr>
            <a:r>
              <a:rPr lang="en-US" sz="1400" b="1" dirty="0">
                <a:solidFill>
                  <a:srgbClr val="EEF1F4"/>
                </a:solidFill>
                <a:latin typeface="Calibri" pitchFamily="34" charset="0"/>
                <a:ea typeface="Calibri" pitchFamily="34" charset="-122"/>
                <a:cs typeface="Calibri" pitchFamily="34" charset="-120"/>
              </a:rPr>
              <a:t>Extracted</a:t>
            </a:r>
            <a:endParaRPr lang="en-US" sz="1400" dirty="0"/>
          </a:p>
        </p:txBody>
      </p:sp>
      <p:sp>
        <p:nvSpPr>
          <p:cNvPr id="14" name="Text 11"/>
          <p:cNvSpPr txBox="1"/>
          <p:nvPr/>
        </p:nvSpPr>
        <p:spPr>
          <a:xfrm>
            <a:off x="3429000" y="1865376"/>
            <a:ext cx="2359152"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values only; nothing computed yet</a:t>
            </a:r>
            <a:endParaRPr lang="en-US" sz="1150" dirty="0"/>
          </a:p>
        </p:txBody>
      </p:sp>
      <p:sp>
        <p:nvSpPr>
          <p:cNvPr id="15" name="Shape 12"/>
          <p:cNvSpPr/>
          <p:nvPr/>
        </p:nvSpPr>
        <p:spPr>
          <a:xfrm>
            <a:off x="5916168" y="1965960"/>
            <a:ext cx="192024" cy="0"/>
          </a:xfrm>
          <a:prstGeom prst="line">
            <a:avLst/>
          </a:prstGeom>
          <a:noFill/>
          <a:ln w="15875">
            <a:solidFill>
              <a:srgbClr val="7D8A99"/>
            </a:solidFill>
            <a:prstDash val="solid"/>
            <a:tailEnd type="triangle"/>
          </a:ln>
        </p:spPr>
      </p:sp>
      <p:sp>
        <p:nvSpPr>
          <p:cNvPr id="16" name="Shape 13"/>
          <p:cNvSpPr/>
          <p:nvPr/>
        </p:nvSpPr>
        <p:spPr>
          <a:xfrm>
            <a:off x="6126480" y="1371600"/>
            <a:ext cx="2606040" cy="1188720"/>
          </a:xfrm>
          <a:prstGeom prst="roundRect">
            <a:avLst>
              <a:gd name="adj" fmla="val 5385"/>
            </a:avLst>
          </a:prstGeom>
          <a:solidFill>
            <a:srgbClr val="1D242E"/>
          </a:solidFill>
          <a:ln w="15875">
            <a:solidFill>
              <a:srgbClr val="E2B54E"/>
            </a:solidFill>
            <a:prstDash val="solid"/>
          </a:ln>
        </p:spPr>
      </p:sp>
      <p:sp>
        <p:nvSpPr>
          <p:cNvPr id="17" name="Text 14"/>
          <p:cNvSpPr txBox="1"/>
          <p:nvPr/>
        </p:nvSpPr>
        <p:spPr>
          <a:xfrm>
            <a:off x="6263640" y="1463040"/>
            <a:ext cx="2331720" cy="384048"/>
          </a:xfrm>
          <a:prstGeom prst="rect">
            <a:avLst/>
          </a:prstGeom>
          <a:noFill/>
          <a:ln/>
        </p:spPr>
        <p:txBody>
          <a:bodyPr wrap="square" lIns="0" tIns="0" rIns="0" bIns="0" rtlCol="0" anchor="t"/>
          <a:lstStyle/>
          <a:p>
            <a:pPr indent="0" marL="0">
              <a:buNone/>
            </a:pPr>
            <a:r>
              <a:rPr lang="en-US" sz="1400" b="1" dirty="0">
                <a:solidFill>
                  <a:srgbClr val="E2B54E"/>
                </a:solidFill>
                <a:latin typeface="Calibri" pitchFamily="34" charset="0"/>
                <a:ea typeface="Calibri" pitchFamily="34" charset="-122"/>
                <a:cs typeface="Calibri" pitchFamily="34" charset="-120"/>
              </a:rPr>
              <a:t>Modal, pre-filled</a:t>
            </a:r>
            <a:endParaRPr lang="en-US" sz="1400" dirty="0"/>
          </a:p>
        </p:txBody>
      </p:sp>
      <p:sp>
        <p:nvSpPr>
          <p:cNvPr id="18" name="Text 15"/>
          <p:cNvSpPr txBox="1"/>
          <p:nvPr/>
        </p:nvSpPr>
        <p:spPr>
          <a:xfrm>
            <a:off x="6263640" y="1865376"/>
            <a:ext cx="2359152"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the trader confirms each input</a:t>
            </a:r>
            <a:endParaRPr lang="en-US" sz="1150" dirty="0"/>
          </a:p>
        </p:txBody>
      </p:sp>
      <p:sp>
        <p:nvSpPr>
          <p:cNvPr id="19" name="Shape 16"/>
          <p:cNvSpPr/>
          <p:nvPr/>
        </p:nvSpPr>
        <p:spPr>
          <a:xfrm>
            <a:off x="8750808" y="1965960"/>
            <a:ext cx="192024" cy="0"/>
          </a:xfrm>
          <a:prstGeom prst="line">
            <a:avLst/>
          </a:prstGeom>
          <a:noFill/>
          <a:ln w="15875">
            <a:solidFill>
              <a:srgbClr val="7D8A99"/>
            </a:solidFill>
            <a:prstDash val="solid"/>
            <a:tailEnd type="triangle"/>
          </a:ln>
        </p:spPr>
      </p:sp>
      <p:sp>
        <p:nvSpPr>
          <p:cNvPr id="20" name="Shape 17"/>
          <p:cNvSpPr/>
          <p:nvPr/>
        </p:nvSpPr>
        <p:spPr>
          <a:xfrm>
            <a:off x="8961120" y="1371600"/>
            <a:ext cx="2606040" cy="1188720"/>
          </a:xfrm>
          <a:prstGeom prst="roundRect">
            <a:avLst>
              <a:gd name="adj" fmla="val 5385"/>
            </a:avLst>
          </a:prstGeom>
          <a:solidFill>
            <a:srgbClr val="1D242E"/>
          </a:solidFill>
          <a:ln w="9525">
            <a:solidFill>
              <a:srgbClr val="323C49"/>
            </a:solidFill>
            <a:prstDash val="solid"/>
          </a:ln>
        </p:spPr>
      </p:sp>
      <p:sp>
        <p:nvSpPr>
          <p:cNvPr id="21" name="Text 18"/>
          <p:cNvSpPr txBox="1"/>
          <p:nvPr/>
        </p:nvSpPr>
        <p:spPr>
          <a:xfrm>
            <a:off x="9098280" y="1463040"/>
            <a:ext cx="2331720" cy="384048"/>
          </a:xfrm>
          <a:prstGeom prst="rect">
            <a:avLst/>
          </a:prstGeom>
          <a:noFill/>
          <a:ln/>
        </p:spPr>
        <p:txBody>
          <a:bodyPr wrap="square" lIns="0" tIns="0" rIns="0" bIns="0" rtlCol="0" anchor="t"/>
          <a:lstStyle/>
          <a:p>
            <a:pPr indent="0" marL="0">
              <a:buNone/>
            </a:pPr>
            <a:r>
              <a:rPr lang="en-US" sz="1400" b="1" dirty="0">
                <a:solidFill>
                  <a:srgbClr val="EEF1F4"/>
                </a:solidFill>
                <a:latin typeface="Calibri" pitchFamily="34" charset="0"/>
                <a:ea typeface="Calibri" pitchFamily="34" charset="-122"/>
                <a:cs typeface="Calibri" pitchFamily="34" charset="-120"/>
              </a:rPr>
              <a:t>Validator</a:t>
            </a:r>
            <a:endParaRPr lang="en-US" sz="1400" dirty="0"/>
          </a:p>
        </p:txBody>
      </p:sp>
      <p:sp>
        <p:nvSpPr>
          <p:cNvPr id="22" name="Text 19"/>
          <p:cNvSpPr txBox="1"/>
          <p:nvPr/>
        </p:nvSpPr>
        <p:spPr>
          <a:xfrm>
            <a:off x="9098280" y="1865376"/>
            <a:ext cx="2359152"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the same checks as a clicked setup</a:t>
            </a:r>
            <a:endParaRPr lang="en-US" sz="1150" dirty="0"/>
          </a:p>
        </p:txBody>
      </p:sp>
      <p:sp>
        <p:nvSpPr>
          <p:cNvPr id="23" name="Shape 20"/>
          <p:cNvSpPr/>
          <p:nvPr/>
        </p:nvSpPr>
        <p:spPr>
          <a:xfrm>
            <a:off x="457200" y="2834640"/>
            <a:ext cx="6675120" cy="3447288"/>
          </a:xfrm>
          <a:prstGeom prst="roundRect">
            <a:avLst>
              <a:gd name="adj" fmla="val 1857"/>
            </a:avLst>
          </a:prstGeom>
          <a:solidFill>
            <a:srgbClr val="1D242E"/>
          </a:solidFill>
          <a:ln w="9525">
            <a:solidFill>
              <a:srgbClr val="323C49"/>
            </a:solidFill>
            <a:prstDash val="solid"/>
          </a:ln>
        </p:spPr>
      </p:sp>
      <p:sp>
        <p:nvSpPr>
          <p:cNvPr id="24" name="Text 21"/>
          <p:cNvSpPr txBox="1"/>
          <p:nvPr/>
        </p:nvSpPr>
        <p:spPr>
          <a:xfrm>
            <a:off x="640080" y="2926080"/>
            <a:ext cx="457200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THE CHECKS</a:t>
            </a:r>
            <a:endParaRPr lang="en-US" sz="950" dirty="0"/>
          </a:p>
        </p:txBody>
      </p:sp>
      <p:sp>
        <p:nvSpPr>
          <p:cNvPr id="25" name="Shape 22"/>
          <p:cNvSpPr/>
          <p:nvPr/>
        </p:nvSpPr>
        <p:spPr>
          <a:xfrm>
            <a:off x="640080" y="3328416"/>
            <a:ext cx="310896" cy="310896"/>
          </a:xfrm>
          <a:prstGeom prst="ellipse">
            <a:avLst/>
          </a:prstGeom>
          <a:solidFill>
            <a:srgbClr val="E2B54E"/>
          </a:solidFill>
          <a:ln w="15875">
            <a:solidFill>
              <a:srgbClr val="E2B54E"/>
            </a:solidFill>
            <a:prstDash val="solid"/>
          </a:ln>
        </p:spPr>
      </p:sp>
      <p:sp>
        <p:nvSpPr>
          <p:cNvPr id="26" name="Text 23"/>
          <p:cNvSpPr txBox="1"/>
          <p:nvPr/>
        </p:nvSpPr>
        <p:spPr>
          <a:xfrm>
            <a:off x="640080" y="332841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0</a:t>
            </a:r>
            <a:endParaRPr lang="en-US" sz="1100" dirty="0"/>
          </a:p>
        </p:txBody>
      </p:sp>
      <p:sp>
        <p:nvSpPr>
          <p:cNvPr id="27" name="Text 24"/>
          <p:cNvSpPr txBox="1"/>
          <p:nvPr/>
        </p:nvSpPr>
        <p:spPr>
          <a:xfrm>
            <a:off x="1042416" y="3273552"/>
            <a:ext cx="2743200" cy="658368"/>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Entry within the 1-day bound (decision 034); ±5% typo filter</a:t>
            </a:r>
            <a:endParaRPr lang="en-US" sz="1100" dirty="0"/>
          </a:p>
        </p:txBody>
      </p:sp>
      <p:sp>
        <p:nvSpPr>
          <p:cNvPr id="28" name="Shape 25"/>
          <p:cNvSpPr/>
          <p:nvPr/>
        </p:nvSpPr>
        <p:spPr>
          <a:xfrm>
            <a:off x="3886200" y="3328416"/>
            <a:ext cx="310896" cy="310896"/>
          </a:xfrm>
          <a:prstGeom prst="ellipse">
            <a:avLst/>
          </a:prstGeom>
          <a:solidFill>
            <a:srgbClr val="E2B54E"/>
          </a:solidFill>
          <a:ln w="15875">
            <a:solidFill>
              <a:srgbClr val="E2B54E"/>
            </a:solidFill>
            <a:prstDash val="solid"/>
          </a:ln>
        </p:spPr>
      </p:sp>
      <p:sp>
        <p:nvSpPr>
          <p:cNvPr id="29" name="Text 26"/>
          <p:cNvSpPr txBox="1"/>
          <p:nvPr/>
        </p:nvSpPr>
        <p:spPr>
          <a:xfrm>
            <a:off x="3886200" y="332841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30" name="Text 27"/>
          <p:cNvSpPr txBox="1"/>
          <p:nvPr/>
        </p:nvSpPr>
        <p:spPr>
          <a:xfrm>
            <a:off x="4288536" y="3273552"/>
            <a:ext cx="2743200" cy="658368"/>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Risk % ≤ Max RPT</a:t>
            </a:r>
            <a:endParaRPr lang="en-US" sz="1100" dirty="0"/>
          </a:p>
        </p:txBody>
      </p:sp>
      <p:sp>
        <p:nvSpPr>
          <p:cNvPr id="31" name="Shape 28"/>
          <p:cNvSpPr/>
          <p:nvPr/>
        </p:nvSpPr>
        <p:spPr>
          <a:xfrm>
            <a:off x="640080" y="4059936"/>
            <a:ext cx="310896" cy="310896"/>
          </a:xfrm>
          <a:prstGeom prst="ellipse">
            <a:avLst/>
          </a:prstGeom>
          <a:solidFill>
            <a:srgbClr val="E2B54E"/>
          </a:solidFill>
          <a:ln w="15875">
            <a:solidFill>
              <a:srgbClr val="E2B54E"/>
            </a:solidFill>
            <a:prstDash val="solid"/>
          </a:ln>
        </p:spPr>
      </p:sp>
      <p:sp>
        <p:nvSpPr>
          <p:cNvPr id="32" name="Text 29"/>
          <p:cNvSpPr txBox="1"/>
          <p:nvPr/>
        </p:nvSpPr>
        <p:spPr>
          <a:xfrm>
            <a:off x="640080" y="405993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33" name="Text 30"/>
          <p:cNvSpPr txBox="1"/>
          <p:nvPr/>
        </p:nvSpPr>
        <p:spPr>
          <a:xfrm>
            <a:off x="1042416" y="4005072"/>
            <a:ext cx="2743200" cy="658368"/>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Stop ≥ Min SLD; structural or “custom”</a:t>
            </a:r>
            <a:endParaRPr lang="en-US" sz="1100" dirty="0"/>
          </a:p>
        </p:txBody>
      </p:sp>
      <p:sp>
        <p:nvSpPr>
          <p:cNvPr id="34" name="Shape 31"/>
          <p:cNvSpPr/>
          <p:nvPr/>
        </p:nvSpPr>
        <p:spPr>
          <a:xfrm>
            <a:off x="3886200" y="4059936"/>
            <a:ext cx="310896" cy="310896"/>
          </a:xfrm>
          <a:prstGeom prst="ellipse">
            <a:avLst/>
          </a:prstGeom>
          <a:solidFill>
            <a:srgbClr val="E2B54E"/>
          </a:solidFill>
          <a:ln w="15875">
            <a:solidFill>
              <a:srgbClr val="E2B54E"/>
            </a:solidFill>
            <a:prstDash val="solid"/>
          </a:ln>
        </p:spPr>
      </p:sp>
      <p:sp>
        <p:nvSpPr>
          <p:cNvPr id="35" name="Text 32"/>
          <p:cNvSpPr txBox="1"/>
          <p:nvPr/>
        </p:nvSpPr>
        <p:spPr>
          <a:xfrm>
            <a:off x="3886200" y="405993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36" name="Text 33"/>
          <p:cNvSpPr txBox="1"/>
          <p:nvPr/>
        </p:nvSpPr>
        <p:spPr>
          <a:xfrm>
            <a:off x="4288536" y="4005072"/>
            <a:ext cx="2743200" cy="658368"/>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RRR ≤ 2.5× when the setup is counter-trend</a:t>
            </a:r>
            <a:endParaRPr lang="en-US" sz="1100" dirty="0"/>
          </a:p>
        </p:txBody>
      </p:sp>
      <p:sp>
        <p:nvSpPr>
          <p:cNvPr id="37" name="Shape 34"/>
          <p:cNvSpPr/>
          <p:nvPr/>
        </p:nvSpPr>
        <p:spPr>
          <a:xfrm>
            <a:off x="640080" y="4791456"/>
            <a:ext cx="310896" cy="310896"/>
          </a:xfrm>
          <a:prstGeom prst="ellipse">
            <a:avLst/>
          </a:prstGeom>
          <a:solidFill>
            <a:srgbClr val="E2B54E"/>
          </a:solidFill>
          <a:ln w="15875">
            <a:solidFill>
              <a:srgbClr val="E2B54E"/>
            </a:solidFill>
            <a:prstDash val="solid"/>
          </a:ln>
        </p:spPr>
      </p:sp>
      <p:sp>
        <p:nvSpPr>
          <p:cNvPr id="38" name="Text 35"/>
          <p:cNvSpPr txBox="1"/>
          <p:nvPr/>
        </p:nvSpPr>
        <p:spPr>
          <a:xfrm>
            <a:off x="640080" y="479145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39" name="Text 36"/>
          <p:cNvSpPr txBox="1"/>
          <p:nvPr/>
        </p:nvSpPr>
        <p:spPr>
          <a:xfrm>
            <a:off x="1042416" y="4736592"/>
            <a:ext cx="2743200" cy="658368"/>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Leverage used ≤ Max Leverage (lot clamped)</a:t>
            </a:r>
            <a:endParaRPr lang="en-US" sz="1100" dirty="0"/>
          </a:p>
        </p:txBody>
      </p:sp>
      <p:sp>
        <p:nvSpPr>
          <p:cNvPr id="40" name="Shape 37"/>
          <p:cNvSpPr/>
          <p:nvPr/>
        </p:nvSpPr>
        <p:spPr>
          <a:xfrm>
            <a:off x="3886200" y="4791456"/>
            <a:ext cx="310896" cy="310896"/>
          </a:xfrm>
          <a:prstGeom prst="ellipse">
            <a:avLst/>
          </a:prstGeom>
          <a:solidFill>
            <a:srgbClr val="E2B54E"/>
          </a:solidFill>
          <a:ln w="15875">
            <a:solidFill>
              <a:srgbClr val="E2B54E"/>
            </a:solidFill>
            <a:prstDash val="solid"/>
          </a:ln>
        </p:spPr>
      </p:sp>
      <p:sp>
        <p:nvSpPr>
          <p:cNvPr id="41" name="Text 38"/>
          <p:cNvSpPr txBox="1"/>
          <p:nvPr/>
        </p:nvSpPr>
        <p:spPr>
          <a:xfrm>
            <a:off x="3886200" y="479145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42" name="Text 39"/>
          <p:cNvSpPr txBox="1"/>
          <p:nvPr/>
        </p:nvSpPr>
        <p:spPr>
          <a:xfrm>
            <a:off x="4288536" y="4736592"/>
            <a:ext cx="2743200" cy="658368"/>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No Tier-1 release within the window</a:t>
            </a:r>
            <a:endParaRPr lang="en-US" sz="1100" dirty="0"/>
          </a:p>
        </p:txBody>
      </p:sp>
      <p:sp>
        <p:nvSpPr>
          <p:cNvPr id="43" name="Shape 40"/>
          <p:cNvSpPr/>
          <p:nvPr/>
        </p:nvSpPr>
        <p:spPr>
          <a:xfrm>
            <a:off x="640080" y="5522976"/>
            <a:ext cx="310896" cy="310896"/>
          </a:xfrm>
          <a:prstGeom prst="ellipse">
            <a:avLst/>
          </a:prstGeom>
          <a:solidFill>
            <a:srgbClr val="E2B54E"/>
          </a:solidFill>
          <a:ln w="15875">
            <a:solidFill>
              <a:srgbClr val="E2B54E"/>
            </a:solidFill>
            <a:prstDash val="solid"/>
          </a:ln>
        </p:spPr>
      </p:sp>
      <p:sp>
        <p:nvSpPr>
          <p:cNvPr id="44" name="Text 41"/>
          <p:cNvSpPr txBox="1"/>
          <p:nvPr/>
        </p:nvSpPr>
        <p:spPr>
          <a:xfrm>
            <a:off x="640080" y="552297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45" name="Text 42"/>
          <p:cNvSpPr txBox="1"/>
          <p:nvPr/>
        </p:nvSpPr>
        <p:spPr>
          <a:xfrm>
            <a:off x="1042416" y="5468112"/>
            <a:ext cx="2743200" cy="658368"/>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Setup still valid; data status allows it</a:t>
            </a:r>
            <a:endParaRPr lang="en-US" sz="1100" dirty="0"/>
          </a:p>
        </p:txBody>
      </p:sp>
      <p:sp>
        <p:nvSpPr>
          <p:cNvPr id="46" name="Shape 43"/>
          <p:cNvSpPr/>
          <p:nvPr/>
        </p:nvSpPr>
        <p:spPr>
          <a:xfrm>
            <a:off x="3886200" y="5522976"/>
            <a:ext cx="310896" cy="310896"/>
          </a:xfrm>
          <a:prstGeom prst="ellipse">
            <a:avLst/>
          </a:prstGeom>
          <a:solidFill>
            <a:srgbClr val="E2B54E"/>
          </a:solidFill>
          <a:ln w="15875">
            <a:solidFill>
              <a:srgbClr val="E2B54E"/>
            </a:solidFill>
            <a:prstDash val="solid"/>
          </a:ln>
        </p:spPr>
      </p:sp>
      <p:sp>
        <p:nvSpPr>
          <p:cNvPr id="47" name="Text 44"/>
          <p:cNvSpPr txBox="1"/>
          <p:nvPr/>
        </p:nvSpPr>
        <p:spPr>
          <a:xfrm>
            <a:off x="3886200" y="552297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7</a:t>
            </a:r>
            <a:endParaRPr lang="en-US" sz="1100" dirty="0"/>
          </a:p>
        </p:txBody>
      </p:sp>
      <p:sp>
        <p:nvSpPr>
          <p:cNvPr id="48" name="Text 45"/>
          <p:cNvSpPr txBox="1"/>
          <p:nvPr/>
        </p:nvSpPr>
        <p:spPr>
          <a:xfrm>
            <a:off x="4288536" y="5468112"/>
            <a:ext cx="2743200" cy="658368"/>
          </a:xfrm>
          <a:prstGeom prst="rect">
            <a:avLst/>
          </a:prstGeom>
          <a:noFill/>
          <a:ln/>
        </p:spPr>
        <p:txBody>
          <a:bodyPr wrap="square" lIns="0" tIns="0" rIns="0" bIns="0" rtlCol="0" anchor="ctr"/>
          <a:lstStyle/>
          <a:p>
            <a:pPr indent="0" marL="0">
              <a:buNone/>
            </a:pPr>
            <a:r>
              <a:rPr lang="en-US" sz="1100" dirty="0">
                <a:solidFill>
                  <a:srgbClr val="EEF1F4"/>
                </a:solidFill>
                <a:latin typeface="Calibri" pitchFamily="34" charset="0"/>
                <a:ea typeface="Calibri" pitchFamily="34" charset="-122"/>
                <a:cs typeface="Calibri" pitchFamily="34" charset="-120"/>
              </a:rPr>
              <a:t>Lot ≥ the broker minimum, or the underflow help</a:t>
            </a:r>
            <a:endParaRPr lang="en-US" sz="1100" dirty="0"/>
          </a:p>
        </p:txBody>
      </p:sp>
      <p:sp>
        <p:nvSpPr>
          <p:cNvPr id="49" name="Shape 46"/>
          <p:cNvSpPr/>
          <p:nvPr/>
        </p:nvSpPr>
        <p:spPr>
          <a:xfrm>
            <a:off x="7360920" y="2834640"/>
            <a:ext cx="4370832" cy="3447288"/>
          </a:xfrm>
          <a:prstGeom prst="roundRect">
            <a:avLst>
              <a:gd name="adj" fmla="val 1857"/>
            </a:avLst>
          </a:prstGeom>
          <a:solidFill>
            <a:srgbClr val="1D242E"/>
          </a:solidFill>
          <a:ln w="15875">
            <a:solidFill>
              <a:srgbClr val="E2B54E"/>
            </a:solidFill>
            <a:prstDash val="solid"/>
          </a:ln>
        </p:spPr>
      </p:sp>
      <p:sp>
        <p:nvSpPr>
          <p:cNvPr id="50" name="Text 47"/>
          <p:cNvSpPr txBox="1"/>
          <p:nvPr/>
        </p:nvSpPr>
        <p:spPr>
          <a:xfrm>
            <a:off x="7543800" y="2926080"/>
            <a:ext cx="402336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REPORT 2 IS A TEMPLATE</a:t>
            </a:r>
            <a:endParaRPr lang="en-US" sz="950" dirty="0"/>
          </a:p>
        </p:txBody>
      </p:sp>
      <p:sp>
        <p:nvSpPr>
          <p:cNvPr id="51" name="Shape 48"/>
          <p:cNvSpPr/>
          <p:nvPr/>
        </p:nvSpPr>
        <p:spPr>
          <a:xfrm>
            <a:off x="7562088" y="3465576"/>
            <a:ext cx="100584" cy="100584"/>
          </a:xfrm>
          <a:prstGeom prst="ellipse">
            <a:avLst/>
          </a:prstGeom>
          <a:solidFill>
            <a:srgbClr val="E2B54E"/>
          </a:solidFill>
          <a:ln w="12700">
            <a:solidFill>
              <a:srgbClr val="E2B54E"/>
            </a:solidFill>
            <a:prstDash val="solid"/>
          </a:ln>
        </p:spPr>
      </p:sp>
      <p:sp>
        <p:nvSpPr>
          <p:cNvPr id="52" name="Text 49"/>
          <p:cNvSpPr txBox="1"/>
          <p:nvPr/>
        </p:nvSpPr>
        <p:spPr>
          <a:xfrm>
            <a:off x="7772400" y="3328416"/>
            <a:ext cx="3840480" cy="640080"/>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Numbers from Engine 4 only</a:t>
            </a:r>
            <a:endParaRPr lang="en-US" sz="1200" dirty="0"/>
          </a:p>
        </p:txBody>
      </p:sp>
      <p:sp>
        <p:nvSpPr>
          <p:cNvPr id="53" name="Shape 50"/>
          <p:cNvSpPr/>
          <p:nvPr/>
        </p:nvSpPr>
        <p:spPr>
          <a:xfrm>
            <a:off x="7562088" y="4160520"/>
            <a:ext cx="100584" cy="100584"/>
          </a:xfrm>
          <a:prstGeom prst="ellipse">
            <a:avLst/>
          </a:prstGeom>
          <a:solidFill>
            <a:srgbClr val="E2B54E"/>
          </a:solidFill>
          <a:ln w="12700">
            <a:solidFill>
              <a:srgbClr val="E2B54E"/>
            </a:solidFill>
            <a:prstDash val="solid"/>
          </a:ln>
        </p:spPr>
      </p:sp>
      <p:sp>
        <p:nvSpPr>
          <p:cNvPr id="54" name="Text 51"/>
          <p:cNvSpPr txBox="1"/>
          <p:nvPr/>
        </p:nvSpPr>
        <p:spPr>
          <a:xfrm>
            <a:off x="7772400" y="4023360"/>
            <a:ext cx="3840480" cy="640080"/>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Labels and disclaimer from reviewed text in 16 languages</a:t>
            </a:r>
            <a:endParaRPr lang="en-US" sz="1200" dirty="0"/>
          </a:p>
        </p:txBody>
      </p:sp>
      <p:sp>
        <p:nvSpPr>
          <p:cNvPr id="55" name="Shape 52"/>
          <p:cNvSpPr/>
          <p:nvPr/>
        </p:nvSpPr>
        <p:spPr>
          <a:xfrm>
            <a:off x="7562088" y="4855464"/>
            <a:ext cx="100584" cy="100584"/>
          </a:xfrm>
          <a:prstGeom prst="ellipse">
            <a:avLst/>
          </a:prstGeom>
          <a:solidFill>
            <a:srgbClr val="E2B54E"/>
          </a:solidFill>
          <a:ln w="12700">
            <a:solidFill>
              <a:srgbClr val="E2B54E"/>
            </a:solidFill>
            <a:prstDash val="solid"/>
          </a:ln>
        </p:spPr>
      </p:sp>
      <p:sp>
        <p:nvSpPr>
          <p:cNvPr id="56" name="Text 53"/>
          <p:cNvSpPr txBox="1"/>
          <p:nvPr/>
        </p:nvSpPr>
        <p:spPr>
          <a:xfrm>
            <a:off x="7772400" y="4718304"/>
            <a:ext cx="3840480" cy="640080"/>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Declared and actual risk side by side</a:t>
            </a:r>
            <a:endParaRPr lang="en-US" sz="1200" dirty="0"/>
          </a:p>
        </p:txBody>
      </p:sp>
      <p:sp>
        <p:nvSpPr>
          <p:cNvPr id="57" name="Shape 54"/>
          <p:cNvSpPr/>
          <p:nvPr/>
        </p:nvSpPr>
        <p:spPr>
          <a:xfrm>
            <a:off x="7562088" y="5550408"/>
            <a:ext cx="100584" cy="100584"/>
          </a:xfrm>
          <a:prstGeom prst="ellipse">
            <a:avLst/>
          </a:prstGeom>
          <a:solidFill>
            <a:srgbClr val="E2B54E"/>
          </a:solidFill>
          <a:ln w="12700">
            <a:solidFill>
              <a:srgbClr val="E2B54E"/>
            </a:solidFill>
            <a:prstDash val="solid"/>
          </a:ln>
        </p:spPr>
      </p:sp>
      <p:sp>
        <p:nvSpPr>
          <p:cNvPr id="58" name="Text 55"/>
          <p:cNvSpPr txBox="1"/>
          <p:nvPr/>
        </p:nvSpPr>
        <p:spPr>
          <a:xfrm>
            <a:off x="7772400" y="5413248"/>
            <a:ext cx="3840480" cy="640080"/>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Single-order scope notice on every report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CONSENT AND AUDIT</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Every decision on a setup is recorded, and survives deletion</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13</a:t>
            </a:r>
            <a:endParaRPr lang="en-US" sz="1000" dirty="0"/>
          </a:p>
        </p:txBody>
      </p:sp>
      <p:sp>
        <p:nvSpPr>
          <p:cNvPr id="8" name="Shape 5"/>
          <p:cNvSpPr/>
          <p:nvPr/>
        </p:nvSpPr>
        <p:spPr>
          <a:xfrm>
            <a:off x="457200" y="1325880"/>
            <a:ext cx="5760720" cy="4956048"/>
          </a:xfrm>
          <a:prstGeom prst="roundRect">
            <a:avLst>
              <a:gd name="adj" fmla="val 1292"/>
            </a:avLst>
          </a:prstGeom>
          <a:solidFill>
            <a:srgbClr val="161C24"/>
          </a:solidFill>
          <a:ln w="9525">
            <a:solidFill>
              <a:srgbClr val="323C49"/>
            </a:solidFill>
            <a:prstDash val="solid"/>
          </a:ln>
        </p:spPr>
      </p:sp>
      <p:sp>
        <p:nvSpPr>
          <p:cNvPr id="9" name="Text 6"/>
          <p:cNvSpPr txBox="1"/>
          <p:nvPr/>
        </p:nvSpPr>
        <p:spPr>
          <a:xfrm>
            <a:off x="640080" y="1426464"/>
            <a:ext cx="5486400" cy="237744"/>
          </a:xfrm>
          <a:prstGeom prst="rect">
            <a:avLst/>
          </a:prstGeom>
          <a:noFill/>
          <a:ln/>
        </p:spPr>
        <p:txBody>
          <a:bodyPr wrap="square" lIns="0" tIns="0" rIns="0" bIns="0" rtlCol="0" anchor="t"/>
          <a:lstStyle/>
          <a:p>
            <a:pPr indent="0" marL="0">
              <a:buNone/>
            </a:pPr>
            <a:r>
              <a:rPr lang="en-US" sz="950" b="1" spc="150" kern="0" dirty="0">
                <a:solidFill>
                  <a:srgbClr val="A3AEBB"/>
                </a:solidFill>
                <a:latin typeface="Calibri" pitchFamily="34" charset="0"/>
                <a:ea typeface="Calibri" pitchFamily="34" charset="-122"/>
                <a:cs typeface="Calibri" pitchFamily="34" charset="-120"/>
              </a:rPr>
              <a:t>CONSENT RECORD · ONE ROW PER ACTION</a:t>
            </a:r>
            <a:endParaRPr lang="en-US" sz="950" dirty="0"/>
          </a:p>
        </p:txBody>
      </p:sp>
      <p:sp>
        <p:nvSpPr>
          <p:cNvPr id="10" name="Text 7"/>
          <p:cNvSpPr txBox="1"/>
          <p:nvPr/>
        </p:nvSpPr>
        <p:spPr>
          <a:xfrm>
            <a:off x="640080" y="1755648"/>
            <a:ext cx="5486400" cy="4480560"/>
          </a:xfrm>
          <a:prstGeom prst="rect">
            <a:avLst/>
          </a:prstGeom>
          <a:noFill/>
          <a:ln/>
        </p:spPr>
        <p:txBody>
          <a:bodyPr wrap="square" lIns="0" tIns="0" rIns="0" bIns="0" rtlCol="0" anchor="t"/>
          <a:lstStyle/>
          <a:p>
            <a:pPr indent="0" marL="0">
              <a:buNone/>
            </a:pPr>
            <a:r>
              <a:rPr lang="en-US" sz="1050" dirty="0">
                <a:solidFill>
                  <a:srgbClr val="EEF1F4"/>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action:        "ACCEPT",   // MODIFY | DECLINE</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user:          id → hash after deletion,</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cycle_slot:    "2026-09-18T20:55Z",</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synthesis:     rule id + rules version,</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zone:          "Z1",</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profile:       snapshot id,</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inputs:        side, entry, equity, risk, stop,</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outputs:       lot, declared + actual risk,</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stop, targets, badge,</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overrides:     defect flag, style notice,</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warnings:      releases in the window,</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versions:      engine 4, symbol_specs,</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template, disclaimer,</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language, recorded_at</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a:t>
            </a:r>
            <a:endParaRPr lang="en-US" sz="1050" dirty="0"/>
          </a:p>
        </p:txBody>
      </p:sp>
      <p:sp>
        <p:nvSpPr>
          <p:cNvPr id="11" name="Shape 8"/>
          <p:cNvSpPr/>
          <p:nvPr/>
        </p:nvSpPr>
        <p:spPr>
          <a:xfrm>
            <a:off x="6446520" y="1325880"/>
            <a:ext cx="5285232" cy="1133856"/>
          </a:xfrm>
          <a:prstGeom prst="roundRect">
            <a:avLst>
              <a:gd name="adj" fmla="val 5645"/>
            </a:avLst>
          </a:prstGeom>
          <a:solidFill>
            <a:srgbClr val="1D242E"/>
          </a:solidFill>
          <a:ln w="9525">
            <a:solidFill>
              <a:srgbClr val="323C49"/>
            </a:solidFill>
            <a:prstDash val="solid"/>
          </a:ln>
        </p:spPr>
      </p:sp>
      <p:sp>
        <p:nvSpPr>
          <p:cNvPr id="12" name="Text 9"/>
          <p:cNvSpPr txBox="1"/>
          <p:nvPr/>
        </p:nvSpPr>
        <p:spPr>
          <a:xfrm>
            <a:off x="6601968" y="1399032"/>
            <a:ext cx="4937760" cy="34747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Append-only</a:t>
            </a:r>
            <a:endParaRPr lang="en-US" sz="1250" dirty="0"/>
          </a:p>
        </p:txBody>
      </p:sp>
      <p:sp>
        <p:nvSpPr>
          <p:cNvPr id="13" name="Text 10"/>
          <p:cNvSpPr txBox="1"/>
          <p:nvPr/>
        </p:nvSpPr>
        <p:spPr>
          <a:xfrm>
            <a:off x="6601968" y="1783080"/>
            <a:ext cx="4983480" cy="64008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Written for every accept, modify and decline, with everything needed to reproduce the numbers.</a:t>
            </a:r>
            <a:endParaRPr lang="en-US" sz="1100" dirty="0"/>
          </a:p>
        </p:txBody>
      </p:sp>
      <p:sp>
        <p:nvSpPr>
          <p:cNvPr id="14" name="Shape 11"/>
          <p:cNvSpPr/>
          <p:nvPr/>
        </p:nvSpPr>
        <p:spPr>
          <a:xfrm>
            <a:off x="6446520" y="2578608"/>
            <a:ext cx="5285232" cy="1133856"/>
          </a:xfrm>
          <a:prstGeom prst="roundRect">
            <a:avLst>
              <a:gd name="adj" fmla="val 5645"/>
            </a:avLst>
          </a:prstGeom>
          <a:solidFill>
            <a:srgbClr val="1D242E"/>
          </a:solidFill>
          <a:ln w="9525">
            <a:solidFill>
              <a:srgbClr val="323C49"/>
            </a:solidFill>
            <a:prstDash val="solid"/>
          </a:ln>
        </p:spPr>
      </p:sp>
      <p:sp>
        <p:nvSpPr>
          <p:cNvPr id="15" name="Text 12"/>
          <p:cNvSpPr txBox="1"/>
          <p:nvPr/>
        </p:nvSpPr>
        <p:spPr>
          <a:xfrm>
            <a:off x="6601968" y="2651760"/>
            <a:ext cx="4937760" cy="34747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Kept after deletion</a:t>
            </a:r>
            <a:endParaRPr lang="en-US" sz="1250" dirty="0"/>
          </a:p>
        </p:txBody>
      </p:sp>
      <p:sp>
        <p:nvSpPr>
          <p:cNvPr id="16" name="Text 13"/>
          <p:cNvSpPr txBox="1"/>
          <p:nvPr/>
        </p:nvSpPr>
        <p:spPr>
          <a:xfrm>
            <a:off x="6601968" y="3035808"/>
            <a:ext cx="4983480" cy="64008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Personal data is deleted; history and consent rows keep a hashed id. ON DELETE CASCADE is removed.</a:t>
            </a:r>
            <a:endParaRPr lang="en-US" sz="1100" dirty="0"/>
          </a:p>
        </p:txBody>
      </p:sp>
      <p:sp>
        <p:nvSpPr>
          <p:cNvPr id="17" name="Shape 14"/>
          <p:cNvSpPr/>
          <p:nvPr/>
        </p:nvSpPr>
        <p:spPr>
          <a:xfrm>
            <a:off x="6446520" y="3831336"/>
            <a:ext cx="5285232" cy="1133856"/>
          </a:xfrm>
          <a:prstGeom prst="roundRect">
            <a:avLst>
              <a:gd name="adj" fmla="val 5645"/>
            </a:avLst>
          </a:prstGeom>
          <a:solidFill>
            <a:srgbClr val="1D242E"/>
          </a:solidFill>
          <a:ln w="9525">
            <a:solidFill>
              <a:srgbClr val="323C49"/>
            </a:solidFill>
            <a:prstDash val="solid"/>
          </a:ln>
        </p:spPr>
      </p:sp>
      <p:sp>
        <p:nvSpPr>
          <p:cNvPr id="18" name="Text 15"/>
          <p:cNvSpPr txBox="1"/>
          <p:nvPr/>
        </p:nvSpPr>
        <p:spPr>
          <a:xfrm>
            <a:off x="6601968" y="3904488"/>
            <a:ext cx="4937760" cy="34747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Honest buttons</a:t>
            </a:r>
            <a:endParaRPr lang="en-US" sz="1250" dirty="0"/>
          </a:p>
        </p:txBody>
      </p:sp>
      <p:sp>
        <p:nvSpPr>
          <p:cNvPr id="19" name="Text 16"/>
          <p:cNvSpPr txBox="1"/>
          <p:nvPr/>
        </p:nvSpPr>
        <p:spPr>
          <a:xfrm>
            <a:off x="6601968" y="4288536"/>
            <a:ext cx="4983480" cy="64008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“Accept &amp; Ready to Execute” becomes “Accept setup”, with “you place the order with your broker”.</a:t>
            </a:r>
            <a:endParaRPr lang="en-US" sz="1100" dirty="0"/>
          </a:p>
        </p:txBody>
      </p:sp>
      <p:sp>
        <p:nvSpPr>
          <p:cNvPr id="20" name="Shape 17"/>
          <p:cNvSpPr/>
          <p:nvPr/>
        </p:nvSpPr>
        <p:spPr>
          <a:xfrm>
            <a:off x="6446520" y="5084064"/>
            <a:ext cx="5285232" cy="1133856"/>
          </a:xfrm>
          <a:prstGeom prst="roundRect">
            <a:avLst>
              <a:gd name="adj" fmla="val 5645"/>
            </a:avLst>
          </a:prstGeom>
          <a:solidFill>
            <a:srgbClr val="1D242E"/>
          </a:solidFill>
          <a:ln w="9525">
            <a:solidFill>
              <a:srgbClr val="323C49"/>
            </a:solidFill>
            <a:prstDash val="solid"/>
          </a:ln>
        </p:spPr>
      </p:sp>
      <p:sp>
        <p:nvSpPr>
          <p:cNvPr id="21" name="Text 18"/>
          <p:cNvSpPr txBox="1"/>
          <p:nvPr/>
        </p:nvSpPr>
        <p:spPr>
          <a:xfrm>
            <a:off x="6601968" y="5157216"/>
            <a:ext cx="4937760" cy="34747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Retention</a:t>
            </a:r>
            <a:endParaRPr lang="en-US" sz="1250" dirty="0"/>
          </a:p>
        </p:txBody>
      </p:sp>
      <p:sp>
        <p:nvSpPr>
          <p:cNvPr id="22" name="Text 19"/>
          <p:cNvSpPr txBox="1"/>
          <p:nvPr/>
        </p:nvSpPr>
        <p:spPr>
          <a:xfrm>
            <a:off x="6601968" y="5541264"/>
            <a:ext cx="4983480" cy="64008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One figure for all audit rows, settled in Section 7 (file D says 7 years, file E 5–7).</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CHANGE LIST</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Keep, change, add, remove</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14</a:t>
            </a:r>
            <a:endParaRPr lang="en-US" sz="1000" dirty="0"/>
          </a:p>
        </p:txBody>
      </p:sp>
      <p:sp>
        <p:nvSpPr>
          <p:cNvPr id="8" name="Shape 5"/>
          <p:cNvSpPr/>
          <p:nvPr/>
        </p:nvSpPr>
        <p:spPr>
          <a:xfrm>
            <a:off x="457200" y="1371600"/>
            <a:ext cx="2697480" cy="4892040"/>
          </a:xfrm>
          <a:prstGeom prst="roundRect">
            <a:avLst>
              <a:gd name="adj" fmla="val 2373"/>
            </a:avLst>
          </a:prstGeom>
          <a:solidFill>
            <a:srgbClr val="1D242E"/>
          </a:solidFill>
          <a:ln w="9525">
            <a:solidFill>
              <a:srgbClr val="323C49"/>
            </a:solidFill>
            <a:prstDash val="solid"/>
          </a:ln>
        </p:spPr>
      </p:sp>
      <p:sp>
        <p:nvSpPr>
          <p:cNvPr id="9" name="Shape 6"/>
          <p:cNvSpPr/>
          <p:nvPr/>
        </p:nvSpPr>
        <p:spPr>
          <a:xfrm>
            <a:off x="621792" y="1536192"/>
            <a:ext cx="1188720" cy="274320"/>
          </a:xfrm>
          <a:prstGeom prst="roundRect">
            <a:avLst>
              <a:gd name="adj" fmla="val 50000"/>
            </a:avLst>
          </a:prstGeom>
          <a:solidFill>
            <a:srgbClr val="5CC2B2"/>
          </a:solidFill>
          <a:ln w="9525">
            <a:solidFill>
              <a:srgbClr val="5CC2B2"/>
            </a:solidFill>
            <a:prstDash val="solid"/>
          </a:ln>
        </p:spPr>
      </p:sp>
      <p:sp>
        <p:nvSpPr>
          <p:cNvPr id="10" name="Text 7"/>
          <p:cNvSpPr txBox="1"/>
          <p:nvPr/>
        </p:nvSpPr>
        <p:spPr>
          <a:xfrm>
            <a:off x="621792"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KEEP</a:t>
            </a:r>
            <a:endParaRPr lang="en-US" sz="950" dirty="0"/>
          </a:p>
        </p:txBody>
      </p:sp>
      <p:sp>
        <p:nvSpPr>
          <p:cNvPr id="11" name="Shape 8"/>
          <p:cNvSpPr/>
          <p:nvPr/>
        </p:nvSpPr>
        <p:spPr>
          <a:xfrm>
            <a:off x="640080" y="2112264"/>
            <a:ext cx="100584" cy="100584"/>
          </a:xfrm>
          <a:prstGeom prst="ellipse">
            <a:avLst/>
          </a:prstGeom>
          <a:solidFill>
            <a:srgbClr val="5CC2B2"/>
          </a:solidFill>
          <a:ln w="12700">
            <a:solidFill>
              <a:srgbClr val="5CC2B2"/>
            </a:solidFill>
            <a:prstDash val="solid"/>
          </a:ln>
        </p:spPr>
      </p:sp>
      <p:sp>
        <p:nvSpPr>
          <p:cNvPr id="12" name="Text 9"/>
          <p:cNvSpPr txBox="1"/>
          <p:nvPr/>
        </p:nvSpPr>
        <p:spPr>
          <a:xfrm>
            <a:off x="841248"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8 profile metrics and the confirmation card</a:t>
            </a:r>
            <a:endParaRPr lang="en-US" sz="1150" dirty="0"/>
          </a:p>
        </p:txBody>
      </p:sp>
      <p:sp>
        <p:nvSpPr>
          <p:cNvPr id="13" name="Shape 10"/>
          <p:cNvSpPr/>
          <p:nvPr/>
        </p:nvSpPr>
        <p:spPr>
          <a:xfrm>
            <a:off x="640080" y="2898648"/>
            <a:ext cx="100584" cy="100584"/>
          </a:xfrm>
          <a:prstGeom prst="ellipse">
            <a:avLst/>
          </a:prstGeom>
          <a:solidFill>
            <a:srgbClr val="5CC2B2"/>
          </a:solidFill>
          <a:ln w="12700">
            <a:solidFill>
              <a:srgbClr val="5CC2B2"/>
            </a:solidFill>
            <a:prstDash val="solid"/>
          </a:ln>
        </p:spPr>
      </p:sp>
      <p:sp>
        <p:nvSpPr>
          <p:cNvPr id="14" name="Text 11"/>
          <p:cNvSpPr txBox="1"/>
          <p:nvPr/>
        </p:nvSpPr>
        <p:spPr>
          <a:xfrm>
            <a:off x="841248"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Leverage ceiling 1:5; counter-trend RRR cap</a:t>
            </a:r>
            <a:endParaRPr lang="en-US" sz="1150" dirty="0"/>
          </a:p>
        </p:txBody>
      </p:sp>
      <p:sp>
        <p:nvSpPr>
          <p:cNvPr id="15" name="Shape 12"/>
          <p:cNvSpPr/>
          <p:nvPr/>
        </p:nvSpPr>
        <p:spPr>
          <a:xfrm>
            <a:off x="640080" y="3685032"/>
            <a:ext cx="100584" cy="100584"/>
          </a:xfrm>
          <a:prstGeom prst="ellipse">
            <a:avLst/>
          </a:prstGeom>
          <a:solidFill>
            <a:srgbClr val="5CC2B2"/>
          </a:solidFill>
          <a:ln w="12700">
            <a:solidFill>
              <a:srgbClr val="5CC2B2"/>
            </a:solidFill>
            <a:prstDash val="solid"/>
          </a:ln>
        </p:spPr>
      </p:sp>
      <p:sp>
        <p:nvSpPr>
          <p:cNvPr id="16" name="Text 13"/>
          <p:cNvSpPr txBox="1"/>
          <p:nvPr/>
        </p:nvSpPr>
        <p:spPr>
          <a:xfrm>
            <a:off x="841248"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Sizing steps; round down, never up</a:t>
            </a:r>
            <a:endParaRPr lang="en-US" sz="1150" dirty="0"/>
          </a:p>
        </p:txBody>
      </p:sp>
      <p:sp>
        <p:nvSpPr>
          <p:cNvPr id="17" name="Shape 14"/>
          <p:cNvSpPr/>
          <p:nvPr/>
        </p:nvSpPr>
        <p:spPr>
          <a:xfrm>
            <a:off x="640080" y="4471416"/>
            <a:ext cx="100584" cy="100584"/>
          </a:xfrm>
          <a:prstGeom prst="ellipse">
            <a:avLst/>
          </a:prstGeom>
          <a:solidFill>
            <a:srgbClr val="5CC2B2"/>
          </a:solidFill>
          <a:ln w="12700">
            <a:solidFill>
              <a:srgbClr val="5CC2B2"/>
            </a:solidFill>
            <a:prstDash val="solid"/>
          </a:ln>
        </p:spPr>
      </p:sp>
      <p:sp>
        <p:nvSpPr>
          <p:cNvPr id="18" name="Text 15"/>
          <p:cNvSpPr txBox="1"/>
          <p:nvPr/>
        </p:nvSpPr>
        <p:spPr>
          <a:xfrm>
            <a:off x="841248"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Three scenarios; accept, modify, decline</a:t>
            </a:r>
            <a:endParaRPr lang="en-US" sz="1150" dirty="0"/>
          </a:p>
        </p:txBody>
      </p:sp>
      <p:sp>
        <p:nvSpPr>
          <p:cNvPr id="19" name="Shape 16"/>
          <p:cNvSpPr/>
          <p:nvPr/>
        </p:nvSpPr>
        <p:spPr>
          <a:xfrm>
            <a:off x="640080" y="5257800"/>
            <a:ext cx="100584" cy="100584"/>
          </a:xfrm>
          <a:prstGeom prst="ellipse">
            <a:avLst/>
          </a:prstGeom>
          <a:solidFill>
            <a:srgbClr val="5CC2B2"/>
          </a:solidFill>
          <a:ln w="12700">
            <a:solidFill>
              <a:srgbClr val="5CC2B2"/>
            </a:solidFill>
            <a:prstDash val="solid"/>
          </a:ln>
        </p:spPr>
      </p:sp>
      <p:sp>
        <p:nvSpPr>
          <p:cNvPr id="20" name="Text 17"/>
          <p:cNvSpPr txBox="1"/>
          <p:nvPr/>
        </p:nvSpPr>
        <p:spPr>
          <a:xfrm>
            <a:off x="841248" y="5157216"/>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Single-order scope notice</a:t>
            </a:r>
            <a:endParaRPr lang="en-US" sz="1150" dirty="0"/>
          </a:p>
        </p:txBody>
      </p:sp>
      <p:sp>
        <p:nvSpPr>
          <p:cNvPr id="21" name="Shape 18"/>
          <p:cNvSpPr/>
          <p:nvPr/>
        </p:nvSpPr>
        <p:spPr>
          <a:xfrm>
            <a:off x="3319272" y="1371600"/>
            <a:ext cx="2697480" cy="4892040"/>
          </a:xfrm>
          <a:prstGeom prst="roundRect">
            <a:avLst>
              <a:gd name="adj" fmla="val 2373"/>
            </a:avLst>
          </a:prstGeom>
          <a:solidFill>
            <a:srgbClr val="1D242E"/>
          </a:solidFill>
          <a:ln w="9525">
            <a:solidFill>
              <a:srgbClr val="323C49"/>
            </a:solidFill>
            <a:prstDash val="solid"/>
          </a:ln>
        </p:spPr>
      </p:sp>
      <p:sp>
        <p:nvSpPr>
          <p:cNvPr id="22" name="Shape 19"/>
          <p:cNvSpPr/>
          <p:nvPr/>
        </p:nvSpPr>
        <p:spPr>
          <a:xfrm>
            <a:off x="3483864" y="1536192"/>
            <a:ext cx="1188720" cy="274320"/>
          </a:xfrm>
          <a:prstGeom prst="roundRect">
            <a:avLst>
              <a:gd name="adj" fmla="val 50000"/>
            </a:avLst>
          </a:prstGeom>
          <a:solidFill>
            <a:srgbClr val="F0A54A"/>
          </a:solidFill>
          <a:ln w="9525">
            <a:solidFill>
              <a:srgbClr val="F0A54A"/>
            </a:solidFill>
            <a:prstDash val="solid"/>
          </a:ln>
        </p:spPr>
      </p:sp>
      <p:sp>
        <p:nvSpPr>
          <p:cNvPr id="23" name="Text 20"/>
          <p:cNvSpPr txBox="1"/>
          <p:nvPr/>
        </p:nvSpPr>
        <p:spPr>
          <a:xfrm>
            <a:off x="3483864"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CHANGE</a:t>
            </a:r>
            <a:endParaRPr lang="en-US" sz="950" dirty="0"/>
          </a:p>
        </p:txBody>
      </p:sp>
      <p:sp>
        <p:nvSpPr>
          <p:cNvPr id="24" name="Shape 21"/>
          <p:cNvSpPr/>
          <p:nvPr/>
        </p:nvSpPr>
        <p:spPr>
          <a:xfrm>
            <a:off x="3502152" y="2112264"/>
            <a:ext cx="100584" cy="100584"/>
          </a:xfrm>
          <a:prstGeom prst="ellipse">
            <a:avLst/>
          </a:prstGeom>
          <a:solidFill>
            <a:srgbClr val="F0A54A"/>
          </a:solidFill>
          <a:ln w="12700">
            <a:solidFill>
              <a:srgbClr val="F0A54A"/>
            </a:solidFill>
            <a:prstDash val="solid"/>
          </a:ln>
        </p:spPr>
      </p:sp>
      <p:sp>
        <p:nvSpPr>
          <p:cNvPr id="25" name="Text 22"/>
          <p:cNvSpPr txBox="1"/>
          <p:nvPr/>
        </p:nvSpPr>
        <p:spPr>
          <a:xfrm>
            <a:off x="3703320"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Stop pills → structural stop options</a:t>
            </a:r>
            <a:endParaRPr lang="en-US" sz="1150" dirty="0"/>
          </a:p>
        </p:txBody>
      </p:sp>
      <p:sp>
        <p:nvSpPr>
          <p:cNvPr id="26" name="Shape 23"/>
          <p:cNvSpPr/>
          <p:nvPr/>
        </p:nvSpPr>
        <p:spPr>
          <a:xfrm>
            <a:off x="3502152" y="2898648"/>
            <a:ext cx="100584" cy="100584"/>
          </a:xfrm>
          <a:prstGeom prst="ellipse">
            <a:avLst/>
          </a:prstGeom>
          <a:solidFill>
            <a:srgbClr val="F0A54A"/>
          </a:solidFill>
          <a:ln w="12700">
            <a:solidFill>
              <a:srgbClr val="F0A54A"/>
            </a:solidFill>
            <a:prstDash val="solid"/>
          </a:ln>
        </p:spPr>
      </p:sp>
      <p:sp>
        <p:nvSpPr>
          <p:cNvPr id="27" name="Text 24"/>
          <p:cNvSpPr txBox="1"/>
          <p:nvPr/>
        </p:nvSpPr>
        <p:spPr>
          <a:xfrm>
            <a:off x="3703320"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Badge from synthesis and room</a:t>
            </a:r>
            <a:endParaRPr lang="en-US" sz="1150" dirty="0"/>
          </a:p>
        </p:txBody>
      </p:sp>
      <p:sp>
        <p:nvSpPr>
          <p:cNvPr id="28" name="Shape 25"/>
          <p:cNvSpPr/>
          <p:nvPr/>
        </p:nvSpPr>
        <p:spPr>
          <a:xfrm>
            <a:off x="3502152" y="3685032"/>
            <a:ext cx="100584" cy="100584"/>
          </a:xfrm>
          <a:prstGeom prst="ellipse">
            <a:avLst/>
          </a:prstGeom>
          <a:solidFill>
            <a:srgbClr val="F0A54A"/>
          </a:solidFill>
          <a:ln w="12700">
            <a:solidFill>
              <a:srgbClr val="F0A54A"/>
            </a:solidFill>
            <a:prstDash val="solid"/>
          </a:ln>
        </p:spPr>
      </p:sp>
      <p:sp>
        <p:nvSpPr>
          <p:cNvPr id="29" name="Text 26"/>
          <p:cNvSpPr txBox="1"/>
          <p:nvPr/>
        </p:nvSpPr>
        <p:spPr>
          <a:xfrm>
            <a:off x="3703320"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RRR = net profit ÷ actual loss</a:t>
            </a:r>
            <a:endParaRPr lang="en-US" sz="1150" dirty="0"/>
          </a:p>
        </p:txBody>
      </p:sp>
      <p:sp>
        <p:nvSpPr>
          <p:cNvPr id="30" name="Shape 27"/>
          <p:cNvSpPr/>
          <p:nvPr/>
        </p:nvSpPr>
        <p:spPr>
          <a:xfrm>
            <a:off x="3502152" y="4471416"/>
            <a:ext cx="100584" cy="100584"/>
          </a:xfrm>
          <a:prstGeom prst="ellipse">
            <a:avLst/>
          </a:prstGeom>
          <a:solidFill>
            <a:srgbClr val="F0A54A"/>
          </a:solidFill>
          <a:ln w="12700">
            <a:solidFill>
              <a:srgbClr val="F0A54A"/>
            </a:solidFill>
            <a:prstDash val="solid"/>
          </a:ln>
        </p:spPr>
      </p:sp>
      <p:sp>
        <p:nvSpPr>
          <p:cNvPr id="31" name="Text 28"/>
          <p:cNvSpPr txBox="1"/>
          <p:nvPr/>
        </p:nvSpPr>
        <p:spPr>
          <a:xfrm>
            <a:off x="3703320"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Chat setups pre-fill the modal</a:t>
            </a:r>
            <a:endParaRPr lang="en-US" sz="1150" dirty="0"/>
          </a:p>
        </p:txBody>
      </p:sp>
      <p:sp>
        <p:nvSpPr>
          <p:cNvPr id="32" name="Shape 29"/>
          <p:cNvSpPr/>
          <p:nvPr/>
        </p:nvSpPr>
        <p:spPr>
          <a:xfrm>
            <a:off x="3502152" y="5257800"/>
            <a:ext cx="100584" cy="100584"/>
          </a:xfrm>
          <a:prstGeom prst="ellipse">
            <a:avLst/>
          </a:prstGeom>
          <a:solidFill>
            <a:srgbClr val="F0A54A"/>
          </a:solidFill>
          <a:ln w="12700">
            <a:solidFill>
              <a:srgbClr val="F0A54A"/>
            </a:solidFill>
            <a:prstDash val="solid"/>
          </a:ln>
        </p:spPr>
      </p:sp>
      <p:sp>
        <p:nvSpPr>
          <p:cNvPr id="33" name="Text 30"/>
          <p:cNvSpPr txBox="1"/>
          <p:nvPr/>
        </p:nvSpPr>
        <p:spPr>
          <a:xfrm>
            <a:off x="3703320" y="5157216"/>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Underflow help within limits</a:t>
            </a:r>
            <a:endParaRPr lang="en-US" sz="1150" dirty="0"/>
          </a:p>
        </p:txBody>
      </p:sp>
      <p:sp>
        <p:nvSpPr>
          <p:cNvPr id="34" name="Shape 31"/>
          <p:cNvSpPr/>
          <p:nvPr/>
        </p:nvSpPr>
        <p:spPr>
          <a:xfrm>
            <a:off x="6181344" y="1371600"/>
            <a:ext cx="2697480" cy="4892040"/>
          </a:xfrm>
          <a:prstGeom prst="roundRect">
            <a:avLst>
              <a:gd name="adj" fmla="val 2373"/>
            </a:avLst>
          </a:prstGeom>
          <a:solidFill>
            <a:srgbClr val="1D242E"/>
          </a:solidFill>
          <a:ln w="9525">
            <a:solidFill>
              <a:srgbClr val="323C49"/>
            </a:solidFill>
            <a:prstDash val="solid"/>
          </a:ln>
        </p:spPr>
      </p:sp>
      <p:sp>
        <p:nvSpPr>
          <p:cNvPr id="35" name="Shape 32"/>
          <p:cNvSpPr/>
          <p:nvPr/>
        </p:nvSpPr>
        <p:spPr>
          <a:xfrm>
            <a:off x="6345936" y="1536192"/>
            <a:ext cx="1188720" cy="274320"/>
          </a:xfrm>
          <a:prstGeom prst="roundRect">
            <a:avLst>
              <a:gd name="adj" fmla="val 50000"/>
            </a:avLst>
          </a:prstGeom>
          <a:solidFill>
            <a:srgbClr val="E2B54E"/>
          </a:solidFill>
          <a:ln w="9525">
            <a:solidFill>
              <a:srgbClr val="E2B54E"/>
            </a:solidFill>
            <a:prstDash val="solid"/>
          </a:ln>
        </p:spPr>
      </p:sp>
      <p:sp>
        <p:nvSpPr>
          <p:cNvPr id="36" name="Text 33"/>
          <p:cNvSpPr txBox="1"/>
          <p:nvPr/>
        </p:nvSpPr>
        <p:spPr>
          <a:xfrm>
            <a:off x="6345936"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ADD</a:t>
            </a:r>
            <a:endParaRPr lang="en-US" sz="950" dirty="0"/>
          </a:p>
        </p:txBody>
      </p:sp>
      <p:sp>
        <p:nvSpPr>
          <p:cNvPr id="37" name="Shape 34"/>
          <p:cNvSpPr/>
          <p:nvPr/>
        </p:nvSpPr>
        <p:spPr>
          <a:xfrm>
            <a:off x="6364224" y="2112264"/>
            <a:ext cx="100584" cy="100584"/>
          </a:xfrm>
          <a:prstGeom prst="ellipse">
            <a:avLst/>
          </a:prstGeom>
          <a:solidFill>
            <a:srgbClr val="E2B54E"/>
          </a:solidFill>
          <a:ln w="12700">
            <a:solidFill>
              <a:srgbClr val="E2B54E"/>
            </a:solidFill>
            <a:prstDash val="solid"/>
          </a:ln>
        </p:spPr>
      </p:sp>
      <p:sp>
        <p:nvSpPr>
          <p:cNvPr id="38" name="Text 35"/>
          <p:cNvSpPr txBox="1"/>
          <p:nvPr/>
        </p:nvSpPr>
        <p:spPr>
          <a:xfrm>
            <a:off x="6565392"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Offer check before Report 1</a:t>
            </a:r>
            <a:endParaRPr lang="en-US" sz="1150" dirty="0"/>
          </a:p>
        </p:txBody>
      </p:sp>
      <p:sp>
        <p:nvSpPr>
          <p:cNvPr id="39" name="Shape 36"/>
          <p:cNvSpPr/>
          <p:nvPr/>
        </p:nvSpPr>
        <p:spPr>
          <a:xfrm>
            <a:off x="6364224" y="2898648"/>
            <a:ext cx="100584" cy="100584"/>
          </a:xfrm>
          <a:prstGeom prst="ellipse">
            <a:avLst/>
          </a:prstGeom>
          <a:solidFill>
            <a:srgbClr val="E2B54E"/>
          </a:solidFill>
          <a:ln w="12700">
            <a:solidFill>
              <a:srgbClr val="E2B54E"/>
            </a:solidFill>
            <a:prstDash val="solid"/>
          </a:ln>
        </p:spPr>
      </p:sp>
      <p:sp>
        <p:nvSpPr>
          <p:cNvPr id="40" name="Text 37"/>
          <p:cNvSpPr txBox="1"/>
          <p:nvPr/>
        </p:nvSpPr>
        <p:spPr>
          <a:xfrm>
            <a:off x="6565392"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Blackout and defect-flag rules</a:t>
            </a:r>
            <a:endParaRPr lang="en-US" sz="1150" dirty="0"/>
          </a:p>
        </p:txBody>
      </p:sp>
      <p:sp>
        <p:nvSpPr>
          <p:cNvPr id="41" name="Shape 38"/>
          <p:cNvSpPr/>
          <p:nvPr/>
        </p:nvSpPr>
        <p:spPr>
          <a:xfrm>
            <a:off x="6364224" y="3685032"/>
            <a:ext cx="100584" cy="100584"/>
          </a:xfrm>
          <a:prstGeom prst="ellipse">
            <a:avLst/>
          </a:prstGeom>
          <a:solidFill>
            <a:srgbClr val="E2B54E"/>
          </a:solidFill>
          <a:ln w="12700">
            <a:solidFill>
              <a:srgbClr val="E2B54E"/>
            </a:solidFill>
            <a:prstDash val="solid"/>
          </a:ln>
        </p:spPr>
      </p:sp>
      <p:sp>
        <p:nvSpPr>
          <p:cNvPr id="42" name="Text 39"/>
          <p:cNvSpPr txBox="1"/>
          <p:nvPr/>
        </p:nvSpPr>
        <p:spPr>
          <a:xfrm>
            <a:off x="6565392"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symbol_specs from MT5</a:t>
            </a:r>
            <a:endParaRPr lang="en-US" sz="1150" dirty="0"/>
          </a:p>
        </p:txBody>
      </p:sp>
      <p:sp>
        <p:nvSpPr>
          <p:cNvPr id="43" name="Shape 40"/>
          <p:cNvSpPr/>
          <p:nvPr/>
        </p:nvSpPr>
        <p:spPr>
          <a:xfrm>
            <a:off x="6364224" y="4471416"/>
            <a:ext cx="100584" cy="100584"/>
          </a:xfrm>
          <a:prstGeom prst="ellipse">
            <a:avLst/>
          </a:prstGeom>
          <a:solidFill>
            <a:srgbClr val="E2B54E"/>
          </a:solidFill>
          <a:ln w="12700">
            <a:solidFill>
              <a:srgbClr val="E2B54E"/>
            </a:solidFill>
            <a:prstDash val="solid"/>
          </a:ln>
        </p:spPr>
      </p:sp>
      <p:sp>
        <p:nvSpPr>
          <p:cNvPr id="44" name="Text 41"/>
          <p:cNvSpPr txBox="1"/>
          <p:nvPr/>
        </p:nvSpPr>
        <p:spPr>
          <a:xfrm>
            <a:off x="6565392"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Declared and actual risk</a:t>
            </a:r>
            <a:endParaRPr lang="en-US" sz="1150" dirty="0"/>
          </a:p>
        </p:txBody>
      </p:sp>
      <p:sp>
        <p:nvSpPr>
          <p:cNvPr id="45" name="Shape 42"/>
          <p:cNvSpPr/>
          <p:nvPr/>
        </p:nvSpPr>
        <p:spPr>
          <a:xfrm>
            <a:off x="6364224" y="5257800"/>
            <a:ext cx="100584" cy="100584"/>
          </a:xfrm>
          <a:prstGeom prst="ellipse">
            <a:avLst/>
          </a:prstGeom>
          <a:solidFill>
            <a:srgbClr val="E2B54E"/>
          </a:solidFill>
          <a:ln w="12700">
            <a:solidFill>
              <a:srgbClr val="E2B54E"/>
            </a:solidFill>
            <a:prstDash val="solid"/>
          </a:ln>
        </p:spPr>
      </p:sp>
      <p:sp>
        <p:nvSpPr>
          <p:cNvPr id="46" name="Text 43"/>
          <p:cNvSpPr txBox="1"/>
          <p:nvPr/>
        </p:nvSpPr>
        <p:spPr>
          <a:xfrm>
            <a:off x="6565392" y="5157216"/>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Consent record; fixture tests</a:t>
            </a:r>
            <a:endParaRPr lang="en-US" sz="1150" dirty="0"/>
          </a:p>
        </p:txBody>
      </p:sp>
      <p:sp>
        <p:nvSpPr>
          <p:cNvPr id="47" name="Shape 44"/>
          <p:cNvSpPr/>
          <p:nvPr/>
        </p:nvSpPr>
        <p:spPr>
          <a:xfrm>
            <a:off x="9043416" y="1371600"/>
            <a:ext cx="2697480" cy="4892040"/>
          </a:xfrm>
          <a:prstGeom prst="roundRect">
            <a:avLst>
              <a:gd name="adj" fmla="val 2373"/>
            </a:avLst>
          </a:prstGeom>
          <a:solidFill>
            <a:srgbClr val="1D242E"/>
          </a:solidFill>
          <a:ln w="9525">
            <a:solidFill>
              <a:srgbClr val="323C49"/>
            </a:solidFill>
            <a:prstDash val="solid"/>
          </a:ln>
        </p:spPr>
      </p:sp>
      <p:sp>
        <p:nvSpPr>
          <p:cNvPr id="48" name="Shape 45"/>
          <p:cNvSpPr/>
          <p:nvPr/>
        </p:nvSpPr>
        <p:spPr>
          <a:xfrm>
            <a:off x="9208008" y="1536192"/>
            <a:ext cx="1188720" cy="274320"/>
          </a:xfrm>
          <a:prstGeom prst="roundRect">
            <a:avLst>
              <a:gd name="adj" fmla="val 50000"/>
            </a:avLst>
          </a:prstGeom>
          <a:solidFill>
            <a:srgbClr val="E5746A"/>
          </a:solidFill>
          <a:ln w="9525">
            <a:solidFill>
              <a:srgbClr val="E5746A"/>
            </a:solidFill>
            <a:prstDash val="solid"/>
          </a:ln>
        </p:spPr>
      </p:sp>
      <p:sp>
        <p:nvSpPr>
          <p:cNvPr id="49" name="Text 46"/>
          <p:cNvSpPr txBox="1"/>
          <p:nvPr/>
        </p:nvSpPr>
        <p:spPr>
          <a:xfrm>
            <a:off x="9208008"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REMOVE</a:t>
            </a:r>
            <a:endParaRPr lang="en-US" sz="950" dirty="0"/>
          </a:p>
        </p:txBody>
      </p:sp>
      <p:sp>
        <p:nvSpPr>
          <p:cNvPr id="50" name="Shape 47"/>
          <p:cNvSpPr/>
          <p:nvPr/>
        </p:nvSpPr>
        <p:spPr>
          <a:xfrm>
            <a:off x="9226296" y="2112264"/>
            <a:ext cx="100584" cy="100584"/>
          </a:xfrm>
          <a:prstGeom prst="ellipse">
            <a:avLst/>
          </a:prstGeom>
          <a:solidFill>
            <a:srgbClr val="E5746A"/>
          </a:solidFill>
          <a:ln w="12700">
            <a:solidFill>
              <a:srgbClr val="E5746A"/>
            </a:solidFill>
            <a:prstDash val="solid"/>
          </a:ln>
        </p:spPr>
      </p:sp>
      <p:sp>
        <p:nvSpPr>
          <p:cNvPr id="51" name="Text 48"/>
          <p:cNvSpPr txBox="1"/>
          <p:nvPr/>
        </p:nvSpPr>
        <p:spPr>
          <a:xfrm>
            <a:off x="9427464"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WACS thresholds in the badge</a:t>
            </a:r>
            <a:endParaRPr lang="en-US" sz="1150" dirty="0"/>
          </a:p>
        </p:txBody>
      </p:sp>
      <p:sp>
        <p:nvSpPr>
          <p:cNvPr id="52" name="Shape 49"/>
          <p:cNvSpPr/>
          <p:nvPr/>
        </p:nvSpPr>
        <p:spPr>
          <a:xfrm>
            <a:off x="9226296" y="2898648"/>
            <a:ext cx="100584" cy="100584"/>
          </a:xfrm>
          <a:prstGeom prst="ellipse">
            <a:avLst/>
          </a:prstGeom>
          <a:solidFill>
            <a:srgbClr val="E5746A"/>
          </a:solidFill>
          <a:ln w="12700">
            <a:solidFill>
              <a:srgbClr val="E5746A"/>
            </a:solidFill>
            <a:prstDash val="solid"/>
          </a:ln>
        </p:spPr>
      </p:sp>
      <p:sp>
        <p:nvSpPr>
          <p:cNvPr id="53" name="Text 50"/>
          <p:cNvSpPr txBox="1"/>
          <p:nvPr/>
        </p:nvSpPr>
        <p:spPr>
          <a:xfrm>
            <a:off x="9427464"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54-bar line on the profile card</a:t>
            </a:r>
            <a:endParaRPr lang="en-US" sz="1150" dirty="0"/>
          </a:p>
        </p:txBody>
      </p:sp>
      <p:sp>
        <p:nvSpPr>
          <p:cNvPr id="54" name="Shape 51"/>
          <p:cNvSpPr/>
          <p:nvPr/>
        </p:nvSpPr>
        <p:spPr>
          <a:xfrm>
            <a:off x="9226296" y="3685032"/>
            <a:ext cx="100584" cy="100584"/>
          </a:xfrm>
          <a:prstGeom prst="ellipse">
            <a:avLst/>
          </a:prstGeom>
          <a:solidFill>
            <a:srgbClr val="E5746A"/>
          </a:solidFill>
          <a:ln w="12700">
            <a:solidFill>
              <a:srgbClr val="E5746A"/>
            </a:solidFill>
            <a:prstDash val="solid"/>
          </a:ln>
        </p:spPr>
      </p:sp>
      <p:sp>
        <p:nvSpPr>
          <p:cNvPr id="55" name="Text 52"/>
          <p:cNvSpPr txBox="1"/>
          <p:nvPr/>
        </p:nvSpPr>
        <p:spPr>
          <a:xfrm>
            <a:off x="9427464"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“Set equity to …” button</a:t>
            </a:r>
            <a:endParaRPr lang="en-US" sz="1150" dirty="0"/>
          </a:p>
        </p:txBody>
      </p:sp>
      <p:sp>
        <p:nvSpPr>
          <p:cNvPr id="56" name="Shape 53"/>
          <p:cNvSpPr/>
          <p:nvPr/>
        </p:nvSpPr>
        <p:spPr>
          <a:xfrm>
            <a:off x="9226296" y="4471416"/>
            <a:ext cx="100584" cy="100584"/>
          </a:xfrm>
          <a:prstGeom prst="ellipse">
            <a:avLst/>
          </a:prstGeom>
          <a:solidFill>
            <a:srgbClr val="E5746A"/>
          </a:solidFill>
          <a:ln w="12700">
            <a:solidFill>
              <a:srgbClr val="E5746A"/>
            </a:solidFill>
            <a:prstDash val="solid"/>
          </a:ln>
        </p:spPr>
      </p:sp>
      <p:sp>
        <p:nvSpPr>
          <p:cNvPr id="57" name="Text 54"/>
          <p:cNvSpPr txBox="1"/>
          <p:nvPr/>
        </p:nvSpPr>
        <p:spPr>
          <a:xfrm>
            <a:off x="9427464"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ON DELETE CASCADE on history</a:t>
            </a:r>
            <a:endParaRPr lang="en-US" sz="1150" dirty="0"/>
          </a:p>
        </p:txBody>
      </p:sp>
      <p:sp>
        <p:nvSpPr>
          <p:cNvPr id="58" name="Shape 55"/>
          <p:cNvSpPr/>
          <p:nvPr/>
        </p:nvSpPr>
        <p:spPr>
          <a:xfrm>
            <a:off x="9226296" y="5257800"/>
            <a:ext cx="100584" cy="100584"/>
          </a:xfrm>
          <a:prstGeom prst="ellipse">
            <a:avLst/>
          </a:prstGeom>
          <a:solidFill>
            <a:srgbClr val="E5746A"/>
          </a:solidFill>
          <a:ln w="12700">
            <a:solidFill>
              <a:srgbClr val="E5746A"/>
            </a:solidFill>
            <a:prstDash val="solid"/>
          </a:ln>
        </p:spPr>
      </p:sp>
      <p:sp>
        <p:nvSpPr>
          <p:cNvPr id="59" name="Text 56"/>
          <p:cNvSpPr txBox="1"/>
          <p:nvPr/>
        </p:nvSpPr>
        <p:spPr>
          <a:xfrm>
            <a:off x="9427464" y="5157216"/>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“Ready to Execute” wording</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HANDOFFS</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What Section 6 hands on, and asks for</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1143000"/>
                <a:gridCol w="2194560"/>
                <a:gridCol w="5349240"/>
                <a:gridCol w="2587752"/>
              </a:tblGrid>
              <a:tr h="34747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To</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What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Form</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Replaces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Report 2 availability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Offered or not, with the reason, before Report 1 is shown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Offered after every Report 1</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A3AEBB"/>
                          </a:solidFill>
                          <a:latin typeface="Calibri" pitchFamily="34" charset="0"/>
                          <a:ea typeface="Calibri" pitchFamily="34" charset="-122"/>
                          <a:cs typeface="Calibri" pitchFamily="34" charset="-120"/>
                        </a:rPr>
                        <a:t>Chat UI</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Modal definition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Direction, zone prices, stop options, pre-set risk with reasons, bounds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Fixed pills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A3AEBB"/>
                          </a:solidFill>
                          <a:latin typeface="Calibri" pitchFamily="34" charset="0"/>
                          <a:ea typeface="Calibri" pitchFamily="34" charset="-122"/>
                          <a:cs typeface="Calibri" pitchFamily="34" charset="-120"/>
                        </a:rPr>
                        <a:t>Chat UI</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Report 2</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Template in the user’s language; declared and actual risk; disclaimer</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A model-written report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B7A3E0"/>
                          </a:solidFill>
                          <a:latin typeface="Calibri" pitchFamily="34" charset="0"/>
                          <a:ea typeface="Calibri" pitchFamily="34" charset="-122"/>
                          <a:cs typeface="Calibri" pitchFamily="34" charset="-120"/>
                        </a:rPr>
                        <a:t>Section 7</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Consent record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One append-only row per accept, modify or decline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A transcript line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B7A3E0"/>
                          </a:solidFill>
                          <a:latin typeface="Calibri" pitchFamily="34" charset="0"/>
                          <a:ea typeface="Calibri" pitchFamily="34" charset="-122"/>
                          <a:cs typeface="Calibri" pitchFamily="34" charset="-120"/>
                        </a:rPr>
                        <a:t>Section 7</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Trace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Validator results, overrides, Engine 4 and symbol_specs versions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Nothing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5CC2B2"/>
                          </a:solidFill>
                          <a:latin typeface="Calibri" pitchFamily="34" charset="0"/>
                          <a:ea typeface="Calibri" pitchFamily="34" charset="-122"/>
                          <a:cs typeface="Calibri" pitchFamily="34" charset="-120"/>
                        </a:rPr>
                        <a:t>Section 1</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Request: symbol_specs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Filled by the collector from MT5, daily and on change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Constants in code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B7A3E0"/>
                          </a:solidFill>
                          <a:latin typeface="Calibri" pitchFamily="34" charset="0"/>
                          <a:ea typeface="Calibri" pitchFamily="34" charset="-122"/>
                          <a:cs typeface="Calibri" pitchFamily="34" charset="-120"/>
                        </a:rPr>
                        <a:t>Section 7</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Request: retention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One figure for profile history and consent records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Two figures (D, 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DECISIONS</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Section 6 decisions, settled 30 September</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11274552" cy="914400"/>
        </p:xfrm>
        <a:graphic>
          <a:graphicData uri="http://schemas.openxmlformats.org/drawingml/2006/table">
            <a:tbl>
              <a:tblPr/>
              <a:tblGrid>
                <a:gridCol w="548640"/>
                <a:gridCol w="2011680"/>
                <a:gridCol w="5852160"/>
                <a:gridCol w="1764792"/>
                <a:gridCol w="109728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Decided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Not chosen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6.1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When Report 2 is offered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Only with a synthesis direction on a usable cycle, outside a blackout; else the reason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After every Report 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6.2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Setup freshness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Pinned to Report 1’s cycle; refused past invalidation; changed synthesis offers a refresh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Recompute silently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6.3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News blackout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±15 min around file A’s Tier-1 list (±60 if approximate); other releases warn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Warning only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6.4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Defect flag</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CAUTIONARY pre-sets half the risk with the reason; override allowed and logged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No change / hard cap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6.5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Stop options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Distances to structural invalidation levels ≥ Min SLD, plus custom</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Fixed $13–21 pills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6.6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Badge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Synthesis table + room to the next level; no badge when nothing fits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The model chooses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6.7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Style mismatch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Offered with a notice; counter-trend caps follow the setup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Not offered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6.8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RRR definition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Net profit ÷ actual loss, after commission; declared and actual risk shown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G’s effective RRR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6.9</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Broker figures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symbol_specs from MT5; spread where it triggers; swap for Day Traders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Constants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6.10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Chat-typed setups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Extracted values pre-fill the modal; one validator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Compute from chat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6.11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Report 2 production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Engine 4 + a fixed template in 16 languages; no model</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Model-written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9319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6.12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Consent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Record per action; “Accept setup”; history kept, hashed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Transcript line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6</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6 · ENGINE 4 &amp; REPORT 2 · DONE WHEN</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Section 6 is finished when these checks pass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17</a:t>
            </a:r>
            <a:endParaRPr lang="en-US" sz="1000" dirty="0"/>
          </a:p>
        </p:txBody>
      </p:sp>
      <p:pic>
        <p:nvPicPr>
          <p:cNvPr id="8" name="Image 0" descr="preencoded.png">    </p:cNvPr>
          <p:cNvPicPr>
            <a:picLocks noChangeAspect="1"/>
          </p:cNvPicPr>
          <p:nvPr/>
        </p:nvPicPr>
        <p:blipFill>
          <a:blip r:embed="rId1"/>
          <a:stretch>
            <a:fillRect/>
          </a:stretch>
        </p:blipFill>
        <p:spPr>
          <a:xfrm>
            <a:off x="457200" y="1463040"/>
            <a:ext cx="384048" cy="384048"/>
          </a:xfrm>
          <a:prstGeom prst="rect">
            <a:avLst/>
          </a:prstGeom>
        </p:spPr>
      </p:pic>
      <p:sp>
        <p:nvSpPr>
          <p:cNvPr id="9" name="Text 5"/>
          <p:cNvSpPr txBox="1"/>
          <p:nvPr/>
        </p:nvSpPr>
        <p:spPr>
          <a:xfrm>
            <a:off x="1005840" y="1417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The blackout holds</a:t>
            </a:r>
            <a:endParaRPr lang="en-US" sz="1350" dirty="0"/>
          </a:p>
        </p:txBody>
      </p:sp>
      <p:sp>
        <p:nvSpPr>
          <p:cNvPr id="10" name="Text 6"/>
          <p:cNvSpPr txBox="1"/>
          <p:nvPr/>
        </p:nvSpPr>
        <p:spPr>
          <a:xfrm>
            <a:off x="1005840" y="1801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Releases at −16, −14, +14 and +16 minutes give allowed, blocked, blocked, allowed.</a:t>
            </a:r>
            <a:endParaRPr lang="en-US" sz="1150" dirty="0"/>
          </a:p>
        </p:txBody>
      </p:sp>
      <p:pic>
        <p:nvPicPr>
          <p:cNvPr id="11" name="Image 1" descr="preencoded.png">    </p:cNvPr>
          <p:cNvPicPr>
            <a:picLocks noChangeAspect="1"/>
          </p:cNvPicPr>
          <p:nvPr/>
        </p:nvPicPr>
        <p:blipFill>
          <a:blip r:embed="rId2"/>
          <a:stretch>
            <a:fillRect/>
          </a:stretch>
        </p:blipFill>
        <p:spPr>
          <a:xfrm>
            <a:off x="6126480" y="1463040"/>
            <a:ext cx="384048" cy="384048"/>
          </a:xfrm>
          <a:prstGeom prst="rect">
            <a:avLst/>
          </a:prstGeom>
        </p:spPr>
      </p:pic>
      <p:sp>
        <p:nvSpPr>
          <p:cNvPr id="12" name="Text 7"/>
          <p:cNvSpPr txBox="1"/>
          <p:nvPr/>
        </p:nvSpPr>
        <p:spPr>
          <a:xfrm>
            <a:off x="6675120" y="1417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The example is a test</a:t>
            </a:r>
            <a:endParaRPr lang="en-US" sz="1350" dirty="0"/>
          </a:p>
        </p:txBody>
      </p:sp>
      <p:sp>
        <p:nvSpPr>
          <p:cNvPr id="13" name="Text 8"/>
          <p:cNvSpPr txBox="1"/>
          <p:nvPr/>
        </p:nvSpPr>
        <p:spPr>
          <a:xfrm>
            <a:off x="6675120" y="1801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The corrected table runs as a unit test; the document and the code agree.</a:t>
            </a:r>
            <a:endParaRPr lang="en-US" sz="1150" dirty="0"/>
          </a:p>
        </p:txBody>
      </p:sp>
      <p:pic>
        <p:nvPicPr>
          <p:cNvPr id="14" name="Image 2" descr="preencoded.png">    </p:cNvPr>
          <p:cNvPicPr>
            <a:picLocks noChangeAspect="1"/>
          </p:cNvPicPr>
          <p:nvPr/>
        </p:nvPicPr>
        <p:blipFill>
          <a:blip r:embed="rId3"/>
          <a:stretch>
            <a:fillRect/>
          </a:stretch>
        </p:blipFill>
        <p:spPr>
          <a:xfrm>
            <a:off x="457200" y="2606040"/>
            <a:ext cx="384048" cy="384048"/>
          </a:xfrm>
          <a:prstGeom prst="rect">
            <a:avLst/>
          </a:prstGeom>
        </p:spPr>
      </p:pic>
      <p:sp>
        <p:nvSpPr>
          <p:cNvPr id="15" name="Text 9"/>
          <p:cNvSpPr txBox="1"/>
          <p:nvPr/>
        </p:nvSpPr>
        <p:spPr>
          <a:xfrm>
            <a:off x="1005840" y="2560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Caution sizes down</a:t>
            </a:r>
            <a:endParaRPr lang="en-US" sz="1350" dirty="0"/>
          </a:p>
        </p:txBody>
      </p:sp>
      <p:sp>
        <p:nvSpPr>
          <p:cNvPr id="16" name="Text 10"/>
          <p:cNvSpPr txBox="1"/>
          <p:nvPr/>
        </p:nvSpPr>
        <p:spPr>
          <a:xfrm>
            <a:off x="1005840" y="2944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CAUTIONARY cycle pre-sets half the risk; an override shows in the consent record.</a:t>
            </a:r>
            <a:endParaRPr lang="en-US" sz="1150" dirty="0"/>
          </a:p>
        </p:txBody>
      </p:sp>
      <p:pic>
        <p:nvPicPr>
          <p:cNvPr id="17" name="Image 3" descr="preencoded.png">    </p:cNvPr>
          <p:cNvPicPr>
            <a:picLocks noChangeAspect="1"/>
          </p:cNvPicPr>
          <p:nvPr/>
        </p:nvPicPr>
        <p:blipFill>
          <a:blip r:embed="rId4"/>
          <a:stretch>
            <a:fillRect/>
          </a:stretch>
        </p:blipFill>
        <p:spPr>
          <a:xfrm>
            <a:off x="6126480" y="2606040"/>
            <a:ext cx="384048" cy="384048"/>
          </a:xfrm>
          <a:prstGeom prst="rect">
            <a:avLst/>
          </a:prstGeom>
        </p:spPr>
      </p:pic>
      <p:sp>
        <p:nvSpPr>
          <p:cNvPr id="18" name="Text 11"/>
          <p:cNvSpPr txBox="1"/>
          <p:nvPr/>
        </p:nvSpPr>
        <p:spPr>
          <a:xfrm>
            <a:off x="6675120" y="2560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No target past structure</a:t>
            </a:r>
            <a:endParaRPr lang="en-US" sz="1350" dirty="0"/>
          </a:p>
        </p:txBody>
      </p:sp>
      <p:sp>
        <p:nvSpPr>
          <p:cNvPr id="19" name="Text 12"/>
          <p:cNvSpPr txBox="1"/>
          <p:nvPr/>
        </p:nvSpPr>
        <p:spPr>
          <a:xfrm>
            <a:off x="6675120" y="2944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On the 18 Sep example no badge is given and 4384.28 is named.</a:t>
            </a:r>
            <a:endParaRPr lang="en-US" sz="1150" dirty="0"/>
          </a:p>
        </p:txBody>
      </p:sp>
      <p:pic>
        <p:nvPicPr>
          <p:cNvPr id="20" name="Image 4" descr="preencoded.png">    </p:cNvPr>
          <p:cNvPicPr>
            <a:picLocks noChangeAspect="1"/>
          </p:cNvPicPr>
          <p:nvPr/>
        </p:nvPicPr>
        <p:blipFill>
          <a:blip r:embed="rId5"/>
          <a:stretch>
            <a:fillRect/>
          </a:stretch>
        </p:blipFill>
        <p:spPr>
          <a:xfrm>
            <a:off x="457200" y="3749040"/>
            <a:ext cx="384048" cy="384048"/>
          </a:xfrm>
          <a:prstGeom prst="rect">
            <a:avLst/>
          </a:prstGeom>
        </p:spPr>
      </p:pic>
      <p:sp>
        <p:nvSpPr>
          <p:cNvPr id="21" name="Text 13"/>
          <p:cNvSpPr txBox="1"/>
          <p:nvPr/>
        </p:nvSpPr>
        <p:spPr>
          <a:xfrm>
            <a:off x="1005840" y="3703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Underflow stays in limits</a:t>
            </a:r>
            <a:endParaRPr lang="en-US" sz="1350" dirty="0"/>
          </a:p>
        </p:txBody>
      </p:sp>
      <p:sp>
        <p:nvSpPr>
          <p:cNvPr id="22" name="Text 14"/>
          <p:cNvSpPr txBox="1"/>
          <p:nvPr/>
        </p:nvSpPr>
        <p:spPr>
          <a:xfrm>
            <a:off x="1005840" y="4087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No offered option exceeds Max RPT or asks for a different equity.</a:t>
            </a:r>
            <a:endParaRPr lang="en-US" sz="1150" dirty="0"/>
          </a:p>
        </p:txBody>
      </p:sp>
      <p:pic>
        <p:nvPicPr>
          <p:cNvPr id="23" name="Image 5" descr="preencoded.png">    </p:cNvPr>
          <p:cNvPicPr>
            <a:picLocks noChangeAspect="1"/>
          </p:cNvPicPr>
          <p:nvPr/>
        </p:nvPicPr>
        <p:blipFill>
          <a:blip r:embed="rId6"/>
          <a:stretch>
            <a:fillRect/>
          </a:stretch>
        </p:blipFill>
        <p:spPr>
          <a:xfrm>
            <a:off x="6126480" y="3749040"/>
            <a:ext cx="384048" cy="384048"/>
          </a:xfrm>
          <a:prstGeom prst="rect">
            <a:avLst/>
          </a:prstGeom>
        </p:spPr>
      </p:pic>
      <p:sp>
        <p:nvSpPr>
          <p:cNvPr id="24" name="Text 15"/>
          <p:cNvSpPr txBox="1"/>
          <p:nvPr/>
        </p:nvSpPr>
        <p:spPr>
          <a:xfrm>
            <a:off x="6675120" y="3703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One validator</a:t>
            </a:r>
            <a:endParaRPr lang="en-US" sz="1350" dirty="0"/>
          </a:p>
        </p:txBody>
      </p:sp>
      <p:sp>
        <p:nvSpPr>
          <p:cNvPr id="25" name="Text 16"/>
          <p:cNvSpPr txBox="1"/>
          <p:nvPr/>
        </p:nvSpPr>
        <p:spPr>
          <a:xfrm>
            <a:off x="6675120" y="4087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The same setup typed in chat and entered in the modal gives identical results.</a:t>
            </a:r>
            <a:endParaRPr lang="en-US" sz="1150" dirty="0"/>
          </a:p>
        </p:txBody>
      </p:sp>
      <p:pic>
        <p:nvPicPr>
          <p:cNvPr id="26" name="Image 6" descr="preencoded.png">    </p:cNvPr>
          <p:cNvPicPr>
            <a:picLocks noChangeAspect="1"/>
          </p:cNvPicPr>
          <p:nvPr/>
        </p:nvPicPr>
        <p:blipFill>
          <a:blip r:embed="rId7"/>
          <a:stretch>
            <a:fillRect/>
          </a:stretch>
        </p:blipFill>
        <p:spPr>
          <a:xfrm>
            <a:off x="457200" y="4892040"/>
            <a:ext cx="384048" cy="384048"/>
          </a:xfrm>
          <a:prstGeom prst="rect">
            <a:avLst/>
          </a:prstGeom>
        </p:spPr>
      </p:pic>
      <p:sp>
        <p:nvSpPr>
          <p:cNvPr id="27" name="Text 17"/>
          <p:cNvSpPr txBox="1"/>
          <p:nvPr/>
        </p:nvSpPr>
        <p:spPr>
          <a:xfrm>
            <a:off x="1005840" y="4846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Specs drive the maths</a:t>
            </a:r>
            <a:endParaRPr lang="en-US" sz="1350" dirty="0"/>
          </a:p>
        </p:txBody>
      </p:sp>
      <p:sp>
        <p:nvSpPr>
          <p:cNvPr id="28" name="Text 18"/>
          <p:cNvSpPr txBox="1"/>
          <p:nvPr/>
        </p:nvSpPr>
        <p:spPr>
          <a:xfrm>
            <a:off x="1005840" y="5230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Changing contract size or lot step in symbol_specs changes the lot with no code change.</a:t>
            </a:r>
            <a:endParaRPr lang="en-US" sz="1150" dirty="0"/>
          </a:p>
        </p:txBody>
      </p:sp>
      <p:pic>
        <p:nvPicPr>
          <p:cNvPr id="29" name="Image 7" descr="preencoded.png">    </p:cNvPr>
          <p:cNvPicPr>
            <a:picLocks noChangeAspect="1"/>
          </p:cNvPicPr>
          <p:nvPr/>
        </p:nvPicPr>
        <p:blipFill>
          <a:blip r:embed="rId8"/>
          <a:stretch>
            <a:fillRect/>
          </a:stretch>
        </p:blipFill>
        <p:spPr>
          <a:xfrm>
            <a:off x="6126480" y="4892040"/>
            <a:ext cx="384048" cy="384048"/>
          </a:xfrm>
          <a:prstGeom prst="rect">
            <a:avLst/>
          </a:prstGeom>
        </p:spPr>
      </p:pic>
      <p:sp>
        <p:nvSpPr>
          <p:cNvPr id="30" name="Text 19"/>
          <p:cNvSpPr txBox="1"/>
          <p:nvPr/>
        </p:nvSpPr>
        <p:spPr>
          <a:xfrm>
            <a:off x="6675120" y="4846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Audit survives deletion</a:t>
            </a:r>
            <a:endParaRPr lang="en-US" sz="1350" dirty="0"/>
          </a:p>
        </p:txBody>
      </p:sp>
      <p:sp>
        <p:nvSpPr>
          <p:cNvPr id="31" name="Text 20"/>
          <p:cNvSpPr txBox="1"/>
          <p:nvPr/>
        </p:nvSpPr>
        <p:spPr>
          <a:xfrm>
            <a:off x="6675120" y="5230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Deleting a test account keeps its hashed history and consent rows.</a:t>
            </a:r>
            <a:endParaRPr lang="en-US" sz="1150" dirty="0"/>
          </a:p>
        </p:txBody>
      </p:sp>
      <p:sp>
        <p:nvSpPr>
          <p:cNvPr id="32" name="Text 21"/>
          <p:cNvSpPr txBox="1"/>
          <p:nvPr/>
        </p:nvSpPr>
        <p:spPr>
          <a:xfrm>
            <a:off x="457200" y="6035040"/>
            <a:ext cx="10972800" cy="320040"/>
          </a:xfrm>
          <a:prstGeom prst="rect">
            <a:avLst/>
          </a:prstGeom>
          <a:noFill/>
          <a:ln/>
        </p:spPr>
        <p:txBody>
          <a:bodyPr wrap="square" lIns="0" tIns="0" rIns="0" bIns="0" rtlCol="0" anchor="t"/>
          <a:lstStyle/>
          <a:p>
            <a:pPr indent="0" marL="0">
              <a:buNone/>
            </a:pPr>
            <a:r>
              <a:rPr lang="en-US" sz="1200" b="1" dirty="0">
                <a:solidFill>
                  <a:srgbClr val="E2B54E"/>
                </a:solidFill>
                <a:latin typeface="Calibri" pitchFamily="34" charset="0"/>
                <a:ea typeface="Calibri" pitchFamily="34" charset="-122"/>
                <a:cs typeface="Calibri" pitchFamily="34" charset="-120"/>
              </a:rPr>
              <a:t>Next deck: Section 7 · Platform &amp; governance, delivered with this update.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Stack D Revised Architecture — Section 6: Engine 4 &amp; Report 2</dc:title>
  <dc:subject>PptxGenJS Presentation</dc:subject>
  <dc:creator>DavinTrade</dc:creator>
  <cp:lastModifiedBy>DavinTrade</cp:lastModifiedBy>
  <cp:revision>1</cp:revision>
  <dcterms:created xsi:type="dcterms:W3CDTF">2026-09-29T17:13:22Z</dcterms:created>
  <dcterms:modified xsi:type="dcterms:W3CDTF">2026-09-29T17:13:22Z</dcterms:modified>
</cp:coreProperties>
</file>