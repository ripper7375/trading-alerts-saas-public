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2 of the section series. MCD1-3 are examples and open to change (your note of 29 Sep), so this deck proposes both the framework every MCD follows and specific changes to MCD1-3.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sits between the data (Section 1) and synthesis (Section 3). Its inputs are fixed by Section 1’s rules; its output format is what Sections 3, 4 and 5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MCD hand-off report §3-§6 (5 deliverables, 6-step workflow, user-defined topics, canonical English commentary, output template), mcd1.md / mcd2.md / mcd3.md tier definitions (execution order Tier 1 -&gt; Tier 4 -&gt; Tier 2 -&gt; Tier 3 in all three flowcharts), file C §3-§4 (4-Quadrant gate: Model A SSA crossings, Model B close, on M5 and M15; coverage &gt;= 60 bars; R2 &gt;= 0.70 Model A, &gt;= 0.65 Model B; fit ratio 1.50-3.20; geo ratio 0.60-1.65 and |skew| &lt;= 1.50; any failure = Cautionary Defect Flag, 50% position size), file A §2.3 and §4.4.2 (router_compiler.py compiles TRADING_ROUTER.md from mcdX_output.json and mcdX.md). Timing: file A’s pipeline evaluates after the user’s question; file C and the synthesis seed describe every 5-minute cycle. Evaluators currently read market_data_v6_replicated.xlsx through openpyxl.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mcd1.md, mcd1_implementation_plan.md, mcd1_output.json; mcd2.md, mcd2_implementation_plan.md, mcd2-manifest §4C, mcd2_output.json; mcd3.md, mcd3_implementation_plan.md, mcd3-manifest §5, mcd3_output.json. MCD1 regime statuses: TREND_ALIGNED_CONTINUATION, BREAKOUT_SAME_SLOPE, COUNTER_TREND_EXPANSION, CONSOLIDATION, RANGE_EXPANSION (+ UNCERTAIN on failure). MCD2: 9 codes MCD2_{UP,DOWN,SIDEWAYS}_{IN_CORRIDOR, UPPER_BREAKOUT, LOWER_BREAKDOWN}. MCD3: 7 consolidated codes (BULL_VALUE / MID / TOP, BEAR_PREMIUM / MID / BOTTOM, SIDEWAYS_EQUILIBRIUM), 3 non-consolidated codes (TREND_CONFLICT, OVERFLOW, ESCAPE) and MCD3_INVALID.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1 output JSON files (key comparison in the review, A1). 2 hand-off report §6 and MCD manifests (Excel replica, openpyxl); no document stores MCD history. 3 Section 1 finding (blueprint §8.3 and §11). 4 mcdX tier 4 (containment only) vs file C §4.1; R2 0.65 in file A vs 0.70 / 0.65 in file C. 5 mcd2_output.json synthesis block, mcd3-manifest §5, synthesis seed lines 125-218. 6 mcd3 plan: it recomputes trend from the same statistics rows and does not read MCD1 / MCD2 outputs. 7 mcd1.md §4B vs mcd1 plan §2.5 and test 13; mcd2 flowchart vs manifest text; file C §4.3 angle bands. 8 file A router table rows for MCD2 / MCD3 describe modules that were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item A4, with A5 (quality gate as MCD0) and A7 (dependencies). The worker is triggered by Section 1’s cycle-ready job (decision 009). Independent MCDs can run in parallel; derived MCDs run after the readings they depend on. Every reading, including INVALID and STALE ones, is written to mcd_outputs so the history has no gaps. User requests never run an evaluator.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values from the MCD2 example output (UOEDT 4384.28, baseline 4367.25, LOEDT 4350.22), recast in the revised format with the cycle and closed-bar rules from Section 1. evaluator_version and config_hash values are placeholders. Module-specific content (window statistics, nesting counts, stochastic) stays under details, which only Section 5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existing four tiers stay, with two changes from Section 1 (tier 1 reads the setting; tier 4 looks up statistics by slot). A cycle check is added in front, and the 4-Quadrant gate becomes MCD0 so its defect flag reaches every channel sensor on that timeframe as CAUTIONARY. What each status allows downstream is decided in Sections 5 and 6; the right-hand column states the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MCD1-3 are examples, these are proposals, not corrections of certified behaviour. MCD1 breakout rule: mcd1.md §4B requires a latest-bar breach and &gt;= 80% of N_micro for both breakout types; the implementation plan §2.5, the manifest and test 13 (V-shape prompt trigger) fire a same-slope breakout on the latest bar. MCD3 commentary templates exist for 6 of its 11 states (plan §6). MCD3 currently recomputes the +/-5 degree trend on both timeframes from the same statistics rows MCD1 and MCD2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market_data_v6 holds each bar’s latest re-fitted values: the channel as it stands today, projected back over the window (the chart the trader sees). market_data_point_in_time holds each bar as it stood at its close (filter snapshot_age_bars = 1). The drift test showed EDT channel values move on 100% of historical bars (average $19.26), so the two answer different questions. Frozen channel mode (Section 1, built, not deployed) makes them converge for the channel fields of the frozen variant.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decision-layer blueprint already plans a recommendation_backtester that replays history and scores against forward outcomes (forward hit rate, R-multiple distribution, maximum adverse excursion; DL §5.3 and §6). It does not mention MCDs; this step applies the same idea to MCD states. Horizons follow Engine 4’s trader types: Scalper under 2 hours, Day Trader under 12 hours. The minimum sample size is a decision (2.7).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Extends the existing 5 deliverables (evaluator, unit tests, output JSON, spec, manifest) and the 6-step workflow in the MCD hand-off report. Topics stay yours to define. The candidate list comes from data already in market_data_v6 or on terminal S that no MCD reads today; the frozen-fit idea uses the statistics frozen mode keeps computing against the approved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revised sensor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handoff is defined here once. Levels reach Section 6 through Section 3’s entry zones rather than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nine were settled on 29 Sep by adopting the suggestion; they are entries 016-024 in the decision log. 2.4: file C is the only document that defines Models A and B; file A quotes a single R2 &gt;= 0.65 without naming a model. 2.8: the implementation plan, the manifest and test 13 all fire a same-slope breakout on the latest bar; mcd1.md §4B is corrected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Acceptance checks for Section 2. The first real-data checks depend on Section 1’s first measured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  ·  REVISED ARCHITECTURE  ·  DECK 2 OF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72768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 · Sensors (MCDs)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cycle, each MCD turns the same closed bars into one comparable reading: one format, one clock, saved every time.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548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2.1–2.9 settled 29 September 2026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landing here: A1 · A4 (P1) · A5 · A6 · A7 · A8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Section 1 rules 1–9 (settled 29 September)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MCD1–3 specs, plans, manifests and outputs · MCD hand-off report · file C (quality gate) · file A · decision-layer blueprint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03720" y="1188720"/>
            <a:ext cx="4846320" cy="1700784"/>
          </a:xfrm>
          <a:prstGeom prst="roundRect">
            <a:avLst>
              <a:gd name="adj" fmla="val 3226"/>
            </a:avLst>
          </a:prstGeom>
          <a:solidFill>
            <a:srgbClr val="15302D"/>
          </a:solidFill>
          <a:ln w="9525">
            <a:solidFill>
              <a:srgbClr val="1530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31736" y="1261872"/>
            <a:ext cx="3004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5-MINUTE CYCLE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84564" y="1261872"/>
            <a:ext cx="2537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whether or not anyone asks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031736" y="1554480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965960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2317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98664" y="1554480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&amp; chart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5528" y="2157984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53272" y="1554480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D242E"/>
          </a:solidFill>
          <a:ln w="22225">
            <a:solidFill>
              <a:srgbClr val="E2B5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44712" y="1965960"/>
            <a:ext cx="384048" cy="384048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4471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20200" y="1554480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(MCDs)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37064" y="2157984"/>
            <a:ext cx="201168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274808" y="1554480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66248" y="1965960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662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841736" y="1554480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entry zones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3273552"/>
            <a:ext cx="4846320" cy="1700784"/>
          </a:xfrm>
          <a:prstGeom prst="roundRect">
            <a:avLst>
              <a:gd name="adj" fmla="val 3226"/>
            </a:avLst>
          </a:prstGeom>
          <a:solidFill>
            <a:srgbClr val="17243A"/>
          </a:solidFill>
          <a:ln w="9525">
            <a:solidFill>
              <a:srgbClr val="1724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3346704"/>
            <a:ext cx="3004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QUESTION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9084564" y="3346704"/>
            <a:ext cx="2537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latest complete cycle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31736" y="3639312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23176" y="405079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23176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98664" y="3639312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routing &amp; knowledge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5528" y="4242816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53272" y="3639312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44712" y="405079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4471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220200" y="3639312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AI reply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37064" y="4242816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274808" y="3639312"/>
            <a:ext cx="134721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66248" y="405079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366248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841736" y="3639312"/>
            <a:ext cx="72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&amp; Report 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326880" y="2916936"/>
            <a:ext cx="0" cy="329184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9418320" y="29169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complete cycle (read-only)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03720" y="510235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231E33"/>
          </a:solidFill>
          <a:ln w="9525">
            <a:solidFill>
              <a:srgbClr val="231E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31736" y="5210068"/>
            <a:ext cx="351495" cy="351495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031736" y="5210068"/>
            <a:ext cx="351495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492959" y="5102352"/>
            <a:ext cx="40376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governance</a:t>
            </a:r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across both clocks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Section 2 owns, and what it depends 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15302D"/>
          </a:solidFill>
          <a:ln w="9525">
            <a:solidFill>
              <a:srgbClr val="1530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444752"/>
            <a:ext cx="30614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5-MINUTE CYCLE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1444752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whether or not anyone asks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85216" y="1737360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2148840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" y="1737360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&amp; chart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999488" y="2340864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237232" y="1737360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D242E"/>
          </a:solidFill>
          <a:ln w="22225">
            <a:solidFill>
              <a:srgbClr val="E2B5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28672" y="2148840"/>
            <a:ext cx="384048" cy="384048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2867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804160" y="1737360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(MCDs)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1504" y="2340864"/>
            <a:ext cx="201168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889248" y="1737360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80688" y="2148840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98068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456176" y="1737360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entry zones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3456432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17243A"/>
          </a:solidFill>
          <a:ln w="9525">
            <a:solidFill>
              <a:srgbClr val="1724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5216" y="3529584"/>
            <a:ext cx="30614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QUESTION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2679192" y="352958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latest complete cycle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85216" y="3822192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6656" y="423367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6656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152144" y="3822192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routing &amp; knowledge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999488" y="4425696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237232" y="3822192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28672" y="423367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32867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804160" y="3822192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AI reply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651504" y="4425696"/>
            <a:ext cx="201168" cy="0"/>
          </a:xfrm>
          <a:prstGeom prst="line">
            <a:avLst/>
          </a:prstGeom>
          <a:noFill/>
          <a:ln w="15875">
            <a:solidFill>
              <a:srgbClr val="323C49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3889248" y="3822192"/>
            <a:ext cx="1377696" cy="1207008"/>
          </a:xfrm>
          <a:prstGeom prst="roundRect">
            <a:avLst>
              <a:gd name="adj" fmla="val 5303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980688" y="4233672"/>
            <a:ext cx="384048" cy="384048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98068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4456176" y="3822192"/>
            <a:ext cx="7559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4 &amp; Report 2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926080" y="3099816"/>
            <a:ext cx="0" cy="329184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3017520" y="3099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complete cycle (read-only)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57200" y="5285232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231E33"/>
          </a:solidFill>
          <a:ln w="9525">
            <a:solidFill>
              <a:srgbClr val="231E3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5216" y="5392948"/>
            <a:ext cx="351495" cy="351495"/>
          </a:xfrm>
          <a:prstGeom prst="ellipse">
            <a:avLst/>
          </a:prstGeom>
          <a:solidFill>
            <a:srgbClr val="6E7A88"/>
          </a:solidFill>
          <a:ln w="15875">
            <a:solidFill>
              <a:srgbClr val="6E7A8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5216" y="5392948"/>
            <a:ext cx="351495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046439" y="5285232"/>
            <a:ext cx="41290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governance</a:t>
            </a:r>
            <a:pPr indent="0" marL="0">
              <a:buNone/>
            </a:pPr>
            <a:r>
              <a:rPr lang="en-US" sz="100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across both clocks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806440" y="1325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5806440" y="1609344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evaluators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MCD1–3 today; MCD4–15 defined by you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5806440" y="1975104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4-Quadrant channel check, becoming MCD0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5806440" y="2340864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worker + mcd_outputs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cycle; one saved reading per MCD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5806440" y="2706624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+ state register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and the list of state codes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5806440" y="3072384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statistics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 that certify each state</a:t>
            </a:r>
            <a:endParaRPr lang="en-US" sz="1150" dirty="0"/>
          </a:p>
        </p:txBody>
      </p:sp>
      <p:sp>
        <p:nvSpPr>
          <p:cNvPr id="54" name="Text 51"/>
          <p:cNvSpPr txBox="1"/>
          <p:nvPr/>
        </p:nvSpPr>
        <p:spPr>
          <a:xfrm>
            <a:off x="5806440" y="3520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FROM SECTION 1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5806440" y="3794760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Cycle-ready signal (rule 1) · closed bars (rule 2) · statistics for the slot (rule 5) · active-indicator setting (rule 6) · promote events and RETUNING (rule 9)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5806440" y="4434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TO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5806440" y="4764024"/>
            <a:ext cx="310896" cy="3108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806440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6245352" y="47274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entry zones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of the cycle, with levels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5806440" y="5166360"/>
            <a:ext cx="310896" cy="310896"/>
          </a:xfrm>
          <a:prstGeom prst="ellipse">
            <a:avLst/>
          </a:prstGeom>
          <a:solidFill>
            <a:srgbClr val="7FA8E8"/>
          </a:solidFill>
          <a:ln w="15875">
            <a:solidFill>
              <a:srgbClr val="7FA8E8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806440" y="5166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6245352" y="51297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routing &amp; knowledge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summaries and state codes for routing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5806440" y="5568696"/>
            <a:ext cx="310896" cy="310896"/>
          </a:xfrm>
          <a:prstGeom prst="ellipse">
            <a:avLst/>
          </a:prstGeom>
          <a:solidFill>
            <a:srgbClr val="7FA8E8"/>
          </a:solidFill>
          <a:ln w="15875">
            <a:solidFill>
              <a:srgbClr val="7FA8E8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806440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6245352" y="5532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AI reply  </a:t>
            </a:r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readings for the sensors the question needs</a:t>
            </a:r>
            <a:endParaRPr lang="en-US" sz="1150" dirty="0"/>
          </a:p>
        </p:txBody>
      </p:sp>
      <p:sp>
        <p:nvSpPr>
          <p:cNvPr id="66" name="Shape 63"/>
          <p:cNvSpPr/>
          <p:nvPr/>
        </p:nvSpPr>
        <p:spPr>
          <a:xfrm>
            <a:off x="5806440" y="5943600"/>
            <a:ext cx="5925312" cy="384048"/>
          </a:xfrm>
          <a:prstGeom prst="roundRect">
            <a:avLst>
              <a:gd name="adj" fmla="val 16667"/>
            </a:avLst>
          </a:prstGeom>
          <a:solidFill>
            <a:srgbClr val="2E2715"/>
          </a:solidFill>
          <a:ln w="9525">
            <a:solidFill>
              <a:srgbClr val="2E2715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943600" y="59436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here: 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A4 (P1) · A5 · A6 · A7 · A8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ORIGINAL 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MCD framework as documented today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MCD IS BUILT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627632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1627632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topic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67128" y="1911096"/>
            <a:ext cx="164592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350008" y="1627632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23160" y="1627632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approved by you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59936" y="1911096"/>
            <a:ext cx="164592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42816" y="1627632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15968" y="1627632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+ 4-tier checks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52744" y="1911096"/>
            <a:ext cx="164592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135624" y="1627632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08776" y="1627632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(13 each)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845552" y="1911096"/>
            <a:ext cx="164592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028432" y="1627632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1584" y="1627632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the Excel replica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738360" y="1911096"/>
            <a:ext cx="164592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921240" y="1627632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994392" y="1627632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487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MCD RUNS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278892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2788920"/>
            <a:ext cx="2011680" cy="141732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market_data_v6 rows + latest indicator_statistics row (today: an Excel replica)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487168" y="3497580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2697480" y="2788920"/>
            <a:ext cx="4206240" cy="1417320"/>
          </a:xfrm>
          <a:prstGeom prst="roundRect">
            <a:avLst>
              <a:gd name="adj" fmla="val 4516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834640" y="2862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pre-flight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834640" y="32004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262F3B"/>
          </a:solidFill>
          <a:ln w="9525">
            <a:solidFill>
              <a:srgbClr val="262F3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834640" y="3246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2862072" y="347472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2862072" y="371246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96 / ≥ 48 bars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840480" y="32004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262F3B"/>
          </a:solidFill>
          <a:ln w="9525">
            <a:solidFill>
              <a:srgbClr val="262F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840480" y="3246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3867912" y="347472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3867912" y="371246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≥ 50%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846320" y="32004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262F3B"/>
          </a:solidFill>
          <a:ln w="9525">
            <a:solidFill>
              <a:srgbClr val="262F3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846320" y="3246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4873752" y="347472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4873752" y="371246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ascending, no nulls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852160" y="320040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262F3B"/>
          </a:solidFill>
          <a:ln w="9525">
            <a:solidFill>
              <a:srgbClr val="262F3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852160" y="3246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879592" y="347472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5879592" y="371246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UOEDT &gt; LOEDT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922008" y="3497580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7132320" y="2788920"/>
            <a:ext cx="2103120" cy="1417320"/>
          </a:xfrm>
          <a:prstGeom prst="roundRect">
            <a:avLst>
              <a:gd name="adj" fmla="val 4516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132320" y="2788920"/>
            <a:ext cx="2103120" cy="141732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state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breach or nesting; regime status; fixed English commentary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9253728" y="3497580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9464040" y="2788920"/>
            <a:ext cx="2267712" cy="1417320"/>
          </a:xfrm>
          <a:prstGeom prst="roundRect">
            <a:avLst>
              <a:gd name="adj" fmla="val 4516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464040" y="2788920"/>
            <a:ext cx="2267712" cy="1417320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mcdX_output.json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run. Compiled into TRADING_ROUTER.md for the router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457200" y="4480560"/>
            <a:ext cx="6446520" cy="1783080"/>
          </a:xfrm>
          <a:prstGeom prst="roundRect">
            <a:avLst>
              <a:gd name="adj" fmla="val 3590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dash"/>
          </a:ln>
        </p:spPr>
      </p:sp>
      <p:sp>
        <p:nvSpPr>
          <p:cNvPr id="55" name="Text 52"/>
          <p:cNvSpPr txBox="1"/>
          <p:nvPr/>
        </p:nvSpPr>
        <p:spPr>
          <a:xfrm>
            <a:off x="640080" y="45720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SEPARATE: THE 4-QUADRANT QUALITY GATE (FILE C)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40080" y="4892040"/>
            <a:ext cx="144475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40080" y="4937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640080" y="523036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bars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2194560" y="4892040"/>
            <a:ext cx="144475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2194560" y="4937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2194560" y="523036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≥ 0.70 · B ≥ 0.65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3749040" y="4892040"/>
            <a:ext cx="144475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749040" y="4937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ratio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3749040" y="523036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 – 3.20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5303520" y="4892040"/>
            <a:ext cx="144475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303520" y="493776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5303520" y="523036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– 1.65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57424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(SSA crossings) and Model B (close) on M5 and M15. Any failure raises a Cautionary Defect Flag: 50% position size.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7132320" y="4480560"/>
            <a:ext cx="4599432" cy="1783080"/>
          </a:xfrm>
          <a:prstGeom prst="roundRect">
            <a:avLst>
              <a:gd name="adj" fmla="val 3590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7315200" y="45720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RUN?</a:t>
            </a:r>
            <a:endParaRPr lang="en-US" sz="950" dirty="0"/>
          </a:p>
        </p:txBody>
      </p:sp>
      <p:sp>
        <p:nvSpPr>
          <p:cNvPr id="71" name="Text 68"/>
          <p:cNvSpPr txBox="1"/>
          <p:nvPr/>
        </p:nvSpPr>
        <p:spPr>
          <a:xfrm>
            <a:off x="7315200" y="4864608"/>
            <a:ext cx="4251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user’s question, inside the request.
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 and the synthesis seed: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5-minute cycle.
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history: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none; each output file is one snapshot.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THE THREE EXAMPLES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MCD1–3 at a glance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200400"/>
                <a:gridCol w="3200400"/>
                <a:gridCol w="32735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MCD1 · M15 primary trend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MCD2 · M5 corridor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MCD3 · consolidation + EDT stochastic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M15 primary trend, and is the short-term regime with it or against it?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trend, and is the deviation from the corridor big enough for mean reversion?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the M15 and M5 channels agree and nest? If so, where is price in the M15 corridor?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M15 + M5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centroid variants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centroids + fractal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N_micro = max(96, 5% of T_EDT)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bar; stats over min(T_EDT, 288)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T_EDT of M5 for nesting; current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±5° trend · breach on ≥ 80% of N_micro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±5° · channel position &lt; 0 or &gt;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±5° · nesting ≥ 75% · stochastic 20 / 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regime statuses; no state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state codes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state codes + INVALID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UOEDT, LOEDT (no baseline)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UOEDT, baseline, LOEDT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UOEDT, LOEDT on both timeframes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mean-reversion “probability” HIGH / 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tactical_bias, e.g. HIGH_CONVICTION_BUY_DIP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/ 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/ 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/ 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WHAT’S MISSING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gaps in the sensor layer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697480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1499616"/>
            <a:ext cx="438912" cy="438912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166" y="1600566"/>
            <a:ext cx="237012" cy="2370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14630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 shapes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3504" y="2048256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run times, state codes and levels sit in different places in each MCD’s output.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03504" y="314553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consumer needs a parser per MCD.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91840" y="1371600"/>
            <a:ext cx="2697480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19856" y="1499616"/>
            <a:ext cx="438912" cy="438912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806" y="1600566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50208" y="14630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history, wrong source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438144" y="2048256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read an Excel replica and nothing keeps past readings. Docs disagree on per-request or per-cycle.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3438144" y="314553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regime history, and no answer can be replayed.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126480" y="1371600"/>
            <a:ext cx="2697480" cy="2359152"/>
          </a:xfrm>
          <a:prstGeom prst="roundRect">
            <a:avLst>
              <a:gd name="adj" fmla="val 2713"/>
            </a:avLst>
          </a:prstGeom>
          <a:solidFill>
            <a:srgbClr val="33201F"/>
          </a:solidFill>
          <a:ln w="15875">
            <a:solidFill>
              <a:srgbClr val="E5746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54496" y="1499616"/>
            <a:ext cx="438912" cy="438912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46" y="1600566"/>
            <a:ext cx="237012" cy="2370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84848" y="14630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fails on live data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272784" y="2048256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variant has data every cycle, so “exactly one with data” can’t pass. Section 1’s setting fixes the input.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272784" y="314553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MCD returns INVALID on the first live cycle.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961120" y="1371600"/>
            <a:ext cx="2697480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089136" y="1499616"/>
            <a:ext cx="438912" cy="438912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0086" y="1600566"/>
            <a:ext cx="237012" cy="23701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619488" y="146304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quality checks, two scales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107424" y="2048256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checks containment only; the 4-Quadrant gate has its own PASS / DEFECT scale. R² is 0.65 in A, 0.70 / 0.65 in C.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9107424" y="3145536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channel can pass one check and fail the other unseen.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57200" y="3858768"/>
            <a:ext cx="2697480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85216" y="3986784"/>
            <a:ext cx="438912" cy="438912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66" y="4087734"/>
            <a:ext cx="237012" cy="23701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115568" y="39502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words without data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603504" y="4535424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“HIGH_CONVICTION_BUY_DIP”, a HIGH / LOW “probability”, the seed’s 82%: none has been measured.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603504" y="5632704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read a certainty nobody measured.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3291840" y="3858768"/>
            <a:ext cx="2697480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419856" y="3986784"/>
            <a:ext cx="438912" cy="438912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806" y="4087734"/>
            <a:ext cx="237012" cy="23701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950208" y="39502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MCD3 recomputes MCD1 and MCD2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3438144" y="4535424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copy of the ±5° trend on each timeframe. It can drift from them, and synthesis would count it twice.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3438144" y="5632704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evidence counted twice.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126480" y="3858768"/>
            <a:ext cx="2697480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254496" y="3986784"/>
            <a:ext cx="438912" cy="438912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446" y="4087734"/>
            <a:ext cx="237012" cy="23701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784848" y="39502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disagree with themselves</a:t>
            </a:r>
            <a:endParaRPr lang="en-US" sz="1200" dirty="0"/>
          </a:p>
        </p:txBody>
      </p:sp>
      <p:sp>
        <p:nvSpPr>
          <p:cNvPr id="48" name="Text 38"/>
          <p:cNvSpPr txBox="1"/>
          <p:nvPr/>
        </p:nvSpPr>
        <p:spPr>
          <a:xfrm>
            <a:off x="6272784" y="4535424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 breakout: “latest bar” vs “≥ 80%”. MCD2 tier-4 failure: INVALID vs UNIDENTIFIED. File C’s MCD01 bands: ±10° / ±30°.</a:t>
            </a:r>
            <a:endParaRPr lang="en-US" sz="1050" dirty="0"/>
          </a:p>
        </p:txBody>
      </p:sp>
      <p:sp>
        <p:nvSpPr>
          <p:cNvPr id="49" name="Text 39"/>
          <p:cNvSpPr txBox="1"/>
          <p:nvPr/>
        </p:nvSpPr>
        <p:spPr>
          <a:xfrm>
            <a:off x="6272784" y="5632704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builders would build different MCDs from one spec.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8961120" y="3858768"/>
            <a:ext cx="2697480" cy="2359152"/>
          </a:xfrm>
          <a:prstGeom prst="roundRect">
            <a:avLst>
              <a:gd name="adj" fmla="val 271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9089136" y="3986784"/>
            <a:ext cx="438912" cy="438912"/>
          </a:xfrm>
          <a:prstGeom prst="ellipse">
            <a:avLst/>
          </a:prstGeom>
          <a:solidFill>
            <a:srgbClr val="0F1318"/>
          </a:solidFill>
          <a:ln w="12700">
            <a:solidFill>
              <a:srgbClr val="0F1318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0086" y="4087734"/>
            <a:ext cx="237012" cy="237012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9619488" y="3950208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 for MCD4–15</a:t>
            </a:r>
            <a:endParaRPr lang="en-US" sz="1200" dirty="0"/>
          </a:p>
        </p:txBody>
      </p:sp>
      <p:sp>
        <p:nvSpPr>
          <p:cNvPr id="54" name="Text 43"/>
          <p:cNvSpPr txBox="1"/>
          <p:nvPr/>
        </p:nvSpPr>
        <p:spPr>
          <a:xfrm>
            <a:off x="9107424" y="4535424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A’s router rows for MCD2 and MCD3 describe modules that were never built. Nothing ties a new MCD to routing, synthesis or zones.</a:t>
            </a:r>
            <a:endParaRPr lang="en-US" sz="1050" dirty="0"/>
          </a:p>
        </p:txBody>
      </p:sp>
      <p:sp>
        <p:nvSpPr>
          <p:cNvPr id="55" name="Text 44"/>
          <p:cNvSpPr txBox="1"/>
          <p:nvPr/>
        </p:nvSpPr>
        <p:spPr>
          <a:xfrm>
            <a:off x="9107424" y="5632704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MCD4 would repeat MCD1–3’s drift.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REVISED 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sensor worker, once per cycle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325880" cy="1078992"/>
          </a:xfrm>
          <a:prstGeom prst="roundRect">
            <a:avLst>
              <a:gd name="adj" fmla="val 593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444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ready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755648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Section 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01368" y="1911096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965960" y="1371600"/>
            <a:ext cx="1920240" cy="1078992"/>
          </a:xfrm>
          <a:prstGeom prst="roundRect">
            <a:avLst>
              <a:gd name="adj" fmla="val 5932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14447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inputs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039112" y="17556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bars · stats at slot · setting · config hashes · RETUNING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904488" y="1911096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069080" y="1371600"/>
            <a:ext cx="1417320" cy="1078992"/>
          </a:xfrm>
          <a:prstGeom prst="roundRect">
            <a:avLst>
              <a:gd name="adj" fmla="val 5932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60520" y="14447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MCD0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142232" y="1755648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quality on M5 and M15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04688" y="1911096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669280" y="1371600"/>
            <a:ext cx="1600200" cy="1078992"/>
          </a:xfrm>
          <a:prstGeom prst="roundRect">
            <a:avLst>
              <a:gd name="adj" fmla="val 593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760720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MCDs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742432" y="1755648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MCD1, MCD2, … in parallel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287768" y="1911096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52360" y="1371600"/>
            <a:ext cx="1600200" cy="1078992"/>
          </a:xfrm>
          <a:prstGeom prst="roundRect">
            <a:avLst>
              <a:gd name="adj" fmla="val 5932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43800" y="1444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MCDs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7525512" y="1755648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MCD3, … read upstream readings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070848" y="1911096"/>
            <a:ext cx="14630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235440" y="1371600"/>
            <a:ext cx="1371600" cy="1078992"/>
          </a:xfrm>
          <a:prstGeom prst="roundRect">
            <a:avLst>
              <a:gd name="adj" fmla="val 5932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326880" y="1444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save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9308592" y="175564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 · mcd_outputs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771632" y="1371600"/>
            <a:ext cx="960120" cy="1078992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10771632" y="1371600"/>
            <a:ext cx="960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· 4 · 5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0625328" y="1911096"/>
            <a:ext cx="128016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457200" y="2697480"/>
            <a:ext cx="3639312" cy="1682496"/>
          </a:xfrm>
          <a:prstGeom prst="roundRect">
            <a:avLst>
              <a:gd name="adj" fmla="val 380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5216" y="2825496"/>
            <a:ext cx="347472" cy="347472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5216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42416" y="2807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Triggered, never polled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21792" y="3300984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1’s ready job starts the worker for one slot. Requests only read what it saved.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261104" y="2697480"/>
            <a:ext cx="3639312" cy="1682496"/>
          </a:xfrm>
          <a:prstGeom prst="roundRect">
            <a:avLst>
              <a:gd name="adj" fmla="val 380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389120" y="2825496"/>
            <a:ext cx="347472" cy="347472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38912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4846320" y="2807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by the rules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4425696" y="3300984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bars (rule 2), statistics at the slot (rule 5), the active-indicator setting (rule 6), and the RETUNING flag (rule 9).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065008" y="2697480"/>
            <a:ext cx="3639312" cy="1682496"/>
          </a:xfrm>
          <a:prstGeom prst="roundRect">
            <a:avLst>
              <a:gd name="adj" fmla="val 380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193024" y="2825496"/>
            <a:ext cx="347472" cy="347472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193024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8650224" y="28072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MCD0 first</a:t>
            </a:r>
            <a:endParaRPr lang="en-US" sz="1250" dirty="0"/>
          </a:p>
        </p:txBody>
      </p:sp>
      <p:sp>
        <p:nvSpPr>
          <p:cNvPr id="48" name="Text 45"/>
          <p:cNvSpPr txBox="1"/>
          <p:nvPr/>
        </p:nvSpPr>
        <p:spPr>
          <a:xfrm>
            <a:off x="8229600" y="3300984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4-Quadrant gate becomes a sensor per timeframe. Channel MCDs on a flagged timeframe inherit CAUTIONARY with the reason.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57200" y="4526280"/>
            <a:ext cx="3639312" cy="1682496"/>
          </a:xfrm>
          <a:prstGeom prst="roundRect">
            <a:avLst>
              <a:gd name="adj" fmla="val 380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85216" y="4654296"/>
            <a:ext cx="347472" cy="347472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85216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1042416" y="4636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in order</a:t>
            </a:r>
            <a:endParaRPr lang="en-US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621792" y="5129784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MCDs run first; derived ones read the same cycle’s readings instead of recomputing them.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261104" y="4526280"/>
            <a:ext cx="3639312" cy="1682496"/>
          </a:xfrm>
          <a:prstGeom prst="roundRect">
            <a:avLst>
              <a:gd name="adj" fmla="val 380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389120" y="4654296"/>
            <a:ext cx="347472" cy="347472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38912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4846320" y="4636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saved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4425696" y="5129784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mcd_outputs row per MCD per cycle, including INVALID and STALE, so history has no gaps.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8065008" y="4526280"/>
            <a:ext cx="3639312" cy="1682496"/>
          </a:xfrm>
          <a:prstGeom prst="roundRect">
            <a:avLst>
              <a:gd name="adj" fmla="val 380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93024" y="4654296"/>
            <a:ext cx="347472" cy="347472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193024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8650224" y="4636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 on replay</a:t>
            </a:r>
            <a:endParaRPr lang="en-US" sz="1250" dirty="0"/>
          </a:p>
        </p:txBody>
      </p:sp>
      <p:sp>
        <p:nvSpPr>
          <p:cNvPr id="63" name="Text 60"/>
          <p:cNvSpPr txBox="1"/>
          <p:nvPr/>
        </p:nvSpPr>
        <p:spPr>
          <a:xfrm>
            <a:off x="8229600" y="5129784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a stored cycle gives byte-identical readings: the test that proves the clock works.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ONE OUTPUT FORMAT (A1)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MCD returns the same envelope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5760720" cy="4956048"/>
          </a:xfrm>
          <a:prstGeom prst="roundRect">
            <a:avLst>
              <a:gd name="adj" fmla="val 1292"/>
            </a:avLst>
          </a:prstGeom>
          <a:solidFill>
            <a:srgbClr val="161C24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"schema_version": "mcd-output/1",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"mcd_id": "MCD2",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"evaluator_version": "1.1.0",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"cycle_slot": "2026-09-18T20:55Z",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"last_closed_bar": { "M5": "20:50"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"active_indicator": { "M5": "best_fit_a"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"config_hash": { "best_fit_a": "…"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"VALID",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"status_reasons": [],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"state_code": "MCD2_UP_IN_CORRIDOR",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"regime_status": "TREND_ALIGNED_CONTINUATION",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"bias": "LONG",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"levels":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"name": "UOEDT",    "tf": "M5", "price": 4384.28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"name": "baseline", "tf": "M5", "price": 4367.25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"name": "LOEDT",    "tf": "M5", "price": 4350.22 }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"depends_on": [],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"summary_line": "M5 uptrend, price inside the corridor",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"commentary": "…",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"details": { …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46520" y="1325880"/>
            <a:ext cx="528523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807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schema_version · mcd_id · evaluator_version · config_hash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1709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sensor, which code, which indicator tuning.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46520" y="2167128"/>
            <a:ext cx="528523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2221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22199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cycle_slot · last_closed_bar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5511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it belongs to (rule 1) and the bars it read (rule 2).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46520" y="3008376"/>
            <a:ext cx="528523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3063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306324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· status_reasons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33924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CAUTIONARY, INVALID or STALE, and why.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46520" y="3849624"/>
            <a:ext cx="528523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3904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9044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state_code · regime_status · bias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42336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is LONG, SHORT, NEUTRAL or STAND_ASIDE.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46520" y="4690872"/>
            <a:ext cx="528523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0" y="4745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955280" y="474573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· timeframe · price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0749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entry zones and stops are built from (Section 3).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46520" y="5532120"/>
            <a:ext cx="5285232" cy="749808"/>
          </a:xfrm>
          <a:prstGeom prst="roundRect">
            <a:avLst>
              <a:gd name="adj" fmla="val 8537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0" y="55869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text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955280" y="55869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 · summary_line · commentary · details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583680" y="5916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sensors name their inputs; one line for the sensor board.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ONE STATUS SCALE (A5)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pre-flight, one status scale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06324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status and RETUNING flag (rules 7, 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if data is stale · CAUTIONARY while RETUNING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Indicator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indicator from the setting; detection only cross-checks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if no setting · CAUTIONARY if detection disagrees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 · Statistics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at the slot for the active source; containment ≥ 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if no row · INVALID if containment &lt; 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Continuity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Enough closed bars, ascending, no nulls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· Sanity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UOEDT &gt; LOEDT and channel width &gt;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MCD0 ·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≥ 60 bars · R² · fit 1.50–3.20 · symmetry 0.60–1.65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CAUTIONARY for every channel MCD on that timeframe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772400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STATUS ALLOWS (DEFAULT)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772400" y="1691640"/>
            <a:ext cx="3959352" cy="877824"/>
          </a:xfrm>
          <a:prstGeom prst="roundRect">
            <a:avLst>
              <a:gd name="adj" fmla="val 729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09560" y="1819656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09560" y="1819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7909560" y="21122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normal.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0" y="2679192"/>
            <a:ext cx="3959352" cy="877824"/>
          </a:xfrm>
          <a:prstGeom prst="roundRect">
            <a:avLst>
              <a:gd name="adj" fmla="val 729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09560" y="28072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0A54A"/>
          </a:solidFill>
          <a:ln w="9525">
            <a:solidFill>
              <a:srgbClr val="F0A5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09560" y="2807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7909560" y="309981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Used, with its reason shown; Section 6 pre-selects reduced size (D4).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772400" y="3666744"/>
            <a:ext cx="3959352" cy="877824"/>
          </a:xfrm>
          <a:prstGeom prst="roundRect">
            <a:avLst>
              <a:gd name="adj" fmla="val 729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09560" y="37947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5746A"/>
          </a:solidFill>
          <a:ln w="9525">
            <a:solidFill>
              <a:srgbClr val="E5746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909560" y="3794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7909560" y="408736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 of synthesis; listed on the sensor board as unavailable.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772400" y="4654296"/>
            <a:ext cx="3959352" cy="877824"/>
          </a:xfrm>
          <a:prstGeom prst="roundRect">
            <a:avLst>
              <a:gd name="adj" fmla="val 7292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909560" y="478231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B7A3E0"/>
          </a:solidFill>
          <a:ln w="9525">
            <a:solidFill>
              <a:srgbClr val="B7A3E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09560" y="47823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7909560" y="507492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out; flagged as a data problem, not a market reading.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kept from the MCD flowcharts: tier 1 → 4 → 2 → 3.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RESHAPING THE EXAMPLES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MCD1, MCD2 and MCD3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primary trend &amp; breach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" y="210312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state codes, one per trend × regime, like MCD2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" y="3072384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9536" y="294436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one breakout rule: spec says ≥ 80% for both, code fires same-slope breakouts on the latest bar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" y="3913632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" y="378561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the M15 baseline as a level, not only UOEDT / LOEDT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4754880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" y="4626864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N_micro counts closed bars only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261104" y="1371600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43984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MCD2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5495544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corridor &amp; deviation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462272" y="223113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63440" y="210312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indicator from the setting; the override stays in tests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62272" y="3072384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63440" y="294436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HIGH / LOW “probability” to a setup flag until it is measured (A6)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62272" y="3913632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63440" y="378561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status for tier 4 (flowchart and manifest differ)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462272" y="4754880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4626864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already complete: keep UOEDT, baseline, LOEDT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065008" y="1371600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47888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B5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MCD3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9299448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&amp; EDT stochastic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266176" y="223113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467344" y="210312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depends_on MCD1, MCD2 and read their trend readings for the same cycle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266176" y="3072384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67344" y="294436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nesting and the stochastic as its own contribution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266176" y="3913632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467344" y="378561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names instead of HIGH_CONVICTION_BUY_DIP and similar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266176" y="4754880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467344" y="4626864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envelope; write commentary for all 11 states (6 exist)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11290"/>
            </a:avLst>
          </a:prstGeom>
          <a:solidFill>
            <a:srgbClr val="2E2715"/>
          </a:solidFill>
          <a:ln w="9525">
            <a:solidFill>
              <a:srgbClr val="2E271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0080" y="57150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three:  </a:t>
            </a:r>
            <a:pPr indent="0" marL="0">
              <a:buNone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closed-bar view in PostgreSQL instead of the Excel replica (the replica stays as a test fixture), and add a forming-bar test and an envelope-conformance test.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WHICH HISTORY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histories: today’s lines and history as it was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5559552" cy="3931920"/>
          </a:xfrm>
          <a:prstGeom prst="roundRect">
            <a:avLst>
              <a:gd name="adj" fmla="val 1628"/>
            </a:avLst>
          </a:prstGeom>
          <a:solidFill>
            <a:srgbClr val="1D242E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53619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READING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920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market_data_v6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3774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channel projected back over the window: the same lines the trader sees on the chart.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" y="3328416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320040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every cycle’s live reading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" y="3968496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7824" y="384048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persistence check (e.g. ≥ 80% of bars above UOEDT) means “outside today’s line for that long”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" y="4608576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824" y="448056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MCD spec states this in words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72200" y="1371600"/>
            <a:ext cx="5559552" cy="3931920"/>
          </a:xfrm>
          <a:prstGeom prst="roundRect">
            <a:avLst>
              <a:gd name="adj" fmla="val 1628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5080" y="153619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2B54E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5508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1920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market_data_point_in_time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23774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as it stood at its close, with no later refits (snapshot_age_bars = 1).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91656" y="332841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92824" y="320040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replaying MCDs to build state statistics (A6)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91656" y="396849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92824" y="384048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“what would this sensor have said then?” without look-ahead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391656" y="460857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92824" y="448056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any number is quoted to a trader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5468112"/>
            <a:ext cx="11274552" cy="804672"/>
          </a:xfrm>
          <a:prstGeom prst="roundRect">
            <a:avLst>
              <a:gd name="adj" fmla="val 7955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5468112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both:  </a:t>
            </a:r>
            <a:pPr indent="0" marL="0">
              <a:buNone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values drift on 100% of historical bars (average $19.26). A state measured on re-fitted history would look better than it was. Frozen channels, once deployed, make the two agree for the frozen variant.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CERTIFYING STATES (A6)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state earns numbers only after it has been measured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4813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history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202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as they stood at close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32888" y="1920240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43200" y="14173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34640" y="14813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each MCD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19202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reading per past cycle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18888" y="1920240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029200" y="14173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20640" y="14813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history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19202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code per cycle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04888" y="1920240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315200" y="14173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06640" y="14813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outcomes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19202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and 12 h after each state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390888" y="1920240"/>
            <a:ext cx="192024" cy="0"/>
          </a:xfrm>
          <a:prstGeom prst="line">
            <a:avLst/>
          </a:prstGeom>
          <a:noFill/>
          <a:ln w="15875">
            <a:solidFill>
              <a:srgbClr val="7D8A9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601200" y="1417320"/>
            <a:ext cx="2057400" cy="1005840"/>
          </a:xfrm>
          <a:prstGeom prst="roundRect">
            <a:avLst>
              <a:gd name="adj" fmla="val 6364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92640" y="14813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state_statistics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692640" y="19202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state × horizon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697480"/>
            <a:ext cx="5577840" cy="3566160"/>
          </a:xfrm>
          <a:prstGeom prst="roundRect">
            <a:avLst>
              <a:gd name="adj" fmla="val 1795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28072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 STATE AND HORIZON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3154680"/>
            <a:ext cx="5257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 </a:t>
            </a:r>
            <a:pPr indent="0" marL="0">
              <a:buNone/>
            </a:pPr>
            <a:r>
              <a:rPr lang="en-US" sz="12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the state occurred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3904488"/>
            <a:ext cx="5257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move   </a:t>
            </a:r>
            <a:pPr indent="0" marL="0">
              <a:buNone/>
            </a:pPr>
            <a:r>
              <a:rPr lang="en-US" sz="12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and spread of the price move after 2 h and 12 h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4654296"/>
            <a:ext cx="5257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before stop   </a:t>
            </a:r>
            <a:pPr indent="0" marL="0">
              <a:buNone/>
            </a:pPr>
            <a:r>
              <a:rPr lang="en-US" sz="12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price reached the next opposing level before a structural stop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5404104"/>
            <a:ext cx="5257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excursion   </a:t>
            </a:r>
            <a:pPr indent="0" marL="0">
              <a:buNone/>
            </a:pPr>
            <a:r>
              <a:rPr lang="en-US" sz="125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price went against the bias first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199632" y="2697480"/>
            <a:ext cx="5532120" cy="3566160"/>
          </a:xfrm>
          <a:prstGeom prst="roundRect">
            <a:avLst>
              <a:gd name="adj" fmla="val 1795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82512" y="28072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USING THEM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382512" y="3200400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82512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812280" y="3154680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reaches the prompt only from this table, always with its n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382512" y="3950208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82512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812280" y="3904488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minimum sample, the state is “provisional” and gets words only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382512" y="4700016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382512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812280" y="4654296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config_hash starts a new series for that sensor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382512" y="5449824"/>
            <a:ext cx="310896" cy="310896"/>
          </a:xfrm>
          <a:prstGeom prst="ellipse">
            <a:avLst/>
          </a:prstGeom>
          <a:solidFill>
            <a:srgbClr val="E2B54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382512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812280" y="5404104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table can later calibrate synthesis rules (Section 3)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MCD4–15 (A8)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checklist every new MCD passes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61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14630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approved by you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85216" y="186537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timeframe, inputs, thresholds, states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044952" y="137160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49961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47872" y="14630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on the closed-bar view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172968" y="186537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Excel, no forming bar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632704" y="137160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49961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35624" y="14630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760720" y="186537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13-style suite + envelope + forming-bar case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246888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59689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0120" y="25603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register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585216" y="296265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plain meaning, bias for every state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044952" y="246888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2596896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547872" y="25603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3172968" y="296265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contributes to zones and stops, or “none”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5632704" y="246888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2" y="2596896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135624" y="25603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5760720" y="296265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readings it consumes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57200" y="356616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694176"/>
            <a:ext cx="310896" cy="31089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60120" y="3657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knowledge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585216" y="405993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dispatch-matrix entry (S4) and its playbook chunk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044952" y="356616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4680" y="3694176"/>
            <a:ext cx="310896" cy="31089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3547872" y="3657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rows</a:t>
            </a:r>
            <a:endParaRPr lang="en-US" sz="1100" dirty="0"/>
          </a:p>
        </p:txBody>
      </p:sp>
      <p:sp>
        <p:nvSpPr>
          <p:cNvPr id="39" name="Text 28"/>
          <p:cNvSpPr txBox="1"/>
          <p:nvPr/>
        </p:nvSpPr>
        <p:spPr>
          <a:xfrm>
            <a:off x="3172968" y="405993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its states combine with others (S3)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5632704" y="3566160"/>
            <a:ext cx="2468880" cy="987552"/>
          </a:xfrm>
          <a:prstGeom prst="roundRect">
            <a:avLst>
              <a:gd name="adj" fmla="val 6481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2432" y="3694176"/>
            <a:ext cx="310896" cy="310896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135624" y="36576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off until measured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5760720" y="4059936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on after its states have statistics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8321040" y="1371600"/>
            <a:ext cx="3410712" cy="4892040"/>
          </a:xfrm>
          <a:prstGeom prst="roundRect">
            <a:avLst>
              <a:gd name="adj" fmla="val 1877"/>
            </a:avLst>
          </a:prstGeom>
          <a:solidFill>
            <a:srgbClr val="1D242E"/>
          </a:solidFill>
          <a:ln w="15875">
            <a:solidFill>
              <a:srgbClr val="E2B54E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8485632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TOPICS FROM UNUSED DATA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8503920" y="213969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8686800" y="20116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resistance levels sr_1–sr_16</a:t>
            </a:r>
            <a:endParaRPr lang="en-US" sz="1050" dirty="0"/>
          </a:p>
        </p:txBody>
      </p:sp>
      <p:sp>
        <p:nvSpPr>
          <p:cNvPr id="48" name="Shape 36"/>
          <p:cNvSpPr/>
          <p:nvPr/>
        </p:nvSpPr>
        <p:spPr>
          <a:xfrm>
            <a:off x="8503920" y="264261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9" name="Text 37"/>
          <p:cNvSpPr txBox="1"/>
          <p:nvPr/>
        </p:nvSpPr>
        <p:spPr>
          <a:xfrm>
            <a:off x="8686800" y="25146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ZigZag structure (HH / HL / LH / LL) and wave Z-scores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8503920" y="314553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8686800" y="301752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Candle-body Z-score</a:t>
            </a:r>
            <a:endParaRPr lang="en-US" sz="1050" dirty="0"/>
          </a:p>
        </p:txBody>
      </p:sp>
      <p:sp>
        <p:nvSpPr>
          <p:cNvPr id="52" name="Shape 40"/>
          <p:cNvSpPr/>
          <p:nvPr/>
        </p:nvSpPr>
        <p:spPr>
          <a:xfrm>
            <a:off x="8503920" y="364845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8686800" y="35204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support / resistance lines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8503920" y="415137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8686800" y="402336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best_fit_a vs best_fit_b divergence</a:t>
            </a:r>
            <a:endParaRPr lang="en-US" sz="1050" dirty="0"/>
          </a:p>
        </p:txBody>
      </p:sp>
      <p:sp>
        <p:nvSpPr>
          <p:cNvPr id="56" name="Shape 44"/>
          <p:cNvSpPr/>
          <p:nvPr/>
        </p:nvSpPr>
        <p:spPr>
          <a:xfrm>
            <a:off x="8503920" y="465429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8686800" y="4526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Economic-event proximity</a:t>
            </a:r>
            <a:endParaRPr lang="en-US" sz="1050" dirty="0"/>
          </a:p>
        </p:txBody>
      </p:sp>
      <p:sp>
        <p:nvSpPr>
          <p:cNvPr id="58" name="Shape 46"/>
          <p:cNvSpPr/>
          <p:nvPr/>
        </p:nvSpPr>
        <p:spPr>
          <a:xfrm>
            <a:off x="8503920" y="515721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8686800" y="50292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&amp; gold index (terminal S)</a:t>
            </a:r>
            <a:endParaRPr lang="en-US" sz="1050" dirty="0"/>
          </a:p>
        </p:txBody>
      </p:sp>
      <p:sp>
        <p:nvSpPr>
          <p:cNvPr id="60" name="Shape 48"/>
          <p:cNvSpPr/>
          <p:nvPr/>
        </p:nvSpPr>
        <p:spPr>
          <a:xfrm>
            <a:off x="8503920" y="566013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61" name="Text 49"/>
          <p:cNvSpPr txBox="1"/>
          <p:nvPr/>
        </p:nvSpPr>
        <p:spPr>
          <a:xfrm>
            <a:off x="8686800" y="553212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Frozen-fit drift: is the approved line still valid?</a:t>
            </a:r>
            <a:endParaRPr lang="en-US" sz="1050" dirty="0"/>
          </a:p>
        </p:txBody>
      </p:sp>
      <p:sp>
        <p:nvSpPr>
          <p:cNvPr id="62" name="Text 50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stay yours to define; these are only the data no MCD reads yet.</a:t>
            </a:r>
            <a:endParaRPr lang="en-US" sz="1050" dirty="0"/>
          </a:p>
        </p:txBody>
      </p:sp>
      <p:sp>
        <p:nvSpPr>
          <p:cNvPr id="63" name="Shape 51"/>
          <p:cNvSpPr/>
          <p:nvPr/>
        </p:nvSpPr>
        <p:spPr>
          <a:xfrm>
            <a:off x="457200" y="5120640"/>
            <a:ext cx="7644384" cy="1143000"/>
          </a:xfrm>
          <a:prstGeom prst="roundRect">
            <a:avLst>
              <a:gd name="adj" fmla="val 5600"/>
            </a:avLst>
          </a:prstGeom>
          <a:solidFill>
            <a:srgbClr val="161C24"/>
          </a:solidFill>
          <a:ln w="9525">
            <a:solidFill>
              <a:srgbClr val="161C24"/>
            </a:solidFill>
            <a:prstDash val="solid"/>
          </a:ln>
        </p:spPr>
      </p:sp>
      <p:sp>
        <p:nvSpPr>
          <p:cNvPr id="64" name="Text 52"/>
          <p:cNvSpPr txBox="1"/>
          <p:nvPr/>
        </p:nvSpPr>
        <p:spPr>
          <a:xfrm>
            <a:off x="640080" y="512064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15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each new MCD adds a parser in six places and can be invisible to routing, synthesis or zones. With it, adding MCD4 is a checklist, not a redesign.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CHANGE LIST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Keep, change, add, remove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697480" cy="489204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536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5CC2B2"/>
          </a:solidFill>
          <a:ln w="9525">
            <a:solidFill>
              <a:srgbClr val="5CC2B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2112264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01168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sensor, one market dimension; topics defined by you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898648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2798064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English commentary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685032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3584448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pre-flight tiers and their order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471416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437083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≥ 50% floor and the ±5° trend band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100584" cy="100584"/>
          </a:xfrm>
          <a:prstGeom prst="ellipse">
            <a:avLst/>
          </a:prstGeom>
          <a:solidFill>
            <a:srgbClr val="5CC2B2"/>
          </a:solidFill>
          <a:ln w="12700">
            <a:solidFill>
              <a:srgbClr val="5CC2B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" y="5157216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13-test discipline per MCD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319272" y="1371600"/>
            <a:ext cx="2697480" cy="489204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83864" y="1536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0A54A"/>
          </a:solidFill>
          <a:ln w="9525">
            <a:solidFill>
              <a:srgbClr val="F0A5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83864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502152" y="2112264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703320" y="201168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read the closed-bar view, not the Excel replica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02152" y="2898648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03320" y="2798064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per cycle in the worker, never per request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502152" y="3685032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03320" y="3584448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reads the setting; tier 4 looks up the slot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502152" y="4471416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703320" y="437083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MCD3 reads MCD1 / MCD2 readings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502152" y="5257800"/>
            <a:ext cx="100584" cy="100584"/>
          </a:xfrm>
          <a:prstGeom prst="ellipse">
            <a:avLst/>
          </a:prstGeom>
          <a:solidFill>
            <a:srgbClr val="F0A54A"/>
          </a:solidFill>
          <a:ln w="12700">
            <a:solidFill>
              <a:srgbClr val="F0A54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703320" y="5157216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words become neutral names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81344" y="1371600"/>
            <a:ext cx="2697480" cy="489204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45936" y="1536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2B54E"/>
          </a:solidFill>
          <a:ln w="9525">
            <a:solidFill>
              <a:srgbClr val="E2B54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45936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364224" y="2112264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65392" y="201168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 v1 and state register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364224" y="2898648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565392" y="2798064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MCD0: the quality gate as a sensor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364224" y="3685032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65392" y="3584448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mcd_outputs, append-only, every cycle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364224" y="4471416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565392" y="437083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statistics from point-in-time replay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364224" y="5257800"/>
            <a:ext cx="100584" cy="100584"/>
          </a:xfrm>
          <a:prstGeom prst="ellipse">
            <a:avLst/>
          </a:prstGeom>
          <a:solidFill>
            <a:srgbClr val="E2B54E"/>
          </a:solidFill>
          <a:ln w="12700">
            <a:solidFill>
              <a:srgbClr val="E2B54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565392" y="5157216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and the plug-in checklist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043416" y="1371600"/>
            <a:ext cx="2697480" cy="4892040"/>
          </a:xfrm>
          <a:prstGeom prst="roundRect">
            <a:avLst>
              <a:gd name="adj" fmla="val 2373"/>
            </a:avLst>
          </a:prstGeom>
          <a:solidFill>
            <a:srgbClr val="1D242E"/>
          </a:solidFill>
          <a:ln w="9525">
            <a:solidFill>
              <a:srgbClr val="323C4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208008" y="15361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5746A"/>
          </a:solidFill>
          <a:ln w="9525">
            <a:solidFill>
              <a:srgbClr val="E5746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208008" y="1536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9226296" y="2112264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427464" y="201168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target_indicator_override outside tests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9226296" y="2898648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427464" y="2798064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C’s MCD01–10 mock list and ±10° / ±30° bands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226296" y="3685032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427464" y="3584448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words and percentages not from the statistics table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9226296" y="4471416"/>
            <a:ext cx="100584" cy="100584"/>
          </a:xfrm>
          <a:prstGeom prst="ellipse">
            <a:avLst/>
          </a:prstGeom>
          <a:solidFill>
            <a:srgbClr val="E5746A"/>
          </a:solidFill>
          <a:ln w="12700">
            <a:solidFill>
              <a:srgbClr val="E5746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427464" y="4370832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HANDOFFS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Section 2 hands on, and what it replaces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331720"/>
                <a:gridCol w="4572000"/>
                <a:gridCol w="31363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reading of the 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mcd_outputs rows for one slot: status, state, bias, levels, depends_on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Nothing: WACS was the only combiner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board 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summary_line + status for every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raw numeric commentary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and plain meanings for the dispatch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rows describing modules that were never 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readings for M*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envelope, including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mcdX_output.json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 ·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 reasons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CAUTIONARY status with its reason, incl. the MCD0 defect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separate 4-Quadrant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FA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statistics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state_statistics rows, always with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Unmeasured words and the seed’s percentages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A3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per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Slot, evaluator version, config hashes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DECISIONS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 decisions, settled 29 September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14600"/>
                <a:gridCol w="4663440"/>
                <a:gridCol w="2496312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chosen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sensor worker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Railway, started by Section 1’s cycle-ready job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VPS after collection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Envelope 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proposed; bias = LONG · SHORT · NEUTRAL · STAND_ASIDE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MCD keeps its own 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quality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MCD0 per timeframe; channel MCDs inherit CAUTIONARY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tier 0 inside every MCD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model, from file C: A ≥ 0.70, B ≥ 0.65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 for 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on market_data_v6; certification on point-in-time replay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for live too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MCD3’s trend 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MCD1 / MCD2 readings from the same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 independently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sample to quote a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≥ 30 per state and horizon, always shown with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after the first replay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MCD1 same-slope breakout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behaviour kept (latest bar); mcd1.md corrected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 for both directions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2B5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wording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state names; no probability words until 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3A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current names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CC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C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768096" cy="768096"/>
          </a:xfrm>
          <a:prstGeom prst="ellipse">
            <a:avLst/>
          </a:prstGeom>
          <a:solidFill>
            <a:srgbClr val="5CC2B2"/>
          </a:solidFill>
          <a:ln w="15875">
            <a:solidFill>
              <a:srgbClr val="5CC2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91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108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SENSORS (MCDs) · DONE WHEN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56692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 is finished when these checks pass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MCD1–3 emit envelope v1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1755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closed-bar view; every output validates against the schema.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MCD per cycle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675120" y="1755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mcd_outputs, including INVALID and STALE readings.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048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2359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is exact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00584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a stored cycle reproduces identical readings.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404872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75120" y="2359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passes on live data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667512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setting, with all variants populated; a detection mismatch gives CAUTIONARY.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92424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05840" y="3346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MCD0 reaches the channel sensors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100584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on a timeframe makes its channel MCDs CAUTIONARY, with the reason.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92424"/>
            <a:ext cx="384048" cy="38404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675120" y="3346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MCD3 follows MCD1 and MCD2</a:t>
            </a: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667512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MCD1’s trend in a test changes MCD3’s reading in the same cycle.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79976"/>
            <a:ext cx="384048" cy="38404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05840" y="4334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RETUNING is visible</a:t>
            </a:r>
            <a:endParaRPr lang="en-US" sz="1350" dirty="0"/>
          </a:p>
        </p:txBody>
      </p:sp>
      <p:sp>
        <p:nvSpPr>
          <p:cNvPr id="28" name="Text 18"/>
          <p:cNvSpPr txBox="1"/>
          <p:nvPr/>
        </p:nvSpPr>
        <p:spPr>
          <a:xfrm>
            <a:off x="1005840" y="47183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promote every sensor reports CAUTIONARY.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379976"/>
            <a:ext cx="384048" cy="38404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675120" y="4334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unmeasured numbers</a:t>
            </a:r>
            <a:endParaRPr lang="en-US" sz="1350" dirty="0"/>
          </a:p>
        </p:txBody>
      </p:sp>
      <p:sp>
        <p:nvSpPr>
          <p:cNvPr id="31" name="Text 20"/>
          <p:cNvSpPr txBox="1"/>
          <p:nvPr/>
        </p:nvSpPr>
        <p:spPr>
          <a:xfrm>
            <a:off x="6675120" y="47183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percentage or confidence word in any output unless it comes from state_statistics.</a:t>
            </a:r>
            <a:endParaRPr lang="en-US" sz="11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367528"/>
            <a:ext cx="384048" cy="38404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005840" y="5321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gates MCD4</a:t>
            </a:r>
            <a:endParaRPr lang="en-US" sz="1350" dirty="0"/>
          </a:p>
        </p:txBody>
      </p:sp>
      <p:sp>
        <p:nvSpPr>
          <p:cNvPr id="34" name="Text 22"/>
          <p:cNvSpPr txBox="1"/>
          <p:nvPr/>
        </p:nvSpPr>
        <p:spPr>
          <a:xfrm>
            <a:off x="1005840" y="57058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MCD’s flag stays off until all nine checklist items pass.</a:t>
            </a:r>
            <a:endParaRPr lang="en-US" sz="1100" dirty="0"/>
          </a:p>
        </p:txBody>
      </p:sp>
      <p:sp>
        <p:nvSpPr>
          <p:cNvPr id="35" name="Text 23"/>
          <p:cNvSpPr txBox="1"/>
          <p:nvPr/>
        </p:nvSpPr>
        <p:spPr>
          <a:xfrm>
            <a:off x="6126480" y="5989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2B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deck: Section 3 · Synthesis &amp; entry zones, delivered with this update.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D Revised Architecture — Section 2: Sensors (MCDs)</dc:title>
  <dc:subject>PptxGenJS Presentation</dc:subject>
  <dc:creator>DavinTrade</dc:creator>
  <cp:lastModifiedBy>DavinTrade</cp:lastModifiedBy>
  <cp:revision>1</cp:revision>
  <dcterms:created xsi:type="dcterms:W3CDTF">2026-09-29T16:11:17Z</dcterms:created>
  <dcterms:modified xsi:type="dcterms:W3CDTF">2026-09-29T16:11:17Z</dcterms:modified>
</cp:coreProperties>
</file>