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5 of the section series. Section 5 turns the intake packet from Section 4 into one checked reply. It never recomputes a market reading and never chooses direction: direction comes from the synthesis reading (decision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 reads only the intake packet (Section 4) and the cycle snapshot (Sections 1-3). It hands a structured Report 1 to Section 6 and usage and trace data to Section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file D §2 (8 pillars, Promise.all, &lt; 120 ms target; pillar 8 rules), §3 (Redis buffer: sliding 20-message window), §5 (Free 50,000 / Pro 500,000 tokens a month; deducts prompt, vision and output tokens), §7.1 (six models: Gemini 3.6 Flash and DeepSeek V4 Flash 1.0x, GLM-5.2 2.5x, Kimi K3 3.0x, GPT 5.6 Terra 8.0x, Claude Sonnet 5 10.0x; ~1,500 units a message at 1.0x, "300+ msgs/mo"), §7.2 (units = tokens x multiplier), §7.3 (check: remaining &lt;= 0 throws; temperature 0.1; SSE stream), §8 (Report 1 contents), §10 (orchestrator: 54-bar lookback, 10-message chat window, FREE users get no chart). File A pillar 6 names Claude Opus 5.5 or a Gemini multimodal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1 review C1 and the budget on slide 7 (first message about 16,000-19,600 tokens); D §7.1 assumes about 1,500 units a message at 1.0x. 2 D §7.3: only remaining &lt;= 0 is refused; 18,000 tokens x 10.0x = 180,000 units. 3 D §3 (20-message buffer) vs §10 (10 messages); no caps anywhere in the assembler. 4 file A invariant "the LLM never invents market data" has no check. 5 D §8 Report 1 contents; WACS and density retired by decisions 001-003. 6 D §7.1 lists no capability flags. 7 seed idea, file I and file F wording vs file G disclaimer. 8 review D1: R2 objects older than 10 minutes are flagged only in a manual checklist; the chart renderer and the MCDs read different databases.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1-3 and 5-8 are deterministic code; only step 4 calls a model. A failed check in step 5 or 6 sends the reply back to step 4 once, naming what failed; a second failure falls back as described on slides 11 and 12. Direction is never produced in step 4: it is copied from the synthesis reading in step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status comes from Section 1 (decision 012: ready within 2 minutes, 4 with retries; STALE after 10 minutes). DELAYED is the window between the ready deadline and STALE. RETUNING is decision 015, still proposed. Report 2 is Section 6’s decision; the column shows what this gate passes on. The chart check compares the slot and last-bar time the renderer writes into the R2 object’s metadata (Section 1, rule 8) with the cycle being answered.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 are starting values in tokens, to re-measure per model (decision 5.2). The cut order applies when a request is over its total: history first (older turns become a running summary), then knowledge expansions and the fourth chunk, then OHLC switches to summary mode, then the details of routed sensors (levels and summary kept). Sensors opposing the synthesis or saying stand aside keep their full reading (decision 041). Token counts measured on synthetic XAUUSD bars with one public tokenizer (o200k_base); every model tokenizes differently, so each is re-measured per model before its caps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Keeps decision 003 (1 day of M5 + M15 OHLC) and Section 1’s definition: the last 288 closed M5 and 96 closed M15 bars, trading bars only. The compact form drops the per-bar timestamp (one header per timeframe gives start and step) and marks market breaks with a gap line so time stays unambiguous. The day line carries the values most often quoted. The block is identical for every user in the same cycle, so it sits in the shared, cached part of the prompt. Prices shown are illustrative except the last price, which is from the 18 Sep example cycle (test data). Token counts measured on synthetic XAUUSD bars with one public tokenizer (o200k_base); every model tokenizes differently, so each is re-measured per model before its caps are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an illustrative first message of 18,000 tokens times file D’s multiplier; 500,000 and 50,000 divided by the result, rounded down. D’s own figures assumed about 1,500 units a message at 1.0x. Follow-ups and cached cycle blocks cost less (slide 14), so the monthly count of all messages is higher than the first-message count; the point is that D’s tier amounts and multipliers cannot deliver "300+ messages" with this context. The tier amounts themselves are decided with Section 7’s entitlement table (review G2), from measured averages.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for the 18 Sep example cycle (test data), Day Trader view: synthesis rule 1, counter-trend rally, LONG; MCD3 says stand aside on its own (decision 041 keeps it in full); Z1 is the M5 baseline zone (4363.84-4370.66, invalidation 4349.72, runway ratio 0.97). Values in braces are ids: the renderer fills them from the envelopes and zones, so the model never retypes a price. Text fields are written in the user’s language; ids, level names and state codes stay untranslated (decision 038). Report 1 contents are revised: the WACS score and MCD density items are removed (decisions 001-003); zones, invalidation and what would change the picture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Report 1 as data, most numbers never pass through the model’s typing: they are ids filled by the renderer. The check covers what is left: literal numbers in rationale text and in short chat answers. The context set is built during assembly: the day line (open, high, low) and the last price, every level in the envelopes and zones, the last price, precomputed distances from the last price to each level and zone, profile values, event times, statistics with their n, and the user’s own inputs. Single OHLC bar values are deliberately left out: a day of bars covers almost every price in the day’s range to within $0.05, so matching against them would pass nearly anything. The model is told to quote levels and the day line, not single bars. Locale formats (4 377,99 or 4.377,99) are normalised before matching. Tolerance: $0.05 on prices and dollar distances; statistics and times must match exactly. The planted example uses the M5 LOEDT of the 18 Sep test cycle (4350.22).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 G’s disclaimer positions DavinTrade as execution-only decision support and cites MiFID II, CFTC 4.41, FCA PERG 8.29 and JFSA. Wording elsewhere conflicts: the seed idea ("82% probability", "GRADE S (95% Confluence)", "High-Conviction Alert"), file I ("100% accurate, hallucination-free trade advice") and file F ("hallucination-free technical analysis"). The phrase lists are versioned with the Section 4 glossary. A second wording failure replaces the reply with a short fixed answer built from the sensor board, so nothing unchecked is shown. I am not a lawyer: counsel in each target jurisdiction should review the final guide and the fixed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stays in config/ai-models.ts (file D); it gains capability flags and an evaluation record. Capability values are not filled in here because none of the six models has been tested against this suite yet. Golden scenarios are 20-30 stored cycles with expected envelopes, synthesis, zones and Report 2 numbers (review G4, owned by Section 7). The language test reuses Section 4’s labelled question set in all 16 languages. Launch with one default and one fallback from a different provider, so an outage of one provider is covered (G4).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figure settles the conflict in file D (20 messages in §3, 10 in the §10 code) at 10, plus a running summary of older turns of at most 300 tokens. The "what changed" line is built by code from the two cycles’ envelopes, not by the model. Latency targets are p90 starting values; every stage is timed in the trace so a slow stage shows up. The reply is shown after its checks (decision 5.8), with progress stages on screen while it is prepared.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of the revised prompt and reply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1 JSON is the input Section 6 builds on: the modal opens with the same cycle, the synthesis direction and the chosen zone ids, so Report 2 never re-reads the prose. The chat UI (Stack E) receives only rendered, checked replies.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eleven were settled on 29 Sep by adopting the suggestion; they are entries 047-057 in the decision log. 5.1 keeps your decision 003 and only changes its format. 5.4 settles the metering method; the tier amounts themselves are set with Section 7’s entitlement table once costs are measured. 5.9 does not pick the two models: the evaluation suite does. 5.10: I am not a lawyer; the guide should be reviewed by counsel in each target jurisdiction.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checks for Section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318"/>
        </a:solidFill>
      </p:bgPr>
    </p:bg>
    <p:spTree>
      <p:nvGrpSpPr>
        <p:cNvPr id="1" name=""/>
        <p:cNvGrpSpPr/>
        <p:nvPr/>
      </p:nvGrpSpPr>
      <p:grpSpPr>
        <a:xfrm>
          <a:off x="0" y="0"/>
          <a:ext cx="0" cy="0"/>
          <a:chOff x="0" y="0"/>
          <a:chExt cx="0" cy="0"/>
        </a:xfrm>
      </p:grpSpPr>
      <p:sp>
        <p:nvSpPr>
          <p:cNvPr id="2" name="Text 0"/>
          <p:cNvSpPr txBox="1"/>
          <p:nvPr/>
        </p:nvSpPr>
        <p:spPr>
          <a:xfrm>
            <a:off x="640080" y="1188720"/>
            <a:ext cx="6583680" cy="274320"/>
          </a:xfrm>
          <a:prstGeom prst="rect">
            <a:avLst/>
          </a:prstGeom>
          <a:noFill/>
          <a:ln/>
        </p:spPr>
        <p:txBody>
          <a:bodyPr wrap="square" lIns="0" tIns="0" rIns="0" bIns="0" rtlCol="0" anchor="t"/>
          <a:lstStyle/>
          <a:p>
            <a:pPr indent="0" marL="0">
              <a:buNone/>
            </a:pPr>
            <a:r>
              <a:rPr lang="en-US" sz="1200" b="1" spc="300" kern="0" dirty="0">
                <a:solidFill>
                  <a:srgbClr val="E2B54E"/>
                </a:solidFill>
                <a:latin typeface="Calibri" pitchFamily="34" charset="0"/>
                <a:ea typeface="Calibri" pitchFamily="34" charset="-122"/>
                <a:cs typeface="Calibri" pitchFamily="34" charset="-120"/>
              </a:rPr>
              <a:t>STACK D  ·  REVISED ARCHITECTURE  ·  DECK 5 OF 7</a:t>
            </a:r>
            <a:endParaRPr lang="en-US" sz="1200" dirty="0"/>
          </a:p>
        </p:txBody>
      </p:sp>
      <p:sp>
        <p:nvSpPr>
          <p:cNvPr id="3" name="Text 1"/>
          <p:cNvSpPr txBox="1"/>
          <p:nvPr/>
        </p:nvSpPr>
        <p:spPr>
          <a:xfrm>
            <a:off x="640080" y="1572768"/>
            <a:ext cx="6035040" cy="1554480"/>
          </a:xfrm>
          <a:prstGeom prst="rect">
            <a:avLst/>
          </a:prstGeom>
          <a:noFill/>
          <a:ln/>
        </p:spPr>
        <p:txBody>
          <a:bodyPr wrap="square" lIns="0" tIns="0" rIns="0" bIns="0" rtlCol="0" anchor="t"/>
          <a:lstStyle/>
          <a:p>
            <a:pPr indent="0" marL="0">
              <a:buNone/>
            </a:pPr>
            <a:r>
              <a:rPr lang="en-US" sz="4000" b="1" dirty="0">
                <a:solidFill>
                  <a:srgbClr val="EEF1F4"/>
                </a:solidFill>
                <a:latin typeface="Cambria" pitchFamily="34" charset="0"/>
                <a:ea typeface="Cambria" pitchFamily="34" charset="-122"/>
                <a:cs typeface="Cambria" pitchFamily="34" charset="-120"/>
              </a:rPr>
              <a:t>Section 5 · Prompt &amp; AI reply</a:t>
            </a:r>
            <a:endParaRPr lang="en-US" sz="4000" dirty="0"/>
          </a:p>
        </p:txBody>
      </p:sp>
      <p:sp>
        <p:nvSpPr>
          <p:cNvPr id="4" name="Text 2"/>
          <p:cNvSpPr txBox="1"/>
          <p:nvPr/>
        </p:nvSpPr>
        <p:spPr>
          <a:xfrm>
            <a:off x="640080" y="3291840"/>
            <a:ext cx="5760720" cy="1280160"/>
          </a:xfrm>
          <a:prstGeom prst="rect">
            <a:avLst/>
          </a:prstGeom>
          <a:noFill/>
          <a:ln/>
        </p:spPr>
        <p:txBody>
          <a:bodyPr wrap="square" lIns="0" tIns="0" rIns="0" bIns="0" rtlCol="0" anchor="t"/>
          <a:lstStyle/>
          <a:p>
            <a:pPr indent="0" marL="0">
              <a:buNone/>
            </a:pPr>
            <a:r>
              <a:rPr lang="en-US" sz="1700" dirty="0">
                <a:solidFill>
                  <a:srgbClr val="A3AEBB"/>
                </a:solidFill>
                <a:latin typeface="Calibri" pitchFamily="34" charset="0"/>
                <a:ea typeface="Calibri" pitchFamily="34" charset="-122"/>
                <a:cs typeface="Calibri" pitchFamily="34" charset="-120"/>
              </a:rPr>
              <a:t>The second half of every request: fit the context into a fixed budget, get one answer from a tested model, and check every number and phrase before anyone sees it.</a:t>
            </a:r>
            <a:endParaRPr lang="en-US" sz="1700" dirty="0"/>
          </a:p>
        </p:txBody>
      </p:sp>
      <p:sp>
        <p:nvSpPr>
          <p:cNvPr id="5" name="Text 3"/>
          <p:cNvSpPr txBox="1"/>
          <p:nvPr/>
        </p:nvSpPr>
        <p:spPr>
          <a:xfrm>
            <a:off x="640080" y="4754880"/>
            <a:ext cx="5943600" cy="1371600"/>
          </a:xfrm>
          <a:prstGeom prst="rect">
            <a:avLst/>
          </a:prstGeom>
          <a:noFill/>
          <a:ln/>
        </p:spPr>
        <p:txBody>
          <a:bodyPr wrap="square" lIns="0" tIns="0" rIns="0" bIns="0" rtlCol="0" anchor="t"/>
          <a:lstStyle/>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Decisions 5.1–5.11 settled 29 September 2026</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Recommendations landing here: C1 · D3 (P1) · C2 · F1 · F2 · F3; applies D1</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Builds on Sections 1–4 (settled 29 September)</a:t>
            </a:r>
            <a:endParaRPr lang="en-US" sz="1200" dirty="0"/>
          </a:p>
          <a:p>
            <a:pPr indent="0" marL="0">
              <a:spcAft>
                <a:spcPts val="300"/>
              </a:spcAft>
              <a:buNone/>
            </a:pPr>
            <a:r>
              <a:rPr lang="en-US" sz="1200" dirty="0">
                <a:solidFill>
                  <a:srgbClr val="A3AEBB"/>
                </a:solidFill>
                <a:latin typeface="Calibri" pitchFamily="34" charset="0"/>
                <a:ea typeface="Calibri" pitchFamily="34" charset="-122"/>
                <a:cs typeface="Calibri" pitchFamily="34" charset="-120"/>
              </a:rPr>
              <a:t>Sources: file D §2, §5, §7, §8, §10 (pillars, metering, models, dual report) · file A pillars 6–7 · file G disclaimer · review C1</a:t>
            </a:r>
            <a:endParaRPr lang="en-US" sz="1200" dirty="0"/>
          </a:p>
        </p:txBody>
      </p:sp>
      <p:sp>
        <p:nvSpPr>
          <p:cNvPr id="6" name="Shape 4"/>
          <p:cNvSpPr/>
          <p:nvPr/>
        </p:nvSpPr>
        <p:spPr>
          <a:xfrm>
            <a:off x="6903720" y="1188720"/>
            <a:ext cx="4846320" cy="1700784"/>
          </a:xfrm>
          <a:prstGeom prst="roundRect">
            <a:avLst>
              <a:gd name="adj" fmla="val 3226"/>
            </a:avLst>
          </a:prstGeom>
          <a:solidFill>
            <a:srgbClr val="15302D"/>
          </a:solidFill>
          <a:ln w="9525">
            <a:solidFill>
              <a:srgbClr val="15302D"/>
            </a:solidFill>
            <a:prstDash val="solid"/>
          </a:ln>
        </p:spPr>
      </p:sp>
      <p:sp>
        <p:nvSpPr>
          <p:cNvPr id="7" name="Text 5"/>
          <p:cNvSpPr txBox="1"/>
          <p:nvPr/>
        </p:nvSpPr>
        <p:spPr>
          <a:xfrm>
            <a:off x="7031736" y="1261872"/>
            <a:ext cx="3004718"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8" name="Text 6"/>
          <p:cNvSpPr txBox="1"/>
          <p:nvPr/>
        </p:nvSpPr>
        <p:spPr>
          <a:xfrm>
            <a:off x="9084564" y="1261872"/>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9" name="Shape 7"/>
          <p:cNvSpPr/>
          <p:nvPr/>
        </p:nvSpPr>
        <p:spPr>
          <a:xfrm>
            <a:off x="7031736" y="1554480"/>
            <a:ext cx="1347216" cy="1207008"/>
          </a:xfrm>
          <a:prstGeom prst="roundRect">
            <a:avLst>
              <a:gd name="adj" fmla="val 5303"/>
            </a:avLst>
          </a:prstGeom>
          <a:solidFill>
            <a:srgbClr val="161C24"/>
          </a:solidFill>
          <a:ln w="9525">
            <a:solidFill>
              <a:srgbClr val="161C24"/>
            </a:solidFill>
            <a:prstDash val="solid"/>
          </a:ln>
        </p:spPr>
      </p:sp>
      <p:sp>
        <p:nvSpPr>
          <p:cNvPr id="10" name="Shape 8"/>
          <p:cNvSpPr/>
          <p:nvPr/>
        </p:nvSpPr>
        <p:spPr>
          <a:xfrm>
            <a:off x="7123176" y="1965960"/>
            <a:ext cx="384048" cy="384048"/>
          </a:xfrm>
          <a:prstGeom prst="ellipse">
            <a:avLst/>
          </a:prstGeom>
          <a:solidFill>
            <a:srgbClr val="6E7A88"/>
          </a:solidFill>
          <a:ln w="15875">
            <a:solidFill>
              <a:srgbClr val="6E7A88"/>
            </a:solidFill>
            <a:prstDash val="solid"/>
          </a:ln>
        </p:spPr>
      </p:sp>
      <p:sp>
        <p:nvSpPr>
          <p:cNvPr id="11" name="Text 9"/>
          <p:cNvSpPr txBox="1"/>
          <p:nvPr/>
        </p:nvSpPr>
        <p:spPr>
          <a:xfrm>
            <a:off x="7123176"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598664"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3" name="Shape 11"/>
          <p:cNvSpPr/>
          <p:nvPr/>
        </p:nvSpPr>
        <p:spPr>
          <a:xfrm>
            <a:off x="8415528" y="2157984"/>
            <a:ext cx="201168" cy="0"/>
          </a:xfrm>
          <a:prstGeom prst="line">
            <a:avLst/>
          </a:prstGeom>
          <a:noFill/>
          <a:ln w="15875">
            <a:solidFill>
              <a:srgbClr val="323C49"/>
            </a:solidFill>
            <a:prstDash val="solid"/>
            <a:tailEnd type="triangle"/>
          </a:ln>
        </p:spPr>
      </p:sp>
      <p:sp>
        <p:nvSpPr>
          <p:cNvPr id="14" name="Shape 12"/>
          <p:cNvSpPr/>
          <p:nvPr/>
        </p:nvSpPr>
        <p:spPr>
          <a:xfrm>
            <a:off x="8653272" y="1554480"/>
            <a:ext cx="1347216" cy="1207008"/>
          </a:xfrm>
          <a:prstGeom prst="roundRect">
            <a:avLst>
              <a:gd name="adj" fmla="val 5303"/>
            </a:avLst>
          </a:prstGeom>
          <a:solidFill>
            <a:srgbClr val="161C24"/>
          </a:solidFill>
          <a:ln w="9525">
            <a:solidFill>
              <a:srgbClr val="161C24"/>
            </a:solidFill>
            <a:prstDash val="solid"/>
          </a:ln>
        </p:spPr>
      </p:sp>
      <p:sp>
        <p:nvSpPr>
          <p:cNvPr id="15" name="Shape 13"/>
          <p:cNvSpPr/>
          <p:nvPr/>
        </p:nvSpPr>
        <p:spPr>
          <a:xfrm>
            <a:off x="8744712" y="1965960"/>
            <a:ext cx="384048" cy="384048"/>
          </a:xfrm>
          <a:prstGeom prst="ellipse">
            <a:avLst/>
          </a:prstGeom>
          <a:solidFill>
            <a:srgbClr val="6E7A88"/>
          </a:solidFill>
          <a:ln w="15875">
            <a:solidFill>
              <a:srgbClr val="6E7A88"/>
            </a:solidFill>
            <a:prstDash val="solid"/>
          </a:ln>
        </p:spPr>
      </p:sp>
      <p:sp>
        <p:nvSpPr>
          <p:cNvPr id="16" name="Text 14"/>
          <p:cNvSpPr txBox="1"/>
          <p:nvPr/>
        </p:nvSpPr>
        <p:spPr>
          <a:xfrm>
            <a:off x="8744712"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9220200"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18" name="Shape 16"/>
          <p:cNvSpPr/>
          <p:nvPr/>
        </p:nvSpPr>
        <p:spPr>
          <a:xfrm>
            <a:off x="10037064" y="2157984"/>
            <a:ext cx="201168" cy="0"/>
          </a:xfrm>
          <a:prstGeom prst="line">
            <a:avLst/>
          </a:prstGeom>
          <a:noFill/>
          <a:ln w="15875">
            <a:solidFill>
              <a:srgbClr val="323C49"/>
            </a:solidFill>
            <a:prstDash val="solid"/>
            <a:tailEnd type="triangle"/>
          </a:ln>
        </p:spPr>
      </p:sp>
      <p:sp>
        <p:nvSpPr>
          <p:cNvPr id="19" name="Shape 17"/>
          <p:cNvSpPr/>
          <p:nvPr/>
        </p:nvSpPr>
        <p:spPr>
          <a:xfrm>
            <a:off x="10274808" y="1554480"/>
            <a:ext cx="1347216" cy="1207008"/>
          </a:xfrm>
          <a:prstGeom prst="roundRect">
            <a:avLst>
              <a:gd name="adj" fmla="val 5303"/>
            </a:avLst>
          </a:prstGeom>
          <a:solidFill>
            <a:srgbClr val="161C24"/>
          </a:solidFill>
          <a:ln w="9525">
            <a:solidFill>
              <a:srgbClr val="161C24"/>
            </a:solidFill>
            <a:prstDash val="solid"/>
          </a:ln>
        </p:spPr>
      </p:sp>
      <p:sp>
        <p:nvSpPr>
          <p:cNvPr id="20" name="Shape 18"/>
          <p:cNvSpPr/>
          <p:nvPr/>
        </p:nvSpPr>
        <p:spPr>
          <a:xfrm>
            <a:off x="10366248" y="1965960"/>
            <a:ext cx="384048" cy="384048"/>
          </a:xfrm>
          <a:prstGeom prst="ellipse">
            <a:avLst/>
          </a:prstGeom>
          <a:solidFill>
            <a:srgbClr val="6E7A88"/>
          </a:solidFill>
          <a:ln w="15875">
            <a:solidFill>
              <a:srgbClr val="6E7A88"/>
            </a:solidFill>
            <a:prstDash val="solid"/>
          </a:ln>
        </p:spPr>
      </p:sp>
      <p:sp>
        <p:nvSpPr>
          <p:cNvPr id="21" name="Text 19"/>
          <p:cNvSpPr txBox="1"/>
          <p:nvPr/>
        </p:nvSpPr>
        <p:spPr>
          <a:xfrm>
            <a:off x="10366248" y="196596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2" name="Text 20"/>
          <p:cNvSpPr txBox="1"/>
          <p:nvPr/>
        </p:nvSpPr>
        <p:spPr>
          <a:xfrm>
            <a:off x="10841736" y="1554480"/>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3" name="Shape 21"/>
          <p:cNvSpPr/>
          <p:nvPr/>
        </p:nvSpPr>
        <p:spPr>
          <a:xfrm>
            <a:off x="6903720" y="3273552"/>
            <a:ext cx="4846320" cy="1700784"/>
          </a:xfrm>
          <a:prstGeom prst="roundRect">
            <a:avLst>
              <a:gd name="adj" fmla="val 3226"/>
            </a:avLst>
          </a:prstGeom>
          <a:solidFill>
            <a:srgbClr val="17243A"/>
          </a:solidFill>
          <a:ln w="9525">
            <a:solidFill>
              <a:srgbClr val="17243A"/>
            </a:solidFill>
            <a:prstDash val="solid"/>
          </a:ln>
        </p:spPr>
      </p:sp>
      <p:sp>
        <p:nvSpPr>
          <p:cNvPr id="24" name="Text 22"/>
          <p:cNvSpPr txBox="1"/>
          <p:nvPr/>
        </p:nvSpPr>
        <p:spPr>
          <a:xfrm>
            <a:off x="7031736" y="3346704"/>
            <a:ext cx="3004718"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5" name="Text 23"/>
          <p:cNvSpPr txBox="1"/>
          <p:nvPr/>
        </p:nvSpPr>
        <p:spPr>
          <a:xfrm>
            <a:off x="9084564" y="3346704"/>
            <a:ext cx="2537460"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6" name="Shape 24"/>
          <p:cNvSpPr/>
          <p:nvPr/>
        </p:nvSpPr>
        <p:spPr>
          <a:xfrm>
            <a:off x="7031736" y="3639312"/>
            <a:ext cx="1347216" cy="1207008"/>
          </a:xfrm>
          <a:prstGeom prst="roundRect">
            <a:avLst>
              <a:gd name="adj" fmla="val 5303"/>
            </a:avLst>
          </a:prstGeom>
          <a:solidFill>
            <a:srgbClr val="161C24"/>
          </a:solidFill>
          <a:ln w="9525">
            <a:solidFill>
              <a:srgbClr val="161C24"/>
            </a:solidFill>
            <a:prstDash val="solid"/>
          </a:ln>
        </p:spPr>
      </p:sp>
      <p:sp>
        <p:nvSpPr>
          <p:cNvPr id="27" name="Shape 25"/>
          <p:cNvSpPr/>
          <p:nvPr/>
        </p:nvSpPr>
        <p:spPr>
          <a:xfrm>
            <a:off x="7123176" y="4050792"/>
            <a:ext cx="384048" cy="384048"/>
          </a:xfrm>
          <a:prstGeom prst="ellipse">
            <a:avLst/>
          </a:prstGeom>
          <a:solidFill>
            <a:srgbClr val="6E7A88"/>
          </a:solidFill>
          <a:ln w="15875">
            <a:solidFill>
              <a:srgbClr val="6E7A88"/>
            </a:solidFill>
            <a:prstDash val="solid"/>
          </a:ln>
        </p:spPr>
      </p:sp>
      <p:sp>
        <p:nvSpPr>
          <p:cNvPr id="28" name="Text 26"/>
          <p:cNvSpPr txBox="1"/>
          <p:nvPr/>
        </p:nvSpPr>
        <p:spPr>
          <a:xfrm>
            <a:off x="7123176"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29" name="Text 27"/>
          <p:cNvSpPr txBox="1"/>
          <p:nvPr/>
        </p:nvSpPr>
        <p:spPr>
          <a:xfrm>
            <a:off x="7598664"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0" name="Shape 28"/>
          <p:cNvSpPr/>
          <p:nvPr/>
        </p:nvSpPr>
        <p:spPr>
          <a:xfrm>
            <a:off x="8415528" y="4242816"/>
            <a:ext cx="201168" cy="0"/>
          </a:xfrm>
          <a:prstGeom prst="line">
            <a:avLst/>
          </a:prstGeom>
          <a:noFill/>
          <a:ln w="15875">
            <a:solidFill>
              <a:srgbClr val="323C49"/>
            </a:solidFill>
            <a:prstDash val="solid"/>
            <a:tailEnd type="triangle"/>
          </a:ln>
        </p:spPr>
      </p:sp>
      <p:sp>
        <p:nvSpPr>
          <p:cNvPr id="31" name="Shape 29"/>
          <p:cNvSpPr/>
          <p:nvPr/>
        </p:nvSpPr>
        <p:spPr>
          <a:xfrm>
            <a:off x="8653272" y="3639312"/>
            <a:ext cx="1347216" cy="1207008"/>
          </a:xfrm>
          <a:prstGeom prst="roundRect">
            <a:avLst>
              <a:gd name="adj" fmla="val 5303"/>
            </a:avLst>
          </a:prstGeom>
          <a:solidFill>
            <a:srgbClr val="1D242E"/>
          </a:solidFill>
          <a:ln w="22225">
            <a:solidFill>
              <a:srgbClr val="E2B54E"/>
            </a:solidFill>
            <a:prstDash val="solid"/>
          </a:ln>
        </p:spPr>
      </p:sp>
      <p:sp>
        <p:nvSpPr>
          <p:cNvPr id="32" name="Shape 30"/>
          <p:cNvSpPr/>
          <p:nvPr/>
        </p:nvSpPr>
        <p:spPr>
          <a:xfrm>
            <a:off x="8744712" y="4050792"/>
            <a:ext cx="384048" cy="384048"/>
          </a:xfrm>
          <a:prstGeom prst="ellipse">
            <a:avLst/>
          </a:prstGeom>
          <a:solidFill>
            <a:srgbClr val="E2B54E"/>
          </a:solidFill>
          <a:ln w="15875">
            <a:solidFill>
              <a:srgbClr val="E2B54E"/>
            </a:solidFill>
            <a:prstDash val="solid"/>
          </a:ln>
        </p:spPr>
      </p:sp>
      <p:sp>
        <p:nvSpPr>
          <p:cNvPr id="33" name="Text 31"/>
          <p:cNvSpPr txBox="1"/>
          <p:nvPr/>
        </p:nvSpPr>
        <p:spPr>
          <a:xfrm>
            <a:off x="8744712"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4" name="Text 32"/>
          <p:cNvSpPr txBox="1"/>
          <p:nvPr/>
        </p:nvSpPr>
        <p:spPr>
          <a:xfrm>
            <a:off x="9220200" y="3639312"/>
            <a:ext cx="72542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Prompt &amp; AI reply</a:t>
            </a:r>
            <a:endParaRPr lang="en-US" sz="1000" dirty="0"/>
          </a:p>
        </p:txBody>
      </p:sp>
      <p:sp>
        <p:nvSpPr>
          <p:cNvPr id="35" name="Shape 33"/>
          <p:cNvSpPr/>
          <p:nvPr/>
        </p:nvSpPr>
        <p:spPr>
          <a:xfrm>
            <a:off x="10037064" y="4242816"/>
            <a:ext cx="201168" cy="0"/>
          </a:xfrm>
          <a:prstGeom prst="line">
            <a:avLst/>
          </a:prstGeom>
          <a:noFill/>
          <a:ln w="15875">
            <a:solidFill>
              <a:srgbClr val="7D8A99"/>
            </a:solidFill>
            <a:prstDash val="solid"/>
            <a:tailEnd type="triangle"/>
          </a:ln>
        </p:spPr>
      </p:sp>
      <p:sp>
        <p:nvSpPr>
          <p:cNvPr id="36" name="Shape 34"/>
          <p:cNvSpPr/>
          <p:nvPr/>
        </p:nvSpPr>
        <p:spPr>
          <a:xfrm>
            <a:off x="10274808" y="3639312"/>
            <a:ext cx="1347216" cy="1207008"/>
          </a:xfrm>
          <a:prstGeom prst="roundRect">
            <a:avLst>
              <a:gd name="adj" fmla="val 5303"/>
            </a:avLst>
          </a:prstGeom>
          <a:solidFill>
            <a:srgbClr val="161C24"/>
          </a:solidFill>
          <a:ln w="9525">
            <a:solidFill>
              <a:srgbClr val="161C24"/>
            </a:solidFill>
            <a:prstDash val="solid"/>
          </a:ln>
        </p:spPr>
      </p:sp>
      <p:sp>
        <p:nvSpPr>
          <p:cNvPr id="37" name="Shape 35"/>
          <p:cNvSpPr/>
          <p:nvPr/>
        </p:nvSpPr>
        <p:spPr>
          <a:xfrm>
            <a:off x="10366248" y="4050792"/>
            <a:ext cx="384048" cy="384048"/>
          </a:xfrm>
          <a:prstGeom prst="ellipse">
            <a:avLst/>
          </a:prstGeom>
          <a:solidFill>
            <a:srgbClr val="6E7A88"/>
          </a:solidFill>
          <a:ln w="15875">
            <a:solidFill>
              <a:srgbClr val="6E7A88"/>
            </a:solidFill>
            <a:prstDash val="solid"/>
          </a:ln>
        </p:spPr>
      </p:sp>
      <p:sp>
        <p:nvSpPr>
          <p:cNvPr id="38" name="Text 36"/>
          <p:cNvSpPr txBox="1"/>
          <p:nvPr/>
        </p:nvSpPr>
        <p:spPr>
          <a:xfrm>
            <a:off x="10366248" y="405079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39" name="Text 37"/>
          <p:cNvSpPr txBox="1"/>
          <p:nvPr/>
        </p:nvSpPr>
        <p:spPr>
          <a:xfrm>
            <a:off x="10841736" y="3639312"/>
            <a:ext cx="72542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0" name="Shape 38"/>
          <p:cNvSpPr/>
          <p:nvPr/>
        </p:nvSpPr>
        <p:spPr>
          <a:xfrm>
            <a:off x="9326880" y="2916936"/>
            <a:ext cx="0" cy="329184"/>
          </a:xfrm>
          <a:prstGeom prst="line">
            <a:avLst/>
          </a:prstGeom>
          <a:noFill/>
          <a:ln w="15875">
            <a:solidFill>
              <a:srgbClr val="7D8A99"/>
            </a:solidFill>
            <a:prstDash val="solid"/>
            <a:tailEnd type="triangle"/>
          </a:ln>
        </p:spPr>
      </p:sp>
      <p:sp>
        <p:nvSpPr>
          <p:cNvPr id="41" name="Text 39"/>
          <p:cNvSpPr txBox="1"/>
          <p:nvPr/>
        </p:nvSpPr>
        <p:spPr>
          <a:xfrm>
            <a:off x="9418320" y="2916936"/>
            <a:ext cx="224028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2" name="Shape 40"/>
          <p:cNvSpPr/>
          <p:nvPr/>
        </p:nvSpPr>
        <p:spPr>
          <a:xfrm>
            <a:off x="6903720" y="5102352"/>
            <a:ext cx="4846320" cy="566928"/>
          </a:xfrm>
          <a:prstGeom prst="roundRect">
            <a:avLst>
              <a:gd name="adj" fmla="val 9677"/>
            </a:avLst>
          </a:prstGeom>
          <a:solidFill>
            <a:srgbClr val="231E33"/>
          </a:solidFill>
          <a:ln w="9525">
            <a:solidFill>
              <a:srgbClr val="231E33"/>
            </a:solidFill>
            <a:prstDash val="solid"/>
          </a:ln>
        </p:spPr>
      </p:sp>
      <p:sp>
        <p:nvSpPr>
          <p:cNvPr id="43" name="Shape 41"/>
          <p:cNvSpPr/>
          <p:nvPr/>
        </p:nvSpPr>
        <p:spPr>
          <a:xfrm>
            <a:off x="7031736" y="5210068"/>
            <a:ext cx="351495" cy="351495"/>
          </a:xfrm>
          <a:prstGeom prst="ellipse">
            <a:avLst/>
          </a:prstGeom>
          <a:solidFill>
            <a:srgbClr val="6E7A88"/>
          </a:solidFill>
          <a:ln w="15875">
            <a:solidFill>
              <a:srgbClr val="6E7A88"/>
            </a:solidFill>
            <a:prstDash val="solid"/>
          </a:ln>
        </p:spPr>
      </p:sp>
      <p:sp>
        <p:nvSpPr>
          <p:cNvPr id="44" name="Text 42"/>
          <p:cNvSpPr txBox="1"/>
          <p:nvPr/>
        </p:nvSpPr>
        <p:spPr>
          <a:xfrm>
            <a:off x="7031736" y="521006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5" name="Text 43"/>
          <p:cNvSpPr txBox="1"/>
          <p:nvPr/>
        </p:nvSpPr>
        <p:spPr>
          <a:xfrm>
            <a:off x="7492959" y="5102352"/>
            <a:ext cx="403762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5 owns, and what it depends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457200" y="1371600"/>
            <a:ext cx="4937760" cy="1700784"/>
          </a:xfrm>
          <a:prstGeom prst="roundRect">
            <a:avLst>
              <a:gd name="adj" fmla="val 3226"/>
            </a:avLst>
          </a:prstGeom>
          <a:solidFill>
            <a:srgbClr val="15302D"/>
          </a:solidFill>
          <a:ln w="9525">
            <a:solidFill>
              <a:srgbClr val="15302D"/>
            </a:solidFill>
            <a:prstDash val="solid"/>
          </a:ln>
        </p:spPr>
      </p:sp>
      <p:sp>
        <p:nvSpPr>
          <p:cNvPr id="9" name="Text 6"/>
          <p:cNvSpPr txBox="1"/>
          <p:nvPr/>
        </p:nvSpPr>
        <p:spPr>
          <a:xfrm>
            <a:off x="585216" y="1444752"/>
            <a:ext cx="3061411" cy="219456"/>
          </a:xfrm>
          <a:prstGeom prst="rect">
            <a:avLst/>
          </a:prstGeom>
          <a:noFill/>
          <a:ln/>
        </p:spPr>
        <p:txBody>
          <a:bodyPr wrap="square" lIns="0" tIns="0" rIns="0" bIns="0" rtlCol="0" anchor="t"/>
          <a:lstStyle/>
          <a:p>
            <a:pPr indent="0" marL="0">
              <a:buNone/>
            </a:pPr>
            <a:r>
              <a:rPr lang="en-US" sz="850" b="1" spc="200" kern="0" dirty="0">
                <a:solidFill>
                  <a:srgbClr val="5CC2B2"/>
                </a:solidFill>
                <a:latin typeface="Calibri" pitchFamily="34" charset="0"/>
                <a:ea typeface="Calibri" pitchFamily="34" charset="-122"/>
                <a:cs typeface="Calibri" pitchFamily="34" charset="-120"/>
              </a:rPr>
              <a:t>EVERY 5-MINUTE CYCLE</a:t>
            </a:r>
            <a:endParaRPr lang="en-US" sz="850" dirty="0"/>
          </a:p>
        </p:txBody>
      </p:sp>
      <p:sp>
        <p:nvSpPr>
          <p:cNvPr id="10" name="Text 7"/>
          <p:cNvSpPr txBox="1"/>
          <p:nvPr/>
        </p:nvSpPr>
        <p:spPr>
          <a:xfrm>
            <a:off x="2679192" y="1444752"/>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runs whether or not anyone asks</a:t>
            </a:r>
            <a:endParaRPr lang="en-US" sz="800" dirty="0"/>
          </a:p>
        </p:txBody>
      </p:sp>
      <p:sp>
        <p:nvSpPr>
          <p:cNvPr id="11" name="Shape 8"/>
          <p:cNvSpPr/>
          <p:nvPr/>
        </p:nvSpPr>
        <p:spPr>
          <a:xfrm>
            <a:off x="585216" y="1737360"/>
            <a:ext cx="1377696" cy="1207008"/>
          </a:xfrm>
          <a:prstGeom prst="roundRect">
            <a:avLst>
              <a:gd name="adj" fmla="val 5303"/>
            </a:avLst>
          </a:prstGeom>
          <a:solidFill>
            <a:srgbClr val="161C24"/>
          </a:solidFill>
          <a:ln w="9525">
            <a:solidFill>
              <a:srgbClr val="161C24"/>
            </a:solidFill>
            <a:prstDash val="solid"/>
          </a:ln>
        </p:spPr>
      </p:sp>
      <p:sp>
        <p:nvSpPr>
          <p:cNvPr id="12" name="Shape 9"/>
          <p:cNvSpPr/>
          <p:nvPr/>
        </p:nvSpPr>
        <p:spPr>
          <a:xfrm>
            <a:off x="676656" y="2148840"/>
            <a:ext cx="384048" cy="384048"/>
          </a:xfrm>
          <a:prstGeom prst="ellipse">
            <a:avLst/>
          </a:prstGeom>
          <a:solidFill>
            <a:srgbClr val="6E7A88"/>
          </a:solidFill>
          <a:ln w="15875">
            <a:solidFill>
              <a:srgbClr val="6E7A88"/>
            </a:solidFill>
            <a:prstDash val="solid"/>
          </a:ln>
        </p:spPr>
      </p:sp>
      <p:sp>
        <p:nvSpPr>
          <p:cNvPr id="13" name="Text 10"/>
          <p:cNvSpPr txBox="1"/>
          <p:nvPr/>
        </p:nvSpPr>
        <p:spPr>
          <a:xfrm>
            <a:off x="676656"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4" name="Text 11"/>
          <p:cNvSpPr txBox="1"/>
          <p:nvPr/>
        </p:nvSpPr>
        <p:spPr>
          <a:xfrm>
            <a:off x="1152144"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Market data &amp; chart</a:t>
            </a:r>
            <a:endParaRPr lang="en-US" sz="1000" dirty="0"/>
          </a:p>
        </p:txBody>
      </p:sp>
      <p:sp>
        <p:nvSpPr>
          <p:cNvPr id="15" name="Shape 12"/>
          <p:cNvSpPr/>
          <p:nvPr/>
        </p:nvSpPr>
        <p:spPr>
          <a:xfrm>
            <a:off x="1999488" y="2340864"/>
            <a:ext cx="201168" cy="0"/>
          </a:xfrm>
          <a:prstGeom prst="line">
            <a:avLst/>
          </a:prstGeom>
          <a:noFill/>
          <a:ln w="15875">
            <a:solidFill>
              <a:srgbClr val="323C49"/>
            </a:solidFill>
            <a:prstDash val="solid"/>
            <a:tailEnd type="triangle"/>
          </a:ln>
        </p:spPr>
      </p:sp>
      <p:sp>
        <p:nvSpPr>
          <p:cNvPr id="16" name="Shape 13"/>
          <p:cNvSpPr/>
          <p:nvPr/>
        </p:nvSpPr>
        <p:spPr>
          <a:xfrm>
            <a:off x="2237232" y="1737360"/>
            <a:ext cx="1377696" cy="1207008"/>
          </a:xfrm>
          <a:prstGeom prst="roundRect">
            <a:avLst>
              <a:gd name="adj" fmla="val 5303"/>
            </a:avLst>
          </a:prstGeom>
          <a:solidFill>
            <a:srgbClr val="161C24"/>
          </a:solidFill>
          <a:ln w="9525">
            <a:solidFill>
              <a:srgbClr val="161C24"/>
            </a:solidFill>
            <a:prstDash val="solid"/>
          </a:ln>
        </p:spPr>
      </p:sp>
      <p:sp>
        <p:nvSpPr>
          <p:cNvPr id="17" name="Shape 14"/>
          <p:cNvSpPr/>
          <p:nvPr/>
        </p:nvSpPr>
        <p:spPr>
          <a:xfrm>
            <a:off x="2328672" y="2148840"/>
            <a:ext cx="384048" cy="384048"/>
          </a:xfrm>
          <a:prstGeom prst="ellipse">
            <a:avLst/>
          </a:prstGeom>
          <a:solidFill>
            <a:srgbClr val="6E7A88"/>
          </a:solidFill>
          <a:ln w="15875">
            <a:solidFill>
              <a:srgbClr val="6E7A88"/>
            </a:solidFill>
            <a:prstDash val="solid"/>
          </a:ln>
        </p:spPr>
      </p:sp>
      <p:sp>
        <p:nvSpPr>
          <p:cNvPr id="18" name="Text 15"/>
          <p:cNvSpPr txBox="1"/>
          <p:nvPr/>
        </p:nvSpPr>
        <p:spPr>
          <a:xfrm>
            <a:off x="2328672"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19" name="Text 16"/>
          <p:cNvSpPr txBox="1"/>
          <p:nvPr/>
        </p:nvSpPr>
        <p:spPr>
          <a:xfrm>
            <a:off x="2804160"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Sensors (MCDs)</a:t>
            </a:r>
            <a:endParaRPr lang="en-US" sz="1000" dirty="0"/>
          </a:p>
        </p:txBody>
      </p:sp>
      <p:sp>
        <p:nvSpPr>
          <p:cNvPr id="20" name="Shape 17"/>
          <p:cNvSpPr/>
          <p:nvPr/>
        </p:nvSpPr>
        <p:spPr>
          <a:xfrm>
            <a:off x="3651504" y="2340864"/>
            <a:ext cx="201168" cy="0"/>
          </a:xfrm>
          <a:prstGeom prst="line">
            <a:avLst/>
          </a:prstGeom>
          <a:noFill/>
          <a:ln w="15875">
            <a:solidFill>
              <a:srgbClr val="323C49"/>
            </a:solidFill>
            <a:prstDash val="solid"/>
            <a:tailEnd type="triangle"/>
          </a:ln>
        </p:spPr>
      </p:sp>
      <p:sp>
        <p:nvSpPr>
          <p:cNvPr id="21" name="Shape 18"/>
          <p:cNvSpPr/>
          <p:nvPr/>
        </p:nvSpPr>
        <p:spPr>
          <a:xfrm>
            <a:off x="3889248" y="1737360"/>
            <a:ext cx="1377696" cy="1207008"/>
          </a:xfrm>
          <a:prstGeom prst="roundRect">
            <a:avLst>
              <a:gd name="adj" fmla="val 5303"/>
            </a:avLst>
          </a:prstGeom>
          <a:solidFill>
            <a:srgbClr val="161C24"/>
          </a:solidFill>
          <a:ln w="9525">
            <a:solidFill>
              <a:srgbClr val="161C24"/>
            </a:solidFill>
            <a:prstDash val="solid"/>
          </a:ln>
        </p:spPr>
      </p:sp>
      <p:sp>
        <p:nvSpPr>
          <p:cNvPr id="22" name="Shape 19"/>
          <p:cNvSpPr/>
          <p:nvPr/>
        </p:nvSpPr>
        <p:spPr>
          <a:xfrm>
            <a:off x="3980688" y="2148840"/>
            <a:ext cx="384048" cy="384048"/>
          </a:xfrm>
          <a:prstGeom prst="ellipse">
            <a:avLst/>
          </a:prstGeom>
          <a:solidFill>
            <a:srgbClr val="6E7A88"/>
          </a:solidFill>
          <a:ln w="15875">
            <a:solidFill>
              <a:srgbClr val="6E7A88"/>
            </a:solidFill>
            <a:prstDash val="solid"/>
          </a:ln>
        </p:spPr>
      </p:sp>
      <p:sp>
        <p:nvSpPr>
          <p:cNvPr id="23" name="Text 20"/>
          <p:cNvSpPr txBox="1"/>
          <p:nvPr/>
        </p:nvSpPr>
        <p:spPr>
          <a:xfrm>
            <a:off x="3980688" y="2148840"/>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4" name="Text 21"/>
          <p:cNvSpPr txBox="1"/>
          <p:nvPr/>
        </p:nvSpPr>
        <p:spPr>
          <a:xfrm>
            <a:off x="4456176" y="1737360"/>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Synthesis &amp; entry zones</a:t>
            </a:r>
            <a:endParaRPr lang="en-US" sz="1000" dirty="0"/>
          </a:p>
        </p:txBody>
      </p:sp>
      <p:sp>
        <p:nvSpPr>
          <p:cNvPr id="25" name="Shape 22"/>
          <p:cNvSpPr/>
          <p:nvPr/>
        </p:nvSpPr>
        <p:spPr>
          <a:xfrm>
            <a:off x="457200" y="3456432"/>
            <a:ext cx="4937760" cy="1700784"/>
          </a:xfrm>
          <a:prstGeom prst="roundRect">
            <a:avLst>
              <a:gd name="adj" fmla="val 3226"/>
            </a:avLst>
          </a:prstGeom>
          <a:solidFill>
            <a:srgbClr val="17243A"/>
          </a:solidFill>
          <a:ln w="9525">
            <a:solidFill>
              <a:srgbClr val="17243A"/>
            </a:solidFill>
            <a:prstDash val="solid"/>
          </a:ln>
        </p:spPr>
      </p:sp>
      <p:sp>
        <p:nvSpPr>
          <p:cNvPr id="26" name="Text 23"/>
          <p:cNvSpPr txBox="1"/>
          <p:nvPr/>
        </p:nvSpPr>
        <p:spPr>
          <a:xfrm>
            <a:off x="585216" y="3529584"/>
            <a:ext cx="3061411" cy="219456"/>
          </a:xfrm>
          <a:prstGeom prst="rect">
            <a:avLst/>
          </a:prstGeom>
          <a:noFill/>
          <a:ln/>
        </p:spPr>
        <p:txBody>
          <a:bodyPr wrap="square" lIns="0" tIns="0" rIns="0" bIns="0" rtlCol="0" anchor="t"/>
          <a:lstStyle/>
          <a:p>
            <a:pPr indent="0" marL="0">
              <a:buNone/>
            </a:pPr>
            <a:r>
              <a:rPr lang="en-US" sz="850" b="1" spc="200" kern="0" dirty="0">
                <a:solidFill>
                  <a:srgbClr val="7FA8E8"/>
                </a:solidFill>
                <a:latin typeface="Calibri" pitchFamily="34" charset="0"/>
                <a:ea typeface="Calibri" pitchFamily="34" charset="-122"/>
                <a:cs typeface="Calibri" pitchFamily="34" charset="-120"/>
              </a:rPr>
              <a:t>PER USER QUESTION</a:t>
            </a:r>
            <a:endParaRPr lang="en-US" sz="850" dirty="0"/>
          </a:p>
        </p:txBody>
      </p:sp>
      <p:sp>
        <p:nvSpPr>
          <p:cNvPr id="27" name="Text 24"/>
          <p:cNvSpPr txBox="1"/>
          <p:nvPr/>
        </p:nvSpPr>
        <p:spPr>
          <a:xfrm>
            <a:off x="2679192" y="3529584"/>
            <a:ext cx="2587752" cy="219456"/>
          </a:xfrm>
          <a:prstGeom prst="rect">
            <a:avLst/>
          </a:prstGeom>
          <a:noFill/>
          <a:ln/>
        </p:spPr>
        <p:txBody>
          <a:bodyPr wrap="square" lIns="0" tIns="0" rIns="0" bIns="0" rtlCol="0" anchor="t"/>
          <a:lstStyle/>
          <a:p>
            <a:pPr algn="r" indent="0" marL="0">
              <a:buNone/>
            </a:pPr>
            <a:r>
              <a:rPr lang="en-US" sz="800" i="1" dirty="0">
                <a:solidFill>
                  <a:srgbClr val="A3AEBB"/>
                </a:solidFill>
                <a:latin typeface="Calibri" pitchFamily="34" charset="0"/>
                <a:ea typeface="Calibri" pitchFamily="34" charset="-122"/>
                <a:cs typeface="Calibri" pitchFamily="34" charset="-120"/>
              </a:rPr>
              <a:t>reads the latest complete cycle</a:t>
            </a:r>
            <a:endParaRPr lang="en-US" sz="800" dirty="0"/>
          </a:p>
        </p:txBody>
      </p:sp>
      <p:sp>
        <p:nvSpPr>
          <p:cNvPr id="28" name="Shape 25"/>
          <p:cNvSpPr/>
          <p:nvPr/>
        </p:nvSpPr>
        <p:spPr>
          <a:xfrm>
            <a:off x="585216" y="3822192"/>
            <a:ext cx="1377696" cy="1207008"/>
          </a:xfrm>
          <a:prstGeom prst="roundRect">
            <a:avLst>
              <a:gd name="adj" fmla="val 5303"/>
            </a:avLst>
          </a:prstGeom>
          <a:solidFill>
            <a:srgbClr val="161C24"/>
          </a:solidFill>
          <a:ln w="9525">
            <a:solidFill>
              <a:srgbClr val="161C24"/>
            </a:solidFill>
            <a:prstDash val="solid"/>
          </a:ln>
        </p:spPr>
      </p:sp>
      <p:sp>
        <p:nvSpPr>
          <p:cNvPr id="29" name="Shape 26"/>
          <p:cNvSpPr/>
          <p:nvPr/>
        </p:nvSpPr>
        <p:spPr>
          <a:xfrm>
            <a:off x="676656" y="4233672"/>
            <a:ext cx="384048" cy="384048"/>
          </a:xfrm>
          <a:prstGeom prst="ellipse">
            <a:avLst/>
          </a:prstGeom>
          <a:solidFill>
            <a:srgbClr val="6E7A88"/>
          </a:solidFill>
          <a:ln w="15875">
            <a:solidFill>
              <a:srgbClr val="6E7A88"/>
            </a:solidFill>
            <a:prstDash val="solid"/>
          </a:ln>
        </p:spPr>
      </p:sp>
      <p:sp>
        <p:nvSpPr>
          <p:cNvPr id="30" name="Text 27"/>
          <p:cNvSpPr txBox="1"/>
          <p:nvPr/>
        </p:nvSpPr>
        <p:spPr>
          <a:xfrm>
            <a:off x="676656"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1" name="Text 28"/>
          <p:cNvSpPr txBox="1"/>
          <p:nvPr/>
        </p:nvSpPr>
        <p:spPr>
          <a:xfrm>
            <a:off x="1152144"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Intake, routing &amp; knowledge</a:t>
            </a:r>
            <a:endParaRPr lang="en-US" sz="1000" dirty="0"/>
          </a:p>
        </p:txBody>
      </p:sp>
      <p:sp>
        <p:nvSpPr>
          <p:cNvPr id="32" name="Shape 29"/>
          <p:cNvSpPr/>
          <p:nvPr/>
        </p:nvSpPr>
        <p:spPr>
          <a:xfrm>
            <a:off x="1999488" y="4425696"/>
            <a:ext cx="201168" cy="0"/>
          </a:xfrm>
          <a:prstGeom prst="line">
            <a:avLst/>
          </a:prstGeom>
          <a:noFill/>
          <a:ln w="15875">
            <a:solidFill>
              <a:srgbClr val="323C49"/>
            </a:solidFill>
            <a:prstDash val="solid"/>
            <a:tailEnd type="triangle"/>
          </a:ln>
        </p:spPr>
      </p:sp>
      <p:sp>
        <p:nvSpPr>
          <p:cNvPr id="33" name="Shape 30"/>
          <p:cNvSpPr/>
          <p:nvPr/>
        </p:nvSpPr>
        <p:spPr>
          <a:xfrm>
            <a:off x="2237232" y="3822192"/>
            <a:ext cx="1377696" cy="1207008"/>
          </a:xfrm>
          <a:prstGeom prst="roundRect">
            <a:avLst>
              <a:gd name="adj" fmla="val 5303"/>
            </a:avLst>
          </a:prstGeom>
          <a:solidFill>
            <a:srgbClr val="1D242E"/>
          </a:solidFill>
          <a:ln w="22225">
            <a:solidFill>
              <a:srgbClr val="E2B54E"/>
            </a:solidFill>
            <a:prstDash val="solid"/>
          </a:ln>
        </p:spPr>
      </p:sp>
      <p:sp>
        <p:nvSpPr>
          <p:cNvPr id="34" name="Shape 31"/>
          <p:cNvSpPr/>
          <p:nvPr/>
        </p:nvSpPr>
        <p:spPr>
          <a:xfrm>
            <a:off x="2328672" y="4233672"/>
            <a:ext cx="384048" cy="384048"/>
          </a:xfrm>
          <a:prstGeom prst="ellipse">
            <a:avLst/>
          </a:prstGeom>
          <a:solidFill>
            <a:srgbClr val="E2B54E"/>
          </a:solidFill>
          <a:ln w="15875">
            <a:solidFill>
              <a:srgbClr val="E2B54E"/>
            </a:solidFill>
            <a:prstDash val="solid"/>
          </a:ln>
        </p:spPr>
      </p:sp>
      <p:sp>
        <p:nvSpPr>
          <p:cNvPr id="35" name="Text 32"/>
          <p:cNvSpPr txBox="1"/>
          <p:nvPr/>
        </p:nvSpPr>
        <p:spPr>
          <a:xfrm>
            <a:off x="2328672"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5</a:t>
            </a:r>
            <a:endParaRPr lang="en-US" sz="1100" dirty="0"/>
          </a:p>
        </p:txBody>
      </p:sp>
      <p:sp>
        <p:nvSpPr>
          <p:cNvPr id="36" name="Text 33"/>
          <p:cNvSpPr txBox="1"/>
          <p:nvPr/>
        </p:nvSpPr>
        <p:spPr>
          <a:xfrm>
            <a:off x="2804160" y="3822192"/>
            <a:ext cx="755904" cy="1207008"/>
          </a:xfrm>
          <a:prstGeom prst="rect">
            <a:avLst/>
          </a:prstGeom>
          <a:noFill/>
          <a:ln/>
        </p:spPr>
        <p:txBody>
          <a:bodyPr wrap="square" lIns="0" tIns="0" rIns="0" bIns="0" rtlCol="0" anchor="ctr"/>
          <a:lstStyle/>
          <a:p>
            <a:pPr indent="0" marL="0">
              <a:buNone/>
            </a:pPr>
            <a:r>
              <a:rPr lang="en-US" sz="1000" b="1" dirty="0">
                <a:solidFill>
                  <a:srgbClr val="EEF1F4"/>
                </a:solidFill>
                <a:latin typeface="Calibri" pitchFamily="34" charset="0"/>
                <a:ea typeface="Calibri" pitchFamily="34" charset="-122"/>
                <a:cs typeface="Calibri" pitchFamily="34" charset="-120"/>
              </a:rPr>
              <a:t>Prompt &amp; AI reply</a:t>
            </a:r>
            <a:endParaRPr lang="en-US" sz="1000" dirty="0"/>
          </a:p>
        </p:txBody>
      </p:sp>
      <p:sp>
        <p:nvSpPr>
          <p:cNvPr id="37" name="Shape 34"/>
          <p:cNvSpPr/>
          <p:nvPr/>
        </p:nvSpPr>
        <p:spPr>
          <a:xfrm>
            <a:off x="3651504" y="4425696"/>
            <a:ext cx="201168" cy="0"/>
          </a:xfrm>
          <a:prstGeom prst="line">
            <a:avLst/>
          </a:prstGeom>
          <a:noFill/>
          <a:ln w="15875">
            <a:solidFill>
              <a:srgbClr val="7D8A99"/>
            </a:solidFill>
            <a:prstDash val="solid"/>
            <a:tailEnd type="triangle"/>
          </a:ln>
        </p:spPr>
      </p:sp>
      <p:sp>
        <p:nvSpPr>
          <p:cNvPr id="38" name="Shape 35"/>
          <p:cNvSpPr/>
          <p:nvPr/>
        </p:nvSpPr>
        <p:spPr>
          <a:xfrm>
            <a:off x="3889248" y="3822192"/>
            <a:ext cx="1377696" cy="1207008"/>
          </a:xfrm>
          <a:prstGeom prst="roundRect">
            <a:avLst>
              <a:gd name="adj" fmla="val 5303"/>
            </a:avLst>
          </a:prstGeom>
          <a:solidFill>
            <a:srgbClr val="161C24"/>
          </a:solidFill>
          <a:ln w="9525">
            <a:solidFill>
              <a:srgbClr val="161C24"/>
            </a:solidFill>
            <a:prstDash val="solid"/>
          </a:ln>
        </p:spPr>
      </p:sp>
      <p:sp>
        <p:nvSpPr>
          <p:cNvPr id="39" name="Shape 36"/>
          <p:cNvSpPr/>
          <p:nvPr/>
        </p:nvSpPr>
        <p:spPr>
          <a:xfrm>
            <a:off x="3980688" y="4233672"/>
            <a:ext cx="384048" cy="384048"/>
          </a:xfrm>
          <a:prstGeom prst="ellipse">
            <a:avLst/>
          </a:prstGeom>
          <a:solidFill>
            <a:srgbClr val="6E7A88"/>
          </a:solidFill>
          <a:ln w="15875">
            <a:solidFill>
              <a:srgbClr val="6E7A88"/>
            </a:solidFill>
            <a:prstDash val="solid"/>
          </a:ln>
        </p:spPr>
      </p:sp>
      <p:sp>
        <p:nvSpPr>
          <p:cNvPr id="40" name="Text 37"/>
          <p:cNvSpPr txBox="1"/>
          <p:nvPr/>
        </p:nvSpPr>
        <p:spPr>
          <a:xfrm>
            <a:off x="3980688" y="4233672"/>
            <a:ext cx="384048" cy="384048"/>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41" name="Text 38"/>
          <p:cNvSpPr txBox="1"/>
          <p:nvPr/>
        </p:nvSpPr>
        <p:spPr>
          <a:xfrm>
            <a:off x="4456176" y="3822192"/>
            <a:ext cx="755904" cy="120700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Engine 4 &amp; Report 2</a:t>
            </a:r>
            <a:endParaRPr lang="en-US" sz="1000" dirty="0"/>
          </a:p>
        </p:txBody>
      </p:sp>
      <p:sp>
        <p:nvSpPr>
          <p:cNvPr id="42" name="Shape 39"/>
          <p:cNvSpPr/>
          <p:nvPr/>
        </p:nvSpPr>
        <p:spPr>
          <a:xfrm>
            <a:off x="2926080" y="3099816"/>
            <a:ext cx="0" cy="329184"/>
          </a:xfrm>
          <a:prstGeom prst="line">
            <a:avLst/>
          </a:prstGeom>
          <a:noFill/>
          <a:ln w="15875">
            <a:solidFill>
              <a:srgbClr val="7D8A99"/>
            </a:solidFill>
            <a:prstDash val="solid"/>
            <a:tailEnd type="triangle"/>
          </a:ln>
        </p:spPr>
      </p:sp>
      <p:sp>
        <p:nvSpPr>
          <p:cNvPr id="43" name="Text 40"/>
          <p:cNvSpPr txBox="1"/>
          <p:nvPr/>
        </p:nvSpPr>
        <p:spPr>
          <a:xfrm>
            <a:off x="3017520" y="3099816"/>
            <a:ext cx="2286000" cy="329184"/>
          </a:xfrm>
          <a:prstGeom prst="rect">
            <a:avLst/>
          </a:prstGeom>
          <a:noFill/>
          <a:ln/>
        </p:spPr>
        <p:txBody>
          <a:bodyPr wrap="square" lIns="0" tIns="0" rIns="0" bIns="0" rtlCol="0" anchor="ctr"/>
          <a:lstStyle/>
          <a:p>
            <a:pPr indent="0" marL="0">
              <a:buNone/>
            </a:pPr>
            <a:r>
              <a:rPr lang="en-US" sz="850" i="1" dirty="0">
                <a:solidFill>
                  <a:srgbClr val="A3AEBB"/>
                </a:solidFill>
                <a:latin typeface="Calibri" pitchFamily="34" charset="0"/>
                <a:ea typeface="Calibri" pitchFamily="34" charset="-122"/>
                <a:cs typeface="Calibri" pitchFamily="34" charset="-120"/>
              </a:rPr>
              <a:t>latest complete cycle (read-only)</a:t>
            </a:r>
            <a:endParaRPr lang="en-US" sz="850" dirty="0"/>
          </a:p>
        </p:txBody>
      </p:sp>
      <p:sp>
        <p:nvSpPr>
          <p:cNvPr id="44" name="Shape 41"/>
          <p:cNvSpPr/>
          <p:nvPr/>
        </p:nvSpPr>
        <p:spPr>
          <a:xfrm>
            <a:off x="457200" y="5285232"/>
            <a:ext cx="4937760" cy="566928"/>
          </a:xfrm>
          <a:prstGeom prst="roundRect">
            <a:avLst>
              <a:gd name="adj" fmla="val 9677"/>
            </a:avLst>
          </a:prstGeom>
          <a:solidFill>
            <a:srgbClr val="231E33"/>
          </a:solidFill>
          <a:ln w="9525">
            <a:solidFill>
              <a:srgbClr val="231E33"/>
            </a:solidFill>
            <a:prstDash val="solid"/>
          </a:ln>
        </p:spPr>
      </p:sp>
      <p:sp>
        <p:nvSpPr>
          <p:cNvPr id="45" name="Shape 42"/>
          <p:cNvSpPr/>
          <p:nvPr/>
        </p:nvSpPr>
        <p:spPr>
          <a:xfrm>
            <a:off x="585216" y="5392948"/>
            <a:ext cx="351495" cy="351495"/>
          </a:xfrm>
          <a:prstGeom prst="ellipse">
            <a:avLst/>
          </a:prstGeom>
          <a:solidFill>
            <a:srgbClr val="6E7A88"/>
          </a:solidFill>
          <a:ln w="15875">
            <a:solidFill>
              <a:srgbClr val="6E7A88"/>
            </a:solidFill>
            <a:prstDash val="solid"/>
          </a:ln>
        </p:spPr>
      </p:sp>
      <p:sp>
        <p:nvSpPr>
          <p:cNvPr id="46" name="Text 43"/>
          <p:cNvSpPr txBox="1"/>
          <p:nvPr/>
        </p:nvSpPr>
        <p:spPr>
          <a:xfrm>
            <a:off x="585216" y="5392948"/>
            <a:ext cx="351495" cy="351495"/>
          </a:xfrm>
          <a:prstGeom prst="rect">
            <a:avLst/>
          </a:prstGeom>
          <a:noFill/>
          <a:ln/>
        </p:spPr>
        <p:txBody>
          <a:bodyPr wrap="square" lIns="0" tIns="0" rIns="0" bIns="0" rtlCol="0" anchor="ctr"/>
          <a:lstStyle/>
          <a:p>
            <a:pPr algn="ctr" indent="0" marL="0">
              <a:buNone/>
            </a:pPr>
            <a:r>
              <a:rPr lang="en-US" sz="1000" b="1" dirty="0">
                <a:solidFill>
                  <a:srgbClr val="0F1318"/>
                </a:solidFill>
                <a:latin typeface="Cambria" pitchFamily="34" charset="0"/>
                <a:ea typeface="Cambria" pitchFamily="34" charset="-122"/>
                <a:cs typeface="Cambria" pitchFamily="34" charset="-120"/>
              </a:rPr>
              <a:t>7</a:t>
            </a:r>
            <a:endParaRPr lang="en-US" sz="1000" dirty="0"/>
          </a:p>
        </p:txBody>
      </p:sp>
      <p:sp>
        <p:nvSpPr>
          <p:cNvPr id="47" name="Text 44"/>
          <p:cNvSpPr txBox="1"/>
          <p:nvPr/>
        </p:nvSpPr>
        <p:spPr>
          <a:xfrm>
            <a:off x="1046439" y="5285232"/>
            <a:ext cx="4129065" cy="566928"/>
          </a:xfrm>
          <a:prstGeom prst="rect">
            <a:avLst/>
          </a:prstGeom>
          <a:noFill/>
          <a:ln/>
        </p:spPr>
        <p:txBody>
          <a:bodyPr wrap="square" lIns="0" tIns="0" rIns="0" bIns="0" rtlCol="0" anchor="ctr"/>
          <a:lstStyle/>
          <a:p>
            <a:pPr indent="0" marL="0">
              <a:buNone/>
            </a:pPr>
            <a:r>
              <a:rPr lang="en-US" sz="1000" b="1" dirty="0">
                <a:solidFill>
                  <a:srgbClr val="6E7A88"/>
                </a:solidFill>
                <a:latin typeface="Calibri" pitchFamily="34" charset="0"/>
                <a:ea typeface="Calibri" pitchFamily="34" charset="-122"/>
                <a:cs typeface="Calibri" pitchFamily="34" charset="-120"/>
              </a:rPr>
              <a:t>Platform &amp; governance</a:t>
            </a:r>
            <a:pPr indent="0" marL="0">
              <a:buNone/>
            </a:pPr>
            <a:r>
              <a:rPr lang="en-US" sz="1000" i="1" dirty="0">
                <a:solidFill>
                  <a:srgbClr val="A3AEBB"/>
                </a:solidFill>
                <a:latin typeface="Calibri" pitchFamily="34" charset="0"/>
                <a:ea typeface="Calibri" pitchFamily="34" charset="-122"/>
                <a:cs typeface="Calibri" pitchFamily="34" charset="-120"/>
              </a:rPr>
              <a:t>   across both clocks</a:t>
            </a:r>
            <a:endParaRPr lang="en-US" sz="1000" dirty="0"/>
          </a:p>
        </p:txBody>
      </p:sp>
      <p:sp>
        <p:nvSpPr>
          <p:cNvPr id="48" name="Text 45"/>
          <p:cNvSpPr txBox="1"/>
          <p:nvPr/>
        </p:nvSpPr>
        <p:spPr>
          <a:xfrm>
            <a:off x="5806440" y="1325880"/>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OWNS</a:t>
            </a:r>
            <a:endParaRPr lang="en-US" sz="1000" dirty="0"/>
          </a:p>
        </p:txBody>
      </p:sp>
      <p:sp>
        <p:nvSpPr>
          <p:cNvPr id="49" name="Text 46"/>
          <p:cNvSpPr txBox="1"/>
          <p:nvPr/>
        </p:nvSpPr>
        <p:spPr>
          <a:xfrm>
            <a:off x="5806440" y="159105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Answer gate  </a:t>
            </a:r>
            <a:pPr indent="0" marL="0">
              <a:buNone/>
            </a:pPr>
            <a:r>
              <a:rPr lang="en-US" sz="1150" dirty="0">
                <a:solidFill>
                  <a:srgbClr val="A3AEBB"/>
                </a:solidFill>
                <a:latin typeface="Calibri" pitchFamily="34" charset="0"/>
                <a:ea typeface="Calibri" pitchFamily="34" charset="-122"/>
                <a:cs typeface="Calibri" pitchFamily="34" charset="-120"/>
              </a:rPr>
              <a:t>what each data status allows before the model runs</a:t>
            </a:r>
            <a:endParaRPr lang="en-US" sz="1150" dirty="0"/>
          </a:p>
        </p:txBody>
      </p:sp>
      <p:sp>
        <p:nvSpPr>
          <p:cNvPr id="50" name="Text 47"/>
          <p:cNvSpPr txBox="1"/>
          <p:nvPr/>
        </p:nvSpPr>
        <p:spPr>
          <a:xfrm>
            <a:off x="5806440" y="1929384"/>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Context assembler  </a:t>
            </a:r>
            <a:pPr indent="0" marL="0">
              <a:buNone/>
            </a:pPr>
            <a:r>
              <a:rPr lang="en-US" sz="1150" dirty="0">
                <a:solidFill>
                  <a:srgbClr val="A3AEBB"/>
                </a:solidFill>
                <a:latin typeface="Calibri" pitchFamily="34" charset="0"/>
                <a:ea typeface="Calibri" pitchFamily="34" charset="-122"/>
                <a:cs typeface="Calibri" pitchFamily="34" charset="-120"/>
              </a:rPr>
              <a:t>a cap per component and a cut order</a:t>
            </a:r>
            <a:endParaRPr lang="en-US" sz="1150" dirty="0"/>
          </a:p>
        </p:txBody>
      </p:sp>
      <p:sp>
        <p:nvSpPr>
          <p:cNvPr id="51" name="Text 48"/>
          <p:cNvSpPr txBox="1"/>
          <p:nvPr/>
        </p:nvSpPr>
        <p:spPr>
          <a:xfrm>
            <a:off x="5806440" y="2267712"/>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Model gateway  </a:t>
            </a:r>
            <a:pPr indent="0" marL="0">
              <a:buNone/>
            </a:pPr>
            <a:r>
              <a:rPr lang="en-US" sz="1150" dirty="0">
                <a:solidFill>
                  <a:srgbClr val="A3AEBB"/>
                </a:solidFill>
                <a:latin typeface="Calibri" pitchFamily="34" charset="0"/>
                <a:ea typeface="Calibri" pitchFamily="34" charset="-122"/>
                <a:cs typeface="Calibri" pitchFamily="34" charset="-120"/>
              </a:rPr>
              <a:t>registry, capability flags, evaluation suite</a:t>
            </a:r>
            <a:endParaRPr lang="en-US" sz="1150" dirty="0"/>
          </a:p>
        </p:txBody>
      </p:sp>
      <p:sp>
        <p:nvSpPr>
          <p:cNvPr id="52" name="Text 49"/>
          <p:cNvSpPr txBox="1"/>
          <p:nvPr/>
        </p:nvSpPr>
        <p:spPr>
          <a:xfrm>
            <a:off x="5806440" y="2606040"/>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Report 1  </a:t>
            </a:r>
            <a:pPr indent="0" marL="0">
              <a:buNone/>
            </a:pPr>
            <a:r>
              <a:rPr lang="en-US" sz="1150" dirty="0">
                <a:solidFill>
                  <a:srgbClr val="A3AEBB"/>
                </a:solidFill>
                <a:latin typeface="Calibri" pitchFamily="34" charset="0"/>
                <a:ea typeface="Calibri" pitchFamily="34" charset="-122"/>
                <a:cs typeface="Calibri" pitchFamily="34" charset="-120"/>
              </a:rPr>
              <a:t>structured JSON, rendered in the user’s language</a:t>
            </a:r>
            <a:endParaRPr lang="en-US" sz="1150" dirty="0"/>
          </a:p>
        </p:txBody>
      </p:sp>
      <p:sp>
        <p:nvSpPr>
          <p:cNvPr id="53" name="Text 50"/>
          <p:cNvSpPr txBox="1"/>
          <p:nvPr/>
        </p:nvSpPr>
        <p:spPr>
          <a:xfrm>
            <a:off x="5806440" y="2944368"/>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Reply checks  </a:t>
            </a:r>
            <a:pPr indent="0" marL="0">
              <a:buNone/>
            </a:pPr>
            <a:r>
              <a:rPr lang="en-US" sz="1150" dirty="0">
                <a:solidFill>
                  <a:srgbClr val="A3AEBB"/>
                </a:solidFill>
                <a:latin typeface="Calibri" pitchFamily="34" charset="0"/>
                <a:ea typeface="Calibri" pitchFamily="34" charset="-122"/>
                <a:cs typeface="Calibri" pitchFamily="34" charset="-120"/>
              </a:rPr>
              <a:t>numbers against the context; wording guide</a:t>
            </a:r>
            <a:endParaRPr lang="en-US" sz="1150" dirty="0"/>
          </a:p>
        </p:txBody>
      </p:sp>
      <p:sp>
        <p:nvSpPr>
          <p:cNvPr id="54" name="Text 51"/>
          <p:cNvSpPr txBox="1"/>
          <p:nvPr/>
        </p:nvSpPr>
        <p:spPr>
          <a:xfrm>
            <a:off x="5806440" y="3282696"/>
            <a:ext cx="5897880" cy="329184"/>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Metering + follow-ups  </a:t>
            </a:r>
            <a:pPr indent="0" marL="0">
              <a:buNone/>
            </a:pPr>
            <a:r>
              <a:rPr lang="en-US" sz="1150" dirty="0">
                <a:solidFill>
                  <a:srgbClr val="A3AEBB"/>
                </a:solidFill>
                <a:latin typeface="Calibri" pitchFamily="34" charset="0"/>
                <a:ea typeface="Calibri" pitchFamily="34" charset="-122"/>
                <a:cs typeface="Calibri" pitchFamily="34" charset="-120"/>
              </a:rPr>
              <a:t>units from actual cost; same-cycle reuse</a:t>
            </a:r>
            <a:endParaRPr lang="en-US" sz="1150" dirty="0"/>
          </a:p>
        </p:txBody>
      </p:sp>
      <p:sp>
        <p:nvSpPr>
          <p:cNvPr id="55" name="Text 52"/>
          <p:cNvSpPr txBox="1"/>
          <p:nvPr/>
        </p:nvSpPr>
        <p:spPr>
          <a:xfrm>
            <a:off x="5806440" y="3730752"/>
            <a:ext cx="36576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RECEIVES</a:t>
            </a:r>
            <a:endParaRPr lang="en-US" sz="1000" dirty="0"/>
          </a:p>
        </p:txBody>
      </p:sp>
      <p:sp>
        <p:nvSpPr>
          <p:cNvPr id="56" name="Text 53"/>
          <p:cNvSpPr txBox="1"/>
          <p:nvPr/>
        </p:nvSpPr>
        <p:spPr>
          <a:xfrm>
            <a:off x="5806440" y="3986784"/>
            <a:ext cx="5897880" cy="603504"/>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Intake packet (4) · 1 day of OHLC, last price, chart and data status (1) · full readings and measured statistics (2) · synthesis reading and zones (3) · profile (6) · entitlements and quota (7)</a:t>
            </a:r>
            <a:endParaRPr lang="en-US" sz="1150" dirty="0"/>
          </a:p>
        </p:txBody>
      </p:sp>
      <p:sp>
        <p:nvSpPr>
          <p:cNvPr id="57" name="Text 54"/>
          <p:cNvSpPr txBox="1"/>
          <p:nvPr/>
        </p:nvSpPr>
        <p:spPr>
          <a:xfrm>
            <a:off x="5806440" y="4645152"/>
            <a:ext cx="2743200" cy="237744"/>
          </a:xfrm>
          <a:prstGeom prst="rect">
            <a:avLst/>
          </a:prstGeom>
          <a:noFill/>
          <a:ln/>
        </p:spPr>
        <p:txBody>
          <a:bodyPr wrap="square" lIns="0" tIns="0" rIns="0" bIns="0" rtlCol="0" anchor="t"/>
          <a:lstStyle/>
          <a:p>
            <a:pPr indent="0" marL="0">
              <a:buNone/>
            </a:pPr>
            <a:r>
              <a:rPr lang="en-US" sz="1000" b="1" spc="200" kern="0" dirty="0">
                <a:solidFill>
                  <a:srgbClr val="E2B54E"/>
                </a:solidFill>
                <a:latin typeface="Calibri" pitchFamily="34" charset="0"/>
                <a:ea typeface="Calibri" pitchFamily="34" charset="-122"/>
                <a:cs typeface="Calibri" pitchFamily="34" charset="-120"/>
              </a:rPr>
              <a:t>HANDS ON TO</a:t>
            </a:r>
            <a:endParaRPr lang="en-US" sz="1000" dirty="0"/>
          </a:p>
        </p:txBody>
      </p:sp>
      <p:sp>
        <p:nvSpPr>
          <p:cNvPr id="58" name="Shape 55"/>
          <p:cNvSpPr/>
          <p:nvPr/>
        </p:nvSpPr>
        <p:spPr>
          <a:xfrm>
            <a:off x="5806440" y="4937760"/>
            <a:ext cx="310896" cy="310896"/>
          </a:xfrm>
          <a:prstGeom prst="ellipse">
            <a:avLst/>
          </a:prstGeom>
          <a:solidFill>
            <a:srgbClr val="7FA8E8"/>
          </a:solidFill>
          <a:ln w="15875">
            <a:solidFill>
              <a:srgbClr val="7FA8E8"/>
            </a:solidFill>
            <a:prstDash val="solid"/>
          </a:ln>
        </p:spPr>
      </p:sp>
      <p:sp>
        <p:nvSpPr>
          <p:cNvPr id="59" name="Text 56"/>
          <p:cNvSpPr txBox="1"/>
          <p:nvPr/>
        </p:nvSpPr>
        <p:spPr>
          <a:xfrm>
            <a:off x="5806440" y="4937760"/>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6</a:t>
            </a:r>
            <a:endParaRPr lang="en-US" sz="1100" dirty="0"/>
          </a:p>
        </p:txBody>
      </p:sp>
      <p:sp>
        <p:nvSpPr>
          <p:cNvPr id="60" name="Text 57"/>
          <p:cNvSpPr txBox="1"/>
          <p:nvPr/>
        </p:nvSpPr>
        <p:spPr>
          <a:xfrm>
            <a:off x="6245352" y="4901184"/>
            <a:ext cx="54864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Engine 4 &amp; Report 2  </a:t>
            </a:r>
            <a:pPr indent="0" marL="0">
              <a:buNone/>
            </a:pPr>
            <a:r>
              <a:rPr lang="en-US" sz="1150" dirty="0">
                <a:solidFill>
                  <a:srgbClr val="A3AEBB"/>
                </a:solidFill>
                <a:latin typeface="Calibri" pitchFamily="34" charset="0"/>
                <a:ea typeface="Calibri" pitchFamily="34" charset="-122"/>
                <a:cs typeface="Calibri" pitchFamily="34" charset="-120"/>
              </a:rPr>
              <a:t>Report 1 JSON: direction from synthesis, chosen zone ids, cycle</a:t>
            </a:r>
            <a:endParaRPr lang="en-US" sz="1150" dirty="0"/>
          </a:p>
        </p:txBody>
      </p:sp>
      <p:sp>
        <p:nvSpPr>
          <p:cNvPr id="61" name="Shape 58"/>
          <p:cNvSpPr/>
          <p:nvPr/>
        </p:nvSpPr>
        <p:spPr>
          <a:xfrm>
            <a:off x="5806440" y="5340096"/>
            <a:ext cx="310896" cy="310896"/>
          </a:xfrm>
          <a:prstGeom prst="ellipse">
            <a:avLst/>
          </a:prstGeom>
          <a:solidFill>
            <a:srgbClr val="B7A3E0"/>
          </a:solidFill>
          <a:ln w="15875">
            <a:solidFill>
              <a:srgbClr val="B7A3E0"/>
            </a:solidFill>
            <a:prstDash val="solid"/>
          </a:ln>
        </p:spPr>
      </p:sp>
      <p:sp>
        <p:nvSpPr>
          <p:cNvPr id="62" name="Text 59"/>
          <p:cNvSpPr txBox="1"/>
          <p:nvPr/>
        </p:nvSpPr>
        <p:spPr>
          <a:xfrm>
            <a:off x="5806440" y="534009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7</a:t>
            </a:r>
            <a:endParaRPr lang="en-US" sz="1100" dirty="0"/>
          </a:p>
        </p:txBody>
      </p:sp>
      <p:sp>
        <p:nvSpPr>
          <p:cNvPr id="63" name="Text 60"/>
          <p:cNvSpPr txBox="1"/>
          <p:nvPr/>
        </p:nvSpPr>
        <p:spPr>
          <a:xfrm>
            <a:off x="6245352" y="5303520"/>
            <a:ext cx="54864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Platform &amp; governance  </a:t>
            </a:r>
            <a:pPr indent="0" marL="0">
              <a:buNone/>
            </a:pPr>
            <a:r>
              <a:rPr lang="en-US" sz="1150" dirty="0">
                <a:solidFill>
                  <a:srgbClr val="A3AEBB"/>
                </a:solidFill>
                <a:latin typeface="Calibri" pitchFamily="34" charset="0"/>
                <a:ea typeface="Calibri" pitchFamily="34" charset="-122"/>
                <a:cs typeface="Calibri" pitchFamily="34" charset="-120"/>
              </a:rPr>
              <a:t>units charged, trace, stage timings, check results</a:t>
            </a:r>
            <a:endParaRPr lang="en-US" sz="1150" dirty="0"/>
          </a:p>
        </p:txBody>
      </p:sp>
      <p:sp>
        <p:nvSpPr>
          <p:cNvPr id="64" name="Shape 61"/>
          <p:cNvSpPr/>
          <p:nvPr/>
        </p:nvSpPr>
        <p:spPr>
          <a:xfrm>
            <a:off x="5806440" y="5870448"/>
            <a:ext cx="5925312" cy="411480"/>
          </a:xfrm>
          <a:prstGeom prst="roundRect">
            <a:avLst>
              <a:gd name="adj" fmla="val 15556"/>
            </a:avLst>
          </a:prstGeom>
          <a:solidFill>
            <a:srgbClr val="2E2715"/>
          </a:solidFill>
          <a:ln w="9525">
            <a:solidFill>
              <a:srgbClr val="2E2715"/>
            </a:solidFill>
            <a:prstDash val="solid"/>
          </a:ln>
        </p:spPr>
      </p:sp>
      <p:sp>
        <p:nvSpPr>
          <p:cNvPr id="65" name="Text 62"/>
          <p:cNvSpPr txBox="1"/>
          <p:nvPr/>
        </p:nvSpPr>
        <p:spPr>
          <a:xfrm>
            <a:off x="5943600" y="5870448"/>
            <a:ext cx="5760720" cy="411480"/>
          </a:xfrm>
          <a:prstGeom prst="rect">
            <a:avLst/>
          </a:prstGeom>
          <a:noFill/>
          <a:ln/>
        </p:spPr>
        <p:txBody>
          <a:bodyPr wrap="square" lIns="0" tIns="0" rIns="0" bIns="0" rtlCol="0" anchor="ctr"/>
          <a:lstStyle/>
          <a:p>
            <a:pPr indent="0" marL="0">
              <a:buNone/>
            </a:pPr>
            <a:r>
              <a:rPr lang="en-US" sz="1100" b="1" dirty="0">
                <a:solidFill>
                  <a:srgbClr val="E2B54E"/>
                </a:solidFill>
                <a:latin typeface="Calibri" pitchFamily="34" charset="0"/>
                <a:ea typeface="Calibri" pitchFamily="34" charset="-122"/>
                <a:cs typeface="Calibri" pitchFamily="34" charset="-120"/>
              </a:rPr>
              <a:t>Recommendations here:  </a:t>
            </a:r>
            <a:pPr indent="0" marL="0">
              <a:buNone/>
            </a:pPr>
            <a:r>
              <a:rPr lang="en-US" sz="1100" dirty="0">
                <a:solidFill>
                  <a:srgbClr val="EEF1F4"/>
                </a:solidFill>
                <a:latin typeface="Calibri" pitchFamily="34" charset="0"/>
                <a:ea typeface="Calibri" pitchFamily="34" charset="-122"/>
                <a:cs typeface="Calibri" pitchFamily="34" charset="-120"/>
              </a:rPr>
              <a:t>C1 budget · C2 follow-ups · D1 gate · D3 grounding · F1–F3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ORIGINAL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prompt and reply path as documented</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457200" y="1371600"/>
            <a:ext cx="2103120" cy="1417320"/>
          </a:xfrm>
          <a:prstGeom prst="roundRect">
            <a:avLst>
              <a:gd name="adj" fmla="val 4516"/>
            </a:avLst>
          </a:prstGeom>
          <a:solidFill>
            <a:srgbClr val="1D242E"/>
          </a:solidFill>
          <a:ln w="9525">
            <a:solidFill>
              <a:srgbClr val="323C49"/>
            </a:solidFill>
            <a:prstDash val="solid"/>
          </a:ln>
        </p:spPr>
      </p:sp>
      <p:sp>
        <p:nvSpPr>
          <p:cNvPr id="9" name="Shape 6"/>
          <p:cNvSpPr/>
          <p:nvPr/>
        </p:nvSpPr>
        <p:spPr>
          <a:xfrm>
            <a:off x="566928" y="1463040"/>
            <a:ext cx="365760" cy="365760"/>
          </a:xfrm>
          <a:prstGeom prst="ellipse">
            <a:avLst/>
          </a:prstGeom>
          <a:solidFill>
            <a:srgbClr val="7FA8E8"/>
          </a:solidFill>
          <a:ln w="15875">
            <a:solidFill>
              <a:srgbClr val="7FA8E8"/>
            </a:solidFill>
            <a:prstDash val="solid"/>
          </a:ln>
        </p:spPr>
      </p:sp>
      <p:sp>
        <p:nvSpPr>
          <p:cNvPr id="10" name="Text 7"/>
          <p:cNvSpPr txBox="1"/>
          <p:nvPr/>
        </p:nvSpPr>
        <p:spPr>
          <a:xfrm>
            <a:off x="566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1</a:t>
            </a:r>
            <a:endParaRPr lang="en-US" sz="1200" dirty="0"/>
          </a:p>
        </p:txBody>
      </p:sp>
      <p:sp>
        <p:nvSpPr>
          <p:cNvPr id="11" name="Text 8"/>
          <p:cNvSpPr txBox="1"/>
          <p:nvPr/>
        </p:nvSpPr>
        <p:spPr>
          <a:xfrm>
            <a:off x="1005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Profile gate</a:t>
            </a:r>
            <a:endParaRPr lang="en-US" sz="1200" dirty="0"/>
          </a:p>
        </p:txBody>
      </p:sp>
      <p:sp>
        <p:nvSpPr>
          <p:cNvPr id="12" name="Text 9"/>
          <p:cNvSpPr txBox="1"/>
          <p:nvPr/>
        </p:nvSpPr>
        <p:spPr>
          <a:xfrm>
            <a:off x="585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Engine 4 profile confirmed; tier and quota checked</a:t>
            </a:r>
            <a:endParaRPr lang="en-US" sz="1050" dirty="0"/>
          </a:p>
        </p:txBody>
      </p:sp>
      <p:sp>
        <p:nvSpPr>
          <p:cNvPr id="13" name="Shape 10"/>
          <p:cNvSpPr/>
          <p:nvPr/>
        </p:nvSpPr>
        <p:spPr>
          <a:xfrm>
            <a:off x="2578608" y="2075688"/>
            <a:ext cx="146304" cy="0"/>
          </a:xfrm>
          <a:prstGeom prst="line">
            <a:avLst/>
          </a:prstGeom>
          <a:noFill/>
          <a:ln w="15875">
            <a:solidFill>
              <a:srgbClr val="7D8A99"/>
            </a:solidFill>
            <a:prstDash val="solid"/>
            <a:tailEnd type="triangle"/>
          </a:ln>
        </p:spPr>
      </p:sp>
      <p:sp>
        <p:nvSpPr>
          <p:cNvPr id="14" name="Shape 11"/>
          <p:cNvSpPr/>
          <p:nvPr/>
        </p:nvSpPr>
        <p:spPr>
          <a:xfrm>
            <a:off x="2743200" y="1371600"/>
            <a:ext cx="2103120" cy="1417320"/>
          </a:xfrm>
          <a:prstGeom prst="roundRect">
            <a:avLst>
              <a:gd name="adj" fmla="val 4516"/>
            </a:avLst>
          </a:prstGeom>
          <a:solidFill>
            <a:srgbClr val="1D242E"/>
          </a:solidFill>
          <a:ln w="9525">
            <a:solidFill>
              <a:srgbClr val="323C49"/>
            </a:solidFill>
            <a:prstDash val="solid"/>
          </a:ln>
        </p:spPr>
      </p:sp>
      <p:sp>
        <p:nvSpPr>
          <p:cNvPr id="15" name="Shape 12"/>
          <p:cNvSpPr/>
          <p:nvPr/>
        </p:nvSpPr>
        <p:spPr>
          <a:xfrm>
            <a:off x="2852928" y="1463040"/>
            <a:ext cx="365760" cy="365760"/>
          </a:xfrm>
          <a:prstGeom prst="ellipse">
            <a:avLst/>
          </a:prstGeom>
          <a:solidFill>
            <a:srgbClr val="7FA8E8"/>
          </a:solidFill>
          <a:ln w="15875">
            <a:solidFill>
              <a:srgbClr val="7FA8E8"/>
            </a:solidFill>
            <a:prstDash val="solid"/>
          </a:ln>
        </p:spPr>
      </p:sp>
      <p:sp>
        <p:nvSpPr>
          <p:cNvPr id="16" name="Text 13"/>
          <p:cNvSpPr txBox="1"/>
          <p:nvPr/>
        </p:nvSpPr>
        <p:spPr>
          <a:xfrm>
            <a:off x="2852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2</a:t>
            </a:r>
            <a:endParaRPr lang="en-US" sz="1200" dirty="0"/>
          </a:p>
        </p:txBody>
      </p:sp>
      <p:sp>
        <p:nvSpPr>
          <p:cNvPr id="17" name="Text 14"/>
          <p:cNvSpPr txBox="1"/>
          <p:nvPr/>
        </p:nvSpPr>
        <p:spPr>
          <a:xfrm>
            <a:off x="3291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8 pillars</a:t>
            </a:r>
            <a:endParaRPr lang="en-US" sz="1200" dirty="0"/>
          </a:p>
        </p:txBody>
      </p:sp>
      <p:sp>
        <p:nvSpPr>
          <p:cNvPr id="18" name="Text 15"/>
          <p:cNvSpPr txBox="1"/>
          <p:nvPr/>
        </p:nvSpPr>
        <p:spPr>
          <a:xfrm>
            <a:off x="2871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Fetched in parallel (Promise.all), target &lt; 120 ms</a:t>
            </a:r>
            <a:endParaRPr lang="en-US" sz="1050" dirty="0"/>
          </a:p>
        </p:txBody>
      </p:sp>
      <p:sp>
        <p:nvSpPr>
          <p:cNvPr id="19" name="Shape 16"/>
          <p:cNvSpPr/>
          <p:nvPr/>
        </p:nvSpPr>
        <p:spPr>
          <a:xfrm>
            <a:off x="4864608" y="2075688"/>
            <a:ext cx="146304" cy="0"/>
          </a:xfrm>
          <a:prstGeom prst="line">
            <a:avLst/>
          </a:prstGeom>
          <a:noFill/>
          <a:ln w="15875">
            <a:solidFill>
              <a:srgbClr val="7D8A99"/>
            </a:solidFill>
            <a:prstDash val="solid"/>
            <a:tailEnd type="triangle"/>
          </a:ln>
        </p:spPr>
      </p:sp>
      <p:sp>
        <p:nvSpPr>
          <p:cNvPr id="20" name="Shape 17"/>
          <p:cNvSpPr/>
          <p:nvPr/>
        </p:nvSpPr>
        <p:spPr>
          <a:xfrm>
            <a:off x="5029200" y="1371600"/>
            <a:ext cx="2103120" cy="1417320"/>
          </a:xfrm>
          <a:prstGeom prst="roundRect">
            <a:avLst>
              <a:gd name="adj" fmla="val 4516"/>
            </a:avLst>
          </a:prstGeom>
          <a:solidFill>
            <a:srgbClr val="1D242E"/>
          </a:solidFill>
          <a:ln w="9525">
            <a:solidFill>
              <a:srgbClr val="323C49"/>
            </a:solidFill>
            <a:prstDash val="solid"/>
          </a:ln>
        </p:spPr>
      </p:sp>
      <p:sp>
        <p:nvSpPr>
          <p:cNvPr id="21" name="Shape 18"/>
          <p:cNvSpPr/>
          <p:nvPr/>
        </p:nvSpPr>
        <p:spPr>
          <a:xfrm>
            <a:off x="5138928" y="1463040"/>
            <a:ext cx="365760" cy="365760"/>
          </a:xfrm>
          <a:prstGeom prst="ellipse">
            <a:avLst/>
          </a:prstGeom>
          <a:solidFill>
            <a:srgbClr val="7FA8E8"/>
          </a:solidFill>
          <a:ln w="15875">
            <a:solidFill>
              <a:srgbClr val="7FA8E8"/>
            </a:solidFill>
            <a:prstDash val="solid"/>
          </a:ln>
        </p:spPr>
      </p:sp>
      <p:sp>
        <p:nvSpPr>
          <p:cNvPr id="22" name="Text 19"/>
          <p:cNvSpPr txBox="1"/>
          <p:nvPr/>
        </p:nvSpPr>
        <p:spPr>
          <a:xfrm>
            <a:off x="5138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3</a:t>
            </a:r>
            <a:endParaRPr lang="en-US" sz="1200" dirty="0"/>
          </a:p>
        </p:txBody>
      </p:sp>
      <p:sp>
        <p:nvSpPr>
          <p:cNvPr id="23" name="Text 20"/>
          <p:cNvSpPr txBox="1"/>
          <p:nvPr/>
        </p:nvSpPr>
        <p:spPr>
          <a:xfrm>
            <a:off x="5577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Assembly</a:t>
            </a:r>
            <a:endParaRPr lang="en-US" sz="1200" dirty="0"/>
          </a:p>
        </p:txBody>
      </p:sp>
      <p:sp>
        <p:nvSpPr>
          <p:cNvPr id="24" name="Text 21"/>
          <p:cNvSpPr txBox="1"/>
          <p:nvPr/>
        </p:nvSpPr>
        <p:spPr>
          <a:xfrm>
            <a:off x="5157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Numbers + storyline + WACS + rules + chart</a:t>
            </a:r>
            <a:endParaRPr lang="en-US" sz="1050" dirty="0"/>
          </a:p>
        </p:txBody>
      </p:sp>
      <p:sp>
        <p:nvSpPr>
          <p:cNvPr id="25" name="Shape 22"/>
          <p:cNvSpPr/>
          <p:nvPr/>
        </p:nvSpPr>
        <p:spPr>
          <a:xfrm>
            <a:off x="7150608" y="2075688"/>
            <a:ext cx="146304" cy="0"/>
          </a:xfrm>
          <a:prstGeom prst="line">
            <a:avLst/>
          </a:prstGeom>
          <a:noFill/>
          <a:ln w="15875">
            <a:solidFill>
              <a:srgbClr val="7D8A99"/>
            </a:solidFill>
            <a:prstDash val="solid"/>
            <a:tailEnd type="triangle"/>
          </a:ln>
        </p:spPr>
      </p:sp>
      <p:sp>
        <p:nvSpPr>
          <p:cNvPr id="26" name="Shape 23"/>
          <p:cNvSpPr/>
          <p:nvPr/>
        </p:nvSpPr>
        <p:spPr>
          <a:xfrm>
            <a:off x="7315200" y="1371600"/>
            <a:ext cx="2103120" cy="1417320"/>
          </a:xfrm>
          <a:prstGeom prst="roundRect">
            <a:avLst>
              <a:gd name="adj" fmla="val 4516"/>
            </a:avLst>
          </a:prstGeom>
          <a:solidFill>
            <a:srgbClr val="1D242E"/>
          </a:solidFill>
          <a:ln w="9525">
            <a:solidFill>
              <a:srgbClr val="323C49"/>
            </a:solidFill>
            <a:prstDash val="solid"/>
          </a:ln>
        </p:spPr>
      </p:sp>
      <p:sp>
        <p:nvSpPr>
          <p:cNvPr id="27" name="Shape 24"/>
          <p:cNvSpPr/>
          <p:nvPr/>
        </p:nvSpPr>
        <p:spPr>
          <a:xfrm>
            <a:off x="7424928" y="1463040"/>
            <a:ext cx="365760" cy="365760"/>
          </a:xfrm>
          <a:prstGeom prst="ellipse">
            <a:avLst/>
          </a:prstGeom>
          <a:solidFill>
            <a:srgbClr val="7FA8E8"/>
          </a:solidFill>
          <a:ln w="15875">
            <a:solidFill>
              <a:srgbClr val="7FA8E8"/>
            </a:solidFill>
            <a:prstDash val="solid"/>
          </a:ln>
        </p:spPr>
      </p:sp>
      <p:sp>
        <p:nvSpPr>
          <p:cNvPr id="28" name="Text 25"/>
          <p:cNvSpPr txBox="1"/>
          <p:nvPr/>
        </p:nvSpPr>
        <p:spPr>
          <a:xfrm>
            <a:off x="7424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4</a:t>
            </a:r>
            <a:endParaRPr lang="en-US" sz="1200" dirty="0"/>
          </a:p>
        </p:txBody>
      </p:sp>
      <p:sp>
        <p:nvSpPr>
          <p:cNvPr id="29" name="Text 26"/>
          <p:cNvSpPr txBox="1"/>
          <p:nvPr/>
        </p:nvSpPr>
        <p:spPr>
          <a:xfrm>
            <a:off x="7863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Model call</a:t>
            </a:r>
            <a:endParaRPr lang="en-US" sz="1200" dirty="0"/>
          </a:p>
        </p:txBody>
      </p:sp>
      <p:sp>
        <p:nvSpPr>
          <p:cNvPr id="30" name="Text 27"/>
          <p:cNvSpPr txBox="1"/>
          <p:nvPr/>
        </p:nvSpPr>
        <p:spPr>
          <a:xfrm>
            <a:off x="7443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OpenRouter · temperature 0.1 · streamed (SSE)</a:t>
            </a:r>
            <a:endParaRPr lang="en-US" sz="1050" dirty="0"/>
          </a:p>
        </p:txBody>
      </p:sp>
      <p:sp>
        <p:nvSpPr>
          <p:cNvPr id="31" name="Shape 28"/>
          <p:cNvSpPr/>
          <p:nvPr/>
        </p:nvSpPr>
        <p:spPr>
          <a:xfrm>
            <a:off x="9436608" y="2075688"/>
            <a:ext cx="146304" cy="0"/>
          </a:xfrm>
          <a:prstGeom prst="line">
            <a:avLst/>
          </a:prstGeom>
          <a:noFill/>
          <a:ln w="15875">
            <a:solidFill>
              <a:srgbClr val="7D8A99"/>
            </a:solidFill>
            <a:prstDash val="solid"/>
            <a:tailEnd type="triangle"/>
          </a:ln>
        </p:spPr>
      </p:sp>
      <p:sp>
        <p:nvSpPr>
          <p:cNvPr id="32" name="Shape 29"/>
          <p:cNvSpPr/>
          <p:nvPr/>
        </p:nvSpPr>
        <p:spPr>
          <a:xfrm>
            <a:off x="9601200" y="1371600"/>
            <a:ext cx="2103120" cy="1417320"/>
          </a:xfrm>
          <a:prstGeom prst="roundRect">
            <a:avLst>
              <a:gd name="adj" fmla="val 4516"/>
            </a:avLst>
          </a:prstGeom>
          <a:solidFill>
            <a:srgbClr val="1D242E"/>
          </a:solidFill>
          <a:ln w="9525">
            <a:solidFill>
              <a:srgbClr val="323C49"/>
            </a:solidFill>
            <a:prstDash val="solid"/>
          </a:ln>
        </p:spPr>
      </p:sp>
      <p:sp>
        <p:nvSpPr>
          <p:cNvPr id="33" name="Shape 30"/>
          <p:cNvSpPr/>
          <p:nvPr/>
        </p:nvSpPr>
        <p:spPr>
          <a:xfrm>
            <a:off x="9710928" y="1463040"/>
            <a:ext cx="365760" cy="365760"/>
          </a:xfrm>
          <a:prstGeom prst="ellipse">
            <a:avLst/>
          </a:prstGeom>
          <a:solidFill>
            <a:srgbClr val="7FA8E8"/>
          </a:solidFill>
          <a:ln w="15875">
            <a:solidFill>
              <a:srgbClr val="7FA8E8"/>
            </a:solidFill>
            <a:prstDash val="solid"/>
          </a:ln>
        </p:spPr>
      </p:sp>
      <p:sp>
        <p:nvSpPr>
          <p:cNvPr id="34" name="Text 31"/>
          <p:cNvSpPr txBox="1"/>
          <p:nvPr/>
        </p:nvSpPr>
        <p:spPr>
          <a:xfrm>
            <a:off x="9710928" y="1463040"/>
            <a:ext cx="365760" cy="365760"/>
          </a:xfrm>
          <a:prstGeom prst="rect">
            <a:avLst/>
          </a:prstGeom>
          <a:noFill/>
          <a:ln/>
        </p:spPr>
        <p:txBody>
          <a:bodyPr wrap="square" lIns="0" tIns="0" rIns="0" bIns="0" rtlCol="0" anchor="ctr"/>
          <a:lstStyle/>
          <a:p>
            <a:pPr algn="ctr" indent="0" marL="0">
              <a:buNone/>
            </a:pPr>
            <a:r>
              <a:rPr lang="en-US" sz="1200" b="1" dirty="0">
                <a:solidFill>
                  <a:srgbClr val="0F1318"/>
                </a:solidFill>
                <a:latin typeface="Cambria" pitchFamily="34" charset="0"/>
                <a:ea typeface="Cambria" pitchFamily="34" charset="-122"/>
                <a:cs typeface="Cambria" pitchFamily="34" charset="-120"/>
              </a:rPr>
              <a:t>5</a:t>
            </a:r>
            <a:endParaRPr lang="en-US" sz="1200" dirty="0"/>
          </a:p>
        </p:txBody>
      </p:sp>
      <p:sp>
        <p:nvSpPr>
          <p:cNvPr id="35" name="Text 32"/>
          <p:cNvSpPr txBox="1"/>
          <p:nvPr/>
        </p:nvSpPr>
        <p:spPr>
          <a:xfrm>
            <a:off x="10149840" y="1463040"/>
            <a:ext cx="1508760" cy="365760"/>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Dual report</a:t>
            </a:r>
            <a:endParaRPr lang="en-US" sz="1200" dirty="0"/>
          </a:p>
        </p:txBody>
      </p:sp>
      <p:sp>
        <p:nvSpPr>
          <p:cNvPr id="36" name="Text 33"/>
          <p:cNvSpPr txBox="1"/>
          <p:nvPr/>
        </p:nvSpPr>
        <p:spPr>
          <a:xfrm>
            <a:off x="9729216" y="1920240"/>
            <a:ext cx="1874520" cy="82296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Report 1 analysis; Report 2 via the modal</a:t>
            </a:r>
            <a:endParaRPr lang="en-US" sz="1050" dirty="0"/>
          </a:p>
        </p:txBody>
      </p:sp>
      <p:sp>
        <p:nvSpPr>
          <p:cNvPr id="37" name="Shape 34"/>
          <p:cNvSpPr/>
          <p:nvPr/>
        </p:nvSpPr>
        <p:spPr>
          <a:xfrm>
            <a:off x="457200" y="3063240"/>
            <a:ext cx="5513832" cy="1481328"/>
          </a:xfrm>
          <a:prstGeom prst="roundRect">
            <a:avLst>
              <a:gd name="adj" fmla="val 4321"/>
            </a:avLst>
          </a:prstGeom>
          <a:solidFill>
            <a:srgbClr val="1D242E"/>
          </a:solidFill>
          <a:ln w="9525">
            <a:solidFill>
              <a:srgbClr val="323C49"/>
            </a:solidFill>
            <a:prstDash val="solid"/>
          </a:ln>
        </p:spPr>
      </p:sp>
      <p:sp>
        <p:nvSpPr>
          <p:cNvPr id="38" name="Text 35"/>
          <p:cNvSpPr txBox="1"/>
          <p:nvPr/>
        </p:nvSpPr>
        <p:spPr>
          <a:xfrm>
            <a:off x="64008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8 PILLARS (FILE D §2)</a:t>
            </a:r>
            <a:endParaRPr lang="en-US" sz="950" dirty="0"/>
          </a:p>
        </p:txBody>
      </p:sp>
      <p:sp>
        <p:nvSpPr>
          <p:cNvPr id="39" name="Text 36"/>
          <p:cNvSpPr txBox="1"/>
          <p:nvPr/>
        </p:nvSpPr>
        <p:spPr>
          <a:xfrm>
            <a:off x="64008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1 numeric data (NL2SQL, cols 1–79) · 2 MCD density (FREQ54) · 3 storyline (JSONB54) · 4 WACS score · 5 strategy RAG · 6 chart PNG · 7 Engine 4 profile · 8 high-impact events. Pillars 1–4 were replaced by decisions 001–003.</a:t>
            </a:r>
            <a:endParaRPr lang="en-US" sz="1150" dirty="0"/>
          </a:p>
        </p:txBody>
      </p:sp>
      <p:sp>
        <p:nvSpPr>
          <p:cNvPr id="40" name="Shape 37"/>
          <p:cNvSpPr/>
          <p:nvPr/>
        </p:nvSpPr>
        <p:spPr>
          <a:xfrm>
            <a:off x="6126480" y="3063240"/>
            <a:ext cx="5513832" cy="1481328"/>
          </a:xfrm>
          <a:prstGeom prst="roundRect">
            <a:avLst>
              <a:gd name="adj" fmla="val 4321"/>
            </a:avLst>
          </a:prstGeom>
          <a:solidFill>
            <a:srgbClr val="1D242E"/>
          </a:solidFill>
          <a:ln w="9525">
            <a:solidFill>
              <a:srgbClr val="323C49"/>
            </a:solidFill>
            <a:prstDash val="solid"/>
          </a:ln>
        </p:spPr>
      </p:sp>
      <p:sp>
        <p:nvSpPr>
          <p:cNvPr id="41" name="Text 38"/>
          <p:cNvSpPr txBox="1"/>
          <p:nvPr/>
        </p:nvSpPr>
        <p:spPr>
          <a:xfrm>
            <a:off x="630936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MODEL GATEWAY (FILE D §7)</a:t>
            </a:r>
            <a:endParaRPr lang="en-US" sz="950" dirty="0"/>
          </a:p>
        </p:txBody>
      </p:sp>
      <p:sp>
        <p:nvSpPr>
          <p:cNvPr id="42" name="Text 39"/>
          <p:cNvSpPr txBox="1"/>
          <p:nvPr/>
        </p:nvSpPr>
        <p:spPr>
          <a:xfrm>
            <a:off x="6309360" y="3474720"/>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OpenRouter with six models, from Gemini 3.6 Flash and DeepSeek V4 Flash (1.0×) to GPT 5.6 Terra (8.0×) and Claude Sonnet 5 (10.0×). Pro users pick one in a dropdown. File A names Claude Opus 5.5 or Gemini.</a:t>
            </a:r>
            <a:endParaRPr lang="en-US" sz="1150" dirty="0"/>
          </a:p>
        </p:txBody>
      </p:sp>
      <p:sp>
        <p:nvSpPr>
          <p:cNvPr id="43" name="Shape 40"/>
          <p:cNvSpPr/>
          <p:nvPr/>
        </p:nvSpPr>
        <p:spPr>
          <a:xfrm>
            <a:off x="457200" y="4690872"/>
            <a:ext cx="5513832" cy="1481328"/>
          </a:xfrm>
          <a:prstGeom prst="roundRect">
            <a:avLst>
              <a:gd name="adj" fmla="val 4321"/>
            </a:avLst>
          </a:prstGeom>
          <a:solidFill>
            <a:srgbClr val="1D242E"/>
          </a:solidFill>
          <a:ln w="9525">
            <a:solidFill>
              <a:srgbClr val="323C49"/>
            </a:solidFill>
            <a:prstDash val="solid"/>
          </a:ln>
        </p:spPr>
      </p:sp>
      <p:sp>
        <p:nvSpPr>
          <p:cNvPr id="44" name="Text 41"/>
          <p:cNvSpPr txBox="1"/>
          <p:nvPr/>
        </p:nvSpPr>
        <p:spPr>
          <a:xfrm>
            <a:off x="64008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METERING (FILE D §5, §7)</a:t>
            </a:r>
            <a:endParaRPr lang="en-US" sz="950" dirty="0"/>
          </a:p>
        </p:txBody>
      </p:sp>
      <p:sp>
        <p:nvSpPr>
          <p:cNvPr id="45" name="Text 42"/>
          <p:cNvSpPr txBox="1"/>
          <p:nvPr/>
        </p:nvSpPr>
        <p:spPr>
          <a:xfrm>
            <a:off x="64008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Free 50,000 / Pro 500,000 units a month. Units = (prompt + image + output tokens) × multiplier, assumed ≈ 1,500 a message. The check before calling tests only remaining &gt; 0.</a:t>
            </a:r>
            <a:endParaRPr lang="en-US" sz="1150" dirty="0"/>
          </a:p>
        </p:txBody>
      </p:sp>
      <p:sp>
        <p:nvSpPr>
          <p:cNvPr id="46" name="Shape 43"/>
          <p:cNvSpPr/>
          <p:nvPr/>
        </p:nvSpPr>
        <p:spPr>
          <a:xfrm>
            <a:off x="6126480" y="4690872"/>
            <a:ext cx="5513832" cy="1481328"/>
          </a:xfrm>
          <a:prstGeom prst="roundRect">
            <a:avLst>
              <a:gd name="adj" fmla="val 4321"/>
            </a:avLst>
          </a:prstGeom>
          <a:solidFill>
            <a:srgbClr val="1D242E"/>
          </a:solidFill>
          <a:ln w="9525">
            <a:solidFill>
              <a:srgbClr val="323C49"/>
            </a:solidFill>
            <a:prstDash val="solid"/>
          </a:ln>
        </p:spPr>
      </p:sp>
      <p:sp>
        <p:nvSpPr>
          <p:cNvPr id="47" name="Text 44"/>
          <p:cNvSpPr txBox="1"/>
          <p:nvPr/>
        </p:nvSpPr>
        <p:spPr>
          <a:xfrm>
            <a:off x="6309360" y="4800600"/>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REPORT 1 AND NEWS (FILE D §8)</a:t>
            </a:r>
            <a:endParaRPr lang="en-US" sz="950" dirty="0"/>
          </a:p>
        </p:txBody>
      </p:sp>
      <p:sp>
        <p:nvSpPr>
          <p:cNvPr id="48" name="Text 45"/>
          <p:cNvSpPr txBox="1"/>
          <p:nvPr/>
        </p:nvSpPr>
        <p:spPr>
          <a:xfrm>
            <a:off x="6309360" y="5102352"/>
            <a:ext cx="5166360" cy="1024128"/>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Summary with WACS score · M15 vs M5 alignment · channel geometry · MCD density in the last N bars · news warnings. Pillar 8: no forecast = not published; no events = say nothing; time_mode ≠ 0 = approximate.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WHAT’S MISSING</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Eight gaps between the context and the reply</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457200" y="1371600"/>
            <a:ext cx="2697480" cy="2359152"/>
          </a:xfrm>
          <a:prstGeom prst="roundRect">
            <a:avLst>
              <a:gd name="adj" fmla="val 2713"/>
            </a:avLst>
          </a:prstGeom>
          <a:solidFill>
            <a:srgbClr val="33201F"/>
          </a:solidFill>
          <a:ln w="15875">
            <a:solidFill>
              <a:srgbClr val="E5746A"/>
            </a:solidFill>
            <a:prstDash val="solid"/>
          </a:ln>
        </p:spPr>
      </p:sp>
      <p:sp>
        <p:nvSpPr>
          <p:cNvPr id="9" name="Shape 6"/>
          <p:cNvSpPr/>
          <p:nvPr/>
        </p:nvSpPr>
        <p:spPr>
          <a:xfrm>
            <a:off x="585216" y="1499616"/>
            <a:ext cx="438912" cy="438912"/>
          </a:xfrm>
          <a:prstGeom prst="ellipse">
            <a:avLst/>
          </a:prstGeom>
          <a:solidFill>
            <a:srgbClr val="0F1318"/>
          </a:solidFill>
          <a:ln w="12700">
            <a:solidFill>
              <a:srgbClr val="0F1318"/>
            </a:solidFill>
            <a:prstDash val="solid"/>
          </a:ln>
        </p:spPr>
      </p:sp>
      <p:pic>
        <p:nvPicPr>
          <p:cNvPr id="10" name="Image 0" descr="preencoded.png">    </p:cNvPr>
          <p:cNvPicPr>
            <a:picLocks noChangeAspect="1"/>
          </p:cNvPicPr>
          <p:nvPr/>
        </p:nvPicPr>
        <p:blipFill>
          <a:blip r:embed="rId1"/>
          <a:stretch>
            <a:fillRect/>
          </a:stretch>
        </p:blipFill>
        <p:spPr>
          <a:xfrm>
            <a:off x="686166" y="1600566"/>
            <a:ext cx="237012" cy="237012"/>
          </a:xfrm>
          <a:prstGeom prst="rect">
            <a:avLst/>
          </a:prstGeom>
        </p:spPr>
      </p:pic>
      <p:sp>
        <p:nvSpPr>
          <p:cNvPr id="11" name="Text 7"/>
          <p:cNvSpPr txBox="1"/>
          <p:nvPr/>
        </p:nvSpPr>
        <p:spPr>
          <a:xfrm>
            <a:off x="111556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Context ≈ 12× the assumption</a:t>
            </a:r>
            <a:endParaRPr lang="en-US" sz="1200" dirty="0"/>
          </a:p>
        </p:txBody>
      </p:sp>
      <p:sp>
        <p:nvSpPr>
          <p:cNvPr id="12" name="Text 8"/>
          <p:cNvSpPr txBox="1"/>
          <p:nvPr/>
        </p:nvSpPr>
        <p:spPr>
          <a:xfrm>
            <a:off x="603504" y="2048256"/>
            <a:ext cx="2432304" cy="1097280"/>
          </a:xfrm>
          <a:prstGeom prst="rect">
            <a:avLst/>
          </a:prstGeom>
          <a:noFill/>
          <a:ln/>
        </p:spPr>
        <p:txBody>
          <a:bodyPr wrap="square" lIns="0" tIns="0" rIns="0" bIns="0" rtlCol="0" anchor="t"/>
          <a:lstStyle/>
          <a:p>
            <a:pPr indent="0" marL="0">
              <a:buNone/>
            </a:pPr>
            <a:r>
              <a:rPr lang="en-US" sz="1050" dirty="0">
                <a:solidFill>
                  <a:srgbClr val="EEF1F4"/>
                </a:solidFill>
                <a:latin typeface="Calibri" pitchFamily="34" charset="0"/>
                <a:ea typeface="Calibri" pitchFamily="34" charset="-122"/>
                <a:cs typeface="Calibri" pitchFamily="34" charset="-120"/>
              </a:rPr>
              <a:t>A full-context first message is ≈ 16–20k tokens; file D assumes ≈ 1,500 units a message.</a:t>
            </a:r>
            <a:endParaRPr lang="en-US" sz="1050" dirty="0"/>
          </a:p>
        </p:txBody>
      </p:sp>
      <p:sp>
        <p:nvSpPr>
          <p:cNvPr id="13" name="Text 9"/>
          <p:cNvSpPr txBox="1"/>
          <p:nvPr/>
        </p:nvSpPr>
        <p:spPr>
          <a:xfrm>
            <a:off x="60350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Pro gets ≈ 27 messages a month, not 300+.</a:t>
            </a:r>
            <a:endParaRPr lang="en-US" sz="1000" dirty="0"/>
          </a:p>
        </p:txBody>
      </p:sp>
      <p:sp>
        <p:nvSpPr>
          <p:cNvPr id="14" name="Shape 10"/>
          <p:cNvSpPr/>
          <p:nvPr/>
        </p:nvSpPr>
        <p:spPr>
          <a:xfrm>
            <a:off x="3291840" y="1371600"/>
            <a:ext cx="2697480" cy="2359152"/>
          </a:xfrm>
          <a:prstGeom prst="roundRect">
            <a:avLst>
              <a:gd name="adj" fmla="val 2713"/>
            </a:avLst>
          </a:prstGeom>
          <a:solidFill>
            <a:srgbClr val="1D242E"/>
          </a:solidFill>
          <a:ln w="9525">
            <a:solidFill>
              <a:srgbClr val="323C49"/>
            </a:solidFill>
            <a:prstDash val="solid"/>
          </a:ln>
        </p:spPr>
      </p:sp>
      <p:sp>
        <p:nvSpPr>
          <p:cNvPr id="15" name="Shape 11"/>
          <p:cNvSpPr/>
          <p:nvPr/>
        </p:nvSpPr>
        <p:spPr>
          <a:xfrm>
            <a:off x="3419856" y="1499616"/>
            <a:ext cx="438912" cy="438912"/>
          </a:xfrm>
          <a:prstGeom prst="ellipse">
            <a:avLst/>
          </a:prstGeom>
          <a:solidFill>
            <a:srgbClr val="0F1318"/>
          </a:solidFill>
          <a:ln w="12700">
            <a:solidFill>
              <a:srgbClr val="0F1318"/>
            </a:solidFill>
            <a:prstDash val="solid"/>
          </a:ln>
        </p:spPr>
      </p:sp>
      <p:pic>
        <p:nvPicPr>
          <p:cNvPr id="16" name="Image 1" descr="preencoded.png">    </p:cNvPr>
          <p:cNvPicPr>
            <a:picLocks noChangeAspect="1"/>
          </p:cNvPicPr>
          <p:nvPr/>
        </p:nvPicPr>
        <p:blipFill>
          <a:blip r:embed="rId2"/>
          <a:stretch>
            <a:fillRect/>
          </a:stretch>
        </p:blipFill>
        <p:spPr>
          <a:xfrm>
            <a:off x="3520806" y="1600566"/>
            <a:ext cx="237012" cy="237012"/>
          </a:xfrm>
          <a:prstGeom prst="rect">
            <a:avLst/>
          </a:prstGeom>
        </p:spPr>
      </p:pic>
      <p:sp>
        <p:nvSpPr>
          <p:cNvPr id="17" name="Text 12"/>
          <p:cNvSpPr txBox="1"/>
          <p:nvPr/>
        </p:nvSpPr>
        <p:spPr>
          <a:xfrm>
            <a:off x="395020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Quota check can overdraw</a:t>
            </a:r>
            <a:endParaRPr lang="en-US" sz="1200" dirty="0"/>
          </a:p>
        </p:txBody>
      </p:sp>
      <p:sp>
        <p:nvSpPr>
          <p:cNvPr id="18" name="Text 13"/>
          <p:cNvSpPr txBox="1"/>
          <p:nvPr/>
        </p:nvSpPr>
        <p:spPr>
          <a:xfrm>
            <a:off x="343814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Only remaining &gt; 0 is tested. At 10× one message can cost ≈ 180,000 units.</a:t>
            </a:r>
            <a:endParaRPr lang="en-US" sz="1050" dirty="0"/>
          </a:p>
        </p:txBody>
      </p:sp>
      <p:sp>
        <p:nvSpPr>
          <p:cNvPr id="19" name="Text 14"/>
          <p:cNvSpPr txBox="1"/>
          <p:nvPr/>
        </p:nvSpPr>
        <p:spPr>
          <a:xfrm>
            <a:off x="343814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Balances go far below zero; cost is unbounded.</a:t>
            </a:r>
            <a:endParaRPr lang="en-US" sz="1000" dirty="0"/>
          </a:p>
        </p:txBody>
      </p:sp>
      <p:sp>
        <p:nvSpPr>
          <p:cNvPr id="20" name="Shape 15"/>
          <p:cNvSpPr/>
          <p:nvPr/>
        </p:nvSpPr>
        <p:spPr>
          <a:xfrm>
            <a:off x="6126480" y="1371600"/>
            <a:ext cx="2697480" cy="2359152"/>
          </a:xfrm>
          <a:prstGeom prst="roundRect">
            <a:avLst>
              <a:gd name="adj" fmla="val 2713"/>
            </a:avLst>
          </a:prstGeom>
          <a:solidFill>
            <a:srgbClr val="1D242E"/>
          </a:solidFill>
          <a:ln w="9525">
            <a:solidFill>
              <a:srgbClr val="323C49"/>
            </a:solidFill>
            <a:prstDash val="solid"/>
          </a:ln>
        </p:spPr>
      </p:sp>
      <p:sp>
        <p:nvSpPr>
          <p:cNvPr id="21" name="Shape 16"/>
          <p:cNvSpPr/>
          <p:nvPr/>
        </p:nvSpPr>
        <p:spPr>
          <a:xfrm>
            <a:off x="6254496" y="1499616"/>
            <a:ext cx="438912" cy="438912"/>
          </a:xfrm>
          <a:prstGeom prst="ellipse">
            <a:avLst/>
          </a:prstGeom>
          <a:solidFill>
            <a:srgbClr val="0F1318"/>
          </a:solidFill>
          <a:ln w="12700">
            <a:solidFill>
              <a:srgbClr val="0F1318"/>
            </a:solidFill>
            <a:prstDash val="solid"/>
          </a:ln>
        </p:spPr>
      </p:sp>
      <p:pic>
        <p:nvPicPr>
          <p:cNvPr id="22" name="Image 2" descr="preencoded.png">    </p:cNvPr>
          <p:cNvPicPr>
            <a:picLocks noChangeAspect="1"/>
          </p:cNvPicPr>
          <p:nvPr/>
        </p:nvPicPr>
        <p:blipFill>
          <a:blip r:embed="rId3"/>
          <a:stretch>
            <a:fillRect/>
          </a:stretch>
        </p:blipFill>
        <p:spPr>
          <a:xfrm>
            <a:off x="6355446" y="1600566"/>
            <a:ext cx="237012" cy="237012"/>
          </a:xfrm>
          <a:prstGeom prst="rect">
            <a:avLst/>
          </a:prstGeom>
        </p:spPr>
      </p:pic>
      <p:sp>
        <p:nvSpPr>
          <p:cNvPr id="23" name="Text 17"/>
          <p:cNvSpPr txBox="1"/>
          <p:nvPr/>
        </p:nvSpPr>
        <p:spPr>
          <a:xfrm>
            <a:off x="678484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caps, no cut order</a:t>
            </a:r>
            <a:endParaRPr lang="en-US" sz="1200" dirty="0"/>
          </a:p>
        </p:txBody>
      </p:sp>
      <p:sp>
        <p:nvSpPr>
          <p:cNvPr id="24" name="Text 18"/>
          <p:cNvSpPr txBox="1"/>
          <p:nvPr/>
        </p:nvSpPr>
        <p:spPr>
          <a:xfrm>
            <a:off x="627278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Nothing limits history, knowledge or OHLC. Follow-ups resend everything. Buffer: 20 messages in §3, 10 in §10.</a:t>
            </a:r>
            <a:endParaRPr lang="en-US" sz="1050" dirty="0"/>
          </a:p>
        </p:txBody>
      </p:sp>
      <p:sp>
        <p:nvSpPr>
          <p:cNvPr id="25" name="Text 19"/>
          <p:cNvSpPr txBox="1"/>
          <p:nvPr/>
        </p:nvSpPr>
        <p:spPr>
          <a:xfrm>
            <a:off x="627278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Cost grows every turn.</a:t>
            </a:r>
            <a:endParaRPr lang="en-US" sz="1000" dirty="0"/>
          </a:p>
        </p:txBody>
      </p:sp>
      <p:sp>
        <p:nvSpPr>
          <p:cNvPr id="26" name="Shape 20"/>
          <p:cNvSpPr/>
          <p:nvPr/>
        </p:nvSpPr>
        <p:spPr>
          <a:xfrm>
            <a:off x="8961120" y="1371600"/>
            <a:ext cx="2697480" cy="2359152"/>
          </a:xfrm>
          <a:prstGeom prst="roundRect">
            <a:avLst>
              <a:gd name="adj" fmla="val 2713"/>
            </a:avLst>
          </a:prstGeom>
          <a:solidFill>
            <a:srgbClr val="1D242E"/>
          </a:solidFill>
          <a:ln w="9525">
            <a:solidFill>
              <a:srgbClr val="323C49"/>
            </a:solidFill>
            <a:prstDash val="solid"/>
          </a:ln>
        </p:spPr>
      </p:sp>
      <p:sp>
        <p:nvSpPr>
          <p:cNvPr id="27" name="Shape 21"/>
          <p:cNvSpPr/>
          <p:nvPr/>
        </p:nvSpPr>
        <p:spPr>
          <a:xfrm>
            <a:off x="9089136" y="1499616"/>
            <a:ext cx="438912" cy="438912"/>
          </a:xfrm>
          <a:prstGeom prst="ellipse">
            <a:avLst/>
          </a:prstGeom>
          <a:solidFill>
            <a:srgbClr val="0F1318"/>
          </a:solidFill>
          <a:ln w="12700">
            <a:solidFill>
              <a:srgbClr val="0F1318"/>
            </a:solidFill>
            <a:prstDash val="solid"/>
          </a:ln>
        </p:spPr>
      </p:sp>
      <p:pic>
        <p:nvPicPr>
          <p:cNvPr id="28" name="Image 3" descr="preencoded.png">    </p:cNvPr>
          <p:cNvPicPr>
            <a:picLocks noChangeAspect="1"/>
          </p:cNvPicPr>
          <p:nvPr/>
        </p:nvPicPr>
        <p:blipFill>
          <a:blip r:embed="rId4"/>
          <a:stretch>
            <a:fillRect/>
          </a:stretch>
        </p:blipFill>
        <p:spPr>
          <a:xfrm>
            <a:off x="9190086" y="1600566"/>
            <a:ext cx="237012" cy="237012"/>
          </a:xfrm>
          <a:prstGeom prst="rect">
            <a:avLst/>
          </a:prstGeom>
        </p:spPr>
      </p:pic>
      <p:sp>
        <p:nvSpPr>
          <p:cNvPr id="29" name="Text 22"/>
          <p:cNvSpPr txBox="1"/>
          <p:nvPr/>
        </p:nvSpPr>
        <p:spPr>
          <a:xfrm>
            <a:off x="9619488" y="1463040"/>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Numbers unchecked</a:t>
            </a:r>
            <a:endParaRPr lang="en-US" sz="1200" dirty="0"/>
          </a:p>
        </p:txBody>
      </p:sp>
      <p:sp>
        <p:nvSpPr>
          <p:cNvPr id="30" name="Text 23"/>
          <p:cNvSpPr txBox="1"/>
          <p:nvPr/>
        </p:nvSpPr>
        <p:spPr>
          <a:xfrm>
            <a:off x="9107424" y="2048256"/>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model retypes every price in free text; nothing compares them with the data it was given.</a:t>
            </a:r>
            <a:endParaRPr lang="en-US" sz="1050" dirty="0"/>
          </a:p>
        </p:txBody>
      </p:sp>
      <p:sp>
        <p:nvSpPr>
          <p:cNvPr id="31" name="Text 24"/>
          <p:cNvSpPr txBox="1"/>
          <p:nvPr/>
        </p:nvSpPr>
        <p:spPr>
          <a:xfrm>
            <a:off x="9107424" y="3145536"/>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One wrong digit reaches a trader.</a:t>
            </a:r>
            <a:endParaRPr lang="en-US" sz="1000" dirty="0"/>
          </a:p>
        </p:txBody>
      </p:sp>
      <p:sp>
        <p:nvSpPr>
          <p:cNvPr id="32" name="Shape 25"/>
          <p:cNvSpPr/>
          <p:nvPr/>
        </p:nvSpPr>
        <p:spPr>
          <a:xfrm>
            <a:off x="457200" y="3858768"/>
            <a:ext cx="2697480" cy="2359152"/>
          </a:xfrm>
          <a:prstGeom prst="roundRect">
            <a:avLst>
              <a:gd name="adj" fmla="val 2713"/>
            </a:avLst>
          </a:prstGeom>
          <a:solidFill>
            <a:srgbClr val="1D242E"/>
          </a:solidFill>
          <a:ln w="9525">
            <a:solidFill>
              <a:srgbClr val="323C49"/>
            </a:solidFill>
            <a:prstDash val="solid"/>
          </a:ln>
        </p:spPr>
      </p:sp>
      <p:sp>
        <p:nvSpPr>
          <p:cNvPr id="33" name="Shape 26"/>
          <p:cNvSpPr/>
          <p:nvPr/>
        </p:nvSpPr>
        <p:spPr>
          <a:xfrm>
            <a:off x="585216" y="3986784"/>
            <a:ext cx="438912" cy="438912"/>
          </a:xfrm>
          <a:prstGeom prst="ellipse">
            <a:avLst/>
          </a:prstGeom>
          <a:solidFill>
            <a:srgbClr val="0F1318"/>
          </a:solidFill>
          <a:ln w="12700">
            <a:solidFill>
              <a:srgbClr val="0F1318"/>
            </a:solidFill>
            <a:prstDash val="solid"/>
          </a:ln>
        </p:spPr>
      </p:sp>
      <p:pic>
        <p:nvPicPr>
          <p:cNvPr id="34" name="Image 4" descr="preencoded.png">    </p:cNvPr>
          <p:cNvPicPr>
            <a:picLocks noChangeAspect="1"/>
          </p:cNvPicPr>
          <p:nvPr/>
        </p:nvPicPr>
        <p:blipFill>
          <a:blip r:embed="rId5"/>
          <a:stretch>
            <a:fillRect/>
          </a:stretch>
        </p:blipFill>
        <p:spPr>
          <a:xfrm>
            <a:off x="686166" y="4087734"/>
            <a:ext cx="237012" cy="237012"/>
          </a:xfrm>
          <a:prstGeom prst="rect">
            <a:avLst/>
          </a:prstGeom>
        </p:spPr>
      </p:pic>
      <p:sp>
        <p:nvSpPr>
          <p:cNvPr id="35" name="Text 27"/>
          <p:cNvSpPr txBox="1"/>
          <p:nvPr/>
        </p:nvSpPr>
        <p:spPr>
          <a:xfrm>
            <a:off x="111556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Report 1 is free text</a:t>
            </a:r>
            <a:endParaRPr lang="en-US" sz="1200" dirty="0"/>
          </a:p>
        </p:txBody>
      </p:sp>
      <p:sp>
        <p:nvSpPr>
          <p:cNvPr id="36" name="Text 28"/>
          <p:cNvSpPr txBox="1"/>
          <p:nvPr/>
        </p:nvSpPr>
        <p:spPr>
          <a:xfrm>
            <a:off x="60350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Its sections still list the WACS score and MCD density, both retired.</a:t>
            </a:r>
            <a:endParaRPr lang="en-US" sz="1050" dirty="0"/>
          </a:p>
        </p:txBody>
      </p:sp>
      <p:sp>
        <p:nvSpPr>
          <p:cNvPr id="37" name="Text 29"/>
          <p:cNvSpPr txBox="1"/>
          <p:nvPr/>
        </p:nvSpPr>
        <p:spPr>
          <a:xfrm>
            <a:off x="60350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It can’t be validated or handed to Report 2 reliably.</a:t>
            </a:r>
            <a:endParaRPr lang="en-US" sz="1000" dirty="0"/>
          </a:p>
        </p:txBody>
      </p:sp>
      <p:sp>
        <p:nvSpPr>
          <p:cNvPr id="38" name="Shape 30"/>
          <p:cNvSpPr/>
          <p:nvPr/>
        </p:nvSpPr>
        <p:spPr>
          <a:xfrm>
            <a:off x="3291840" y="3858768"/>
            <a:ext cx="2697480" cy="2359152"/>
          </a:xfrm>
          <a:prstGeom prst="roundRect">
            <a:avLst>
              <a:gd name="adj" fmla="val 2713"/>
            </a:avLst>
          </a:prstGeom>
          <a:solidFill>
            <a:srgbClr val="1D242E"/>
          </a:solidFill>
          <a:ln w="9525">
            <a:solidFill>
              <a:srgbClr val="323C49"/>
            </a:solidFill>
            <a:prstDash val="solid"/>
          </a:ln>
        </p:spPr>
      </p:sp>
      <p:sp>
        <p:nvSpPr>
          <p:cNvPr id="39" name="Shape 31"/>
          <p:cNvSpPr/>
          <p:nvPr/>
        </p:nvSpPr>
        <p:spPr>
          <a:xfrm>
            <a:off x="3419856" y="3986784"/>
            <a:ext cx="438912" cy="438912"/>
          </a:xfrm>
          <a:prstGeom prst="ellipse">
            <a:avLst/>
          </a:prstGeom>
          <a:solidFill>
            <a:srgbClr val="0F1318"/>
          </a:solidFill>
          <a:ln w="12700">
            <a:solidFill>
              <a:srgbClr val="0F1318"/>
            </a:solidFill>
            <a:prstDash val="solid"/>
          </a:ln>
        </p:spPr>
      </p:sp>
      <p:pic>
        <p:nvPicPr>
          <p:cNvPr id="40" name="Image 5" descr="preencoded.png">    </p:cNvPr>
          <p:cNvPicPr>
            <a:picLocks noChangeAspect="1"/>
          </p:cNvPicPr>
          <p:nvPr/>
        </p:nvPicPr>
        <p:blipFill>
          <a:blip r:embed="rId6"/>
          <a:stretch>
            <a:fillRect/>
          </a:stretch>
        </p:blipFill>
        <p:spPr>
          <a:xfrm>
            <a:off x="3520806" y="4087734"/>
            <a:ext cx="237012" cy="237012"/>
          </a:xfrm>
          <a:prstGeom prst="rect">
            <a:avLst/>
          </a:prstGeom>
        </p:spPr>
      </p:pic>
      <p:sp>
        <p:nvSpPr>
          <p:cNvPr id="41" name="Text 32"/>
          <p:cNvSpPr txBox="1"/>
          <p:nvPr/>
        </p:nvSpPr>
        <p:spPr>
          <a:xfrm>
            <a:off x="395020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Six models, no tests</a:t>
            </a:r>
            <a:endParaRPr lang="en-US" sz="1200" dirty="0"/>
          </a:p>
        </p:txBody>
      </p:sp>
      <p:sp>
        <p:nvSpPr>
          <p:cNvPr id="42" name="Text 33"/>
          <p:cNvSpPr txBox="1"/>
          <p:nvPr/>
        </p:nvSpPr>
        <p:spPr>
          <a:xfrm>
            <a:off x="343814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No record of which models read images, return valid JSON or write well in all 16 languages.</a:t>
            </a:r>
            <a:endParaRPr lang="en-US" sz="1050" dirty="0"/>
          </a:p>
        </p:txBody>
      </p:sp>
      <p:sp>
        <p:nvSpPr>
          <p:cNvPr id="43" name="Text 34"/>
          <p:cNvSpPr txBox="1"/>
          <p:nvPr/>
        </p:nvSpPr>
        <p:spPr>
          <a:xfrm>
            <a:off x="343814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A user’s pick can silently lose the chart or the language.</a:t>
            </a:r>
            <a:endParaRPr lang="en-US" sz="1000" dirty="0"/>
          </a:p>
        </p:txBody>
      </p:sp>
      <p:sp>
        <p:nvSpPr>
          <p:cNvPr id="44" name="Shape 35"/>
          <p:cNvSpPr/>
          <p:nvPr/>
        </p:nvSpPr>
        <p:spPr>
          <a:xfrm>
            <a:off x="6126480" y="3858768"/>
            <a:ext cx="2697480" cy="2359152"/>
          </a:xfrm>
          <a:prstGeom prst="roundRect">
            <a:avLst>
              <a:gd name="adj" fmla="val 2713"/>
            </a:avLst>
          </a:prstGeom>
          <a:solidFill>
            <a:srgbClr val="1D242E"/>
          </a:solidFill>
          <a:ln w="9525">
            <a:solidFill>
              <a:srgbClr val="323C49"/>
            </a:solidFill>
            <a:prstDash val="solid"/>
          </a:ln>
        </p:spPr>
      </p:sp>
      <p:sp>
        <p:nvSpPr>
          <p:cNvPr id="45" name="Shape 36"/>
          <p:cNvSpPr/>
          <p:nvPr/>
        </p:nvSpPr>
        <p:spPr>
          <a:xfrm>
            <a:off x="6254496" y="3986784"/>
            <a:ext cx="438912" cy="438912"/>
          </a:xfrm>
          <a:prstGeom prst="ellipse">
            <a:avLst/>
          </a:prstGeom>
          <a:solidFill>
            <a:srgbClr val="0F1318"/>
          </a:solidFill>
          <a:ln w="12700">
            <a:solidFill>
              <a:srgbClr val="0F1318"/>
            </a:solidFill>
            <a:prstDash val="solid"/>
          </a:ln>
        </p:spPr>
      </p:sp>
      <p:pic>
        <p:nvPicPr>
          <p:cNvPr id="46" name="Image 6" descr="preencoded.png">    </p:cNvPr>
          <p:cNvPicPr>
            <a:picLocks noChangeAspect="1"/>
          </p:cNvPicPr>
          <p:nvPr/>
        </p:nvPicPr>
        <p:blipFill>
          <a:blip r:embed="rId7"/>
          <a:stretch>
            <a:fillRect/>
          </a:stretch>
        </p:blipFill>
        <p:spPr>
          <a:xfrm>
            <a:off x="6355446" y="4087734"/>
            <a:ext cx="237012" cy="237012"/>
          </a:xfrm>
          <a:prstGeom prst="rect">
            <a:avLst/>
          </a:prstGeom>
        </p:spPr>
      </p:pic>
      <p:sp>
        <p:nvSpPr>
          <p:cNvPr id="47" name="Text 37"/>
          <p:cNvSpPr txBox="1"/>
          <p:nvPr/>
        </p:nvSpPr>
        <p:spPr>
          <a:xfrm>
            <a:off x="678484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Wording vs position</a:t>
            </a:r>
            <a:endParaRPr lang="en-US" sz="1200" dirty="0"/>
          </a:p>
        </p:txBody>
      </p:sp>
      <p:sp>
        <p:nvSpPr>
          <p:cNvPr id="48" name="Text 38"/>
          <p:cNvSpPr txBox="1"/>
          <p:nvPr/>
        </p:nvSpPr>
        <p:spPr>
          <a:xfrm>
            <a:off x="627278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“82% probability”, “GRADE S”, “100% accurate, hallucination-free trade advice” vs decision support.</a:t>
            </a:r>
            <a:endParaRPr lang="en-US" sz="1050" dirty="0"/>
          </a:p>
        </p:txBody>
      </p:sp>
      <p:sp>
        <p:nvSpPr>
          <p:cNvPr id="49" name="Text 39"/>
          <p:cNvSpPr txBox="1"/>
          <p:nvPr/>
        </p:nvSpPr>
        <p:spPr>
          <a:xfrm>
            <a:off x="627278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Regulatory and trust risk.</a:t>
            </a:r>
            <a:endParaRPr lang="en-US" sz="1000" dirty="0"/>
          </a:p>
        </p:txBody>
      </p:sp>
      <p:sp>
        <p:nvSpPr>
          <p:cNvPr id="50" name="Shape 40"/>
          <p:cNvSpPr/>
          <p:nvPr/>
        </p:nvSpPr>
        <p:spPr>
          <a:xfrm>
            <a:off x="8961120" y="3858768"/>
            <a:ext cx="2697480" cy="2359152"/>
          </a:xfrm>
          <a:prstGeom prst="roundRect">
            <a:avLst>
              <a:gd name="adj" fmla="val 2713"/>
            </a:avLst>
          </a:prstGeom>
          <a:solidFill>
            <a:srgbClr val="1D242E"/>
          </a:solidFill>
          <a:ln w="9525">
            <a:solidFill>
              <a:srgbClr val="323C49"/>
            </a:solidFill>
            <a:prstDash val="solid"/>
          </a:ln>
        </p:spPr>
      </p:sp>
      <p:sp>
        <p:nvSpPr>
          <p:cNvPr id="51" name="Shape 41"/>
          <p:cNvSpPr/>
          <p:nvPr/>
        </p:nvSpPr>
        <p:spPr>
          <a:xfrm>
            <a:off x="9089136" y="3986784"/>
            <a:ext cx="438912" cy="438912"/>
          </a:xfrm>
          <a:prstGeom prst="ellipse">
            <a:avLst/>
          </a:prstGeom>
          <a:solidFill>
            <a:srgbClr val="0F1318"/>
          </a:solidFill>
          <a:ln w="12700">
            <a:solidFill>
              <a:srgbClr val="0F1318"/>
            </a:solidFill>
            <a:prstDash val="solid"/>
          </a:ln>
        </p:spPr>
      </p:sp>
      <p:pic>
        <p:nvPicPr>
          <p:cNvPr id="52" name="Image 7" descr="preencoded.png">    </p:cNvPr>
          <p:cNvPicPr>
            <a:picLocks noChangeAspect="1"/>
          </p:cNvPicPr>
          <p:nvPr/>
        </p:nvPicPr>
        <p:blipFill>
          <a:blip r:embed="rId8"/>
          <a:stretch>
            <a:fillRect/>
          </a:stretch>
        </p:blipFill>
        <p:spPr>
          <a:xfrm>
            <a:off x="9190086" y="4087734"/>
            <a:ext cx="237012" cy="237012"/>
          </a:xfrm>
          <a:prstGeom prst="rect">
            <a:avLst/>
          </a:prstGeom>
        </p:spPr>
      </p:pic>
      <p:sp>
        <p:nvSpPr>
          <p:cNvPr id="53" name="Text 42"/>
          <p:cNvSpPr txBox="1"/>
          <p:nvPr/>
        </p:nvSpPr>
        <p:spPr>
          <a:xfrm>
            <a:off x="9619488" y="3950208"/>
            <a:ext cx="1956816" cy="512064"/>
          </a:xfrm>
          <a:prstGeom prst="rect">
            <a:avLst/>
          </a:prstGeom>
          <a:noFill/>
          <a:ln/>
        </p:spPr>
        <p:txBody>
          <a:bodyPr wrap="square" lIns="0" tIns="0" rIns="0" bIns="0" rtlCol="0" anchor="ctr"/>
          <a:lstStyle/>
          <a:p>
            <a:pPr indent="0" marL="0">
              <a:buNone/>
            </a:pPr>
            <a:r>
              <a:rPr lang="en-US" sz="1200" b="1" dirty="0">
                <a:solidFill>
                  <a:srgbClr val="EEF1F4"/>
                </a:solidFill>
                <a:latin typeface="Calibri" pitchFamily="34" charset="0"/>
                <a:ea typeface="Calibri" pitchFamily="34" charset="-122"/>
                <a:cs typeface="Calibri" pitchFamily="34" charset="-120"/>
              </a:rPr>
              <a:t>No gate before the model</a:t>
            </a:r>
            <a:endParaRPr lang="en-US" sz="1200" dirty="0"/>
          </a:p>
        </p:txBody>
      </p:sp>
      <p:sp>
        <p:nvSpPr>
          <p:cNvPr id="54" name="Text 43"/>
          <p:cNvSpPr txBox="1"/>
          <p:nvPr/>
        </p:nvSpPr>
        <p:spPr>
          <a:xfrm>
            <a:off x="9107424" y="4535424"/>
            <a:ext cx="2432304" cy="109728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Nothing stops a stale cycle, or a chart from another cycle, reaching the prompt.</a:t>
            </a:r>
            <a:endParaRPr lang="en-US" sz="1050" dirty="0"/>
          </a:p>
        </p:txBody>
      </p:sp>
      <p:sp>
        <p:nvSpPr>
          <p:cNvPr id="55" name="Text 44"/>
          <p:cNvSpPr txBox="1"/>
          <p:nvPr/>
        </p:nvSpPr>
        <p:spPr>
          <a:xfrm>
            <a:off x="9107424" y="5632704"/>
            <a:ext cx="2432304" cy="548640"/>
          </a:xfrm>
          <a:prstGeom prst="rect">
            <a:avLst/>
          </a:prstGeom>
          <a:noFill/>
          <a:ln/>
        </p:spPr>
        <p:txBody>
          <a:bodyPr wrap="square" lIns="0" tIns="0" rIns="0" bIns="0" rtlCol="0" anchor="t"/>
          <a:lstStyle/>
          <a:p>
            <a:pPr indent="0" marL="0">
              <a:buNone/>
            </a:pPr>
            <a:r>
              <a:rPr lang="en-US" sz="1000" b="1" dirty="0">
                <a:solidFill>
                  <a:srgbClr val="E2B54E"/>
                </a:solidFill>
                <a:latin typeface="Calibri" pitchFamily="34" charset="0"/>
                <a:ea typeface="Calibri" pitchFamily="34" charset="-122"/>
                <a:cs typeface="Calibri" pitchFamily="34" charset="-120"/>
              </a:rPr>
              <a:t>Impact: </a:t>
            </a:r>
            <a:pPr indent="0" marL="0">
              <a:buNone/>
            </a:pPr>
            <a:r>
              <a:rPr lang="en-US" sz="1000" dirty="0">
                <a:solidFill>
                  <a:srgbClr val="EEF1F4"/>
                </a:solidFill>
                <a:latin typeface="Calibri" pitchFamily="34" charset="0"/>
                <a:ea typeface="Calibri" pitchFamily="34" charset="-122"/>
                <a:cs typeface="Calibri" pitchFamily="34" charset="-120"/>
              </a:rPr>
              <a:t>The answer describes a market that has moved.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REVISED DESIGN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The reply path, step by step</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457200" y="1371600"/>
            <a:ext cx="2697480" cy="2286000"/>
          </a:xfrm>
          <a:prstGeom prst="roundRect">
            <a:avLst>
              <a:gd name="adj" fmla="val 2800"/>
            </a:avLst>
          </a:prstGeom>
          <a:solidFill>
            <a:srgbClr val="1D242E"/>
          </a:solidFill>
          <a:ln w="15875">
            <a:solidFill>
              <a:srgbClr val="E2B54E"/>
            </a:solidFill>
            <a:prstDash val="solid"/>
          </a:ln>
        </p:spPr>
      </p:sp>
      <p:sp>
        <p:nvSpPr>
          <p:cNvPr id="9" name="Shape 6"/>
          <p:cNvSpPr/>
          <p:nvPr/>
        </p:nvSpPr>
        <p:spPr>
          <a:xfrm>
            <a:off x="585216" y="1499616"/>
            <a:ext cx="420624" cy="420624"/>
          </a:xfrm>
          <a:prstGeom prst="ellipse">
            <a:avLst/>
          </a:prstGeom>
          <a:solidFill>
            <a:srgbClr val="E2B54E"/>
          </a:solidFill>
          <a:ln w="15875">
            <a:solidFill>
              <a:srgbClr val="E2B54E"/>
            </a:solidFill>
            <a:prstDash val="solid"/>
          </a:ln>
        </p:spPr>
      </p:sp>
      <p:sp>
        <p:nvSpPr>
          <p:cNvPr id="10" name="Text 7"/>
          <p:cNvSpPr txBox="1"/>
          <p:nvPr/>
        </p:nvSpPr>
        <p:spPr>
          <a:xfrm>
            <a:off x="58521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1</a:t>
            </a:r>
            <a:endParaRPr lang="en-US" sz="1400" dirty="0"/>
          </a:p>
        </p:txBody>
      </p:sp>
      <p:sp>
        <p:nvSpPr>
          <p:cNvPr id="11" name="Text 8"/>
          <p:cNvSpPr txBox="1"/>
          <p:nvPr/>
        </p:nvSpPr>
        <p:spPr>
          <a:xfrm>
            <a:off x="111556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Answer gate</a:t>
            </a:r>
            <a:endParaRPr lang="en-US" sz="1400" dirty="0"/>
          </a:p>
        </p:txBody>
      </p:sp>
      <p:sp>
        <p:nvSpPr>
          <p:cNvPr id="12" name="Text 9"/>
          <p:cNvSpPr txBox="1"/>
          <p:nvPr/>
        </p:nvSpPr>
        <p:spPr>
          <a:xfrm>
            <a:off x="62179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Data status decides what may be said; the chart is kept only if its cycle matches (D1)</a:t>
            </a:r>
            <a:endParaRPr lang="en-US" sz="1250" dirty="0"/>
          </a:p>
        </p:txBody>
      </p:sp>
      <p:sp>
        <p:nvSpPr>
          <p:cNvPr id="13" name="Shape 10"/>
          <p:cNvSpPr/>
          <p:nvPr/>
        </p:nvSpPr>
        <p:spPr>
          <a:xfrm>
            <a:off x="3172968" y="1709928"/>
            <a:ext cx="100584" cy="0"/>
          </a:xfrm>
          <a:prstGeom prst="line">
            <a:avLst/>
          </a:prstGeom>
          <a:noFill/>
          <a:ln w="15875">
            <a:solidFill>
              <a:srgbClr val="E2B54E"/>
            </a:solidFill>
            <a:prstDash val="solid"/>
            <a:tailEnd type="triangle"/>
          </a:ln>
        </p:spPr>
      </p:sp>
      <p:sp>
        <p:nvSpPr>
          <p:cNvPr id="14" name="Shape 11"/>
          <p:cNvSpPr/>
          <p:nvPr/>
        </p:nvSpPr>
        <p:spPr>
          <a:xfrm>
            <a:off x="3291840" y="1371600"/>
            <a:ext cx="2697480" cy="2286000"/>
          </a:xfrm>
          <a:prstGeom prst="roundRect">
            <a:avLst>
              <a:gd name="adj" fmla="val 2800"/>
            </a:avLst>
          </a:prstGeom>
          <a:solidFill>
            <a:srgbClr val="1D242E"/>
          </a:solidFill>
          <a:ln w="15875">
            <a:solidFill>
              <a:srgbClr val="E2B54E"/>
            </a:solidFill>
            <a:prstDash val="solid"/>
          </a:ln>
        </p:spPr>
      </p:sp>
      <p:sp>
        <p:nvSpPr>
          <p:cNvPr id="15" name="Shape 12"/>
          <p:cNvSpPr/>
          <p:nvPr/>
        </p:nvSpPr>
        <p:spPr>
          <a:xfrm>
            <a:off x="3419856" y="1499616"/>
            <a:ext cx="420624" cy="420624"/>
          </a:xfrm>
          <a:prstGeom prst="ellipse">
            <a:avLst/>
          </a:prstGeom>
          <a:solidFill>
            <a:srgbClr val="E2B54E"/>
          </a:solidFill>
          <a:ln w="15875">
            <a:solidFill>
              <a:srgbClr val="E2B54E"/>
            </a:solidFill>
            <a:prstDash val="solid"/>
          </a:ln>
        </p:spPr>
      </p:sp>
      <p:sp>
        <p:nvSpPr>
          <p:cNvPr id="16" name="Text 13"/>
          <p:cNvSpPr txBox="1"/>
          <p:nvPr/>
        </p:nvSpPr>
        <p:spPr>
          <a:xfrm>
            <a:off x="341985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395020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Assemble</a:t>
            </a:r>
            <a:endParaRPr lang="en-US" sz="1400" dirty="0"/>
          </a:p>
        </p:txBody>
      </p:sp>
      <p:sp>
        <p:nvSpPr>
          <p:cNvPr id="18" name="Text 15"/>
          <p:cNvSpPr txBox="1"/>
          <p:nvPr/>
        </p:nvSpPr>
        <p:spPr>
          <a:xfrm>
            <a:off x="345643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Intake packet and cycle data fitted into fixed caps; cut in a set order when over (C1)</a:t>
            </a:r>
            <a:endParaRPr lang="en-US" sz="1250" dirty="0"/>
          </a:p>
        </p:txBody>
      </p:sp>
      <p:sp>
        <p:nvSpPr>
          <p:cNvPr id="19" name="Shape 16"/>
          <p:cNvSpPr/>
          <p:nvPr/>
        </p:nvSpPr>
        <p:spPr>
          <a:xfrm>
            <a:off x="6007608" y="1709928"/>
            <a:ext cx="100584" cy="0"/>
          </a:xfrm>
          <a:prstGeom prst="line">
            <a:avLst/>
          </a:prstGeom>
          <a:noFill/>
          <a:ln w="15875">
            <a:solidFill>
              <a:srgbClr val="E2B54E"/>
            </a:solidFill>
            <a:prstDash val="solid"/>
            <a:tailEnd type="triangle"/>
          </a:ln>
        </p:spPr>
      </p:sp>
      <p:sp>
        <p:nvSpPr>
          <p:cNvPr id="20" name="Shape 17"/>
          <p:cNvSpPr/>
          <p:nvPr/>
        </p:nvSpPr>
        <p:spPr>
          <a:xfrm>
            <a:off x="6126480" y="1371600"/>
            <a:ext cx="2697480" cy="2286000"/>
          </a:xfrm>
          <a:prstGeom prst="roundRect">
            <a:avLst>
              <a:gd name="adj" fmla="val 2800"/>
            </a:avLst>
          </a:prstGeom>
          <a:solidFill>
            <a:srgbClr val="1D242E"/>
          </a:solidFill>
          <a:ln w="15875">
            <a:solidFill>
              <a:srgbClr val="E2B54E"/>
            </a:solidFill>
            <a:prstDash val="solid"/>
          </a:ln>
        </p:spPr>
      </p:sp>
      <p:sp>
        <p:nvSpPr>
          <p:cNvPr id="21" name="Shape 18"/>
          <p:cNvSpPr/>
          <p:nvPr/>
        </p:nvSpPr>
        <p:spPr>
          <a:xfrm>
            <a:off x="6254496" y="1499616"/>
            <a:ext cx="420624" cy="420624"/>
          </a:xfrm>
          <a:prstGeom prst="ellipse">
            <a:avLst/>
          </a:prstGeom>
          <a:solidFill>
            <a:srgbClr val="E2B54E"/>
          </a:solidFill>
          <a:ln w="15875">
            <a:solidFill>
              <a:srgbClr val="E2B54E"/>
            </a:solidFill>
            <a:prstDash val="solid"/>
          </a:ln>
        </p:spPr>
      </p:sp>
      <p:sp>
        <p:nvSpPr>
          <p:cNvPr id="22" name="Text 19"/>
          <p:cNvSpPr txBox="1"/>
          <p:nvPr/>
        </p:nvSpPr>
        <p:spPr>
          <a:xfrm>
            <a:off x="625449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3</a:t>
            </a:r>
            <a:endParaRPr lang="en-US" sz="1400" dirty="0"/>
          </a:p>
        </p:txBody>
      </p:sp>
      <p:sp>
        <p:nvSpPr>
          <p:cNvPr id="23" name="Text 20"/>
          <p:cNvSpPr txBox="1"/>
          <p:nvPr/>
        </p:nvSpPr>
        <p:spPr>
          <a:xfrm>
            <a:off x="678484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Order for caching</a:t>
            </a:r>
            <a:endParaRPr lang="en-US" sz="1400" dirty="0"/>
          </a:p>
        </p:txBody>
      </p:sp>
      <p:sp>
        <p:nvSpPr>
          <p:cNvPr id="24" name="Text 21"/>
          <p:cNvSpPr txBox="1"/>
          <p:nvPr/>
        </p:nvSpPr>
        <p:spPr>
          <a:xfrm>
            <a:off x="629107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Static rules → shared cycle block → this user’s part</a:t>
            </a:r>
            <a:endParaRPr lang="en-US" sz="1250" dirty="0"/>
          </a:p>
        </p:txBody>
      </p:sp>
      <p:sp>
        <p:nvSpPr>
          <p:cNvPr id="25" name="Shape 22"/>
          <p:cNvSpPr/>
          <p:nvPr/>
        </p:nvSpPr>
        <p:spPr>
          <a:xfrm>
            <a:off x="8842248" y="1709928"/>
            <a:ext cx="100584" cy="0"/>
          </a:xfrm>
          <a:prstGeom prst="line">
            <a:avLst/>
          </a:prstGeom>
          <a:noFill/>
          <a:ln w="15875">
            <a:solidFill>
              <a:srgbClr val="E2B54E"/>
            </a:solidFill>
            <a:prstDash val="solid"/>
            <a:tailEnd type="triangle"/>
          </a:ln>
        </p:spPr>
      </p:sp>
      <p:sp>
        <p:nvSpPr>
          <p:cNvPr id="26" name="Shape 23"/>
          <p:cNvSpPr/>
          <p:nvPr/>
        </p:nvSpPr>
        <p:spPr>
          <a:xfrm>
            <a:off x="8961120" y="1371600"/>
            <a:ext cx="2697480" cy="2286000"/>
          </a:xfrm>
          <a:prstGeom prst="roundRect">
            <a:avLst>
              <a:gd name="adj" fmla="val 2800"/>
            </a:avLst>
          </a:prstGeom>
          <a:solidFill>
            <a:srgbClr val="1D242E"/>
          </a:solidFill>
          <a:ln w="9525">
            <a:solidFill>
              <a:srgbClr val="323C49"/>
            </a:solidFill>
            <a:prstDash val="solid"/>
          </a:ln>
        </p:spPr>
      </p:sp>
      <p:sp>
        <p:nvSpPr>
          <p:cNvPr id="27" name="Shape 24"/>
          <p:cNvSpPr/>
          <p:nvPr/>
        </p:nvSpPr>
        <p:spPr>
          <a:xfrm>
            <a:off x="9089136" y="1499616"/>
            <a:ext cx="420624" cy="420624"/>
          </a:xfrm>
          <a:prstGeom prst="ellipse">
            <a:avLst/>
          </a:prstGeom>
          <a:solidFill>
            <a:srgbClr val="E2B54E"/>
          </a:solidFill>
          <a:ln w="15875">
            <a:solidFill>
              <a:srgbClr val="E2B54E"/>
            </a:solidFill>
            <a:prstDash val="solid"/>
          </a:ln>
        </p:spPr>
      </p:sp>
      <p:sp>
        <p:nvSpPr>
          <p:cNvPr id="28" name="Text 25"/>
          <p:cNvSpPr txBox="1"/>
          <p:nvPr/>
        </p:nvSpPr>
        <p:spPr>
          <a:xfrm>
            <a:off x="9089136" y="1499616"/>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4</a:t>
            </a:r>
            <a:endParaRPr lang="en-US" sz="1400" dirty="0"/>
          </a:p>
        </p:txBody>
      </p:sp>
      <p:sp>
        <p:nvSpPr>
          <p:cNvPr id="29" name="Text 26"/>
          <p:cNvSpPr txBox="1"/>
          <p:nvPr/>
        </p:nvSpPr>
        <p:spPr>
          <a:xfrm>
            <a:off x="9619488" y="1499616"/>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Model call</a:t>
            </a:r>
            <a:endParaRPr lang="en-US" sz="1400" dirty="0"/>
          </a:p>
        </p:txBody>
      </p:sp>
      <p:sp>
        <p:nvSpPr>
          <p:cNvPr id="30" name="Text 27"/>
          <p:cNvSpPr txBox="1"/>
          <p:nvPr/>
        </p:nvSpPr>
        <p:spPr>
          <a:xfrm>
            <a:off x="9125712" y="2066544"/>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A model that passed the evaluation suite returns Report 1 JSON or a short answer (F1, F2)</a:t>
            </a:r>
            <a:endParaRPr lang="en-US" sz="1250" dirty="0"/>
          </a:p>
        </p:txBody>
      </p:sp>
      <p:sp>
        <p:nvSpPr>
          <p:cNvPr id="31" name="Shape 28"/>
          <p:cNvSpPr/>
          <p:nvPr/>
        </p:nvSpPr>
        <p:spPr>
          <a:xfrm>
            <a:off x="457200" y="3858768"/>
            <a:ext cx="2697480" cy="2286000"/>
          </a:xfrm>
          <a:prstGeom prst="roundRect">
            <a:avLst>
              <a:gd name="adj" fmla="val 2800"/>
            </a:avLst>
          </a:prstGeom>
          <a:solidFill>
            <a:srgbClr val="1D242E"/>
          </a:solidFill>
          <a:ln w="15875">
            <a:solidFill>
              <a:srgbClr val="E2B54E"/>
            </a:solidFill>
            <a:prstDash val="solid"/>
          </a:ln>
        </p:spPr>
      </p:sp>
      <p:sp>
        <p:nvSpPr>
          <p:cNvPr id="32" name="Shape 29"/>
          <p:cNvSpPr/>
          <p:nvPr/>
        </p:nvSpPr>
        <p:spPr>
          <a:xfrm>
            <a:off x="585216" y="3986784"/>
            <a:ext cx="420624" cy="420624"/>
          </a:xfrm>
          <a:prstGeom prst="ellipse">
            <a:avLst/>
          </a:prstGeom>
          <a:solidFill>
            <a:srgbClr val="E2B54E"/>
          </a:solidFill>
          <a:ln w="15875">
            <a:solidFill>
              <a:srgbClr val="E2B54E"/>
            </a:solidFill>
            <a:prstDash val="solid"/>
          </a:ln>
        </p:spPr>
      </p:sp>
      <p:sp>
        <p:nvSpPr>
          <p:cNvPr id="33" name="Text 30"/>
          <p:cNvSpPr txBox="1"/>
          <p:nvPr/>
        </p:nvSpPr>
        <p:spPr>
          <a:xfrm>
            <a:off x="58521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5</a:t>
            </a:r>
            <a:endParaRPr lang="en-US" sz="1400" dirty="0"/>
          </a:p>
        </p:txBody>
      </p:sp>
      <p:sp>
        <p:nvSpPr>
          <p:cNvPr id="34" name="Text 31"/>
          <p:cNvSpPr txBox="1"/>
          <p:nvPr/>
        </p:nvSpPr>
        <p:spPr>
          <a:xfrm>
            <a:off x="111556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Check numbers</a:t>
            </a:r>
            <a:endParaRPr lang="en-US" sz="1400" dirty="0"/>
          </a:p>
        </p:txBody>
      </p:sp>
      <p:sp>
        <p:nvSpPr>
          <p:cNvPr id="35" name="Text 32"/>
          <p:cNvSpPr txBox="1"/>
          <p:nvPr/>
        </p:nvSpPr>
        <p:spPr>
          <a:xfrm>
            <a:off x="62179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Every literal price, distance, percentage and time matched to the context (D3)</a:t>
            </a:r>
            <a:endParaRPr lang="en-US" sz="1250" dirty="0"/>
          </a:p>
        </p:txBody>
      </p:sp>
      <p:sp>
        <p:nvSpPr>
          <p:cNvPr id="36" name="Shape 33"/>
          <p:cNvSpPr/>
          <p:nvPr/>
        </p:nvSpPr>
        <p:spPr>
          <a:xfrm>
            <a:off x="3172968" y="4197096"/>
            <a:ext cx="100584" cy="0"/>
          </a:xfrm>
          <a:prstGeom prst="line">
            <a:avLst/>
          </a:prstGeom>
          <a:noFill/>
          <a:ln w="15875">
            <a:solidFill>
              <a:srgbClr val="E2B54E"/>
            </a:solidFill>
            <a:prstDash val="solid"/>
            <a:tailEnd type="triangle"/>
          </a:ln>
        </p:spPr>
      </p:sp>
      <p:sp>
        <p:nvSpPr>
          <p:cNvPr id="37" name="Shape 34"/>
          <p:cNvSpPr/>
          <p:nvPr/>
        </p:nvSpPr>
        <p:spPr>
          <a:xfrm>
            <a:off x="3291840" y="3858768"/>
            <a:ext cx="2697480" cy="2286000"/>
          </a:xfrm>
          <a:prstGeom prst="roundRect">
            <a:avLst>
              <a:gd name="adj" fmla="val 2800"/>
            </a:avLst>
          </a:prstGeom>
          <a:solidFill>
            <a:srgbClr val="1D242E"/>
          </a:solidFill>
          <a:ln w="15875">
            <a:solidFill>
              <a:srgbClr val="E2B54E"/>
            </a:solidFill>
            <a:prstDash val="solid"/>
          </a:ln>
        </p:spPr>
      </p:sp>
      <p:sp>
        <p:nvSpPr>
          <p:cNvPr id="38" name="Shape 35"/>
          <p:cNvSpPr/>
          <p:nvPr/>
        </p:nvSpPr>
        <p:spPr>
          <a:xfrm>
            <a:off x="3419856" y="3986784"/>
            <a:ext cx="420624" cy="420624"/>
          </a:xfrm>
          <a:prstGeom prst="ellipse">
            <a:avLst/>
          </a:prstGeom>
          <a:solidFill>
            <a:srgbClr val="E2B54E"/>
          </a:solidFill>
          <a:ln w="15875">
            <a:solidFill>
              <a:srgbClr val="E2B54E"/>
            </a:solidFill>
            <a:prstDash val="solid"/>
          </a:ln>
        </p:spPr>
      </p:sp>
      <p:sp>
        <p:nvSpPr>
          <p:cNvPr id="39" name="Text 36"/>
          <p:cNvSpPr txBox="1"/>
          <p:nvPr/>
        </p:nvSpPr>
        <p:spPr>
          <a:xfrm>
            <a:off x="341985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6</a:t>
            </a:r>
            <a:endParaRPr lang="en-US" sz="1400" dirty="0"/>
          </a:p>
        </p:txBody>
      </p:sp>
      <p:sp>
        <p:nvSpPr>
          <p:cNvPr id="40" name="Text 37"/>
          <p:cNvSpPr txBox="1"/>
          <p:nvPr/>
        </p:nvSpPr>
        <p:spPr>
          <a:xfrm>
            <a:off x="395020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Check wording</a:t>
            </a:r>
            <a:endParaRPr lang="en-US" sz="1400" dirty="0"/>
          </a:p>
        </p:txBody>
      </p:sp>
      <p:sp>
        <p:nvSpPr>
          <p:cNvPr id="41" name="Text 38"/>
          <p:cNvSpPr txBox="1"/>
          <p:nvPr/>
        </p:nvSpPr>
        <p:spPr>
          <a:xfrm>
            <a:off x="345643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Phrase list in the user’s language; invalidation line present (F3)</a:t>
            </a:r>
            <a:endParaRPr lang="en-US" sz="1250" dirty="0"/>
          </a:p>
        </p:txBody>
      </p:sp>
      <p:sp>
        <p:nvSpPr>
          <p:cNvPr id="42" name="Shape 39"/>
          <p:cNvSpPr/>
          <p:nvPr/>
        </p:nvSpPr>
        <p:spPr>
          <a:xfrm>
            <a:off x="6007608" y="4197096"/>
            <a:ext cx="100584" cy="0"/>
          </a:xfrm>
          <a:prstGeom prst="line">
            <a:avLst/>
          </a:prstGeom>
          <a:noFill/>
          <a:ln w="15875">
            <a:solidFill>
              <a:srgbClr val="E2B54E"/>
            </a:solidFill>
            <a:prstDash val="solid"/>
            <a:tailEnd type="triangle"/>
          </a:ln>
        </p:spPr>
      </p:sp>
      <p:sp>
        <p:nvSpPr>
          <p:cNvPr id="43" name="Shape 40"/>
          <p:cNvSpPr/>
          <p:nvPr/>
        </p:nvSpPr>
        <p:spPr>
          <a:xfrm>
            <a:off x="6126480" y="3858768"/>
            <a:ext cx="2697480" cy="2286000"/>
          </a:xfrm>
          <a:prstGeom prst="roundRect">
            <a:avLst>
              <a:gd name="adj" fmla="val 2800"/>
            </a:avLst>
          </a:prstGeom>
          <a:solidFill>
            <a:srgbClr val="1D242E"/>
          </a:solidFill>
          <a:ln w="9525">
            <a:solidFill>
              <a:srgbClr val="323C49"/>
            </a:solidFill>
            <a:prstDash val="solid"/>
          </a:ln>
        </p:spPr>
      </p:sp>
      <p:sp>
        <p:nvSpPr>
          <p:cNvPr id="44" name="Shape 41"/>
          <p:cNvSpPr/>
          <p:nvPr/>
        </p:nvSpPr>
        <p:spPr>
          <a:xfrm>
            <a:off x="6254496" y="3986784"/>
            <a:ext cx="420624" cy="420624"/>
          </a:xfrm>
          <a:prstGeom prst="ellipse">
            <a:avLst/>
          </a:prstGeom>
          <a:solidFill>
            <a:srgbClr val="E2B54E"/>
          </a:solidFill>
          <a:ln w="15875">
            <a:solidFill>
              <a:srgbClr val="E2B54E"/>
            </a:solidFill>
            <a:prstDash val="solid"/>
          </a:ln>
        </p:spPr>
      </p:sp>
      <p:sp>
        <p:nvSpPr>
          <p:cNvPr id="45" name="Text 42"/>
          <p:cNvSpPr txBox="1"/>
          <p:nvPr/>
        </p:nvSpPr>
        <p:spPr>
          <a:xfrm>
            <a:off x="625449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7</a:t>
            </a:r>
            <a:endParaRPr lang="en-US" sz="1400" dirty="0"/>
          </a:p>
        </p:txBody>
      </p:sp>
      <p:sp>
        <p:nvSpPr>
          <p:cNvPr id="46" name="Text 43"/>
          <p:cNvSpPr txBox="1"/>
          <p:nvPr/>
        </p:nvSpPr>
        <p:spPr>
          <a:xfrm>
            <a:off x="678484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Render</a:t>
            </a:r>
            <a:endParaRPr lang="en-US" sz="1400" dirty="0"/>
          </a:p>
        </p:txBody>
      </p:sp>
      <p:sp>
        <p:nvSpPr>
          <p:cNvPr id="47" name="Text 44"/>
          <p:cNvSpPr txBox="1"/>
          <p:nvPr/>
        </p:nvSpPr>
        <p:spPr>
          <a:xfrm>
            <a:off x="629107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Values filled by id, data stamp and disclaimer added, in the user’s language</a:t>
            </a:r>
            <a:endParaRPr lang="en-US" sz="1250" dirty="0"/>
          </a:p>
        </p:txBody>
      </p:sp>
      <p:sp>
        <p:nvSpPr>
          <p:cNvPr id="48" name="Shape 45"/>
          <p:cNvSpPr/>
          <p:nvPr/>
        </p:nvSpPr>
        <p:spPr>
          <a:xfrm>
            <a:off x="8842248" y="4197096"/>
            <a:ext cx="100584" cy="0"/>
          </a:xfrm>
          <a:prstGeom prst="line">
            <a:avLst/>
          </a:prstGeom>
          <a:noFill/>
          <a:ln w="15875">
            <a:solidFill>
              <a:srgbClr val="E2B54E"/>
            </a:solidFill>
            <a:prstDash val="solid"/>
            <a:tailEnd type="triangle"/>
          </a:ln>
        </p:spPr>
      </p:sp>
      <p:sp>
        <p:nvSpPr>
          <p:cNvPr id="49" name="Shape 46"/>
          <p:cNvSpPr/>
          <p:nvPr/>
        </p:nvSpPr>
        <p:spPr>
          <a:xfrm>
            <a:off x="8961120" y="3858768"/>
            <a:ext cx="2697480" cy="2286000"/>
          </a:xfrm>
          <a:prstGeom prst="roundRect">
            <a:avLst>
              <a:gd name="adj" fmla="val 2800"/>
            </a:avLst>
          </a:prstGeom>
          <a:solidFill>
            <a:srgbClr val="1D242E"/>
          </a:solidFill>
          <a:ln w="9525">
            <a:solidFill>
              <a:srgbClr val="323C49"/>
            </a:solidFill>
            <a:prstDash val="solid"/>
          </a:ln>
        </p:spPr>
      </p:sp>
      <p:sp>
        <p:nvSpPr>
          <p:cNvPr id="50" name="Shape 47"/>
          <p:cNvSpPr/>
          <p:nvPr/>
        </p:nvSpPr>
        <p:spPr>
          <a:xfrm>
            <a:off x="9089136" y="3986784"/>
            <a:ext cx="420624" cy="420624"/>
          </a:xfrm>
          <a:prstGeom prst="ellipse">
            <a:avLst/>
          </a:prstGeom>
          <a:solidFill>
            <a:srgbClr val="E2B54E"/>
          </a:solidFill>
          <a:ln w="15875">
            <a:solidFill>
              <a:srgbClr val="E2B54E"/>
            </a:solidFill>
            <a:prstDash val="solid"/>
          </a:ln>
        </p:spPr>
      </p:sp>
      <p:sp>
        <p:nvSpPr>
          <p:cNvPr id="51" name="Text 48"/>
          <p:cNvSpPr txBox="1"/>
          <p:nvPr/>
        </p:nvSpPr>
        <p:spPr>
          <a:xfrm>
            <a:off x="9089136" y="3986784"/>
            <a:ext cx="420624" cy="420624"/>
          </a:xfrm>
          <a:prstGeom prst="rect">
            <a:avLst/>
          </a:prstGeom>
          <a:noFill/>
          <a:ln/>
        </p:spPr>
        <p:txBody>
          <a:bodyPr wrap="square" lIns="0" tIns="0" rIns="0" bIns="0" rtlCol="0" anchor="ctr"/>
          <a:lstStyle/>
          <a:p>
            <a:pPr algn="ctr" indent="0" marL="0">
              <a:buNone/>
            </a:pPr>
            <a:r>
              <a:rPr lang="en-US" sz="1400" b="1" dirty="0">
                <a:solidFill>
                  <a:srgbClr val="0F1318"/>
                </a:solidFill>
                <a:latin typeface="Cambria" pitchFamily="34" charset="0"/>
                <a:ea typeface="Cambria" pitchFamily="34" charset="-122"/>
                <a:cs typeface="Cambria" pitchFamily="34" charset="-120"/>
              </a:rPr>
              <a:t>8</a:t>
            </a:r>
            <a:endParaRPr lang="en-US" sz="1400" dirty="0"/>
          </a:p>
        </p:txBody>
      </p:sp>
      <p:sp>
        <p:nvSpPr>
          <p:cNvPr id="52" name="Text 49"/>
          <p:cNvSpPr txBox="1"/>
          <p:nvPr/>
        </p:nvSpPr>
        <p:spPr>
          <a:xfrm>
            <a:off x="9619488" y="3986784"/>
            <a:ext cx="1920240" cy="420624"/>
          </a:xfrm>
          <a:prstGeom prst="rect">
            <a:avLst/>
          </a:prstGeom>
          <a:noFill/>
          <a:ln/>
        </p:spPr>
        <p:txBody>
          <a:bodyPr wrap="square" lIns="0" tIns="0" rIns="0" bIns="0" rtlCol="0" anchor="ctr"/>
          <a:lstStyle/>
          <a:p>
            <a:pPr indent="0" marL="0">
              <a:buNone/>
            </a:pPr>
            <a:r>
              <a:rPr lang="en-US" sz="1400" b="1" dirty="0">
                <a:solidFill>
                  <a:srgbClr val="EEF1F4"/>
                </a:solidFill>
                <a:latin typeface="Calibri" pitchFamily="34" charset="0"/>
                <a:ea typeface="Calibri" pitchFamily="34" charset="-122"/>
                <a:cs typeface="Calibri" pitchFamily="34" charset="-120"/>
              </a:rPr>
              <a:t>Meter + trace</a:t>
            </a:r>
            <a:endParaRPr lang="en-US" sz="1400" dirty="0"/>
          </a:p>
        </p:txBody>
      </p:sp>
      <p:sp>
        <p:nvSpPr>
          <p:cNvPr id="53" name="Text 50"/>
          <p:cNvSpPr txBox="1"/>
          <p:nvPr/>
        </p:nvSpPr>
        <p:spPr>
          <a:xfrm>
            <a:off x="9125712" y="4553712"/>
            <a:ext cx="2395728" cy="1536192"/>
          </a:xfrm>
          <a:prstGeom prst="rect">
            <a:avLst/>
          </a:prstGeom>
          <a:noFill/>
          <a:ln/>
        </p:spPr>
        <p:txBody>
          <a:bodyPr wrap="square" lIns="0" tIns="0" rIns="0" bIns="0" rtlCol="0" anchor="t"/>
          <a:lstStyle/>
          <a:p>
            <a:pPr indent="0" marL="0">
              <a:buNone/>
            </a:pPr>
            <a:r>
              <a:rPr lang="en-US" sz="1250" dirty="0">
                <a:solidFill>
                  <a:srgbClr val="A3AEBB"/>
                </a:solidFill>
                <a:latin typeface="Calibri" pitchFamily="34" charset="0"/>
                <a:ea typeface="Calibri" pitchFamily="34" charset="-122"/>
                <a:cs typeface="Calibri" pitchFamily="34" charset="-120"/>
              </a:rPr>
              <a:t>Actual cost charged in units; trace and stage timings to Section 7</a:t>
            </a:r>
            <a:endParaRPr lang="en-US" sz="1250" dirty="0"/>
          </a:p>
        </p:txBody>
      </p:sp>
      <p:sp>
        <p:nvSpPr>
          <p:cNvPr id="54" name="Text 51"/>
          <p:cNvSpPr txBox="1"/>
          <p:nvPr/>
        </p:nvSpPr>
        <p:spPr>
          <a:xfrm>
            <a:off x="457200" y="6373368"/>
            <a:ext cx="10972800" cy="274320"/>
          </a:xfrm>
          <a:prstGeom prst="rect">
            <a:avLst/>
          </a:prstGeom>
          <a:noFill/>
          <a:ln/>
        </p:spPr>
        <p:txBody>
          <a:bodyPr wrap="square" lIns="0" tIns="0" rIns="0" bIns="0" rtlCol="0" anchor="t"/>
          <a:lstStyle/>
          <a:p>
            <a:pPr indent="0" marL="0">
              <a:buNone/>
            </a:pPr>
            <a:r>
              <a:rPr lang="en-US" sz="1000" dirty="0">
                <a:solidFill>
                  <a:srgbClr val="A3AEBB"/>
                </a:solidFill>
                <a:latin typeface="Calibri" pitchFamily="34" charset="0"/>
                <a:ea typeface="Calibri" pitchFamily="34" charset="-122"/>
                <a:cs typeface="Calibri" pitchFamily="34" charset="-120"/>
              </a:rPr>
              <a:t>Gold outline = new in this design. A failed check sends the reply back to step 4 once.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ANSWER GATE (D1)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each data status allows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2103120"/>
                <a:gridCol w="2743200"/>
                <a:gridCol w="2039112"/>
                <a:gridCol w="2377440"/>
                <a:gridCol w="2011680"/>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Data 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Direction and zones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Other questions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Chart sent to the model</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Report 2 (Section 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75488">
                <a:tc>
                  <a:txBody>
                    <a:bodyPr/>
                    <a:lstStyle/>
                    <a:p>
                      <a:pPr indent="0" marL="0">
                        <a:buNone/>
                      </a:pPr>
                      <a:r>
                        <a:rPr lang="en-US" sz="1150" b="1" dirty="0">
                          <a:solidFill>
                            <a:srgbClr val="5CC2B2"/>
                          </a:solidFill>
                          <a:latin typeface="Calibri" pitchFamily="34" charset="0"/>
                          <a:ea typeface="Calibri" pitchFamily="34" charset="-122"/>
                          <a:cs typeface="Calibri" pitchFamily="34" charset="-120"/>
                        </a:rPr>
                        <a:t>FRESH</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 if its cycle matches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Allowed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75488">
                <a:tc>
                  <a:txBody>
                    <a:bodyPr/>
                    <a:lstStyle/>
                    <a:p>
                      <a:pPr indent="0" marL="0">
                        <a:buNone/>
                      </a:pPr>
                      <a:r>
                        <a:rPr lang="en-US" sz="1150" b="1" dirty="0">
                          <a:solidFill>
                            <a:srgbClr val="F0A54A"/>
                          </a:solidFill>
                          <a:latin typeface="Calibri" pitchFamily="34" charset="0"/>
                          <a:ea typeface="Calibri" pitchFamily="34" charset="-122"/>
                          <a:cs typeface="Calibri" pitchFamily="34" charset="-120"/>
                        </a:rPr>
                        <a:t>DELAYED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 with the delay stated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 if its cycle matches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Allowed, delay stated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75488">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STALE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No: “data stopped at hh:mm”</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Explain and general only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75488">
                <a:tc>
                  <a:txBody>
                    <a:bodyPr/>
                    <a:lstStyle/>
                    <a:p>
                      <a:pPr indent="0" marL="0">
                        <a:buNone/>
                      </a:pPr>
                      <a:r>
                        <a:rPr lang="en-US" sz="1150" b="1" dirty="0">
                          <a:solidFill>
                            <a:srgbClr val="7FA8E8"/>
                          </a:solidFill>
                          <a:latin typeface="Calibri" pitchFamily="34" charset="0"/>
                          <a:ea typeface="Calibri" pitchFamily="34" charset="-122"/>
                          <a:cs typeface="Calibri" pitchFamily="34" charset="-120"/>
                        </a:rPr>
                        <a:t>MARKET CLOSED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Last session’s picture, labelled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Last session’s, labelled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50" b="1" dirty="0">
                          <a:solidFill>
                            <a:srgbClr val="E5746A"/>
                          </a:solidFill>
                          <a:latin typeface="Calibri" pitchFamily="34" charset="0"/>
                          <a:ea typeface="Calibri" pitchFamily="34" charset="-122"/>
                          <a:cs typeface="Calibri" pitchFamily="34" charset="-120"/>
                        </a:rPr>
                        <a:t>Blocked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75488">
                <a:tc>
                  <a:txBody>
                    <a:bodyPr/>
                    <a:lstStyle/>
                    <a:p>
                      <a:pPr indent="0" marL="0">
                        <a:buNone/>
                      </a:pPr>
                      <a:r>
                        <a:rPr lang="en-US" sz="1150" b="1" dirty="0">
                          <a:solidFill>
                            <a:srgbClr val="B7A3E0"/>
                          </a:solidFill>
                          <a:latin typeface="Calibri" pitchFamily="34" charset="0"/>
                          <a:ea typeface="Calibri" pitchFamily="34" charset="-122"/>
                          <a:cs typeface="Calibri" pitchFamily="34" charset="-120"/>
                        </a:rPr>
                        <a:t>RETUNING (proposed)</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 sensors CAUTIONARY</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Yes, if its cycle matches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Section 6 decides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9" name="Shape 5"/>
          <p:cNvSpPr/>
          <p:nvPr/>
        </p:nvSpPr>
        <p:spPr>
          <a:xfrm>
            <a:off x="457200" y="4315968"/>
            <a:ext cx="2697480" cy="1947672"/>
          </a:xfrm>
          <a:prstGeom prst="roundRect">
            <a:avLst>
              <a:gd name="adj" fmla="val 3286"/>
            </a:avLst>
          </a:prstGeom>
          <a:solidFill>
            <a:srgbClr val="1D242E"/>
          </a:solidFill>
          <a:ln w="9525">
            <a:solidFill>
              <a:srgbClr val="323C49"/>
            </a:solidFill>
            <a:prstDash val="solid"/>
          </a:ln>
        </p:spPr>
      </p:sp>
      <p:sp>
        <p:nvSpPr>
          <p:cNvPr id="10" name="Text 6"/>
          <p:cNvSpPr txBox="1"/>
          <p:nvPr/>
        </p:nvSpPr>
        <p:spPr>
          <a:xfrm>
            <a:off x="621792" y="4425696"/>
            <a:ext cx="237744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Chart from another cycle</a:t>
            </a:r>
            <a:endParaRPr lang="en-US" sz="1250" dirty="0"/>
          </a:p>
        </p:txBody>
      </p:sp>
      <p:sp>
        <p:nvSpPr>
          <p:cNvPr id="11" name="Text 7"/>
          <p:cNvSpPr txBox="1"/>
          <p:nvPr/>
        </p:nvSpPr>
        <p:spPr>
          <a:xfrm>
            <a:off x="621792" y="4974336"/>
            <a:ext cx="2395728" cy="123444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Dropped; the reply says the chart is missing rather than show another moment.</a:t>
            </a:r>
            <a:endParaRPr lang="en-US" sz="1150" dirty="0"/>
          </a:p>
        </p:txBody>
      </p:sp>
      <p:sp>
        <p:nvSpPr>
          <p:cNvPr id="12" name="Shape 8"/>
          <p:cNvSpPr/>
          <p:nvPr/>
        </p:nvSpPr>
        <p:spPr>
          <a:xfrm>
            <a:off x="3291840" y="4315968"/>
            <a:ext cx="2697480" cy="1947672"/>
          </a:xfrm>
          <a:prstGeom prst="roundRect">
            <a:avLst>
              <a:gd name="adj" fmla="val 3286"/>
            </a:avLst>
          </a:prstGeom>
          <a:solidFill>
            <a:srgbClr val="1D242E"/>
          </a:solidFill>
          <a:ln w="9525">
            <a:solidFill>
              <a:srgbClr val="323C49"/>
            </a:solidFill>
            <a:prstDash val="solid"/>
          </a:ln>
        </p:spPr>
      </p:sp>
      <p:sp>
        <p:nvSpPr>
          <p:cNvPr id="13" name="Text 9"/>
          <p:cNvSpPr txBox="1"/>
          <p:nvPr/>
        </p:nvSpPr>
        <p:spPr>
          <a:xfrm>
            <a:off x="3456432" y="4425696"/>
            <a:ext cx="237744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Sensor INVALID or STALE</a:t>
            </a:r>
            <a:endParaRPr lang="en-US" sz="1250" dirty="0"/>
          </a:p>
        </p:txBody>
      </p:sp>
      <p:sp>
        <p:nvSpPr>
          <p:cNvPr id="14" name="Text 10"/>
          <p:cNvSpPr txBox="1"/>
          <p:nvPr/>
        </p:nvSpPr>
        <p:spPr>
          <a:xfrm>
            <a:off x="3456432" y="4974336"/>
            <a:ext cx="2395728" cy="123444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Listed as unavailable on the board, never guessed (decision 040).</a:t>
            </a:r>
            <a:endParaRPr lang="en-US" sz="1150" dirty="0"/>
          </a:p>
        </p:txBody>
      </p:sp>
      <p:sp>
        <p:nvSpPr>
          <p:cNvPr id="15" name="Shape 11"/>
          <p:cNvSpPr/>
          <p:nvPr/>
        </p:nvSpPr>
        <p:spPr>
          <a:xfrm>
            <a:off x="6126480" y="4315968"/>
            <a:ext cx="2697480" cy="1947672"/>
          </a:xfrm>
          <a:prstGeom prst="roundRect">
            <a:avLst>
              <a:gd name="adj" fmla="val 3286"/>
            </a:avLst>
          </a:prstGeom>
          <a:solidFill>
            <a:srgbClr val="1D242E"/>
          </a:solidFill>
          <a:ln w="9525">
            <a:solidFill>
              <a:srgbClr val="323C49"/>
            </a:solidFill>
            <a:prstDash val="solid"/>
          </a:ln>
        </p:spPr>
      </p:sp>
      <p:sp>
        <p:nvSpPr>
          <p:cNvPr id="16" name="Text 12"/>
          <p:cNvSpPr txBox="1"/>
          <p:nvPr/>
        </p:nvSpPr>
        <p:spPr>
          <a:xfrm>
            <a:off x="6291072" y="4425696"/>
            <a:ext cx="2377440" cy="512064"/>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News calendar unavailable</a:t>
            </a:r>
            <a:endParaRPr lang="en-US" sz="1250" dirty="0"/>
          </a:p>
        </p:txBody>
      </p:sp>
      <p:sp>
        <p:nvSpPr>
          <p:cNvPr id="17" name="Text 13"/>
          <p:cNvSpPr txBox="1"/>
          <p:nvPr/>
        </p:nvSpPr>
        <p:spPr>
          <a:xfrm>
            <a:off x="6291072" y="4974336"/>
            <a:ext cx="2395728" cy="123444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Said out loud; an empty feed is never read as “no news” (D2).</a:t>
            </a:r>
            <a:endParaRPr lang="en-US" sz="1150" dirty="0"/>
          </a:p>
        </p:txBody>
      </p:sp>
      <p:sp>
        <p:nvSpPr>
          <p:cNvPr id="18" name="Shape 14"/>
          <p:cNvSpPr/>
          <p:nvPr/>
        </p:nvSpPr>
        <p:spPr>
          <a:xfrm>
            <a:off x="8961120" y="4315968"/>
            <a:ext cx="2697480" cy="1947672"/>
          </a:xfrm>
          <a:prstGeom prst="roundRect">
            <a:avLst>
              <a:gd name="adj" fmla="val 3286"/>
            </a:avLst>
          </a:prstGeom>
          <a:solidFill>
            <a:srgbClr val="1D242E"/>
          </a:solidFill>
          <a:ln w="15875">
            <a:solidFill>
              <a:srgbClr val="E2B54E"/>
            </a:solidFill>
            <a:prstDash val="solid"/>
          </a:ln>
        </p:spPr>
      </p:sp>
      <p:sp>
        <p:nvSpPr>
          <p:cNvPr id="19" name="Text 15"/>
          <p:cNvSpPr txBox="1"/>
          <p:nvPr/>
        </p:nvSpPr>
        <p:spPr>
          <a:xfrm>
            <a:off x="9125712" y="4425696"/>
            <a:ext cx="2377440" cy="512064"/>
          </a:xfrm>
          <a:prstGeom prst="rect">
            <a:avLst/>
          </a:prstGeom>
          <a:noFill/>
          <a:ln/>
        </p:spPr>
        <p:txBody>
          <a:bodyPr wrap="square" lIns="0" tIns="0" rIns="0" bIns="0" rtlCol="0" anchor="ctr"/>
          <a:lstStyle/>
          <a:p>
            <a:pPr indent="0" marL="0">
              <a:buNone/>
            </a:pPr>
            <a:r>
              <a:rPr lang="en-US" sz="1250" b="1" dirty="0">
                <a:solidFill>
                  <a:srgbClr val="E2B54E"/>
                </a:solidFill>
                <a:latin typeface="Calibri" pitchFamily="34" charset="0"/>
                <a:ea typeface="Calibri" pitchFamily="34" charset="-122"/>
                <a:cs typeface="Calibri" pitchFamily="34" charset="-120"/>
              </a:rPr>
              <a:t>Every reply</a:t>
            </a:r>
            <a:endParaRPr lang="en-US" sz="1250" dirty="0"/>
          </a:p>
        </p:txBody>
      </p:sp>
      <p:sp>
        <p:nvSpPr>
          <p:cNvPr id="20" name="Text 16"/>
          <p:cNvSpPr txBox="1"/>
          <p:nvPr/>
        </p:nvSpPr>
        <p:spPr>
          <a:xfrm>
            <a:off x="9125712" y="4974336"/>
            <a:ext cx="2395728" cy="123444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Stamped “data as of 20:55 UTC” in the user’s language.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CONTEXT BUDGET (C1)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component has a cap and a place in the cut order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74552" cy="914400"/>
        </p:xfrm>
        <a:graphic>
          <a:graphicData uri="http://schemas.openxmlformats.org/drawingml/2006/table">
            <a:tbl>
              <a:tblPr/>
              <a:tblGrid>
                <a:gridCol w="3017520"/>
                <a:gridCol w="1005840"/>
                <a:gridCol w="2240280"/>
                <a:gridCol w="4206240"/>
                <a:gridCol w="804672"/>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Component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r" indent="0" marL="0">
                        <a:buNone/>
                      </a:pPr>
                      <a:r>
                        <a:rPr lang="en-US" sz="1050" b="1" dirty="0">
                          <a:solidFill>
                            <a:srgbClr val="E2B54E"/>
                          </a:solidFill>
                          <a:latin typeface="Calibri" pitchFamily="34" charset="0"/>
                          <a:ea typeface="Calibri" pitchFamily="34" charset="-122"/>
                          <a:cs typeface="Calibri" pitchFamily="34" charset="-120"/>
                        </a:rPr>
                        <a:t>Cap</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Where it sits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When over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Cut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System rules + wording guide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1,500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Static prefix, cached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Never cut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Sensor board + synthesis line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800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Cycle block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Never cut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OHLC, 1 day, compact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8,000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Cycle block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Summary mode, ≈ 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Chart image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 1,500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After the cycle block</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Dropped only by the gate or tier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Readings for M* + zones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This user’s part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Details dropped; warnings kept in full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Knowledge chunks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2,000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This user’s part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Expansions, then chunk 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Profile + upcoming events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This user’s part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Never cut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Chat history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1,500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This user’s part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Older turns become a summary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Question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300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This user’s part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Never cut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384048">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Answer (max output)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1,500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The schema keeps it short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6E7A88"/>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384048">
                <a:tc>
                  <a:txBody>
                    <a:bodyPr/>
                    <a:lstStyle/>
                    <a:p>
                      <a:pPr indent="0" marL="0">
                        <a:buNone/>
                      </a:pPr>
                      <a:r>
                        <a:rPr lang="en-US" sz="1100" b="1" dirty="0">
                          <a:solidFill>
                            <a:srgbClr val="E2B54E"/>
                          </a:solidFill>
                          <a:latin typeface="Calibri" pitchFamily="34" charset="0"/>
                          <a:ea typeface="Calibri" pitchFamily="34" charset="-122"/>
                          <a:cs typeface="Calibri" pitchFamily="34" charset="-120"/>
                        </a:rPr>
                        <a:t>Total at every cap</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b="1" dirty="0">
                          <a:solidFill>
                            <a:srgbClr val="E2B54E"/>
                          </a:solidFill>
                          <a:latin typeface="Calibri" pitchFamily="34" charset="0"/>
                          <a:ea typeface="Calibri" pitchFamily="34" charset="-122"/>
                          <a:cs typeface="Calibri" pitchFamily="34" charset="-120"/>
                        </a:rPr>
                        <a:t>19,600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gridSpan="3">
                  <a:txBody>
                    <a:bodyPr/>
                    <a:lstStyle/>
                    <a:p>
                      <a:pPr indent="0" marL="0">
                        <a:buNone/>
                      </a:pPr>
                      <a:r>
                        <a:rPr lang="en-US" sz="1100" dirty="0">
                          <a:solidFill>
                            <a:srgbClr val="EEF1F4"/>
                          </a:solidFill>
                          <a:latin typeface="Calibri" pitchFamily="34" charset="0"/>
                          <a:ea typeface="Calibri" pitchFamily="34" charset="-122"/>
                          <a:cs typeface="Calibri" pitchFamily="34" charset="-120"/>
                        </a:rPr>
                        <a:t>Typical first message ≈ 16,000–18,000; follow-ups far less (slide 14)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hMerge="1">
                  <a:tcPr/>
                </a:tc>
                <a:tc hMerge="1">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1-DAY OHLC (C1)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Your 1-day OHLC decision, in a compact form</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8</a:t>
            </a:r>
            <a:endParaRPr lang="en-US" sz="1000" dirty="0"/>
          </a:p>
        </p:txBody>
      </p:sp>
      <p:sp>
        <p:nvSpPr>
          <p:cNvPr id="8" name="Shape 5"/>
          <p:cNvSpPr/>
          <p:nvPr/>
        </p:nvSpPr>
        <p:spPr>
          <a:xfrm>
            <a:off x="457200" y="1325880"/>
            <a:ext cx="640080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603504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ILLUSTRATIVE BLOCK · 18 SEP 20:55 CYCLE</a:t>
            </a:r>
            <a:endParaRPr lang="en-US" sz="950" dirty="0"/>
          </a:p>
        </p:txBody>
      </p:sp>
      <p:sp>
        <p:nvSpPr>
          <p:cNvPr id="10" name="Text 7"/>
          <p:cNvSpPr txBox="1"/>
          <p:nvPr/>
        </p:nvSpPr>
        <p:spPr>
          <a:xfrm>
            <a:off x="640080" y="1755648"/>
            <a:ext cx="6126480" cy="4480560"/>
          </a:xfrm>
          <a:prstGeom prst="rect">
            <a:avLst/>
          </a:prstGeom>
          <a:noFill/>
          <a:ln/>
        </p:spPr>
        <p:txBody>
          <a:bodyPr wrap="square" lIns="0" tIns="0" rIns="0" bIns="0" rtlCol="0" anchor="t"/>
          <a:lstStyle/>
          <a:p>
            <a:pPr indent="0" marL="0">
              <a:buNone/>
            </a:pPr>
            <a:r>
              <a:rPr lang="en-US" sz="1100" dirty="0">
                <a:solidFill>
                  <a:srgbClr val="EEF1F4"/>
                </a:solidFill>
                <a:latin typeface="Courier New" pitchFamily="34" charset="0"/>
                <a:ea typeface="Courier New" pitchFamily="34" charset="-122"/>
                <a:cs typeface="Courier New" pitchFamily="34" charset="-120"/>
              </a:rPr>
              <a:t>DATA AS OF 18 SEP 20:55 UTC · XAUUSD · CLOSED BARS</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DAY  open 4331.40  high 4391.20  low 4318.75</a:t>
            </a:r>
            <a:endParaRPr lang="en-US" sz="1100" dirty="0"/>
          </a:p>
          <a:p>
            <a:pPr indent="0" marL="0">
              <a:buNone/>
            </a:pP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M5 · 288 bars · from 17 Sep 19:55 · step 5 min</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o h l c</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4331.40 4333.15 4330.60 4332.85</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4332.85 4334.10 4332.20 4333.70</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 market break 17 Sep 21:00 to 22:00 --</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4376.20 4378.05 4375.90 4377.10</a:t>
            </a:r>
            <a:endParaRPr lang="en-US" sz="1100" dirty="0"/>
          </a:p>
          <a:p>
            <a:pPr indent="0" marL="0">
              <a:buNone/>
            </a:pP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M15 · 96 bars · same day · step 15 min</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EF1F4"/>
                </a:solidFill>
                <a:latin typeface="Courier New" pitchFamily="34" charset="0"/>
                <a:ea typeface="Courier New" pitchFamily="34" charset="-122"/>
                <a:cs typeface="Courier New" pitchFamily="34" charset="-120"/>
              </a:rPr>
              <a:t>LAST PRICE 4377.99 at 20:55:05 (forming, not a close)</a:t>
            </a:r>
            <a:endParaRPr lang="en-US" sz="1100" dirty="0"/>
          </a:p>
        </p:txBody>
      </p:sp>
      <p:sp>
        <p:nvSpPr>
          <p:cNvPr id="11" name="Text 8"/>
          <p:cNvSpPr txBox="1"/>
          <p:nvPr/>
        </p:nvSpPr>
        <p:spPr>
          <a:xfrm>
            <a:off x="7132320" y="1325880"/>
            <a:ext cx="45720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MEASURED SIZE · 288 M5 + 96 M15 BARS</a:t>
            </a:r>
            <a:endParaRPr lang="en-US" sz="950" dirty="0"/>
          </a:p>
        </p:txBody>
      </p:sp>
      <p:sp>
        <p:nvSpPr>
          <p:cNvPr id="12" name="Text 9"/>
          <p:cNvSpPr txBox="1"/>
          <p:nvPr/>
        </p:nvSpPr>
        <p:spPr>
          <a:xfrm>
            <a:off x="7132320" y="1691640"/>
            <a:ext cx="3017520" cy="23774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JSON, timestamp per bar</a:t>
            </a:r>
            <a:endParaRPr lang="en-US" sz="1100" dirty="0"/>
          </a:p>
        </p:txBody>
      </p:sp>
      <p:sp>
        <p:nvSpPr>
          <p:cNvPr id="13" name="Text 10"/>
          <p:cNvSpPr txBox="1"/>
          <p:nvPr/>
        </p:nvSpPr>
        <p:spPr>
          <a:xfrm>
            <a:off x="10149840" y="1691640"/>
            <a:ext cx="1554480" cy="237744"/>
          </a:xfrm>
          <a:prstGeom prst="rect">
            <a:avLst/>
          </a:prstGeom>
          <a:noFill/>
          <a:ln/>
        </p:spPr>
        <p:txBody>
          <a:bodyPr wrap="square" lIns="0" tIns="0" rIns="0" bIns="0" rtlCol="0" anchor="t"/>
          <a:lstStyle/>
          <a:p>
            <a:pPr algn="r" indent="0" marL="0">
              <a:buNone/>
            </a:pPr>
            <a:r>
              <a:rPr lang="en-US" sz="1100" b="1" dirty="0">
                <a:solidFill>
                  <a:srgbClr val="E5746A"/>
                </a:solidFill>
                <a:latin typeface="Calibri" pitchFamily="34" charset="0"/>
                <a:ea typeface="Calibri" pitchFamily="34" charset="-122"/>
                <a:cs typeface="Calibri" pitchFamily="34" charset="-120"/>
              </a:rPr>
              <a:t>≈ 16,900</a:t>
            </a:r>
            <a:endParaRPr lang="en-US" sz="1100" dirty="0"/>
          </a:p>
        </p:txBody>
      </p:sp>
      <p:sp>
        <p:nvSpPr>
          <p:cNvPr id="14" name="Shape 11"/>
          <p:cNvSpPr/>
          <p:nvPr/>
        </p:nvSpPr>
        <p:spPr>
          <a:xfrm>
            <a:off x="7132320" y="1965960"/>
            <a:ext cx="4572000" cy="164592"/>
          </a:xfrm>
          <a:prstGeom prst="roundRect">
            <a:avLst>
              <a:gd name="adj" fmla="val 16667"/>
            </a:avLst>
          </a:prstGeom>
          <a:solidFill>
            <a:srgbClr val="1D242E"/>
          </a:solidFill>
          <a:ln w="9525">
            <a:solidFill>
              <a:srgbClr val="1D242E"/>
            </a:solidFill>
            <a:prstDash val="solid"/>
          </a:ln>
        </p:spPr>
      </p:sp>
      <p:sp>
        <p:nvSpPr>
          <p:cNvPr id="15" name="Shape 12"/>
          <p:cNvSpPr/>
          <p:nvPr/>
        </p:nvSpPr>
        <p:spPr>
          <a:xfrm>
            <a:off x="7132320" y="1965960"/>
            <a:ext cx="4545106" cy="164592"/>
          </a:xfrm>
          <a:prstGeom prst="roundRect">
            <a:avLst>
              <a:gd name="adj" fmla="val 16667"/>
            </a:avLst>
          </a:prstGeom>
          <a:solidFill>
            <a:srgbClr val="E5746A"/>
          </a:solidFill>
          <a:ln w="9525">
            <a:solidFill>
              <a:srgbClr val="E5746A"/>
            </a:solidFill>
            <a:prstDash val="solid"/>
          </a:ln>
        </p:spPr>
      </p:sp>
      <p:sp>
        <p:nvSpPr>
          <p:cNvPr id="16" name="Text 13"/>
          <p:cNvSpPr txBox="1"/>
          <p:nvPr/>
        </p:nvSpPr>
        <p:spPr>
          <a:xfrm>
            <a:off x="7132320" y="2295144"/>
            <a:ext cx="3017520" cy="23774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CSV, timestamp per bar</a:t>
            </a:r>
            <a:endParaRPr lang="en-US" sz="1100" dirty="0"/>
          </a:p>
        </p:txBody>
      </p:sp>
      <p:sp>
        <p:nvSpPr>
          <p:cNvPr id="17" name="Text 14"/>
          <p:cNvSpPr txBox="1"/>
          <p:nvPr/>
        </p:nvSpPr>
        <p:spPr>
          <a:xfrm>
            <a:off x="10149840" y="2295144"/>
            <a:ext cx="1554480" cy="237744"/>
          </a:xfrm>
          <a:prstGeom prst="rect">
            <a:avLst/>
          </a:prstGeom>
          <a:noFill/>
          <a:ln/>
        </p:spPr>
        <p:txBody>
          <a:bodyPr wrap="square" lIns="0" tIns="0" rIns="0" bIns="0" rtlCol="0" anchor="t"/>
          <a:lstStyle/>
          <a:p>
            <a:pPr algn="r" indent="0" marL="0">
              <a:buNone/>
            </a:pPr>
            <a:r>
              <a:rPr lang="en-US" sz="1100" b="1" dirty="0">
                <a:solidFill>
                  <a:srgbClr val="F0A54A"/>
                </a:solidFill>
                <a:latin typeface="Calibri" pitchFamily="34" charset="0"/>
                <a:ea typeface="Calibri" pitchFamily="34" charset="-122"/>
                <a:cs typeface="Calibri" pitchFamily="34" charset="-120"/>
              </a:rPr>
              <a:t>≈ 13,100</a:t>
            </a:r>
            <a:endParaRPr lang="en-US" sz="1100" dirty="0"/>
          </a:p>
        </p:txBody>
      </p:sp>
      <p:sp>
        <p:nvSpPr>
          <p:cNvPr id="18" name="Shape 15"/>
          <p:cNvSpPr/>
          <p:nvPr/>
        </p:nvSpPr>
        <p:spPr>
          <a:xfrm>
            <a:off x="7132320" y="2569464"/>
            <a:ext cx="4572000" cy="164592"/>
          </a:xfrm>
          <a:prstGeom prst="roundRect">
            <a:avLst>
              <a:gd name="adj" fmla="val 16667"/>
            </a:avLst>
          </a:prstGeom>
          <a:solidFill>
            <a:srgbClr val="1D242E"/>
          </a:solidFill>
          <a:ln w="9525">
            <a:solidFill>
              <a:srgbClr val="1D242E"/>
            </a:solidFill>
            <a:prstDash val="solid"/>
          </a:ln>
        </p:spPr>
      </p:sp>
      <p:sp>
        <p:nvSpPr>
          <p:cNvPr id="19" name="Shape 16"/>
          <p:cNvSpPr/>
          <p:nvPr/>
        </p:nvSpPr>
        <p:spPr>
          <a:xfrm>
            <a:off x="7132320" y="2569464"/>
            <a:ext cx="3523129" cy="164592"/>
          </a:xfrm>
          <a:prstGeom prst="roundRect">
            <a:avLst>
              <a:gd name="adj" fmla="val 16667"/>
            </a:avLst>
          </a:prstGeom>
          <a:solidFill>
            <a:srgbClr val="F0A54A"/>
          </a:solidFill>
          <a:ln w="9525">
            <a:solidFill>
              <a:srgbClr val="F0A54A"/>
            </a:solidFill>
            <a:prstDash val="solid"/>
          </a:ln>
        </p:spPr>
      </p:sp>
      <p:sp>
        <p:nvSpPr>
          <p:cNvPr id="20" name="Text 17"/>
          <p:cNvSpPr txBox="1"/>
          <p:nvPr/>
        </p:nvSpPr>
        <p:spPr>
          <a:xfrm>
            <a:off x="7132320" y="2898648"/>
            <a:ext cx="3017520" cy="23774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Compact (this form)</a:t>
            </a:r>
            <a:endParaRPr lang="en-US" sz="1100" dirty="0"/>
          </a:p>
        </p:txBody>
      </p:sp>
      <p:sp>
        <p:nvSpPr>
          <p:cNvPr id="21" name="Text 18"/>
          <p:cNvSpPr txBox="1"/>
          <p:nvPr/>
        </p:nvSpPr>
        <p:spPr>
          <a:xfrm>
            <a:off x="10149840" y="2898648"/>
            <a:ext cx="1554480" cy="237744"/>
          </a:xfrm>
          <a:prstGeom prst="rect">
            <a:avLst/>
          </a:prstGeom>
          <a:noFill/>
          <a:ln/>
        </p:spPr>
        <p:txBody>
          <a:bodyPr wrap="square" lIns="0" tIns="0" rIns="0" bIns="0" rtlCol="0" anchor="t"/>
          <a:lstStyle/>
          <a:p>
            <a:pPr algn="r" indent="0" marL="0">
              <a:buNone/>
            </a:pPr>
            <a:r>
              <a:rPr lang="en-US" sz="1100" b="1" dirty="0">
                <a:solidFill>
                  <a:srgbClr val="E2B54E"/>
                </a:solidFill>
                <a:latin typeface="Calibri" pitchFamily="34" charset="0"/>
                <a:ea typeface="Calibri" pitchFamily="34" charset="-122"/>
                <a:cs typeface="Calibri" pitchFamily="34" charset="-120"/>
              </a:rPr>
              <a:t>≈ 7,700</a:t>
            </a:r>
            <a:endParaRPr lang="en-US" sz="1100" dirty="0"/>
          </a:p>
        </p:txBody>
      </p:sp>
      <p:sp>
        <p:nvSpPr>
          <p:cNvPr id="22" name="Shape 19"/>
          <p:cNvSpPr/>
          <p:nvPr/>
        </p:nvSpPr>
        <p:spPr>
          <a:xfrm>
            <a:off x="7132320" y="3172968"/>
            <a:ext cx="4572000" cy="164592"/>
          </a:xfrm>
          <a:prstGeom prst="roundRect">
            <a:avLst>
              <a:gd name="adj" fmla="val 16667"/>
            </a:avLst>
          </a:prstGeom>
          <a:solidFill>
            <a:srgbClr val="1D242E"/>
          </a:solidFill>
          <a:ln w="9525">
            <a:solidFill>
              <a:srgbClr val="1D242E"/>
            </a:solidFill>
            <a:prstDash val="solid"/>
          </a:ln>
        </p:spPr>
      </p:sp>
      <p:sp>
        <p:nvSpPr>
          <p:cNvPr id="23" name="Shape 20"/>
          <p:cNvSpPr/>
          <p:nvPr/>
        </p:nvSpPr>
        <p:spPr>
          <a:xfrm>
            <a:off x="7132320" y="3172968"/>
            <a:ext cx="2070847" cy="164592"/>
          </a:xfrm>
          <a:prstGeom prst="roundRect">
            <a:avLst>
              <a:gd name="adj" fmla="val 16667"/>
            </a:avLst>
          </a:prstGeom>
          <a:solidFill>
            <a:srgbClr val="E2B54E"/>
          </a:solidFill>
          <a:ln w="9525">
            <a:solidFill>
              <a:srgbClr val="E2B54E"/>
            </a:solidFill>
            <a:prstDash val="solid"/>
          </a:ln>
        </p:spPr>
      </p:sp>
      <p:sp>
        <p:nvSpPr>
          <p:cNvPr id="24" name="Text 21"/>
          <p:cNvSpPr txBox="1"/>
          <p:nvPr/>
        </p:nvSpPr>
        <p:spPr>
          <a:xfrm>
            <a:off x="7132320" y="3502152"/>
            <a:ext cx="3017520" cy="237744"/>
          </a:xfrm>
          <a:prstGeom prst="rect">
            <a:avLst/>
          </a:prstGeom>
          <a:noFill/>
          <a:ln/>
        </p:spPr>
        <p:txBody>
          <a:bodyPr wrap="square" lIns="0" tIns="0" rIns="0" bIns="0" rtlCol="0" anchor="t"/>
          <a:lstStyle/>
          <a:p>
            <a:pPr indent="0" marL="0">
              <a:buNone/>
            </a:pPr>
            <a:r>
              <a:rPr lang="en-US" sz="1100" dirty="0">
                <a:solidFill>
                  <a:srgbClr val="EEF1F4"/>
                </a:solidFill>
                <a:latin typeface="Calibri" pitchFamily="34" charset="0"/>
                <a:ea typeface="Calibri" pitchFamily="34" charset="-122"/>
                <a:cs typeface="Calibri" pitchFamily="34" charset="-120"/>
              </a:rPr>
              <a:t>Summary mode</a:t>
            </a:r>
            <a:endParaRPr lang="en-US" sz="1100" dirty="0"/>
          </a:p>
        </p:txBody>
      </p:sp>
      <p:sp>
        <p:nvSpPr>
          <p:cNvPr id="25" name="Text 22"/>
          <p:cNvSpPr txBox="1"/>
          <p:nvPr/>
        </p:nvSpPr>
        <p:spPr>
          <a:xfrm>
            <a:off x="10149840" y="3502152"/>
            <a:ext cx="1554480" cy="237744"/>
          </a:xfrm>
          <a:prstGeom prst="rect">
            <a:avLst/>
          </a:prstGeom>
          <a:noFill/>
          <a:ln/>
        </p:spPr>
        <p:txBody>
          <a:bodyPr wrap="square" lIns="0" tIns="0" rIns="0" bIns="0" rtlCol="0" anchor="t"/>
          <a:lstStyle/>
          <a:p>
            <a:pPr algn="r" indent="0" marL="0">
              <a:buNone/>
            </a:pPr>
            <a:r>
              <a:rPr lang="en-US" sz="1100" b="1" dirty="0">
                <a:solidFill>
                  <a:srgbClr val="5CC2B2"/>
                </a:solidFill>
                <a:latin typeface="Calibri" pitchFamily="34" charset="0"/>
                <a:ea typeface="Calibri" pitchFamily="34" charset="-122"/>
                <a:cs typeface="Calibri" pitchFamily="34" charset="-120"/>
              </a:rPr>
              <a:t>≈ 460</a:t>
            </a:r>
            <a:endParaRPr lang="en-US" sz="1100" dirty="0"/>
          </a:p>
        </p:txBody>
      </p:sp>
      <p:sp>
        <p:nvSpPr>
          <p:cNvPr id="26" name="Shape 23"/>
          <p:cNvSpPr/>
          <p:nvPr/>
        </p:nvSpPr>
        <p:spPr>
          <a:xfrm>
            <a:off x="7132320" y="3776472"/>
            <a:ext cx="4572000" cy="164592"/>
          </a:xfrm>
          <a:prstGeom prst="roundRect">
            <a:avLst>
              <a:gd name="adj" fmla="val 16667"/>
            </a:avLst>
          </a:prstGeom>
          <a:solidFill>
            <a:srgbClr val="1D242E"/>
          </a:solidFill>
          <a:ln w="9525">
            <a:solidFill>
              <a:srgbClr val="1D242E"/>
            </a:solidFill>
            <a:prstDash val="solid"/>
          </a:ln>
        </p:spPr>
      </p:sp>
      <p:sp>
        <p:nvSpPr>
          <p:cNvPr id="27" name="Shape 24"/>
          <p:cNvSpPr/>
          <p:nvPr/>
        </p:nvSpPr>
        <p:spPr>
          <a:xfrm>
            <a:off x="7132320" y="3776472"/>
            <a:ext cx="123713" cy="164592"/>
          </a:xfrm>
          <a:prstGeom prst="roundRect">
            <a:avLst>
              <a:gd name="adj" fmla="val 22174"/>
            </a:avLst>
          </a:prstGeom>
          <a:solidFill>
            <a:srgbClr val="5CC2B2"/>
          </a:solidFill>
          <a:ln w="9525">
            <a:solidFill>
              <a:srgbClr val="5CC2B2"/>
            </a:solidFill>
            <a:prstDash val="solid"/>
          </a:ln>
        </p:spPr>
      </p:sp>
      <p:sp>
        <p:nvSpPr>
          <p:cNvPr id="28" name="Shape 25"/>
          <p:cNvSpPr/>
          <p:nvPr/>
        </p:nvSpPr>
        <p:spPr>
          <a:xfrm>
            <a:off x="7132320" y="4315968"/>
            <a:ext cx="100584" cy="100584"/>
          </a:xfrm>
          <a:prstGeom prst="ellipse">
            <a:avLst/>
          </a:prstGeom>
          <a:solidFill>
            <a:srgbClr val="E2B54E"/>
          </a:solidFill>
          <a:ln w="12700">
            <a:solidFill>
              <a:srgbClr val="E2B54E"/>
            </a:solidFill>
            <a:prstDash val="solid"/>
          </a:ln>
        </p:spPr>
      </p:sp>
      <p:sp>
        <p:nvSpPr>
          <p:cNvPr id="29" name="Text 26"/>
          <p:cNvSpPr txBox="1"/>
          <p:nvPr/>
        </p:nvSpPr>
        <p:spPr>
          <a:xfrm>
            <a:off x="7333488" y="4224528"/>
            <a:ext cx="4389120" cy="475488"/>
          </a:xfrm>
          <a:prstGeom prst="rect">
            <a:avLst/>
          </a:prstGeom>
          <a:noFill/>
          <a:ln/>
        </p:spPr>
        <p:txBody>
          <a:bodyPr wrap="square" lIns="0" tIns="0" rIns="0" bIns="0" rtlCol="0" anchor="t"/>
          <a:lstStyle/>
          <a:p>
            <a:pPr indent="0" marL="0">
              <a:buNone/>
            </a:pPr>
            <a:r>
              <a:rPr lang="en-US" sz="1100" b="1" dirty="0">
                <a:solidFill>
                  <a:srgbClr val="EEF1F4"/>
                </a:solidFill>
                <a:latin typeface="Calibri" pitchFamily="34" charset="0"/>
                <a:ea typeface="Calibri" pitchFamily="34" charset="-122"/>
                <a:cs typeface="Calibri" pitchFamily="34" charset="-120"/>
              </a:rPr>
              <a:t>One header per timeframe  </a:t>
            </a:r>
            <a:pPr indent="0" marL="0">
              <a:buNone/>
            </a:pPr>
            <a:r>
              <a:rPr lang="en-US" sz="1100" dirty="0">
                <a:solidFill>
                  <a:srgbClr val="A3AEBB"/>
                </a:solidFill>
                <a:latin typeface="Calibri" pitchFamily="34" charset="0"/>
                <a:ea typeface="Calibri" pitchFamily="34" charset="-122"/>
                <a:cs typeface="Calibri" pitchFamily="34" charset="-120"/>
              </a:rPr>
              <a:t>start and step instead of a time on every bar</a:t>
            </a:r>
            <a:endParaRPr lang="en-US" sz="1100" dirty="0"/>
          </a:p>
        </p:txBody>
      </p:sp>
      <p:sp>
        <p:nvSpPr>
          <p:cNvPr id="30" name="Shape 27"/>
          <p:cNvSpPr/>
          <p:nvPr/>
        </p:nvSpPr>
        <p:spPr>
          <a:xfrm>
            <a:off x="7132320" y="4828032"/>
            <a:ext cx="100584" cy="100584"/>
          </a:xfrm>
          <a:prstGeom prst="ellipse">
            <a:avLst/>
          </a:prstGeom>
          <a:solidFill>
            <a:srgbClr val="E2B54E"/>
          </a:solidFill>
          <a:ln w="12700">
            <a:solidFill>
              <a:srgbClr val="E2B54E"/>
            </a:solidFill>
            <a:prstDash val="solid"/>
          </a:ln>
        </p:spPr>
      </p:sp>
      <p:sp>
        <p:nvSpPr>
          <p:cNvPr id="31" name="Text 28"/>
          <p:cNvSpPr txBox="1"/>
          <p:nvPr/>
        </p:nvSpPr>
        <p:spPr>
          <a:xfrm>
            <a:off x="7333488" y="4736592"/>
            <a:ext cx="4389120" cy="475488"/>
          </a:xfrm>
          <a:prstGeom prst="rect">
            <a:avLst/>
          </a:prstGeom>
          <a:noFill/>
          <a:ln/>
        </p:spPr>
        <p:txBody>
          <a:bodyPr wrap="square" lIns="0" tIns="0" rIns="0" bIns="0" rtlCol="0" anchor="t"/>
          <a:lstStyle/>
          <a:p>
            <a:pPr indent="0" marL="0">
              <a:buNone/>
            </a:pPr>
            <a:r>
              <a:rPr lang="en-US" sz="1100" b="1" dirty="0">
                <a:solidFill>
                  <a:srgbClr val="EEF1F4"/>
                </a:solidFill>
                <a:latin typeface="Calibri" pitchFamily="34" charset="0"/>
                <a:ea typeface="Calibri" pitchFamily="34" charset="-122"/>
                <a:cs typeface="Calibri" pitchFamily="34" charset="-120"/>
              </a:rPr>
              <a:t>Gap lines  </a:t>
            </a:r>
            <a:pPr indent="0" marL="0">
              <a:buNone/>
            </a:pPr>
            <a:r>
              <a:rPr lang="en-US" sz="1100" dirty="0">
                <a:solidFill>
                  <a:srgbClr val="A3AEBB"/>
                </a:solidFill>
                <a:latin typeface="Calibri" pitchFamily="34" charset="0"/>
                <a:ea typeface="Calibri" pitchFamily="34" charset="-122"/>
                <a:cs typeface="Calibri" pitchFamily="34" charset="-120"/>
              </a:rPr>
              <a:t>market breaks are marked, so time stays exact</a:t>
            </a:r>
            <a:endParaRPr lang="en-US" sz="1100" dirty="0"/>
          </a:p>
        </p:txBody>
      </p:sp>
      <p:sp>
        <p:nvSpPr>
          <p:cNvPr id="32" name="Shape 29"/>
          <p:cNvSpPr/>
          <p:nvPr/>
        </p:nvSpPr>
        <p:spPr>
          <a:xfrm>
            <a:off x="7132320" y="5340096"/>
            <a:ext cx="100584" cy="100584"/>
          </a:xfrm>
          <a:prstGeom prst="ellipse">
            <a:avLst/>
          </a:prstGeom>
          <a:solidFill>
            <a:srgbClr val="E2B54E"/>
          </a:solidFill>
          <a:ln w="12700">
            <a:solidFill>
              <a:srgbClr val="E2B54E"/>
            </a:solidFill>
            <a:prstDash val="solid"/>
          </a:ln>
        </p:spPr>
      </p:sp>
      <p:sp>
        <p:nvSpPr>
          <p:cNvPr id="33" name="Text 30"/>
          <p:cNvSpPr txBox="1"/>
          <p:nvPr/>
        </p:nvSpPr>
        <p:spPr>
          <a:xfrm>
            <a:off x="7333488" y="5248656"/>
            <a:ext cx="4389120" cy="475488"/>
          </a:xfrm>
          <a:prstGeom prst="rect">
            <a:avLst/>
          </a:prstGeom>
          <a:noFill/>
          <a:ln/>
        </p:spPr>
        <p:txBody>
          <a:bodyPr wrap="square" lIns="0" tIns="0" rIns="0" bIns="0" rtlCol="0" anchor="t"/>
          <a:lstStyle/>
          <a:p>
            <a:pPr indent="0" marL="0">
              <a:buNone/>
            </a:pPr>
            <a:r>
              <a:rPr lang="en-US" sz="1100" b="1" dirty="0">
                <a:solidFill>
                  <a:srgbClr val="EEF1F4"/>
                </a:solidFill>
                <a:latin typeface="Calibri" pitchFamily="34" charset="0"/>
                <a:ea typeface="Calibri" pitchFamily="34" charset="-122"/>
                <a:cs typeface="Calibri" pitchFamily="34" charset="-120"/>
              </a:rPr>
              <a:t>Shared and cached  </a:t>
            </a:r>
            <a:pPr indent="0" marL="0">
              <a:buNone/>
            </a:pPr>
            <a:r>
              <a:rPr lang="en-US" sz="1100" dirty="0">
                <a:solidFill>
                  <a:srgbClr val="A3AEBB"/>
                </a:solidFill>
                <a:latin typeface="Calibri" pitchFamily="34" charset="0"/>
                <a:ea typeface="Calibri" pitchFamily="34" charset="-122"/>
                <a:cs typeface="Calibri" pitchFamily="34" charset="-120"/>
              </a:rPr>
              <a:t>the same block for every user in the cycle</a:t>
            </a:r>
            <a:endParaRPr lang="en-US" sz="1100" dirty="0"/>
          </a:p>
        </p:txBody>
      </p:sp>
      <p:sp>
        <p:nvSpPr>
          <p:cNvPr id="34" name="Shape 31"/>
          <p:cNvSpPr/>
          <p:nvPr/>
        </p:nvSpPr>
        <p:spPr>
          <a:xfrm>
            <a:off x="7132320" y="5852160"/>
            <a:ext cx="100584" cy="100584"/>
          </a:xfrm>
          <a:prstGeom prst="ellipse">
            <a:avLst/>
          </a:prstGeom>
          <a:solidFill>
            <a:srgbClr val="E2B54E"/>
          </a:solidFill>
          <a:ln w="12700">
            <a:solidFill>
              <a:srgbClr val="E2B54E"/>
            </a:solidFill>
            <a:prstDash val="solid"/>
          </a:ln>
        </p:spPr>
      </p:sp>
      <p:sp>
        <p:nvSpPr>
          <p:cNvPr id="35" name="Text 32"/>
          <p:cNvSpPr txBox="1"/>
          <p:nvPr/>
        </p:nvSpPr>
        <p:spPr>
          <a:xfrm>
            <a:off x="7333488" y="5760720"/>
            <a:ext cx="4389120" cy="475488"/>
          </a:xfrm>
          <a:prstGeom prst="rect">
            <a:avLst/>
          </a:prstGeom>
          <a:noFill/>
          <a:ln/>
        </p:spPr>
        <p:txBody>
          <a:bodyPr wrap="square" lIns="0" tIns="0" rIns="0" bIns="0" rtlCol="0" anchor="t"/>
          <a:lstStyle/>
          <a:p>
            <a:pPr indent="0" marL="0">
              <a:buNone/>
            </a:pPr>
            <a:r>
              <a:rPr lang="en-US" sz="1100" b="1" dirty="0">
                <a:solidFill>
                  <a:srgbClr val="EEF1F4"/>
                </a:solidFill>
                <a:latin typeface="Calibri" pitchFamily="34" charset="0"/>
                <a:ea typeface="Calibri" pitchFamily="34" charset="-122"/>
                <a:cs typeface="Calibri" pitchFamily="34" charset="-120"/>
              </a:rPr>
              <a:t>Summary mode  </a:t>
            </a:r>
            <a:pPr indent="0" marL="0">
              <a:buNone/>
            </a:pPr>
            <a:r>
              <a:rPr lang="en-US" sz="1100" dirty="0">
                <a:solidFill>
                  <a:srgbClr val="A3AEBB"/>
                </a:solidFill>
                <a:latin typeface="Calibri" pitchFamily="34" charset="0"/>
                <a:ea typeface="Calibri" pitchFamily="34" charset="-122"/>
                <a:cs typeface="Calibri" pitchFamily="34" charset="-120"/>
              </a:rPr>
              <a:t>day line + last 12 M5 and 8 M15 bars, used only when a cap forces it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COST AND QUOTAS (C1)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At file D’s quotas, full context buys few messages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9</a:t>
            </a:r>
            <a:endParaRPr lang="en-US" sz="1000" dirty="0"/>
          </a:p>
        </p:txBody>
      </p:sp>
      <p:sp>
        <p:nvSpPr>
          <p:cNvPr id="8" name="Text 5"/>
          <p:cNvSpPr txBox="1"/>
          <p:nvPr/>
        </p:nvSpPr>
        <p:spPr>
          <a:xfrm>
            <a:off x="457200" y="1325880"/>
            <a:ext cx="667512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FIRST FULL-CONTEXT MESSAGE ≈ 18,000 TOKENS, METERED FILE D’S WAY</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6675120" cy="914400"/>
        </p:xfrm>
        <a:graphic>
          <a:graphicData uri="http://schemas.openxmlformats.org/drawingml/2006/table">
            <a:tbl>
              <a:tblPr/>
              <a:tblGrid>
                <a:gridCol w="2651760"/>
                <a:gridCol w="960120"/>
                <a:gridCol w="1143000"/>
                <a:gridCol w="960120"/>
                <a:gridCol w="960120"/>
              </a:tblGrid>
              <a:tr h="32918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Model (file 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Multiplier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r" indent="0" marL="0">
                        <a:buNone/>
                      </a:pPr>
                      <a:r>
                        <a:rPr lang="en-US" sz="1050" b="1" dirty="0">
                          <a:solidFill>
                            <a:srgbClr val="E2B54E"/>
                          </a:solidFill>
                          <a:latin typeface="Calibri" pitchFamily="34" charset="0"/>
                          <a:ea typeface="Calibri" pitchFamily="34" charset="-122"/>
                          <a:cs typeface="Calibri" pitchFamily="34" charset="-120"/>
                        </a:rPr>
                        <a:t>Units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Pro 500k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Free 50k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5720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Gemini 3.6 Flash · DeepSeek V4 Flash</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dirty="0">
                          <a:solidFill>
                            <a:srgbClr val="EEF1F4"/>
                          </a:solidFill>
                          <a:latin typeface="Calibri" pitchFamily="34" charset="0"/>
                          <a:ea typeface="Calibri" pitchFamily="34" charset="-122"/>
                          <a:cs typeface="Calibri" pitchFamily="34" charset="-120"/>
                        </a:rPr>
                        <a:t>≈ 18,000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GLM-5.2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dirty="0">
                          <a:solidFill>
                            <a:srgbClr val="EEF1F4"/>
                          </a:solidFill>
                          <a:latin typeface="Calibri" pitchFamily="34" charset="0"/>
                          <a:ea typeface="Calibri" pitchFamily="34" charset="-122"/>
                          <a:cs typeface="Calibri" pitchFamily="34" charset="-120"/>
                        </a:rPr>
                        <a:t>≈ 45,000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Kimi K3</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dirty="0">
                          <a:solidFill>
                            <a:srgbClr val="EEF1F4"/>
                          </a:solidFill>
                          <a:latin typeface="Calibri" pitchFamily="34" charset="0"/>
                          <a:ea typeface="Calibri" pitchFamily="34" charset="-122"/>
                          <a:cs typeface="Calibri" pitchFamily="34" charset="-120"/>
                        </a:rPr>
                        <a:t>≈ 54,000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5720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GPT 5.6 Terra</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00" dirty="0">
                          <a:solidFill>
                            <a:srgbClr val="EEF1F4"/>
                          </a:solidFill>
                          <a:latin typeface="Calibri" pitchFamily="34" charset="0"/>
                          <a:ea typeface="Calibri" pitchFamily="34" charset="-122"/>
                          <a:cs typeface="Calibri" pitchFamily="34" charset="-120"/>
                        </a:rPr>
                        <a:t>≈ 144,000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57200">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Claude Sonnet 5</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dirty="0">
                          <a:solidFill>
                            <a:srgbClr val="A3AEBB"/>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00" dirty="0">
                          <a:solidFill>
                            <a:srgbClr val="EEF1F4"/>
                          </a:solidFill>
                          <a:latin typeface="Calibri" pitchFamily="34" charset="0"/>
                          <a:ea typeface="Calibri" pitchFamily="34" charset="-122"/>
                          <a:cs typeface="Calibri" pitchFamily="34" charset="-120"/>
                        </a:rPr>
                        <a:t>≈ 180,000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5746A"/>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
        <p:nvSpPr>
          <p:cNvPr id="10" name="Shape 6"/>
          <p:cNvSpPr/>
          <p:nvPr/>
        </p:nvSpPr>
        <p:spPr>
          <a:xfrm>
            <a:off x="457200" y="4389120"/>
            <a:ext cx="6675120" cy="1892808"/>
          </a:xfrm>
          <a:prstGeom prst="roundRect">
            <a:avLst>
              <a:gd name="adj" fmla="val 3382"/>
            </a:avLst>
          </a:prstGeom>
          <a:solidFill>
            <a:srgbClr val="33201F"/>
          </a:solidFill>
          <a:ln w="12700">
            <a:solidFill>
              <a:srgbClr val="E5746A"/>
            </a:solidFill>
            <a:prstDash val="solid"/>
          </a:ln>
        </p:spPr>
      </p:sp>
      <p:sp>
        <p:nvSpPr>
          <p:cNvPr id="11" name="Text 7"/>
          <p:cNvSpPr txBox="1"/>
          <p:nvPr/>
        </p:nvSpPr>
        <p:spPr>
          <a:xfrm>
            <a:off x="640080" y="4498848"/>
            <a:ext cx="6309360" cy="365760"/>
          </a:xfrm>
          <a:prstGeom prst="rect">
            <a:avLst/>
          </a:prstGeom>
          <a:noFill/>
          <a:ln/>
        </p:spPr>
        <p:txBody>
          <a:bodyPr wrap="square" lIns="0" tIns="0" rIns="0" bIns="0" rtlCol="0" anchor="ctr"/>
          <a:lstStyle/>
          <a:p>
            <a:pPr indent="0" marL="0">
              <a:buNone/>
            </a:pPr>
            <a:r>
              <a:rPr lang="en-US" sz="1400" b="1" dirty="0">
                <a:solidFill>
                  <a:srgbClr val="E5746A"/>
                </a:solidFill>
                <a:latin typeface="Calibri" pitchFamily="34" charset="0"/>
                <a:ea typeface="Calibri" pitchFamily="34" charset="-122"/>
                <a:cs typeface="Calibri" pitchFamily="34" charset="-120"/>
              </a:rPr>
              <a:t>File D promised “300+ messages a month”</a:t>
            </a:r>
            <a:endParaRPr lang="en-US" sz="1400" dirty="0"/>
          </a:p>
        </p:txBody>
      </p:sp>
      <p:sp>
        <p:nvSpPr>
          <p:cNvPr id="12" name="Text 8"/>
          <p:cNvSpPr txBox="1"/>
          <p:nvPr/>
        </p:nvSpPr>
        <p:spPr>
          <a:xfrm>
            <a:off x="640080" y="4901184"/>
            <a:ext cx="6309360" cy="1280160"/>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That figure assumed ≈ 1,500 units a message. With the context Stack D now sends, no model on the list gets close, and a premium model gives a Pro user two or three first messages a month. Follow-ups in the same cycle cost less, but not enough to close the gap.</a:t>
            </a:r>
            <a:endParaRPr lang="en-US" sz="1200" dirty="0"/>
          </a:p>
        </p:txBody>
      </p:sp>
      <p:sp>
        <p:nvSpPr>
          <p:cNvPr id="13" name="Text 9"/>
          <p:cNvSpPr txBox="1"/>
          <p:nvPr/>
        </p:nvSpPr>
        <p:spPr>
          <a:xfrm>
            <a:off x="7406640" y="1325880"/>
            <a:ext cx="429768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WHAT CHANGES (DECISION 5.4)</a:t>
            </a:r>
            <a:endParaRPr lang="en-US" sz="950" dirty="0"/>
          </a:p>
        </p:txBody>
      </p:sp>
      <p:sp>
        <p:nvSpPr>
          <p:cNvPr id="14" name="Shape 10"/>
          <p:cNvSpPr/>
          <p:nvPr/>
        </p:nvSpPr>
        <p:spPr>
          <a:xfrm>
            <a:off x="7406640" y="1645920"/>
            <a:ext cx="4325112" cy="1051560"/>
          </a:xfrm>
          <a:prstGeom prst="roundRect">
            <a:avLst>
              <a:gd name="adj" fmla="val 6087"/>
            </a:avLst>
          </a:prstGeom>
          <a:solidFill>
            <a:srgbClr val="1D242E"/>
          </a:solidFill>
          <a:ln w="9525">
            <a:solidFill>
              <a:srgbClr val="323C49"/>
            </a:solidFill>
            <a:prstDash val="solid"/>
          </a:ln>
        </p:spPr>
      </p:sp>
      <p:sp>
        <p:nvSpPr>
          <p:cNvPr id="15" name="Shape 11"/>
          <p:cNvSpPr/>
          <p:nvPr/>
        </p:nvSpPr>
        <p:spPr>
          <a:xfrm>
            <a:off x="7534656" y="1755648"/>
            <a:ext cx="310896" cy="310896"/>
          </a:xfrm>
          <a:prstGeom prst="ellipse">
            <a:avLst/>
          </a:prstGeom>
          <a:solidFill>
            <a:srgbClr val="E2B54E"/>
          </a:solidFill>
          <a:ln w="15875">
            <a:solidFill>
              <a:srgbClr val="E2B54E"/>
            </a:solidFill>
            <a:prstDash val="solid"/>
          </a:ln>
        </p:spPr>
      </p:sp>
      <p:sp>
        <p:nvSpPr>
          <p:cNvPr id="16" name="Text 12"/>
          <p:cNvSpPr txBox="1"/>
          <p:nvPr/>
        </p:nvSpPr>
        <p:spPr>
          <a:xfrm>
            <a:off x="7534656" y="1755648"/>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1</a:t>
            </a:r>
            <a:endParaRPr lang="en-US" sz="1100" dirty="0"/>
          </a:p>
        </p:txBody>
      </p:sp>
      <p:sp>
        <p:nvSpPr>
          <p:cNvPr id="17" name="Text 13"/>
          <p:cNvSpPr txBox="1"/>
          <p:nvPr/>
        </p:nvSpPr>
        <p:spPr>
          <a:xfrm>
            <a:off x="7955280" y="1719072"/>
            <a:ext cx="37033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Units follow actual cost</a:t>
            </a:r>
            <a:endParaRPr lang="en-US" sz="1250" dirty="0"/>
          </a:p>
        </p:txBody>
      </p:sp>
      <p:sp>
        <p:nvSpPr>
          <p:cNvPr id="18" name="Text 14"/>
          <p:cNvSpPr txBox="1"/>
          <p:nvPr/>
        </p:nvSpPr>
        <p:spPr>
          <a:xfrm>
            <a:off x="7534656" y="2121408"/>
            <a:ext cx="406908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Each call is charged from the gateway’s reported cost, so cached input costs the user less.</a:t>
            </a:r>
            <a:endParaRPr lang="en-US" sz="1050" dirty="0"/>
          </a:p>
        </p:txBody>
      </p:sp>
      <p:sp>
        <p:nvSpPr>
          <p:cNvPr id="19" name="Shape 15"/>
          <p:cNvSpPr/>
          <p:nvPr/>
        </p:nvSpPr>
        <p:spPr>
          <a:xfrm>
            <a:off x="7406640" y="2807208"/>
            <a:ext cx="4325112" cy="1051560"/>
          </a:xfrm>
          <a:prstGeom prst="roundRect">
            <a:avLst>
              <a:gd name="adj" fmla="val 6087"/>
            </a:avLst>
          </a:prstGeom>
          <a:solidFill>
            <a:srgbClr val="1D242E"/>
          </a:solidFill>
          <a:ln w="9525">
            <a:solidFill>
              <a:srgbClr val="323C49"/>
            </a:solidFill>
            <a:prstDash val="solid"/>
          </a:ln>
        </p:spPr>
      </p:sp>
      <p:sp>
        <p:nvSpPr>
          <p:cNvPr id="20" name="Shape 16"/>
          <p:cNvSpPr/>
          <p:nvPr/>
        </p:nvSpPr>
        <p:spPr>
          <a:xfrm>
            <a:off x="7534656" y="2916936"/>
            <a:ext cx="310896" cy="310896"/>
          </a:xfrm>
          <a:prstGeom prst="ellipse">
            <a:avLst/>
          </a:prstGeom>
          <a:solidFill>
            <a:srgbClr val="E2B54E"/>
          </a:solidFill>
          <a:ln w="15875">
            <a:solidFill>
              <a:srgbClr val="E2B54E"/>
            </a:solidFill>
            <a:prstDash val="solid"/>
          </a:ln>
        </p:spPr>
      </p:sp>
      <p:sp>
        <p:nvSpPr>
          <p:cNvPr id="21" name="Text 17"/>
          <p:cNvSpPr txBox="1"/>
          <p:nvPr/>
        </p:nvSpPr>
        <p:spPr>
          <a:xfrm>
            <a:off x="7534656" y="2916936"/>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2</a:t>
            </a:r>
            <a:endParaRPr lang="en-US" sz="1100" dirty="0"/>
          </a:p>
        </p:txBody>
      </p:sp>
      <p:sp>
        <p:nvSpPr>
          <p:cNvPr id="22" name="Text 18"/>
          <p:cNvSpPr txBox="1"/>
          <p:nvPr/>
        </p:nvSpPr>
        <p:spPr>
          <a:xfrm>
            <a:off x="7955280" y="2880360"/>
            <a:ext cx="37033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Reserve before calling</a:t>
            </a:r>
            <a:endParaRPr lang="en-US" sz="1250" dirty="0"/>
          </a:p>
        </p:txBody>
      </p:sp>
      <p:sp>
        <p:nvSpPr>
          <p:cNvPr id="23" name="Text 19"/>
          <p:cNvSpPr txBox="1"/>
          <p:nvPr/>
        </p:nvSpPr>
        <p:spPr>
          <a:xfrm>
            <a:off x="7534656" y="3282696"/>
            <a:ext cx="406908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The assembled prompt + maximum output is priced first; if it exceeds the balance, nothing is sent.</a:t>
            </a:r>
            <a:endParaRPr lang="en-US" sz="1050" dirty="0"/>
          </a:p>
        </p:txBody>
      </p:sp>
      <p:sp>
        <p:nvSpPr>
          <p:cNvPr id="24" name="Shape 20"/>
          <p:cNvSpPr/>
          <p:nvPr/>
        </p:nvSpPr>
        <p:spPr>
          <a:xfrm>
            <a:off x="7406640" y="3968496"/>
            <a:ext cx="4325112" cy="1051560"/>
          </a:xfrm>
          <a:prstGeom prst="roundRect">
            <a:avLst>
              <a:gd name="adj" fmla="val 6087"/>
            </a:avLst>
          </a:prstGeom>
          <a:solidFill>
            <a:srgbClr val="1D242E"/>
          </a:solidFill>
          <a:ln w="9525">
            <a:solidFill>
              <a:srgbClr val="323C49"/>
            </a:solidFill>
            <a:prstDash val="solid"/>
          </a:ln>
        </p:spPr>
      </p:sp>
      <p:sp>
        <p:nvSpPr>
          <p:cNvPr id="25" name="Shape 21"/>
          <p:cNvSpPr/>
          <p:nvPr/>
        </p:nvSpPr>
        <p:spPr>
          <a:xfrm>
            <a:off x="7534656" y="4078224"/>
            <a:ext cx="310896" cy="310896"/>
          </a:xfrm>
          <a:prstGeom prst="ellipse">
            <a:avLst/>
          </a:prstGeom>
          <a:solidFill>
            <a:srgbClr val="E2B54E"/>
          </a:solidFill>
          <a:ln w="15875">
            <a:solidFill>
              <a:srgbClr val="E2B54E"/>
            </a:solidFill>
            <a:prstDash val="solid"/>
          </a:ln>
        </p:spPr>
      </p:sp>
      <p:sp>
        <p:nvSpPr>
          <p:cNvPr id="26" name="Text 22"/>
          <p:cNvSpPr txBox="1"/>
          <p:nvPr/>
        </p:nvSpPr>
        <p:spPr>
          <a:xfrm>
            <a:off x="7534656" y="4078224"/>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3</a:t>
            </a:r>
            <a:endParaRPr lang="en-US" sz="1100" dirty="0"/>
          </a:p>
        </p:txBody>
      </p:sp>
      <p:sp>
        <p:nvSpPr>
          <p:cNvPr id="27" name="Text 23"/>
          <p:cNvSpPr txBox="1"/>
          <p:nvPr/>
        </p:nvSpPr>
        <p:spPr>
          <a:xfrm>
            <a:off x="7955280" y="4041648"/>
            <a:ext cx="37033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Cost shown in the picker</a:t>
            </a:r>
            <a:endParaRPr lang="en-US" sz="1250" dirty="0"/>
          </a:p>
        </p:txBody>
      </p:sp>
      <p:sp>
        <p:nvSpPr>
          <p:cNvPr id="28" name="Text 24"/>
          <p:cNvSpPr txBox="1"/>
          <p:nvPr/>
        </p:nvSpPr>
        <p:spPr>
          <a:xfrm>
            <a:off x="7534656" y="4443984"/>
            <a:ext cx="406908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Each model shows its measured units per message before the user sends.</a:t>
            </a:r>
            <a:endParaRPr lang="en-US" sz="1050" dirty="0"/>
          </a:p>
        </p:txBody>
      </p:sp>
      <p:sp>
        <p:nvSpPr>
          <p:cNvPr id="29" name="Shape 25"/>
          <p:cNvSpPr/>
          <p:nvPr/>
        </p:nvSpPr>
        <p:spPr>
          <a:xfrm>
            <a:off x="7406640" y="5129784"/>
            <a:ext cx="4325112" cy="1051560"/>
          </a:xfrm>
          <a:prstGeom prst="roundRect">
            <a:avLst>
              <a:gd name="adj" fmla="val 6087"/>
            </a:avLst>
          </a:prstGeom>
          <a:solidFill>
            <a:srgbClr val="1D242E"/>
          </a:solidFill>
          <a:ln w="9525">
            <a:solidFill>
              <a:srgbClr val="323C49"/>
            </a:solidFill>
            <a:prstDash val="solid"/>
          </a:ln>
        </p:spPr>
      </p:sp>
      <p:sp>
        <p:nvSpPr>
          <p:cNvPr id="30" name="Shape 26"/>
          <p:cNvSpPr/>
          <p:nvPr/>
        </p:nvSpPr>
        <p:spPr>
          <a:xfrm>
            <a:off x="7534656" y="5239512"/>
            <a:ext cx="310896" cy="310896"/>
          </a:xfrm>
          <a:prstGeom prst="ellipse">
            <a:avLst/>
          </a:prstGeom>
          <a:solidFill>
            <a:srgbClr val="E2B54E"/>
          </a:solidFill>
          <a:ln w="15875">
            <a:solidFill>
              <a:srgbClr val="E2B54E"/>
            </a:solidFill>
            <a:prstDash val="solid"/>
          </a:ln>
        </p:spPr>
      </p:sp>
      <p:sp>
        <p:nvSpPr>
          <p:cNvPr id="31" name="Text 27"/>
          <p:cNvSpPr txBox="1"/>
          <p:nvPr/>
        </p:nvSpPr>
        <p:spPr>
          <a:xfrm>
            <a:off x="7534656" y="5239512"/>
            <a:ext cx="310896" cy="310896"/>
          </a:xfrm>
          <a:prstGeom prst="rect">
            <a:avLst/>
          </a:prstGeom>
          <a:noFill/>
          <a:ln/>
        </p:spPr>
        <p:txBody>
          <a:bodyPr wrap="square" lIns="0" tIns="0" rIns="0" bIns="0" rtlCol="0" anchor="ctr"/>
          <a:lstStyle/>
          <a:p>
            <a:pPr algn="ctr" indent="0" marL="0">
              <a:buNone/>
            </a:pPr>
            <a:r>
              <a:rPr lang="en-US" sz="1100" b="1" dirty="0">
                <a:solidFill>
                  <a:srgbClr val="0F1318"/>
                </a:solidFill>
                <a:latin typeface="Cambria" pitchFamily="34" charset="0"/>
                <a:ea typeface="Cambria" pitchFamily="34" charset="-122"/>
                <a:cs typeface="Cambria" pitchFamily="34" charset="-120"/>
              </a:rPr>
              <a:t>4</a:t>
            </a:r>
            <a:endParaRPr lang="en-US" sz="1100" dirty="0"/>
          </a:p>
        </p:txBody>
      </p:sp>
      <p:sp>
        <p:nvSpPr>
          <p:cNvPr id="32" name="Text 28"/>
          <p:cNvSpPr txBox="1"/>
          <p:nvPr/>
        </p:nvSpPr>
        <p:spPr>
          <a:xfrm>
            <a:off x="7955280" y="5202936"/>
            <a:ext cx="3703320" cy="365760"/>
          </a:xfrm>
          <a:prstGeom prst="rect">
            <a:avLst/>
          </a:prstGeom>
          <a:noFill/>
          <a:ln/>
        </p:spPr>
        <p:txBody>
          <a:bodyPr wrap="square" lIns="0" tIns="0" rIns="0" bIns="0" rtlCol="0" anchor="ctr"/>
          <a:lstStyle/>
          <a:p>
            <a:pPr indent="0" marL="0">
              <a:buNone/>
            </a:pPr>
            <a:r>
              <a:rPr lang="en-US" sz="1250" b="1" dirty="0">
                <a:solidFill>
                  <a:srgbClr val="EEF1F4"/>
                </a:solidFill>
                <a:latin typeface="Calibri" pitchFamily="34" charset="0"/>
                <a:ea typeface="Calibri" pitchFamily="34" charset="-122"/>
                <a:cs typeface="Calibri" pitchFamily="34" charset="-120"/>
              </a:rPr>
              <a:t>Tier amounts from measurement</a:t>
            </a:r>
            <a:endParaRPr lang="en-US" sz="1250" dirty="0"/>
          </a:p>
        </p:txBody>
      </p:sp>
      <p:sp>
        <p:nvSpPr>
          <p:cNvPr id="33" name="Text 29"/>
          <p:cNvSpPr txBox="1"/>
          <p:nvPr/>
        </p:nvSpPr>
        <p:spPr>
          <a:xfrm>
            <a:off x="7534656" y="5605272"/>
            <a:ext cx="4069080" cy="548640"/>
          </a:xfrm>
          <a:prstGeom prst="rect">
            <a:avLst/>
          </a:prstGeom>
          <a:noFill/>
          <a:ln/>
        </p:spPr>
        <p:txBody>
          <a:bodyPr wrap="square" lIns="0" tIns="0" rIns="0" bIns="0" rtlCol="0" anchor="t"/>
          <a:lstStyle/>
          <a:p>
            <a:pPr indent="0" marL="0">
              <a:buNone/>
            </a:pPr>
            <a:r>
              <a:rPr lang="en-US" sz="1050" dirty="0">
                <a:solidFill>
                  <a:srgbClr val="A3AEBB"/>
                </a:solidFill>
                <a:latin typeface="Calibri" pitchFamily="34" charset="0"/>
                <a:ea typeface="Calibri" pitchFamily="34" charset="-122"/>
                <a:cs typeface="Calibri" pitchFamily="34" charset="-120"/>
              </a:rPr>
              <a:t>Set with Section 7’s entitlement table, after the first test run.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REPORT 1 AS DATA (F1)</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Words from the model, numbers from the engines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10</a:t>
            </a:r>
            <a:endParaRPr lang="en-US" sz="1000" dirty="0"/>
          </a:p>
        </p:txBody>
      </p:sp>
      <p:sp>
        <p:nvSpPr>
          <p:cNvPr id="8" name="Shape 5"/>
          <p:cNvSpPr/>
          <p:nvPr/>
        </p:nvSpPr>
        <p:spPr>
          <a:xfrm>
            <a:off x="457200" y="1325880"/>
            <a:ext cx="5989320" cy="4956048"/>
          </a:xfrm>
          <a:prstGeom prst="roundRect">
            <a:avLst>
              <a:gd name="adj" fmla="val 1292"/>
            </a:avLst>
          </a:prstGeom>
          <a:solidFill>
            <a:srgbClr val="161C24"/>
          </a:solidFill>
          <a:ln w="9525">
            <a:solidFill>
              <a:srgbClr val="323C49"/>
            </a:solidFill>
            <a:prstDash val="solid"/>
          </a:ln>
        </p:spPr>
      </p:sp>
      <p:sp>
        <p:nvSpPr>
          <p:cNvPr id="9" name="Text 6"/>
          <p:cNvSpPr txBox="1"/>
          <p:nvPr/>
        </p:nvSpPr>
        <p:spPr>
          <a:xfrm>
            <a:off x="640080" y="1426464"/>
            <a:ext cx="566928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MODEL RETURNS · CHECKED AGAINST report1.v1</a:t>
            </a:r>
            <a:endParaRPr lang="en-US" sz="950" dirty="0"/>
          </a:p>
        </p:txBody>
      </p:sp>
      <p:sp>
        <p:nvSpPr>
          <p:cNvPr id="10" name="Text 7"/>
          <p:cNvSpPr txBox="1"/>
          <p:nvPr/>
        </p:nvSpPr>
        <p:spPr>
          <a:xfrm>
            <a:off x="640080" y="1737360"/>
            <a:ext cx="5760720" cy="4526280"/>
          </a:xfrm>
          <a:prstGeom prst="rect">
            <a:avLst/>
          </a:prstGeom>
          <a:noFill/>
          <a:ln/>
        </p:spPr>
        <p:txBody>
          <a:bodyPr wrap="square" lIns="0" tIns="0" rIns="0" bIns="0" rtlCol="0" anchor="t"/>
          <a:lstStyle/>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"headline": "Counter-trend rally inside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the M5 corridor; M15 still falling",</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"zones": [ "Z1"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"rationale":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 "text": "M5 holds above {MCD2.baseline}",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"cites": [ "MCD2" ]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 "text": "Breach above the M15 upper band",</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"cites": [ "MCD1" ] }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"watch":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 "text": "A close below {Z1.invalidation}</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cancels this view", "cites": [ "Z1" ] }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"risks":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 "text": "MCD3 says stand aside",</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"cites": [ "MCD3" ]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 "text": "Less room to {MCD2.UOEDT}</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       than the stop", "cites": [ "Z1" ] } ]</a:t>
            </a:r>
            <a:endParaRPr lang="en-US" sz="1050" dirty="0"/>
          </a:p>
          <a:p>
            <a:pPr indent="0" marL="0">
              <a:buNone/>
            </a:pPr>
            <a:r>
              <a:rPr lang="en-US" sz="1050" dirty="0">
                <a:solidFill>
                  <a:srgbClr val="EEF1F4"/>
                </a:solidFill>
                <a:latin typeface="Courier New" pitchFamily="34" charset="0"/>
                <a:ea typeface="Courier New" pitchFamily="34" charset="-122"/>
                <a:cs typeface="Courier New" pitchFamily="34" charset="-120"/>
              </a:rPr>
              <a:t>}</a:t>
            </a:r>
            <a:endParaRPr lang="en-US" sz="1050" dirty="0"/>
          </a:p>
        </p:txBody>
      </p:sp>
      <p:sp>
        <p:nvSpPr>
          <p:cNvPr id="11" name="Text 8"/>
          <p:cNvSpPr txBox="1"/>
          <p:nvPr/>
        </p:nvSpPr>
        <p:spPr>
          <a:xfrm>
            <a:off x="6675120" y="1325880"/>
            <a:ext cx="50292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SERVER ADDS</a:t>
            </a:r>
            <a:endParaRPr lang="en-US" sz="950" dirty="0"/>
          </a:p>
        </p:txBody>
      </p:sp>
      <p:sp>
        <p:nvSpPr>
          <p:cNvPr id="12" name="Text 9"/>
          <p:cNvSpPr txBox="1"/>
          <p:nvPr/>
        </p:nvSpPr>
        <p:spPr>
          <a:xfrm>
            <a:off x="6675120" y="1627632"/>
            <a:ext cx="50292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Direction  </a:t>
            </a:r>
            <a:pPr indent="0" marL="0">
              <a:buNone/>
            </a:pPr>
            <a:r>
              <a:rPr lang="en-US" sz="1150" dirty="0">
                <a:solidFill>
                  <a:srgbClr val="A3AEBB"/>
                </a:solidFill>
                <a:latin typeface="Calibri" pitchFamily="34" charset="0"/>
                <a:ea typeface="Calibri" pitchFamily="34" charset="-122"/>
                <a:cs typeface="Calibri" pitchFamily="34" charset="-120"/>
              </a:rPr>
              <a:t>LONG · counter-trend rally · rule 1, copied from synthesis</a:t>
            </a:r>
            <a:endParaRPr lang="en-US" sz="1150" dirty="0"/>
          </a:p>
        </p:txBody>
      </p:sp>
      <p:sp>
        <p:nvSpPr>
          <p:cNvPr id="13" name="Text 10"/>
          <p:cNvSpPr txBox="1"/>
          <p:nvPr/>
        </p:nvSpPr>
        <p:spPr>
          <a:xfrm>
            <a:off x="6675120" y="2029968"/>
            <a:ext cx="50292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Every value  </a:t>
            </a:r>
            <a:pPr indent="0" marL="0">
              <a:buNone/>
            </a:pPr>
            <a:r>
              <a:rPr lang="en-US" sz="1150" dirty="0">
                <a:solidFill>
                  <a:srgbClr val="A3AEBB"/>
                </a:solidFill>
                <a:latin typeface="Calibri" pitchFamily="34" charset="0"/>
                <a:ea typeface="Calibri" pitchFamily="34" charset="-122"/>
                <a:cs typeface="Calibri" pitchFamily="34" charset="-120"/>
              </a:rPr>
              <a:t>{MCD2.baseline} → 4367.25, filled by id</a:t>
            </a:r>
            <a:endParaRPr lang="en-US" sz="1150" dirty="0"/>
          </a:p>
        </p:txBody>
      </p:sp>
      <p:sp>
        <p:nvSpPr>
          <p:cNvPr id="14" name="Text 11"/>
          <p:cNvSpPr txBox="1"/>
          <p:nvPr/>
        </p:nvSpPr>
        <p:spPr>
          <a:xfrm>
            <a:off x="6675120" y="2432304"/>
            <a:ext cx="5029200" cy="384048"/>
          </a:xfrm>
          <a:prstGeom prst="rect">
            <a:avLst/>
          </a:prstGeom>
          <a:noFill/>
          <a:ln/>
        </p:spPr>
        <p:txBody>
          <a:bodyPr wrap="square" lIns="0" tIns="0" rIns="0" bIns="0" rtlCol="0" anchor="ctr"/>
          <a:lstStyle/>
          <a:p>
            <a:pPr indent="0" marL="0">
              <a:buNone/>
            </a:pPr>
            <a:r>
              <a:rPr lang="en-US" sz="1150" b="1" dirty="0">
                <a:solidFill>
                  <a:srgbClr val="EEF1F4"/>
                </a:solidFill>
                <a:latin typeface="Calibri" pitchFamily="34" charset="0"/>
                <a:ea typeface="Calibri" pitchFamily="34" charset="-122"/>
                <a:cs typeface="Calibri" pitchFamily="34" charset="-120"/>
              </a:rPr>
              <a:t>Stamp + disclaimer  </a:t>
            </a:r>
            <a:pPr indent="0" marL="0">
              <a:buNone/>
            </a:pPr>
            <a:r>
              <a:rPr lang="en-US" sz="1150" dirty="0">
                <a:solidFill>
                  <a:srgbClr val="A3AEBB"/>
                </a:solidFill>
                <a:latin typeface="Calibri" pitchFamily="34" charset="0"/>
                <a:ea typeface="Calibri" pitchFamily="34" charset="-122"/>
                <a:cs typeface="Calibri" pitchFamily="34" charset="-120"/>
              </a:rPr>
              <a:t>data time, fixed text per language</a:t>
            </a:r>
            <a:endParaRPr lang="en-US" sz="1150" dirty="0"/>
          </a:p>
        </p:txBody>
      </p:sp>
      <p:sp>
        <p:nvSpPr>
          <p:cNvPr id="15" name="Text 12"/>
          <p:cNvSpPr txBox="1"/>
          <p:nvPr/>
        </p:nvSpPr>
        <p:spPr>
          <a:xfrm>
            <a:off x="6675120" y="2971800"/>
            <a:ext cx="502920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REPORT 1 SECTIONS, REVISED</a:t>
            </a:r>
            <a:endParaRPr lang="en-US" sz="950" dirty="0"/>
          </a:p>
        </p:txBody>
      </p:sp>
      <p:sp>
        <p:nvSpPr>
          <p:cNvPr id="16" name="Shape 13"/>
          <p:cNvSpPr/>
          <p:nvPr/>
        </p:nvSpPr>
        <p:spPr>
          <a:xfrm>
            <a:off x="6675120" y="3337560"/>
            <a:ext cx="274320" cy="274320"/>
          </a:xfrm>
          <a:prstGeom prst="ellipse">
            <a:avLst/>
          </a:prstGeom>
          <a:solidFill>
            <a:srgbClr val="7FA8E8"/>
          </a:solidFill>
          <a:ln w="15875">
            <a:solidFill>
              <a:srgbClr val="7FA8E8"/>
            </a:solidFill>
            <a:prstDash val="solid"/>
          </a:ln>
        </p:spPr>
      </p:sp>
      <p:sp>
        <p:nvSpPr>
          <p:cNvPr id="17" name="Text 14"/>
          <p:cNvSpPr txBox="1"/>
          <p:nvPr/>
        </p:nvSpPr>
        <p:spPr>
          <a:xfrm>
            <a:off x="6675120" y="333756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1</a:t>
            </a:r>
            <a:endParaRPr lang="en-US" sz="900" dirty="0"/>
          </a:p>
        </p:txBody>
      </p:sp>
      <p:sp>
        <p:nvSpPr>
          <p:cNvPr id="18" name="Text 15"/>
          <p:cNvSpPr txBox="1"/>
          <p:nvPr/>
        </p:nvSpPr>
        <p:spPr>
          <a:xfrm>
            <a:off x="7059168" y="329184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Summary  </a:t>
            </a:r>
            <a:pPr indent="0" marL="0">
              <a:buNone/>
            </a:pPr>
            <a:r>
              <a:rPr lang="en-US" sz="1100" dirty="0">
                <a:solidFill>
                  <a:srgbClr val="A3AEBB"/>
                </a:solidFill>
                <a:latin typeface="Calibri" pitchFamily="34" charset="0"/>
                <a:ea typeface="Calibri" pitchFamily="34" charset="-122"/>
                <a:cs typeface="Calibri" pitchFamily="34" charset="-120"/>
              </a:rPr>
              <a:t>synthesis reading for the trader type</a:t>
            </a:r>
            <a:endParaRPr lang="en-US" sz="1100" dirty="0"/>
          </a:p>
        </p:txBody>
      </p:sp>
      <p:sp>
        <p:nvSpPr>
          <p:cNvPr id="19" name="Shape 16"/>
          <p:cNvSpPr/>
          <p:nvPr/>
        </p:nvSpPr>
        <p:spPr>
          <a:xfrm>
            <a:off x="6675120" y="3703320"/>
            <a:ext cx="274320" cy="274320"/>
          </a:xfrm>
          <a:prstGeom prst="ellipse">
            <a:avLst/>
          </a:prstGeom>
          <a:solidFill>
            <a:srgbClr val="7FA8E8"/>
          </a:solidFill>
          <a:ln w="15875">
            <a:solidFill>
              <a:srgbClr val="7FA8E8"/>
            </a:solidFill>
            <a:prstDash val="solid"/>
          </a:ln>
        </p:spPr>
      </p:sp>
      <p:sp>
        <p:nvSpPr>
          <p:cNvPr id="20" name="Text 17"/>
          <p:cNvSpPr txBox="1"/>
          <p:nvPr/>
        </p:nvSpPr>
        <p:spPr>
          <a:xfrm>
            <a:off x="6675120" y="370332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2</a:t>
            </a:r>
            <a:endParaRPr lang="en-US" sz="900" dirty="0"/>
          </a:p>
        </p:txBody>
      </p:sp>
      <p:sp>
        <p:nvSpPr>
          <p:cNvPr id="21" name="Text 18"/>
          <p:cNvSpPr txBox="1"/>
          <p:nvPr/>
        </p:nvSpPr>
        <p:spPr>
          <a:xfrm>
            <a:off x="7059168" y="365760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M15 vs M5  </a:t>
            </a:r>
            <a:pPr indent="0" marL="0">
              <a:buNone/>
            </a:pPr>
            <a:r>
              <a:rPr lang="en-US" sz="1100" dirty="0">
                <a:solidFill>
                  <a:srgbClr val="A3AEBB"/>
                </a:solidFill>
                <a:latin typeface="Calibri" pitchFamily="34" charset="0"/>
                <a:ea typeface="Calibri" pitchFamily="34" charset="-122"/>
                <a:cs typeface="Calibri" pitchFamily="34" charset="-120"/>
              </a:rPr>
              <a:t>alignment from the primary sensors</a:t>
            </a:r>
            <a:endParaRPr lang="en-US" sz="1100" dirty="0"/>
          </a:p>
        </p:txBody>
      </p:sp>
      <p:sp>
        <p:nvSpPr>
          <p:cNvPr id="22" name="Shape 19"/>
          <p:cNvSpPr/>
          <p:nvPr/>
        </p:nvSpPr>
        <p:spPr>
          <a:xfrm>
            <a:off x="6675120" y="4069080"/>
            <a:ext cx="274320" cy="274320"/>
          </a:xfrm>
          <a:prstGeom prst="ellipse">
            <a:avLst/>
          </a:prstGeom>
          <a:solidFill>
            <a:srgbClr val="7FA8E8"/>
          </a:solidFill>
          <a:ln w="15875">
            <a:solidFill>
              <a:srgbClr val="7FA8E8"/>
            </a:solidFill>
            <a:prstDash val="solid"/>
          </a:ln>
        </p:spPr>
      </p:sp>
      <p:sp>
        <p:nvSpPr>
          <p:cNvPr id="23" name="Text 20"/>
          <p:cNvSpPr txBox="1"/>
          <p:nvPr/>
        </p:nvSpPr>
        <p:spPr>
          <a:xfrm>
            <a:off x="6675120" y="406908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3</a:t>
            </a:r>
            <a:endParaRPr lang="en-US" sz="900" dirty="0"/>
          </a:p>
        </p:txBody>
      </p:sp>
      <p:sp>
        <p:nvSpPr>
          <p:cNvPr id="24" name="Text 21"/>
          <p:cNvSpPr txBox="1"/>
          <p:nvPr/>
        </p:nvSpPr>
        <p:spPr>
          <a:xfrm>
            <a:off x="7059168" y="402336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Levels  </a:t>
            </a:r>
            <a:pPr indent="0" marL="0">
              <a:buNone/>
            </a:pPr>
            <a:r>
              <a:rPr lang="en-US" sz="1100" dirty="0">
                <a:solidFill>
                  <a:srgbClr val="A3AEBB"/>
                </a:solidFill>
                <a:latin typeface="Calibri" pitchFamily="34" charset="0"/>
                <a:ea typeface="Calibri" pitchFamily="34" charset="-122"/>
                <a:cs typeface="Calibri" pitchFamily="34" charset="-120"/>
              </a:rPr>
              <a:t>channel geometry and context levels</a:t>
            </a:r>
            <a:endParaRPr lang="en-US" sz="1100" dirty="0"/>
          </a:p>
        </p:txBody>
      </p:sp>
      <p:sp>
        <p:nvSpPr>
          <p:cNvPr id="25" name="Shape 22"/>
          <p:cNvSpPr/>
          <p:nvPr/>
        </p:nvSpPr>
        <p:spPr>
          <a:xfrm>
            <a:off x="6675120" y="4434840"/>
            <a:ext cx="274320" cy="274320"/>
          </a:xfrm>
          <a:prstGeom prst="ellipse">
            <a:avLst/>
          </a:prstGeom>
          <a:solidFill>
            <a:srgbClr val="7FA8E8"/>
          </a:solidFill>
          <a:ln w="15875">
            <a:solidFill>
              <a:srgbClr val="7FA8E8"/>
            </a:solidFill>
            <a:prstDash val="solid"/>
          </a:ln>
        </p:spPr>
      </p:sp>
      <p:sp>
        <p:nvSpPr>
          <p:cNvPr id="26" name="Text 23"/>
          <p:cNvSpPr txBox="1"/>
          <p:nvPr/>
        </p:nvSpPr>
        <p:spPr>
          <a:xfrm>
            <a:off x="6675120" y="443484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4</a:t>
            </a:r>
            <a:endParaRPr lang="en-US" sz="900" dirty="0"/>
          </a:p>
        </p:txBody>
      </p:sp>
      <p:sp>
        <p:nvSpPr>
          <p:cNvPr id="27" name="Text 24"/>
          <p:cNvSpPr txBox="1"/>
          <p:nvPr/>
        </p:nvSpPr>
        <p:spPr>
          <a:xfrm>
            <a:off x="7059168" y="438912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Entry zones  </a:t>
            </a:r>
            <a:pPr indent="0" marL="0">
              <a:buNone/>
            </a:pPr>
            <a:r>
              <a:rPr lang="en-US" sz="1100" dirty="0">
                <a:solidFill>
                  <a:srgbClr val="A3AEBB"/>
                </a:solidFill>
                <a:latin typeface="Calibri" pitchFamily="34" charset="0"/>
                <a:ea typeface="Calibri" pitchFamily="34" charset="-122"/>
                <a:cs typeface="Calibri" pitchFamily="34" charset="-120"/>
              </a:rPr>
              <a:t>with invalidation and room</a:t>
            </a:r>
            <a:endParaRPr lang="en-US" sz="1100" dirty="0"/>
          </a:p>
        </p:txBody>
      </p:sp>
      <p:sp>
        <p:nvSpPr>
          <p:cNvPr id="28" name="Shape 25"/>
          <p:cNvSpPr/>
          <p:nvPr/>
        </p:nvSpPr>
        <p:spPr>
          <a:xfrm>
            <a:off x="6675120" y="4800600"/>
            <a:ext cx="274320" cy="274320"/>
          </a:xfrm>
          <a:prstGeom prst="ellipse">
            <a:avLst/>
          </a:prstGeom>
          <a:solidFill>
            <a:srgbClr val="7FA8E8"/>
          </a:solidFill>
          <a:ln w="15875">
            <a:solidFill>
              <a:srgbClr val="7FA8E8"/>
            </a:solidFill>
            <a:prstDash val="solid"/>
          </a:ln>
        </p:spPr>
      </p:sp>
      <p:sp>
        <p:nvSpPr>
          <p:cNvPr id="29" name="Text 26"/>
          <p:cNvSpPr txBox="1"/>
          <p:nvPr/>
        </p:nvSpPr>
        <p:spPr>
          <a:xfrm>
            <a:off x="6675120" y="480060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5</a:t>
            </a:r>
            <a:endParaRPr lang="en-US" sz="900" dirty="0"/>
          </a:p>
        </p:txBody>
      </p:sp>
      <p:sp>
        <p:nvSpPr>
          <p:cNvPr id="30" name="Text 27"/>
          <p:cNvSpPr txBox="1"/>
          <p:nvPr/>
        </p:nvSpPr>
        <p:spPr>
          <a:xfrm>
            <a:off x="7059168" y="475488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What would change it  </a:t>
            </a:r>
            <a:pPr indent="0" marL="0">
              <a:buNone/>
            </a:pPr>
            <a:r>
              <a:rPr lang="en-US" sz="1100" dirty="0">
                <a:solidFill>
                  <a:srgbClr val="A3AEBB"/>
                </a:solidFill>
                <a:latin typeface="Calibri" pitchFamily="34" charset="0"/>
                <a:ea typeface="Calibri" pitchFamily="34" charset="-122"/>
                <a:cs typeface="Calibri" pitchFamily="34" charset="-120"/>
              </a:rPr>
              <a:t>the watch list</a:t>
            </a:r>
            <a:endParaRPr lang="en-US" sz="1100" dirty="0"/>
          </a:p>
        </p:txBody>
      </p:sp>
      <p:sp>
        <p:nvSpPr>
          <p:cNvPr id="31" name="Shape 28"/>
          <p:cNvSpPr/>
          <p:nvPr/>
        </p:nvSpPr>
        <p:spPr>
          <a:xfrm>
            <a:off x="6675120" y="5166360"/>
            <a:ext cx="274320" cy="274320"/>
          </a:xfrm>
          <a:prstGeom prst="ellipse">
            <a:avLst/>
          </a:prstGeom>
          <a:solidFill>
            <a:srgbClr val="7FA8E8"/>
          </a:solidFill>
          <a:ln w="15875">
            <a:solidFill>
              <a:srgbClr val="7FA8E8"/>
            </a:solidFill>
            <a:prstDash val="solid"/>
          </a:ln>
        </p:spPr>
      </p:sp>
      <p:sp>
        <p:nvSpPr>
          <p:cNvPr id="32" name="Text 29"/>
          <p:cNvSpPr txBox="1"/>
          <p:nvPr/>
        </p:nvSpPr>
        <p:spPr>
          <a:xfrm>
            <a:off x="6675120" y="5166360"/>
            <a:ext cx="274320" cy="274320"/>
          </a:xfrm>
          <a:prstGeom prst="rect">
            <a:avLst/>
          </a:prstGeom>
          <a:noFill/>
          <a:ln/>
        </p:spPr>
        <p:txBody>
          <a:bodyPr wrap="square" lIns="0" tIns="0" rIns="0" bIns="0" rtlCol="0" anchor="ctr"/>
          <a:lstStyle/>
          <a:p>
            <a:pPr algn="ctr" indent="0" marL="0">
              <a:buNone/>
            </a:pPr>
            <a:r>
              <a:rPr lang="en-US" sz="900" b="1" dirty="0">
                <a:solidFill>
                  <a:srgbClr val="0F1318"/>
                </a:solidFill>
                <a:latin typeface="Cambria" pitchFamily="34" charset="0"/>
                <a:ea typeface="Cambria" pitchFamily="34" charset="-122"/>
                <a:cs typeface="Cambria" pitchFamily="34" charset="-120"/>
              </a:rPr>
              <a:t>6</a:t>
            </a:r>
            <a:endParaRPr lang="en-US" sz="900" dirty="0"/>
          </a:p>
        </p:txBody>
      </p:sp>
      <p:sp>
        <p:nvSpPr>
          <p:cNvPr id="33" name="Text 30"/>
          <p:cNvSpPr txBox="1"/>
          <p:nvPr/>
        </p:nvSpPr>
        <p:spPr>
          <a:xfrm>
            <a:off x="7059168" y="5120640"/>
            <a:ext cx="4663440" cy="365760"/>
          </a:xfrm>
          <a:prstGeom prst="rect">
            <a:avLst/>
          </a:prstGeom>
          <a:noFill/>
          <a:ln/>
        </p:spPr>
        <p:txBody>
          <a:bodyPr wrap="square" lIns="0" tIns="0" rIns="0" bIns="0" rtlCol="0" anchor="ctr"/>
          <a:lstStyle/>
          <a:p>
            <a:pPr indent="0" marL="0">
              <a:buNone/>
            </a:pPr>
            <a:r>
              <a:rPr lang="en-US" sz="1100" b="1" dirty="0">
                <a:solidFill>
                  <a:srgbClr val="EEF1F4"/>
                </a:solidFill>
                <a:latin typeface="Calibri" pitchFamily="34" charset="0"/>
                <a:ea typeface="Calibri" pitchFamily="34" charset="-122"/>
                <a:cs typeface="Calibri" pitchFamily="34" charset="-120"/>
              </a:rPr>
              <a:t>Risks and news  </a:t>
            </a:r>
            <a:pPr indent="0" marL="0">
              <a:buNone/>
            </a:pPr>
            <a:r>
              <a:rPr lang="en-US" sz="1100" dirty="0">
                <a:solidFill>
                  <a:srgbClr val="A3AEBB"/>
                </a:solidFill>
                <a:latin typeface="Calibri" pitchFamily="34" charset="0"/>
                <a:ea typeface="Calibri" pitchFamily="34" charset="-122"/>
                <a:cs typeface="Calibri" pitchFamily="34" charset="-120"/>
              </a:rPr>
              <a:t>warnings, Pillar 8 rules</a:t>
            </a:r>
            <a:endParaRPr lang="en-US" sz="1100" dirty="0"/>
          </a:p>
        </p:txBody>
      </p:sp>
      <p:sp>
        <p:nvSpPr>
          <p:cNvPr id="34" name="Shape 31"/>
          <p:cNvSpPr/>
          <p:nvPr/>
        </p:nvSpPr>
        <p:spPr>
          <a:xfrm>
            <a:off x="6675120" y="5596128"/>
            <a:ext cx="5056632" cy="685800"/>
          </a:xfrm>
          <a:prstGeom prst="roundRect">
            <a:avLst>
              <a:gd name="adj" fmla="val 9333"/>
            </a:avLst>
          </a:prstGeom>
          <a:solidFill>
            <a:srgbClr val="33201F"/>
          </a:solidFill>
          <a:ln w="9525">
            <a:solidFill>
              <a:srgbClr val="33201F"/>
            </a:solidFill>
            <a:prstDash val="solid"/>
          </a:ln>
        </p:spPr>
      </p:sp>
      <p:sp>
        <p:nvSpPr>
          <p:cNvPr id="35" name="Text 32"/>
          <p:cNvSpPr txBox="1"/>
          <p:nvPr/>
        </p:nvSpPr>
        <p:spPr>
          <a:xfrm>
            <a:off x="6812280" y="5596128"/>
            <a:ext cx="4846320" cy="685800"/>
          </a:xfrm>
          <a:prstGeom prst="rect">
            <a:avLst/>
          </a:prstGeom>
          <a:noFill/>
          <a:ln/>
        </p:spPr>
        <p:txBody>
          <a:bodyPr wrap="square" lIns="0" tIns="0" rIns="0" bIns="0" rtlCol="0" anchor="ctr"/>
          <a:lstStyle/>
          <a:p>
            <a:pPr indent="0" marL="0">
              <a:buNone/>
            </a:pPr>
            <a:r>
              <a:rPr lang="en-US" sz="1100" b="1" dirty="0">
                <a:solidFill>
                  <a:srgbClr val="E5746A"/>
                </a:solidFill>
                <a:latin typeface="Calibri" pitchFamily="34" charset="0"/>
                <a:ea typeface="Calibri" pitchFamily="34" charset="-122"/>
                <a:cs typeface="Calibri" pitchFamily="34" charset="-120"/>
              </a:rPr>
              <a:t>Removed:  </a:t>
            </a:r>
            <a:pPr indent="0" marL="0">
              <a:buNone/>
            </a:pPr>
            <a:r>
              <a:rPr lang="en-US" sz="1100" dirty="0">
                <a:solidFill>
                  <a:srgbClr val="EEF1F4"/>
                </a:solidFill>
                <a:latin typeface="Calibri" pitchFamily="34" charset="0"/>
                <a:ea typeface="Calibri" pitchFamily="34" charset="-122"/>
                <a:cs typeface="Calibri" pitchFamily="34" charset="-120"/>
              </a:rPr>
              <a:t>WACS score and MCD density in the last N bars (decisions 001–003).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NUMBER CHECK (D3)</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Every number in a reply must exist in its context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457200" y="1371600"/>
            <a:ext cx="2606040" cy="1417320"/>
          </a:xfrm>
          <a:prstGeom prst="roundRect">
            <a:avLst>
              <a:gd name="adj" fmla="val 4516"/>
            </a:avLst>
          </a:prstGeom>
          <a:solidFill>
            <a:srgbClr val="1D242E"/>
          </a:solidFill>
          <a:ln w="9525">
            <a:solidFill>
              <a:srgbClr val="323C49"/>
            </a:solidFill>
            <a:prstDash val="solid"/>
          </a:ln>
        </p:spPr>
      </p:sp>
      <p:sp>
        <p:nvSpPr>
          <p:cNvPr id="9" name="Text 6"/>
          <p:cNvSpPr txBox="1"/>
          <p:nvPr/>
        </p:nvSpPr>
        <p:spPr>
          <a:xfrm>
            <a:off x="59436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Extract</a:t>
            </a:r>
            <a:endParaRPr lang="en-US" sz="1400" dirty="0"/>
          </a:p>
        </p:txBody>
      </p:sp>
      <p:sp>
        <p:nvSpPr>
          <p:cNvPr id="10" name="Text 7"/>
          <p:cNvSpPr txBox="1"/>
          <p:nvPr/>
        </p:nvSpPr>
        <p:spPr>
          <a:xfrm>
            <a:off x="594360" y="1865376"/>
            <a:ext cx="2359152" cy="8686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prices, $ distances, %, ratios and times; locale formats normalised</a:t>
            </a:r>
            <a:endParaRPr lang="en-US" sz="1150" dirty="0"/>
          </a:p>
        </p:txBody>
      </p:sp>
      <p:sp>
        <p:nvSpPr>
          <p:cNvPr id="11" name="Shape 8"/>
          <p:cNvSpPr/>
          <p:nvPr/>
        </p:nvSpPr>
        <p:spPr>
          <a:xfrm>
            <a:off x="3081528" y="2075688"/>
            <a:ext cx="192024" cy="0"/>
          </a:xfrm>
          <a:prstGeom prst="line">
            <a:avLst/>
          </a:prstGeom>
          <a:noFill/>
          <a:ln w="15875">
            <a:solidFill>
              <a:srgbClr val="7D8A99"/>
            </a:solidFill>
            <a:prstDash val="solid"/>
            <a:tailEnd type="triangle"/>
          </a:ln>
        </p:spPr>
      </p:sp>
      <p:sp>
        <p:nvSpPr>
          <p:cNvPr id="12" name="Shape 9"/>
          <p:cNvSpPr/>
          <p:nvPr/>
        </p:nvSpPr>
        <p:spPr>
          <a:xfrm>
            <a:off x="3291840" y="1371600"/>
            <a:ext cx="2606040" cy="1417320"/>
          </a:xfrm>
          <a:prstGeom prst="roundRect">
            <a:avLst>
              <a:gd name="adj" fmla="val 4516"/>
            </a:avLst>
          </a:prstGeom>
          <a:solidFill>
            <a:srgbClr val="1D242E"/>
          </a:solidFill>
          <a:ln w="9525">
            <a:solidFill>
              <a:srgbClr val="323C49"/>
            </a:solidFill>
            <a:prstDash val="solid"/>
          </a:ln>
        </p:spPr>
      </p:sp>
      <p:sp>
        <p:nvSpPr>
          <p:cNvPr id="13" name="Text 10"/>
          <p:cNvSpPr txBox="1"/>
          <p:nvPr/>
        </p:nvSpPr>
        <p:spPr>
          <a:xfrm>
            <a:off x="342900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Match</a:t>
            </a:r>
            <a:endParaRPr lang="en-US" sz="1400" dirty="0"/>
          </a:p>
        </p:txBody>
      </p:sp>
      <p:sp>
        <p:nvSpPr>
          <p:cNvPr id="14" name="Text 11"/>
          <p:cNvSpPr txBox="1"/>
          <p:nvPr/>
        </p:nvSpPr>
        <p:spPr>
          <a:xfrm>
            <a:off x="3429000" y="1865376"/>
            <a:ext cx="2359152" cy="8686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against the context set: ±$0.05 on prices, exact for % and times</a:t>
            </a:r>
            <a:endParaRPr lang="en-US" sz="1150" dirty="0"/>
          </a:p>
        </p:txBody>
      </p:sp>
      <p:sp>
        <p:nvSpPr>
          <p:cNvPr id="15" name="Shape 12"/>
          <p:cNvSpPr/>
          <p:nvPr/>
        </p:nvSpPr>
        <p:spPr>
          <a:xfrm>
            <a:off x="5916168" y="2075688"/>
            <a:ext cx="192024" cy="0"/>
          </a:xfrm>
          <a:prstGeom prst="line">
            <a:avLst/>
          </a:prstGeom>
          <a:noFill/>
          <a:ln w="15875">
            <a:solidFill>
              <a:srgbClr val="7D8A99"/>
            </a:solidFill>
            <a:prstDash val="solid"/>
            <a:tailEnd type="triangle"/>
          </a:ln>
        </p:spPr>
      </p:sp>
      <p:sp>
        <p:nvSpPr>
          <p:cNvPr id="16" name="Shape 13"/>
          <p:cNvSpPr/>
          <p:nvPr/>
        </p:nvSpPr>
        <p:spPr>
          <a:xfrm>
            <a:off x="6126480" y="1371600"/>
            <a:ext cx="2606040" cy="1417320"/>
          </a:xfrm>
          <a:prstGeom prst="roundRect">
            <a:avLst>
              <a:gd name="adj" fmla="val 4516"/>
            </a:avLst>
          </a:prstGeom>
          <a:solidFill>
            <a:srgbClr val="1D242E"/>
          </a:solidFill>
          <a:ln w="9525">
            <a:solidFill>
              <a:srgbClr val="323C49"/>
            </a:solidFill>
            <a:prstDash val="solid"/>
          </a:ln>
        </p:spPr>
      </p:sp>
      <p:sp>
        <p:nvSpPr>
          <p:cNvPr id="17" name="Text 14"/>
          <p:cNvSpPr txBox="1"/>
          <p:nvPr/>
        </p:nvSpPr>
        <p:spPr>
          <a:xfrm>
            <a:off x="6263640" y="1463040"/>
            <a:ext cx="2331720" cy="384048"/>
          </a:xfrm>
          <a:prstGeom prst="rect">
            <a:avLst/>
          </a:prstGeom>
          <a:noFill/>
          <a:ln/>
        </p:spPr>
        <p:txBody>
          <a:bodyPr wrap="square" lIns="0" tIns="0" rIns="0" bIns="0" rtlCol="0" anchor="t"/>
          <a:lstStyle/>
          <a:p>
            <a:pPr indent="0" marL="0">
              <a:buNone/>
            </a:pPr>
            <a:r>
              <a:rPr lang="en-US" sz="1400" b="1" dirty="0">
                <a:solidFill>
                  <a:srgbClr val="EEF1F4"/>
                </a:solidFill>
                <a:latin typeface="Calibri" pitchFamily="34" charset="0"/>
                <a:ea typeface="Calibri" pitchFamily="34" charset="-122"/>
                <a:cs typeface="Calibri" pitchFamily="34" charset="-120"/>
              </a:rPr>
              <a:t>Regenerate once</a:t>
            </a:r>
            <a:endParaRPr lang="en-US" sz="1400" dirty="0"/>
          </a:p>
        </p:txBody>
      </p:sp>
      <p:sp>
        <p:nvSpPr>
          <p:cNvPr id="18" name="Text 15"/>
          <p:cNvSpPr txBox="1"/>
          <p:nvPr/>
        </p:nvSpPr>
        <p:spPr>
          <a:xfrm>
            <a:off x="6263640" y="1865376"/>
            <a:ext cx="2359152" cy="8686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naming the numbers that failed</a:t>
            </a:r>
            <a:endParaRPr lang="en-US" sz="1150" dirty="0"/>
          </a:p>
        </p:txBody>
      </p:sp>
      <p:sp>
        <p:nvSpPr>
          <p:cNvPr id="19" name="Shape 16"/>
          <p:cNvSpPr/>
          <p:nvPr/>
        </p:nvSpPr>
        <p:spPr>
          <a:xfrm>
            <a:off x="8750808" y="2075688"/>
            <a:ext cx="192024" cy="0"/>
          </a:xfrm>
          <a:prstGeom prst="line">
            <a:avLst/>
          </a:prstGeom>
          <a:noFill/>
          <a:ln w="15875">
            <a:solidFill>
              <a:srgbClr val="7D8A99"/>
            </a:solidFill>
            <a:prstDash val="solid"/>
            <a:tailEnd type="triangle"/>
          </a:ln>
        </p:spPr>
      </p:sp>
      <p:sp>
        <p:nvSpPr>
          <p:cNvPr id="20" name="Shape 17"/>
          <p:cNvSpPr/>
          <p:nvPr/>
        </p:nvSpPr>
        <p:spPr>
          <a:xfrm>
            <a:off x="8961120" y="1371600"/>
            <a:ext cx="2606040" cy="1417320"/>
          </a:xfrm>
          <a:prstGeom prst="roundRect">
            <a:avLst>
              <a:gd name="adj" fmla="val 4516"/>
            </a:avLst>
          </a:prstGeom>
          <a:solidFill>
            <a:srgbClr val="1D242E"/>
          </a:solidFill>
          <a:ln w="15875">
            <a:solidFill>
              <a:srgbClr val="E2B54E"/>
            </a:solidFill>
            <a:prstDash val="solid"/>
          </a:ln>
        </p:spPr>
      </p:sp>
      <p:sp>
        <p:nvSpPr>
          <p:cNvPr id="21" name="Text 18"/>
          <p:cNvSpPr txBox="1"/>
          <p:nvPr/>
        </p:nvSpPr>
        <p:spPr>
          <a:xfrm>
            <a:off x="9098280" y="1463040"/>
            <a:ext cx="2331720" cy="384048"/>
          </a:xfrm>
          <a:prstGeom prst="rect">
            <a:avLst/>
          </a:prstGeom>
          <a:noFill/>
          <a:ln/>
        </p:spPr>
        <p:txBody>
          <a:bodyPr wrap="square" lIns="0" tIns="0" rIns="0" bIns="0" rtlCol="0" anchor="t"/>
          <a:lstStyle/>
          <a:p>
            <a:pPr indent="0" marL="0">
              <a:buNone/>
            </a:pPr>
            <a:r>
              <a:rPr lang="en-US" sz="1400" b="1" dirty="0">
                <a:solidFill>
                  <a:srgbClr val="E2B54E"/>
                </a:solidFill>
                <a:latin typeface="Calibri" pitchFamily="34" charset="0"/>
                <a:ea typeface="Calibri" pitchFamily="34" charset="-122"/>
                <a:cs typeface="Calibri" pitchFamily="34" charset="-120"/>
              </a:rPr>
              <a:t>Flag</a:t>
            </a:r>
            <a:endParaRPr lang="en-US" sz="1400" dirty="0"/>
          </a:p>
        </p:txBody>
      </p:sp>
      <p:sp>
        <p:nvSpPr>
          <p:cNvPr id="22" name="Text 19"/>
          <p:cNvSpPr txBox="1"/>
          <p:nvPr/>
        </p:nvSpPr>
        <p:spPr>
          <a:xfrm>
            <a:off x="9098280" y="1865376"/>
            <a:ext cx="2359152" cy="8686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number still unmatched is shown as “—, not verified” and logged</a:t>
            </a:r>
            <a:endParaRPr lang="en-US" sz="1150" dirty="0"/>
          </a:p>
        </p:txBody>
      </p:sp>
      <p:sp>
        <p:nvSpPr>
          <p:cNvPr id="23" name="Shape 20"/>
          <p:cNvSpPr/>
          <p:nvPr/>
        </p:nvSpPr>
        <p:spPr>
          <a:xfrm>
            <a:off x="457200" y="3063240"/>
            <a:ext cx="5513832" cy="3218688"/>
          </a:xfrm>
          <a:prstGeom prst="roundRect">
            <a:avLst>
              <a:gd name="adj" fmla="val 1989"/>
            </a:avLst>
          </a:prstGeom>
          <a:solidFill>
            <a:srgbClr val="1D242E"/>
          </a:solidFill>
          <a:ln w="9525">
            <a:solidFill>
              <a:srgbClr val="323C49"/>
            </a:solidFill>
            <a:prstDash val="solid"/>
          </a:ln>
        </p:spPr>
      </p:sp>
      <p:sp>
        <p:nvSpPr>
          <p:cNvPr id="24" name="Text 21"/>
          <p:cNvSpPr txBox="1"/>
          <p:nvPr/>
        </p:nvSpPr>
        <p:spPr>
          <a:xfrm>
            <a:off x="640080" y="3172968"/>
            <a:ext cx="51206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THE CONTEXT SET</a:t>
            </a:r>
            <a:endParaRPr lang="en-US" sz="950" dirty="0"/>
          </a:p>
        </p:txBody>
      </p:sp>
      <p:sp>
        <p:nvSpPr>
          <p:cNvPr id="25" name="Shape 22"/>
          <p:cNvSpPr/>
          <p:nvPr/>
        </p:nvSpPr>
        <p:spPr>
          <a:xfrm>
            <a:off x="658368" y="3657600"/>
            <a:ext cx="100584" cy="100584"/>
          </a:xfrm>
          <a:prstGeom prst="ellipse">
            <a:avLst/>
          </a:prstGeom>
          <a:solidFill>
            <a:srgbClr val="E2B54E"/>
          </a:solidFill>
          <a:ln w="12700">
            <a:solidFill>
              <a:srgbClr val="E2B54E"/>
            </a:solidFill>
            <a:prstDash val="solid"/>
          </a:ln>
        </p:spPr>
      </p:sp>
      <p:sp>
        <p:nvSpPr>
          <p:cNvPr id="26" name="Text 23"/>
          <p:cNvSpPr txBox="1"/>
          <p:nvPr/>
        </p:nvSpPr>
        <p:spPr>
          <a:xfrm>
            <a:off x="859536" y="3529584"/>
            <a:ext cx="4937760" cy="45720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The day line and the last price</a:t>
            </a:r>
            <a:endParaRPr lang="en-US" sz="1200" dirty="0"/>
          </a:p>
        </p:txBody>
      </p:sp>
      <p:sp>
        <p:nvSpPr>
          <p:cNvPr id="27" name="Shape 24"/>
          <p:cNvSpPr/>
          <p:nvPr/>
        </p:nvSpPr>
        <p:spPr>
          <a:xfrm>
            <a:off x="658368" y="4169664"/>
            <a:ext cx="100584" cy="100584"/>
          </a:xfrm>
          <a:prstGeom prst="ellipse">
            <a:avLst/>
          </a:prstGeom>
          <a:solidFill>
            <a:srgbClr val="E2B54E"/>
          </a:solidFill>
          <a:ln w="12700">
            <a:solidFill>
              <a:srgbClr val="E2B54E"/>
            </a:solidFill>
            <a:prstDash val="solid"/>
          </a:ln>
        </p:spPr>
      </p:sp>
      <p:sp>
        <p:nvSpPr>
          <p:cNvPr id="28" name="Text 25"/>
          <p:cNvSpPr txBox="1"/>
          <p:nvPr/>
        </p:nvSpPr>
        <p:spPr>
          <a:xfrm>
            <a:off x="859536" y="4041648"/>
            <a:ext cx="4937760" cy="45720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Every level in the envelopes and zones</a:t>
            </a:r>
            <a:endParaRPr lang="en-US" sz="1200" dirty="0"/>
          </a:p>
        </p:txBody>
      </p:sp>
      <p:sp>
        <p:nvSpPr>
          <p:cNvPr id="29" name="Shape 26"/>
          <p:cNvSpPr/>
          <p:nvPr/>
        </p:nvSpPr>
        <p:spPr>
          <a:xfrm>
            <a:off x="658368" y="4681728"/>
            <a:ext cx="100584" cy="100584"/>
          </a:xfrm>
          <a:prstGeom prst="ellipse">
            <a:avLst/>
          </a:prstGeom>
          <a:solidFill>
            <a:srgbClr val="E2B54E"/>
          </a:solidFill>
          <a:ln w="12700">
            <a:solidFill>
              <a:srgbClr val="E2B54E"/>
            </a:solidFill>
            <a:prstDash val="solid"/>
          </a:ln>
        </p:spPr>
      </p:sp>
      <p:sp>
        <p:nvSpPr>
          <p:cNvPr id="30" name="Text 27"/>
          <p:cNvSpPr txBox="1"/>
          <p:nvPr/>
        </p:nvSpPr>
        <p:spPr>
          <a:xfrm>
            <a:off x="859536" y="4553712"/>
            <a:ext cx="4937760" cy="45720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Distances from the last price to each level and zone</a:t>
            </a:r>
            <a:endParaRPr lang="en-US" sz="1200" dirty="0"/>
          </a:p>
        </p:txBody>
      </p:sp>
      <p:sp>
        <p:nvSpPr>
          <p:cNvPr id="31" name="Shape 28"/>
          <p:cNvSpPr/>
          <p:nvPr/>
        </p:nvSpPr>
        <p:spPr>
          <a:xfrm>
            <a:off x="658368" y="5193792"/>
            <a:ext cx="100584" cy="100584"/>
          </a:xfrm>
          <a:prstGeom prst="ellipse">
            <a:avLst/>
          </a:prstGeom>
          <a:solidFill>
            <a:srgbClr val="E2B54E"/>
          </a:solidFill>
          <a:ln w="12700">
            <a:solidFill>
              <a:srgbClr val="E2B54E"/>
            </a:solidFill>
            <a:prstDash val="solid"/>
          </a:ln>
        </p:spPr>
      </p:sp>
      <p:sp>
        <p:nvSpPr>
          <p:cNvPr id="32" name="Text 29"/>
          <p:cNvSpPr txBox="1"/>
          <p:nvPr/>
        </p:nvSpPr>
        <p:spPr>
          <a:xfrm>
            <a:off x="859536" y="5065776"/>
            <a:ext cx="4937760" cy="45720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Profile values and the user’s own inputs</a:t>
            </a:r>
            <a:endParaRPr lang="en-US" sz="1200" dirty="0"/>
          </a:p>
        </p:txBody>
      </p:sp>
      <p:sp>
        <p:nvSpPr>
          <p:cNvPr id="33" name="Shape 30"/>
          <p:cNvSpPr/>
          <p:nvPr/>
        </p:nvSpPr>
        <p:spPr>
          <a:xfrm>
            <a:off x="658368" y="5705856"/>
            <a:ext cx="100584" cy="100584"/>
          </a:xfrm>
          <a:prstGeom prst="ellipse">
            <a:avLst/>
          </a:prstGeom>
          <a:solidFill>
            <a:srgbClr val="E2B54E"/>
          </a:solidFill>
          <a:ln w="12700">
            <a:solidFill>
              <a:srgbClr val="E2B54E"/>
            </a:solidFill>
            <a:prstDash val="solid"/>
          </a:ln>
        </p:spPr>
      </p:sp>
      <p:sp>
        <p:nvSpPr>
          <p:cNvPr id="34" name="Text 31"/>
          <p:cNvSpPr txBox="1"/>
          <p:nvPr/>
        </p:nvSpPr>
        <p:spPr>
          <a:xfrm>
            <a:off x="859536" y="5577840"/>
            <a:ext cx="4937760" cy="457200"/>
          </a:xfrm>
          <a:prstGeom prst="rect">
            <a:avLst/>
          </a:prstGeom>
          <a:noFill/>
          <a:ln/>
        </p:spPr>
        <p:txBody>
          <a:bodyPr wrap="square" lIns="0" tIns="0" rIns="0" bIns="0" rtlCol="0" anchor="ctr"/>
          <a:lstStyle/>
          <a:p>
            <a:pPr indent="0" marL="0">
              <a:buNone/>
            </a:pPr>
            <a:r>
              <a:rPr lang="en-US" sz="1200" dirty="0">
                <a:solidFill>
                  <a:srgbClr val="EEF1F4"/>
                </a:solidFill>
                <a:latin typeface="Calibri" pitchFamily="34" charset="0"/>
                <a:ea typeface="Calibri" pitchFamily="34" charset="-122"/>
                <a:cs typeface="Calibri" pitchFamily="34" charset="-120"/>
              </a:rPr>
              <a:t>Event times; statistics with their n</a:t>
            </a:r>
            <a:endParaRPr lang="en-US" sz="1200" dirty="0"/>
          </a:p>
        </p:txBody>
      </p:sp>
      <p:sp>
        <p:nvSpPr>
          <p:cNvPr id="35" name="Shape 32"/>
          <p:cNvSpPr/>
          <p:nvPr/>
        </p:nvSpPr>
        <p:spPr>
          <a:xfrm>
            <a:off x="6126480" y="3063240"/>
            <a:ext cx="5605272" cy="3218688"/>
          </a:xfrm>
          <a:prstGeom prst="roundRect">
            <a:avLst>
              <a:gd name="adj" fmla="val 1989"/>
            </a:avLst>
          </a:prstGeom>
          <a:solidFill>
            <a:srgbClr val="161C24"/>
          </a:solidFill>
          <a:ln w="9525">
            <a:solidFill>
              <a:srgbClr val="323C49"/>
            </a:solidFill>
            <a:prstDash val="solid"/>
          </a:ln>
        </p:spPr>
      </p:sp>
      <p:sp>
        <p:nvSpPr>
          <p:cNvPr id="36" name="Text 33"/>
          <p:cNvSpPr txBox="1"/>
          <p:nvPr/>
        </p:nvSpPr>
        <p:spPr>
          <a:xfrm>
            <a:off x="6309360" y="3172968"/>
            <a:ext cx="521208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A PLANTED ERROR IS CAUGHT</a:t>
            </a:r>
            <a:endParaRPr lang="en-US" sz="950" dirty="0"/>
          </a:p>
        </p:txBody>
      </p:sp>
      <p:sp>
        <p:nvSpPr>
          <p:cNvPr id="37" name="Text 34"/>
          <p:cNvSpPr txBox="1"/>
          <p:nvPr/>
        </p:nvSpPr>
        <p:spPr>
          <a:xfrm>
            <a:off x="6309360" y="3566160"/>
            <a:ext cx="5212080" cy="365760"/>
          </a:xfrm>
          <a:prstGeom prst="rect">
            <a:avLst/>
          </a:prstGeom>
          <a:noFill/>
          <a:ln/>
        </p:spPr>
        <p:txBody>
          <a:bodyPr wrap="square" lIns="0" tIns="0" rIns="0" bIns="0" rtlCol="0" anchor="ctr"/>
          <a:lstStyle/>
          <a:p>
            <a:pPr indent="0" marL="0">
              <a:buNone/>
            </a:pPr>
            <a:r>
              <a:rPr lang="en-US" sz="1300" b="1" dirty="0">
                <a:solidFill>
                  <a:srgbClr val="A3AEBB"/>
                </a:solidFill>
                <a:latin typeface="Courier New" pitchFamily="34" charset="0"/>
                <a:ea typeface="Courier New" pitchFamily="34" charset="-122"/>
                <a:cs typeface="Courier New" pitchFamily="34" charset="-120"/>
              </a:rPr>
              <a:t>Reply: </a:t>
            </a:r>
            <a:pPr indent="0" marL="0">
              <a:buNone/>
            </a:pPr>
            <a:r>
              <a:rPr lang="en-US" sz="1300" dirty="0">
                <a:solidFill>
                  <a:srgbClr val="EEF1F4"/>
                </a:solidFill>
                <a:latin typeface="Courier New" pitchFamily="34" charset="0"/>
                <a:ea typeface="Courier New" pitchFamily="34" charset="-122"/>
                <a:cs typeface="Courier New" pitchFamily="34" charset="-120"/>
              </a:rPr>
              <a:t>“support near </a:t>
            </a:r>
            <a:pPr indent="0" marL="0">
              <a:buNone/>
            </a:pPr>
            <a:r>
              <a:rPr lang="en-US" sz="1300" b="1" dirty="0">
                <a:solidFill>
                  <a:srgbClr val="E5746A"/>
                </a:solidFill>
                <a:latin typeface="Courier New" pitchFamily="34" charset="0"/>
                <a:ea typeface="Courier New" pitchFamily="34" charset="-122"/>
                <a:cs typeface="Courier New" pitchFamily="34" charset="-120"/>
              </a:rPr>
              <a:t>4350.72</a:t>
            </a:r>
            <a:pPr indent="0" marL="0">
              <a:buNone/>
            </a:pPr>
            <a:r>
              <a:rPr lang="en-US" sz="1300" dirty="0">
                <a:solidFill>
                  <a:srgbClr val="EEF1F4"/>
                </a:solidFill>
                <a:latin typeface="Courier New" pitchFamily="34" charset="0"/>
                <a:ea typeface="Courier New" pitchFamily="34" charset="-122"/>
                <a:cs typeface="Courier New" pitchFamily="34" charset="-120"/>
              </a:rPr>
              <a:t>”</a:t>
            </a:r>
            <a:endParaRPr lang="en-US" sz="1300" dirty="0"/>
          </a:p>
        </p:txBody>
      </p:sp>
      <p:sp>
        <p:nvSpPr>
          <p:cNvPr id="38" name="Text 35"/>
          <p:cNvSpPr txBox="1"/>
          <p:nvPr/>
        </p:nvSpPr>
        <p:spPr>
          <a:xfrm>
            <a:off x="6309360" y="3968496"/>
            <a:ext cx="5212080" cy="365760"/>
          </a:xfrm>
          <a:prstGeom prst="rect">
            <a:avLst/>
          </a:prstGeom>
          <a:noFill/>
          <a:ln/>
        </p:spPr>
        <p:txBody>
          <a:bodyPr wrap="square" lIns="0" tIns="0" rIns="0" bIns="0" rtlCol="0" anchor="ctr"/>
          <a:lstStyle/>
          <a:p>
            <a:pPr indent="0" marL="0">
              <a:buNone/>
            </a:pPr>
            <a:r>
              <a:rPr lang="en-US" sz="1300" b="1" dirty="0">
                <a:solidFill>
                  <a:srgbClr val="A3AEBB"/>
                </a:solidFill>
                <a:latin typeface="Courier New" pitchFamily="34" charset="0"/>
                <a:ea typeface="Courier New" pitchFamily="34" charset="-122"/>
                <a:cs typeface="Courier New" pitchFamily="34" charset="-120"/>
              </a:rPr>
              <a:t>Nearest: </a:t>
            </a:r>
            <a:pPr indent="0" marL="0">
              <a:buNone/>
            </a:pPr>
            <a:r>
              <a:rPr lang="en-US" sz="1300" dirty="0">
                <a:solidFill>
                  <a:srgbClr val="EEF1F4"/>
                </a:solidFill>
                <a:latin typeface="Courier New" pitchFamily="34" charset="0"/>
                <a:ea typeface="Courier New" pitchFamily="34" charset="-122"/>
                <a:cs typeface="Courier New" pitchFamily="34" charset="-120"/>
              </a:rPr>
              <a:t>M5 LOEDT 4350.22, off by $0.50</a:t>
            </a:r>
            <a:endParaRPr lang="en-US" sz="1300" dirty="0"/>
          </a:p>
        </p:txBody>
      </p:sp>
      <p:sp>
        <p:nvSpPr>
          <p:cNvPr id="39" name="Text 36"/>
          <p:cNvSpPr txBox="1"/>
          <p:nvPr/>
        </p:nvSpPr>
        <p:spPr>
          <a:xfrm>
            <a:off x="6309360" y="4370832"/>
            <a:ext cx="5212080" cy="365760"/>
          </a:xfrm>
          <a:prstGeom prst="rect">
            <a:avLst/>
          </a:prstGeom>
          <a:noFill/>
          <a:ln/>
        </p:spPr>
        <p:txBody>
          <a:bodyPr wrap="square" lIns="0" tIns="0" rIns="0" bIns="0" rtlCol="0" anchor="ctr"/>
          <a:lstStyle/>
          <a:p>
            <a:pPr indent="0" marL="0">
              <a:buNone/>
            </a:pPr>
            <a:r>
              <a:rPr lang="en-US" sz="1300" b="1" dirty="0">
                <a:solidFill>
                  <a:srgbClr val="A3AEBB"/>
                </a:solidFill>
                <a:latin typeface="Courier New" pitchFamily="34" charset="0"/>
                <a:ea typeface="Courier New" pitchFamily="34" charset="-122"/>
                <a:cs typeface="Courier New" pitchFamily="34" charset="-120"/>
              </a:rPr>
              <a:t>Result: </a:t>
            </a:r>
            <a:pPr indent="0" marL="0">
              <a:buNone/>
            </a:pPr>
            <a:r>
              <a:rPr lang="en-US" sz="1300" b="1" dirty="0">
                <a:solidFill>
                  <a:srgbClr val="E2B54E"/>
                </a:solidFill>
                <a:latin typeface="Courier New" pitchFamily="34" charset="0"/>
                <a:ea typeface="Courier New" pitchFamily="34" charset="-122"/>
                <a:cs typeface="Courier New" pitchFamily="34" charset="-120"/>
              </a:rPr>
              <a:t>fails ±$0.05 → regenerated</a:t>
            </a:r>
            <a:endParaRPr lang="en-US" sz="1300" dirty="0"/>
          </a:p>
        </p:txBody>
      </p:sp>
      <p:sp>
        <p:nvSpPr>
          <p:cNvPr id="40" name="Text 37"/>
          <p:cNvSpPr txBox="1"/>
          <p:nvPr/>
        </p:nvSpPr>
        <p:spPr>
          <a:xfrm>
            <a:off x="6309360" y="4937760"/>
            <a:ext cx="5257800" cy="123444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Every violation is logged with the model and prompt version; the rate is on the Section 7 dashboard. Report 2’s numbers come from Engine 4 and are checked the same way.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WORDING GUIDE (F3)</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Decision support, said the same way in 16 languages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457200" y="1371600"/>
            <a:ext cx="3639312" cy="4910328"/>
          </a:xfrm>
          <a:prstGeom prst="roundRect">
            <a:avLst>
              <a:gd name="adj" fmla="val 1759"/>
            </a:avLst>
          </a:prstGeom>
          <a:solidFill>
            <a:srgbClr val="1D242E"/>
          </a:solidFill>
          <a:ln w="9525">
            <a:solidFill>
              <a:srgbClr val="323C49"/>
            </a:solidFill>
            <a:prstDash val="solid"/>
          </a:ln>
        </p:spPr>
      </p:sp>
      <p:sp>
        <p:nvSpPr>
          <p:cNvPr id="9" name="Shape 6"/>
          <p:cNvSpPr/>
          <p:nvPr/>
        </p:nvSpPr>
        <p:spPr>
          <a:xfrm>
            <a:off x="621792" y="1536192"/>
            <a:ext cx="146304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46304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ALWAYS</a:t>
            </a:r>
            <a:endParaRPr lang="en-US" sz="950" dirty="0"/>
          </a:p>
        </p:txBody>
      </p:sp>
      <p:sp>
        <p:nvSpPr>
          <p:cNvPr id="11" name="Shape 8"/>
          <p:cNvSpPr/>
          <p:nvPr/>
        </p:nvSpPr>
        <p:spPr>
          <a:xfrm>
            <a:off x="658368" y="2194560"/>
            <a:ext cx="100584" cy="100584"/>
          </a:xfrm>
          <a:prstGeom prst="ellipse">
            <a:avLst/>
          </a:prstGeom>
          <a:solidFill>
            <a:srgbClr val="5CC2B2"/>
          </a:solidFill>
          <a:ln w="12700">
            <a:solidFill>
              <a:srgbClr val="5CC2B2"/>
            </a:solidFill>
            <a:prstDash val="solid"/>
          </a:ln>
        </p:spPr>
      </p:sp>
      <p:sp>
        <p:nvSpPr>
          <p:cNvPr id="12" name="Text 9"/>
          <p:cNvSpPr txBox="1"/>
          <p:nvPr/>
        </p:nvSpPr>
        <p:spPr>
          <a:xfrm>
            <a:off x="859536" y="206654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Conditional phrasing: “if price holds above …”</a:t>
            </a:r>
            <a:endParaRPr lang="en-US" sz="1200" dirty="0"/>
          </a:p>
        </p:txBody>
      </p:sp>
      <p:sp>
        <p:nvSpPr>
          <p:cNvPr id="13" name="Shape 10"/>
          <p:cNvSpPr/>
          <p:nvPr/>
        </p:nvSpPr>
        <p:spPr>
          <a:xfrm>
            <a:off x="658368" y="3017520"/>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59536" y="288950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invalidation level with every direction</a:t>
            </a:r>
            <a:endParaRPr lang="en-US" sz="1200" dirty="0"/>
          </a:p>
        </p:txBody>
      </p:sp>
      <p:sp>
        <p:nvSpPr>
          <p:cNvPr id="15" name="Shape 12"/>
          <p:cNvSpPr/>
          <p:nvPr/>
        </p:nvSpPr>
        <p:spPr>
          <a:xfrm>
            <a:off x="658368" y="3840480"/>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59536" y="371246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data stamp on every reply</a:t>
            </a:r>
            <a:endParaRPr lang="en-US" sz="1200" dirty="0"/>
          </a:p>
        </p:txBody>
      </p:sp>
      <p:sp>
        <p:nvSpPr>
          <p:cNvPr id="17" name="Shape 14"/>
          <p:cNvSpPr/>
          <p:nvPr/>
        </p:nvSpPr>
        <p:spPr>
          <a:xfrm>
            <a:off x="658368" y="4663440"/>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59536" y="453542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Statistics only with their n (decision 022)</a:t>
            </a:r>
            <a:endParaRPr lang="en-US" sz="1200" dirty="0"/>
          </a:p>
        </p:txBody>
      </p:sp>
      <p:sp>
        <p:nvSpPr>
          <p:cNvPr id="19" name="Shape 16"/>
          <p:cNvSpPr/>
          <p:nvPr/>
        </p:nvSpPr>
        <p:spPr>
          <a:xfrm>
            <a:off x="658368" y="5486400"/>
            <a:ext cx="100584" cy="100584"/>
          </a:xfrm>
          <a:prstGeom prst="ellipse">
            <a:avLst/>
          </a:prstGeom>
          <a:solidFill>
            <a:srgbClr val="5CC2B2"/>
          </a:solidFill>
          <a:ln w="12700">
            <a:solidFill>
              <a:srgbClr val="5CC2B2"/>
            </a:solidFill>
            <a:prstDash val="solid"/>
          </a:ln>
        </p:spPr>
      </p:sp>
      <p:sp>
        <p:nvSpPr>
          <p:cNvPr id="20" name="Text 17"/>
          <p:cNvSpPr txBox="1"/>
          <p:nvPr/>
        </p:nvSpPr>
        <p:spPr>
          <a:xfrm>
            <a:off x="859536" y="535838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Stand-aside said plainly when synthesis says so</a:t>
            </a:r>
            <a:endParaRPr lang="en-US" sz="1200" dirty="0"/>
          </a:p>
        </p:txBody>
      </p:sp>
      <p:sp>
        <p:nvSpPr>
          <p:cNvPr id="21" name="Shape 18"/>
          <p:cNvSpPr/>
          <p:nvPr/>
        </p:nvSpPr>
        <p:spPr>
          <a:xfrm>
            <a:off x="4261104" y="1371600"/>
            <a:ext cx="3639312" cy="4910328"/>
          </a:xfrm>
          <a:prstGeom prst="roundRect">
            <a:avLst>
              <a:gd name="adj" fmla="val 1759"/>
            </a:avLst>
          </a:prstGeom>
          <a:solidFill>
            <a:srgbClr val="1D242E"/>
          </a:solidFill>
          <a:ln w="9525">
            <a:solidFill>
              <a:srgbClr val="323C49"/>
            </a:solidFill>
            <a:prstDash val="solid"/>
          </a:ln>
        </p:spPr>
      </p:sp>
      <p:sp>
        <p:nvSpPr>
          <p:cNvPr id="22" name="Shape 19"/>
          <p:cNvSpPr/>
          <p:nvPr/>
        </p:nvSpPr>
        <p:spPr>
          <a:xfrm>
            <a:off x="4425696" y="1536192"/>
            <a:ext cx="1463040" cy="274320"/>
          </a:xfrm>
          <a:prstGeom prst="roundRect">
            <a:avLst>
              <a:gd name="adj" fmla="val 50000"/>
            </a:avLst>
          </a:prstGeom>
          <a:solidFill>
            <a:srgbClr val="E5746A"/>
          </a:solidFill>
          <a:ln w="9525">
            <a:solidFill>
              <a:srgbClr val="E5746A"/>
            </a:solidFill>
            <a:prstDash val="solid"/>
          </a:ln>
        </p:spPr>
      </p:sp>
      <p:sp>
        <p:nvSpPr>
          <p:cNvPr id="23" name="Text 20"/>
          <p:cNvSpPr txBox="1"/>
          <p:nvPr/>
        </p:nvSpPr>
        <p:spPr>
          <a:xfrm>
            <a:off x="4425696" y="1536192"/>
            <a:ext cx="146304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NEVER</a:t>
            </a:r>
            <a:endParaRPr lang="en-US" sz="950" dirty="0"/>
          </a:p>
        </p:txBody>
      </p:sp>
      <p:sp>
        <p:nvSpPr>
          <p:cNvPr id="24" name="Shape 21"/>
          <p:cNvSpPr/>
          <p:nvPr/>
        </p:nvSpPr>
        <p:spPr>
          <a:xfrm>
            <a:off x="4462272" y="2194560"/>
            <a:ext cx="100584" cy="100584"/>
          </a:xfrm>
          <a:prstGeom prst="ellipse">
            <a:avLst/>
          </a:prstGeom>
          <a:solidFill>
            <a:srgbClr val="E5746A"/>
          </a:solidFill>
          <a:ln w="12700">
            <a:solidFill>
              <a:srgbClr val="E5746A"/>
            </a:solidFill>
            <a:prstDash val="solid"/>
          </a:ln>
        </p:spPr>
      </p:sp>
      <p:sp>
        <p:nvSpPr>
          <p:cNvPr id="25" name="Text 22"/>
          <p:cNvSpPr txBox="1"/>
          <p:nvPr/>
        </p:nvSpPr>
        <p:spPr>
          <a:xfrm>
            <a:off x="4663440" y="206654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“Advice”, “we recommend you buy”</a:t>
            </a:r>
            <a:endParaRPr lang="en-US" sz="1200" dirty="0"/>
          </a:p>
        </p:txBody>
      </p:sp>
      <p:sp>
        <p:nvSpPr>
          <p:cNvPr id="26" name="Shape 23"/>
          <p:cNvSpPr/>
          <p:nvPr/>
        </p:nvSpPr>
        <p:spPr>
          <a:xfrm>
            <a:off x="4462272" y="3017520"/>
            <a:ext cx="100584" cy="100584"/>
          </a:xfrm>
          <a:prstGeom prst="ellipse">
            <a:avLst/>
          </a:prstGeom>
          <a:solidFill>
            <a:srgbClr val="E5746A"/>
          </a:solidFill>
          <a:ln w="12700">
            <a:solidFill>
              <a:srgbClr val="E5746A"/>
            </a:solidFill>
            <a:prstDash val="solid"/>
          </a:ln>
        </p:spPr>
      </p:sp>
      <p:sp>
        <p:nvSpPr>
          <p:cNvPr id="27" name="Text 24"/>
          <p:cNvSpPr txBox="1"/>
          <p:nvPr/>
        </p:nvSpPr>
        <p:spPr>
          <a:xfrm>
            <a:off x="4663440" y="288950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Unmeasured probabilities or grades: “82%”, “GRADE S”, “high-conviction”</a:t>
            </a:r>
            <a:endParaRPr lang="en-US" sz="1200" dirty="0"/>
          </a:p>
        </p:txBody>
      </p:sp>
      <p:sp>
        <p:nvSpPr>
          <p:cNvPr id="28" name="Shape 25"/>
          <p:cNvSpPr/>
          <p:nvPr/>
        </p:nvSpPr>
        <p:spPr>
          <a:xfrm>
            <a:off x="4462272" y="3840480"/>
            <a:ext cx="100584" cy="100584"/>
          </a:xfrm>
          <a:prstGeom prst="ellipse">
            <a:avLst/>
          </a:prstGeom>
          <a:solidFill>
            <a:srgbClr val="E5746A"/>
          </a:solidFill>
          <a:ln w="12700">
            <a:solidFill>
              <a:srgbClr val="E5746A"/>
            </a:solidFill>
            <a:prstDash val="solid"/>
          </a:ln>
        </p:spPr>
      </p:sp>
      <p:sp>
        <p:nvSpPr>
          <p:cNvPr id="29" name="Text 26"/>
          <p:cNvSpPr txBox="1"/>
          <p:nvPr/>
        </p:nvSpPr>
        <p:spPr>
          <a:xfrm>
            <a:off x="4663440" y="371246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“Guaranteed”, “100% accurate”, “hallucination-free”, “risk-free”</a:t>
            </a:r>
            <a:endParaRPr lang="en-US" sz="1200" dirty="0"/>
          </a:p>
        </p:txBody>
      </p:sp>
      <p:sp>
        <p:nvSpPr>
          <p:cNvPr id="30" name="Shape 27"/>
          <p:cNvSpPr/>
          <p:nvPr/>
        </p:nvSpPr>
        <p:spPr>
          <a:xfrm>
            <a:off x="4462272" y="4663440"/>
            <a:ext cx="100584" cy="100584"/>
          </a:xfrm>
          <a:prstGeom prst="ellipse">
            <a:avLst/>
          </a:prstGeom>
          <a:solidFill>
            <a:srgbClr val="E5746A"/>
          </a:solidFill>
          <a:ln w="12700">
            <a:solidFill>
              <a:srgbClr val="E5746A"/>
            </a:solidFill>
            <a:prstDash val="solid"/>
          </a:ln>
        </p:spPr>
      </p:sp>
      <p:sp>
        <p:nvSpPr>
          <p:cNvPr id="31" name="Text 28"/>
          <p:cNvSpPr txBox="1"/>
          <p:nvPr/>
        </p:nvSpPr>
        <p:spPr>
          <a:xfrm>
            <a:off x="4663440" y="453542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Urgency: “act now”, “don’t miss”</a:t>
            </a:r>
            <a:endParaRPr lang="en-US" sz="1200" dirty="0"/>
          </a:p>
        </p:txBody>
      </p:sp>
      <p:sp>
        <p:nvSpPr>
          <p:cNvPr id="32" name="Shape 29"/>
          <p:cNvSpPr/>
          <p:nvPr/>
        </p:nvSpPr>
        <p:spPr>
          <a:xfrm>
            <a:off x="4462272" y="5486400"/>
            <a:ext cx="100584" cy="100584"/>
          </a:xfrm>
          <a:prstGeom prst="ellipse">
            <a:avLst/>
          </a:prstGeom>
          <a:solidFill>
            <a:srgbClr val="E5746A"/>
          </a:solidFill>
          <a:ln w="12700">
            <a:solidFill>
              <a:srgbClr val="E5746A"/>
            </a:solidFill>
            <a:prstDash val="solid"/>
          </a:ln>
        </p:spPr>
      </p:sp>
      <p:sp>
        <p:nvSpPr>
          <p:cNvPr id="33" name="Text 30"/>
          <p:cNvSpPr txBox="1"/>
          <p:nvPr/>
        </p:nvSpPr>
        <p:spPr>
          <a:xfrm>
            <a:off x="4663440" y="535838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News that isn’t in the events feed</a:t>
            </a:r>
            <a:endParaRPr lang="en-US" sz="1200" dirty="0"/>
          </a:p>
        </p:txBody>
      </p:sp>
      <p:sp>
        <p:nvSpPr>
          <p:cNvPr id="34" name="Shape 31"/>
          <p:cNvSpPr/>
          <p:nvPr/>
        </p:nvSpPr>
        <p:spPr>
          <a:xfrm>
            <a:off x="8065008" y="1371600"/>
            <a:ext cx="3639312" cy="4910328"/>
          </a:xfrm>
          <a:prstGeom prst="roundRect">
            <a:avLst>
              <a:gd name="adj" fmla="val 1759"/>
            </a:avLst>
          </a:prstGeom>
          <a:solidFill>
            <a:srgbClr val="1D242E"/>
          </a:solidFill>
          <a:ln w="9525">
            <a:solidFill>
              <a:srgbClr val="323C49"/>
            </a:solidFill>
            <a:prstDash val="solid"/>
          </a:ln>
        </p:spPr>
      </p:sp>
      <p:sp>
        <p:nvSpPr>
          <p:cNvPr id="35" name="Shape 32"/>
          <p:cNvSpPr/>
          <p:nvPr/>
        </p:nvSpPr>
        <p:spPr>
          <a:xfrm>
            <a:off x="8229600" y="1536192"/>
            <a:ext cx="1463040" cy="274320"/>
          </a:xfrm>
          <a:prstGeom prst="roundRect">
            <a:avLst>
              <a:gd name="adj" fmla="val 50000"/>
            </a:avLst>
          </a:prstGeom>
          <a:solidFill>
            <a:srgbClr val="E2B54E"/>
          </a:solidFill>
          <a:ln w="9525">
            <a:solidFill>
              <a:srgbClr val="E2B54E"/>
            </a:solidFill>
            <a:prstDash val="solid"/>
          </a:ln>
        </p:spPr>
      </p:sp>
      <p:sp>
        <p:nvSpPr>
          <p:cNvPr id="36" name="Text 33"/>
          <p:cNvSpPr txBox="1"/>
          <p:nvPr/>
        </p:nvSpPr>
        <p:spPr>
          <a:xfrm>
            <a:off x="8229600" y="1536192"/>
            <a:ext cx="146304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CHECKED HOW</a:t>
            </a:r>
            <a:endParaRPr lang="en-US" sz="950" dirty="0"/>
          </a:p>
        </p:txBody>
      </p:sp>
      <p:sp>
        <p:nvSpPr>
          <p:cNvPr id="37" name="Shape 34"/>
          <p:cNvSpPr/>
          <p:nvPr/>
        </p:nvSpPr>
        <p:spPr>
          <a:xfrm>
            <a:off x="8266176" y="2194560"/>
            <a:ext cx="100584" cy="100584"/>
          </a:xfrm>
          <a:prstGeom prst="ellipse">
            <a:avLst/>
          </a:prstGeom>
          <a:solidFill>
            <a:srgbClr val="E2B54E"/>
          </a:solidFill>
          <a:ln w="12700">
            <a:solidFill>
              <a:srgbClr val="E2B54E"/>
            </a:solidFill>
            <a:prstDash val="solid"/>
          </a:ln>
        </p:spPr>
      </p:sp>
      <p:sp>
        <p:nvSpPr>
          <p:cNvPr id="38" name="Text 35"/>
          <p:cNvSpPr txBox="1"/>
          <p:nvPr/>
        </p:nvSpPr>
        <p:spPr>
          <a:xfrm>
            <a:off x="8467344" y="206654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Phrase lists in all 16 languages, versioned with the glossary</a:t>
            </a:r>
            <a:endParaRPr lang="en-US" sz="1200" dirty="0"/>
          </a:p>
        </p:txBody>
      </p:sp>
      <p:sp>
        <p:nvSpPr>
          <p:cNvPr id="39" name="Shape 36"/>
          <p:cNvSpPr/>
          <p:nvPr/>
        </p:nvSpPr>
        <p:spPr>
          <a:xfrm>
            <a:off x="8266176" y="3017520"/>
            <a:ext cx="100584" cy="100584"/>
          </a:xfrm>
          <a:prstGeom prst="ellipse">
            <a:avLst/>
          </a:prstGeom>
          <a:solidFill>
            <a:srgbClr val="E2B54E"/>
          </a:solidFill>
          <a:ln w="12700">
            <a:solidFill>
              <a:srgbClr val="E2B54E"/>
            </a:solidFill>
            <a:prstDash val="solid"/>
          </a:ln>
        </p:spPr>
      </p:sp>
      <p:sp>
        <p:nvSpPr>
          <p:cNvPr id="40" name="Text 37"/>
          <p:cNvSpPr txBox="1"/>
          <p:nvPr/>
        </p:nvSpPr>
        <p:spPr>
          <a:xfrm>
            <a:off x="8467344" y="288950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Run with the number check on every reply</a:t>
            </a:r>
            <a:endParaRPr lang="en-US" sz="1200" dirty="0"/>
          </a:p>
        </p:txBody>
      </p:sp>
      <p:sp>
        <p:nvSpPr>
          <p:cNvPr id="41" name="Shape 38"/>
          <p:cNvSpPr/>
          <p:nvPr/>
        </p:nvSpPr>
        <p:spPr>
          <a:xfrm>
            <a:off x="8266176" y="3840480"/>
            <a:ext cx="100584" cy="100584"/>
          </a:xfrm>
          <a:prstGeom prst="ellipse">
            <a:avLst/>
          </a:prstGeom>
          <a:solidFill>
            <a:srgbClr val="E2B54E"/>
          </a:solidFill>
          <a:ln w="12700">
            <a:solidFill>
              <a:srgbClr val="E2B54E"/>
            </a:solidFill>
            <a:prstDash val="solid"/>
          </a:ln>
        </p:spPr>
      </p:sp>
      <p:sp>
        <p:nvSpPr>
          <p:cNvPr id="42" name="Text 39"/>
          <p:cNvSpPr txBox="1"/>
          <p:nvPr/>
        </p:nvSpPr>
        <p:spPr>
          <a:xfrm>
            <a:off x="8467344" y="371246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Second failure: a short fixed answer from the sensor board</a:t>
            </a:r>
            <a:endParaRPr lang="en-US" sz="1200" dirty="0"/>
          </a:p>
        </p:txBody>
      </p:sp>
      <p:sp>
        <p:nvSpPr>
          <p:cNvPr id="43" name="Shape 40"/>
          <p:cNvSpPr/>
          <p:nvPr/>
        </p:nvSpPr>
        <p:spPr>
          <a:xfrm>
            <a:off x="8266176" y="4663440"/>
            <a:ext cx="100584" cy="100584"/>
          </a:xfrm>
          <a:prstGeom prst="ellipse">
            <a:avLst/>
          </a:prstGeom>
          <a:solidFill>
            <a:srgbClr val="E2B54E"/>
          </a:solidFill>
          <a:ln w="12700">
            <a:solidFill>
              <a:srgbClr val="E2B54E"/>
            </a:solidFill>
            <a:prstDash val="solid"/>
          </a:ln>
        </p:spPr>
      </p:sp>
      <p:sp>
        <p:nvSpPr>
          <p:cNvPr id="44" name="Text 41"/>
          <p:cNvSpPr txBox="1"/>
          <p:nvPr/>
        </p:nvSpPr>
        <p:spPr>
          <a:xfrm>
            <a:off x="8467344" y="453542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same words fixed in the docs, marketing and seed idea</a:t>
            </a:r>
            <a:endParaRPr lang="en-US" sz="1200" dirty="0"/>
          </a:p>
        </p:txBody>
      </p:sp>
      <p:sp>
        <p:nvSpPr>
          <p:cNvPr id="45" name="Shape 42"/>
          <p:cNvSpPr/>
          <p:nvPr/>
        </p:nvSpPr>
        <p:spPr>
          <a:xfrm>
            <a:off x="8266176" y="5486400"/>
            <a:ext cx="100584" cy="100584"/>
          </a:xfrm>
          <a:prstGeom prst="ellipse">
            <a:avLst/>
          </a:prstGeom>
          <a:solidFill>
            <a:srgbClr val="E2B54E"/>
          </a:solidFill>
          <a:ln w="12700">
            <a:solidFill>
              <a:srgbClr val="E2B54E"/>
            </a:solidFill>
            <a:prstDash val="solid"/>
          </a:ln>
        </p:spPr>
      </p:sp>
      <p:sp>
        <p:nvSpPr>
          <p:cNvPr id="46" name="Text 43"/>
          <p:cNvSpPr txBox="1"/>
          <p:nvPr/>
        </p:nvSpPr>
        <p:spPr>
          <a:xfrm>
            <a:off x="8467344" y="5358384"/>
            <a:ext cx="3108960" cy="768096"/>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Counsel in each target market reviews the guide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MODELS (F2)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A model is offered only after it passes the same tests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13</a:t>
            </a:r>
            <a:endParaRPr lang="en-US" sz="1000" dirty="0"/>
          </a:p>
        </p:txBody>
      </p:sp>
      <p:sp>
        <p:nvSpPr>
          <p:cNvPr id="8" name="Shape 5"/>
          <p:cNvSpPr/>
          <p:nvPr/>
        </p:nvSpPr>
        <p:spPr>
          <a:xfrm>
            <a:off x="457200" y="1325880"/>
            <a:ext cx="4937760" cy="4956048"/>
          </a:xfrm>
          <a:prstGeom prst="roundRect">
            <a:avLst>
              <a:gd name="adj" fmla="val 1296"/>
            </a:avLst>
          </a:prstGeom>
          <a:solidFill>
            <a:srgbClr val="161C24"/>
          </a:solidFill>
          <a:ln w="9525">
            <a:solidFill>
              <a:srgbClr val="323C49"/>
            </a:solidFill>
            <a:prstDash val="solid"/>
          </a:ln>
        </p:spPr>
      </p:sp>
      <p:sp>
        <p:nvSpPr>
          <p:cNvPr id="9" name="Text 6"/>
          <p:cNvSpPr txBox="1"/>
          <p:nvPr/>
        </p:nvSpPr>
        <p:spPr>
          <a:xfrm>
            <a:off x="640080" y="1426464"/>
            <a:ext cx="4572000" cy="237744"/>
          </a:xfrm>
          <a:prstGeom prst="rect">
            <a:avLst/>
          </a:prstGeom>
          <a:noFill/>
          <a:ln/>
        </p:spPr>
        <p:txBody>
          <a:bodyPr wrap="square" lIns="0" tIns="0" rIns="0" bIns="0" rtlCol="0" anchor="t"/>
          <a:lstStyle/>
          <a:p>
            <a:pPr indent="0" marL="0">
              <a:buNone/>
            </a:pPr>
            <a:r>
              <a:rPr lang="en-US" sz="950" b="1" spc="150" kern="0" dirty="0">
                <a:solidFill>
                  <a:srgbClr val="A3AEBB"/>
                </a:solidFill>
                <a:latin typeface="Calibri" pitchFamily="34" charset="0"/>
                <a:ea typeface="Calibri" pitchFamily="34" charset="-122"/>
                <a:cs typeface="Calibri" pitchFamily="34" charset="-120"/>
              </a:rPr>
              <a:t>REGISTRY ENTRY · config/ai-models.ts</a:t>
            </a:r>
            <a:endParaRPr lang="en-US" sz="950" dirty="0"/>
          </a:p>
        </p:txBody>
      </p:sp>
      <p:sp>
        <p:nvSpPr>
          <p:cNvPr id="10" name="Text 7"/>
          <p:cNvSpPr txBox="1"/>
          <p:nvPr/>
        </p:nvSpPr>
        <p:spPr>
          <a:xfrm>
            <a:off x="640080" y="1828800"/>
            <a:ext cx="4663440" cy="3566160"/>
          </a:xfrm>
          <a:prstGeom prst="rect">
            <a:avLst/>
          </a:prstGeom>
          <a:noFill/>
          <a:ln/>
        </p:spPr>
        <p:txBody>
          <a:bodyPr wrap="square" lIns="0" tIns="0" rIns="0" bIns="0" rtlCol="0" anchor="t"/>
          <a:lstStyle/>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slug:            "google/gemini-3.6-flash",</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multiplier:      1.0,       // display only</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vision:          measured,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context_tokens:  measured,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json_schema:     measured,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prompt_caching:  measured,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languages_ok:    "16 / 16",</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units_per_msg:   measured,</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eval_run:        "id + date",</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  status:          "candidate"</a:t>
            </a:r>
            <a:endParaRPr lang="en-US" sz="1200" dirty="0"/>
          </a:p>
          <a:p>
            <a:pPr indent="0" marL="0">
              <a:lnSpc>
                <a:spcPct val="120000"/>
              </a:lnSpc>
              <a:buNone/>
            </a:pPr>
            <a:r>
              <a:rPr lang="en-US" sz="1200" dirty="0">
                <a:solidFill>
                  <a:srgbClr val="EEF1F4"/>
                </a:solidFill>
                <a:latin typeface="Courier New" pitchFamily="34" charset="0"/>
                <a:ea typeface="Courier New" pitchFamily="34" charset="-122"/>
                <a:cs typeface="Courier New" pitchFamily="34" charset="-120"/>
              </a:rPr>
              <a:t>}</a:t>
            </a:r>
            <a:endParaRPr lang="en-US" sz="1200" dirty="0"/>
          </a:p>
        </p:txBody>
      </p:sp>
      <p:sp>
        <p:nvSpPr>
          <p:cNvPr id="11" name="Text 8"/>
          <p:cNvSpPr txBox="1"/>
          <p:nvPr/>
        </p:nvSpPr>
        <p:spPr>
          <a:xfrm>
            <a:off x="640080" y="5577840"/>
            <a:ext cx="4572000" cy="603504"/>
          </a:xfrm>
          <a:prstGeom prst="rect">
            <a:avLst/>
          </a:prstGeom>
          <a:noFill/>
          <a:ln/>
        </p:spPr>
        <p:txBody>
          <a:bodyPr wrap="square" lIns="0" tIns="0" rIns="0" bIns="0" rtlCol="0" anchor="t"/>
          <a:lstStyle/>
          <a:p>
            <a:pPr indent="0" marL="0">
              <a:buNone/>
            </a:pPr>
            <a:r>
              <a:rPr lang="en-US" sz="1100" dirty="0">
                <a:solidFill>
                  <a:srgbClr val="E2B54E"/>
                </a:solidFill>
                <a:latin typeface="Calibri" pitchFamily="34" charset="0"/>
                <a:ea typeface="Calibri" pitchFamily="34" charset="-122"/>
                <a:cs typeface="Calibri" pitchFamily="34" charset="-120"/>
              </a:rPr>
              <a:t>status: candidate → passed → retired. Only passed models appear in the picker.</a:t>
            </a:r>
            <a:endParaRPr lang="en-US" sz="1100" dirty="0"/>
          </a:p>
        </p:txBody>
      </p:sp>
      <p:sp>
        <p:nvSpPr>
          <p:cNvPr id="12" name="Text 9"/>
          <p:cNvSpPr txBox="1"/>
          <p:nvPr/>
        </p:nvSpPr>
        <p:spPr>
          <a:xfrm>
            <a:off x="5623560" y="1325880"/>
            <a:ext cx="612648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EVALUATION SUITE · RUN ON EVERY MODEL OR PROMPT CHANGE</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23560" y="1645920"/>
          <a:ext cx="6108192" cy="914400"/>
        </p:xfrm>
        <a:graphic>
          <a:graphicData uri="http://schemas.openxmlformats.org/drawingml/2006/table">
            <a:tbl>
              <a:tblPr/>
              <a:tblGrid>
                <a:gridCol w="1600200"/>
                <a:gridCol w="341071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Pass when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ctr" indent="0" marL="0">
                        <a:buNone/>
                      </a:pPr>
                      <a:r>
                        <a:rPr lang="en-US" sz="1050" b="1" dirty="0">
                          <a:solidFill>
                            <a:srgbClr val="E2B54E"/>
                          </a:solidFill>
                          <a:latin typeface="Calibri" pitchFamily="34" charset="0"/>
                          <a:ea typeface="Calibri" pitchFamily="34" charset="-122"/>
                          <a:cs typeface="Calibri" pitchFamily="34" charset="-120"/>
                        </a:rPr>
                        <a:t>Bar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Golden scenarios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direction = synthesis; zone ids valid; stand-aside kept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Schema</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valid report1.v1 after at most one retry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Numbers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 unverified number shown</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Wording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 listed phrase in any language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Languages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all 16 within 5 points of English</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16 / 16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38912">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Cost and time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units per message and p90 time recorded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100" b="1" dirty="0">
                          <a:solidFill>
                            <a:srgbClr val="E2B54E"/>
                          </a:solidFill>
                          <a:latin typeface="Calibri" pitchFamily="34" charset="0"/>
                          <a:ea typeface="Calibri" pitchFamily="34" charset="-122"/>
                          <a:cs typeface="Calibri" pitchFamily="34" charset="-120"/>
                        </a:rPr>
                        <a:t>feeds 5.4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14" name="Shape 10"/>
          <p:cNvSpPr/>
          <p:nvPr/>
        </p:nvSpPr>
        <p:spPr>
          <a:xfrm>
            <a:off x="5623560" y="4800600"/>
            <a:ext cx="6108192" cy="1481328"/>
          </a:xfrm>
          <a:prstGeom prst="roundRect">
            <a:avLst>
              <a:gd name="adj" fmla="val 4321"/>
            </a:avLst>
          </a:prstGeom>
          <a:solidFill>
            <a:srgbClr val="2E2715"/>
          </a:solidFill>
          <a:ln w="9525">
            <a:solidFill>
              <a:srgbClr val="2E2715"/>
            </a:solidFill>
            <a:prstDash val="solid"/>
          </a:ln>
        </p:spPr>
      </p:sp>
      <p:sp>
        <p:nvSpPr>
          <p:cNvPr id="15" name="Text 11"/>
          <p:cNvSpPr txBox="1"/>
          <p:nvPr/>
        </p:nvSpPr>
        <p:spPr>
          <a:xfrm>
            <a:off x="5806440" y="4800600"/>
            <a:ext cx="5806440" cy="1481328"/>
          </a:xfrm>
          <a:prstGeom prst="rect">
            <a:avLst/>
          </a:prstGeom>
          <a:noFill/>
          <a:ln/>
        </p:spPr>
        <p:txBody>
          <a:bodyPr wrap="square" lIns="0" tIns="0" rIns="0" bIns="0" rtlCol="0" anchor="ctr"/>
          <a:lstStyle/>
          <a:p>
            <a:pPr indent="0" marL="0">
              <a:buNone/>
            </a:pPr>
            <a:r>
              <a:rPr lang="en-US" sz="1200" b="1" dirty="0">
                <a:solidFill>
                  <a:srgbClr val="E2B54E"/>
                </a:solidFill>
                <a:latin typeface="Calibri" pitchFamily="34" charset="0"/>
                <a:ea typeface="Calibri" pitchFamily="34" charset="-122"/>
                <a:cs typeface="Calibri" pitchFamily="34" charset="-120"/>
              </a:rPr>
              <a:t>At launch:  </a:t>
            </a:r>
            <a:pPr indent="0" marL="0">
              <a:buNone/>
            </a:pPr>
            <a:r>
              <a:rPr lang="en-US" sz="1200" dirty="0">
                <a:solidFill>
                  <a:srgbClr val="EEF1F4"/>
                </a:solidFill>
                <a:latin typeface="Calibri" pitchFamily="34" charset="0"/>
                <a:ea typeface="Calibri" pitchFamily="34" charset="-122"/>
                <a:cs typeface="Calibri" pitchFamily="34" charset="-120"/>
              </a:rPr>
              <a:t>one default model and one fallback from another provider, both passed. File D’s six models start as candidates and join the picker one by one as they pass.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FOLLOW-UPS AND SPEED (C2)</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Follow-ups reuse the cycle; each stage has a time budget</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457200" y="1325880"/>
            <a:ext cx="5394960" cy="1554480"/>
          </a:xfrm>
          <a:prstGeom prst="roundRect">
            <a:avLst>
              <a:gd name="adj" fmla="val 4118"/>
            </a:avLst>
          </a:prstGeom>
          <a:solidFill>
            <a:srgbClr val="1D242E"/>
          </a:solidFill>
          <a:ln w="9525">
            <a:solidFill>
              <a:srgbClr val="323C49"/>
            </a:solidFill>
            <a:prstDash val="solid"/>
          </a:ln>
        </p:spPr>
      </p:sp>
      <p:sp>
        <p:nvSpPr>
          <p:cNvPr id="9" name="Shape 6"/>
          <p:cNvSpPr/>
          <p:nvPr/>
        </p:nvSpPr>
        <p:spPr>
          <a:xfrm>
            <a:off x="621792" y="1472184"/>
            <a:ext cx="146304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472184"/>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SAME CYCLE</a:t>
            </a:r>
            <a:endParaRPr lang="en-US" sz="900" dirty="0"/>
          </a:p>
        </p:txBody>
      </p:sp>
      <p:sp>
        <p:nvSpPr>
          <p:cNvPr id="11" name="Text 8"/>
          <p:cNvSpPr txBox="1"/>
          <p:nvPr/>
        </p:nvSpPr>
        <p:spPr>
          <a:xfrm>
            <a:off x="621792" y="1837944"/>
            <a:ext cx="5074920" cy="987552"/>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cycle block is identical, so it is served from the cache. The chart is resent only if the question is about the chart.</a:t>
            </a:r>
            <a:endParaRPr lang="en-US" sz="1200" dirty="0"/>
          </a:p>
        </p:txBody>
      </p:sp>
      <p:sp>
        <p:nvSpPr>
          <p:cNvPr id="12" name="Shape 9"/>
          <p:cNvSpPr/>
          <p:nvPr/>
        </p:nvSpPr>
        <p:spPr>
          <a:xfrm>
            <a:off x="457200" y="2999232"/>
            <a:ext cx="5394960" cy="1554480"/>
          </a:xfrm>
          <a:prstGeom prst="roundRect">
            <a:avLst>
              <a:gd name="adj" fmla="val 4118"/>
            </a:avLst>
          </a:prstGeom>
          <a:solidFill>
            <a:srgbClr val="1D242E"/>
          </a:solidFill>
          <a:ln w="9525">
            <a:solidFill>
              <a:srgbClr val="323C49"/>
            </a:solidFill>
            <a:prstDash val="solid"/>
          </a:ln>
        </p:spPr>
      </p:sp>
      <p:sp>
        <p:nvSpPr>
          <p:cNvPr id="13" name="Shape 10"/>
          <p:cNvSpPr/>
          <p:nvPr/>
        </p:nvSpPr>
        <p:spPr>
          <a:xfrm>
            <a:off x="621792" y="3145536"/>
            <a:ext cx="1463040" cy="274320"/>
          </a:xfrm>
          <a:prstGeom prst="roundRect">
            <a:avLst>
              <a:gd name="adj" fmla="val 50000"/>
            </a:avLst>
          </a:prstGeom>
          <a:solidFill>
            <a:srgbClr val="F0A54A"/>
          </a:solidFill>
          <a:ln w="9525">
            <a:solidFill>
              <a:srgbClr val="F0A54A"/>
            </a:solidFill>
            <a:prstDash val="solid"/>
          </a:ln>
        </p:spPr>
      </p:sp>
      <p:sp>
        <p:nvSpPr>
          <p:cNvPr id="14" name="Text 11"/>
          <p:cNvSpPr txBox="1"/>
          <p:nvPr/>
        </p:nvSpPr>
        <p:spPr>
          <a:xfrm>
            <a:off x="621792" y="3145536"/>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NEW CYCLE</a:t>
            </a:r>
            <a:endParaRPr lang="en-US" sz="900" dirty="0"/>
          </a:p>
        </p:txBody>
      </p:sp>
      <p:sp>
        <p:nvSpPr>
          <p:cNvPr id="15" name="Text 12"/>
          <p:cNvSpPr txBox="1"/>
          <p:nvPr/>
        </p:nvSpPr>
        <p:spPr>
          <a:xfrm>
            <a:off x="621792" y="3511296"/>
            <a:ext cx="5074920" cy="987552"/>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A fresh cycle block, and the reply opens with what changed: “data updated 21:00 UTC: MCD2 left the corridor”.</a:t>
            </a:r>
            <a:endParaRPr lang="en-US" sz="1200" dirty="0"/>
          </a:p>
        </p:txBody>
      </p:sp>
      <p:sp>
        <p:nvSpPr>
          <p:cNvPr id="16" name="Shape 13"/>
          <p:cNvSpPr/>
          <p:nvPr/>
        </p:nvSpPr>
        <p:spPr>
          <a:xfrm>
            <a:off x="457200" y="4672584"/>
            <a:ext cx="5394960" cy="1554480"/>
          </a:xfrm>
          <a:prstGeom prst="roundRect">
            <a:avLst>
              <a:gd name="adj" fmla="val 4118"/>
            </a:avLst>
          </a:prstGeom>
          <a:solidFill>
            <a:srgbClr val="1D242E"/>
          </a:solidFill>
          <a:ln w="9525">
            <a:solidFill>
              <a:srgbClr val="323C49"/>
            </a:solidFill>
            <a:prstDash val="solid"/>
          </a:ln>
        </p:spPr>
      </p:sp>
      <p:sp>
        <p:nvSpPr>
          <p:cNvPr id="17" name="Shape 14"/>
          <p:cNvSpPr/>
          <p:nvPr/>
        </p:nvSpPr>
        <p:spPr>
          <a:xfrm>
            <a:off x="621792" y="4818888"/>
            <a:ext cx="1463040" cy="274320"/>
          </a:xfrm>
          <a:prstGeom prst="roundRect">
            <a:avLst>
              <a:gd name="adj" fmla="val 50000"/>
            </a:avLst>
          </a:prstGeom>
          <a:solidFill>
            <a:srgbClr val="7FA8E8"/>
          </a:solidFill>
          <a:ln w="9525">
            <a:solidFill>
              <a:srgbClr val="7FA8E8"/>
            </a:solidFill>
            <a:prstDash val="solid"/>
          </a:ln>
        </p:spPr>
      </p:sp>
      <p:sp>
        <p:nvSpPr>
          <p:cNvPr id="18" name="Text 15"/>
          <p:cNvSpPr txBox="1"/>
          <p:nvPr/>
        </p:nvSpPr>
        <p:spPr>
          <a:xfrm>
            <a:off x="621792" y="4818888"/>
            <a:ext cx="1463040" cy="274320"/>
          </a:xfrm>
          <a:prstGeom prst="rect">
            <a:avLst/>
          </a:prstGeom>
          <a:noFill/>
          <a:ln/>
        </p:spPr>
        <p:txBody>
          <a:bodyPr wrap="square" lIns="0" tIns="0" rIns="0" bIns="0" rtlCol="0" anchor="ctr"/>
          <a:lstStyle/>
          <a:p>
            <a:pPr algn="ctr" indent="0" marL="0">
              <a:buNone/>
            </a:pPr>
            <a:r>
              <a:rPr lang="en-US" sz="900" b="1" spc="100" kern="0" dirty="0">
                <a:solidFill>
                  <a:srgbClr val="0F1318"/>
                </a:solidFill>
                <a:latin typeface="Calibri" pitchFamily="34" charset="0"/>
                <a:ea typeface="Calibri" pitchFamily="34" charset="-122"/>
                <a:cs typeface="Calibri" pitchFamily="34" charset="-120"/>
              </a:rPr>
              <a:t>HISTORY</a:t>
            </a:r>
            <a:endParaRPr lang="en-US" sz="900" dirty="0"/>
          </a:p>
        </p:txBody>
      </p:sp>
      <p:sp>
        <p:nvSpPr>
          <p:cNvPr id="19" name="Text 16"/>
          <p:cNvSpPr txBox="1"/>
          <p:nvPr/>
        </p:nvSpPr>
        <p:spPr>
          <a:xfrm>
            <a:off x="621792" y="5184648"/>
            <a:ext cx="5074920" cy="987552"/>
          </a:xfrm>
          <a:prstGeom prst="rect">
            <a:avLst/>
          </a:prstGeom>
          <a:noFill/>
          <a:ln/>
        </p:spPr>
        <p:txBody>
          <a:bodyPr wrap="square" lIns="0" tIns="0" rIns="0" bIns="0" rtlCol="0" anchor="t"/>
          <a:lstStyle/>
          <a:p>
            <a:pPr indent="0" marL="0">
              <a:buNone/>
            </a:pPr>
            <a:r>
              <a:rPr lang="en-US" sz="1200" dirty="0">
                <a:solidFill>
                  <a:srgbClr val="EEF1F4"/>
                </a:solidFill>
                <a:latin typeface="Calibri" pitchFamily="34" charset="0"/>
                <a:ea typeface="Calibri" pitchFamily="34" charset="-122"/>
                <a:cs typeface="Calibri" pitchFamily="34" charset="-120"/>
              </a:rPr>
              <a:t>The last 10 messages, older turns as a short running summary. Reports are kept as their JSON, not re-sent as prose.</a:t>
            </a:r>
            <a:endParaRPr lang="en-US" sz="1200" dirty="0"/>
          </a:p>
        </p:txBody>
      </p:sp>
      <p:sp>
        <p:nvSpPr>
          <p:cNvPr id="20" name="Text 17"/>
          <p:cNvSpPr txBox="1"/>
          <p:nvPr/>
        </p:nvSpPr>
        <p:spPr>
          <a:xfrm>
            <a:off x="6126480" y="1325880"/>
            <a:ext cx="5577840" cy="256032"/>
          </a:xfrm>
          <a:prstGeom prst="rect">
            <a:avLst/>
          </a:prstGeom>
          <a:noFill/>
          <a:ln/>
        </p:spPr>
        <p:txBody>
          <a:bodyPr wrap="square" lIns="0" tIns="0" rIns="0" bIns="0" rtlCol="0" anchor="t"/>
          <a:lstStyle/>
          <a:p>
            <a:pPr indent="0" marL="0">
              <a:buNone/>
            </a:pPr>
            <a:r>
              <a:rPr lang="en-US" sz="950" b="1" spc="150" kern="0" dirty="0">
                <a:solidFill>
                  <a:srgbClr val="E2B54E"/>
                </a:solidFill>
                <a:latin typeface="Calibri" pitchFamily="34" charset="0"/>
                <a:ea typeface="Calibri" pitchFamily="34" charset="-122"/>
                <a:cs typeface="Calibri" pitchFamily="34" charset="-120"/>
              </a:rPr>
              <a:t>TIME BUDGET PER STAGE · p90</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126480" y="1645920"/>
          <a:ext cx="5605272" cy="914400"/>
        </p:xfrm>
        <a:graphic>
          <a:graphicData uri="http://schemas.openxmlformats.org/drawingml/2006/table">
            <a:tbl>
              <a:tblPr/>
              <a:tblGrid>
                <a:gridCol w="4050792"/>
                <a:gridCol w="15544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algn="r" indent="0" marL="0">
                        <a:buNone/>
                      </a:pPr>
                      <a:r>
                        <a:rPr lang="en-US" sz="1050" b="1" dirty="0">
                          <a:solidFill>
                            <a:srgbClr val="E2B54E"/>
                          </a:solidFill>
                          <a:latin typeface="Calibri" pitchFamily="34" charset="0"/>
                          <a:ea typeface="Calibri" pitchFamily="34" charset="-122"/>
                          <a:cs typeface="Calibri" pitchFamily="34" charset="-120"/>
                        </a:rPr>
                        <a:t>Target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Gate + understand (Section 4)</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1.0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Snapshot + retrieval</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0.2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Chart from R2, in parallel</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0.2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Assemble + cache order</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0.05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Model: first token</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3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Model: Report 1 complete</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10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02336">
                <a:tc>
                  <a:txBody>
                    <a:bodyPr/>
                    <a:lstStyle/>
                    <a:p>
                      <a:pPr indent="0" marL="0">
                        <a:buNone/>
                      </a:pPr>
                      <a:r>
                        <a:rPr lang="en-US" sz="1150" dirty="0">
                          <a:solidFill>
                            <a:srgbClr val="EEF1F4"/>
                          </a:solidFill>
                          <a:latin typeface="Calibri" pitchFamily="34" charset="0"/>
                          <a:ea typeface="Calibri" pitchFamily="34" charset="-122"/>
                          <a:cs typeface="Calibri" pitchFamily="34" charset="-120"/>
                        </a:rPr>
                        <a:t>Checks + render</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0.3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02336">
                <a:tc>
                  <a:txBody>
                    <a:bodyPr/>
                    <a:lstStyle/>
                    <a:p>
                      <a:pPr indent="0" marL="0">
                        <a:buNone/>
                      </a:pPr>
                      <a:r>
                        <a:rPr lang="en-US" sz="1150" b="1" dirty="0">
                          <a:solidFill>
                            <a:srgbClr val="E2B54E"/>
                          </a:solidFill>
                          <a:latin typeface="Calibri" pitchFamily="34" charset="0"/>
                          <a:ea typeface="Calibri" pitchFamily="34" charset="-122"/>
                          <a:cs typeface="Calibri" pitchFamily="34" charset="-120"/>
                        </a:rPr>
                        <a:t>Report 1 end to end, p90</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r" indent="0" marL="0">
                        <a:buNone/>
                      </a:pPr>
                      <a:r>
                        <a:rPr lang="en-US" sz="1150" b="1" dirty="0">
                          <a:solidFill>
                            <a:srgbClr val="E2B54E"/>
                          </a:solidFill>
                          <a:latin typeface="Calibri" pitchFamily="34" charset="0"/>
                          <a:ea typeface="Calibri" pitchFamily="34" charset="-122"/>
                          <a:cs typeface="Calibri" pitchFamily="34" charset="-120"/>
                        </a:rPr>
                        <a:t>≤ 15 s</a:t>
                      </a:r>
                      <a:endParaRPr lang="en-US" sz="11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bl>
          </a:graphicData>
        </a:graphic>
      </p:graphicFrame>
      <p:sp>
        <p:nvSpPr>
          <p:cNvPr id="22" name="Text 18"/>
          <p:cNvSpPr txBox="1"/>
          <p:nvPr/>
        </p:nvSpPr>
        <p:spPr>
          <a:xfrm>
            <a:off x="6126480" y="5257800"/>
            <a:ext cx="5577840" cy="548640"/>
          </a:xfrm>
          <a:prstGeom prst="rect">
            <a:avLst/>
          </a:prstGeom>
          <a:noFill/>
          <a:ln/>
        </p:spPr>
        <p:txBody>
          <a:bodyPr wrap="square" lIns="0" tIns="0" rIns="0" bIns="0" rtlCol="0" anchor="t"/>
          <a:lstStyle/>
          <a:p>
            <a:pPr indent="0" marL="0">
              <a:buNone/>
            </a:pPr>
            <a:r>
              <a:rPr lang="en-US" sz="1100" dirty="0">
                <a:solidFill>
                  <a:srgbClr val="A3AEBB"/>
                </a:solidFill>
                <a:latin typeface="Calibri" pitchFamily="34" charset="0"/>
                <a:ea typeface="Calibri" pitchFamily="34" charset="-122"/>
                <a:cs typeface="Calibri" pitchFamily="34" charset="-120"/>
              </a:rPr>
              <a:t>Short chat answers: ≤ 8 s. One regeneration adds a model call; its rate is tracked.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CHANGE LIST</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Keep, change, add, remove</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15</a:t>
            </a:r>
            <a:endParaRPr lang="en-US" sz="1000" dirty="0"/>
          </a:p>
        </p:txBody>
      </p:sp>
      <p:sp>
        <p:nvSpPr>
          <p:cNvPr id="8" name="Shape 5"/>
          <p:cNvSpPr/>
          <p:nvPr/>
        </p:nvSpPr>
        <p:spPr>
          <a:xfrm>
            <a:off x="457200" y="1371600"/>
            <a:ext cx="2697480" cy="4892040"/>
          </a:xfrm>
          <a:prstGeom prst="roundRect">
            <a:avLst>
              <a:gd name="adj" fmla="val 2373"/>
            </a:avLst>
          </a:prstGeom>
          <a:solidFill>
            <a:srgbClr val="1D242E"/>
          </a:solidFill>
          <a:ln w="9525">
            <a:solidFill>
              <a:srgbClr val="323C49"/>
            </a:solidFill>
            <a:prstDash val="solid"/>
          </a:ln>
        </p:spPr>
      </p:sp>
      <p:sp>
        <p:nvSpPr>
          <p:cNvPr id="9" name="Shape 6"/>
          <p:cNvSpPr/>
          <p:nvPr/>
        </p:nvSpPr>
        <p:spPr>
          <a:xfrm>
            <a:off x="621792" y="1536192"/>
            <a:ext cx="1188720" cy="274320"/>
          </a:xfrm>
          <a:prstGeom prst="roundRect">
            <a:avLst>
              <a:gd name="adj" fmla="val 50000"/>
            </a:avLst>
          </a:prstGeom>
          <a:solidFill>
            <a:srgbClr val="5CC2B2"/>
          </a:solidFill>
          <a:ln w="9525">
            <a:solidFill>
              <a:srgbClr val="5CC2B2"/>
            </a:solidFill>
            <a:prstDash val="solid"/>
          </a:ln>
        </p:spPr>
      </p:sp>
      <p:sp>
        <p:nvSpPr>
          <p:cNvPr id="10" name="Text 7"/>
          <p:cNvSpPr txBox="1"/>
          <p:nvPr/>
        </p:nvSpPr>
        <p:spPr>
          <a:xfrm>
            <a:off x="621792"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KEEP</a:t>
            </a:r>
            <a:endParaRPr lang="en-US" sz="950" dirty="0"/>
          </a:p>
        </p:txBody>
      </p:sp>
      <p:sp>
        <p:nvSpPr>
          <p:cNvPr id="11" name="Shape 8"/>
          <p:cNvSpPr/>
          <p:nvPr/>
        </p:nvSpPr>
        <p:spPr>
          <a:xfrm>
            <a:off x="640080" y="2112264"/>
            <a:ext cx="100584" cy="100584"/>
          </a:xfrm>
          <a:prstGeom prst="ellipse">
            <a:avLst/>
          </a:prstGeom>
          <a:solidFill>
            <a:srgbClr val="5CC2B2"/>
          </a:solidFill>
          <a:ln w="12700">
            <a:solidFill>
              <a:srgbClr val="5CC2B2"/>
            </a:solidFill>
            <a:prstDash val="solid"/>
          </a:ln>
        </p:spPr>
      </p:sp>
      <p:sp>
        <p:nvSpPr>
          <p:cNvPr id="12" name="Text 9"/>
          <p:cNvSpPr txBox="1"/>
          <p:nvPr/>
        </p:nvSpPr>
        <p:spPr>
          <a:xfrm>
            <a:off x="841248"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OpenRouter gateway and config/ai-models.ts</a:t>
            </a:r>
            <a:endParaRPr lang="en-US" sz="1150" dirty="0"/>
          </a:p>
        </p:txBody>
      </p:sp>
      <p:sp>
        <p:nvSpPr>
          <p:cNvPr id="13" name="Shape 10"/>
          <p:cNvSpPr/>
          <p:nvPr/>
        </p:nvSpPr>
        <p:spPr>
          <a:xfrm>
            <a:off x="640080" y="2898648"/>
            <a:ext cx="100584" cy="100584"/>
          </a:xfrm>
          <a:prstGeom prst="ellipse">
            <a:avLst/>
          </a:prstGeom>
          <a:solidFill>
            <a:srgbClr val="5CC2B2"/>
          </a:solidFill>
          <a:ln w="12700">
            <a:solidFill>
              <a:srgbClr val="5CC2B2"/>
            </a:solidFill>
            <a:prstDash val="solid"/>
          </a:ln>
        </p:spPr>
      </p:sp>
      <p:sp>
        <p:nvSpPr>
          <p:cNvPr id="14" name="Text 11"/>
          <p:cNvSpPr txBox="1"/>
          <p:nvPr/>
        </p:nvSpPr>
        <p:spPr>
          <a:xfrm>
            <a:off x="841248"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Dual report: Report 1, then Report 2</a:t>
            </a:r>
            <a:endParaRPr lang="en-US" sz="1150" dirty="0"/>
          </a:p>
        </p:txBody>
      </p:sp>
      <p:sp>
        <p:nvSpPr>
          <p:cNvPr id="15" name="Shape 12"/>
          <p:cNvSpPr/>
          <p:nvPr/>
        </p:nvSpPr>
        <p:spPr>
          <a:xfrm>
            <a:off x="640080" y="3685032"/>
            <a:ext cx="100584" cy="100584"/>
          </a:xfrm>
          <a:prstGeom prst="ellipse">
            <a:avLst/>
          </a:prstGeom>
          <a:solidFill>
            <a:srgbClr val="5CC2B2"/>
          </a:solidFill>
          <a:ln w="12700">
            <a:solidFill>
              <a:srgbClr val="5CC2B2"/>
            </a:solidFill>
            <a:prstDash val="solid"/>
          </a:ln>
        </p:spPr>
      </p:sp>
      <p:sp>
        <p:nvSpPr>
          <p:cNvPr id="16" name="Text 13"/>
          <p:cNvSpPr txBox="1"/>
          <p:nvPr/>
        </p:nvSpPr>
        <p:spPr>
          <a:xfrm>
            <a:off x="841248"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Pillar 8 news rules</a:t>
            </a:r>
            <a:endParaRPr lang="en-US" sz="1150" dirty="0"/>
          </a:p>
        </p:txBody>
      </p:sp>
      <p:sp>
        <p:nvSpPr>
          <p:cNvPr id="17" name="Shape 14"/>
          <p:cNvSpPr/>
          <p:nvPr/>
        </p:nvSpPr>
        <p:spPr>
          <a:xfrm>
            <a:off x="640080" y="4471416"/>
            <a:ext cx="100584" cy="100584"/>
          </a:xfrm>
          <a:prstGeom prst="ellipse">
            <a:avLst/>
          </a:prstGeom>
          <a:solidFill>
            <a:srgbClr val="5CC2B2"/>
          </a:solidFill>
          <a:ln w="12700">
            <a:solidFill>
              <a:srgbClr val="5CC2B2"/>
            </a:solidFill>
            <a:prstDash val="solid"/>
          </a:ln>
        </p:spPr>
      </p:sp>
      <p:sp>
        <p:nvSpPr>
          <p:cNvPr id="18" name="Text 15"/>
          <p:cNvSpPr txBox="1"/>
          <p:nvPr/>
        </p:nvSpPr>
        <p:spPr>
          <a:xfrm>
            <a:off x="841248"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Sessions API, auto-title, quota meter</a:t>
            </a:r>
            <a:endParaRPr lang="en-US" sz="1150" dirty="0"/>
          </a:p>
        </p:txBody>
      </p:sp>
      <p:sp>
        <p:nvSpPr>
          <p:cNvPr id="19" name="Shape 16"/>
          <p:cNvSpPr/>
          <p:nvPr/>
        </p:nvSpPr>
        <p:spPr>
          <a:xfrm>
            <a:off x="3319272" y="1371600"/>
            <a:ext cx="2697480" cy="4892040"/>
          </a:xfrm>
          <a:prstGeom prst="roundRect">
            <a:avLst>
              <a:gd name="adj" fmla="val 2373"/>
            </a:avLst>
          </a:prstGeom>
          <a:solidFill>
            <a:srgbClr val="1D242E"/>
          </a:solidFill>
          <a:ln w="9525">
            <a:solidFill>
              <a:srgbClr val="323C49"/>
            </a:solidFill>
            <a:prstDash val="solid"/>
          </a:ln>
        </p:spPr>
      </p:sp>
      <p:sp>
        <p:nvSpPr>
          <p:cNvPr id="20" name="Shape 17"/>
          <p:cNvSpPr/>
          <p:nvPr/>
        </p:nvSpPr>
        <p:spPr>
          <a:xfrm>
            <a:off x="3483864" y="1536192"/>
            <a:ext cx="1188720" cy="274320"/>
          </a:xfrm>
          <a:prstGeom prst="roundRect">
            <a:avLst>
              <a:gd name="adj" fmla="val 50000"/>
            </a:avLst>
          </a:prstGeom>
          <a:solidFill>
            <a:srgbClr val="F0A54A"/>
          </a:solidFill>
          <a:ln w="9525">
            <a:solidFill>
              <a:srgbClr val="F0A54A"/>
            </a:solidFill>
            <a:prstDash val="solid"/>
          </a:ln>
        </p:spPr>
      </p:sp>
      <p:sp>
        <p:nvSpPr>
          <p:cNvPr id="21" name="Text 18"/>
          <p:cNvSpPr txBox="1"/>
          <p:nvPr/>
        </p:nvSpPr>
        <p:spPr>
          <a:xfrm>
            <a:off x="3483864"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CHANGE</a:t>
            </a:r>
            <a:endParaRPr lang="en-US" sz="950" dirty="0"/>
          </a:p>
        </p:txBody>
      </p:sp>
      <p:sp>
        <p:nvSpPr>
          <p:cNvPr id="22" name="Shape 19"/>
          <p:cNvSpPr/>
          <p:nvPr/>
        </p:nvSpPr>
        <p:spPr>
          <a:xfrm>
            <a:off x="3502152" y="2112264"/>
            <a:ext cx="100584" cy="100584"/>
          </a:xfrm>
          <a:prstGeom prst="ellipse">
            <a:avLst/>
          </a:prstGeom>
          <a:solidFill>
            <a:srgbClr val="F0A54A"/>
          </a:solidFill>
          <a:ln w="12700">
            <a:solidFill>
              <a:srgbClr val="F0A54A"/>
            </a:solidFill>
            <a:prstDash val="solid"/>
          </a:ln>
        </p:spPr>
      </p:sp>
      <p:sp>
        <p:nvSpPr>
          <p:cNvPr id="23" name="Text 20"/>
          <p:cNvSpPr txBox="1"/>
          <p:nvPr/>
        </p:nvSpPr>
        <p:spPr>
          <a:xfrm>
            <a:off x="3703320"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Units from actual cost; worst case reserved</a:t>
            </a:r>
            <a:endParaRPr lang="en-US" sz="1150" dirty="0"/>
          </a:p>
        </p:txBody>
      </p:sp>
      <p:sp>
        <p:nvSpPr>
          <p:cNvPr id="24" name="Shape 21"/>
          <p:cNvSpPr/>
          <p:nvPr/>
        </p:nvSpPr>
        <p:spPr>
          <a:xfrm>
            <a:off x="3502152" y="2898648"/>
            <a:ext cx="100584" cy="100584"/>
          </a:xfrm>
          <a:prstGeom prst="ellipse">
            <a:avLst/>
          </a:prstGeom>
          <a:solidFill>
            <a:srgbClr val="F0A54A"/>
          </a:solidFill>
          <a:ln w="12700">
            <a:solidFill>
              <a:srgbClr val="F0A54A"/>
            </a:solidFill>
            <a:prstDash val="solid"/>
          </a:ln>
        </p:spPr>
      </p:sp>
      <p:sp>
        <p:nvSpPr>
          <p:cNvPr id="25" name="Text 22"/>
          <p:cNvSpPr txBox="1"/>
          <p:nvPr/>
        </p:nvSpPr>
        <p:spPr>
          <a:xfrm>
            <a:off x="3703320"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Report 1 contents: synthesis and zones replace WACS and density</a:t>
            </a:r>
            <a:endParaRPr lang="en-US" sz="1150" dirty="0"/>
          </a:p>
        </p:txBody>
      </p:sp>
      <p:sp>
        <p:nvSpPr>
          <p:cNvPr id="26" name="Shape 23"/>
          <p:cNvSpPr/>
          <p:nvPr/>
        </p:nvSpPr>
        <p:spPr>
          <a:xfrm>
            <a:off x="3502152" y="3685032"/>
            <a:ext cx="100584" cy="100584"/>
          </a:xfrm>
          <a:prstGeom prst="ellipse">
            <a:avLst/>
          </a:prstGeom>
          <a:solidFill>
            <a:srgbClr val="F0A54A"/>
          </a:solidFill>
          <a:ln w="12700">
            <a:solidFill>
              <a:srgbClr val="F0A54A"/>
            </a:solidFill>
            <a:prstDash val="solid"/>
          </a:ln>
        </p:spPr>
      </p:sp>
      <p:sp>
        <p:nvSpPr>
          <p:cNvPr id="27" name="Text 24"/>
          <p:cNvSpPr txBox="1"/>
          <p:nvPr/>
        </p:nvSpPr>
        <p:spPr>
          <a:xfrm>
            <a:off x="3703320"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History: 10 messages + summary</a:t>
            </a:r>
            <a:endParaRPr lang="en-US" sz="1150" dirty="0"/>
          </a:p>
        </p:txBody>
      </p:sp>
      <p:sp>
        <p:nvSpPr>
          <p:cNvPr id="28" name="Shape 25"/>
          <p:cNvSpPr/>
          <p:nvPr/>
        </p:nvSpPr>
        <p:spPr>
          <a:xfrm>
            <a:off x="3502152" y="4471416"/>
            <a:ext cx="100584" cy="100584"/>
          </a:xfrm>
          <a:prstGeom prst="ellipse">
            <a:avLst/>
          </a:prstGeom>
          <a:solidFill>
            <a:srgbClr val="F0A54A"/>
          </a:solidFill>
          <a:ln w="12700">
            <a:solidFill>
              <a:srgbClr val="F0A54A"/>
            </a:solidFill>
            <a:prstDash val="solid"/>
          </a:ln>
        </p:spPr>
      </p:sp>
      <p:sp>
        <p:nvSpPr>
          <p:cNvPr id="29" name="Text 26"/>
          <p:cNvSpPr txBox="1"/>
          <p:nvPr/>
        </p:nvSpPr>
        <p:spPr>
          <a:xfrm>
            <a:off x="3703320"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Picker lists passed models only</a:t>
            </a:r>
            <a:endParaRPr lang="en-US" sz="1150" dirty="0"/>
          </a:p>
        </p:txBody>
      </p:sp>
      <p:sp>
        <p:nvSpPr>
          <p:cNvPr id="30" name="Shape 27"/>
          <p:cNvSpPr/>
          <p:nvPr/>
        </p:nvSpPr>
        <p:spPr>
          <a:xfrm>
            <a:off x="6181344" y="1371600"/>
            <a:ext cx="2697480" cy="4892040"/>
          </a:xfrm>
          <a:prstGeom prst="roundRect">
            <a:avLst>
              <a:gd name="adj" fmla="val 2373"/>
            </a:avLst>
          </a:prstGeom>
          <a:solidFill>
            <a:srgbClr val="1D242E"/>
          </a:solidFill>
          <a:ln w="9525">
            <a:solidFill>
              <a:srgbClr val="323C49"/>
            </a:solidFill>
            <a:prstDash val="solid"/>
          </a:ln>
        </p:spPr>
      </p:sp>
      <p:sp>
        <p:nvSpPr>
          <p:cNvPr id="31" name="Shape 28"/>
          <p:cNvSpPr/>
          <p:nvPr/>
        </p:nvSpPr>
        <p:spPr>
          <a:xfrm>
            <a:off x="6345936" y="1536192"/>
            <a:ext cx="1188720" cy="274320"/>
          </a:xfrm>
          <a:prstGeom prst="roundRect">
            <a:avLst>
              <a:gd name="adj" fmla="val 50000"/>
            </a:avLst>
          </a:prstGeom>
          <a:solidFill>
            <a:srgbClr val="E2B54E"/>
          </a:solidFill>
          <a:ln w="9525">
            <a:solidFill>
              <a:srgbClr val="E2B54E"/>
            </a:solidFill>
            <a:prstDash val="solid"/>
          </a:ln>
        </p:spPr>
      </p:sp>
      <p:sp>
        <p:nvSpPr>
          <p:cNvPr id="32" name="Text 29"/>
          <p:cNvSpPr txBox="1"/>
          <p:nvPr/>
        </p:nvSpPr>
        <p:spPr>
          <a:xfrm>
            <a:off x="6345936"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ADD</a:t>
            </a:r>
            <a:endParaRPr lang="en-US" sz="950" dirty="0"/>
          </a:p>
        </p:txBody>
      </p:sp>
      <p:sp>
        <p:nvSpPr>
          <p:cNvPr id="33" name="Shape 30"/>
          <p:cNvSpPr/>
          <p:nvPr/>
        </p:nvSpPr>
        <p:spPr>
          <a:xfrm>
            <a:off x="6364224" y="2112264"/>
            <a:ext cx="100584" cy="100584"/>
          </a:xfrm>
          <a:prstGeom prst="ellipse">
            <a:avLst/>
          </a:prstGeom>
          <a:solidFill>
            <a:srgbClr val="E2B54E"/>
          </a:solidFill>
          <a:ln w="12700">
            <a:solidFill>
              <a:srgbClr val="E2B54E"/>
            </a:solidFill>
            <a:prstDash val="solid"/>
          </a:ln>
        </p:spPr>
      </p:sp>
      <p:sp>
        <p:nvSpPr>
          <p:cNvPr id="34" name="Text 31"/>
          <p:cNvSpPr txBox="1"/>
          <p:nvPr/>
        </p:nvSpPr>
        <p:spPr>
          <a:xfrm>
            <a:off x="6565392"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Answer gate by data status</a:t>
            </a:r>
            <a:endParaRPr lang="en-US" sz="1150" dirty="0"/>
          </a:p>
        </p:txBody>
      </p:sp>
      <p:sp>
        <p:nvSpPr>
          <p:cNvPr id="35" name="Shape 32"/>
          <p:cNvSpPr/>
          <p:nvPr/>
        </p:nvSpPr>
        <p:spPr>
          <a:xfrm>
            <a:off x="6364224" y="2898648"/>
            <a:ext cx="100584" cy="100584"/>
          </a:xfrm>
          <a:prstGeom prst="ellipse">
            <a:avLst/>
          </a:prstGeom>
          <a:solidFill>
            <a:srgbClr val="E2B54E"/>
          </a:solidFill>
          <a:ln w="12700">
            <a:solidFill>
              <a:srgbClr val="E2B54E"/>
            </a:solidFill>
            <a:prstDash val="solid"/>
          </a:ln>
        </p:spPr>
      </p:sp>
      <p:sp>
        <p:nvSpPr>
          <p:cNvPr id="36" name="Text 33"/>
          <p:cNvSpPr txBox="1"/>
          <p:nvPr/>
        </p:nvSpPr>
        <p:spPr>
          <a:xfrm>
            <a:off x="6565392"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Caps and a cut order per component</a:t>
            </a:r>
            <a:endParaRPr lang="en-US" sz="1150" dirty="0"/>
          </a:p>
        </p:txBody>
      </p:sp>
      <p:sp>
        <p:nvSpPr>
          <p:cNvPr id="37" name="Shape 34"/>
          <p:cNvSpPr/>
          <p:nvPr/>
        </p:nvSpPr>
        <p:spPr>
          <a:xfrm>
            <a:off x="6364224" y="3685032"/>
            <a:ext cx="100584" cy="100584"/>
          </a:xfrm>
          <a:prstGeom prst="ellipse">
            <a:avLst/>
          </a:prstGeom>
          <a:solidFill>
            <a:srgbClr val="E2B54E"/>
          </a:solidFill>
          <a:ln w="12700">
            <a:solidFill>
              <a:srgbClr val="E2B54E"/>
            </a:solidFill>
            <a:prstDash val="solid"/>
          </a:ln>
        </p:spPr>
      </p:sp>
      <p:sp>
        <p:nvSpPr>
          <p:cNvPr id="38" name="Text 35"/>
          <p:cNvSpPr txBox="1"/>
          <p:nvPr/>
        </p:nvSpPr>
        <p:spPr>
          <a:xfrm>
            <a:off x="6565392"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Report 1 as checked JSON</a:t>
            </a:r>
            <a:endParaRPr lang="en-US" sz="1150" dirty="0"/>
          </a:p>
        </p:txBody>
      </p:sp>
      <p:sp>
        <p:nvSpPr>
          <p:cNvPr id="39" name="Shape 36"/>
          <p:cNvSpPr/>
          <p:nvPr/>
        </p:nvSpPr>
        <p:spPr>
          <a:xfrm>
            <a:off x="6364224" y="4471416"/>
            <a:ext cx="100584" cy="100584"/>
          </a:xfrm>
          <a:prstGeom prst="ellipse">
            <a:avLst/>
          </a:prstGeom>
          <a:solidFill>
            <a:srgbClr val="E2B54E"/>
          </a:solidFill>
          <a:ln w="12700">
            <a:solidFill>
              <a:srgbClr val="E2B54E"/>
            </a:solidFill>
            <a:prstDash val="solid"/>
          </a:ln>
        </p:spPr>
      </p:sp>
      <p:sp>
        <p:nvSpPr>
          <p:cNvPr id="40" name="Text 37"/>
          <p:cNvSpPr txBox="1"/>
          <p:nvPr/>
        </p:nvSpPr>
        <p:spPr>
          <a:xfrm>
            <a:off x="6565392"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Number and wording checks</a:t>
            </a:r>
            <a:endParaRPr lang="en-US" sz="1150" dirty="0"/>
          </a:p>
        </p:txBody>
      </p:sp>
      <p:sp>
        <p:nvSpPr>
          <p:cNvPr id="41" name="Shape 38"/>
          <p:cNvSpPr/>
          <p:nvPr/>
        </p:nvSpPr>
        <p:spPr>
          <a:xfrm>
            <a:off x="6364224" y="5257800"/>
            <a:ext cx="100584" cy="100584"/>
          </a:xfrm>
          <a:prstGeom prst="ellipse">
            <a:avLst/>
          </a:prstGeom>
          <a:solidFill>
            <a:srgbClr val="E2B54E"/>
          </a:solidFill>
          <a:ln w="12700">
            <a:solidFill>
              <a:srgbClr val="E2B54E"/>
            </a:solidFill>
            <a:prstDash val="solid"/>
          </a:ln>
        </p:spPr>
      </p:sp>
      <p:sp>
        <p:nvSpPr>
          <p:cNvPr id="42" name="Text 39"/>
          <p:cNvSpPr txBox="1"/>
          <p:nvPr/>
        </p:nvSpPr>
        <p:spPr>
          <a:xfrm>
            <a:off x="6565392" y="5157216"/>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Evaluation suite; time budget</a:t>
            </a:r>
            <a:endParaRPr lang="en-US" sz="1150" dirty="0"/>
          </a:p>
        </p:txBody>
      </p:sp>
      <p:sp>
        <p:nvSpPr>
          <p:cNvPr id="43" name="Shape 40"/>
          <p:cNvSpPr/>
          <p:nvPr/>
        </p:nvSpPr>
        <p:spPr>
          <a:xfrm>
            <a:off x="9043416" y="1371600"/>
            <a:ext cx="2697480" cy="4892040"/>
          </a:xfrm>
          <a:prstGeom prst="roundRect">
            <a:avLst>
              <a:gd name="adj" fmla="val 2373"/>
            </a:avLst>
          </a:prstGeom>
          <a:solidFill>
            <a:srgbClr val="1D242E"/>
          </a:solidFill>
          <a:ln w="9525">
            <a:solidFill>
              <a:srgbClr val="323C49"/>
            </a:solidFill>
            <a:prstDash val="solid"/>
          </a:ln>
        </p:spPr>
      </p:sp>
      <p:sp>
        <p:nvSpPr>
          <p:cNvPr id="44" name="Shape 41"/>
          <p:cNvSpPr/>
          <p:nvPr/>
        </p:nvSpPr>
        <p:spPr>
          <a:xfrm>
            <a:off x="9208008" y="1536192"/>
            <a:ext cx="1188720" cy="274320"/>
          </a:xfrm>
          <a:prstGeom prst="roundRect">
            <a:avLst>
              <a:gd name="adj" fmla="val 50000"/>
            </a:avLst>
          </a:prstGeom>
          <a:solidFill>
            <a:srgbClr val="E5746A"/>
          </a:solidFill>
          <a:ln w="9525">
            <a:solidFill>
              <a:srgbClr val="E5746A"/>
            </a:solidFill>
            <a:prstDash val="solid"/>
          </a:ln>
        </p:spPr>
      </p:sp>
      <p:sp>
        <p:nvSpPr>
          <p:cNvPr id="45" name="Text 42"/>
          <p:cNvSpPr txBox="1"/>
          <p:nvPr/>
        </p:nvSpPr>
        <p:spPr>
          <a:xfrm>
            <a:off x="9208008" y="1536192"/>
            <a:ext cx="1188720" cy="274320"/>
          </a:xfrm>
          <a:prstGeom prst="rect">
            <a:avLst/>
          </a:prstGeom>
          <a:noFill/>
          <a:ln/>
        </p:spPr>
        <p:txBody>
          <a:bodyPr wrap="square" lIns="0" tIns="0" rIns="0" bIns="0" rtlCol="0" anchor="ctr"/>
          <a:lstStyle/>
          <a:p>
            <a:pPr algn="ctr" indent="0" marL="0">
              <a:buNone/>
            </a:pPr>
            <a:r>
              <a:rPr lang="en-US" sz="950" b="1" spc="100" kern="0" dirty="0">
                <a:solidFill>
                  <a:srgbClr val="0F1318"/>
                </a:solidFill>
                <a:latin typeface="Calibri" pitchFamily="34" charset="0"/>
                <a:ea typeface="Calibri" pitchFamily="34" charset="-122"/>
                <a:cs typeface="Calibri" pitchFamily="34" charset="-120"/>
              </a:rPr>
              <a:t>REMOVE</a:t>
            </a:r>
            <a:endParaRPr lang="en-US" sz="950" dirty="0"/>
          </a:p>
        </p:txBody>
      </p:sp>
      <p:sp>
        <p:nvSpPr>
          <p:cNvPr id="46" name="Shape 43"/>
          <p:cNvSpPr/>
          <p:nvPr/>
        </p:nvSpPr>
        <p:spPr>
          <a:xfrm>
            <a:off x="9226296" y="2112264"/>
            <a:ext cx="100584" cy="100584"/>
          </a:xfrm>
          <a:prstGeom prst="ellipse">
            <a:avLst/>
          </a:prstGeom>
          <a:solidFill>
            <a:srgbClr val="E5746A"/>
          </a:solidFill>
          <a:ln w="12700">
            <a:solidFill>
              <a:srgbClr val="E5746A"/>
            </a:solidFill>
            <a:prstDash val="solid"/>
          </a:ln>
        </p:spPr>
      </p:sp>
      <p:sp>
        <p:nvSpPr>
          <p:cNvPr id="47" name="Text 44"/>
          <p:cNvSpPr txBox="1"/>
          <p:nvPr/>
        </p:nvSpPr>
        <p:spPr>
          <a:xfrm>
            <a:off x="9427464" y="2011680"/>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Pillars 1–4: NL2SQL, density, storyline, WACS</a:t>
            </a:r>
            <a:endParaRPr lang="en-US" sz="1150" dirty="0"/>
          </a:p>
        </p:txBody>
      </p:sp>
      <p:sp>
        <p:nvSpPr>
          <p:cNvPr id="48" name="Shape 45"/>
          <p:cNvSpPr/>
          <p:nvPr/>
        </p:nvSpPr>
        <p:spPr>
          <a:xfrm>
            <a:off x="9226296" y="2898648"/>
            <a:ext cx="100584" cy="100584"/>
          </a:xfrm>
          <a:prstGeom prst="ellipse">
            <a:avLst/>
          </a:prstGeom>
          <a:solidFill>
            <a:srgbClr val="E5746A"/>
          </a:solidFill>
          <a:ln w="12700">
            <a:solidFill>
              <a:srgbClr val="E5746A"/>
            </a:solidFill>
            <a:prstDash val="solid"/>
          </a:ln>
        </p:spPr>
      </p:sp>
      <p:sp>
        <p:nvSpPr>
          <p:cNvPr id="49" name="Text 46"/>
          <p:cNvSpPr txBox="1"/>
          <p:nvPr/>
        </p:nvSpPr>
        <p:spPr>
          <a:xfrm>
            <a:off x="9427464" y="2798064"/>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Prices typed by the model</a:t>
            </a:r>
            <a:endParaRPr lang="en-US" sz="1150" dirty="0"/>
          </a:p>
        </p:txBody>
      </p:sp>
      <p:sp>
        <p:nvSpPr>
          <p:cNvPr id="50" name="Shape 47"/>
          <p:cNvSpPr/>
          <p:nvPr/>
        </p:nvSpPr>
        <p:spPr>
          <a:xfrm>
            <a:off x="9226296" y="3685032"/>
            <a:ext cx="100584" cy="100584"/>
          </a:xfrm>
          <a:prstGeom prst="ellipse">
            <a:avLst/>
          </a:prstGeom>
          <a:solidFill>
            <a:srgbClr val="E5746A"/>
          </a:solidFill>
          <a:ln w="12700">
            <a:solidFill>
              <a:srgbClr val="E5746A"/>
            </a:solidFill>
            <a:prstDash val="solid"/>
          </a:ln>
        </p:spPr>
      </p:sp>
      <p:sp>
        <p:nvSpPr>
          <p:cNvPr id="51" name="Text 48"/>
          <p:cNvSpPr txBox="1"/>
          <p:nvPr/>
        </p:nvSpPr>
        <p:spPr>
          <a:xfrm>
            <a:off x="9427464" y="3584448"/>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Unmeasured probabilities and grades</a:t>
            </a:r>
            <a:endParaRPr lang="en-US" sz="1150" dirty="0"/>
          </a:p>
        </p:txBody>
      </p:sp>
      <p:sp>
        <p:nvSpPr>
          <p:cNvPr id="52" name="Shape 49"/>
          <p:cNvSpPr/>
          <p:nvPr/>
        </p:nvSpPr>
        <p:spPr>
          <a:xfrm>
            <a:off x="9226296" y="4471416"/>
            <a:ext cx="100584" cy="100584"/>
          </a:xfrm>
          <a:prstGeom prst="ellipse">
            <a:avLst/>
          </a:prstGeom>
          <a:solidFill>
            <a:srgbClr val="E5746A"/>
          </a:solidFill>
          <a:ln w="12700">
            <a:solidFill>
              <a:srgbClr val="E5746A"/>
            </a:solidFill>
            <a:prstDash val="solid"/>
          </a:ln>
        </p:spPr>
      </p:sp>
      <p:sp>
        <p:nvSpPr>
          <p:cNvPr id="53" name="Text 50"/>
          <p:cNvSpPr txBox="1"/>
          <p:nvPr/>
        </p:nvSpPr>
        <p:spPr>
          <a:xfrm>
            <a:off x="9427464" y="4370832"/>
            <a:ext cx="2167128" cy="731520"/>
          </a:xfrm>
          <a:prstGeom prst="rect">
            <a:avLst/>
          </a:prstGeom>
          <a:noFill/>
          <a:ln/>
        </p:spPr>
        <p:txBody>
          <a:bodyPr wrap="square" lIns="0" tIns="0" rIns="0" bIns="0" rtlCol="0" anchor="t"/>
          <a:lstStyle/>
          <a:p>
            <a:pPr indent="0" marL="0">
              <a:buNone/>
            </a:pPr>
            <a:r>
              <a:rPr lang="en-US" sz="1150" dirty="0">
                <a:solidFill>
                  <a:srgbClr val="EEF1F4"/>
                </a:solidFill>
                <a:latin typeface="Calibri" pitchFamily="34" charset="0"/>
                <a:ea typeface="Calibri" pitchFamily="34" charset="-122"/>
                <a:cs typeface="Calibri" pitchFamily="34" charset="-120"/>
              </a:rPr>
              <a:t>“100% accurate”, “hallucination-free”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HANDOFFS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What Section 5 hands on</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16</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1143000"/>
                <a:gridCol w="2194560"/>
                <a:gridCol w="5349240"/>
                <a:gridCol w="2587752"/>
              </a:tblGrid>
              <a:tr h="347472">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To</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What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Replaces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Report 1 result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report1.v1 JSON: direction from synthesis, chosen zone ids, cycle slot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Prose the modal would parse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6</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Trade-setup request</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Opens the modal with the same cycle and zone ids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A3AEBB"/>
                          </a:solidFill>
                          <a:latin typeface="Calibri" pitchFamily="34" charset="0"/>
                          <a:ea typeface="Calibri" pitchFamily="34" charset="-122"/>
                          <a:cs typeface="Calibri" pitchFamily="34" charset="-120"/>
                        </a:rPr>
                        <a:t>Chat UI</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Rendered reply</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Checked card in the user’s language, values by id, stamp and disclaimer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A streamed, unchecked answer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Usage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Units charged per call, cached and uncached tokens, model</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Tokens × multiplier</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Trace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Model and prompt version, tokens per component, gate and check results, stage times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640080">
                <a:tc>
                  <a:txBody>
                    <a:bodyPr/>
                    <a:lstStyle/>
                    <a:p>
                      <a:pPr indent="0" marL="0">
                        <a:buNone/>
                      </a:pPr>
                      <a:r>
                        <a:rPr lang="en-US" sz="1100" b="1" dirty="0">
                          <a:solidFill>
                            <a:srgbClr val="B7A3E0"/>
                          </a:solidFill>
                          <a:latin typeface="Calibri" pitchFamily="34" charset="0"/>
                          <a:ea typeface="Calibri" pitchFamily="34" charset="-122"/>
                          <a:cs typeface="Calibri" pitchFamily="34" charset="-120"/>
                        </a:rPr>
                        <a:t>Section 7</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Violations</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Number and wording failures, for the dashboard</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640080">
                <a:tc>
                  <a:txBody>
                    <a:bodyPr/>
                    <a:lstStyle/>
                    <a:p>
                      <a:pPr indent="0" marL="0">
                        <a:buNone/>
                      </a:pPr>
                      <a:r>
                        <a:rPr lang="en-US" sz="1100" b="1" dirty="0">
                          <a:solidFill>
                            <a:srgbClr val="7FA8E8"/>
                          </a:solidFill>
                          <a:latin typeface="Calibri" pitchFamily="34" charset="0"/>
                          <a:ea typeface="Calibri" pitchFamily="34" charset="-122"/>
                          <a:cs typeface="Calibri" pitchFamily="34" charset="-120"/>
                        </a:rPr>
                        <a:t>Section 4</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b="1" dirty="0">
                          <a:solidFill>
                            <a:srgbClr val="EEF1F4"/>
                          </a:solidFill>
                          <a:latin typeface="Calibri" pitchFamily="34" charset="0"/>
                          <a:ea typeface="Calibri" pitchFamily="34" charset="-122"/>
                          <a:cs typeface="Calibri" pitchFamily="34" charset="-120"/>
                        </a:rPr>
                        <a:t>Missed knowledge</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EEF1F4"/>
                          </a:solidFill>
                          <a:latin typeface="Calibri" pitchFamily="34" charset="0"/>
                          <a:ea typeface="Calibri" pitchFamily="34" charset="-122"/>
                          <a:cs typeface="Calibri" pitchFamily="34" charset="-120"/>
                        </a:rPr>
                        <a:t>Questions answered without a relevant chunk, for the corpus backlog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100" dirty="0">
                          <a:solidFill>
                            <a:srgbClr val="A3AEBB"/>
                          </a:solidFill>
                          <a:latin typeface="Calibri" pitchFamily="34" charset="0"/>
                          <a:ea typeface="Calibri" pitchFamily="34" charset="-122"/>
                          <a:cs typeface="Calibri" pitchFamily="34" charset="-120"/>
                        </a:rPr>
                        <a:t>Nothing</a:t>
                      </a:r>
                      <a:endParaRPr lang="en-US" sz="110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DECISIONS</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5 decisions, settled 29 September</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17</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74552" cy="914400"/>
        </p:xfrm>
        <a:graphic>
          <a:graphicData uri="http://schemas.openxmlformats.org/drawingml/2006/table">
            <a:tbl>
              <a:tblPr/>
              <a:tblGrid>
                <a:gridCol w="548640"/>
                <a:gridCol w="1920240"/>
                <a:gridCol w="5577840"/>
                <a:gridCol w="2130552"/>
                <a:gridCol w="1097280"/>
              </a:tblGrid>
              <a:tr h="310896">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Decision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Decided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Not chosen</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262F3B"/>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OHLC delivery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Full day, compact form, shared and cached; summary only when a cap forces it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Summary by default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Context caps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Caps as shown; cut history → knowledge → OHLC → details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No caps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5.3</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Prompt order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Static rules → shared cycle block → user part, cached where supported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One prompt per request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5.4</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Metering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Units from actual cost; reserve the worst case; tiers set from measurement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Tokens × multiplier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5.5</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Answer gate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The status table as shown; mismatched chart dropped; every reply stamped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Answer anyway, add a banner</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5.6</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Report 1 form</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report1.v1 JSON; direction from synthesis; values by id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Free text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5.7</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Number check</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Match within $0.05; regenerate once, then flag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Prompt instruction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5.8</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Show after checks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Checked reply shown whole, with progress stages; ≤ 15 s p90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Stream, then retract</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5.9</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Models at launch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One default + one fallback, both passing the suite</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All six at launch</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5.10</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Wording</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Guide and phrase lists in 16 languages; counsel review</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Disclaimer only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161C24"/>
                    </a:solidFill>
                  </a:tcPr>
                </a:tc>
              </a:tr>
              <a:tr h="420624">
                <a:tc>
                  <a:txBody>
                    <a:bodyPr/>
                    <a:lstStyle/>
                    <a:p>
                      <a:pPr indent="0" marL="0">
                        <a:buNone/>
                      </a:pPr>
                      <a:r>
                        <a:rPr lang="en-US" sz="1050" b="1" dirty="0">
                          <a:solidFill>
                            <a:srgbClr val="E2B54E"/>
                          </a:solidFill>
                          <a:latin typeface="Calibri" pitchFamily="34" charset="0"/>
                          <a:ea typeface="Calibri" pitchFamily="34" charset="-122"/>
                          <a:cs typeface="Calibri" pitchFamily="34" charset="-120"/>
                        </a:rPr>
                        <a:t>5.11</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b="1" dirty="0">
                          <a:solidFill>
                            <a:srgbClr val="EEF1F4"/>
                          </a:solidFill>
                          <a:latin typeface="Calibri" pitchFamily="34" charset="0"/>
                          <a:ea typeface="Calibri" pitchFamily="34" charset="-122"/>
                          <a:cs typeface="Calibri" pitchFamily="34" charset="-120"/>
                        </a:rPr>
                        <a:t>Follow-ups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EEF1F4"/>
                          </a:solidFill>
                          <a:latin typeface="Calibri" pitchFamily="34" charset="0"/>
                          <a:ea typeface="Calibri" pitchFamily="34" charset="-122"/>
                          <a:cs typeface="Calibri" pitchFamily="34" charset="-120"/>
                        </a:rPr>
                        <a:t>Cached cycle block; changes stated; 10 messages + summary</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indent="0" marL="0">
                        <a:buNone/>
                      </a:pPr>
                      <a:r>
                        <a:rPr lang="en-US" sz="1050" dirty="0">
                          <a:solidFill>
                            <a:srgbClr val="A3AEBB"/>
                          </a:solidFill>
                          <a:latin typeface="Calibri" pitchFamily="34" charset="0"/>
                          <a:ea typeface="Calibri" pitchFamily="34" charset="-122"/>
                          <a:cs typeface="Calibri" pitchFamily="34" charset="-120"/>
                        </a:rPr>
                        <a:t>Resend all; 20 messages</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c>
                  <a:txBody>
                    <a:bodyPr/>
                    <a:lstStyle/>
                    <a:p>
                      <a:pPr algn="ctr" indent="0" marL="0">
                        <a:buNone/>
                      </a:pPr>
                      <a:r>
                        <a:rPr lang="en-US" sz="1050" b="1" dirty="0">
                          <a:solidFill>
                            <a:srgbClr val="5CC2B2"/>
                          </a:solidFill>
                          <a:latin typeface="Calibri" pitchFamily="34" charset="0"/>
                          <a:ea typeface="Calibri" pitchFamily="34" charset="-122"/>
                          <a:cs typeface="Calibri" pitchFamily="34" charset="-120"/>
                        </a:rPr>
                        <a:t>SETTLED</a:t>
                      </a:r>
                      <a:endParaRPr lang="en-US" sz="1050" dirty="0">
                        <a:latin typeface="Calibri" charset="0"/>
                        <a:ea typeface="Calibri" charset="0"/>
                        <a:cs typeface="Calibri" charset="0"/>
                      </a:endParaRPr>
                    </a:p>
                  </a:txBody>
                  <a:tcPr marL="91440" marR="91440" marT="36576" marB="36576" anchor="ctr">
                    <a:lnL w="6350" cap="flat" cmpd="sng" algn="ctr">
                      <a:solidFill>
                        <a:srgbClr val="323C49"/>
                      </a:solidFill>
                      <a:prstDash val="solid"/>
                      <a:round/>
                      <a:headEnd type="none" w="med" len="med"/>
                      <a:tailEnd type="none" w="med" len="med"/>
                    </a:lnL>
                    <a:lnR w="6350" cap="flat" cmpd="sng" algn="ctr">
                      <a:solidFill>
                        <a:srgbClr val="323C49"/>
                      </a:solidFill>
                      <a:prstDash val="solid"/>
                      <a:round/>
                      <a:headEnd type="none" w="med" len="med"/>
                      <a:tailEnd type="none" w="med" len="med"/>
                    </a:lnR>
                    <a:lnT w="6350" cap="flat" cmpd="sng" algn="ctr">
                      <a:solidFill>
                        <a:srgbClr val="323C49"/>
                      </a:solidFill>
                      <a:prstDash val="solid"/>
                      <a:round/>
                      <a:headEnd type="none" w="med" len="med"/>
                      <a:tailEnd type="none" w="med" len="med"/>
                    </a:lnT>
                    <a:lnB w="6350" cap="flat" cmpd="sng" algn="ctr">
                      <a:solidFill>
                        <a:srgbClr val="323C49"/>
                      </a:solidFill>
                      <a:prstDash val="solid"/>
                      <a:round/>
                      <a:headEnd type="none" w="med" len="med"/>
                      <a:tailEnd type="none" w="med" len="med"/>
                    </a:lnB>
                    <a:solidFill>
                      <a:srgbClr val="0F131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318"/>
        </a:solidFill>
      </p:bgPr>
    </p:bg>
    <p:spTree>
      <p:nvGrpSpPr>
        <p:cNvPr id="1" name=""/>
        <p:cNvGrpSpPr/>
        <p:nvPr/>
      </p:nvGrpSpPr>
      <p:grpSpPr>
        <a:xfrm>
          <a:off x="0" y="0"/>
          <a:ext cx="0" cy="0"/>
          <a:chOff x="0" y="0"/>
          <a:chExt cx="0" cy="0"/>
        </a:xfrm>
      </p:grpSpPr>
      <p:sp>
        <p:nvSpPr>
          <p:cNvPr id="2" name="Shape 0"/>
          <p:cNvSpPr/>
          <p:nvPr/>
        </p:nvSpPr>
        <p:spPr>
          <a:xfrm>
            <a:off x="457200" y="329184"/>
            <a:ext cx="768096" cy="768096"/>
          </a:xfrm>
          <a:prstGeom prst="ellipse">
            <a:avLst/>
          </a:prstGeom>
          <a:solidFill>
            <a:srgbClr val="7FA8E8"/>
          </a:solidFill>
          <a:ln w="15875">
            <a:solidFill>
              <a:srgbClr val="7FA8E8"/>
            </a:solidFill>
            <a:prstDash val="solid"/>
          </a:ln>
        </p:spPr>
      </p:sp>
      <p:sp>
        <p:nvSpPr>
          <p:cNvPr id="3" name="Text 1"/>
          <p:cNvSpPr txBox="1"/>
          <p:nvPr/>
        </p:nvSpPr>
        <p:spPr>
          <a:xfrm>
            <a:off x="457200" y="329184"/>
            <a:ext cx="768096" cy="768096"/>
          </a:xfrm>
          <a:prstGeom prst="rect">
            <a:avLst/>
          </a:prstGeom>
          <a:noFill/>
          <a:ln/>
        </p:spPr>
        <p:txBody>
          <a:bodyPr wrap="square" lIns="0" tIns="0" rIns="0" bIns="0" rtlCol="0" anchor="ctr"/>
          <a:lstStyle/>
          <a:p>
            <a:pPr algn="ctr" indent="0" marL="0">
              <a:buNone/>
            </a:pPr>
            <a:r>
              <a:rPr lang="en-US" sz="2200" b="1" dirty="0">
                <a:solidFill>
                  <a:srgbClr val="0F1318"/>
                </a:solidFill>
                <a:latin typeface="Cambria" pitchFamily="34" charset="0"/>
                <a:ea typeface="Cambria" pitchFamily="34" charset="-122"/>
                <a:cs typeface="Cambria" pitchFamily="34" charset="-120"/>
              </a:rPr>
              <a:t>5</a:t>
            </a:r>
            <a:endParaRPr lang="en-US" sz="2200" dirty="0"/>
          </a:p>
        </p:txBody>
      </p:sp>
      <p:sp>
        <p:nvSpPr>
          <p:cNvPr id="4" name="Text 2"/>
          <p:cNvSpPr txBox="1"/>
          <p:nvPr/>
        </p:nvSpPr>
        <p:spPr>
          <a:xfrm>
            <a:off x="1417320" y="310896"/>
            <a:ext cx="9601200" cy="256032"/>
          </a:xfrm>
          <a:prstGeom prst="rect">
            <a:avLst/>
          </a:prstGeom>
          <a:noFill/>
          <a:ln/>
        </p:spPr>
        <p:txBody>
          <a:bodyPr wrap="square" lIns="0" tIns="0" rIns="0" bIns="0" rtlCol="0" anchor="t"/>
          <a:lstStyle/>
          <a:p>
            <a:pPr indent="0" marL="0">
              <a:buNone/>
            </a:pPr>
            <a:r>
              <a:rPr lang="en-US" sz="1100" b="1" spc="300" kern="0" dirty="0">
                <a:solidFill>
                  <a:srgbClr val="E2B54E"/>
                </a:solidFill>
                <a:latin typeface="Calibri" pitchFamily="34" charset="0"/>
                <a:ea typeface="Calibri" pitchFamily="34" charset="-122"/>
                <a:cs typeface="Calibri" pitchFamily="34" charset="-120"/>
              </a:rPr>
              <a:t>SECTION 5 · PROMPT &amp; AI REPLY · DONE WHEN</a:t>
            </a:r>
            <a:endParaRPr lang="en-US" sz="1100" dirty="0"/>
          </a:p>
        </p:txBody>
      </p:sp>
      <p:sp>
        <p:nvSpPr>
          <p:cNvPr id="5" name="Text 3"/>
          <p:cNvSpPr txBox="1"/>
          <p:nvPr/>
        </p:nvSpPr>
        <p:spPr>
          <a:xfrm>
            <a:off x="1417320" y="566928"/>
            <a:ext cx="10317175" cy="566928"/>
          </a:xfrm>
          <a:prstGeom prst="rect">
            <a:avLst/>
          </a:prstGeom>
          <a:noFill/>
          <a:ln/>
        </p:spPr>
        <p:txBody>
          <a:bodyPr wrap="square" lIns="0" tIns="0" rIns="0" bIns="0" rtlCol="0" anchor="ctr"/>
          <a:lstStyle/>
          <a:p>
            <a:pPr indent="0" marL="0">
              <a:buNone/>
            </a:pPr>
            <a:r>
              <a:rPr lang="en-US" sz="2800" b="1" dirty="0">
                <a:solidFill>
                  <a:srgbClr val="EEF1F4"/>
                </a:solidFill>
                <a:latin typeface="Cambria" pitchFamily="34" charset="0"/>
                <a:ea typeface="Cambria" pitchFamily="34" charset="-122"/>
                <a:cs typeface="Cambria" pitchFamily="34" charset="-120"/>
              </a:rPr>
              <a:t>Section 5 is finished when these checks pass</a:t>
            </a:r>
            <a:endParaRPr lang="en-US" sz="2800" dirty="0"/>
          </a:p>
        </p:txBody>
      </p:sp>
      <p:sp>
        <p:nvSpPr>
          <p:cNvPr id="6" name="Text 4"/>
          <p:cNvSpPr txBox="1"/>
          <p:nvPr/>
        </p:nvSpPr>
        <p:spPr>
          <a:xfrm>
            <a:off x="11274552" y="6446520"/>
            <a:ext cx="457200" cy="228600"/>
          </a:xfrm>
          <a:prstGeom prst="rect">
            <a:avLst/>
          </a:prstGeom>
          <a:noFill/>
          <a:ln/>
        </p:spPr>
        <p:txBody>
          <a:bodyPr wrap="square" lIns="0" tIns="0" rIns="0" bIns="0" rtlCol="0" anchor="t"/>
          <a:lstStyle/>
          <a:p>
            <a:pPr algn="r" indent="0" marL="0">
              <a:buNone/>
            </a:pPr>
            <a:r>
              <a:rPr lang="en-US" sz="1000" dirty="0">
                <a:solidFill>
                  <a:srgbClr val="A3AEBB"/>
                </a:solidFill>
                <a:latin typeface="Calibri" pitchFamily="34" charset="0"/>
                <a:ea typeface="Calibri" pitchFamily="34" charset="-122"/>
                <a:cs typeface="Calibri" pitchFamily="34" charset="-120"/>
              </a:rPr>
              <a:t>18</a:t>
            </a:r>
            <a:endParaRPr lang="en-US" sz="1000" dirty="0"/>
          </a:p>
        </p:txBody>
      </p:sp>
      <p:pic>
        <p:nvPicPr>
          <p:cNvPr id="8" name="Image 0" descr="preencoded.png">    </p:cNvPr>
          <p:cNvPicPr>
            <a:picLocks noChangeAspect="1"/>
          </p:cNvPicPr>
          <p:nvPr/>
        </p:nvPicPr>
        <p:blipFill>
          <a:blip r:embed="rId1"/>
          <a:stretch>
            <a:fillRect/>
          </a:stretch>
        </p:blipFill>
        <p:spPr>
          <a:xfrm>
            <a:off x="457200" y="1463040"/>
            <a:ext cx="384048" cy="384048"/>
          </a:xfrm>
          <a:prstGeom prst="rect">
            <a:avLst/>
          </a:prstGeom>
        </p:spPr>
      </p:pic>
      <p:sp>
        <p:nvSpPr>
          <p:cNvPr id="9" name="Text 5"/>
          <p:cNvSpPr txBox="1"/>
          <p:nvPr/>
        </p:nvSpPr>
        <p:spPr>
          <a:xfrm>
            <a:off x="100584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Caps hold</a:t>
            </a:r>
            <a:endParaRPr lang="en-US" sz="1350" dirty="0"/>
          </a:p>
        </p:txBody>
      </p:sp>
      <p:sp>
        <p:nvSpPr>
          <p:cNvPr id="10" name="Text 6"/>
          <p:cNvSpPr txBox="1"/>
          <p:nvPr/>
        </p:nvSpPr>
        <p:spPr>
          <a:xfrm>
            <a:off x="100584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An over-long history or knowledge pack is cut in the set order; the board and warnings never are.</a:t>
            </a:r>
            <a:endParaRPr lang="en-US" sz="1150" dirty="0"/>
          </a:p>
        </p:txBody>
      </p:sp>
      <p:pic>
        <p:nvPicPr>
          <p:cNvPr id="11" name="Image 1" descr="preencoded.png">    </p:cNvPr>
          <p:cNvPicPr>
            <a:picLocks noChangeAspect="1"/>
          </p:cNvPicPr>
          <p:nvPr/>
        </p:nvPicPr>
        <p:blipFill>
          <a:blip r:embed="rId2"/>
          <a:stretch>
            <a:fillRect/>
          </a:stretch>
        </p:blipFill>
        <p:spPr>
          <a:xfrm>
            <a:off x="6126480" y="1463040"/>
            <a:ext cx="384048" cy="384048"/>
          </a:xfrm>
          <a:prstGeom prst="rect">
            <a:avLst/>
          </a:prstGeom>
        </p:spPr>
      </p:pic>
      <p:sp>
        <p:nvSpPr>
          <p:cNvPr id="12" name="Text 7"/>
          <p:cNvSpPr txBox="1"/>
          <p:nvPr/>
        </p:nvSpPr>
        <p:spPr>
          <a:xfrm>
            <a:off x="6675120" y="1417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No overdraft</a:t>
            </a:r>
            <a:endParaRPr lang="en-US" sz="1350" dirty="0"/>
          </a:p>
        </p:txBody>
      </p:sp>
      <p:sp>
        <p:nvSpPr>
          <p:cNvPr id="13" name="Text 8"/>
          <p:cNvSpPr txBox="1"/>
          <p:nvPr/>
        </p:nvSpPr>
        <p:spPr>
          <a:xfrm>
            <a:off x="6675120" y="1801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request whose worst case exceeds the balance is refused before the model is called.</a:t>
            </a:r>
            <a:endParaRPr lang="en-US" sz="1150" dirty="0"/>
          </a:p>
        </p:txBody>
      </p:sp>
      <p:pic>
        <p:nvPicPr>
          <p:cNvPr id="14" name="Image 2" descr="preencoded.png">    </p:cNvPr>
          <p:cNvPicPr>
            <a:picLocks noChangeAspect="1"/>
          </p:cNvPicPr>
          <p:nvPr/>
        </p:nvPicPr>
        <p:blipFill>
          <a:blip r:embed="rId3"/>
          <a:stretch>
            <a:fillRect/>
          </a:stretch>
        </p:blipFill>
        <p:spPr>
          <a:xfrm>
            <a:off x="457200" y="2606040"/>
            <a:ext cx="384048" cy="384048"/>
          </a:xfrm>
          <a:prstGeom prst="rect">
            <a:avLst/>
          </a:prstGeom>
        </p:spPr>
      </p:pic>
      <p:sp>
        <p:nvSpPr>
          <p:cNvPr id="15" name="Text 9"/>
          <p:cNvSpPr txBox="1"/>
          <p:nvPr/>
        </p:nvSpPr>
        <p:spPr>
          <a:xfrm>
            <a:off x="100584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Stale data gives no direction</a:t>
            </a:r>
            <a:endParaRPr lang="en-US" sz="1350" dirty="0"/>
          </a:p>
        </p:txBody>
      </p:sp>
      <p:sp>
        <p:nvSpPr>
          <p:cNvPr id="16" name="Text 10"/>
          <p:cNvSpPr txBox="1"/>
          <p:nvPr/>
        </p:nvSpPr>
        <p:spPr>
          <a:xfrm>
            <a:off x="100584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STALE test cycle gets no direction; the reply says when the data stopped.</a:t>
            </a:r>
            <a:endParaRPr lang="en-US" sz="1150" dirty="0"/>
          </a:p>
        </p:txBody>
      </p:sp>
      <p:pic>
        <p:nvPicPr>
          <p:cNvPr id="17" name="Image 3" descr="preencoded.png">    </p:cNvPr>
          <p:cNvPicPr>
            <a:picLocks noChangeAspect="1"/>
          </p:cNvPicPr>
          <p:nvPr/>
        </p:nvPicPr>
        <p:blipFill>
          <a:blip r:embed="rId4"/>
          <a:stretch>
            <a:fillRect/>
          </a:stretch>
        </p:blipFill>
        <p:spPr>
          <a:xfrm>
            <a:off x="6126480" y="2606040"/>
            <a:ext cx="384048" cy="384048"/>
          </a:xfrm>
          <a:prstGeom prst="rect">
            <a:avLst/>
          </a:prstGeom>
        </p:spPr>
      </p:pic>
      <p:sp>
        <p:nvSpPr>
          <p:cNvPr id="18" name="Text 11"/>
          <p:cNvSpPr txBox="1"/>
          <p:nvPr/>
        </p:nvSpPr>
        <p:spPr>
          <a:xfrm>
            <a:off x="6675120" y="2560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The chart matches the cycle</a:t>
            </a:r>
            <a:endParaRPr lang="en-US" sz="1350" dirty="0"/>
          </a:p>
        </p:txBody>
      </p:sp>
      <p:sp>
        <p:nvSpPr>
          <p:cNvPr id="19" name="Text 12"/>
          <p:cNvSpPr txBox="1"/>
          <p:nvPr/>
        </p:nvSpPr>
        <p:spPr>
          <a:xfrm>
            <a:off x="6675120" y="2944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chart from another cycle is dropped and the reply says so.</a:t>
            </a:r>
            <a:endParaRPr lang="en-US" sz="1150" dirty="0"/>
          </a:p>
        </p:txBody>
      </p:sp>
      <p:pic>
        <p:nvPicPr>
          <p:cNvPr id="20" name="Image 4" descr="preencoded.png">    </p:cNvPr>
          <p:cNvPicPr>
            <a:picLocks noChangeAspect="1"/>
          </p:cNvPicPr>
          <p:nvPr/>
        </p:nvPicPr>
        <p:blipFill>
          <a:blip r:embed="rId5"/>
          <a:stretch>
            <a:fillRect/>
          </a:stretch>
        </p:blipFill>
        <p:spPr>
          <a:xfrm>
            <a:off x="457200" y="3749040"/>
            <a:ext cx="384048" cy="384048"/>
          </a:xfrm>
          <a:prstGeom prst="rect">
            <a:avLst/>
          </a:prstGeom>
        </p:spPr>
      </p:pic>
      <p:sp>
        <p:nvSpPr>
          <p:cNvPr id="21" name="Text 13"/>
          <p:cNvSpPr txBox="1"/>
          <p:nvPr/>
        </p:nvSpPr>
        <p:spPr>
          <a:xfrm>
            <a:off x="100584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Numbers are grounded</a:t>
            </a:r>
            <a:endParaRPr lang="en-US" sz="1350" dirty="0"/>
          </a:p>
        </p:txBody>
      </p:sp>
      <p:sp>
        <p:nvSpPr>
          <p:cNvPr id="22" name="Text 14"/>
          <p:cNvSpPr txBox="1"/>
          <p:nvPr/>
        </p:nvSpPr>
        <p:spPr>
          <a:xfrm>
            <a:off x="100584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A planted wrong price is caught, regenerated, then flagged; the rate is on the dashboard.</a:t>
            </a:r>
            <a:endParaRPr lang="en-US" sz="1150" dirty="0"/>
          </a:p>
        </p:txBody>
      </p:sp>
      <p:pic>
        <p:nvPicPr>
          <p:cNvPr id="23" name="Image 5" descr="preencoded.png">    </p:cNvPr>
          <p:cNvPicPr>
            <a:picLocks noChangeAspect="1"/>
          </p:cNvPicPr>
          <p:nvPr/>
        </p:nvPicPr>
        <p:blipFill>
          <a:blip r:embed="rId6"/>
          <a:stretch>
            <a:fillRect/>
          </a:stretch>
        </p:blipFill>
        <p:spPr>
          <a:xfrm>
            <a:off x="6126480" y="3749040"/>
            <a:ext cx="384048" cy="384048"/>
          </a:xfrm>
          <a:prstGeom prst="rect">
            <a:avLst/>
          </a:prstGeom>
        </p:spPr>
      </p:pic>
      <p:sp>
        <p:nvSpPr>
          <p:cNvPr id="24" name="Text 15"/>
          <p:cNvSpPr txBox="1"/>
          <p:nvPr/>
        </p:nvSpPr>
        <p:spPr>
          <a:xfrm>
            <a:off x="6675120" y="3703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Wording passes everywhere</a:t>
            </a:r>
            <a:endParaRPr lang="en-US" sz="1350" dirty="0"/>
          </a:p>
        </p:txBody>
      </p:sp>
      <p:sp>
        <p:nvSpPr>
          <p:cNvPr id="25" name="Text 16"/>
          <p:cNvSpPr txBox="1"/>
          <p:nvPr/>
        </p:nvSpPr>
        <p:spPr>
          <a:xfrm>
            <a:off x="6675120" y="4087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Listed phrases are caught in each of the 16 languages’ test replies.</a:t>
            </a:r>
            <a:endParaRPr lang="en-US" sz="1150" dirty="0"/>
          </a:p>
        </p:txBody>
      </p:sp>
      <p:pic>
        <p:nvPicPr>
          <p:cNvPr id="26" name="Image 6" descr="preencoded.png">    </p:cNvPr>
          <p:cNvPicPr>
            <a:picLocks noChangeAspect="1"/>
          </p:cNvPicPr>
          <p:nvPr/>
        </p:nvPicPr>
        <p:blipFill>
          <a:blip r:embed="rId7"/>
          <a:stretch>
            <a:fillRect/>
          </a:stretch>
        </p:blipFill>
        <p:spPr>
          <a:xfrm>
            <a:off x="457200" y="4892040"/>
            <a:ext cx="384048" cy="384048"/>
          </a:xfrm>
          <a:prstGeom prst="rect">
            <a:avLst/>
          </a:prstGeom>
        </p:spPr>
      </p:pic>
      <p:sp>
        <p:nvSpPr>
          <p:cNvPr id="27" name="Text 17"/>
          <p:cNvSpPr txBox="1"/>
          <p:nvPr/>
        </p:nvSpPr>
        <p:spPr>
          <a:xfrm>
            <a:off x="100584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Direction can’t drift</a:t>
            </a:r>
            <a:endParaRPr lang="en-US" sz="1350" dirty="0"/>
          </a:p>
        </p:txBody>
      </p:sp>
      <p:sp>
        <p:nvSpPr>
          <p:cNvPr id="28" name="Text 18"/>
          <p:cNvSpPr txBox="1"/>
          <p:nvPr/>
        </p:nvSpPr>
        <p:spPr>
          <a:xfrm>
            <a:off x="100584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On every golden scenario, Report 1’s direction equals the synthesis reading.</a:t>
            </a:r>
            <a:endParaRPr lang="en-US" sz="1150" dirty="0"/>
          </a:p>
        </p:txBody>
      </p:sp>
      <p:pic>
        <p:nvPicPr>
          <p:cNvPr id="29" name="Image 7" descr="preencoded.png">    </p:cNvPr>
          <p:cNvPicPr>
            <a:picLocks noChangeAspect="1"/>
          </p:cNvPicPr>
          <p:nvPr/>
        </p:nvPicPr>
        <p:blipFill>
          <a:blip r:embed="rId8"/>
          <a:stretch>
            <a:fillRect/>
          </a:stretch>
        </p:blipFill>
        <p:spPr>
          <a:xfrm>
            <a:off x="6126480" y="4892040"/>
            <a:ext cx="384048" cy="384048"/>
          </a:xfrm>
          <a:prstGeom prst="rect">
            <a:avLst/>
          </a:prstGeom>
        </p:spPr>
      </p:pic>
      <p:sp>
        <p:nvSpPr>
          <p:cNvPr id="30" name="Text 19"/>
          <p:cNvSpPr txBox="1"/>
          <p:nvPr/>
        </p:nvSpPr>
        <p:spPr>
          <a:xfrm>
            <a:off x="6675120" y="4846320"/>
            <a:ext cx="4937760" cy="365760"/>
          </a:xfrm>
          <a:prstGeom prst="rect">
            <a:avLst/>
          </a:prstGeom>
          <a:noFill/>
          <a:ln/>
        </p:spPr>
        <p:txBody>
          <a:bodyPr wrap="square" lIns="0" tIns="0" rIns="0" bIns="0" rtlCol="0" anchor="ctr"/>
          <a:lstStyle/>
          <a:p>
            <a:pPr indent="0" marL="0">
              <a:buNone/>
            </a:pPr>
            <a:r>
              <a:rPr lang="en-US" sz="1350" b="1" dirty="0">
                <a:solidFill>
                  <a:srgbClr val="EEF1F4"/>
                </a:solidFill>
                <a:latin typeface="Calibri" pitchFamily="34" charset="0"/>
                <a:ea typeface="Calibri" pitchFamily="34" charset="-122"/>
                <a:cs typeface="Calibri" pitchFamily="34" charset="-120"/>
              </a:rPr>
              <a:t>Costs are measured</a:t>
            </a:r>
            <a:endParaRPr lang="en-US" sz="1350" dirty="0"/>
          </a:p>
        </p:txBody>
      </p:sp>
      <p:sp>
        <p:nvSpPr>
          <p:cNvPr id="31" name="Text 20"/>
          <p:cNvSpPr txBox="1"/>
          <p:nvPr/>
        </p:nvSpPr>
        <p:spPr>
          <a:xfrm>
            <a:off x="6675120" y="5230368"/>
            <a:ext cx="4937760" cy="640080"/>
          </a:xfrm>
          <a:prstGeom prst="rect">
            <a:avLst/>
          </a:prstGeom>
          <a:noFill/>
          <a:ln/>
        </p:spPr>
        <p:txBody>
          <a:bodyPr wrap="square" lIns="0" tIns="0" rIns="0" bIns="0" rtlCol="0" anchor="t"/>
          <a:lstStyle/>
          <a:p>
            <a:pPr indent="0" marL="0">
              <a:buNone/>
            </a:pPr>
            <a:r>
              <a:rPr lang="en-US" sz="1150" dirty="0">
                <a:solidFill>
                  <a:srgbClr val="A3AEBB"/>
                </a:solidFill>
                <a:latin typeface="Calibri" pitchFamily="34" charset="0"/>
                <a:ea typeface="Calibri" pitchFamily="34" charset="-122"/>
                <a:cs typeface="Calibri" pitchFamily="34" charset="-120"/>
              </a:rPr>
              <a:t>Units per first message and per follow-up are measured per model and feed Section 7.</a:t>
            </a:r>
            <a:endParaRPr lang="en-US" sz="1150" dirty="0"/>
          </a:p>
        </p:txBody>
      </p:sp>
      <p:sp>
        <p:nvSpPr>
          <p:cNvPr id="32" name="Text 21"/>
          <p:cNvSpPr txBox="1"/>
          <p:nvPr/>
        </p:nvSpPr>
        <p:spPr>
          <a:xfrm>
            <a:off x="457200" y="6035040"/>
            <a:ext cx="10972800" cy="320040"/>
          </a:xfrm>
          <a:prstGeom prst="rect">
            <a:avLst/>
          </a:prstGeom>
          <a:noFill/>
          <a:ln/>
        </p:spPr>
        <p:txBody>
          <a:bodyPr wrap="square" lIns="0" tIns="0" rIns="0" bIns="0" rtlCol="0" anchor="t"/>
          <a:lstStyle/>
          <a:p>
            <a:pPr indent="0" marL="0">
              <a:buNone/>
            </a:pPr>
            <a:r>
              <a:rPr lang="en-US" sz="1200" b="1" dirty="0">
                <a:solidFill>
                  <a:srgbClr val="E2B54E"/>
                </a:solidFill>
                <a:latin typeface="Calibri" pitchFamily="34" charset="0"/>
                <a:ea typeface="Calibri" pitchFamily="34" charset="-122"/>
                <a:cs typeface="Calibri" pitchFamily="34" charset="-120"/>
              </a:rPr>
              <a:t>Next deck: Section 6 · Engine 4 &amp; Report 2, delivered with this update.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 D Revised Architecture — Section 5: Prompt &amp; AI reply</dc:title>
  <dc:subject>PptxGenJS Presentation</dc:subject>
  <dc:creator>DavinTrade</dc:creator>
  <cp:lastModifiedBy>DavinTrade</cp:lastModifiedBy>
  <cp:revision>1</cp:revision>
  <dcterms:created xsi:type="dcterms:W3CDTF">2026-09-29T17:02:09Z</dcterms:created>
  <dcterms:modified xsi:type="dcterms:W3CDTF">2026-09-29T17:02:09Z</dcterms:modified>
</cp:coreProperties>
</file>