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deck of the section series. Section 7 spans both clocks: it does not produce market readings or answers, it decides the rules every other section runs under and records what they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7 is where the other sections left their open questions: the entitlement table (Section 4), quota amounts (decision 050), the retention figure (Section 6), the trace (every section) and the golden scenarios that test them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review G1 (nine documents, "newest wins", 11 conflicts listed in the revision-3 deck appendix); entitlements: file A line 139, file D line 250, file I lines 104-109, R2 manifest lines 273 and 315, market-session and news manifest §6.1 (session countdown PRO-gated per the seed’s /free page); retention: file D line 160 (7-year WORM legal vault: transcripts, consents, audit proofs), file E §4.4 (5-7 years, anonymised); operations: PUSH-WORKER-THROUGHPUT-OPEN-ISSUE.md as quoted in the news manifest §6.5 (about 800 rows a minute demanded against 375-600 capacity), R2 manifest checklist (stale objects checked by hand); languages: lib/i18n/dictionaries holds 17 files for 16 languages; the news manifest §10 shipped new keys in English only, identity-mapped elsewhere.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1 review G1. 2 review G2 and the entitlement sources on slide 3. 3 review G3. 4 file D line 160 vs file E line 305. 5 degraded behaviour is currently defined piecemeal (decisions 040, 051, 055, 060); review G4 proposed blocking trade setups when the knowledge index fails, which is not needed because Engine 4 does not use the index. 6 review G4. 7 decision 048 puts the Engine 4 profile in the prompt; file E’s profile includes the equity balance and commission, which Report 1 does not need. 8 push throughput open issue; R2 manifest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piece is a single artefact with an owner (you) and a place in the repository or database, so that no rule exists in two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seven section decks become the seven chapters. Each decision-log file records context, the decision, the alternative not chosen, status (settled or proposed), date and section; entries 001-069 already exist in the overview deck and become files as they are. Files A-I keep their content but get a banner pointing to the canonical document, so old links still work. CLAUDE.md points Claude Code at the canonical document first. Engine numbers stay as aliases so older code and notes still make sense.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table; every value is yours to change. Free without the AI matches file A and the deployed UI, and avoids a Free quota that would buy about two full answers a month (Section 5). The recorded demo is a real golden-scenario conversation replayed from storage, so it costs nothing per view. Quota method: you set the share of the Pro price that may be spent on models; decision 050 turns measured cost into units. Chat history retention is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trace is written once per answer by Sections 4-6 and read by support, the dashboard and audits. Field groups follow review G3 and the handoff tables of Sections 4-6. The user id is replaced by its HMAC hash on account deletion, as for the profile history (file E §4.4).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Retention: one figure of 7 years for the rows that show what the trader was told and what they chose (the longer of files D and E). Chat transcripts are not needed for that, because the trace keeps both reports as JSON; keeping every transcript write-once for 7 years (file D) holds more personal data than the purpose needs. Prompt privacy: Report 1 needs the trader type, style and limits; Report 2 is computed by Engine 4 without a model, so the equity balance and commission never need to reach a model provider. OpenRouter can be restricted to providers by their data policy; the privacy notice names the processors. I am not a lawyer: counsel should confirm the figures and the notice for each target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rows restate decisions already settled, so the behaviour lives in one table. Three rows are new: the knowledge-index row corrects review G4 (Report 2 does not use the index, so it need not be blocked); the calendar row uses the news lane’s 15-minute export cadence (three missed exports = 45 minutes) and the fact that the append-only table still holds the scheduled times; the symbol_specs row needs an age limit (7 days suggested). Each row gets a test in the golden-scenario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golden set is about 24 stored cycles with approved expected outputs: sensor envelopes, synthesis reading, zones, Report 1 checks (direction equals synthesis, zone ids valid) and Report 2 numbers. Real cycles can only be captured once the v6 pipeline writes to production (the 22 Sep blueprint says it has not yet); until then the 18 Sep test cycle is scenario 1 and the rest come from point-in-time replay (decision 020). The four other test assets already settled are listed on the right; together they form the release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reads the trace, cycle and consent tables; no separate monitoring stack is needed at this size. Alert thresholds are starting values. Push throughput is on the list because the open issue quoted in the news manifest measures delivery below demand; decision 013 (newest bars first) keeps cycles current, and this panel shows whether the backlog still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 comes from lib/i18n/dictionaries: 17 files, with English as en-US and en-GB. Every per-language asset in Stack D is keyed by this list: the trading glossary (038), the out-of-scope replies (046), the wording guide, phrase lists and disclaimers (056), Report 2 labels (068) and the reasons Report 2 is not offered (058). Today new UI keys ship in English and fall back to English elsewhere (news manifest §10); that is fine for labels but not for safety texts. Arabic and Urdu are right-to-left: reports render right-to-left with prices kept left-to-right. Number formats are applied by the renderer and normalised by the number check (053).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order. The canonical document comes first because Claude Code builds from documents. The pipeline comes next because every later step needs real cycles, and the v6 pipeline has not yet written a row to production PostgreSQL (22 Sep blueprint). Engine 4 moves ahead of the AI reply because it is deterministic and can be tested without a model. Governance pieces start with step 4 and grow alongside. Review G5 items and the other deferred work stay on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of the revised platform and governance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close the requests the earlier decks left open: entitlements (Section 4 gap 8), quota amounts (decision 050), retention (Section 6), trace fields (Sections 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twelve were settled on 30 Sep by adopting the suggestion; they are entries 070-081 in the decision log. 7.3 and 7.4 are business decisions; the suggestion follows file A and the deployed UI, and ties the quota to your margin rather than to a token number. 7.7 and 7.8: I am not a lawyer; counsel should confirm the retention figure, the transcript period and the privacy notice for each target market. 7.9 adds three new rows (knowledge index, calendar age, symbol_specs 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Acceptance checks for Section 7. The last one also covers the broker clock change: the MT5 server time used by the calendar was measured at GMT+3 in September and is expected to move when US daylight saving ends in early November.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slideLayout" Target="../slideLayouts/slideLayout1.xml"/><Relationship Id="rId10"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318"/>
        </a:solidFill>
      </p:bgPr>
    </p:bg>
    <p:spTree>
      <p:nvGrpSpPr>
        <p:cNvPr id="1" name=""/>
        <p:cNvGrpSpPr/>
        <p:nvPr/>
      </p:nvGrpSpPr>
      <p:grpSpPr>
        <a:xfrm>
          <a:off x="0" y="0"/>
          <a:ext cx="0" cy="0"/>
          <a:chOff x="0" y="0"/>
          <a:chExt cx="0" cy="0"/>
        </a:xfrm>
      </p:grpSpPr>
      <p:sp>
        <p:nvSpPr>
          <p:cNvPr id="2" name="Text 0"/>
          <p:cNvSpPr txBox="1"/>
          <p:nvPr/>
        </p:nvSpPr>
        <p:spPr>
          <a:xfrm>
            <a:off x="640080" y="1188720"/>
            <a:ext cx="6583680" cy="274320"/>
          </a:xfrm>
          <a:prstGeom prst="rect">
            <a:avLst/>
          </a:prstGeom>
          <a:noFill/>
          <a:ln/>
        </p:spPr>
        <p:txBody>
          <a:bodyPr wrap="square" lIns="0" tIns="0" rIns="0" bIns="0" rtlCol="0" anchor="t"/>
          <a:lstStyle/>
          <a:p>
            <a:pPr indent="0" marL="0">
              <a:buNone/>
            </a:pPr>
            <a:r>
              <a:rPr lang="en-US" sz="1200" b="1" spc="300" kern="0" dirty="0">
                <a:solidFill>
                  <a:srgbClr val="E2B54E"/>
                </a:solidFill>
                <a:latin typeface="Calibri" pitchFamily="34" charset="0"/>
                <a:ea typeface="Calibri" pitchFamily="34" charset="-122"/>
                <a:cs typeface="Calibri" pitchFamily="34" charset="-120"/>
              </a:rPr>
              <a:t>STACK D  ·  REVISED ARCHITECTURE  ·  DECK 7 OF 7</a:t>
            </a:r>
            <a:endParaRPr lang="en-US" sz="1200" dirty="0"/>
          </a:p>
        </p:txBody>
      </p:sp>
      <p:sp>
        <p:nvSpPr>
          <p:cNvPr id="3" name="Text 1"/>
          <p:cNvSpPr txBox="1"/>
          <p:nvPr/>
        </p:nvSpPr>
        <p:spPr>
          <a:xfrm>
            <a:off x="640080" y="1572768"/>
            <a:ext cx="6035040" cy="1554480"/>
          </a:xfrm>
          <a:prstGeom prst="rect">
            <a:avLst/>
          </a:prstGeom>
          <a:noFill/>
          <a:ln/>
        </p:spPr>
        <p:txBody>
          <a:bodyPr wrap="square" lIns="0" tIns="0" rIns="0" bIns="0" rtlCol="0" anchor="t"/>
          <a:lstStyle/>
          <a:p>
            <a:pPr indent="0" marL="0">
              <a:buNone/>
            </a:pPr>
            <a:r>
              <a:rPr lang="en-US" sz="4000" b="1" dirty="0">
                <a:solidFill>
                  <a:srgbClr val="EEF1F4"/>
                </a:solidFill>
                <a:latin typeface="Cambria" pitchFamily="34" charset="0"/>
                <a:ea typeface="Cambria" pitchFamily="34" charset="-122"/>
                <a:cs typeface="Cambria" pitchFamily="34" charset="-120"/>
              </a:rPr>
              <a:t>Section 7 · Platform &amp; governance</a:t>
            </a:r>
            <a:endParaRPr lang="en-US" sz="4000" dirty="0"/>
          </a:p>
        </p:txBody>
      </p:sp>
      <p:sp>
        <p:nvSpPr>
          <p:cNvPr id="4" name="Text 2"/>
          <p:cNvSpPr txBox="1"/>
          <p:nvPr/>
        </p:nvSpPr>
        <p:spPr>
          <a:xfrm>
            <a:off x="640080" y="3291840"/>
            <a:ext cx="5760720" cy="1280160"/>
          </a:xfrm>
          <a:prstGeom prst="rect">
            <a:avLst/>
          </a:prstGeom>
          <a:noFill/>
          <a:ln/>
        </p:spPr>
        <p:txBody>
          <a:bodyPr wrap="square" lIns="0" tIns="0" rIns="0" bIns="0" rtlCol="0" anchor="t"/>
          <a:lstStyle/>
          <a:p>
            <a:pPr indent="0" marL="0">
              <a:buNone/>
            </a:pPr>
            <a:r>
              <a:rPr lang="en-US" sz="1700" dirty="0">
                <a:solidFill>
                  <a:srgbClr val="A3AEBB"/>
                </a:solidFill>
                <a:latin typeface="Calibri" pitchFamily="34" charset="0"/>
                <a:ea typeface="Calibri" pitchFamily="34" charset="-122"/>
                <a:cs typeface="Calibri" pitchFamily="34" charset="-120"/>
              </a:rPr>
              <a:t>What holds the other six together: one source of truth, one entitlement table, one trace per answer, and a defined response to every failure.</a:t>
            </a:r>
            <a:endParaRPr lang="en-US" sz="1700" dirty="0"/>
          </a:p>
        </p:txBody>
      </p:sp>
      <p:sp>
        <p:nvSpPr>
          <p:cNvPr id="5" name="Text 3"/>
          <p:cNvSpPr txBox="1"/>
          <p:nvPr/>
        </p:nvSpPr>
        <p:spPr>
          <a:xfrm>
            <a:off x="640080" y="4754880"/>
            <a:ext cx="5943600" cy="1371600"/>
          </a:xfrm>
          <a:prstGeom prst="rect">
            <a:avLst/>
          </a:prstGeom>
          <a:noFill/>
          <a:ln/>
        </p:spPr>
        <p:txBody>
          <a:bodyPr wrap="square" lIns="0" tIns="0" rIns="0" bIns="0" rtlCol="0" anchor="t"/>
          <a:lstStyle/>
          <a:p>
            <a:pPr indent="0" marL="0">
              <a:spcAft>
                <a:spcPts val="300"/>
              </a:spcAft>
              <a:buNone/>
            </a:pPr>
            <a:r>
              <a:rPr lang="en-US" sz="1200" dirty="0">
                <a:solidFill>
                  <a:srgbClr val="A3AEBB"/>
                </a:solidFill>
                <a:latin typeface="Calibri" pitchFamily="34" charset="0"/>
                <a:ea typeface="Calibri" pitchFamily="34" charset="-122"/>
                <a:cs typeface="Calibri" pitchFamily="34" charset="-120"/>
              </a:rPr>
              <a:t>Decisions 7.1–7.12 settled 30 September 2026</a:t>
            </a:r>
            <a:endParaRPr lang="en-US" sz="1200" dirty="0"/>
          </a:p>
          <a:p>
            <a:pPr indent="0" marL="0">
              <a:spcAft>
                <a:spcPts val="300"/>
              </a:spcAft>
              <a:buNone/>
            </a:pPr>
            <a:r>
              <a:rPr lang="en-US" sz="1200" dirty="0">
                <a:solidFill>
                  <a:srgbClr val="A3AEBB"/>
                </a:solidFill>
                <a:latin typeface="Calibri" pitchFamily="34" charset="0"/>
                <a:ea typeface="Calibri" pitchFamily="34" charset="-122"/>
                <a:cs typeface="Calibri" pitchFamily="34" charset="-120"/>
              </a:rPr>
              <a:t>Recommendations landing here: G1 (P1) · G2 · G3 · G4 · G5, plus the requests Sections 1–6 left for this one</a:t>
            </a:r>
            <a:endParaRPr lang="en-US" sz="1200" dirty="0"/>
          </a:p>
          <a:p>
            <a:pPr indent="0" marL="0">
              <a:spcAft>
                <a:spcPts val="300"/>
              </a:spcAft>
              <a:buNone/>
            </a:pPr>
            <a:r>
              <a:rPr lang="en-US" sz="1200" dirty="0">
                <a:solidFill>
                  <a:srgbClr val="A3AEBB"/>
                </a:solidFill>
                <a:latin typeface="Calibri" pitchFamily="34" charset="0"/>
                <a:ea typeface="Calibri" pitchFamily="34" charset="-122"/>
                <a:cs typeface="Calibri" pitchFamily="34" charset="-120"/>
              </a:rPr>
              <a:t>Builds on Sections 1–6 (settled 29–30 September)</a:t>
            </a:r>
            <a:endParaRPr lang="en-US" sz="1200" dirty="0"/>
          </a:p>
          <a:p>
            <a:pPr indent="0" marL="0">
              <a:spcAft>
                <a:spcPts val="300"/>
              </a:spcAft>
              <a:buNone/>
            </a:pPr>
            <a:r>
              <a:rPr lang="en-US" sz="1200" dirty="0">
                <a:solidFill>
                  <a:srgbClr val="A3AEBB"/>
                </a:solidFill>
                <a:latin typeface="Calibri" pitchFamily="34" charset="0"/>
                <a:ea typeface="Calibri" pitchFamily="34" charset="-122"/>
                <a:cs typeface="Calibri" pitchFamily="34" charset="-120"/>
              </a:rPr>
              <a:t>Sources: review G1–G5 · file D §3, §5 · file E §4 · R2 manifest · market-session and news manifest (11 Sep) · the app’s language files</a:t>
            </a:r>
            <a:endParaRPr lang="en-US" sz="1200" dirty="0"/>
          </a:p>
        </p:txBody>
      </p:sp>
      <p:sp>
        <p:nvSpPr>
          <p:cNvPr id="6" name="Shape 4"/>
          <p:cNvSpPr/>
          <p:nvPr/>
        </p:nvSpPr>
        <p:spPr>
          <a:xfrm>
            <a:off x="6903720" y="1188720"/>
            <a:ext cx="4846320" cy="1700784"/>
          </a:xfrm>
          <a:prstGeom prst="roundRect">
            <a:avLst>
              <a:gd name="adj" fmla="val 3226"/>
            </a:avLst>
          </a:prstGeom>
          <a:solidFill>
            <a:srgbClr val="15302D"/>
          </a:solidFill>
          <a:ln w="9525">
            <a:solidFill>
              <a:srgbClr val="15302D"/>
            </a:solidFill>
            <a:prstDash val="solid"/>
          </a:ln>
        </p:spPr>
      </p:sp>
      <p:sp>
        <p:nvSpPr>
          <p:cNvPr id="7" name="Text 5"/>
          <p:cNvSpPr txBox="1"/>
          <p:nvPr/>
        </p:nvSpPr>
        <p:spPr>
          <a:xfrm>
            <a:off x="7031736" y="1261872"/>
            <a:ext cx="3004718" cy="219456"/>
          </a:xfrm>
          <a:prstGeom prst="rect">
            <a:avLst/>
          </a:prstGeom>
          <a:noFill/>
          <a:ln/>
        </p:spPr>
        <p:txBody>
          <a:bodyPr wrap="square" lIns="0" tIns="0" rIns="0" bIns="0" rtlCol="0" anchor="t"/>
          <a:lstStyle/>
          <a:p>
            <a:pPr indent="0" marL="0">
              <a:buNone/>
            </a:pPr>
            <a:r>
              <a:rPr lang="en-US" sz="850" b="1" spc="200" kern="0" dirty="0">
                <a:solidFill>
                  <a:srgbClr val="5CC2B2"/>
                </a:solidFill>
                <a:latin typeface="Calibri" pitchFamily="34" charset="0"/>
                <a:ea typeface="Calibri" pitchFamily="34" charset="-122"/>
                <a:cs typeface="Calibri" pitchFamily="34" charset="-120"/>
              </a:rPr>
              <a:t>EVERY 5-MINUTE CYCLE</a:t>
            </a:r>
            <a:endParaRPr lang="en-US" sz="850" dirty="0"/>
          </a:p>
        </p:txBody>
      </p:sp>
      <p:sp>
        <p:nvSpPr>
          <p:cNvPr id="8" name="Text 6"/>
          <p:cNvSpPr txBox="1"/>
          <p:nvPr/>
        </p:nvSpPr>
        <p:spPr>
          <a:xfrm>
            <a:off x="9084564" y="1261872"/>
            <a:ext cx="2537460" cy="219456"/>
          </a:xfrm>
          <a:prstGeom prst="rect">
            <a:avLst/>
          </a:prstGeom>
          <a:noFill/>
          <a:ln/>
        </p:spPr>
        <p:txBody>
          <a:bodyPr wrap="square" lIns="0" tIns="0" rIns="0" bIns="0" rtlCol="0" anchor="t"/>
          <a:lstStyle/>
          <a:p>
            <a:pPr algn="r" indent="0" marL="0">
              <a:buNone/>
            </a:pPr>
            <a:r>
              <a:rPr lang="en-US" sz="800" i="1" dirty="0">
                <a:solidFill>
                  <a:srgbClr val="A3AEBB"/>
                </a:solidFill>
                <a:latin typeface="Calibri" pitchFamily="34" charset="0"/>
                <a:ea typeface="Calibri" pitchFamily="34" charset="-122"/>
                <a:cs typeface="Calibri" pitchFamily="34" charset="-120"/>
              </a:rPr>
              <a:t>runs whether or not anyone asks</a:t>
            </a:r>
            <a:endParaRPr lang="en-US" sz="800" dirty="0"/>
          </a:p>
        </p:txBody>
      </p:sp>
      <p:sp>
        <p:nvSpPr>
          <p:cNvPr id="9" name="Shape 7"/>
          <p:cNvSpPr/>
          <p:nvPr/>
        </p:nvSpPr>
        <p:spPr>
          <a:xfrm>
            <a:off x="7031736" y="1554480"/>
            <a:ext cx="1347216" cy="1207008"/>
          </a:xfrm>
          <a:prstGeom prst="roundRect">
            <a:avLst>
              <a:gd name="adj" fmla="val 5303"/>
            </a:avLst>
          </a:prstGeom>
          <a:solidFill>
            <a:srgbClr val="161C24"/>
          </a:solidFill>
          <a:ln w="9525">
            <a:solidFill>
              <a:srgbClr val="161C24"/>
            </a:solidFill>
            <a:prstDash val="solid"/>
          </a:ln>
        </p:spPr>
      </p:sp>
      <p:sp>
        <p:nvSpPr>
          <p:cNvPr id="10" name="Shape 8"/>
          <p:cNvSpPr/>
          <p:nvPr/>
        </p:nvSpPr>
        <p:spPr>
          <a:xfrm>
            <a:off x="7123176" y="1965960"/>
            <a:ext cx="384048" cy="384048"/>
          </a:xfrm>
          <a:prstGeom prst="ellipse">
            <a:avLst/>
          </a:prstGeom>
          <a:solidFill>
            <a:srgbClr val="6E7A88"/>
          </a:solidFill>
          <a:ln w="15875">
            <a:solidFill>
              <a:srgbClr val="6E7A88"/>
            </a:solidFill>
            <a:prstDash val="solid"/>
          </a:ln>
        </p:spPr>
      </p:sp>
      <p:sp>
        <p:nvSpPr>
          <p:cNvPr id="11" name="Text 9"/>
          <p:cNvSpPr txBox="1"/>
          <p:nvPr/>
        </p:nvSpPr>
        <p:spPr>
          <a:xfrm>
            <a:off x="7123176" y="1965960"/>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598664" y="1554480"/>
            <a:ext cx="72542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Market data &amp; chart</a:t>
            </a:r>
            <a:endParaRPr lang="en-US" sz="1000" dirty="0"/>
          </a:p>
        </p:txBody>
      </p:sp>
      <p:sp>
        <p:nvSpPr>
          <p:cNvPr id="13" name="Shape 11"/>
          <p:cNvSpPr/>
          <p:nvPr/>
        </p:nvSpPr>
        <p:spPr>
          <a:xfrm>
            <a:off x="8415528" y="2157984"/>
            <a:ext cx="201168" cy="0"/>
          </a:xfrm>
          <a:prstGeom prst="line">
            <a:avLst/>
          </a:prstGeom>
          <a:noFill/>
          <a:ln w="15875">
            <a:solidFill>
              <a:srgbClr val="323C49"/>
            </a:solidFill>
            <a:prstDash val="solid"/>
            <a:tailEnd type="triangle"/>
          </a:ln>
        </p:spPr>
      </p:sp>
      <p:sp>
        <p:nvSpPr>
          <p:cNvPr id="14" name="Shape 12"/>
          <p:cNvSpPr/>
          <p:nvPr/>
        </p:nvSpPr>
        <p:spPr>
          <a:xfrm>
            <a:off x="8653272" y="1554480"/>
            <a:ext cx="1347216" cy="1207008"/>
          </a:xfrm>
          <a:prstGeom prst="roundRect">
            <a:avLst>
              <a:gd name="adj" fmla="val 5303"/>
            </a:avLst>
          </a:prstGeom>
          <a:solidFill>
            <a:srgbClr val="161C24"/>
          </a:solidFill>
          <a:ln w="9525">
            <a:solidFill>
              <a:srgbClr val="161C24"/>
            </a:solidFill>
            <a:prstDash val="solid"/>
          </a:ln>
        </p:spPr>
      </p:sp>
      <p:sp>
        <p:nvSpPr>
          <p:cNvPr id="15" name="Shape 13"/>
          <p:cNvSpPr/>
          <p:nvPr/>
        </p:nvSpPr>
        <p:spPr>
          <a:xfrm>
            <a:off x="8744712" y="1965960"/>
            <a:ext cx="384048" cy="384048"/>
          </a:xfrm>
          <a:prstGeom prst="ellipse">
            <a:avLst/>
          </a:prstGeom>
          <a:solidFill>
            <a:srgbClr val="6E7A88"/>
          </a:solidFill>
          <a:ln w="15875">
            <a:solidFill>
              <a:srgbClr val="6E7A88"/>
            </a:solidFill>
            <a:prstDash val="solid"/>
          </a:ln>
        </p:spPr>
      </p:sp>
      <p:sp>
        <p:nvSpPr>
          <p:cNvPr id="16" name="Text 14"/>
          <p:cNvSpPr txBox="1"/>
          <p:nvPr/>
        </p:nvSpPr>
        <p:spPr>
          <a:xfrm>
            <a:off x="8744712" y="1965960"/>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9220200" y="1554480"/>
            <a:ext cx="72542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Sensors (MCDs)</a:t>
            </a:r>
            <a:endParaRPr lang="en-US" sz="1000" dirty="0"/>
          </a:p>
        </p:txBody>
      </p:sp>
      <p:sp>
        <p:nvSpPr>
          <p:cNvPr id="18" name="Shape 16"/>
          <p:cNvSpPr/>
          <p:nvPr/>
        </p:nvSpPr>
        <p:spPr>
          <a:xfrm>
            <a:off x="10037064" y="2157984"/>
            <a:ext cx="201168" cy="0"/>
          </a:xfrm>
          <a:prstGeom prst="line">
            <a:avLst/>
          </a:prstGeom>
          <a:noFill/>
          <a:ln w="15875">
            <a:solidFill>
              <a:srgbClr val="323C49"/>
            </a:solidFill>
            <a:prstDash val="solid"/>
            <a:tailEnd type="triangle"/>
          </a:ln>
        </p:spPr>
      </p:sp>
      <p:sp>
        <p:nvSpPr>
          <p:cNvPr id="19" name="Shape 17"/>
          <p:cNvSpPr/>
          <p:nvPr/>
        </p:nvSpPr>
        <p:spPr>
          <a:xfrm>
            <a:off x="10274808" y="1554480"/>
            <a:ext cx="1347216" cy="1207008"/>
          </a:xfrm>
          <a:prstGeom prst="roundRect">
            <a:avLst>
              <a:gd name="adj" fmla="val 5303"/>
            </a:avLst>
          </a:prstGeom>
          <a:solidFill>
            <a:srgbClr val="161C24"/>
          </a:solidFill>
          <a:ln w="9525">
            <a:solidFill>
              <a:srgbClr val="161C24"/>
            </a:solidFill>
            <a:prstDash val="solid"/>
          </a:ln>
        </p:spPr>
      </p:sp>
      <p:sp>
        <p:nvSpPr>
          <p:cNvPr id="20" name="Shape 18"/>
          <p:cNvSpPr/>
          <p:nvPr/>
        </p:nvSpPr>
        <p:spPr>
          <a:xfrm>
            <a:off x="10366248" y="1965960"/>
            <a:ext cx="384048" cy="384048"/>
          </a:xfrm>
          <a:prstGeom prst="ellipse">
            <a:avLst/>
          </a:prstGeom>
          <a:solidFill>
            <a:srgbClr val="6E7A88"/>
          </a:solidFill>
          <a:ln w="15875">
            <a:solidFill>
              <a:srgbClr val="6E7A88"/>
            </a:solidFill>
            <a:prstDash val="solid"/>
          </a:ln>
        </p:spPr>
      </p:sp>
      <p:sp>
        <p:nvSpPr>
          <p:cNvPr id="21" name="Text 19"/>
          <p:cNvSpPr txBox="1"/>
          <p:nvPr/>
        </p:nvSpPr>
        <p:spPr>
          <a:xfrm>
            <a:off x="10366248" y="1965960"/>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3</a:t>
            </a:r>
            <a:endParaRPr lang="en-US" sz="1100" dirty="0"/>
          </a:p>
        </p:txBody>
      </p:sp>
      <p:sp>
        <p:nvSpPr>
          <p:cNvPr id="22" name="Text 20"/>
          <p:cNvSpPr txBox="1"/>
          <p:nvPr/>
        </p:nvSpPr>
        <p:spPr>
          <a:xfrm>
            <a:off x="10841736" y="1554480"/>
            <a:ext cx="72542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Synthesis &amp; entry zones</a:t>
            </a:r>
            <a:endParaRPr lang="en-US" sz="1000" dirty="0"/>
          </a:p>
        </p:txBody>
      </p:sp>
      <p:sp>
        <p:nvSpPr>
          <p:cNvPr id="23" name="Shape 21"/>
          <p:cNvSpPr/>
          <p:nvPr/>
        </p:nvSpPr>
        <p:spPr>
          <a:xfrm>
            <a:off x="6903720" y="3273552"/>
            <a:ext cx="4846320" cy="1700784"/>
          </a:xfrm>
          <a:prstGeom prst="roundRect">
            <a:avLst>
              <a:gd name="adj" fmla="val 3226"/>
            </a:avLst>
          </a:prstGeom>
          <a:solidFill>
            <a:srgbClr val="17243A"/>
          </a:solidFill>
          <a:ln w="9525">
            <a:solidFill>
              <a:srgbClr val="17243A"/>
            </a:solidFill>
            <a:prstDash val="solid"/>
          </a:ln>
        </p:spPr>
      </p:sp>
      <p:sp>
        <p:nvSpPr>
          <p:cNvPr id="24" name="Text 22"/>
          <p:cNvSpPr txBox="1"/>
          <p:nvPr/>
        </p:nvSpPr>
        <p:spPr>
          <a:xfrm>
            <a:off x="7031736" y="3346704"/>
            <a:ext cx="3004718" cy="219456"/>
          </a:xfrm>
          <a:prstGeom prst="rect">
            <a:avLst/>
          </a:prstGeom>
          <a:noFill/>
          <a:ln/>
        </p:spPr>
        <p:txBody>
          <a:bodyPr wrap="square" lIns="0" tIns="0" rIns="0" bIns="0" rtlCol="0" anchor="t"/>
          <a:lstStyle/>
          <a:p>
            <a:pPr indent="0" marL="0">
              <a:buNone/>
            </a:pPr>
            <a:r>
              <a:rPr lang="en-US" sz="850" b="1" spc="200" kern="0" dirty="0">
                <a:solidFill>
                  <a:srgbClr val="7FA8E8"/>
                </a:solidFill>
                <a:latin typeface="Calibri" pitchFamily="34" charset="0"/>
                <a:ea typeface="Calibri" pitchFamily="34" charset="-122"/>
                <a:cs typeface="Calibri" pitchFamily="34" charset="-120"/>
              </a:rPr>
              <a:t>PER USER QUESTION</a:t>
            </a:r>
            <a:endParaRPr lang="en-US" sz="850" dirty="0"/>
          </a:p>
        </p:txBody>
      </p:sp>
      <p:sp>
        <p:nvSpPr>
          <p:cNvPr id="25" name="Text 23"/>
          <p:cNvSpPr txBox="1"/>
          <p:nvPr/>
        </p:nvSpPr>
        <p:spPr>
          <a:xfrm>
            <a:off x="9084564" y="3346704"/>
            <a:ext cx="2537460" cy="219456"/>
          </a:xfrm>
          <a:prstGeom prst="rect">
            <a:avLst/>
          </a:prstGeom>
          <a:noFill/>
          <a:ln/>
        </p:spPr>
        <p:txBody>
          <a:bodyPr wrap="square" lIns="0" tIns="0" rIns="0" bIns="0" rtlCol="0" anchor="t"/>
          <a:lstStyle/>
          <a:p>
            <a:pPr algn="r" indent="0" marL="0">
              <a:buNone/>
            </a:pPr>
            <a:r>
              <a:rPr lang="en-US" sz="800" i="1" dirty="0">
                <a:solidFill>
                  <a:srgbClr val="A3AEBB"/>
                </a:solidFill>
                <a:latin typeface="Calibri" pitchFamily="34" charset="0"/>
                <a:ea typeface="Calibri" pitchFamily="34" charset="-122"/>
                <a:cs typeface="Calibri" pitchFamily="34" charset="-120"/>
              </a:rPr>
              <a:t>reads the latest complete cycle</a:t>
            </a:r>
            <a:endParaRPr lang="en-US" sz="800" dirty="0"/>
          </a:p>
        </p:txBody>
      </p:sp>
      <p:sp>
        <p:nvSpPr>
          <p:cNvPr id="26" name="Shape 24"/>
          <p:cNvSpPr/>
          <p:nvPr/>
        </p:nvSpPr>
        <p:spPr>
          <a:xfrm>
            <a:off x="7031736" y="3639312"/>
            <a:ext cx="1347216" cy="1207008"/>
          </a:xfrm>
          <a:prstGeom prst="roundRect">
            <a:avLst>
              <a:gd name="adj" fmla="val 5303"/>
            </a:avLst>
          </a:prstGeom>
          <a:solidFill>
            <a:srgbClr val="161C24"/>
          </a:solidFill>
          <a:ln w="9525">
            <a:solidFill>
              <a:srgbClr val="161C24"/>
            </a:solidFill>
            <a:prstDash val="solid"/>
          </a:ln>
        </p:spPr>
      </p:sp>
      <p:sp>
        <p:nvSpPr>
          <p:cNvPr id="27" name="Shape 25"/>
          <p:cNvSpPr/>
          <p:nvPr/>
        </p:nvSpPr>
        <p:spPr>
          <a:xfrm>
            <a:off x="7123176" y="4050792"/>
            <a:ext cx="384048" cy="384048"/>
          </a:xfrm>
          <a:prstGeom prst="ellipse">
            <a:avLst/>
          </a:prstGeom>
          <a:solidFill>
            <a:srgbClr val="6E7A88"/>
          </a:solidFill>
          <a:ln w="15875">
            <a:solidFill>
              <a:srgbClr val="6E7A88"/>
            </a:solidFill>
            <a:prstDash val="solid"/>
          </a:ln>
        </p:spPr>
      </p:sp>
      <p:sp>
        <p:nvSpPr>
          <p:cNvPr id="28" name="Text 26"/>
          <p:cNvSpPr txBox="1"/>
          <p:nvPr/>
        </p:nvSpPr>
        <p:spPr>
          <a:xfrm>
            <a:off x="7123176" y="4050792"/>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4</a:t>
            </a:r>
            <a:endParaRPr lang="en-US" sz="1100" dirty="0"/>
          </a:p>
        </p:txBody>
      </p:sp>
      <p:sp>
        <p:nvSpPr>
          <p:cNvPr id="29" name="Text 27"/>
          <p:cNvSpPr txBox="1"/>
          <p:nvPr/>
        </p:nvSpPr>
        <p:spPr>
          <a:xfrm>
            <a:off x="7598664" y="3639312"/>
            <a:ext cx="72542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Intake, routing &amp; knowledge</a:t>
            </a:r>
            <a:endParaRPr lang="en-US" sz="1000" dirty="0"/>
          </a:p>
        </p:txBody>
      </p:sp>
      <p:sp>
        <p:nvSpPr>
          <p:cNvPr id="30" name="Shape 28"/>
          <p:cNvSpPr/>
          <p:nvPr/>
        </p:nvSpPr>
        <p:spPr>
          <a:xfrm>
            <a:off x="8415528" y="4242816"/>
            <a:ext cx="201168" cy="0"/>
          </a:xfrm>
          <a:prstGeom prst="line">
            <a:avLst/>
          </a:prstGeom>
          <a:noFill/>
          <a:ln w="15875">
            <a:solidFill>
              <a:srgbClr val="323C49"/>
            </a:solidFill>
            <a:prstDash val="solid"/>
            <a:tailEnd type="triangle"/>
          </a:ln>
        </p:spPr>
      </p:sp>
      <p:sp>
        <p:nvSpPr>
          <p:cNvPr id="31" name="Shape 29"/>
          <p:cNvSpPr/>
          <p:nvPr/>
        </p:nvSpPr>
        <p:spPr>
          <a:xfrm>
            <a:off x="8653272" y="3639312"/>
            <a:ext cx="1347216" cy="1207008"/>
          </a:xfrm>
          <a:prstGeom prst="roundRect">
            <a:avLst>
              <a:gd name="adj" fmla="val 5303"/>
            </a:avLst>
          </a:prstGeom>
          <a:solidFill>
            <a:srgbClr val="161C24"/>
          </a:solidFill>
          <a:ln w="9525">
            <a:solidFill>
              <a:srgbClr val="161C24"/>
            </a:solidFill>
            <a:prstDash val="solid"/>
          </a:ln>
        </p:spPr>
      </p:sp>
      <p:sp>
        <p:nvSpPr>
          <p:cNvPr id="32" name="Shape 30"/>
          <p:cNvSpPr/>
          <p:nvPr/>
        </p:nvSpPr>
        <p:spPr>
          <a:xfrm>
            <a:off x="8744712" y="4050792"/>
            <a:ext cx="384048" cy="384048"/>
          </a:xfrm>
          <a:prstGeom prst="ellipse">
            <a:avLst/>
          </a:prstGeom>
          <a:solidFill>
            <a:srgbClr val="6E7A88"/>
          </a:solidFill>
          <a:ln w="15875">
            <a:solidFill>
              <a:srgbClr val="6E7A88"/>
            </a:solidFill>
            <a:prstDash val="solid"/>
          </a:ln>
        </p:spPr>
      </p:sp>
      <p:sp>
        <p:nvSpPr>
          <p:cNvPr id="33" name="Text 31"/>
          <p:cNvSpPr txBox="1"/>
          <p:nvPr/>
        </p:nvSpPr>
        <p:spPr>
          <a:xfrm>
            <a:off x="8744712" y="4050792"/>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5</a:t>
            </a:r>
            <a:endParaRPr lang="en-US" sz="1100" dirty="0"/>
          </a:p>
        </p:txBody>
      </p:sp>
      <p:sp>
        <p:nvSpPr>
          <p:cNvPr id="34" name="Text 32"/>
          <p:cNvSpPr txBox="1"/>
          <p:nvPr/>
        </p:nvSpPr>
        <p:spPr>
          <a:xfrm>
            <a:off x="9220200" y="3639312"/>
            <a:ext cx="72542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Prompt &amp; AI reply</a:t>
            </a:r>
            <a:endParaRPr lang="en-US" sz="1000" dirty="0"/>
          </a:p>
        </p:txBody>
      </p:sp>
      <p:sp>
        <p:nvSpPr>
          <p:cNvPr id="35" name="Shape 33"/>
          <p:cNvSpPr/>
          <p:nvPr/>
        </p:nvSpPr>
        <p:spPr>
          <a:xfrm>
            <a:off x="10037064" y="4242816"/>
            <a:ext cx="201168" cy="0"/>
          </a:xfrm>
          <a:prstGeom prst="line">
            <a:avLst/>
          </a:prstGeom>
          <a:noFill/>
          <a:ln w="15875">
            <a:solidFill>
              <a:srgbClr val="323C49"/>
            </a:solidFill>
            <a:prstDash val="solid"/>
            <a:tailEnd type="triangle"/>
          </a:ln>
        </p:spPr>
      </p:sp>
      <p:sp>
        <p:nvSpPr>
          <p:cNvPr id="36" name="Shape 34"/>
          <p:cNvSpPr/>
          <p:nvPr/>
        </p:nvSpPr>
        <p:spPr>
          <a:xfrm>
            <a:off x="10274808" y="3639312"/>
            <a:ext cx="1347216" cy="1207008"/>
          </a:xfrm>
          <a:prstGeom prst="roundRect">
            <a:avLst>
              <a:gd name="adj" fmla="val 5303"/>
            </a:avLst>
          </a:prstGeom>
          <a:solidFill>
            <a:srgbClr val="161C24"/>
          </a:solidFill>
          <a:ln w="9525">
            <a:solidFill>
              <a:srgbClr val="161C24"/>
            </a:solidFill>
            <a:prstDash val="solid"/>
          </a:ln>
        </p:spPr>
      </p:sp>
      <p:sp>
        <p:nvSpPr>
          <p:cNvPr id="37" name="Shape 35"/>
          <p:cNvSpPr/>
          <p:nvPr/>
        </p:nvSpPr>
        <p:spPr>
          <a:xfrm>
            <a:off x="10366248" y="4050792"/>
            <a:ext cx="384048" cy="384048"/>
          </a:xfrm>
          <a:prstGeom prst="ellipse">
            <a:avLst/>
          </a:prstGeom>
          <a:solidFill>
            <a:srgbClr val="6E7A88"/>
          </a:solidFill>
          <a:ln w="15875">
            <a:solidFill>
              <a:srgbClr val="6E7A88"/>
            </a:solidFill>
            <a:prstDash val="solid"/>
          </a:ln>
        </p:spPr>
      </p:sp>
      <p:sp>
        <p:nvSpPr>
          <p:cNvPr id="38" name="Text 36"/>
          <p:cNvSpPr txBox="1"/>
          <p:nvPr/>
        </p:nvSpPr>
        <p:spPr>
          <a:xfrm>
            <a:off x="10366248" y="4050792"/>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6</a:t>
            </a:r>
            <a:endParaRPr lang="en-US" sz="1100" dirty="0"/>
          </a:p>
        </p:txBody>
      </p:sp>
      <p:sp>
        <p:nvSpPr>
          <p:cNvPr id="39" name="Text 37"/>
          <p:cNvSpPr txBox="1"/>
          <p:nvPr/>
        </p:nvSpPr>
        <p:spPr>
          <a:xfrm>
            <a:off x="10841736" y="3639312"/>
            <a:ext cx="72542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Engine 4 &amp; Report 2</a:t>
            </a:r>
            <a:endParaRPr lang="en-US" sz="1000" dirty="0"/>
          </a:p>
        </p:txBody>
      </p:sp>
      <p:sp>
        <p:nvSpPr>
          <p:cNvPr id="40" name="Shape 38"/>
          <p:cNvSpPr/>
          <p:nvPr/>
        </p:nvSpPr>
        <p:spPr>
          <a:xfrm>
            <a:off x="9326880" y="2916936"/>
            <a:ext cx="0" cy="329184"/>
          </a:xfrm>
          <a:prstGeom prst="line">
            <a:avLst/>
          </a:prstGeom>
          <a:noFill/>
          <a:ln w="15875">
            <a:solidFill>
              <a:srgbClr val="7D8A99"/>
            </a:solidFill>
            <a:prstDash val="solid"/>
            <a:tailEnd type="triangle"/>
          </a:ln>
        </p:spPr>
      </p:sp>
      <p:sp>
        <p:nvSpPr>
          <p:cNvPr id="41" name="Text 39"/>
          <p:cNvSpPr txBox="1"/>
          <p:nvPr/>
        </p:nvSpPr>
        <p:spPr>
          <a:xfrm>
            <a:off x="9418320" y="2916936"/>
            <a:ext cx="2240280" cy="329184"/>
          </a:xfrm>
          <a:prstGeom prst="rect">
            <a:avLst/>
          </a:prstGeom>
          <a:noFill/>
          <a:ln/>
        </p:spPr>
        <p:txBody>
          <a:bodyPr wrap="square" lIns="0" tIns="0" rIns="0" bIns="0" rtlCol="0" anchor="ctr"/>
          <a:lstStyle/>
          <a:p>
            <a:pPr indent="0" marL="0">
              <a:buNone/>
            </a:pPr>
            <a:r>
              <a:rPr lang="en-US" sz="850" i="1" dirty="0">
                <a:solidFill>
                  <a:srgbClr val="A3AEBB"/>
                </a:solidFill>
                <a:latin typeface="Calibri" pitchFamily="34" charset="0"/>
                <a:ea typeface="Calibri" pitchFamily="34" charset="-122"/>
                <a:cs typeface="Calibri" pitchFamily="34" charset="-120"/>
              </a:rPr>
              <a:t>latest complete cycle (read-only)</a:t>
            </a:r>
            <a:endParaRPr lang="en-US" sz="850" dirty="0"/>
          </a:p>
        </p:txBody>
      </p:sp>
      <p:sp>
        <p:nvSpPr>
          <p:cNvPr id="42" name="Shape 40"/>
          <p:cNvSpPr/>
          <p:nvPr/>
        </p:nvSpPr>
        <p:spPr>
          <a:xfrm>
            <a:off x="6903720" y="5102352"/>
            <a:ext cx="4846320" cy="566928"/>
          </a:xfrm>
          <a:prstGeom prst="roundRect">
            <a:avLst>
              <a:gd name="adj" fmla="val 9677"/>
            </a:avLst>
          </a:prstGeom>
          <a:solidFill>
            <a:srgbClr val="1D242E"/>
          </a:solidFill>
          <a:ln w="22225">
            <a:solidFill>
              <a:srgbClr val="E2B54E"/>
            </a:solidFill>
            <a:prstDash val="solid"/>
          </a:ln>
        </p:spPr>
      </p:sp>
      <p:sp>
        <p:nvSpPr>
          <p:cNvPr id="43" name="Shape 41"/>
          <p:cNvSpPr/>
          <p:nvPr/>
        </p:nvSpPr>
        <p:spPr>
          <a:xfrm>
            <a:off x="7031736" y="5210068"/>
            <a:ext cx="351495" cy="351495"/>
          </a:xfrm>
          <a:prstGeom prst="ellipse">
            <a:avLst/>
          </a:prstGeom>
          <a:solidFill>
            <a:srgbClr val="E2B54E"/>
          </a:solidFill>
          <a:ln w="15875">
            <a:solidFill>
              <a:srgbClr val="E2B54E"/>
            </a:solidFill>
            <a:prstDash val="solid"/>
          </a:ln>
        </p:spPr>
      </p:sp>
      <p:sp>
        <p:nvSpPr>
          <p:cNvPr id="44" name="Text 42"/>
          <p:cNvSpPr txBox="1"/>
          <p:nvPr/>
        </p:nvSpPr>
        <p:spPr>
          <a:xfrm>
            <a:off x="7031736" y="5210068"/>
            <a:ext cx="351495" cy="351495"/>
          </a:xfrm>
          <a:prstGeom prst="rect">
            <a:avLst/>
          </a:prstGeom>
          <a:noFill/>
          <a:ln/>
        </p:spPr>
        <p:txBody>
          <a:bodyPr wrap="square" lIns="0" tIns="0" rIns="0" bIns="0" rtlCol="0" anchor="ctr"/>
          <a:lstStyle/>
          <a:p>
            <a:pPr algn="ctr" indent="0" marL="0">
              <a:buNone/>
            </a:pPr>
            <a:r>
              <a:rPr lang="en-US" sz="1000" b="1" dirty="0">
                <a:solidFill>
                  <a:srgbClr val="0F1318"/>
                </a:solidFill>
                <a:latin typeface="Cambria" pitchFamily="34" charset="0"/>
                <a:ea typeface="Cambria" pitchFamily="34" charset="-122"/>
                <a:cs typeface="Cambria" pitchFamily="34" charset="-120"/>
              </a:rPr>
              <a:t>7</a:t>
            </a:r>
            <a:endParaRPr lang="en-US" sz="1000" dirty="0"/>
          </a:p>
        </p:txBody>
      </p:sp>
      <p:sp>
        <p:nvSpPr>
          <p:cNvPr id="45" name="Text 43"/>
          <p:cNvSpPr txBox="1"/>
          <p:nvPr/>
        </p:nvSpPr>
        <p:spPr>
          <a:xfrm>
            <a:off x="7492959" y="5102352"/>
            <a:ext cx="4037625" cy="566928"/>
          </a:xfrm>
          <a:prstGeom prst="rect">
            <a:avLst/>
          </a:prstGeom>
          <a:noFill/>
          <a:ln/>
        </p:spPr>
        <p:txBody>
          <a:bodyPr wrap="square" lIns="0" tIns="0" rIns="0" bIns="0" rtlCol="0" anchor="ctr"/>
          <a:lstStyle/>
          <a:p>
            <a:pPr indent="0" marL="0">
              <a:buNone/>
            </a:pPr>
            <a:r>
              <a:rPr lang="en-US" sz="1000" b="1" dirty="0">
                <a:solidFill>
                  <a:srgbClr val="EEF1F4"/>
                </a:solidFill>
                <a:latin typeface="Calibri" pitchFamily="34" charset="0"/>
                <a:ea typeface="Calibri" pitchFamily="34" charset="-122"/>
                <a:cs typeface="Calibri" pitchFamily="34" charset="-120"/>
              </a:rPr>
              <a:t>Platform &amp; governance</a:t>
            </a:r>
            <a:pPr indent="0" marL="0">
              <a:buNone/>
            </a:pPr>
            <a:r>
              <a:rPr lang="en-US" sz="1000" i="1" dirty="0">
                <a:solidFill>
                  <a:srgbClr val="A3AEBB"/>
                </a:solidFill>
                <a:latin typeface="Calibri" pitchFamily="34" charset="0"/>
                <a:ea typeface="Calibri" pitchFamily="34" charset="-122"/>
                <a:cs typeface="Calibri" pitchFamily="34" charset="-120"/>
              </a:rPr>
              <a:t>   across both clocks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B7A3E0"/>
          </a:solidFill>
          <a:ln w="15875">
            <a:solidFill>
              <a:srgbClr val="B7A3E0"/>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7</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7 · PLATFORM &amp; GOVERNANCE</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What Section 7 owns, and what it depends on</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2</a:t>
            </a:r>
            <a:endParaRPr lang="en-US" sz="1000" dirty="0"/>
          </a:p>
        </p:txBody>
      </p:sp>
      <p:sp>
        <p:nvSpPr>
          <p:cNvPr id="8" name="Shape 5"/>
          <p:cNvSpPr/>
          <p:nvPr/>
        </p:nvSpPr>
        <p:spPr>
          <a:xfrm>
            <a:off x="457200" y="1371600"/>
            <a:ext cx="4937760" cy="1700784"/>
          </a:xfrm>
          <a:prstGeom prst="roundRect">
            <a:avLst>
              <a:gd name="adj" fmla="val 3226"/>
            </a:avLst>
          </a:prstGeom>
          <a:solidFill>
            <a:srgbClr val="15302D"/>
          </a:solidFill>
          <a:ln w="9525">
            <a:solidFill>
              <a:srgbClr val="15302D"/>
            </a:solidFill>
            <a:prstDash val="solid"/>
          </a:ln>
        </p:spPr>
      </p:sp>
      <p:sp>
        <p:nvSpPr>
          <p:cNvPr id="9" name="Text 6"/>
          <p:cNvSpPr txBox="1"/>
          <p:nvPr/>
        </p:nvSpPr>
        <p:spPr>
          <a:xfrm>
            <a:off x="585216" y="1444752"/>
            <a:ext cx="3061411" cy="219456"/>
          </a:xfrm>
          <a:prstGeom prst="rect">
            <a:avLst/>
          </a:prstGeom>
          <a:noFill/>
          <a:ln/>
        </p:spPr>
        <p:txBody>
          <a:bodyPr wrap="square" lIns="0" tIns="0" rIns="0" bIns="0" rtlCol="0" anchor="t"/>
          <a:lstStyle/>
          <a:p>
            <a:pPr indent="0" marL="0">
              <a:buNone/>
            </a:pPr>
            <a:r>
              <a:rPr lang="en-US" sz="850" b="1" spc="200" kern="0" dirty="0">
                <a:solidFill>
                  <a:srgbClr val="5CC2B2"/>
                </a:solidFill>
                <a:latin typeface="Calibri" pitchFamily="34" charset="0"/>
                <a:ea typeface="Calibri" pitchFamily="34" charset="-122"/>
                <a:cs typeface="Calibri" pitchFamily="34" charset="-120"/>
              </a:rPr>
              <a:t>EVERY 5-MINUTE CYCLE</a:t>
            </a:r>
            <a:endParaRPr lang="en-US" sz="850" dirty="0"/>
          </a:p>
        </p:txBody>
      </p:sp>
      <p:sp>
        <p:nvSpPr>
          <p:cNvPr id="10" name="Text 7"/>
          <p:cNvSpPr txBox="1"/>
          <p:nvPr/>
        </p:nvSpPr>
        <p:spPr>
          <a:xfrm>
            <a:off x="2679192" y="1444752"/>
            <a:ext cx="2587752" cy="219456"/>
          </a:xfrm>
          <a:prstGeom prst="rect">
            <a:avLst/>
          </a:prstGeom>
          <a:noFill/>
          <a:ln/>
        </p:spPr>
        <p:txBody>
          <a:bodyPr wrap="square" lIns="0" tIns="0" rIns="0" bIns="0" rtlCol="0" anchor="t"/>
          <a:lstStyle/>
          <a:p>
            <a:pPr algn="r" indent="0" marL="0">
              <a:buNone/>
            </a:pPr>
            <a:r>
              <a:rPr lang="en-US" sz="800" i="1" dirty="0">
                <a:solidFill>
                  <a:srgbClr val="A3AEBB"/>
                </a:solidFill>
                <a:latin typeface="Calibri" pitchFamily="34" charset="0"/>
                <a:ea typeface="Calibri" pitchFamily="34" charset="-122"/>
                <a:cs typeface="Calibri" pitchFamily="34" charset="-120"/>
              </a:rPr>
              <a:t>runs whether or not anyone asks</a:t>
            </a:r>
            <a:endParaRPr lang="en-US" sz="800" dirty="0"/>
          </a:p>
        </p:txBody>
      </p:sp>
      <p:sp>
        <p:nvSpPr>
          <p:cNvPr id="11" name="Shape 8"/>
          <p:cNvSpPr/>
          <p:nvPr/>
        </p:nvSpPr>
        <p:spPr>
          <a:xfrm>
            <a:off x="585216" y="1737360"/>
            <a:ext cx="1377696" cy="1207008"/>
          </a:xfrm>
          <a:prstGeom prst="roundRect">
            <a:avLst>
              <a:gd name="adj" fmla="val 5303"/>
            </a:avLst>
          </a:prstGeom>
          <a:solidFill>
            <a:srgbClr val="161C24"/>
          </a:solidFill>
          <a:ln w="9525">
            <a:solidFill>
              <a:srgbClr val="161C24"/>
            </a:solidFill>
            <a:prstDash val="solid"/>
          </a:ln>
        </p:spPr>
      </p:sp>
      <p:sp>
        <p:nvSpPr>
          <p:cNvPr id="12" name="Shape 9"/>
          <p:cNvSpPr/>
          <p:nvPr/>
        </p:nvSpPr>
        <p:spPr>
          <a:xfrm>
            <a:off x="676656" y="2148840"/>
            <a:ext cx="384048" cy="384048"/>
          </a:xfrm>
          <a:prstGeom prst="ellipse">
            <a:avLst/>
          </a:prstGeom>
          <a:solidFill>
            <a:srgbClr val="6E7A88"/>
          </a:solidFill>
          <a:ln w="15875">
            <a:solidFill>
              <a:srgbClr val="6E7A88"/>
            </a:solidFill>
            <a:prstDash val="solid"/>
          </a:ln>
        </p:spPr>
      </p:sp>
      <p:sp>
        <p:nvSpPr>
          <p:cNvPr id="13" name="Text 10"/>
          <p:cNvSpPr txBox="1"/>
          <p:nvPr/>
        </p:nvSpPr>
        <p:spPr>
          <a:xfrm>
            <a:off x="676656" y="2148840"/>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1</a:t>
            </a:r>
            <a:endParaRPr lang="en-US" sz="1100" dirty="0"/>
          </a:p>
        </p:txBody>
      </p:sp>
      <p:sp>
        <p:nvSpPr>
          <p:cNvPr id="14" name="Text 11"/>
          <p:cNvSpPr txBox="1"/>
          <p:nvPr/>
        </p:nvSpPr>
        <p:spPr>
          <a:xfrm>
            <a:off x="1152144" y="1737360"/>
            <a:ext cx="75590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Market data &amp; chart</a:t>
            </a:r>
            <a:endParaRPr lang="en-US" sz="1000" dirty="0"/>
          </a:p>
        </p:txBody>
      </p:sp>
      <p:sp>
        <p:nvSpPr>
          <p:cNvPr id="15" name="Shape 12"/>
          <p:cNvSpPr/>
          <p:nvPr/>
        </p:nvSpPr>
        <p:spPr>
          <a:xfrm>
            <a:off x="1999488" y="2340864"/>
            <a:ext cx="201168" cy="0"/>
          </a:xfrm>
          <a:prstGeom prst="line">
            <a:avLst/>
          </a:prstGeom>
          <a:noFill/>
          <a:ln w="15875">
            <a:solidFill>
              <a:srgbClr val="323C49"/>
            </a:solidFill>
            <a:prstDash val="solid"/>
            <a:tailEnd type="triangle"/>
          </a:ln>
        </p:spPr>
      </p:sp>
      <p:sp>
        <p:nvSpPr>
          <p:cNvPr id="16" name="Shape 13"/>
          <p:cNvSpPr/>
          <p:nvPr/>
        </p:nvSpPr>
        <p:spPr>
          <a:xfrm>
            <a:off x="2237232" y="1737360"/>
            <a:ext cx="1377696" cy="1207008"/>
          </a:xfrm>
          <a:prstGeom prst="roundRect">
            <a:avLst>
              <a:gd name="adj" fmla="val 5303"/>
            </a:avLst>
          </a:prstGeom>
          <a:solidFill>
            <a:srgbClr val="161C24"/>
          </a:solidFill>
          <a:ln w="9525">
            <a:solidFill>
              <a:srgbClr val="161C24"/>
            </a:solidFill>
            <a:prstDash val="solid"/>
          </a:ln>
        </p:spPr>
      </p:sp>
      <p:sp>
        <p:nvSpPr>
          <p:cNvPr id="17" name="Shape 14"/>
          <p:cNvSpPr/>
          <p:nvPr/>
        </p:nvSpPr>
        <p:spPr>
          <a:xfrm>
            <a:off x="2328672" y="2148840"/>
            <a:ext cx="384048" cy="384048"/>
          </a:xfrm>
          <a:prstGeom prst="ellipse">
            <a:avLst/>
          </a:prstGeom>
          <a:solidFill>
            <a:srgbClr val="6E7A88"/>
          </a:solidFill>
          <a:ln w="15875">
            <a:solidFill>
              <a:srgbClr val="6E7A88"/>
            </a:solidFill>
            <a:prstDash val="solid"/>
          </a:ln>
        </p:spPr>
      </p:sp>
      <p:sp>
        <p:nvSpPr>
          <p:cNvPr id="18" name="Text 15"/>
          <p:cNvSpPr txBox="1"/>
          <p:nvPr/>
        </p:nvSpPr>
        <p:spPr>
          <a:xfrm>
            <a:off x="2328672" y="2148840"/>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2</a:t>
            </a:r>
            <a:endParaRPr lang="en-US" sz="1100" dirty="0"/>
          </a:p>
        </p:txBody>
      </p:sp>
      <p:sp>
        <p:nvSpPr>
          <p:cNvPr id="19" name="Text 16"/>
          <p:cNvSpPr txBox="1"/>
          <p:nvPr/>
        </p:nvSpPr>
        <p:spPr>
          <a:xfrm>
            <a:off x="2804160" y="1737360"/>
            <a:ext cx="75590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Sensors (MCDs)</a:t>
            </a:r>
            <a:endParaRPr lang="en-US" sz="1000" dirty="0"/>
          </a:p>
        </p:txBody>
      </p:sp>
      <p:sp>
        <p:nvSpPr>
          <p:cNvPr id="20" name="Shape 17"/>
          <p:cNvSpPr/>
          <p:nvPr/>
        </p:nvSpPr>
        <p:spPr>
          <a:xfrm>
            <a:off x="3651504" y="2340864"/>
            <a:ext cx="201168" cy="0"/>
          </a:xfrm>
          <a:prstGeom prst="line">
            <a:avLst/>
          </a:prstGeom>
          <a:noFill/>
          <a:ln w="15875">
            <a:solidFill>
              <a:srgbClr val="323C49"/>
            </a:solidFill>
            <a:prstDash val="solid"/>
            <a:tailEnd type="triangle"/>
          </a:ln>
        </p:spPr>
      </p:sp>
      <p:sp>
        <p:nvSpPr>
          <p:cNvPr id="21" name="Shape 18"/>
          <p:cNvSpPr/>
          <p:nvPr/>
        </p:nvSpPr>
        <p:spPr>
          <a:xfrm>
            <a:off x="3889248" y="1737360"/>
            <a:ext cx="1377696" cy="1207008"/>
          </a:xfrm>
          <a:prstGeom prst="roundRect">
            <a:avLst>
              <a:gd name="adj" fmla="val 5303"/>
            </a:avLst>
          </a:prstGeom>
          <a:solidFill>
            <a:srgbClr val="161C24"/>
          </a:solidFill>
          <a:ln w="9525">
            <a:solidFill>
              <a:srgbClr val="161C24"/>
            </a:solidFill>
            <a:prstDash val="solid"/>
          </a:ln>
        </p:spPr>
      </p:sp>
      <p:sp>
        <p:nvSpPr>
          <p:cNvPr id="22" name="Shape 19"/>
          <p:cNvSpPr/>
          <p:nvPr/>
        </p:nvSpPr>
        <p:spPr>
          <a:xfrm>
            <a:off x="3980688" y="2148840"/>
            <a:ext cx="384048" cy="384048"/>
          </a:xfrm>
          <a:prstGeom prst="ellipse">
            <a:avLst/>
          </a:prstGeom>
          <a:solidFill>
            <a:srgbClr val="6E7A88"/>
          </a:solidFill>
          <a:ln w="15875">
            <a:solidFill>
              <a:srgbClr val="6E7A88"/>
            </a:solidFill>
            <a:prstDash val="solid"/>
          </a:ln>
        </p:spPr>
      </p:sp>
      <p:sp>
        <p:nvSpPr>
          <p:cNvPr id="23" name="Text 20"/>
          <p:cNvSpPr txBox="1"/>
          <p:nvPr/>
        </p:nvSpPr>
        <p:spPr>
          <a:xfrm>
            <a:off x="3980688" y="2148840"/>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3</a:t>
            </a:r>
            <a:endParaRPr lang="en-US" sz="1100" dirty="0"/>
          </a:p>
        </p:txBody>
      </p:sp>
      <p:sp>
        <p:nvSpPr>
          <p:cNvPr id="24" name="Text 21"/>
          <p:cNvSpPr txBox="1"/>
          <p:nvPr/>
        </p:nvSpPr>
        <p:spPr>
          <a:xfrm>
            <a:off x="4456176" y="1737360"/>
            <a:ext cx="75590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Synthesis &amp; entry zones</a:t>
            </a:r>
            <a:endParaRPr lang="en-US" sz="1000" dirty="0"/>
          </a:p>
        </p:txBody>
      </p:sp>
      <p:sp>
        <p:nvSpPr>
          <p:cNvPr id="25" name="Shape 22"/>
          <p:cNvSpPr/>
          <p:nvPr/>
        </p:nvSpPr>
        <p:spPr>
          <a:xfrm>
            <a:off x="457200" y="3456432"/>
            <a:ext cx="4937760" cy="1700784"/>
          </a:xfrm>
          <a:prstGeom prst="roundRect">
            <a:avLst>
              <a:gd name="adj" fmla="val 3226"/>
            </a:avLst>
          </a:prstGeom>
          <a:solidFill>
            <a:srgbClr val="17243A"/>
          </a:solidFill>
          <a:ln w="9525">
            <a:solidFill>
              <a:srgbClr val="17243A"/>
            </a:solidFill>
            <a:prstDash val="solid"/>
          </a:ln>
        </p:spPr>
      </p:sp>
      <p:sp>
        <p:nvSpPr>
          <p:cNvPr id="26" name="Text 23"/>
          <p:cNvSpPr txBox="1"/>
          <p:nvPr/>
        </p:nvSpPr>
        <p:spPr>
          <a:xfrm>
            <a:off x="585216" y="3529584"/>
            <a:ext cx="3061411" cy="219456"/>
          </a:xfrm>
          <a:prstGeom prst="rect">
            <a:avLst/>
          </a:prstGeom>
          <a:noFill/>
          <a:ln/>
        </p:spPr>
        <p:txBody>
          <a:bodyPr wrap="square" lIns="0" tIns="0" rIns="0" bIns="0" rtlCol="0" anchor="t"/>
          <a:lstStyle/>
          <a:p>
            <a:pPr indent="0" marL="0">
              <a:buNone/>
            </a:pPr>
            <a:r>
              <a:rPr lang="en-US" sz="850" b="1" spc="200" kern="0" dirty="0">
                <a:solidFill>
                  <a:srgbClr val="7FA8E8"/>
                </a:solidFill>
                <a:latin typeface="Calibri" pitchFamily="34" charset="0"/>
                <a:ea typeface="Calibri" pitchFamily="34" charset="-122"/>
                <a:cs typeface="Calibri" pitchFamily="34" charset="-120"/>
              </a:rPr>
              <a:t>PER USER QUESTION</a:t>
            </a:r>
            <a:endParaRPr lang="en-US" sz="850" dirty="0"/>
          </a:p>
        </p:txBody>
      </p:sp>
      <p:sp>
        <p:nvSpPr>
          <p:cNvPr id="27" name="Text 24"/>
          <p:cNvSpPr txBox="1"/>
          <p:nvPr/>
        </p:nvSpPr>
        <p:spPr>
          <a:xfrm>
            <a:off x="2679192" y="3529584"/>
            <a:ext cx="2587752" cy="219456"/>
          </a:xfrm>
          <a:prstGeom prst="rect">
            <a:avLst/>
          </a:prstGeom>
          <a:noFill/>
          <a:ln/>
        </p:spPr>
        <p:txBody>
          <a:bodyPr wrap="square" lIns="0" tIns="0" rIns="0" bIns="0" rtlCol="0" anchor="t"/>
          <a:lstStyle/>
          <a:p>
            <a:pPr algn="r" indent="0" marL="0">
              <a:buNone/>
            </a:pPr>
            <a:r>
              <a:rPr lang="en-US" sz="800" i="1" dirty="0">
                <a:solidFill>
                  <a:srgbClr val="A3AEBB"/>
                </a:solidFill>
                <a:latin typeface="Calibri" pitchFamily="34" charset="0"/>
                <a:ea typeface="Calibri" pitchFamily="34" charset="-122"/>
                <a:cs typeface="Calibri" pitchFamily="34" charset="-120"/>
              </a:rPr>
              <a:t>reads the latest complete cycle</a:t>
            </a:r>
            <a:endParaRPr lang="en-US" sz="800" dirty="0"/>
          </a:p>
        </p:txBody>
      </p:sp>
      <p:sp>
        <p:nvSpPr>
          <p:cNvPr id="28" name="Shape 25"/>
          <p:cNvSpPr/>
          <p:nvPr/>
        </p:nvSpPr>
        <p:spPr>
          <a:xfrm>
            <a:off x="585216" y="3822192"/>
            <a:ext cx="1377696" cy="1207008"/>
          </a:xfrm>
          <a:prstGeom prst="roundRect">
            <a:avLst>
              <a:gd name="adj" fmla="val 5303"/>
            </a:avLst>
          </a:prstGeom>
          <a:solidFill>
            <a:srgbClr val="161C24"/>
          </a:solidFill>
          <a:ln w="9525">
            <a:solidFill>
              <a:srgbClr val="161C24"/>
            </a:solidFill>
            <a:prstDash val="solid"/>
          </a:ln>
        </p:spPr>
      </p:sp>
      <p:sp>
        <p:nvSpPr>
          <p:cNvPr id="29" name="Shape 26"/>
          <p:cNvSpPr/>
          <p:nvPr/>
        </p:nvSpPr>
        <p:spPr>
          <a:xfrm>
            <a:off x="676656" y="4233672"/>
            <a:ext cx="384048" cy="384048"/>
          </a:xfrm>
          <a:prstGeom prst="ellipse">
            <a:avLst/>
          </a:prstGeom>
          <a:solidFill>
            <a:srgbClr val="6E7A88"/>
          </a:solidFill>
          <a:ln w="15875">
            <a:solidFill>
              <a:srgbClr val="6E7A88"/>
            </a:solidFill>
            <a:prstDash val="solid"/>
          </a:ln>
        </p:spPr>
      </p:sp>
      <p:sp>
        <p:nvSpPr>
          <p:cNvPr id="30" name="Text 27"/>
          <p:cNvSpPr txBox="1"/>
          <p:nvPr/>
        </p:nvSpPr>
        <p:spPr>
          <a:xfrm>
            <a:off x="676656" y="4233672"/>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4</a:t>
            </a:r>
            <a:endParaRPr lang="en-US" sz="1100" dirty="0"/>
          </a:p>
        </p:txBody>
      </p:sp>
      <p:sp>
        <p:nvSpPr>
          <p:cNvPr id="31" name="Text 28"/>
          <p:cNvSpPr txBox="1"/>
          <p:nvPr/>
        </p:nvSpPr>
        <p:spPr>
          <a:xfrm>
            <a:off x="1152144" y="3822192"/>
            <a:ext cx="75590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Intake, routing &amp; knowledge</a:t>
            </a:r>
            <a:endParaRPr lang="en-US" sz="1000" dirty="0"/>
          </a:p>
        </p:txBody>
      </p:sp>
      <p:sp>
        <p:nvSpPr>
          <p:cNvPr id="32" name="Shape 29"/>
          <p:cNvSpPr/>
          <p:nvPr/>
        </p:nvSpPr>
        <p:spPr>
          <a:xfrm>
            <a:off x="1999488" y="4425696"/>
            <a:ext cx="201168" cy="0"/>
          </a:xfrm>
          <a:prstGeom prst="line">
            <a:avLst/>
          </a:prstGeom>
          <a:noFill/>
          <a:ln w="15875">
            <a:solidFill>
              <a:srgbClr val="323C49"/>
            </a:solidFill>
            <a:prstDash val="solid"/>
            <a:tailEnd type="triangle"/>
          </a:ln>
        </p:spPr>
      </p:sp>
      <p:sp>
        <p:nvSpPr>
          <p:cNvPr id="33" name="Shape 30"/>
          <p:cNvSpPr/>
          <p:nvPr/>
        </p:nvSpPr>
        <p:spPr>
          <a:xfrm>
            <a:off x="2237232" y="3822192"/>
            <a:ext cx="1377696" cy="1207008"/>
          </a:xfrm>
          <a:prstGeom prst="roundRect">
            <a:avLst>
              <a:gd name="adj" fmla="val 5303"/>
            </a:avLst>
          </a:prstGeom>
          <a:solidFill>
            <a:srgbClr val="161C24"/>
          </a:solidFill>
          <a:ln w="9525">
            <a:solidFill>
              <a:srgbClr val="161C24"/>
            </a:solidFill>
            <a:prstDash val="solid"/>
          </a:ln>
        </p:spPr>
      </p:sp>
      <p:sp>
        <p:nvSpPr>
          <p:cNvPr id="34" name="Shape 31"/>
          <p:cNvSpPr/>
          <p:nvPr/>
        </p:nvSpPr>
        <p:spPr>
          <a:xfrm>
            <a:off x="2328672" y="4233672"/>
            <a:ext cx="384048" cy="384048"/>
          </a:xfrm>
          <a:prstGeom prst="ellipse">
            <a:avLst/>
          </a:prstGeom>
          <a:solidFill>
            <a:srgbClr val="6E7A88"/>
          </a:solidFill>
          <a:ln w="15875">
            <a:solidFill>
              <a:srgbClr val="6E7A88"/>
            </a:solidFill>
            <a:prstDash val="solid"/>
          </a:ln>
        </p:spPr>
      </p:sp>
      <p:sp>
        <p:nvSpPr>
          <p:cNvPr id="35" name="Text 32"/>
          <p:cNvSpPr txBox="1"/>
          <p:nvPr/>
        </p:nvSpPr>
        <p:spPr>
          <a:xfrm>
            <a:off x="2328672" y="4233672"/>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5</a:t>
            </a:r>
            <a:endParaRPr lang="en-US" sz="1100" dirty="0"/>
          </a:p>
        </p:txBody>
      </p:sp>
      <p:sp>
        <p:nvSpPr>
          <p:cNvPr id="36" name="Text 33"/>
          <p:cNvSpPr txBox="1"/>
          <p:nvPr/>
        </p:nvSpPr>
        <p:spPr>
          <a:xfrm>
            <a:off x="2804160" y="3822192"/>
            <a:ext cx="75590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Prompt &amp; AI reply</a:t>
            </a:r>
            <a:endParaRPr lang="en-US" sz="1000" dirty="0"/>
          </a:p>
        </p:txBody>
      </p:sp>
      <p:sp>
        <p:nvSpPr>
          <p:cNvPr id="37" name="Shape 34"/>
          <p:cNvSpPr/>
          <p:nvPr/>
        </p:nvSpPr>
        <p:spPr>
          <a:xfrm>
            <a:off x="3651504" y="4425696"/>
            <a:ext cx="201168" cy="0"/>
          </a:xfrm>
          <a:prstGeom prst="line">
            <a:avLst/>
          </a:prstGeom>
          <a:noFill/>
          <a:ln w="15875">
            <a:solidFill>
              <a:srgbClr val="323C49"/>
            </a:solidFill>
            <a:prstDash val="solid"/>
            <a:tailEnd type="triangle"/>
          </a:ln>
        </p:spPr>
      </p:sp>
      <p:sp>
        <p:nvSpPr>
          <p:cNvPr id="38" name="Shape 35"/>
          <p:cNvSpPr/>
          <p:nvPr/>
        </p:nvSpPr>
        <p:spPr>
          <a:xfrm>
            <a:off x="3889248" y="3822192"/>
            <a:ext cx="1377696" cy="1207008"/>
          </a:xfrm>
          <a:prstGeom prst="roundRect">
            <a:avLst>
              <a:gd name="adj" fmla="val 5303"/>
            </a:avLst>
          </a:prstGeom>
          <a:solidFill>
            <a:srgbClr val="161C24"/>
          </a:solidFill>
          <a:ln w="9525">
            <a:solidFill>
              <a:srgbClr val="161C24"/>
            </a:solidFill>
            <a:prstDash val="solid"/>
          </a:ln>
        </p:spPr>
      </p:sp>
      <p:sp>
        <p:nvSpPr>
          <p:cNvPr id="39" name="Shape 36"/>
          <p:cNvSpPr/>
          <p:nvPr/>
        </p:nvSpPr>
        <p:spPr>
          <a:xfrm>
            <a:off x="3980688" y="4233672"/>
            <a:ext cx="384048" cy="384048"/>
          </a:xfrm>
          <a:prstGeom prst="ellipse">
            <a:avLst/>
          </a:prstGeom>
          <a:solidFill>
            <a:srgbClr val="6E7A88"/>
          </a:solidFill>
          <a:ln w="15875">
            <a:solidFill>
              <a:srgbClr val="6E7A88"/>
            </a:solidFill>
            <a:prstDash val="solid"/>
          </a:ln>
        </p:spPr>
      </p:sp>
      <p:sp>
        <p:nvSpPr>
          <p:cNvPr id="40" name="Text 37"/>
          <p:cNvSpPr txBox="1"/>
          <p:nvPr/>
        </p:nvSpPr>
        <p:spPr>
          <a:xfrm>
            <a:off x="3980688" y="4233672"/>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6</a:t>
            </a:r>
            <a:endParaRPr lang="en-US" sz="1100" dirty="0"/>
          </a:p>
        </p:txBody>
      </p:sp>
      <p:sp>
        <p:nvSpPr>
          <p:cNvPr id="41" name="Text 38"/>
          <p:cNvSpPr txBox="1"/>
          <p:nvPr/>
        </p:nvSpPr>
        <p:spPr>
          <a:xfrm>
            <a:off x="4456176" y="3822192"/>
            <a:ext cx="75590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Engine 4 &amp; Report 2</a:t>
            </a:r>
            <a:endParaRPr lang="en-US" sz="1000" dirty="0"/>
          </a:p>
        </p:txBody>
      </p:sp>
      <p:sp>
        <p:nvSpPr>
          <p:cNvPr id="42" name="Shape 39"/>
          <p:cNvSpPr/>
          <p:nvPr/>
        </p:nvSpPr>
        <p:spPr>
          <a:xfrm>
            <a:off x="2926080" y="3099816"/>
            <a:ext cx="0" cy="329184"/>
          </a:xfrm>
          <a:prstGeom prst="line">
            <a:avLst/>
          </a:prstGeom>
          <a:noFill/>
          <a:ln w="15875">
            <a:solidFill>
              <a:srgbClr val="7D8A99"/>
            </a:solidFill>
            <a:prstDash val="solid"/>
            <a:tailEnd type="triangle"/>
          </a:ln>
        </p:spPr>
      </p:sp>
      <p:sp>
        <p:nvSpPr>
          <p:cNvPr id="43" name="Text 40"/>
          <p:cNvSpPr txBox="1"/>
          <p:nvPr/>
        </p:nvSpPr>
        <p:spPr>
          <a:xfrm>
            <a:off x="3017520" y="3099816"/>
            <a:ext cx="2286000" cy="329184"/>
          </a:xfrm>
          <a:prstGeom prst="rect">
            <a:avLst/>
          </a:prstGeom>
          <a:noFill/>
          <a:ln/>
        </p:spPr>
        <p:txBody>
          <a:bodyPr wrap="square" lIns="0" tIns="0" rIns="0" bIns="0" rtlCol="0" anchor="ctr"/>
          <a:lstStyle/>
          <a:p>
            <a:pPr indent="0" marL="0">
              <a:buNone/>
            </a:pPr>
            <a:r>
              <a:rPr lang="en-US" sz="850" i="1" dirty="0">
                <a:solidFill>
                  <a:srgbClr val="A3AEBB"/>
                </a:solidFill>
                <a:latin typeface="Calibri" pitchFamily="34" charset="0"/>
                <a:ea typeface="Calibri" pitchFamily="34" charset="-122"/>
                <a:cs typeface="Calibri" pitchFamily="34" charset="-120"/>
              </a:rPr>
              <a:t>latest complete cycle (read-only)</a:t>
            </a:r>
            <a:endParaRPr lang="en-US" sz="850" dirty="0"/>
          </a:p>
        </p:txBody>
      </p:sp>
      <p:sp>
        <p:nvSpPr>
          <p:cNvPr id="44" name="Shape 41"/>
          <p:cNvSpPr/>
          <p:nvPr/>
        </p:nvSpPr>
        <p:spPr>
          <a:xfrm>
            <a:off x="457200" y="5285232"/>
            <a:ext cx="4937760" cy="566928"/>
          </a:xfrm>
          <a:prstGeom prst="roundRect">
            <a:avLst>
              <a:gd name="adj" fmla="val 9677"/>
            </a:avLst>
          </a:prstGeom>
          <a:solidFill>
            <a:srgbClr val="1D242E"/>
          </a:solidFill>
          <a:ln w="22225">
            <a:solidFill>
              <a:srgbClr val="E2B54E"/>
            </a:solidFill>
            <a:prstDash val="solid"/>
          </a:ln>
        </p:spPr>
      </p:sp>
      <p:sp>
        <p:nvSpPr>
          <p:cNvPr id="45" name="Shape 42"/>
          <p:cNvSpPr/>
          <p:nvPr/>
        </p:nvSpPr>
        <p:spPr>
          <a:xfrm>
            <a:off x="585216" y="5392948"/>
            <a:ext cx="351495" cy="351495"/>
          </a:xfrm>
          <a:prstGeom prst="ellipse">
            <a:avLst/>
          </a:prstGeom>
          <a:solidFill>
            <a:srgbClr val="E2B54E"/>
          </a:solidFill>
          <a:ln w="15875">
            <a:solidFill>
              <a:srgbClr val="E2B54E"/>
            </a:solidFill>
            <a:prstDash val="solid"/>
          </a:ln>
        </p:spPr>
      </p:sp>
      <p:sp>
        <p:nvSpPr>
          <p:cNvPr id="46" name="Text 43"/>
          <p:cNvSpPr txBox="1"/>
          <p:nvPr/>
        </p:nvSpPr>
        <p:spPr>
          <a:xfrm>
            <a:off x="585216" y="5392948"/>
            <a:ext cx="351495" cy="351495"/>
          </a:xfrm>
          <a:prstGeom prst="rect">
            <a:avLst/>
          </a:prstGeom>
          <a:noFill/>
          <a:ln/>
        </p:spPr>
        <p:txBody>
          <a:bodyPr wrap="square" lIns="0" tIns="0" rIns="0" bIns="0" rtlCol="0" anchor="ctr"/>
          <a:lstStyle/>
          <a:p>
            <a:pPr algn="ctr" indent="0" marL="0">
              <a:buNone/>
            </a:pPr>
            <a:r>
              <a:rPr lang="en-US" sz="1000" b="1" dirty="0">
                <a:solidFill>
                  <a:srgbClr val="0F1318"/>
                </a:solidFill>
                <a:latin typeface="Cambria" pitchFamily="34" charset="0"/>
                <a:ea typeface="Cambria" pitchFamily="34" charset="-122"/>
                <a:cs typeface="Cambria" pitchFamily="34" charset="-120"/>
              </a:rPr>
              <a:t>7</a:t>
            </a:r>
            <a:endParaRPr lang="en-US" sz="1000" dirty="0"/>
          </a:p>
        </p:txBody>
      </p:sp>
      <p:sp>
        <p:nvSpPr>
          <p:cNvPr id="47" name="Text 44"/>
          <p:cNvSpPr txBox="1"/>
          <p:nvPr/>
        </p:nvSpPr>
        <p:spPr>
          <a:xfrm>
            <a:off x="1046439" y="5285232"/>
            <a:ext cx="4129065" cy="566928"/>
          </a:xfrm>
          <a:prstGeom prst="rect">
            <a:avLst/>
          </a:prstGeom>
          <a:noFill/>
          <a:ln/>
        </p:spPr>
        <p:txBody>
          <a:bodyPr wrap="square" lIns="0" tIns="0" rIns="0" bIns="0" rtlCol="0" anchor="ctr"/>
          <a:lstStyle/>
          <a:p>
            <a:pPr indent="0" marL="0">
              <a:buNone/>
            </a:pPr>
            <a:r>
              <a:rPr lang="en-US" sz="1000" b="1" dirty="0">
                <a:solidFill>
                  <a:srgbClr val="EEF1F4"/>
                </a:solidFill>
                <a:latin typeface="Calibri" pitchFamily="34" charset="0"/>
                <a:ea typeface="Calibri" pitchFamily="34" charset="-122"/>
                <a:cs typeface="Calibri" pitchFamily="34" charset="-120"/>
              </a:rPr>
              <a:t>Platform &amp; governance</a:t>
            </a:r>
            <a:pPr indent="0" marL="0">
              <a:buNone/>
            </a:pPr>
            <a:r>
              <a:rPr lang="en-US" sz="1000" i="1" dirty="0">
                <a:solidFill>
                  <a:srgbClr val="A3AEBB"/>
                </a:solidFill>
                <a:latin typeface="Calibri" pitchFamily="34" charset="0"/>
                <a:ea typeface="Calibri" pitchFamily="34" charset="-122"/>
                <a:cs typeface="Calibri" pitchFamily="34" charset="-120"/>
              </a:rPr>
              <a:t>   across both clocks</a:t>
            </a:r>
            <a:endParaRPr lang="en-US" sz="1000" dirty="0"/>
          </a:p>
        </p:txBody>
      </p:sp>
      <p:sp>
        <p:nvSpPr>
          <p:cNvPr id="48" name="Text 45"/>
          <p:cNvSpPr txBox="1"/>
          <p:nvPr/>
        </p:nvSpPr>
        <p:spPr>
          <a:xfrm>
            <a:off x="5806440" y="1325880"/>
            <a:ext cx="2743200" cy="237744"/>
          </a:xfrm>
          <a:prstGeom prst="rect">
            <a:avLst/>
          </a:prstGeom>
          <a:noFill/>
          <a:ln/>
        </p:spPr>
        <p:txBody>
          <a:bodyPr wrap="square" lIns="0" tIns="0" rIns="0" bIns="0" rtlCol="0" anchor="t"/>
          <a:lstStyle/>
          <a:p>
            <a:pPr indent="0" marL="0">
              <a:buNone/>
            </a:pPr>
            <a:r>
              <a:rPr lang="en-US" sz="1000" b="1" spc="200" kern="0" dirty="0">
                <a:solidFill>
                  <a:srgbClr val="E2B54E"/>
                </a:solidFill>
                <a:latin typeface="Calibri" pitchFamily="34" charset="0"/>
                <a:ea typeface="Calibri" pitchFamily="34" charset="-122"/>
                <a:cs typeface="Calibri" pitchFamily="34" charset="-120"/>
              </a:rPr>
              <a:t>OWNS</a:t>
            </a:r>
            <a:endParaRPr lang="en-US" sz="1000" dirty="0"/>
          </a:p>
        </p:txBody>
      </p:sp>
      <p:sp>
        <p:nvSpPr>
          <p:cNvPr id="49" name="Text 46"/>
          <p:cNvSpPr txBox="1"/>
          <p:nvPr/>
        </p:nvSpPr>
        <p:spPr>
          <a:xfrm>
            <a:off x="5806440" y="1591056"/>
            <a:ext cx="5897880" cy="329184"/>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Source of truth  </a:t>
            </a:r>
            <a:pPr indent="0" marL="0">
              <a:buNone/>
            </a:pPr>
            <a:r>
              <a:rPr lang="en-US" sz="1150" dirty="0">
                <a:solidFill>
                  <a:srgbClr val="A3AEBB"/>
                </a:solidFill>
                <a:latin typeface="Calibri" pitchFamily="34" charset="0"/>
                <a:ea typeface="Calibri" pitchFamily="34" charset="-122"/>
                <a:cs typeface="Calibri" pitchFamily="34" charset="-120"/>
              </a:rPr>
              <a:t>one architecture document and the decision log</a:t>
            </a:r>
            <a:endParaRPr lang="en-US" sz="1150" dirty="0"/>
          </a:p>
        </p:txBody>
      </p:sp>
      <p:sp>
        <p:nvSpPr>
          <p:cNvPr id="50" name="Text 47"/>
          <p:cNvSpPr txBox="1"/>
          <p:nvPr/>
        </p:nvSpPr>
        <p:spPr>
          <a:xfrm>
            <a:off x="5806440" y="1929384"/>
            <a:ext cx="5897880" cy="329184"/>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Entitlements  </a:t>
            </a:r>
            <a:pPr indent="0" marL="0">
              <a:buNone/>
            </a:pPr>
            <a:r>
              <a:rPr lang="en-US" sz="1150" dirty="0">
                <a:solidFill>
                  <a:srgbClr val="A3AEBB"/>
                </a:solidFill>
                <a:latin typeface="Calibri" pitchFamily="34" charset="0"/>
                <a:ea typeface="Calibri" pitchFamily="34" charset="-122"/>
                <a:cs typeface="Calibri" pitchFamily="34" charset="-120"/>
              </a:rPr>
              <a:t>one table of features by tier; the quota method</a:t>
            </a:r>
            <a:endParaRPr lang="en-US" sz="1150" dirty="0"/>
          </a:p>
        </p:txBody>
      </p:sp>
      <p:sp>
        <p:nvSpPr>
          <p:cNvPr id="51" name="Text 48"/>
          <p:cNvSpPr txBox="1"/>
          <p:nvPr/>
        </p:nvSpPr>
        <p:spPr>
          <a:xfrm>
            <a:off x="5806440" y="2267712"/>
            <a:ext cx="5897880" cy="329184"/>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Trace and audit  </a:t>
            </a:r>
            <a:pPr indent="0" marL="0">
              <a:buNone/>
            </a:pPr>
            <a:r>
              <a:rPr lang="en-US" sz="1150" dirty="0">
                <a:solidFill>
                  <a:srgbClr val="A3AEBB"/>
                </a:solidFill>
                <a:latin typeface="Calibri" pitchFamily="34" charset="0"/>
                <a:ea typeface="Calibri" pitchFamily="34" charset="-122"/>
                <a:cs typeface="Calibri" pitchFamily="34" charset="-120"/>
              </a:rPr>
              <a:t>one trace per answer; retention; storage</a:t>
            </a:r>
            <a:endParaRPr lang="en-US" sz="1150" dirty="0"/>
          </a:p>
        </p:txBody>
      </p:sp>
      <p:sp>
        <p:nvSpPr>
          <p:cNvPr id="52" name="Text 49"/>
          <p:cNvSpPr txBox="1"/>
          <p:nvPr/>
        </p:nvSpPr>
        <p:spPr>
          <a:xfrm>
            <a:off x="5806440" y="2606040"/>
            <a:ext cx="5897880" cy="329184"/>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Degraded modes  </a:t>
            </a:r>
            <a:pPr indent="0" marL="0">
              <a:buNone/>
            </a:pPr>
            <a:r>
              <a:rPr lang="en-US" sz="1150" dirty="0">
                <a:solidFill>
                  <a:srgbClr val="A3AEBB"/>
                </a:solidFill>
                <a:latin typeface="Calibri" pitchFamily="34" charset="0"/>
                <a:ea typeface="Calibri" pitchFamily="34" charset="-122"/>
                <a:cs typeface="Calibri" pitchFamily="34" charset="-120"/>
              </a:rPr>
              <a:t>a defined response to every failure</a:t>
            </a:r>
            <a:endParaRPr lang="en-US" sz="1150" dirty="0"/>
          </a:p>
        </p:txBody>
      </p:sp>
      <p:sp>
        <p:nvSpPr>
          <p:cNvPr id="53" name="Text 50"/>
          <p:cNvSpPr txBox="1"/>
          <p:nvPr/>
        </p:nvSpPr>
        <p:spPr>
          <a:xfrm>
            <a:off x="5806440" y="2944368"/>
            <a:ext cx="5897880" cy="329184"/>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Golden scenarios  </a:t>
            </a:r>
            <a:pPr indent="0" marL="0">
              <a:buNone/>
            </a:pPr>
            <a:r>
              <a:rPr lang="en-US" sz="1150" dirty="0">
                <a:solidFill>
                  <a:srgbClr val="A3AEBB"/>
                </a:solidFill>
                <a:latin typeface="Calibri" pitchFamily="34" charset="0"/>
                <a:ea typeface="Calibri" pitchFamily="34" charset="-122"/>
                <a:cs typeface="Calibri" pitchFamily="34" charset="-120"/>
              </a:rPr>
              <a:t>stored cycles replayed on every change</a:t>
            </a:r>
            <a:endParaRPr lang="en-US" sz="1150" dirty="0"/>
          </a:p>
        </p:txBody>
      </p:sp>
      <p:sp>
        <p:nvSpPr>
          <p:cNvPr id="54" name="Text 51"/>
          <p:cNvSpPr txBox="1"/>
          <p:nvPr/>
        </p:nvSpPr>
        <p:spPr>
          <a:xfrm>
            <a:off x="5806440" y="3282696"/>
            <a:ext cx="5897880" cy="329184"/>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Operations  </a:t>
            </a:r>
            <a:pPr indent="0" marL="0">
              <a:buNone/>
            </a:pPr>
            <a:r>
              <a:rPr lang="en-US" sz="1150" dirty="0">
                <a:solidFill>
                  <a:srgbClr val="A3AEBB"/>
                </a:solidFill>
                <a:latin typeface="Calibri" pitchFamily="34" charset="0"/>
                <a:ea typeface="Calibri" pitchFamily="34" charset="-122"/>
                <a:cs typeface="Calibri" pitchFamily="34" charset="-120"/>
              </a:rPr>
              <a:t>dashboard, alerts, privacy, languages</a:t>
            </a:r>
            <a:endParaRPr lang="en-US" sz="1150" dirty="0"/>
          </a:p>
        </p:txBody>
      </p:sp>
      <p:sp>
        <p:nvSpPr>
          <p:cNvPr id="55" name="Text 52"/>
          <p:cNvSpPr txBox="1"/>
          <p:nvPr/>
        </p:nvSpPr>
        <p:spPr>
          <a:xfrm>
            <a:off x="5806440" y="3730752"/>
            <a:ext cx="3657600" cy="237744"/>
          </a:xfrm>
          <a:prstGeom prst="rect">
            <a:avLst/>
          </a:prstGeom>
          <a:noFill/>
          <a:ln/>
        </p:spPr>
        <p:txBody>
          <a:bodyPr wrap="square" lIns="0" tIns="0" rIns="0" bIns="0" rtlCol="0" anchor="t"/>
          <a:lstStyle/>
          <a:p>
            <a:pPr indent="0" marL="0">
              <a:buNone/>
            </a:pPr>
            <a:r>
              <a:rPr lang="en-US" sz="1000" b="1" spc="200" kern="0" dirty="0">
                <a:solidFill>
                  <a:srgbClr val="E2B54E"/>
                </a:solidFill>
                <a:latin typeface="Calibri" pitchFamily="34" charset="0"/>
                <a:ea typeface="Calibri" pitchFamily="34" charset="-122"/>
                <a:cs typeface="Calibri" pitchFamily="34" charset="-120"/>
              </a:rPr>
              <a:t>RECEIVES</a:t>
            </a:r>
            <a:endParaRPr lang="en-US" sz="1000" dirty="0"/>
          </a:p>
        </p:txBody>
      </p:sp>
      <p:sp>
        <p:nvSpPr>
          <p:cNvPr id="56" name="Text 53"/>
          <p:cNvSpPr txBox="1"/>
          <p:nvPr/>
        </p:nvSpPr>
        <p:spPr>
          <a:xfrm>
            <a:off x="5806440" y="3986784"/>
            <a:ext cx="5897880" cy="603504"/>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Cycle and push health (1) · sensor and rules versions (2, 3) · trace fields (4, 5, 6) · usage, units and check results (5) · consent records and validator results (6)</a:t>
            </a:r>
            <a:endParaRPr lang="en-US" sz="1150" dirty="0"/>
          </a:p>
        </p:txBody>
      </p:sp>
      <p:sp>
        <p:nvSpPr>
          <p:cNvPr id="57" name="Text 54"/>
          <p:cNvSpPr txBox="1"/>
          <p:nvPr/>
        </p:nvSpPr>
        <p:spPr>
          <a:xfrm>
            <a:off x="5806440" y="4645152"/>
            <a:ext cx="2743200" cy="237744"/>
          </a:xfrm>
          <a:prstGeom prst="rect">
            <a:avLst/>
          </a:prstGeom>
          <a:noFill/>
          <a:ln/>
        </p:spPr>
        <p:txBody>
          <a:bodyPr wrap="square" lIns="0" tIns="0" rIns="0" bIns="0" rtlCol="0" anchor="t"/>
          <a:lstStyle/>
          <a:p>
            <a:pPr indent="0" marL="0">
              <a:buNone/>
            </a:pPr>
            <a:r>
              <a:rPr lang="en-US" sz="1000" b="1" spc="200" kern="0" dirty="0">
                <a:solidFill>
                  <a:srgbClr val="E2B54E"/>
                </a:solidFill>
                <a:latin typeface="Calibri" pitchFamily="34" charset="0"/>
                <a:ea typeface="Calibri" pitchFamily="34" charset="-122"/>
                <a:cs typeface="Calibri" pitchFamily="34" charset="-120"/>
              </a:rPr>
              <a:t>HANDS ON TO</a:t>
            </a:r>
            <a:endParaRPr lang="en-US" sz="1000" dirty="0"/>
          </a:p>
        </p:txBody>
      </p:sp>
      <p:sp>
        <p:nvSpPr>
          <p:cNvPr id="58" name="Shape 55"/>
          <p:cNvSpPr/>
          <p:nvPr/>
        </p:nvSpPr>
        <p:spPr>
          <a:xfrm>
            <a:off x="5806440" y="4974336"/>
            <a:ext cx="566928" cy="256032"/>
          </a:xfrm>
          <a:prstGeom prst="roundRect">
            <a:avLst>
              <a:gd name="adj" fmla="val 50000"/>
            </a:avLst>
          </a:prstGeom>
          <a:solidFill>
            <a:srgbClr val="B7A3E0"/>
          </a:solidFill>
          <a:ln w="9525">
            <a:solidFill>
              <a:srgbClr val="B7A3E0"/>
            </a:solidFill>
            <a:prstDash val="solid"/>
          </a:ln>
        </p:spPr>
      </p:sp>
      <p:sp>
        <p:nvSpPr>
          <p:cNvPr id="59" name="Text 56"/>
          <p:cNvSpPr txBox="1"/>
          <p:nvPr/>
        </p:nvSpPr>
        <p:spPr>
          <a:xfrm>
            <a:off x="5806440" y="4974336"/>
            <a:ext cx="566928" cy="256032"/>
          </a:xfrm>
          <a:prstGeom prst="rect">
            <a:avLst/>
          </a:prstGeom>
          <a:noFill/>
          <a:ln/>
        </p:spPr>
        <p:txBody>
          <a:bodyPr wrap="square" lIns="0" tIns="0" rIns="0" bIns="0" rtlCol="0" anchor="ctr"/>
          <a:lstStyle/>
          <a:p>
            <a:pPr algn="ctr" indent="0" marL="0">
              <a:buNone/>
            </a:pPr>
            <a:r>
              <a:rPr lang="en-US" sz="900" b="1" dirty="0">
                <a:solidFill>
                  <a:srgbClr val="0F1318"/>
                </a:solidFill>
                <a:latin typeface="Calibri" pitchFamily="34" charset="0"/>
                <a:ea typeface="Calibri" pitchFamily="34" charset="-122"/>
                <a:cs typeface="Calibri" pitchFamily="34" charset="-120"/>
              </a:rPr>
              <a:t>1–6</a:t>
            </a:r>
            <a:endParaRPr lang="en-US" sz="900" dirty="0"/>
          </a:p>
        </p:txBody>
      </p:sp>
      <p:sp>
        <p:nvSpPr>
          <p:cNvPr id="60" name="Text 57"/>
          <p:cNvSpPr txBox="1"/>
          <p:nvPr/>
        </p:nvSpPr>
        <p:spPr>
          <a:xfrm>
            <a:off x="6501384" y="4901184"/>
            <a:ext cx="5212080" cy="384048"/>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Every section  </a:t>
            </a:r>
            <a:pPr indent="0" marL="0">
              <a:buNone/>
            </a:pPr>
            <a:r>
              <a:rPr lang="en-US" sz="1150" dirty="0">
                <a:solidFill>
                  <a:srgbClr val="A3AEBB"/>
                </a:solidFill>
                <a:latin typeface="Calibri" pitchFamily="34" charset="0"/>
                <a:ea typeface="Calibri" pitchFamily="34" charset="-122"/>
                <a:cs typeface="Calibri" pitchFamily="34" charset="-120"/>
              </a:rPr>
              <a:t>rules every section runs under: tiers, retention, failure responses</a:t>
            </a:r>
            <a:endParaRPr lang="en-US" sz="1150" dirty="0"/>
          </a:p>
        </p:txBody>
      </p:sp>
      <p:sp>
        <p:nvSpPr>
          <p:cNvPr id="61" name="Shape 58"/>
          <p:cNvSpPr/>
          <p:nvPr/>
        </p:nvSpPr>
        <p:spPr>
          <a:xfrm>
            <a:off x="5806440" y="5376672"/>
            <a:ext cx="566928" cy="256032"/>
          </a:xfrm>
          <a:prstGeom prst="roundRect">
            <a:avLst>
              <a:gd name="adj" fmla="val 50000"/>
            </a:avLst>
          </a:prstGeom>
          <a:solidFill>
            <a:srgbClr val="262F3B"/>
          </a:solidFill>
          <a:ln w="9525">
            <a:solidFill>
              <a:srgbClr val="262F3B"/>
            </a:solidFill>
            <a:prstDash val="solid"/>
          </a:ln>
        </p:spPr>
      </p:sp>
      <p:sp>
        <p:nvSpPr>
          <p:cNvPr id="62" name="Text 59"/>
          <p:cNvSpPr txBox="1"/>
          <p:nvPr/>
        </p:nvSpPr>
        <p:spPr>
          <a:xfrm>
            <a:off x="5806440" y="5376672"/>
            <a:ext cx="566928" cy="256032"/>
          </a:xfrm>
          <a:prstGeom prst="rect">
            <a:avLst/>
          </a:prstGeom>
          <a:noFill/>
          <a:ln/>
        </p:spPr>
        <p:txBody>
          <a:bodyPr wrap="square" lIns="0" tIns="0" rIns="0" bIns="0" rtlCol="0" anchor="ctr"/>
          <a:lstStyle/>
          <a:p>
            <a:pPr algn="ctr" indent="0" marL="0">
              <a:buNone/>
            </a:pPr>
            <a:r>
              <a:rPr lang="en-US" sz="900" b="1" dirty="0">
                <a:solidFill>
                  <a:srgbClr val="EEF1F4"/>
                </a:solidFill>
                <a:latin typeface="Calibri" pitchFamily="34" charset="0"/>
                <a:ea typeface="Calibri" pitchFamily="34" charset="-122"/>
                <a:cs typeface="Calibri" pitchFamily="34" charset="-120"/>
              </a:rPr>
              <a:t>CI</a:t>
            </a:r>
            <a:endParaRPr lang="en-US" sz="900" dirty="0"/>
          </a:p>
        </p:txBody>
      </p:sp>
      <p:sp>
        <p:nvSpPr>
          <p:cNvPr id="63" name="Text 60"/>
          <p:cNvSpPr txBox="1"/>
          <p:nvPr/>
        </p:nvSpPr>
        <p:spPr>
          <a:xfrm>
            <a:off x="6501384" y="5303520"/>
            <a:ext cx="5212080" cy="384048"/>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Build pipeline  </a:t>
            </a:r>
            <a:pPr indent="0" marL="0">
              <a:buNone/>
            </a:pPr>
            <a:r>
              <a:rPr lang="en-US" sz="1150" dirty="0">
                <a:solidFill>
                  <a:srgbClr val="A3AEBB"/>
                </a:solidFill>
                <a:latin typeface="Calibri" pitchFamily="34" charset="0"/>
                <a:ea typeface="Calibri" pitchFamily="34" charset="-122"/>
                <a:cs typeface="Calibri" pitchFamily="34" charset="-120"/>
              </a:rPr>
              <a:t>golden-scenario results on every change</a:t>
            </a:r>
            <a:endParaRPr lang="en-US" sz="1150" dirty="0"/>
          </a:p>
        </p:txBody>
      </p:sp>
      <p:sp>
        <p:nvSpPr>
          <p:cNvPr id="64" name="Shape 61"/>
          <p:cNvSpPr/>
          <p:nvPr/>
        </p:nvSpPr>
        <p:spPr>
          <a:xfrm>
            <a:off x="5806440" y="5870448"/>
            <a:ext cx="5925312" cy="411480"/>
          </a:xfrm>
          <a:prstGeom prst="roundRect">
            <a:avLst>
              <a:gd name="adj" fmla="val 15556"/>
            </a:avLst>
          </a:prstGeom>
          <a:solidFill>
            <a:srgbClr val="2E2715"/>
          </a:solidFill>
          <a:ln w="9525">
            <a:solidFill>
              <a:srgbClr val="2E2715"/>
            </a:solidFill>
            <a:prstDash val="solid"/>
          </a:ln>
        </p:spPr>
      </p:sp>
      <p:sp>
        <p:nvSpPr>
          <p:cNvPr id="65" name="Text 62"/>
          <p:cNvSpPr txBox="1"/>
          <p:nvPr/>
        </p:nvSpPr>
        <p:spPr>
          <a:xfrm>
            <a:off x="5943600" y="5870448"/>
            <a:ext cx="5760720" cy="411480"/>
          </a:xfrm>
          <a:prstGeom prst="rect">
            <a:avLst/>
          </a:prstGeom>
          <a:noFill/>
          <a:ln/>
        </p:spPr>
        <p:txBody>
          <a:bodyPr wrap="square" lIns="0" tIns="0" rIns="0" bIns="0" rtlCol="0" anchor="ctr"/>
          <a:lstStyle/>
          <a:p>
            <a:pPr indent="0" marL="0">
              <a:buNone/>
            </a:pPr>
            <a:r>
              <a:rPr lang="en-US" sz="1100" b="1" dirty="0">
                <a:solidFill>
                  <a:srgbClr val="E2B54E"/>
                </a:solidFill>
                <a:latin typeface="Calibri" pitchFamily="34" charset="0"/>
                <a:ea typeface="Calibri" pitchFamily="34" charset="-122"/>
                <a:cs typeface="Calibri" pitchFamily="34" charset="-120"/>
              </a:rPr>
              <a:t>Recommendations here:  </a:t>
            </a:r>
            <a:pPr indent="0" marL="0">
              <a:buNone/>
            </a:pPr>
            <a:r>
              <a:rPr lang="en-US" sz="1100" dirty="0">
                <a:solidFill>
                  <a:srgbClr val="EEF1F4"/>
                </a:solidFill>
                <a:latin typeface="Calibri" pitchFamily="34" charset="0"/>
                <a:ea typeface="Calibri" pitchFamily="34" charset="-122"/>
                <a:cs typeface="Calibri" pitchFamily="34" charset="-120"/>
              </a:rPr>
              <a:t>G1 document · G2 tiers · G3 trace · G4 failures + replay · G5 later</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B7A3E0"/>
          </a:solidFill>
          <a:ln w="15875">
            <a:solidFill>
              <a:srgbClr val="B7A3E0"/>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7</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7 · PLATFORM &amp; GOVERNANCE · ORIGINAL DESIGN</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Where governance lived before this series</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3</a:t>
            </a:r>
            <a:endParaRPr lang="en-US" sz="1000" dirty="0"/>
          </a:p>
        </p:txBody>
      </p:sp>
      <p:sp>
        <p:nvSpPr>
          <p:cNvPr id="8" name="Shape 5"/>
          <p:cNvSpPr/>
          <p:nvPr/>
        </p:nvSpPr>
        <p:spPr>
          <a:xfrm>
            <a:off x="457200" y="1371600"/>
            <a:ext cx="5513832" cy="1517904"/>
          </a:xfrm>
          <a:prstGeom prst="roundRect">
            <a:avLst>
              <a:gd name="adj" fmla="val 4217"/>
            </a:avLst>
          </a:prstGeom>
          <a:solidFill>
            <a:srgbClr val="1D242E"/>
          </a:solidFill>
          <a:ln w="9525">
            <a:solidFill>
              <a:srgbClr val="323C49"/>
            </a:solidFill>
            <a:prstDash val="solid"/>
          </a:ln>
        </p:spPr>
      </p:sp>
      <p:sp>
        <p:nvSpPr>
          <p:cNvPr id="9" name="Text 6"/>
          <p:cNvSpPr txBox="1"/>
          <p:nvPr/>
        </p:nvSpPr>
        <p:spPr>
          <a:xfrm>
            <a:off x="640080" y="1481328"/>
            <a:ext cx="5120640" cy="256032"/>
          </a:xfrm>
          <a:prstGeom prst="rect">
            <a:avLst/>
          </a:prstGeom>
          <a:noFill/>
          <a:ln/>
        </p:spPr>
        <p:txBody>
          <a:bodyPr wrap="square" lIns="0" tIns="0" rIns="0" bIns="0" rtlCol="0" anchor="t"/>
          <a:lstStyle/>
          <a:p>
            <a:pPr indent="0" marL="0">
              <a:buNone/>
            </a:pPr>
            <a:r>
              <a:rPr lang="en-US" sz="950" b="1" spc="150" kern="0" dirty="0">
                <a:solidFill>
                  <a:srgbClr val="E2B54E"/>
                </a:solidFill>
                <a:latin typeface="Calibri" pitchFamily="34" charset="0"/>
                <a:ea typeface="Calibri" pitchFamily="34" charset="-122"/>
                <a:cs typeface="Calibri" pitchFamily="34" charset="-120"/>
              </a:rPr>
              <a:t>DOCUMENTS</a:t>
            </a:r>
            <a:endParaRPr lang="en-US" sz="950" dirty="0"/>
          </a:p>
        </p:txBody>
      </p:sp>
      <p:sp>
        <p:nvSpPr>
          <p:cNvPr id="10" name="Text 7"/>
          <p:cNvSpPr txBox="1"/>
          <p:nvPr/>
        </p:nvSpPr>
        <p:spPr>
          <a:xfrm>
            <a:off x="640080" y="1783080"/>
            <a:ext cx="5166360" cy="105156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Nine Stack D documents (A–I) resolved by “newest wins”. The revision-3 deck listed 11 conflicts settled by hand; this series has logged 69 decisions so far.</a:t>
            </a:r>
            <a:endParaRPr lang="en-US" sz="1150" dirty="0"/>
          </a:p>
        </p:txBody>
      </p:sp>
      <p:sp>
        <p:nvSpPr>
          <p:cNvPr id="11" name="Shape 8"/>
          <p:cNvSpPr/>
          <p:nvPr/>
        </p:nvSpPr>
        <p:spPr>
          <a:xfrm>
            <a:off x="6126480" y="1371600"/>
            <a:ext cx="5513832" cy="1517904"/>
          </a:xfrm>
          <a:prstGeom prst="roundRect">
            <a:avLst>
              <a:gd name="adj" fmla="val 4217"/>
            </a:avLst>
          </a:prstGeom>
          <a:solidFill>
            <a:srgbClr val="1D242E"/>
          </a:solidFill>
          <a:ln w="9525">
            <a:solidFill>
              <a:srgbClr val="323C49"/>
            </a:solidFill>
            <a:prstDash val="solid"/>
          </a:ln>
        </p:spPr>
      </p:sp>
      <p:sp>
        <p:nvSpPr>
          <p:cNvPr id="12" name="Text 9"/>
          <p:cNvSpPr txBox="1"/>
          <p:nvPr/>
        </p:nvSpPr>
        <p:spPr>
          <a:xfrm>
            <a:off x="6309360" y="1481328"/>
            <a:ext cx="5120640" cy="256032"/>
          </a:xfrm>
          <a:prstGeom prst="rect">
            <a:avLst/>
          </a:prstGeom>
          <a:noFill/>
          <a:ln/>
        </p:spPr>
        <p:txBody>
          <a:bodyPr wrap="square" lIns="0" tIns="0" rIns="0" bIns="0" rtlCol="0" anchor="t"/>
          <a:lstStyle/>
          <a:p>
            <a:pPr indent="0" marL="0">
              <a:buNone/>
            </a:pPr>
            <a:r>
              <a:rPr lang="en-US" sz="950" b="1" spc="150" kern="0" dirty="0">
                <a:solidFill>
                  <a:srgbClr val="E2B54E"/>
                </a:solidFill>
                <a:latin typeface="Calibri" pitchFamily="34" charset="0"/>
                <a:ea typeface="Calibri" pitchFamily="34" charset="-122"/>
                <a:cs typeface="Calibri" pitchFamily="34" charset="-120"/>
              </a:rPr>
              <a:t>ENTITLEMENTS</a:t>
            </a:r>
            <a:endParaRPr lang="en-US" sz="950" dirty="0"/>
          </a:p>
        </p:txBody>
      </p:sp>
      <p:sp>
        <p:nvSpPr>
          <p:cNvPr id="13" name="Text 10"/>
          <p:cNvSpPr txBox="1"/>
          <p:nvPr/>
        </p:nvSpPr>
        <p:spPr>
          <a:xfrm>
            <a:off x="6309360" y="1783080"/>
            <a:ext cx="5166360" cy="105156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AI chat: PRO only (file A, the deployed UI) · Free 50,000 tokens (D) · Free 20 queries a day (I). Chart download refused to Free (R2 manifest); session countdown PRO (seed /free page).</a:t>
            </a:r>
            <a:endParaRPr lang="en-US" sz="1150" dirty="0"/>
          </a:p>
        </p:txBody>
      </p:sp>
      <p:sp>
        <p:nvSpPr>
          <p:cNvPr id="14" name="Shape 11"/>
          <p:cNvSpPr/>
          <p:nvPr/>
        </p:nvSpPr>
        <p:spPr>
          <a:xfrm>
            <a:off x="457200" y="3017520"/>
            <a:ext cx="5513832" cy="1517904"/>
          </a:xfrm>
          <a:prstGeom prst="roundRect">
            <a:avLst>
              <a:gd name="adj" fmla="val 4217"/>
            </a:avLst>
          </a:prstGeom>
          <a:solidFill>
            <a:srgbClr val="1D242E"/>
          </a:solidFill>
          <a:ln w="9525">
            <a:solidFill>
              <a:srgbClr val="323C49"/>
            </a:solidFill>
            <a:prstDash val="solid"/>
          </a:ln>
        </p:spPr>
      </p:sp>
      <p:sp>
        <p:nvSpPr>
          <p:cNvPr id="15" name="Text 12"/>
          <p:cNvSpPr txBox="1"/>
          <p:nvPr/>
        </p:nvSpPr>
        <p:spPr>
          <a:xfrm>
            <a:off x="640080" y="3127248"/>
            <a:ext cx="5120640" cy="256032"/>
          </a:xfrm>
          <a:prstGeom prst="rect">
            <a:avLst/>
          </a:prstGeom>
          <a:noFill/>
          <a:ln/>
        </p:spPr>
        <p:txBody>
          <a:bodyPr wrap="square" lIns="0" tIns="0" rIns="0" bIns="0" rtlCol="0" anchor="t"/>
          <a:lstStyle/>
          <a:p>
            <a:pPr indent="0" marL="0">
              <a:buNone/>
            </a:pPr>
            <a:r>
              <a:rPr lang="en-US" sz="950" b="1" spc="150" kern="0" dirty="0">
                <a:solidFill>
                  <a:srgbClr val="E2B54E"/>
                </a:solidFill>
                <a:latin typeface="Calibri" pitchFamily="34" charset="0"/>
                <a:ea typeface="Calibri" pitchFamily="34" charset="-122"/>
                <a:cs typeface="Calibri" pitchFamily="34" charset="-120"/>
              </a:rPr>
              <a:t>AUDIT AND RETENTION</a:t>
            </a:r>
            <a:endParaRPr lang="en-US" sz="950" dirty="0"/>
          </a:p>
        </p:txBody>
      </p:sp>
      <p:sp>
        <p:nvSpPr>
          <p:cNvPr id="16" name="Text 13"/>
          <p:cNvSpPr txBox="1"/>
          <p:nvPr/>
        </p:nvSpPr>
        <p:spPr>
          <a:xfrm>
            <a:off x="640080" y="3429000"/>
            <a:ext cx="5166360" cy="105156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File D: a 7-year write-once vault for transcripts, consents and audit proofs. File E: profile history anonymised after deletion, kept 5–7 years.</a:t>
            </a:r>
            <a:endParaRPr lang="en-US" sz="1150" dirty="0"/>
          </a:p>
        </p:txBody>
      </p:sp>
      <p:sp>
        <p:nvSpPr>
          <p:cNvPr id="17" name="Shape 14"/>
          <p:cNvSpPr/>
          <p:nvPr/>
        </p:nvSpPr>
        <p:spPr>
          <a:xfrm>
            <a:off x="6126480" y="3017520"/>
            <a:ext cx="5513832" cy="1517904"/>
          </a:xfrm>
          <a:prstGeom prst="roundRect">
            <a:avLst>
              <a:gd name="adj" fmla="val 4217"/>
            </a:avLst>
          </a:prstGeom>
          <a:solidFill>
            <a:srgbClr val="1D242E"/>
          </a:solidFill>
          <a:ln w="9525">
            <a:solidFill>
              <a:srgbClr val="323C49"/>
            </a:solidFill>
            <a:prstDash val="solid"/>
          </a:ln>
        </p:spPr>
      </p:sp>
      <p:sp>
        <p:nvSpPr>
          <p:cNvPr id="18" name="Text 15"/>
          <p:cNvSpPr txBox="1"/>
          <p:nvPr/>
        </p:nvSpPr>
        <p:spPr>
          <a:xfrm>
            <a:off x="6309360" y="3127248"/>
            <a:ext cx="5120640" cy="256032"/>
          </a:xfrm>
          <a:prstGeom prst="rect">
            <a:avLst/>
          </a:prstGeom>
          <a:noFill/>
          <a:ln/>
        </p:spPr>
        <p:txBody>
          <a:bodyPr wrap="square" lIns="0" tIns="0" rIns="0" bIns="0" rtlCol="0" anchor="t"/>
          <a:lstStyle/>
          <a:p>
            <a:pPr indent="0" marL="0">
              <a:buNone/>
            </a:pPr>
            <a:r>
              <a:rPr lang="en-US" sz="950" b="1" spc="150" kern="0" dirty="0">
                <a:solidFill>
                  <a:srgbClr val="E2B54E"/>
                </a:solidFill>
                <a:latin typeface="Calibri" pitchFamily="34" charset="0"/>
                <a:ea typeface="Calibri" pitchFamily="34" charset="-122"/>
                <a:cs typeface="Calibri" pitchFamily="34" charset="-120"/>
              </a:rPr>
              <a:t>OPERATIONS</a:t>
            </a:r>
            <a:endParaRPr lang="en-US" sz="950" dirty="0"/>
          </a:p>
        </p:txBody>
      </p:sp>
      <p:sp>
        <p:nvSpPr>
          <p:cNvPr id="19" name="Text 16"/>
          <p:cNvSpPr txBox="1"/>
          <p:nvPr/>
        </p:nvSpPr>
        <p:spPr>
          <a:xfrm>
            <a:off x="6309360" y="3429000"/>
            <a:ext cx="5166360" cy="105156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Collector and push worker run as Windows services on the VPS. Push throughput is below demand (≈ 800 rows a minute needed, 375–600 delivered). Chart staleness is checked by hand.</a:t>
            </a:r>
            <a:endParaRPr lang="en-US" sz="1150" dirty="0"/>
          </a:p>
        </p:txBody>
      </p:sp>
      <p:sp>
        <p:nvSpPr>
          <p:cNvPr id="20" name="Shape 17"/>
          <p:cNvSpPr/>
          <p:nvPr/>
        </p:nvSpPr>
        <p:spPr>
          <a:xfrm>
            <a:off x="457200" y="4663440"/>
            <a:ext cx="5513832" cy="1517904"/>
          </a:xfrm>
          <a:prstGeom prst="roundRect">
            <a:avLst>
              <a:gd name="adj" fmla="val 4217"/>
            </a:avLst>
          </a:prstGeom>
          <a:solidFill>
            <a:srgbClr val="1D242E"/>
          </a:solidFill>
          <a:ln w="9525">
            <a:solidFill>
              <a:srgbClr val="323C49"/>
            </a:solidFill>
            <a:prstDash val="solid"/>
          </a:ln>
        </p:spPr>
      </p:sp>
      <p:sp>
        <p:nvSpPr>
          <p:cNvPr id="21" name="Text 18"/>
          <p:cNvSpPr txBox="1"/>
          <p:nvPr/>
        </p:nvSpPr>
        <p:spPr>
          <a:xfrm>
            <a:off x="640080" y="4773168"/>
            <a:ext cx="5120640" cy="256032"/>
          </a:xfrm>
          <a:prstGeom prst="rect">
            <a:avLst/>
          </a:prstGeom>
          <a:noFill/>
          <a:ln/>
        </p:spPr>
        <p:txBody>
          <a:bodyPr wrap="square" lIns="0" tIns="0" rIns="0" bIns="0" rtlCol="0" anchor="t"/>
          <a:lstStyle/>
          <a:p>
            <a:pPr indent="0" marL="0">
              <a:buNone/>
            </a:pPr>
            <a:r>
              <a:rPr lang="en-US" sz="950" b="1" spc="150" kern="0" dirty="0">
                <a:solidFill>
                  <a:srgbClr val="E2B54E"/>
                </a:solidFill>
                <a:latin typeface="Calibri" pitchFamily="34" charset="0"/>
                <a:ea typeface="Calibri" pitchFamily="34" charset="-122"/>
                <a:cs typeface="Calibri" pitchFamily="34" charset="-120"/>
              </a:rPr>
              <a:t>TESTING</a:t>
            </a:r>
            <a:endParaRPr lang="en-US" sz="950" dirty="0"/>
          </a:p>
        </p:txBody>
      </p:sp>
      <p:sp>
        <p:nvSpPr>
          <p:cNvPr id="22" name="Text 19"/>
          <p:cNvSpPr txBox="1"/>
          <p:nvPr/>
        </p:nvSpPr>
        <p:spPr>
          <a:xfrm>
            <a:off x="640080" y="5074920"/>
            <a:ext cx="5166360" cy="105156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Strong tests per lane (the news lane alone added 104 tests and mutation checks), but nothing replays a whole cycle through to Report 2.</a:t>
            </a:r>
            <a:endParaRPr lang="en-US" sz="1150" dirty="0"/>
          </a:p>
        </p:txBody>
      </p:sp>
      <p:sp>
        <p:nvSpPr>
          <p:cNvPr id="23" name="Shape 20"/>
          <p:cNvSpPr/>
          <p:nvPr/>
        </p:nvSpPr>
        <p:spPr>
          <a:xfrm>
            <a:off x="6126480" y="4663440"/>
            <a:ext cx="5513832" cy="1517904"/>
          </a:xfrm>
          <a:prstGeom prst="roundRect">
            <a:avLst>
              <a:gd name="adj" fmla="val 4217"/>
            </a:avLst>
          </a:prstGeom>
          <a:solidFill>
            <a:srgbClr val="1D242E"/>
          </a:solidFill>
          <a:ln w="9525">
            <a:solidFill>
              <a:srgbClr val="323C49"/>
            </a:solidFill>
            <a:prstDash val="solid"/>
          </a:ln>
        </p:spPr>
      </p:sp>
      <p:sp>
        <p:nvSpPr>
          <p:cNvPr id="24" name="Text 21"/>
          <p:cNvSpPr txBox="1"/>
          <p:nvPr/>
        </p:nvSpPr>
        <p:spPr>
          <a:xfrm>
            <a:off x="6309360" y="4773168"/>
            <a:ext cx="5120640" cy="256032"/>
          </a:xfrm>
          <a:prstGeom prst="rect">
            <a:avLst/>
          </a:prstGeom>
          <a:noFill/>
          <a:ln/>
        </p:spPr>
        <p:txBody>
          <a:bodyPr wrap="square" lIns="0" tIns="0" rIns="0" bIns="0" rtlCol="0" anchor="t"/>
          <a:lstStyle/>
          <a:p>
            <a:pPr indent="0" marL="0">
              <a:buNone/>
            </a:pPr>
            <a:r>
              <a:rPr lang="en-US" sz="950" b="1" spc="150" kern="0" dirty="0">
                <a:solidFill>
                  <a:srgbClr val="E2B54E"/>
                </a:solidFill>
                <a:latin typeface="Calibri" pitchFamily="34" charset="0"/>
                <a:ea typeface="Calibri" pitchFamily="34" charset="-122"/>
                <a:cs typeface="Calibri" pitchFamily="34" charset="-120"/>
              </a:rPr>
              <a:t>LANGUAGES</a:t>
            </a:r>
            <a:endParaRPr lang="en-US" sz="950" dirty="0"/>
          </a:p>
        </p:txBody>
      </p:sp>
      <p:sp>
        <p:nvSpPr>
          <p:cNvPr id="25" name="Text 22"/>
          <p:cNvSpPr txBox="1"/>
          <p:nvPr/>
        </p:nvSpPr>
        <p:spPr>
          <a:xfrm>
            <a:off x="6309360" y="5074920"/>
            <a:ext cx="5166360" cy="105156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16 languages in 17 files (English as en-US and en-GB). New keys ship in English first and fall back to English elsewhere.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B7A3E0"/>
          </a:solidFill>
          <a:ln w="15875">
            <a:solidFill>
              <a:srgbClr val="B7A3E0"/>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7</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7 · PLATFORM &amp; GOVERNANCE · WHAT’S MISSING</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Eight gaps in how the whole system is run</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4</a:t>
            </a:r>
            <a:endParaRPr lang="en-US" sz="1000" dirty="0"/>
          </a:p>
        </p:txBody>
      </p:sp>
      <p:sp>
        <p:nvSpPr>
          <p:cNvPr id="8" name="Shape 5"/>
          <p:cNvSpPr/>
          <p:nvPr/>
        </p:nvSpPr>
        <p:spPr>
          <a:xfrm>
            <a:off x="457200" y="1371600"/>
            <a:ext cx="2697480" cy="2359152"/>
          </a:xfrm>
          <a:prstGeom prst="roundRect">
            <a:avLst>
              <a:gd name="adj" fmla="val 2713"/>
            </a:avLst>
          </a:prstGeom>
          <a:solidFill>
            <a:srgbClr val="33201F"/>
          </a:solidFill>
          <a:ln w="15875">
            <a:solidFill>
              <a:srgbClr val="E5746A"/>
            </a:solidFill>
            <a:prstDash val="solid"/>
          </a:ln>
        </p:spPr>
      </p:sp>
      <p:sp>
        <p:nvSpPr>
          <p:cNvPr id="9" name="Shape 6"/>
          <p:cNvSpPr/>
          <p:nvPr/>
        </p:nvSpPr>
        <p:spPr>
          <a:xfrm>
            <a:off x="585216" y="1499616"/>
            <a:ext cx="438912" cy="438912"/>
          </a:xfrm>
          <a:prstGeom prst="ellipse">
            <a:avLst/>
          </a:prstGeom>
          <a:solidFill>
            <a:srgbClr val="0F1318"/>
          </a:solidFill>
          <a:ln w="12700">
            <a:solidFill>
              <a:srgbClr val="0F1318"/>
            </a:solidFill>
            <a:prstDash val="solid"/>
          </a:ln>
        </p:spPr>
      </p:sp>
      <p:pic>
        <p:nvPicPr>
          <p:cNvPr id="10" name="Image 0" descr="preencoded.png">    </p:cNvPr>
          <p:cNvPicPr>
            <a:picLocks noChangeAspect="1"/>
          </p:cNvPicPr>
          <p:nvPr/>
        </p:nvPicPr>
        <p:blipFill>
          <a:blip r:embed="rId1"/>
          <a:stretch>
            <a:fillRect/>
          </a:stretch>
        </p:blipFill>
        <p:spPr>
          <a:xfrm>
            <a:off x="686166" y="1600566"/>
            <a:ext cx="237012" cy="237012"/>
          </a:xfrm>
          <a:prstGeom prst="rect">
            <a:avLst/>
          </a:prstGeom>
        </p:spPr>
      </p:pic>
      <p:sp>
        <p:nvSpPr>
          <p:cNvPr id="11" name="Text 7"/>
          <p:cNvSpPr txBox="1"/>
          <p:nvPr/>
        </p:nvSpPr>
        <p:spPr>
          <a:xfrm>
            <a:off x="1115568" y="1463040"/>
            <a:ext cx="1956816" cy="512064"/>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Nine documents, newest wins</a:t>
            </a:r>
            <a:endParaRPr lang="en-US" sz="1200" dirty="0"/>
          </a:p>
        </p:txBody>
      </p:sp>
      <p:sp>
        <p:nvSpPr>
          <p:cNvPr id="12" name="Text 8"/>
          <p:cNvSpPr txBox="1"/>
          <p:nvPr/>
        </p:nvSpPr>
        <p:spPr>
          <a:xfrm>
            <a:off x="603504" y="2048256"/>
            <a:ext cx="2432304" cy="1097280"/>
          </a:xfrm>
          <a:prstGeom prst="rect">
            <a:avLst/>
          </a:prstGeom>
          <a:noFill/>
          <a:ln/>
        </p:spPr>
        <p:txBody>
          <a:bodyPr wrap="square" lIns="0" tIns="0" rIns="0" bIns="0" rtlCol="0" anchor="t"/>
          <a:lstStyle/>
          <a:p>
            <a:pPr indent="0" marL="0">
              <a:buNone/>
            </a:pPr>
            <a:r>
              <a:rPr lang="en-US" sz="1050" dirty="0">
                <a:solidFill>
                  <a:srgbClr val="EEF1F4"/>
                </a:solidFill>
                <a:latin typeface="Calibri" pitchFamily="34" charset="0"/>
                <a:ea typeface="Calibri" pitchFamily="34" charset="-122"/>
                <a:cs typeface="Calibri" pitchFamily="34" charset="-120"/>
              </a:rPr>
              <a:t>Settled decisions live only in these decks; the old files still say otherwise.</a:t>
            </a:r>
            <a:endParaRPr lang="en-US" sz="1050" dirty="0"/>
          </a:p>
        </p:txBody>
      </p:sp>
      <p:sp>
        <p:nvSpPr>
          <p:cNvPr id="13" name="Text 9"/>
          <p:cNvSpPr txBox="1"/>
          <p:nvPr/>
        </p:nvSpPr>
        <p:spPr>
          <a:xfrm>
            <a:off x="603504" y="3145536"/>
            <a:ext cx="2432304" cy="548640"/>
          </a:xfrm>
          <a:prstGeom prst="rect">
            <a:avLst/>
          </a:prstGeom>
          <a:noFill/>
          <a:ln/>
        </p:spPr>
        <p:txBody>
          <a:bodyPr wrap="square" lIns="0" tIns="0" rIns="0" bIns="0" rtlCol="0" anchor="t"/>
          <a:lstStyle/>
          <a:p>
            <a:pPr indent="0" marL="0">
              <a:buNone/>
            </a:pPr>
            <a:r>
              <a:rPr lang="en-US" sz="1000" b="1" dirty="0">
                <a:solidFill>
                  <a:srgbClr val="E2B54E"/>
                </a:solidFill>
                <a:latin typeface="Calibri" pitchFamily="34" charset="0"/>
                <a:ea typeface="Calibri" pitchFamily="34" charset="-122"/>
                <a:cs typeface="Calibri" pitchFamily="34" charset="-120"/>
              </a:rPr>
              <a:t>Impact: </a:t>
            </a:r>
            <a:pPr indent="0" marL="0">
              <a:buNone/>
            </a:pPr>
            <a:r>
              <a:rPr lang="en-US" sz="1000" dirty="0">
                <a:solidFill>
                  <a:srgbClr val="EEF1F4"/>
                </a:solidFill>
                <a:latin typeface="Calibri" pitchFamily="34" charset="0"/>
                <a:ea typeface="Calibri" pitchFamily="34" charset="-122"/>
                <a:cs typeface="Calibri" pitchFamily="34" charset="-120"/>
              </a:rPr>
              <a:t>Claude Code can build from a superseded file.</a:t>
            </a:r>
            <a:endParaRPr lang="en-US" sz="1000" dirty="0"/>
          </a:p>
        </p:txBody>
      </p:sp>
      <p:sp>
        <p:nvSpPr>
          <p:cNvPr id="14" name="Shape 10"/>
          <p:cNvSpPr/>
          <p:nvPr/>
        </p:nvSpPr>
        <p:spPr>
          <a:xfrm>
            <a:off x="3291840" y="1371600"/>
            <a:ext cx="2697480" cy="2359152"/>
          </a:xfrm>
          <a:prstGeom prst="roundRect">
            <a:avLst>
              <a:gd name="adj" fmla="val 2713"/>
            </a:avLst>
          </a:prstGeom>
          <a:solidFill>
            <a:srgbClr val="1D242E"/>
          </a:solidFill>
          <a:ln w="9525">
            <a:solidFill>
              <a:srgbClr val="323C49"/>
            </a:solidFill>
            <a:prstDash val="solid"/>
          </a:ln>
        </p:spPr>
      </p:sp>
      <p:sp>
        <p:nvSpPr>
          <p:cNvPr id="15" name="Shape 11"/>
          <p:cNvSpPr/>
          <p:nvPr/>
        </p:nvSpPr>
        <p:spPr>
          <a:xfrm>
            <a:off x="3419856" y="1499616"/>
            <a:ext cx="438912" cy="438912"/>
          </a:xfrm>
          <a:prstGeom prst="ellipse">
            <a:avLst/>
          </a:prstGeom>
          <a:solidFill>
            <a:srgbClr val="0F1318"/>
          </a:solidFill>
          <a:ln w="12700">
            <a:solidFill>
              <a:srgbClr val="0F1318"/>
            </a:solidFill>
            <a:prstDash val="solid"/>
          </a:ln>
        </p:spPr>
      </p:sp>
      <p:pic>
        <p:nvPicPr>
          <p:cNvPr id="16" name="Image 1" descr="preencoded.png">    </p:cNvPr>
          <p:cNvPicPr>
            <a:picLocks noChangeAspect="1"/>
          </p:cNvPicPr>
          <p:nvPr/>
        </p:nvPicPr>
        <p:blipFill>
          <a:blip r:embed="rId2"/>
          <a:stretch>
            <a:fillRect/>
          </a:stretch>
        </p:blipFill>
        <p:spPr>
          <a:xfrm>
            <a:off x="3520806" y="1600566"/>
            <a:ext cx="237012" cy="237012"/>
          </a:xfrm>
          <a:prstGeom prst="rect">
            <a:avLst/>
          </a:prstGeom>
        </p:spPr>
      </p:pic>
      <p:sp>
        <p:nvSpPr>
          <p:cNvPr id="17" name="Text 12"/>
          <p:cNvSpPr txBox="1"/>
          <p:nvPr/>
        </p:nvSpPr>
        <p:spPr>
          <a:xfrm>
            <a:off x="3950208" y="1463040"/>
            <a:ext cx="1956816" cy="512064"/>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Four answers on tiers</a:t>
            </a:r>
            <a:endParaRPr lang="en-US" sz="1200" dirty="0"/>
          </a:p>
        </p:txBody>
      </p:sp>
      <p:sp>
        <p:nvSpPr>
          <p:cNvPr id="18" name="Text 13"/>
          <p:cNvSpPr txBox="1"/>
          <p:nvPr/>
        </p:nvSpPr>
        <p:spPr>
          <a:xfrm>
            <a:off x="3438144" y="2048256"/>
            <a:ext cx="2432304" cy="109728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PRO only (A, deployed UI) · Free 50k tokens (D) · Free 20 a day (I).</a:t>
            </a:r>
            <a:endParaRPr lang="en-US" sz="1050" dirty="0"/>
          </a:p>
        </p:txBody>
      </p:sp>
      <p:sp>
        <p:nvSpPr>
          <p:cNvPr id="19" name="Text 14"/>
          <p:cNvSpPr txBox="1"/>
          <p:nvPr/>
        </p:nvSpPr>
        <p:spPr>
          <a:xfrm>
            <a:off x="3438144" y="3145536"/>
            <a:ext cx="2432304" cy="548640"/>
          </a:xfrm>
          <a:prstGeom prst="rect">
            <a:avLst/>
          </a:prstGeom>
          <a:noFill/>
          <a:ln/>
        </p:spPr>
        <p:txBody>
          <a:bodyPr wrap="square" lIns="0" tIns="0" rIns="0" bIns="0" rtlCol="0" anchor="t"/>
          <a:lstStyle/>
          <a:p>
            <a:pPr indent="0" marL="0">
              <a:buNone/>
            </a:pPr>
            <a:r>
              <a:rPr lang="en-US" sz="1000" b="1" dirty="0">
                <a:solidFill>
                  <a:srgbClr val="E2B54E"/>
                </a:solidFill>
                <a:latin typeface="Calibri" pitchFamily="34" charset="0"/>
                <a:ea typeface="Calibri" pitchFamily="34" charset="-122"/>
                <a:cs typeface="Calibri" pitchFamily="34" charset="-120"/>
              </a:rPr>
              <a:t>Impact: </a:t>
            </a:r>
            <a:pPr indent="0" marL="0">
              <a:buNone/>
            </a:pPr>
            <a:r>
              <a:rPr lang="en-US" sz="1000" dirty="0">
                <a:solidFill>
                  <a:srgbClr val="EEF1F4"/>
                </a:solidFill>
                <a:latin typeface="Calibri" pitchFamily="34" charset="0"/>
                <a:ea typeface="Calibri" pitchFamily="34" charset="-122"/>
                <a:cs typeface="Calibri" pitchFamily="34" charset="-120"/>
              </a:rPr>
              <a:t>Section 4’s gate can’t be built.</a:t>
            </a:r>
            <a:endParaRPr lang="en-US" sz="1000" dirty="0"/>
          </a:p>
        </p:txBody>
      </p:sp>
      <p:sp>
        <p:nvSpPr>
          <p:cNvPr id="20" name="Shape 15"/>
          <p:cNvSpPr/>
          <p:nvPr/>
        </p:nvSpPr>
        <p:spPr>
          <a:xfrm>
            <a:off x="6126480" y="1371600"/>
            <a:ext cx="2697480" cy="2359152"/>
          </a:xfrm>
          <a:prstGeom prst="roundRect">
            <a:avLst>
              <a:gd name="adj" fmla="val 2713"/>
            </a:avLst>
          </a:prstGeom>
          <a:solidFill>
            <a:srgbClr val="1D242E"/>
          </a:solidFill>
          <a:ln w="9525">
            <a:solidFill>
              <a:srgbClr val="323C49"/>
            </a:solidFill>
            <a:prstDash val="solid"/>
          </a:ln>
        </p:spPr>
      </p:sp>
      <p:sp>
        <p:nvSpPr>
          <p:cNvPr id="21" name="Shape 16"/>
          <p:cNvSpPr/>
          <p:nvPr/>
        </p:nvSpPr>
        <p:spPr>
          <a:xfrm>
            <a:off x="6254496" y="1499616"/>
            <a:ext cx="438912" cy="438912"/>
          </a:xfrm>
          <a:prstGeom prst="ellipse">
            <a:avLst/>
          </a:prstGeom>
          <a:solidFill>
            <a:srgbClr val="0F1318"/>
          </a:solidFill>
          <a:ln w="12700">
            <a:solidFill>
              <a:srgbClr val="0F1318"/>
            </a:solidFill>
            <a:prstDash val="solid"/>
          </a:ln>
        </p:spPr>
      </p:sp>
      <p:pic>
        <p:nvPicPr>
          <p:cNvPr id="22" name="Image 2" descr="preencoded.png">    </p:cNvPr>
          <p:cNvPicPr>
            <a:picLocks noChangeAspect="1"/>
          </p:cNvPicPr>
          <p:nvPr/>
        </p:nvPicPr>
        <p:blipFill>
          <a:blip r:embed="rId3"/>
          <a:stretch>
            <a:fillRect/>
          </a:stretch>
        </p:blipFill>
        <p:spPr>
          <a:xfrm>
            <a:off x="6355446" y="1600566"/>
            <a:ext cx="237012" cy="237012"/>
          </a:xfrm>
          <a:prstGeom prst="rect">
            <a:avLst/>
          </a:prstGeom>
        </p:spPr>
      </p:pic>
      <p:sp>
        <p:nvSpPr>
          <p:cNvPr id="23" name="Text 17"/>
          <p:cNvSpPr txBox="1"/>
          <p:nvPr/>
        </p:nvSpPr>
        <p:spPr>
          <a:xfrm>
            <a:off x="6784848" y="1463040"/>
            <a:ext cx="1956816" cy="512064"/>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No trace per answer</a:t>
            </a:r>
            <a:endParaRPr lang="en-US" sz="1200" dirty="0"/>
          </a:p>
        </p:txBody>
      </p:sp>
      <p:sp>
        <p:nvSpPr>
          <p:cNvPr id="24" name="Text 18"/>
          <p:cNvSpPr txBox="1"/>
          <p:nvPr/>
        </p:nvSpPr>
        <p:spPr>
          <a:xfrm>
            <a:off x="6272784" y="2048256"/>
            <a:ext cx="2432304" cy="109728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Nothing records the cycle, rule, chunks, model and checks behind an answer.</a:t>
            </a:r>
            <a:endParaRPr lang="en-US" sz="1050" dirty="0"/>
          </a:p>
        </p:txBody>
      </p:sp>
      <p:sp>
        <p:nvSpPr>
          <p:cNvPr id="25" name="Text 19"/>
          <p:cNvSpPr txBox="1"/>
          <p:nvPr/>
        </p:nvSpPr>
        <p:spPr>
          <a:xfrm>
            <a:off x="6272784" y="3145536"/>
            <a:ext cx="2432304" cy="548640"/>
          </a:xfrm>
          <a:prstGeom prst="rect">
            <a:avLst/>
          </a:prstGeom>
          <a:noFill/>
          <a:ln/>
        </p:spPr>
        <p:txBody>
          <a:bodyPr wrap="square" lIns="0" tIns="0" rIns="0" bIns="0" rtlCol="0" anchor="t"/>
          <a:lstStyle/>
          <a:p>
            <a:pPr indent="0" marL="0">
              <a:buNone/>
            </a:pPr>
            <a:r>
              <a:rPr lang="en-US" sz="1000" b="1" dirty="0">
                <a:solidFill>
                  <a:srgbClr val="E2B54E"/>
                </a:solidFill>
                <a:latin typeface="Calibri" pitchFamily="34" charset="0"/>
                <a:ea typeface="Calibri" pitchFamily="34" charset="-122"/>
                <a:cs typeface="Calibri" pitchFamily="34" charset="-120"/>
              </a:rPr>
              <a:t>Impact: </a:t>
            </a:r>
            <a:pPr indent="0" marL="0">
              <a:buNone/>
            </a:pPr>
            <a:r>
              <a:rPr lang="en-US" sz="1000" dirty="0">
                <a:solidFill>
                  <a:srgbClr val="EEF1F4"/>
                </a:solidFill>
                <a:latin typeface="Calibri" pitchFamily="34" charset="0"/>
                <a:ea typeface="Calibri" pitchFamily="34" charset="-122"/>
                <a:cs typeface="Calibri" pitchFamily="34" charset="-120"/>
              </a:rPr>
              <a:t>“Why did it say BUY?” has no answer.</a:t>
            </a:r>
            <a:endParaRPr lang="en-US" sz="1000" dirty="0"/>
          </a:p>
        </p:txBody>
      </p:sp>
      <p:sp>
        <p:nvSpPr>
          <p:cNvPr id="26" name="Shape 20"/>
          <p:cNvSpPr/>
          <p:nvPr/>
        </p:nvSpPr>
        <p:spPr>
          <a:xfrm>
            <a:off x="8961120" y="1371600"/>
            <a:ext cx="2697480" cy="2359152"/>
          </a:xfrm>
          <a:prstGeom prst="roundRect">
            <a:avLst>
              <a:gd name="adj" fmla="val 2713"/>
            </a:avLst>
          </a:prstGeom>
          <a:solidFill>
            <a:srgbClr val="1D242E"/>
          </a:solidFill>
          <a:ln w="9525">
            <a:solidFill>
              <a:srgbClr val="323C49"/>
            </a:solidFill>
            <a:prstDash val="solid"/>
          </a:ln>
        </p:spPr>
      </p:sp>
      <p:sp>
        <p:nvSpPr>
          <p:cNvPr id="27" name="Shape 21"/>
          <p:cNvSpPr/>
          <p:nvPr/>
        </p:nvSpPr>
        <p:spPr>
          <a:xfrm>
            <a:off x="9089136" y="1499616"/>
            <a:ext cx="438912" cy="438912"/>
          </a:xfrm>
          <a:prstGeom prst="ellipse">
            <a:avLst/>
          </a:prstGeom>
          <a:solidFill>
            <a:srgbClr val="0F1318"/>
          </a:solidFill>
          <a:ln w="12700">
            <a:solidFill>
              <a:srgbClr val="0F1318"/>
            </a:solidFill>
            <a:prstDash val="solid"/>
          </a:ln>
        </p:spPr>
      </p:sp>
      <p:pic>
        <p:nvPicPr>
          <p:cNvPr id="28" name="Image 3" descr="preencoded.png">    </p:cNvPr>
          <p:cNvPicPr>
            <a:picLocks noChangeAspect="1"/>
          </p:cNvPicPr>
          <p:nvPr/>
        </p:nvPicPr>
        <p:blipFill>
          <a:blip r:embed="rId4"/>
          <a:stretch>
            <a:fillRect/>
          </a:stretch>
        </p:blipFill>
        <p:spPr>
          <a:xfrm>
            <a:off x="9190086" y="1600566"/>
            <a:ext cx="237012" cy="237012"/>
          </a:xfrm>
          <a:prstGeom prst="rect">
            <a:avLst/>
          </a:prstGeom>
        </p:spPr>
      </p:pic>
      <p:sp>
        <p:nvSpPr>
          <p:cNvPr id="29" name="Text 22"/>
          <p:cNvSpPr txBox="1"/>
          <p:nvPr/>
        </p:nvSpPr>
        <p:spPr>
          <a:xfrm>
            <a:off x="9619488" y="1463040"/>
            <a:ext cx="1956816" cy="512064"/>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Two retention figures</a:t>
            </a:r>
            <a:endParaRPr lang="en-US" sz="1200" dirty="0"/>
          </a:p>
        </p:txBody>
      </p:sp>
      <p:sp>
        <p:nvSpPr>
          <p:cNvPr id="30" name="Text 23"/>
          <p:cNvSpPr txBox="1"/>
          <p:nvPr/>
        </p:nvSpPr>
        <p:spPr>
          <a:xfrm>
            <a:off x="9107424" y="2048256"/>
            <a:ext cx="2432304" cy="109728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7 years (D) vs 5–7 (E); D also keeps every chat transcript write-once for 7 years.</a:t>
            </a:r>
            <a:endParaRPr lang="en-US" sz="1050" dirty="0"/>
          </a:p>
        </p:txBody>
      </p:sp>
      <p:sp>
        <p:nvSpPr>
          <p:cNvPr id="31" name="Text 24"/>
          <p:cNvSpPr txBox="1"/>
          <p:nvPr/>
        </p:nvSpPr>
        <p:spPr>
          <a:xfrm>
            <a:off x="9107424" y="3145536"/>
            <a:ext cx="2432304" cy="548640"/>
          </a:xfrm>
          <a:prstGeom prst="rect">
            <a:avLst/>
          </a:prstGeom>
          <a:noFill/>
          <a:ln/>
        </p:spPr>
        <p:txBody>
          <a:bodyPr wrap="square" lIns="0" tIns="0" rIns="0" bIns="0" rtlCol="0" anchor="t"/>
          <a:lstStyle/>
          <a:p>
            <a:pPr indent="0" marL="0">
              <a:buNone/>
            </a:pPr>
            <a:r>
              <a:rPr lang="en-US" sz="1000" b="1" dirty="0">
                <a:solidFill>
                  <a:srgbClr val="E2B54E"/>
                </a:solidFill>
                <a:latin typeface="Calibri" pitchFamily="34" charset="0"/>
                <a:ea typeface="Calibri" pitchFamily="34" charset="-122"/>
                <a:cs typeface="Calibri" pitchFamily="34" charset="-120"/>
              </a:rPr>
              <a:t>Impact: </a:t>
            </a:r>
            <a:pPr indent="0" marL="0">
              <a:buNone/>
            </a:pPr>
            <a:r>
              <a:rPr lang="en-US" sz="1000" dirty="0">
                <a:solidFill>
                  <a:srgbClr val="EEF1F4"/>
                </a:solidFill>
                <a:latin typeface="Calibri" pitchFamily="34" charset="0"/>
                <a:ea typeface="Calibri" pitchFamily="34" charset="-122"/>
                <a:cs typeface="Calibri" pitchFamily="34" charset="-120"/>
              </a:rPr>
              <a:t>No stated policy; more personal data kept than needed.</a:t>
            </a:r>
            <a:endParaRPr lang="en-US" sz="1000" dirty="0"/>
          </a:p>
        </p:txBody>
      </p:sp>
      <p:sp>
        <p:nvSpPr>
          <p:cNvPr id="32" name="Shape 25"/>
          <p:cNvSpPr/>
          <p:nvPr/>
        </p:nvSpPr>
        <p:spPr>
          <a:xfrm>
            <a:off x="457200" y="3858768"/>
            <a:ext cx="2697480" cy="2359152"/>
          </a:xfrm>
          <a:prstGeom prst="roundRect">
            <a:avLst>
              <a:gd name="adj" fmla="val 2713"/>
            </a:avLst>
          </a:prstGeom>
          <a:solidFill>
            <a:srgbClr val="1D242E"/>
          </a:solidFill>
          <a:ln w="9525">
            <a:solidFill>
              <a:srgbClr val="323C49"/>
            </a:solidFill>
            <a:prstDash val="solid"/>
          </a:ln>
        </p:spPr>
      </p:sp>
      <p:sp>
        <p:nvSpPr>
          <p:cNvPr id="33" name="Shape 26"/>
          <p:cNvSpPr/>
          <p:nvPr/>
        </p:nvSpPr>
        <p:spPr>
          <a:xfrm>
            <a:off x="585216" y="3986784"/>
            <a:ext cx="438912" cy="438912"/>
          </a:xfrm>
          <a:prstGeom prst="ellipse">
            <a:avLst/>
          </a:prstGeom>
          <a:solidFill>
            <a:srgbClr val="0F1318"/>
          </a:solidFill>
          <a:ln w="12700">
            <a:solidFill>
              <a:srgbClr val="0F1318"/>
            </a:solidFill>
            <a:prstDash val="solid"/>
          </a:ln>
        </p:spPr>
      </p:sp>
      <p:pic>
        <p:nvPicPr>
          <p:cNvPr id="34" name="Image 4" descr="preencoded.png">    </p:cNvPr>
          <p:cNvPicPr>
            <a:picLocks noChangeAspect="1"/>
          </p:cNvPicPr>
          <p:nvPr/>
        </p:nvPicPr>
        <p:blipFill>
          <a:blip r:embed="rId5"/>
          <a:stretch>
            <a:fillRect/>
          </a:stretch>
        </p:blipFill>
        <p:spPr>
          <a:xfrm>
            <a:off x="686166" y="4087734"/>
            <a:ext cx="237012" cy="237012"/>
          </a:xfrm>
          <a:prstGeom prst="rect">
            <a:avLst/>
          </a:prstGeom>
        </p:spPr>
      </p:pic>
      <p:sp>
        <p:nvSpPr>
          <p:cNvPr id="35" name="Text 27"/>
          <p:cNvSpPr txBox="1"/>
          <p:nvPr/>
        </p:nvSpPr>
        <p:spPr>
          <a:xfrm>
            <a:off x="1115568" y="3950208"/>
            <a:ext cx="1956816" cy="512064"/>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Failures handled piecemeal</a:t>
            </a:r>
            <a:endParaRPr lang="en-US" sz="1200" dirty="0"/>
          </a:p>
        </p:txBody>
      </p:sp>
      <p:sp>
        <p:nvSpPr>
          <p:cNvPr id="36" name="Text 28"/>
          <p:cNvSpPr txBox="1"/>
          <p:nvPr/>
        </p:nvSpPr>
        <p:spPr>
          <a:xfrm>
            <a:off x="603504" y="4535424"/>
            <a:ext cx="2432304" cy="109728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Each section defines some failures; there is no single table and no test per failure.</a:t>
            </a:r>
            <a:endParaRPr lang="en-US" sz="1050" dirty="0"/>
          </a:p>
        </p:txBody>
      </p:sp>
      <p:sp>
        <p:nvSpPr>
          <p:cNvPr id="37" name="Text 29"/>
          <p:cNvSpPr txBox="1"/>
          <p:nvPr/>
        </p:nvSpPr>
        <p:spPr>
          <a:xfrm>
            <a:off x="603504" y="5632704"/>
            <a:ext cx="2432304" cy="548640"/>
          </a:xfrm>
          <a:prstGeom prst="rect">
            <a:avLst/>
          </a:prstGeom>
          <a:noFill/>
          <a:ln/>
        </p:spPr>
        <p:txBody>
          <a:bodyPr wrap="square" lIns="0" tIns="0" rIns="0" bIns="0" rtlCol="0" anchor="t"/>
          <a:lstStyle/>
          <a:p>
            <a:pPr indent="0" marL="0">
              <a:buNone/>
            </a:pPr>
            <a:r>
              <a:rPr lang="en-US" sz="1000" b="1" dirty="0">
                <a:solidFill>
                  <a:srgbClr val="E2B54E"/>
                </a:solidFill>
                <a:latin typeface="Calibri" pitchFamily="34" charset="0"/>
                <a:ea typeface="Calibri" pitchFamily="34" charset="-122"/>
                <a:cs typeface="Calibri" pitchFamily="34" charset="-120"/>
              </a:rPr>
              <a:t>Impact: </a:t>
            </a:r>
            <a:pPr indent="0" marL="0">
              <a:buNone/>
            </a:pPr>
            <a:r>
              <a:rPr lang="en-US" sz="1000" dirty="0">
                <a:solidFill>
                  <a:srgbClr val="EEF1F4"/>
                </a:solidFill>
                <a:latin typeface="Calibri" pitchFamily="34" charset="0"/>
                <a:ea typeface="Calibri" pitchFamily="34" charset="-122"/>
                <a:cs typeface="Calibri" pitchFamily="34" charset="-120"/>
              </a:rPr>
              <a:t>Behaviour under failure is a guess.</a:t>
            </a:r>
            <a:endParaRPr lang="en-US" sz="1000" dirty="0"/>
          </a:p>
        </p:txBody>
      </p:sp>
      <p:sp>
        <p:nvSpPr>
          <p:cNvPr id="38" name="Shape 30"/>
          <p:cNvSpPr/>
          <p:nvPr/>
        </p:nvSpPr>
        <p:spPr>
          <a:xfrm>
            <a:off x="3291840" y="3858768"/>
            <a:ext cx="2697480" cy="2359152"/>
          </a:xfrm>
          <a:prstGeom prst="roundRect">
            <a:avLst>
              <a:gd name="adj" fmla="val 2713"/>
            </a:avLst>
          </a:prstGeom>
          <a:solidFill>
            <a:srgbClr val="1D242E"/>
          </a:solidFill>
          <a:ln w="9525">
            <a:solidFill>
              <a:srgbClr val="323C49"/>
            </a:solidFill>
            <a:prstDash val="solid"/>
          </a:ln>
        </p:spPr>
      </p:sp>
      <p:sp>
        <p:nvSpPr>
          <p:cNvPr id="39" name="Shape 31"/>
          <p:cNvSpPr/>
          <p:nvPr/>
        </p:nvSpPr>
        <p:spPr>
          <a:xfrm>
            <a:off x="3419856" y="3986784"/>
            <a:ext cx="438912" cy="438912"/>
          </a:xfrm>
          <a:prstGeom prst="ellipse">
            <a:avLst/>
          </a:prstGeom>
          <a:solidFill>
            <a:srgbClr val="0F1318"/>
          </a:solidFill>
          <a:ln w="12700">
            <a:solidFill>
              <a:srgbClr val="0F1318"/>
            </a:solidFill>
            <a:prstDash val="solid"/>
          </a:ln>
        </p:spPr>
      </p:sp>
      <p:pic>
        <p:nvPicPr>
          <p:cNvPr id="40" name="Image 5" descr="preencoded.png">    </p:cNvPr>
          <p:cNvPicPr>
            <a:picLocks noChangeAspect="1"/>
          </p:cNvPicPr>
          <p:nvPr/>
        </p:nvPicPr>
        <p:blipFill>
          <a:blip r:embed="rId6"/>
          <a:stretch>
            <a:fillRect/>
          </a:stretch>
        </p:blipFill>
        <p:spPr>
          <a:xfrm>
            <a:off x="3520806" y="4087734"/>
            <a:ext cx="237012" cy="237012"/>
          </a:xfrm>
          <a:prstGeom prst="rect">
            <a:avLst/>
          </a:prstGeom>
        </p:spPr>
      </p:pic>
      <p:sp>
        <p:nvSpPr>
          <p:cNvPr id="41" name="Text 32"/>
          <p:cNvSpPr txBox="1"/>
          <p:nvPr/>
        </p:nvSpPr>
        <p:spPr>
          <a:xfrm>
            <a:off x="3950208" y="3950208"/>
            <a:ext cx="1956816" cy="512064"/>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No end-to-end replay</a:t>
            </a:r>
            <a:endParaRPr lang="en-US" sz="1200" dirty="0"/>
          </a:p>
        </p:txBody>
      </p:sp>
      <p:sp>
        <p:nvSpPr>
          <p:cNvPr id="42" name="Text 33"/>
          <p:cNvSpPr txBox="1"/>
          <p:nvPr/>
        </p:nvSpPr>
        <p:spPr>
          <a:xfrm>
            <a:off x="3438144" y="4535424"/>
            <a:ext cx="2432304" cy="109728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A change to sensors, rules, prompts or models is never tested from cycle to Report 2.</a:t>
            </a:r>
            <a:endParaRPr lang="en-US" sz="1050" dirty="0"/>
          </a:p>
        </p:txBody>
      </p:sp>
      <p:sp>
        <p:nvSpPr>
          <p:cNvPr id="43" name="Text 34"/>
          <p:cNvSpPr txBox="1"/>
          <p:nvPr/>
        </p:nvSpPr>
        <p:spPr>
          <a:xfrm>
            <a:off x="3438144" y="5632704"/>
            <a:ext cx="2432304" cy="548640"/>
          </a:xfrm>
          <a:prstGeom prst="rect">
            <a:avLst/>
          </a:prstGeom>
          <a:noFill/>
          <a:ln/>
        </p:spPr>
        <p:txBody>
          <a:bodyPr wrap="square" lIns="0" tIns="0" rIns="0" bIns="0" rtlCol="0" anchor="t"/>
          <a:lstStyle/>
          <a:p>
            <a:pPr indent="0" marL="0">
              <a:buNone/>
            </a:pPr>
            <a:r>
              <a:rPr lang="en-US" sz="1000" b="1" dirty="0">
                <a:solidFill>
                  <a:srgbClr val="E2B54E"/>
                </a:solidFill>
                <a:latin typeface="Calibri" pitchFamily="34" charset="0"/>
                <a:ea typeface="Calibri" pitchFamily="34" charset="-122"/>
                <a:cs typeface="Calibri" pitchFamily="34" charset="-120"/>
              </a:rPr>
              <a:t>Impact: </a:t>
            </a:r>
            <a:pPr indent="0" marL="0">
              <a:buNone/>
            </a:pPr>
            <a:r>
              <a:rPr lang="en-US" sz="1000" dirty="0">
                <a:solidFill>
                  <a:srgbClr val="EEF1F4"/>
                </a:solidFill>
                <a:latin typeface="Calibri" pitchFamily="34" charset="0"/>
                <a:ea typeface="Calibri" pitchFamily="34" charset="-122"/>
                <a:cs typeface="Calibri" pitchFamily="34" charset="-120"/>
              </a:rPr>
              <a:t>Regressions reach users first.</a:t>
            </a:r>
            <a:endParaRPr lang="en-US" sz="1000" dirty="0"/>
          </a:p>
        </p:txBody>
      </p:sp>
      <p:sp>
        <p:nvSpPr>
          <p:cNvPr id="44" name="Shape 35"/>
          <p:cNvSpPr/>
          <p:nvPr/>
        </p:nvSpPr>
        <p:spPr>
          <a:xfrm>
            <a:off x="6126480" y="3858768"/>
            <a:ext cx="2697480" cy="2359152"/>
          </a:xfrm>
          <a:prstGeom prst="roundRect">
            <a:avLst>
              <a:gd name="adj" fmla="val 2713"/>
            </a:avLst>
          </a:prstGeom>
          <a:solidFill>
            <a:srgbClr val="1D242E"/>
          </a:solidFill>
          <a:ln w="9525">
            <a:solidFill>
              <a:srgbClr val="323C49"/>
            </a:solidFill>
            <a:prstDash val="solid"/>
          </a:ln>
        </p:spPr>
      </p:sp>
      <p:sp>
        <p:nvSpPr>
          <p:cNvPr id="45" name="Shape 36"/>
          <p:cNvSpPr/>
          <p:nvPr/>
        </p:nvSpPr>
        <p:spPr>
          <a:xfrm>
            <a:off x="6254496" y="3986784"/>
            <a:ext cx="438912" cy="438912"/>
          </a:xfrm>
          <a:prstGeom prst="ellipse">
            <a:avLst/>
          </a:prstGeom>
          <a:solidFill>
            <a:srgbClr val="0F1318"/>
          </a:solidFill>
          <a:ln w="12700">
            <a:solidFill>
              <a:srgbClr val="0F1318"/>
            </a:solidFill>
            <a:prstDash val="solid"/>
          </a:ln>
        </p:spPr>
      </p:sp>
      <p:pic>
        <p:nvPicPr>
          <p:cNvPr id="46" name="Image 6" descr="preencoded.png">    </p:cNvPr>
          <p:cNvPicPr>
            <a:picLocks noChangeAspect="1"/>
          </p:cNvPicPr>
          <p:nvPr/>
        </p:nvPicPr>
        <p:blipFill>
          <a:blip r:embed="rId7"/>
          <a:stretch>
            <a:fillRect/>
          </a:stretch>
        </p:blipFill>
        <p:spPr>
          <a:xfrm>
            <a:off x="6355446" y="4087734"/>
            <a:ext cx="237012" cy="237012"/>
          </a:xfrm>
          <a:prstGeom prst="rect">
            <a:avLst/>
          </a:prstGeom>
        </p:spPr>
      </p:pic>
      <p:sp>
        <p:nvSpPr>
          <p:cNvPr id="47" name="Text 37"/>
          <p:cNvSpPr txBox="1"/>
          <p:nvPr/>
        </p:nvSpPr>
        <p:spPr>
          <a:xfrm>
            <a:off x="6784848" y="3950208"/>
            <a:ext cx="1956816" cy="512064"/>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More data in prompts than needed</a:t>
            </a:r>
            <a:endParaRPr lang="en-US" sz="1200" dirty="0"/>
          </a:p>
        </p:txBody>
      </p:sp>
      <p:sp>
        <p:nvSpPr>
          <p:cNvPr id="48" name="Text 38"/>
          <p:cNvSpPr txBox="1"/>
          <p:nvPr/>
        </p:nvSpPr>
        <p:spPr>
          <a:xfrm>
            <a:off x="6272784" y="4535424"/>
            <a:ext cx="2432304" cy="109728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The profile in the prompt includes equity and commission; no rule on which providers may see it.</a:t>
            </a:r>
            <a:endParaRPr lang="en-US" sz="1050" dirty="0"/>
          </a:p>
        </p:txBody>
      </p:sp>
      <p:sp>
        <p:nvSpPr>
          <p:cNvPr id="49" name="Text 39"/>
          <p:cNvSpPr txBox="1"/>
          <p:nvPr/>
        </p:nvSpPr>
        <p:spPr>
          <a:xfrm>
            <a:off x="6272784" y="5632704"/>
            <a:ext cx="2432304" cy="548640"/>
          </a:xfrm>
          <a:prstGeom prst="rect">
            <a:avLst/>
          </a:prstGeom>
          <a:noFill/>
          <a:ln/>
        </p:spPr>
        <p:txBody>
          <a:bodyPr wrap="square" lIns="0" tIns="0" rIns="0" bIns="0" rtlCol="0" anchor="t"/>
          <a:lstStyle/>
          <a:p>
            <a:pPr indent="0" marL="0">
              <a:buNone/>
            </a:pPr>
            <a:r>
              <a:rPr lang="en-US" sz="1000" b="1" dirty="0">
                <a:solidFill>
                  <a:srgbClr val="E2B54E"/>
                </a:solidFill>
                <a:latin typeface="Calibri" pitchFamily="34" charset="0"/>
                <a:ea typeface="Calibri" pitchFamily="34" charset="-122"/>
                <a:cs typeface="Calibri" pitchFamily="34" charset="-120"/>
              </a:rPr>
              <a:t>Impact: </a:t>
            </a:r>
            <a:pPr indent="0" marL="0">
              <a:buNone/>
            </a:pPr>
            <a:r>
              <a:rPr lang="en-US" sz="1000" dirty="0">
                <a:solidFill>
                  <a:srgbClr val="EEF1F4"/>
                </a:solidFill>
                <a:latin typeface="Calibri" pitchFamily="34" charset="0"/>
                <a:ea typeface="Calibri" pitchFamily="34" charset="-122"/>
                <a:cs typeface="Calibri" pitchFamily="34" charset="-120"/>
              </a:rPr>
              <a:t>Financial data leaves for no benefit.</a:t>
            </a:r>
            <a:endParaRPr lang="en-US" sz="1000" dirty="0"/>
          </a:p>
        </p:txBody>
      </p:sp>
      <p:sp>
        <p:nvSpPr>
          <p:cNvPr id="50" name="Shape 40"/>
          <p:cNvSpPr/>
          <p:nvPr/>
        </p:nvSpPr>
        <p:spPr>
          <a:xfrm>
            <a:off x="8961120" y="3858768"/>
            <a:ext cx="2697480" cy="2359152"/>
          </a:xfrm>
          <a:prstGeom prst="roundRect">
            <a:avLst>
              <a:gd name="adj" fmla="val 2713"/>
            </a:avLst>
          </a:prstGeom>
          <a:solidFill>
            <a:srgbClr val="1D242E"/>
          </a:solidFill>
          <a:ln w="9525">
            <a:solidFill>
              <a:srgbClr val="323C49"/>
            </a:solidFill>
            <a:prstDash val="solid"/>
          </a:ln>
        </p:spPr>
      </p:sp>
      <p:sp>
        <p:nvSpPr>
          <p:cNvPr id="51" name="Shape 41"/>
          <p:cNvSpPr/>
          <p:nvPr/>
        </p:nvSpPr>
        <p:spPr>
          <a:xfrm>
            <a:off x="9089136" y="3986784"/>
            <a:ext cx="438912" cy="438912"/>
          </a:xfrm>
          <a:prstGeom prst="ellipse">
            <a:avLst/>
          </a:prstGeom>
          <a:solidFill>
            <a:srgbClr val="0F1318"/>
          </a:solidFill>
          <a:ln w="12700">
            <a:solidFill>
              <a:srgbClr val="0F1318"/>
            </a:solidFill>
            <a:prstDash val="solid"/>
          </a:ln>
        </p:spPr>
      </p:sp>
      <p:pic>
        <p:nvPicPr>
          <p:cNvPr id="52" name="Image 7" descr="preencoded.png">    </p:cNvPr>
          <p:cNvPicPr>
            <a:picLocks noChangeAspect="1"/>
          </p:cNvPicPr>
          <p:nvPr/>
        </p:nvPicPr>
        <p:blipFill>
          <a:blip r:embed="rId8"/>
          <a:stretch>
            <a:fillRect/>
          </a:stretch>
        </p:blipFill>
        <p:spPr>
          <a:xfrm>
            <a:off x="9190086" y="4087734"/>
            <a:ext cx="237012" cy="237012"/>
          </a:xfrm>
          <a:prstGeom prst="rect">
            <a:avLst/>
          </a:prstGeom>
        </p:spPr>
      </p:pic>
      <p:sp>
        <p:nvSpPr>
          <p:cNvPr id="53" name="Text 42"/>
          <p:cNvSpPr txBox="1"/>
          <p:nvPr/>
        </p:nvSpPr>
        <p:spPr>
          <a:xfrm>
            <a:off x="9619488" y="3950208"/>
            <a:ext cx="1956816" cy="512064"/>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Operations blind spots</a:t>
            </a:r>
            <a:endParaRPr lang="en-US" sz="1200" dirty="0"/>
          </a:p>
        </p:txBody>
      </p:sp>
      <p:sp>
        <p:nvSpPr>
          <p:cNvPr id="54" name="Text 43"/>
          <p:cNvSpPr txBox="1"/>
          <p:nvPr/>
        </p:nvSpPr>
        <p:spPr>
          <a:xfrm>
            <a:off x="9107424" y="4535424"/>
            <a:ext cx="2432304" cy="109728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Push throughput below demand; chart staleness checked by hand; no alerts.</a:t>
            </a:r>
            <a:endParaRPr lang="en-US" sz="1050" dirty="0"/>
          </a:p>
        </p:txBody>
      </p:sp>
      <p:sp>
        <p:nvSpPr>
          <p:cNvPr id="55" name="Text 44"/>
          <p:cNvSpPr txBox="1"/>
          <p:nvPr/>
        </p:nvSpPr>
        <p:spPr>
          <a:xfrm>
            <a:off x="9107424" y="5632704"/>
            <a:ext cx="2432304" cy="548640"/>
          </a:xfrm>
          <a:prstGeom prst="rect">
            <a:avLst/>
          </a:prstGeom>
          <a:noFill/>
          <a:ln/>
        </p:spPr>
        <p:txBody>
          <a:bodyPr wrap="square" lIns="0" tIns="0" rIns="0" bIns="0" rtlCol="0" anchor="t"/>
          <a:lstStyle/>
          <a:p>
            <a:pPr indent="0" marL="0">
              <a:buNone/>
            </a:pPr>
            <a:r>
              <a:rPr lang="en-US" sz="1000" b="1" dirty="0">
                <a:solidFill>
                  <a:srgbClr val="E2B54E"/>
                </a:solidFill>
                <a:latin typeface="Calibri" pitchFamily="34" charset="0"/>
                <a:ea typeface="Calibri" pitchFamily="34" charset="-122"/>
                <a:cs typeface="Calibri" pitchFamily="34" charset="-120"/>
              </a:rPr>
              <a:t>Impact: </a:t>
            </a:r>
            <a:pPr indent="0" marL="0">
              <a:buNone/>
            </a:pPr>
            <a:r>
              <a:rPr lang="en-US" sz="1000" dirty="0">
                <a:solidFill>
                  <a:srgbClr val="EEF1F4"/>
                </a:solidFill>
                <a:latin typeface="Calibri" pitchFamily="34" charset="0"/>
                <a:ea typeface="Calibri" pitchFamily="34" charset="-122"/>
                <a:cs typeface="Calibri" pitchFamily="34" charset="-120"/>
              </a:rPr>
              <a:t>Users notice STALE data first.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B7A3E0"/>
          </a:solidFill>
          <a:ln w="15875">
            <a:solidFill>
              <a:srgbClr val="B7A3E0"/>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7</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7 · PLATFORM &amp; GOVERNANCE · REVISED DESIGN</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Eight pieces, each with one home</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5</a:t>
            </a:r>
            <a:endParaRPr lang="en-US" sz="1000" dirty="0"/>
          </a:p>
        </p:txBody>
      </p:sp>
      <p:sp>
        <p:nvSpPr>
          <p:cNvPr id="8" name="Shape 5"/>
          <p:cNvSpPr/>
          <p:nvPr/>
        </p:nvSpPr>
        <p:spPr>
          <a:xfrm>
            <a:off x="457200" y="1371600"/>
            <a:ext cx="2697480" cy="2286000"/>
          </a:xfrm>
          <a:prstGeom prst="roundRect">
            <a:avLst>
              <a:gd name="adj" fmla="val 2800"/>
            </a:avLst>
          </a:prstGeom>
          <a:solidFill>
            <a:srgbClr val="1D242E"/>
          </a:solidFill>
          <a:ln w="15875">
            <a:solidFill>
              <a:srgbClr val="E2B54E"/>
            </a:solidFill>
            <a:prstDash val="solid"/>
          </a:ln>
        </p:spPr>
      </p:sp>
      <p:sp>
        <p:nvSpPr>
          <p:cNvPr id="9" name="Shape 6"/>
          <p:cNvSpPr/>
          <p:nvPr/>
        </p:nvSpPr>
        <p:spPr>
          <a:xfrm>
            <a:off x="585216" y="1499616"/>
            <a:ext cx="420624" cy="420624"/>
          </a:xfrm>
          <a:prstGeom prst="ellipse">
            <a:avLst/>
          </a:prstGeom>
          <a:solidFill>
            <a:srgbClr val="E2B54E"/>
          </a:solidFill>
          <a:ln w="15875">
            <a:solidFill>
              <a:srgbClr val="E2B54E"/>
            </a:solidFill>
            <a:prstDash val="solid"/>
          </a:ln>
        </p:spPr>
      </p:sp>
      <p:sp>
        <p:nvSpPr>
          <p:cNvPr id="10" name="Text 7"/>
          <p:cNvSpPr txBox="1"/>
          <p:nvPr/>
        </p:nvSpPr>
        <p:spPr>
          <a:xfrm>
            <a:off x="585216" y="1499616"/>
            <a:ext cx="420624" cy="420624"/>
          </a:xfrm>
          <a:prstGeom prst="rect">
            <a:avLst/>
          </a:prstGeom>
          <a:noFill/>
          <a:ln/>
        </p:spPr>
        <p:txBody>
          <a:bodyPr wrap="square" lIns="0" tIns="0" rIns="0" bIns="0" rtlCol="0" anchor="ctr"/>
          <a:lstStyle/>
          <a:p>
            <a:pPr algn="ctr" indent="0" marL="0">
              <a:buNone/>
            </a:pPr>
            <a:r>
              <a:rPr lang="en-US" sz="1400" b="1" dirty="0">
                <a:solidFill>
                  <a:srgbClr val="0F1318"/>
                </a:solidFill>
                <a:latin typeface="Cambria" pitchFamily="34" charset="0"/>
                <a:ea typeface="Cambria" pitchFamily="34" charset="-122"/>
                <a:cs typeface="Cambria" pitchFamily="34" charset="-120"/>
              </a:rPr>
              <a:t>1</a:t>
            </a:r>
            <a:endParaRPr lang="en-US" sz="1400" dirty="0"/>
          </a:p>
        </p:txBody>
      </p:sp>
      <p:sp>
        <p:nvSpPr>
          <p:cNvPr id="11" name="Text 8"/>
          <p:cNvSpPr txBox="1"/>
          <p:nvPr/>
        </p:nvSpPr>
        <p:spPr>
          <a:xfrm>
            <a:off x="1115568" y="1499616"/>
            <a:ext cx="1965960" cy="420624"/>
          </a:xfrm>
          <a:prstGeom prst="rect">
            <a:avLst/>
          </a:prstGeom>
          <a:noFill/>
          <a:ln/>
        </p:spPr>
        <p:txBody>
          <a:bodyPr wrap="square" lIns="0" tIns="0" rIns="0" bIns="0" rtlCol="0" anchor="ctr"/>
          <a:lstStyle/>
          <a:p>
            <a:pPr indent="0" marL="0">
              <a:buNone/>
            </a:pPr>
            <a:r>
              <a:rPr lang="en-US" sz="1400" b="1" dirty="0">
                <a:solidFill>
                  <a:srgbClr val="EEF1F4"/>
                </a:solidFill>
                <a:latin typeface="Calibri" pitchFamily="34" charset="0"/>
                <a:ea typeface="Calibri" pitchFamily="34" charset="-122"/>
                <a:cs typeface="Calibri" pitchFamily="34" charset="-120"/>
              </a:rPr>
              <a:t>Source of truth</a:t>
            </a:r>
            <a:endParaRPr lang="en-US" sz="1400" dirty="0"/>
          </a:p>
        </p:txBody>
      </p:sp>
      <p:sp>
        <p:nvSpPr>
          <p:cNvPr id="12" name="Text 9"/>
          <p:cNvSpPr txBox="1"/>
          <p:nvPr/>
        </p:nvSpPr>
        <p:spPr>
          <a:xfrm>
            <a:off x="621792" y="2066544"/>
            <a:ext cx="2395728" cy="1536192"/>
          </a:xfrm>
          <a:prstGeom prst="rect">
            <a:avLst/>
          </a:prstGeom>
          <a:noFill/>
          <a:ln/>
        </p:spPr>
        <p:txBody>
          <a:bodyPr wrap="square" lIns="0" tIns="0" rIns="0" bIns="0" rtlCol="0" anchor="t"/>
          <a:lstStyle/>
          <a:p>
            <a:pPr indent="0" marL="0">
              <a:buNone/>
            </a:pPr>
            <a:r>
              <a:rPr lang="en-US" sz="1250" dirty="0">
                <a:solidFill>
                  <a:srgbClr val="A3AEBB"/>
                </a:solidFill>
                <a:latin typeface="Calibri" pitchFamily="34" charset="0"/>
                <a:ea typeface="Calibri" pitchFamily="34" charset="-122"/>
                <a:cs typeface="Calibri" pitchFamily="34" charset="-120"/>
              </a:rPr>
              <a:t>STACK-D-ARCHITECTURE.md plus one decision-log file per decision (G1)</a:t>
            </a:r>
            <a:endParaRPr lang="en-US" sz="1250" dirty="0"/>
          </a:p>
        </p:txBody>
      </p:sp>
      <p:sp>
        <p:nvSpPr>
          <p:cNvPr id="13" name="Shape 10"/>
          <p:cNvSpPr/>
          <p:nvPr/>
        </p:nvSpPr>
        <p:spPr>
          <a:xfrm>
            <a:off x="3291840" y="1371600"/>
            <a:ext cx="2697480" cy="2286000"/>
          </a:xfrm>
          <a:prstGeom prst="roundRect">
            <a:avLst>
              <a:gd name="adj" fmla="val 2800"/>
            </a:avLst>
          </a:prstGeom>
          <a:solidFill>
            <a:srgbClr val="1D242E"/>
          </a:solidFill>
          <a:ln w="15875">
            <a:solidFill>
              <a:srgbClr val="E2B54E"/>
            </a:solidFill>
            <a:prstDash val="solid"/>
          </a:ln>
        </p:spPr>
      </p:sp>
      <p:sp>
        <p:nvSpPr>
          <p:cNvPr id="14" name="Shape 11"/>
          <p:cNvSpPr/>
          <p:nvPr/>
        </p:nvSpPr>
        <p:spPr>
          <a:xfrm>
            <a:off x="3419856" y="1499616"/>
            <a:ext cx="420624" cy="420624"/>
          </a:xfrm>
          <a:prstGeom prst="ellipse">
            <a:avLst/>
          </a:prstGeom>
          <a:solidFill>
            <a:srgbClr val="E2B54E"/>
          </a:solidFill>
          <a:ln w="15875">
            <a:solidFill>
              <a:srgbClr val="E2B54E"/>
            </a:solidFill>
            <a:prstDash val="solid"/>
          </a:ln>
        </p:spPr>
      </p:sp>
      <p:sp>
        <p:nvSpPr>
          <p:cNvPr id="15" name="Text 12"/>
          <p:cNvSpPr txBox="1"/>
          <p:nvPr/>
        </p:nvSpPr>
        <p:spPr>
          <a:xfrm>
            <a:off x="3419856" y="1499616"/>
            <a:ext cx="420624" cy="420624"/>
          </a:xfrm>
          <a:prstGeom prst="rect">
            <a:avLst/>
          </a:prstGeom>
          <a:noFill/>
          <a:ln/>
        </p:spPr>
        <p:txBody>
          <a:bodyPr wrap="square" lIns="0" tIns="0" rIns="0" bIns="0" rtlCol="0" anchor="ctr"/>
          <a:lstStyle/>
          <a:p>
            <a:pPr algn="ctr" indent="0" marL="0">
              <a:buNone/>
            </a:pPr>
            <a:r>
              <a:rPr lang="en-US" sz="1400" b="1" dirty="0">
                <a:solidFill>
                  <a:srgbClr val="0F1318"/>
                </a:solidFill>
                <a:latin typeface="Cambria" pitchFamily="34" charset="0"/>
                <a:ea typeface="Cambria" pitchFamily="34" charset="-122"/>
                <a:cs typeface="Cambria" pitchFamily="34" charset="-120"/>
              </a:rPr>
              <a:t>2</a:t>
            </a:r>
            <a:endParaRPr lang="en-US" sz="1400" dirty="0"/>
          </a:p>
        </p:txBody>
      </p:sp>
      <p:sp>
        <p:nvSpPr>
          <p:cNvPr id="16" name="Text 13"/>
          <p:cNvSpPr txBox="1"/>
          <p:nvPr/>
        </p:nvSpPr>
        <p:spPr>
          <a:xfrm>
            <a:off x="3950208" y="1499616"/>
            <a:ext cx="1965960" cy="420624"/>
          </a:xfrm>
          <a:prstGeom prst="rect">
            <a:avLst/>
          </a:prstGeom>
          <a:noFill/>
          <a:ln/>
        </p:spPr>
        <p:txBody>
          <a:bodyPr wrap="square" lIns="0" tIns="0" rIns="0" bIns="0" rtlCol="0" anchor="ctr"/>
          <a:lstStyle/>
          <a:p>
            <a:pPr indent="0" marL="0">
              <a:buNone/>
            </a:pPr>
            <a:r>
              <a:rPr lang="en-US" sz="1400" b="1" dirty="0">
                <a:solidFill>
                  <a:srgbClr val="EEF1F4"/>
                </a:solidFill>
                <a:latin typeface="Calibri" pitchFamily="34" charset="0"/>
                <a:ea typeface="Calibri" pitchFamily="34" charset="-122"/>
                <a:cs typeface="Calibri" pitchFamily="34" charset="-120"/>
              </a:rPr>
              <a:t>Entitlements</a:t>
            </a:r>
            <a:endParaRPr lang="en-US" sz="1400" dirty="0"/>
          </a:p>
        </p:txBody>
      </p:sp>
      <p:sp>
        <p:nvSpPr>
          <p:cNvPr id="17" name="Text 14"/>
          <p:cNvSpPr txBox="1"/>
          <p:nvPr/>
        </p:nvSpPr>
        <p:spPr>
          <a:xfrm>
            <a:off x="3456432" y="2066544"/>
            <a:ext cx="2395728" cy="1536192"/>
          </a:xfrm>
          <a:prstGeom prst="rect">
            <a:avLst/>
          </a:prstGeom>
          <a:noFill/>
          <a:ln/>
        </p:spPr>
        <p:txBody>
          <a:bodyPr wrap="square" lIns="0" tIns="0" rIns="0" bIns="0" rtlCol="0" anchor="t"/>
          <a:lstStyle/>
          <a:p>
            <a:pPr indent="0" marL="0">
              <a:buNone/>
            </a:pPr>
            <a:r>
              <a:rPr lang="en-US" sz="1250" dirty="0">
                <a:solidFill>
                  <a:srgbClr val="A3AEBB"/>
                </a:solidFill>
                <a:latin typeface="Calibri" pitchFamily="34" charset="0"/>
                <a:ea typeface="Calibri" pitchFamily="34" charset="-122"/>
                <a:cs typeface="Calibri" pitchFamily="34" charset="-120"/>
              </a:rPr>
              <a:t>One table of features by tier, in config, read by every gate (G2)</a:t>
            </a:r>
            <a:endParaRPr lang="en-US" sz="1250" dirty="0"/>
          </a:p>
        </p:txBody>
      </p:sp>
      <p:sp>
        <p:nvSpPr>
          <p:cNvPr id="18" name="Shape 15"/>
          <p:cNvSpPr/>
          <p:nvPr/>
        </p:nvSpPr>
        <p:spPr>
          <a:xfrm>
            <a:off x="6126480" y="1371600"/>
            <a:ext cx="2697480" cy="2286000"/>
          </a:xfrm>
          <a:prstGeom prst="roundRect">
            <a:avLst>
              <a:gd name="adj" fmla="val 2800"/>
            </a:avLst>
          </a:prstGeom>
          <a:solidFill>
            <a:srgbClr val="1D242E"/>
          </a:solidFill>
          <a:ln w="15875">
            <a:solidFill>
              <a:srgbClr val="E2B54E"/>
            </a:solidFill>
            <a:prstDash val="solid"/>
          </a:ln>
        </p:spPr>
      </p:sp>
      <p:sp>
        <p:nvSpPr>
          <p:cNvPr id="19" name="Shape 16"/>
          <p:cNvSpPr/>
          <p:nvPr/>
        </p:nvSpPr>
        <p:spPr>
          <a:xfrm>
            <a:off x="6254496" y="1499616"/>
            <a:ext cx="420624" cy="420624"/>
          </a:xfrm>
          <a:prstGeom prst="ellipse">
            <a:avLst/>
          </a:prstGeom>
          <a:solidFill>
            <a:srgbClr val="E2B54E"/>
          </a:solidFill>
          <a:ln w="15875">
            <a:solidFill>
              <a:srgbClr val="E2B54E"/>
            </a:solidFill>
            <a:prstDash val="solid"/>
          </a:ln>
        </p:spPr>
      </p:sp>
      <p:sp>
        <p:nvSpPr>
          <p:cNvPr id="20" name="Text 17"/>
          <p:cNvSpPr txBox="1"/>
          <p:nvPr/>
        </p:nvSpPr>
        <p:spPr>
          <a:xfrm>
            <a:off x="6254496" y="1499616"/>
            <a:ext cx="420624" cy="420624"/>
          </a:xfrm>
          <a:prstGeom prst="rect">
            <a:avLst/>
          </a:prstGeom>
          <a:noFill/>
          <a:ln/>
        </p:spPr>
        <p:txBody>
          <a:bodyPr wrap="square" lIns="0" tIns="0" rIns="0" bIns="0" rtlCol="0" anchor="ctr"/>
          <a:lstStyle/>
          <a:p>
            <a:pPr algn="ctr" indent="0" marL="0">
              <a:buNone/>
            </a:pPr>
            <a:r>
              <a:rPr lang="en-US" sz="1400" b="1" dirty="0">
                <a:solidFill>
                  <a:srgbClr val="0F1318"/>
                </a:solidFill>
                <a:latin typeface="Cambria" pitchFamily="34" charset="0"/>
                <a:ea typeface="Cambria" pitchFamily="34" charset="-122"/>
                <a:cs typeface="Cambria" pitchFamily="34" charset="-120"/>
              </a:rPr>
              <a:t>3</a:t>
            </a:r>
            <a:endParaRPr lang="en-US" sz="1400" dirty="0"/>
          </a:p>
        </p:txBody>
      </p:sp>
      <p:sp>
        <p:nvSpPr>
          <p:cNvPr id="21" name="Text 18"/>
          <p:cNvSpPr txBox="1"/>
          <p:nvPr/>
        </p:nvSpPr>
        <p:spPr>
          <a:xfrm>
            <a:off x="6784848" y="1499616"/>
            <a:ext cx="1965960" cy="420624"/>
          </a:xfrm>
          <a:prstGeom prst="rect">
            <a:avLst/>
          </a:prstGeom>
          <a:noFill/>
          <a:ln/>
        </p:spPr>
        <p:txBody>
          <a:bodyPr wrap="square" lIns="0" tIns="0" rIns="0" bIns="0" rtlCol="0" anchor="ctr"/>
          <a:lstStyle/>
          <a:p>
            <a:pPr indent="0" marL="0">
              <a:buNone/>
            </a:pPr>
            <a:r>
              <a:rPr lang="en-US" sz="1400" b="1" dirty="0">
                <a:solidFill>
                  <a:srgbClr val="EEF1F4"/>
                </a:solidFill>
                <a:latin typeface="Calibri" pitchFamily="34" charset="0"/>
                <a:ea typeface="Calibri" pitchFamily="34" charset="-122"/>
                <a:cs typeface="Calibri" pitchFamily="34" charset="-120"/>
              </a:rPr>
              <a:t>Trace</a:t>
            </a:r>
            <a:endParaRPr lang="en-US" sz="1400" dirty="0"/>
          </a:p>
        </p:txBody>
      </p:sp>
      <p:sp>
        <p:nvSpPr>
          <p:cNvPr id="22" name="Text 19"/>
          <p:cNvSpPr txBox="1"/>
          <p:nvPr/>
        </p:nvSpPr>
        <p:spPr>
          <a:xfrm>
            <a:off x="6291072" y="2066544"/>
            <a:ext cx="2395728" cy="1536192"/>
          </a:xfrm>
          <a:prstGeom prst="rect">
            <a:avLst/>
          </a:prstGeom>
          <a:noFill/>
          <a:ln/>
        </p:spPr>
        <p:txBody>
          <a:bodyPr wrap="square" lIns="0" tIns="0" rIns="0" bIns="0" rtlCol="0" anchor="t"/>
          <a:lstStyle/>
          <a:p>
            <a:pPr indent="0" marL="0">
              <a:buNone/>
            </a:pPr>
            <a:r>
              <a:rPr lang="en-US" sz="1250" dirty="0">
                <a:solidFill>
                  <a:srgbClr val="A3AEBB"/>
                </a:solidFill>
                <a:latin typeface="Calibri" pitchFamily="34" charset="0"/>
                <a:ea typeface="Calibri" pitchFamily="34" charset="-122"/>
                <a:cs typeface="Calibri" pitchFamily="34" charset="-120"/>
              </a:rPr>
              <a:t>One row per answer: data, reasoning, model, checks, risk, cost, time (G3)</a:t>
            </a:r>
            <a:endParaRPr lang="en-US" sz="1250" dirty="0"/>
          </a:p>
        </p:txBody>
      </p:sp>
      <p:sp>
        <p:nvSpPr>
          <p:cNvPr id="23" name="Shape 20"/>
          <p:cNvSpPr/>
          <p:nvPr/>
        </p:nvSpPr>
        <p:spPr>
          <a:xfrm>
            <a:off x="8961120" y="1371600"/>
            <a:ext cx="2697480" cy="2286000"/>
          </a:xfrm>
          <a:prstGeom prst="roundRect">
            <a:avLst>
              <a:gd name="adj" fmla="val 2800"/>
            </a:avLst>
          </a:prstGeom>
          <a:solidFill>
            <a:srgbClr val="1D242E"/>
          </a:solidFill>
          <a:ln w="9525">
            <a:solidFill>
              <a:srgbClr val="323C49"/>
            </a:solidFill>
            <a:prstDash val="solid"/>
          </a:ln>
        </p:spPr>
      </p:sp>
      <p:sp>
        <p:nvSpPr>
          <p:cNvPr id="24" name="Shape 21"/>
          <p:cNvSpPr/>
          <p:nvPr/>
        </p:nvSpPr>
        <p:spPr>
          <a:xfrm>
            <a:off x="9089136" y="1499616"/>
            <a:ext cx="420624" cy="420624"/>
          </a:xfrm>
          <a:prstGeom prst="ellipse">
            <a:avLst/>
          </a:prstGeom>
          <a:solidFill>
            <a:srgbClr val="E2B54E"/>
          </a:solidFill>
          <a:ln w="15875">
            <a:solidFill>
              <a:srgbClr val="E2B54E"/>
            </a:solidFill>
            <a:prstDash val="solid"/>
          </a:ln>
        </p:spPr>
      </p:sp>
      <p:sp>
        <p:nvSpPr>
          <p:cNvPr id="25" name="Text 22"/>
          <p:cNvSpPr txBox="1"/>
          <p:nvPr/>
        </p:nvSpPr>
        <p:spPr>
          <a:xfrm>
            <a:off x="9089136" y="1499616"/>
            <a:ext cx="420624" cy="420624"/>
          </a:xfrm>
          <a:prstGeom prst="rect">
            <a:avLst/>
          </a:prstGeom>
          <a:noFill/>
          <a:ln/>
        </p:spPr>
        <p:txBody>
          <a:bodyPr wrap="square" lIns="0" tIns="0" rIns="0" bIns="0" rtlCol="0" anchor="ctr"/>
          <a:lstStyle/>
          <a:p>
            <a:pPr algn="ctr" indent="0" marL="0">
              <a:buNone/>
            </a:pPr>
            <a:r>
              <a:rPr lang="en-US" sz="1400" b="1" dirty="0">
                <a:solidFill>
                  <a:srgbClr val="0F1318"/>
                </a:solidFill>
                <a:latin typeface="Cambria" pitchFamily="34" charset="0"/>
                <a:ea typeface="Cambria" pitchFamily="34" charset="-122"/>
                <a:cs typeface="Cambria" pitchFamily="34" charset="-120"/>
              </a:rPr>
              <a:t>4</a:t>
            </a:r>
            <a:endParaRPr lang="en-US" sz="1400" dirty="0"/>
          </a:p>
        </p:txBody>
      </p:sp>
      <p:sp>
        <p:nvSpPr>
          <p:cNvPr id="26" name="Text 23"/>
          <p:cNvSpPr txBox="1"/>
          <p:nvPr/>
        </p:nvSpPr>
        <p:spPr>
          <a:xfrm>
            <a:off x="9619488" y="1499616"/>
            <a:ext cx="1965960" cy="420624"/>
          </a:xfrm>
          <a:prstGeom prst="rect">
            <a:avLst/>
          </a:prstGeom>
          <a:noFill/>
          <a:ln/>
        </p:spPr>
        <p:txBody>
          <a:bodyPr wrap="square" lIns="0" tIns="0" rIns="0" bIns="0" rtlCol="0" anchor="ctr"/>
          <a:lstStyle/>
          <a:p>
            <a:pPr indent="0" marL="0">
              <a:buNone/>
            </a:pPr>
            <a:r>
              <a:rPr lang="en-US" sz="1400" b="1" dirty="0">
                <a:solidFill>
                  <a:srgbClr val="EEF1F4"/>
                </a:solidFill>
                <a:latin typeface="Calibri" pitchFamily="34" charset="0"/>
                <a:ea typeface="Calibri" pitchFamily="34" charset="-122"/>
                <a:cs typeface="Calibri" pitchFamily="34" charset="-120"/>
              </a:rPr>
              <a:t>Audit storage</a:t>
            </a:r>
            <a:endParaRPr lang="en-US" sz="1400" dirty="0"/>
          </a:p>
        </p:txBody>
      </p:sp>
      <p:sp>
        <p:nvSpPr>
          <p:cNvPr id="27" name="Text 24"/>
          <p:cNvSpPr txBox="1"/>
          <p:nvPr/>
        </p:nvSpPr>
        <p:spPr>
          <a:xfrm>
            <a:off x="9125712" y="2066544"/>
            <a:ext cx="2395728" cy="1536192"/>
          </a:xfrm>
          <a:prstGeom prst="rect">
            <a:avLst/>
          </a:prstGeom>
          <a:noFill/>
          <a:ln/>
        </p:spPr>
        <p:txBody>
          <a:bodyPr wrap="square" lIns="0" tIns="0" rIns="0" bIns="0" rtlCol="0" anchor="t"/>
          <a:lstStyle/>
          <a:p>
            <a:pPr indent="0" marL="0">
              <a:buNone/>
            </a:pPr>
            <a:r>
              <a:rPr lang="en-US" sz="1250" dirty="0">
                <a:solidFill>
                  <a:srgbClr val="A3AEBB"/>
                </a:solidFill>
                <a:latin typeface="Calibri" pitchFamily="34" charset="0"/>
                <a:ea typeface="Calibri" pitchFamily="34" charset="-122"/>
                <a:cs typeface="Calibri" pitchFamily="34" charset="-120"/>
              </a:rPr>
              <a:t>Consent records, traces and profile history under one retention figure</a:t>
            </a:r>
            <a:endParaRPr lang="en-US" sz="1250" dirty="0"/>
          </a:p>
        </p:txBody>
      </p:sp>
      <p:sp>
        <p:nvSpPr>
          <p:cNvPr id="28" name="Shape 25"/>
          <p:cNvSpPr/>
          <p:nvPr/>
        </p:nvSpPr>
        <p:spPr>
          <a:xfrm>
            <a:off x="457200" y="3858768"/>
            <a:ext cx="2697480" cy="2286000"/>
          </a:xfrm>
          <a:prstGeom prst="roundRect">
            <a:avLst>
              <a:gd name="adj" fmla="val 2800"/>
            </a:avLst>
          </a:prstGeom>
          <a:solidFill>
            <a:srgbClr val="1D242E"/>
          </a:solidFill>
          <a:ln w="15875">
            <a:solidFill>
              <a:srgbClr val="E2B54E"/>
            </a:solidFill>
            <a:prstDash val="solid"/>
          </a:ln>
        </p:spPr>
      </p:sp>
      <p:sp>
        <p:nvSpPr>
          <p:cNvPr id="29" name="Shape 26"/>
          <p:cNvSpPr/>
          <p:nvPr/>
        </p:nvSpPr>
        <p:spPr>
          <a:xfrm>
            <a:off x="585216" y="3986784"/>
            <a:ext cx="420624" cy="420624"/>
          </a:xfrm>
          <a:prstGeom prst="ellipse">
            <a:avLst/>
          </a:prstGeom>
          <a:solidFill>
            <a:srgbClr val="E2B54E"/>
          </a:solidFill>
          <a:ln w="15875">
            <a:solidFill>
              <a:srgbClr val="E2B54E"/>
            </a:solidFill>
            <a:prstDash val="solid"/>
          </a:ln>
        </p:spPr>
      </p:sp>
      <p:sp>
        <p:nvSpPr>
          <p:cNvPr id="30" name="Text 27"/>
          <p:cNvSpPr txBox="1"/>
          <p:nvPr/>
        </p:nvSpPr>
        <p:spPr>
          <a:xfrm>
            <a:off x="585216" y="3986784"/>
            <a:ext cx="420624" cy="420624"/>
          </a:xfrm>
          <a:prstGeom prst="rect">
            <a:avLst/>
          </a:prstGeom>
          <a:noFill/>
          <a:ln/>
        </p:spPr>
        <p:txBody>
          <a:bodyPr wrap="square" lIns="0" tIns="0" rIns="0" bIns="0" rtlCol="0" anchor="ctr"/>
          <a:lstStyle/>
          <a:p>
            <a:pPr algn="ctr" indent="0" marL="0">
              <a:buNone/>
            </a:pPr>
            <a:r>
              <a:rPr lang="en-US" sz="1400" b="1" dirty="0">
                <a:solidFill>
                  <a:srgbClr val="0F1318"/>
                </a:solidFill>
                <a:latin typeface="Cambria" pitchFamily="34" charset="0"/>
                <a:ea typeface="Cambria" pitchFamily="34" charset="-122"/>
                <a:cs typeface="Cambria" pitchFamily="34" charset="-120"/>
              </a:rPr>
              <a:t>5</a:t>
            </a:r>
            <a:endParaRPr lang="en-US" sz="1400" dirty="0"/>
          </a:p>
        </p:txBody>
      </p:sp>
      <p:sp>
        <p:nvSpPr>
          <p:cNvPr id="31" name="Text 28"/>
          <p:cNvSpPr txBox="1"/>
          <p:nvPr/>
        </p:nvSpPr>
        <p:spPr>
          <a:xfrm>
            <a:off x="1115568" y="3986784"/>
            <a:ext cx="1965960" cy="420624"/>
          </a:xfrm>
          <a:prstGeom prst="rect">
            <a:avLst/>
          </a:prstGeom>
          <a:noFill/>
          <a:ln/>
        </p:spPr>
        <p:txBody>
          <a:bodyPr wrap="square" lIns="0" tIns="0" rIns="0" bIns="0" rtlCol="0" anchor="ctr"/>
          <a:lstStyle/>
          <a:p>
            <a:pPr indent="0" marL="0">
              <a:buNone/>
            </a:pPr>
            <a:r>
              <a:rPr lang="en-US" sz="1400" b="1" dirty="0">
                <a:solidFill>
                  <a:srgbClr val="EEF1F4"/>
                </a:solidFill>
                <a:latin typeface="Calibri" pitchFamily="34" charset="0"/>
                <a:ea typeface="Calibri" pitchFamily="34" charset="-122"/>
                <a:cs typeface="Calibri" pitchFamily="34" charset="-120"/>
              </a:rPr>
              <a:t>Degraded modes</a:t>
            </a:r>
            <a:endParaRPr lang="en-US" sz="1400" dirty="0"/>
          </a:p>
        </p:txBody>
      </p:sp>
      <p:sp>
        <p:nvSpPr>
          <p:cNvPr id="32" name="Text 29"/>
          <p:cNvSpPr txBox="1"/>
          <p:nvPr/>
        </p:nvSpPr>
        <p:spPr>
          <a:xfrm>
            <a:off x="621792" y="4553712"/>
            <a:ext cx="2395728" cy="1536192"/>
          </a:xfrm>
          <a:prstGeom prst="rect">
            <a:avLst/>
          </a:prstGeom>
          <a:noFill/>
          <a:ln/>
        </p:spPr>
        <p:txBody>
          <a:bodyPr wrap="square" lIns="0" tIns="0" rIns="0" bIns="0" rtlCol="0" anchor="t"/>
          <a:lstStyle/>
          <a:p>
            <a:pPr indent="0" marL="0">
              <a:buNone/>
            </a:pPr>
            <a:r>
              <a:rPr lang="en-US" sz="1250" dirty="0">
                <a:solidFill>
                  <a:srgbClr val="A3AEBB"/>
                </a:solidFill>
                <a:latin typeface="Calibri" pitchFamily="34" charset="0"/>
                <a:ea typeface="Calibri" pitchFamily="34" charset="-122"/>
                <a:cs typeface="Calibri" pitchFamily="34" charset="-120"/>
              </a:rPr>
              <a:t>One table: every failure has a defined response and a test (G4)</a:t>
            </a:r>
            <a:endParaRPr lang="en-US" sz="1250" dirty="0"/>
          </a:p>
        </p:txBody>
      </p:sp>
      <p:sp>
        <p:nvSpPr>
          <p:cNvPr id="33" name="Shape 30"/>
          <p:cNvSpPr/>
          <p:nvPr/>
        </p:nvSpPr>
        <p:spPr>
          <a:xfrm>
            <a:off x="3291840" y="3858768"/>
            <a:ext cx="2697480" cy="2286000"/>
          </a:xfrm>
          <a:prstGeom prst="roundRect">
            <a:avLst>
              <a:gd name="adj" fmla="val 2800"/>
            </a:avLst>
          </a:prstGeom>
          <a:solidFill>
            <a:srgbClr val="1D242E"/>
          </a:solidFill>
          <a:ln w="15875">
            <a:solidFill>
              <a:srgbClr val="E2B54E"/>
            </a:solidFill>
            <a:prstDash val="solid"/>
          </a:ln>
        </p:spPr>
      </p:sp>
      <p:sp>
        <p:nvSpPr>
          <p:cNvPr id="34" name="Shape 31"/>
          <p:cNvSpPr/>
          <p:nvPr/>
        </p:nvSpPr>
        <p:spPr>
          <a:xfrm>
            <a:off x="3419856" y="3986784"/>
            <a:ext cx="420624" cy="420624"/>
          </a:xfrm>
          <a:prstGeom prst="ellipse">
            <a:avLst/>
          </a:prstGeom>
          <a:solidFill>
            <a:srgbClr val="E2B54E"/>
          </a:solidFill>
          <a:ln w="15875">
            <a:solidFill>
              <a:srgbClr val="E2B54E"/>
            </a:solidFill>
            <a:prstDash val="solid"/>
          </a:ln>
        </p:spPr>
      </p:sp>
      <p:sp>
        <p:nvSpPr>
          <p:cNvPr id="35" name="Text 32"/>
          <p:cNvSpPr txBox="1"/>
          <p:nvPr/>
        </p:nvSpPr>
        <p:spPr>
          <a:xfrm>
            <a:off x="3419856" y="3986784"/>
            <a:ext cx="420624" cy="420624"/>
          </a:xfrm>
          <a:prstGeom prst="rect">
            <a:avLst/>
          </a:prstGeom>
          <a:noFill/>
          <a:ln/>
        </p:spPr>
        <p:txBody>
          <a:bodyPr wrap="square" lIns="0" tIns="0" rIns="0" bIns="0" rtlCol="0" anchor="ctr"/>
          <a:lstStyle/>
          <a:p>
            <a:pPr algn="ctr" indent="0" marL="0">
              <a:buNone/>
            </a:pPr>
            <a:r>
              <a:rPr lang="en-US" sz="1400" b="1" dirty="0">
                <a:solidFill>
                  <a:srgbClr val="0F1318"/>
                </a:solidFill>
                <a:latin typeface="Cambria" pitchFamily="34" charset="0"/>
                <a:ea typeface="Cambria" pitchFamily="34" charset="-122"/>
                <a:cs typeface="Cambria" pitchFamily="34" charset="-120"/>
              </a:rPr>
              <a:t>6</a:t>
            </a:r>
            <a:endParaRPr lang="en-US" sz="1400" dirty="0"/>
          </a:p>
        </p:txBody>
      </p:sp>
      <p:sp>
        <p:nvSpPr>
          <p:cNvPr id="36" name="Text 33"/>
          <p:cNvSpPr txBox="1"/>
          <p:nvPr/>
        </p:nvSpPr>
        <p:spPr>
          <a:xfrm>
            <a:off x="3950208" y="3986784"/>
            <a:ext cx="1965960" cy="420624"/>
          </a:xfrm>
          <a:prstGeom prst="rect">
            <a:avLst/>
          </a:prstGeom>
          <a:noFill/>
          <a:ln/>
        </p:spPr>
        <p:txBody>
          <a:bodyPr wrap="square" lIns="0" tIns="0" rIns="0" bIns="0" rtlCol="0" anchor="ctr"/>
          <a:lstStyle/>
          <a:p>
            <a:pPr indent="0" marL="0">
              <a:buNone/>
            </a:pPr>
            <a:r>
              <a:rPr lang="en-US" sz="1400" b="1" dirty="0">
                <a:solidFill>
                  <a:srgbClr val="EEF1F4"/>
                </a:solidFill>
                <a:latin typeface="Calibri" pitchFamily="34" charset="0"/>
                <a:ea typeface="Calibri" pitchFamily="34" charset="-122"/>
                <a:cs typeface="Calibri" pitchFamily="34" charset="-120"/>
              </a:rPr>
              <a:t>Golden scenarios</a:t>
            </a:r>
            <a:endParaRPr lang="en-US" sz="1400" dirty="0"/>
          </a:p>
        </p:txBody>
      </p:sp>
      <p:sp>
        <p:nvSpPr>
          <p:cNvPr id="37" name="Text 34"/>
          <p:cNvSpPr txBox="1"/>
          <p:nvPr/>
        </p:nvSpPr>
        <p:spPr>
          <a:xfrm>
            <a:off x="3456432" y="4553712"/>
            <a:ext cx="2395728" cy="1536192"/>
          </a:xfrm>
          <a:prstGeom prst="rect">
            <a:avLst/>
          </a:prstGeom>
          <a:noFill/>
          <a:ln/>
        </p:spPr>
        <p:txBody>
          <a:bodyPr wrap="square" lIns="0" tIns="0" rIns="0" bIns="0" rtlCol="0" anchor="t"/>
          <a:lstStyle/>
          <a:p>
            <a:pPr indent="0" marL="0">
              <a:buNone/>
            </a:pPr>
            <a:r>
              <a:rPr lang="en-US" sz="1250" dirty="0">
                <a:solidFill>
                  <a:srgbClr val="A3AEBB"/>
                </a:solidFill>
                <a:latin typeface="Calibri" pitchFamily="34" charset="0"/>
                <a:ea typeface="Calibri" pitchFamily="34" charset="-122"/>
                <a:cs typeface="Calibri" pitchFamily="34" charset="-120"/>
              </a:rPr>
              <a:t>Stored cycles replayed from sensors to Report 2 on every change (G4)</a:t>
            </a:r>
            <a:endParaRPr lang="en-US" sz="1250" dirty="0"/>
          </a:p>
        </p:txBody>
      </p:sp>
      <p:sp>
        <p:nvSpPr>
          <p:cNvPr id="38" name="Shape 35"/>
          <p:cNvSpPr/>
          <p:nvPr/>
        </p:nvSpPr>
        <p:spPr>
          <a:xfrm>
            <a:off x="6126480" y="3858768"/>
            <a:ext cx="2697480" cy="2286000"/>
          </a:xfrm>
          <a:prstGeom prst="roundRect">
            <a:avLst>
              <a:gd name="adj" fmla="val 2800"/>
            </a:avLst>
          </a:prstGeom>
          <a:solidFill>
            <a:srgbClr val="1D242E"/>
          </a:solidFill>
          <a:ln w="15875">
            <a:solidFill>
              <a:srgbClr val="E2B54E"/>
            </a:solidFill>
            <a:prstDash val="solid"/>
          </a:ln>
        </p:spPr>
      </p:sp>
      <p:sp>
        <p:nvSpPr>
          <p:cNvPr id="39" name="Shape 36"/>
          <p:cNvSpPr/>
          <p:nvPr/>
        </p:nvSpPr>
        <p:spPr>
          <a:xfrm>
            <a:off x="6254496" y="3986784"/>
            <a:ext cx="420624" cy="420624"/>
          </a:xfrm>
          <a:prstGeom prst="ellipse">
            <a:avLst/>
          </a:prstGeom>
          <a:solidFill>
            <a:srgbClr val="E2B54E"/>
          </a:solidFill>
          <a:ln w="15875">
            <a:solidFill>
              <a:srgbClr val="E2B54E"/>
            </a:solidFill>
            <a:prstDash val="solid"/>
          </a:ln>
        </p:spPr>
      </p:sp>
      <p:sp>
        <p:nvSpPr>
          <p:cNvPr id="40" name="Text 37"/>
          <p:cNvSpPr txBox="1"/>
          <p:nvPr/>
        </p:nvSpPr>
        <p:spPr>
          <a:xfrm>
            <a:off x="6254496" y="3986784"/>
            <a:ext cx="420624" cy="420624"/>
          </a:xfrm>
          <a:prstGeom prst="rect">
            <a:avLst/>
          </a:prstGeom>
          <a:noFill/>
          <a:ln/>
        </p:spPr>
        <p:txBody>
          <a:bodyPr wrap="square" lIns="0" tIns="0" rIns="0" bIns="0" rtlCol="0" anchor="ctr"/>
          <a:lstStyle/>
          <a:p>
            <a:pPr algn="ctr" indent="0" marL="0">
              <a:buNone/>
            </a:pPr>
            <a:r>
              <a:rPr lang="en-US" sz="1400" b="1" dirty="0">
                <a:solidFill>
                  <a:srgbClr val="0F1318"/>
                </a:solidFill>
                <a:latin typeface="Cambria" pitchFamily="34" charset="0"/>
                <a:ea typeface="Cambria" pitchFamily="34" charset="-122"/>
                <a:cs typeface="Cambria" pitchFamily="34" charset="-120"/>
              </a:rPr>
              <a:t>7</a:t>
            </a:r>
            <a:endParaRPr lang="en-US" sz="1400" dirty="0"/>
          </a:p>
        </p:txBody>
      </p:sp>
      <p:sp>
        <p:nvSpPr>
          <p:cNvPr id="41" name="Text 38"/>
          <p:cNvSpPr txBox="1"/>
          <p:nvPr/>
        </p:nvSpPr>
        <p:spPr>
          <a:xfrm>
            <a:off x="6784848" y="3986784"/>
            <a:ext cx="1965960" cy="420624"/>
          </a:xfrm>
          <a:prstGeom prst="rect">
            <a:avLst/>
          </a:prstGeom>
          <a:noFill/>
          <a:ln/>
        </p:spPr>
        <p:txBody>
          <a:bodyPr wrap="square" lIns="0" tIns="0" rIns="0" bIns="0" rtlCol="0" anchor="ctr"/>
          <a:lstStyle/>
          <a:p>
            <a:pPr indent="0" marL="0">
              <a:buNone/>
            </a:pPr>
            <a:r>
              <a:rPr lang="en-US" sz="1400" b="1" dirty="0">
                <a:solidFill>
                  <a:srgbClr val="EEF1F4"/>
                </a:solidFill>
                <a:latin typeface="Calibri" pitchFamily="34" charset="0"/>
                <a:ea typeface="Calibri" pitchFamily="34" charset="-122"/>
                <a:cs typeface="Calibri" pitchFamily="34" charset="-120"/>
              </a:rPr>
              <a:t>Dashboard + alerts</a:t>
            </a:r>
            <a:endParaRPr lang="en-US" sz="1400" dirty="0"/>
          </a:p>
        </p:txBody>
      </p:sp>
      <p:sp>
        <p:nvSpPr>
          <p:cNvPr id="42" name="Text 39"/>
          <p:cNvSpPr txBox="1"/>
          <p:nvPr/>
        </p:nvSpPr>
        <p:spPr>
          <a:xfrm>
            <a:off x="6291072" y="4553712"/>
            <a:ext cx="2395728" cy="1536192"/>
          </a:xfrm>
          <a:prstGeom prst="rect">
            <a:avLst/>
          </a:prstGeom>
          <a:noFill/>
          <a:ln/>
        </p:spPr>
        <p:txBody>
          <a:bodyPr wrap="square" lIns="0" tIns="0" rIns="0" bIns="0" rtlCol="0" anchor="t"/>
          <a:lstStyle/>
          <a:p>
            <a:pPr indent="0" marL="0">
              <a:buNone/>
            </a:pPr>
            <a:r>
              <a:rPr lang="en-US" sz="1250" dirty="0">
                <a:solidFill>
                  <a:srgbClr val="A3AEBB"/>
                </a:solidFill>
                <a:latin typeface="Calibri" pitchFamily="34" charset="0"/>
                <a:ea typeface="Calibri" pitchFamily="34" charset="-122"/>
                <a:cs typeface="Calibri" pitchFamily="34" charset="-120"/>
              </a:rPr>
              <a:t>One admin page from the trace tables; five alerts</a:t>
            </a:r>
            <a:endParaRPr lang="en-US" sz="1250" dirty="0"/>
          </a:p>
        </p:txBody>
      </p:sp>
      <p:sp>
        <p:nvSpPr>
          <p:cNvPr id="43" name="Shape 40"/>
          <p:cNvSpPr/>
          <p:nvPr/>
        </p:nvSpPr>
        <p:spPr>
          <a:xfrm>
            <a:off x="8961120" y="3858768"/>
            <a:ext cx="2697480" cy="2286000"/>
          </a:xfrm>
          <a:prstGeom prst="roundRect">
            <a:avLst>
              <a:gd name="adj" fmla="val 2800"/>
            </a:avLst>
          </a:prstGeom>
          <a:solidFill>
            <a:srgbClr val="1D242E"/>
          </a:solidFill>
          <a:ln w="15875">
            <a:solidFill>
              <a:srgbClr val="E2B54E"/>
            </a:solidFill>
            <a:prstDash val="solid"/>
          </a:ln>
        </p:spPr>
      </p:sp>
      <p:sp>
        <p:nvSpPr>
          <p:cNvPr id="44" name="Shape 41"/>
          <p:cNvSpPr/>
          <p:nvPr/>
        </p:nvSpPr>
        <p:spPr>
          <a:xfrm>
            <a:off x="9089136" y="3986784"/>
            <a:ext cx="420624" cy="420624"/>
          </a:xfrm>
          <a:prstGeom prst="ellipse">
            <a:avLst/>
          </a:prstGeom>
          <a:solidFill>
            <a:srgbClr val="E2B54E"/>
          </a:solidFill>
          <a:ln w="15875">
            <a:solidFill>
              <a:srgbClr val="E2B54E"/>
            </a:solidFill>
            <a:prstDash val="solid"/>
          </a:ln>
        </p:spPr>
      </p:sp>
      <p:sp>
        <p:nvSpPr>
          <p:cNvPr id="45" name="Text 42"/>
          <p:cNvSpPr txBox="1"/>
          <p:nvPr/>
        </p:nvSpPr>
        <p:spPr>
          <a:xfrm>
            <a:off x="9089136" y="3986784"/>
            <a:ext cx="420624" cy="420624"/>
          </a:xfrm>
          <a:prstGeom prst="rect">
            <a:avLst/>
          </a:prstGeom>
          <a:noFill/>
          <a:ln/>
        </p:spPr>
        <p:txBody>
          <a:bodyPr wrap="square" lIns="0" tIns="0" rIns="0" bIns="0" rtlCol="0" anchor="ctr"/>
          <a:lstStyle/>
          <a:p>
            <a:pPr algn="ctr" indent="0" marL="0">
              <a:buNone/>
            </a:pPr>
            <a:r>
              <a:rPr lang="en-US" sz="1400" b="1" dirty="0">
                <a:solidFill>
                  <a:srgbClr val="0F1318"/>
                </a:solidFill>
                <a:latin typeface="Cambria" pitchFamily="34" charset="0"/>
                <a:ea typeface="Cambria" pitchFamily="34" charset="-122"/>
                <a:cs typeface="Cambria" pitchFamily="34" charset="-120"/>
              </a:rPr>
              <a:t>8</a:t>
            </a:r>
            <a:endParaRPr lang="en-US" sz="1400" dirty="0"/>
          </a:p>
        </p:txBody>
      </p:sp>
      <p:sp>
        <p:nvSpPr>
          <p:cNvPr id="46" name="Text 43"/>
          <p:cNvSpPr txBox="1"/>
          <p:nvPr/>
        </p:nvSpPr>
        <p:spPr>
          <a:xfrm>
            <a:off x="9619488" y="3986784"/>
            <a:ext cx="1965960" cy="420624"/>
          </a:xfrm>
          <a:prstGeom prst="rect">
            <a:avLst/>
          </a:prstGeom>
          <a:noFill/>
          <a:ln/>
        </p:spPr>
        <p:txBody>
          <a:bodyPr wrap="square" lIns="0" tIns="0" rIns="0" bIns="0" rtlCol="0" anchor="ctr"/>
          <a:lstStyle/>
          <a:p>
            <a:pPr indent="0" marL="0">
              <a:buNone/>
            </a:pPr>
            <a:r>
              <a:rPr lang="en-US" sz="1400" b="1" dirty="0">
                <a:solidFill>
                  <a:srgbClr val="EEF1F4"/>
                </a:solidFill>
                <a:latin typeface="Calibri" pitchFamily="34" charset="0"/>
                <a:ea typeface="Calibri" pitchFamily="34" charset="-122"/>
                <a:cs typeface="Calibri" pitchFamily="34" charset="-120"/>
              </a:rPr>
              <a:t>Privacy + languages</a:t>
            </a:r>
            <a:endParaRPr lang="en-US" sz="1400" dirty="0"/>
          </a:p>
        </p:txBody>
      </p:sp>
      <p:sp>
        <p:nvSpPr>
          <p:cNvPr id="47" name="Text 44"/>
          <p:cNvSpPr txBox="1"/>
          <p:nvPr/>
        </p:nvSpPr>
        <p:spPr>
          <a:xfrm>
            <a:off x="9125712" y="4553712"/>
            <a:ext cx="2395728" cy="1536192"/>
          </a:xfrm>
          <a:prstGeom prst="rect">
            <a:avLst/>
          </a:prstGeom>
          <a:noFill/>
          <a:ln/>
        </p:spPr>
        <p:txBody>
          <a:bodyPr wrap="square" lIns="0" tIns="0" rIns="0" bIns="0" rtlCol="0" anchor="t"/>
          <a:lstStyle/>
          <a:p>
            <a:pPr indent="0" marL="0">
              <a:buNone/>
            </a:pPr>
            <a:r>
              <a:rPr lang="en-US" sz="1250" dirty="0">
                <a:solidFill>
                  <a:srgbClr val="A3AEBB"/>
                </a:solidFill>
                <a:latin typeface="Calibri" pitchFamily="34" charset="0"/>
                <a:ea typeface="Calibri" pitchFamily="34" charset="-122"/>
                <a:cs typeface="Calibri" pitchFamily="34" charset="-120"/>
              </a:rPr>
              <a:t>Minimal prompts; safety texts in all 16 languages before release</a:t>
            </a:r>
            <a:endParaRPr lang="en-US" sz="1250" dirty="0"/>
          </a:p>
        </p:txBody>
      </p:sp>
      <p:sp>
        <p:nvSpPr>
          <p:cNvPr id="48" name="Text 45"/>
          <p:cNvSpPr txBox="1"/>
          <p:nvPr/>
        </p:nvSpPr>
        <p:spPr>
          <a:xfrm>
            <a:off x="457200" y="6373368"/>
            <a:ext cx="10972800" cy="274320"/>
          </a:xfrm>
          <a:prstGeom prst="rect">
            <a:avLst/>
          </a:prstGeom>
          <a:noFill/>
          <a:ln/>
        </p:spPr>
        <p:txBody>
          <a:bodyPr wrap="square" lIns="0" tIns="0" rIns="0" bIns="0" rtlCol="0" anchor="t"/>
          <a:lstStyle/>
          <a:p>
            <a:pPr indent="0" marL="0">
              <a:buNone/>
            </a:pPr>
            <a:r>
              <a:rPr lang="en-US" sz="1000" dirty="0">
                <a:solidFill>
                  <a:srgbClr val="A3AEBB"/>
                </a:solidFill>
                <a:latin typeface="Calibri" pitchFamily="34" charset="0"/>
                <a:ea typeface="Calibri" pitchFamily="34" charset="-122"/>
                <a:cs typeface="Calibri" pitchFamily="34" charset="-120"/>
              </a:rPr>
              <a:t>Gold outline = new in this design. Audit storage existed in file D; it gains one retention figure.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B7A3E0"/>
          </a:solidFill>
          <a:ln w="15875">
            <a:solidFill>
              <a:srgbClr val="B7A3E0"/>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7</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7 · PLATFORM &amp; GOVERNANCE · SOURCE OF TRUTH (G1)</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One architecture document, one entry per decision</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6</a:t>
            </a:r>
            <a:endParaRPr lang="en-US" sz="1000" dirty="0"/>
          </a:p>
        </p:txBody>
      </p:sp>
      <p:sp>
        <p:nvSpPr>
          <p:cNvPr id="8" name="Shape 5"/>
          <p:cNvSpPr/>
          <p:nvPr/>
        </p:nvSpPr>
        <p:spPr>
          <a:xfrm>
            <a:off x="457200" y="1325880"/>
            <a:ext cx="5394960" cy="4956048"/>
          </a:xfrm>
          <a:prstGeom prst="roundRect">
            <a:avLst>
              <a:gd name="adj" fmla="val 1292"/>
            </a:avLst>
          </a:prstGeom>
          <a:solidFill>
            <a:srgbClr val="161C24"/>
          </a:solidFill>
          <a:ln w="9525">
            <a:solidFill>
              <a:srgbClr val="323C49"/>
            </a:solidFill>
            <a:prstDash val="solid"/>
          </a:ln>
        </p:spPr>
      </p:sp>
      <p:sp>
        <p:nvSpPr>
          <p:cNvPr id="9" name="Text 6"/>
          <p:cNvSpPr txBox="1"/>
          <p:nvPr/>
        </p:nvSpPr>
        <p:spPr>
          <a:xfrm>
            <a:off x="640080" y="1426464"/>
            <a:ext cx="5029200" cy="237744"/>
          </a:xfrm>
          <a:prstGeom prst="rect">
            <a:avLst/>
          </a:prstGeom>
          <a:noFill/>
          <a:ln/>
        </p:spPr>
        <p:txBody>
          <a:bodyPr wrap="square" lIns="0" tIns="0" rIns="0" bIns="0" rtlCol="0" anchor="t"/>
          <a:lstStyle/>
          <a:p>
            <a:pPr indent="0" marL="0">
              <a:buNone/>
            </a:pPr>
            <a:r>
              <a:rPr lang="en-US" sz="950" b="1" spc="150" kern="0" dirty="0">
                <a:solidFill>
                  <a:srgbClr val="A3AEBB"/>
                </a:solidFill>
                <a:latin typeface="Calibri" pitchFamily="34" charset="0"/>
                <a:ea typeface="Calibri" pitchFamily="34" charset="-122"/>
                <a:cs typeface="Calibri" pitchFamily="34" charset="-120"/>
              </a:rPr>
              <a:t>IN THE REPOSITORY</a:t>
            </a:r>
            <a:endParaRPr lang="en-US" sz="950" dirty="0"/>
          </a:p>
        </p:txBody>
      </p:sp>
      <p:sp>
        <p:nvSpPr>
          <p:cNvPr id="10" name="Text 7"/>
          <p:cNvSpPr txBox="1"/>
          <p:nvPr/>
        </p:nvSpPr>
        <p:spPr>
          <a:xfrm>
            <a:off x="640080" y="1783080"/>
            <a:ext cx="5120640" cy="4434840"/>
          </a:xfrm>
          <a:prstGeom prst="rect">
            <a:avLst/>
          </a:prstGeom>
          <a:noFill/>
          <a:ln/>
        </p:spPr>
        <p:txBody>
          <a:bodyPr wrap="square" lIns="0" tIns="0" rIns="0" bIns="0" rtlCol="0" anchor="t"/>
          <a:lstStyle/>
          <a:p>
            <a:pPr indent="0" marL="0">
              <a:lnSpc>
                <a:spcPct val="120000"/>
              </a:lnSpc>
              <a:buNone/>
            </a:pPr>
            <a:r>
              <a:rPr lang="en-US" sz="1200" dirty="0">
                <a:solidFill>
                  <a:srgbClr val="EEF1F4"/>
                </a:solidFill>
                <a:latin typeface="Courier New" pitchFamily="34" charset="0"/>
                <a:ea typeface="Courier New" pitchFamily="34" charset="-122"/>
                <a:cs typeface="Courier New" pitchFamily="34" charset="-120"/>
              </a:rPr>
              <a:t>CLAUDE.md  → read the architecture first</a:t>
            </a:r>
            <a:endParaRPr lang="en-US" sz="1200" dirty="0"/>
          </a:p>
          <a:p>
            <a:pPr indent="0" marL="0">
              <a:lnSpc>
                <a:spcPct val="120000"/>
              </a:lnSpc>
              <a:buNone/>
            </a:pPr>
            <a:r>
              <a:rPr lang="en-US" sz="1200" dirty="0">
                <a:solidFill>
                  <a:srgbClr val="EEF1F4"/>
                </a:solidFill>
                <a:latin typeface="Courier New" pitchFamily="34" charset="0"/>
                <a:ea typeface="Courier New" pitchFamily="34" charset="-122"/>
                <a:cs typeface="Courier New" pitchFamily="34" charset="-120"/>
              </a:rPr>
              <a:t>docs/</a:t>
            </a:r>
            <a:endParaRPr lang="en-US" sz="1200" dirty="0"/>
          </a:p>
          <a:p>
            <a:pPr indent="0" marL="0">
              <a:lnSpc>
                <a:spcPct val="120000"/>
              </a:lnSpc>
              <a:buNone/>
            </a:pPr>
            <a:r>
              <a:rPr lang="en-US" sz="1200" dirty="0">
                <a:solidFill>
                  <a:srgbClr val="EEF1F4"/>
                </a:solidFill>
                <a:latin typeface="Courier New" pitchFamily="34" charset="0"/>
                <a:ea typeface="Courier New" pitchFamily="34" charset="-122"/>
                <a:cs typeface="Courier New" pitchFamily="34" charset="-120"/>
              </a:rPr>
              <a:t>  STACK-D-ARCHITECTURE.md</a:t>
            </a:r>
            <a:endParaRPr lang="en-US" sz="1200" dirty="0"/>
          </a:p>
          <a:p>
            <a:pPr indent="0" marL="0">
              <a:lnSpc>
                <a:spcPct val="120000"/>
              </a:lnSpc>
              <a:buNone/>
            </a:pPr>
            <a:r>
              <a:rPr lang="en-US" sz="1200" dirty="0">
                <a:solidFill>
                  <a:srgbClr val="EEF1F4"/>
                </a:solidFill>
                <a:latin typeface="Courier New" pitchFamily="34" charset="0"/>
                <a:ea typeface="Courier New" pitchFamily="34" charset="-122"/>
                <a:cs typeface="Courier New" pitchFamily="34" charset="-120"/>
              </a:rPr>
              <a:t>    1 Market data &amp; chart</a:t>
            </a:r>
            <a:endParaRPr lang="en-US" sz="1200" dirty="0"/>
          </a:p>
          <a:p>
            <a:pPr indent="0" marL="0">
              <a:lnSpc>
                <a:spcPct val="120000"/>
              </a:lnSpc>
              <a:buNone/>
            </a:pPr>
            <a:r>
              <a:rPr lang="en-US" sz="1200" dirty="0">
                <a:solidFill>
                  <a:srgbClr val="EEF1F4"/>
                </a:solidFill>
                <a:latin typeface="Courier New" pitchFamily="34" charset="0"/>
                <a:ea typeface="Courier New" pitchFamily="34" charset="-122"/>
                <a:cs typeface="Courier New" pitchFamily="34" charset="-120"/>
              </a:rPr>
              <a:t>    2 Sensors (MCDs)</a:t>
            </a:r>
            <a:endParaRPr lang="en-US" sz="1200" dirty="0"/>
          </a:p>
          <a:p>
            <a:pPr indent="0" marL="0">
              <a:lnSpc>
                <a:spcPct val="120000"/>
              </a:lnSpc>
              <a:buNone/>
            </a:pPr>
            <a:r>
              <a:rPr lang="en-US" sz="1200" dirty="0">
                <a:solidFill>
                  <a:srgbClr val="EEF1F4"/>
                </a:solidFill>
                <a:latin typeface="Courier New" pitchFamily="34" charset="0"/>
                <a:ea typeface="Courier New" pitchFamily="34" charset="-122"/>
                <a:cs typeface="Courier New" pitchFamily="34" charset="-120"/>
              </a:rPr>
              <a:t>    3 Synthesis &amp; entry zones</a:t>
            </a:r>
            <a:endParaRPr lang="en-US" sz="1200" dirty="0"/>
          </a:p>
          <a:p>
            <a:pPr indent="0" marL="0">
              <a:lnSpc>
                <a:spcPct val="120000"/>
              </a:lnSpc>
              <a:buNone/>
            </a:pPr>
            <a:r>
              <a:rPr lang="en-US" sz="1200" dirty="0">
                <a:solidFill>
                  <a:srgbClr val="EEF1F4"/>
                </a:solidFill>
                <a:latin typeface="Courier New" pitchFamily="34" charset="0"/>
                <a:ea typeface="Courier New" pitchFamily="34" charset="-122"/>
                <a:cs typeface="Courier New" pitchFamily="34" charset="-120"/>
              </a:rPr>
              <a:t>    4 Intake, routing &amp; knowledge</a:t>
            </a:r>
            <a:endParaRPr lang="en-US" sz="1200" dirty="0"/>
          </a:p>
          <a:p>
            <a:pPr indent="0" marL="0">
              <a:lnSpc>
                <a:spcPct val="120000"/>
              </a:lnSpc>
              <a:buNone/>
            </a:pPr>
            <a:r>
              <a:rPr lang="en-US" sz="1200" dirty="0">
                <a:solidFill>
                  <a:srgbClr val="EEF1F4"/>
                </a:solidFill>
                <a:latin typeface="Courier New" pitchFamily="34" charset="0"/>
                <a:ea typeface="Courier New" pitchFamily="34" charset="-122"/>
                <a:cs typeface="Courier New" pitchFamily="34" charset="-120"/>
              </a:rPr>
              <a:t>    5 Prompt &amp; AI reply</a:t>
            </a:r>
            <a:endParaRPr lang="en-US" sz="1200" dirty="0"/>
          </a:p>
          <a:p>
            <a:pPr indent="0" marL="0">
              <a:lnSpc>
                <a:spcPct val="120000"/>
              </a:lnSpc>
              <a:buNone/>
            </a:pPr>
            <a:r>
              <a:rPr lang="en-US" sz="1200" dirty="0">
                <a:solidFill>
                  <a:srgbClr val="EEF1F4"/>
                </a:solidFill>
                <a:latin typeface="Courier New" pitchFamily="34" charset="0"/>
                <a:ea typeface="Courier New" pitchFamily="34" charset="-122"/>
                <a:cs typeface="Courier New" pitchFamily="34" charset="-120"/>
              </a:rPr>
              <a:t>    6 Engine 4 &amp; Report 2</a:t>
            </a:r>
            <a:endParaRPr lang="en-US" sz="1200" dirty="0"/>
          </a:p>
          <a:p>
            <a:pPr indent="0" marL="0">
              <a:lnSpc>
                <a:spcPct val="120000"/>
              </a:lnSpc>
              <a:buNone/>
            </a:pPr>
            <a:r>
              <a:rPr lang="en-US" sz="1200" dirty="0">
                <a:solidFill>
                  <a:srgbClr val="EEF1F4"/>
                </a:solidFill>
                <a:latin typeface="Courier New" pitchFamily="34" charset="0"/>
                <a:ea typeface="Courier New" pitchFamily="34" charset="-122"/>
                <a:cs typeface="Courier New" pitchFamily="34" charset="-120"/>
              </a:rPr>
              <a:t>    7 Platform &amp; governance</a:t>
            </a:r>
            <a:endParaRPr lang="en-US" sz="1200" dirty="0"/>
          </a:p>
          <a:p>
            <a:pPr indent="0" marL="0">
              <a:lnSpc>
                <a:spcPct val="120000"/>
              </a:lnSpc>
              <a:buNone/>
            </a:pPr>
            <a:r>
              <a:rPr lang="en-US" sz="1200" dirty="0">
                <a:solidFill>
                  <a:srgbClr val="EEF1F4"/>
                </a:solidFill>
                <a:latin typeface="Courier New" pitchFamily="34" charset="0"/>
                <a:ea typeface="Courier New" pitchFamily="34" charset="-122"/>
                <a:cs typeface="Courier New" pitchFamily="34" charset="-120"/>
              </a:rPr>
              <a:t>  adr/</a:t>
            </a:r>
            <a:endParaRPr lang="en-US" sz="1200" dirty="0"/>
          </a:p>
          <a:p>
            <a:pPr indent="0" marL="0">
              <a:lnSpc>
                <a:spcPct val="120000"/>
              </a:lnSpc>
              <a:buNone/>
            </a:pPr>
            <a:r>
              <a:rPr lang="en-US" sz="1200" dirty="0">
                <a:solidFill>
                  <a:srgbClr val="EEF1F4"/>
                </a:solidFill>
                <a:latin typeface="Courier New" pitchFamily="34" charset="0"/>
                <a:ea typeface="Courier New" pitchFamily="34" charset="-122"/>
                <a:cs typeface="Courier New" pitchFamily="34" charset="-120"/>
              </a:rPr>
              <a:t>    001-retire-engine-1-5c.md</a:t>
            </a:r>
            <a:endParaRPr lang="en-US" sz="1200" dirty="0"/>
          </a:p>
          <a:p>
            <a:pPr indent="0" marL="0">
              <a:lnSpc>
                <a:spcPct val="120000"/>
              </a:lnSpc>
              <a:buNone/>
            </a:pPr>
            <a:r>
              <a:rPr lang="en-US" sz="1200" dirty="0">
                <a:solidFill>
                  <a:srgbClr val="EEF1F4"/>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EEF1F4"/>
                </a:solidFill>
                <a:latin typeface="Courier New" pitchFamily="34" charset="0"/>
                <a:ea typeface="Courier New" pitchFamily="34" charset="-122"/>
                <a:cs typeface="Courier New" pitchFamily="34" charset="-120"/>
              </a:rPr>
              <a:t>    069-consent-record.md</a:t>
            </a:r>
            <a:endParaRPr lang="en-US" sz="1200" dirty="0"/>
          </a:p>
          <a:p>
            <a:pPr indent="0" marL="0">
              <a:lnSpc>
                <a:spcPct val="120000"/>
              </a:lnSpc>
              <a:buNone/>
            </a:pPr>
            <a:r>
              <a:rPr lang="en-US" sz="1200" dirty="0">
                <a:solidFill>
                  <a:srgbClr val="EEF1F4"/>
                </a:solidFill>
                <a:latin typeface="Courier New" pitchFamily="34" charset="0"/>
                <a:ea typeface="Courier New" pitchFamily="34" charset="-122"/>
                <a:cs typeface="Courier New" pitchFamily="34" charset="-120"/>
              </a:rPr>
              <a:t>files A–I  → SUPERSEDED banner</a:t>
            </a:r>
            <a:endParaRPr lang="en-US" sz="1200" dirty="0"/>
          </a:p>
        </p:txBody>
      </p:sp>
      <p:sp>
        <p:nvSpPr>
          <p:cNvPr id="11" name="Text 8"/>
          <p:cNvSpPr txBox="1"/>
          <p:nvPr/>
        </p:nvSpPr>
        <p:spPr>
          <a:xfrm>
            <a:off x="6126480" y="1325880"/>
            <a:ext cx="5577840" cy="256032"/>
          </a:xfrm>
          <a:prstGeom prst="rect">
            <a:avLst/>
          </a:prstGeom>
          <a:noFill/>
          <a:ln/>
        </p:spPr>
        <p:txBody>
          <a:bodyPr wrap="square" lIns="0" tIns="0" rIns="0" bIns="0" rtlCol="0" anchor="t"/>
          <a:lstStyle/>
          <a:p>
            <a:pPr indent="0" marL="0">
              <a:buNone/>
            </a:pPr>
            <a:r>
              <a:rPr lang="en-US" sz="950" b="1" spc="150" kern="0" dirty="0">
                <a:solidFill>
                  <a:srgbClr val="E2B54E"/>
                </a:solidFill>
                <a:latin typeface="Calibri" pitchFamily="34" charset="0"/>
                <a:ea typeface="Calibri" pitchFamily="34" charset="-122"/>
                <a:cs typeface="Calibri" pitchFamily="34" charset="-120"/>
              </a:rPr>
              <a:t>NAMES BY FUNCTION · OLD NUMBERS KEPT AS ALIASES</a:t>
            </a:r>
            <a:endParaRPr lang="en-US" sz="9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126480" y="1645920"/>
          <a:ext cx="5605272" cy="914400"/>
        </p:xfrm>
        <a:graphic>
          <a:graphicData uri="http://schemas.openxmlformats.org/drawingml/2006/table">
            <a:tbl>
              <a:tblPr/>
              <a:tblGrid>
                <a:gridCol w="2743200"/>
                <a:gridCol w="2862072"/>
              </a:tblGrid>
              <a:tr h="310896">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Was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Becomes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r>
              <a:tr h="384048">
                <a:tc>
                  <a:txBody>
                    <a:bodyPr/>
                    <a:lstStyle/>
                    <a:p>
                      <a:pPr indent="0" marL="0">
                        <a:buNone/>
                      </a:pPr>
                      <a:r>
                        <a:rPr lang="en-US" sz="1150" dirty="0">
                          <a:solidFill>
                            <a:srgbClr val="A3AEBB"/>
                          </a:solidFill>
                          <a:latin typeface="Calibri" pitchFamily="34" charset="0"/>
                          <a:ea typeface="Calibri" pitchFamily="34" charset="-122"/>
                          <a:cs typeface="Calibri" pitchFamily="34" charset="-120"/>
                        </a:rPr>
                        <a:t>Engine 1</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50" b="1" dirty="0">
                          <a:solidFill>
                            <a:srgbClr val="EEF1F4"/>
                          </a:solidFill>
                          <a:latin typeface="Calibri" pitchFamily="34" charset="0"/>
                          <a:ea typeface="Calibri" pitchFamily="34" charset="-122"/>
                          <a:cs typeface="Calibri" pitchFamily="34" charset="-120"/>
                        </a:rPr>
                        <a:t>Market data</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84048">
                <a:tc>
                  <a:txBody>
                    <a:bodyPr/>
                    <a:lstStyle/>
                    <a:p>
                      <a:pPr indent="0" marL="0">
                        <a:buNone/>
                      </a:pPr>
                      <a:r>
                        <a:rPr lang="en-US" sz="1150" dirty="0">
                          <a:solidFill>
                            <a:srgbClr val="A3AEBB"/>
                          </a:solidFill>
                          <a:latin typeface="Calibri" pitchFamily="34" charset="0"/>
                          <a:ea typeface="Calibri" pitchFamily="34" charset="-122"/>
                          <a:cs typeface="Calibri" pitchFamily="34" charset="-120"/>
                        </a:rPr>
                        <a:t>Engine 1.5A + 4-Quadrant gate</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50" b="1" dirty="0">
                          <a:solidFill>
                            <a:srgbClr val="EEF1F4"/>
                          </a:solidFill>
                          <a:latin typeface="Calibri" pitchFamily="34" charset="0"/>
                          <a:ea typeface="Calibri" pitchFamily="34" charset="-122"/>
                          <a:cs typeface="Calibri" pitchFamily="34" charset="-120"/>
                        </a:rPr>
                        <a:t>Sensors (MCD0–MCD15)</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84048">
                <a:tc>
                  <a:txBody>
                    <a:bodyPr/>
                    <a:lstStyle/>
                    <a:p>
                      <a:pPr indent="0" marL="0">
                        <a:buNone/>
                      </a:pPr>
                      <a:r>
                        <a:rPr lang="en-US" sz="1150" dirty="0">
                          <a:solidFill>
                            <a:srgbClr val="A3AEBB"/>
                          </a:solidFill>
                          <a:latin typeface="Calibri" pitchFamily="34" charset="0"/>
                          <a:ea typeface="Calibri" pitchFamily="34" charset="-122"/>
                          <a:cs typeface="Calibri" pitchFamily="34" charset="-120"/>
                        </a:rPr>
                        <a:t>— new</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50" b="1" dirty="0">
                          <a:solidFill>
                            <a:srgbClr val="EEF1F4"/>
                          </a:solidFill>
                          <a:latin typeface="Calibri" pitchFamily="34" charset="0"/>
                          <a:ea typeface="Calibri" pitchFamily="34" charset="-122"/>
                          <a:cs typeface="Calibri" pitchFamily="34" charset="-120"/>
                        </a:rPr>
                        <a:t>Synthesis</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84048">
                <a:tc>
                  <a:txBody>
                    <a:bodyPr/>
                    <a:lstStyle/>
                    <a:p>
                      <a:pPr indent="0" marL="0">
                        <a:buNone/>
                      </a:pPr>
                      <a:r>
                        <a:rPr lang="en-US" sz="1150" dirty="0">
                          <a:solidFill>
                            <a:srgbClr val="A3AEBB"/>
                          </a:solidFill>
                          <a:latin typeface="Calibri" pitchFamily="34" charset="0"/>
                          <a:ea typeface="Calibri" pitchFamily="34" charset="-122"/>
                          <a:cs typeface="Calibri" pitchFamily="34" charset="-120"/>
                        </a:rPr>
                        <a:t>Engine 1.5E</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50" b="1" dirty="0">
                          <a:solidFill>
                            <a:srgbClr val="EEF1F4"/>
                          </a:solidFill>
                          <a:latin typeface="Calibri" pitchFamily="34" charset="0"/>
                          <a:ea typeface="Calibri" pitchFamily="34" charset="-122"/>
                          <a:cs typeface="Calibri" pitchFamily="34" charset="-120"/>
                        </a:rPr>
                        <a:t>Router</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84048">
                <a:tc>
                  <a:txBody>
                    <a:bodyPr/>
                    <a:lstStyle/>
                    <a:p>
                      <a:pPr indent="0" marL="0">
                        <a:buNone/>
                      </a:pPr>
                      <a:r>
                        <a:rPr lang="en-US" sz="1150" dirty="0">
                          <a:solidFill>
                            <a:srgbClr val="A3AEBB"/>
                          </a:solidFill>
                          <a:latin typeface="Calibri" pitchFamily="34" charset="0"/>
                          <a:ea typeface="Calibri" pitchFamily="34" charset="-122"/>
                          <a:cs typeface="Calibri" pitchFamily="34" charset="-120"/>
                        </a:rPr>
                        <a:t>Engine 2</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50" b="1" dirty="0">
                          <a:solidFill>
                            <a:srgbClr val="EEF1F4"/>
                          </a:solidFill>
                          <a:latin typeface="Calibri" pitchFamily="34" charset="0"/>
                          <a:ea typeface="Calibri" pitchFamily="34" charset="-122"/>
                          <a:cs typeface="Calibri" pitchFamily="34" charset="-120"/>
                        </a:rPr>
                        <a:t>Knowledge</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84048">
                <a:tc>
                  <a:txBody>
                    <a:bodyPr/>
                    <a:lstStyle/>
                    <a:p>
                      <a:pPr indent="0" marL="0">
                        <a:buNone/>
                      </a:pPr>
                      <a:r>
                        <a:rPr lang="en-US" sz="1150" dirty="0">
                          <a:solidFill>
                            <a:srgbClr val="A3AEBB"/>
                          </a:solidFill>
                          <a:latin typeface="Calibri" pitchFamily="34" charset="0"/>
                          <a:ea typeface="Calibri" pitchFamily="34" charset="-122"/>
                          <a:cs typeface="Calibri" pitchFamily="34" charset="-120"/>
                        </a:rPr>
                        <a:t>Engine 3</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50" b="1" dirty="0">
                          <a:solidFill>
                            <a:srgbClr val="EEF1F4"/>
                          </a:solidFill>
                          <a:latin typeface="Calibri" pitchFamily="34" charset="0"/>
                          <a:ea typeface="Calibri" pitchFamily="34" charset="-122"/>
                          <a:cs typeface="Calibri" pitchFamily="34" charset="-120"/>
                        </a:rPr>
                        <a:t>Chart</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84048">
                <a:tc>
                  <a:txBody>
                    <a:bodyPr/>
                    <a:lstStyle/>
                    <a:p>
                      <a:pPr indent="0" marL="0">
                        <a:buNone/>
                      </a:pPr>
                      <a:r>
                        <a:rPr lang="en-US" sz="1150" dirty="0">
                          <a:solidFill>
                            <a:srgbClr val="A3AEBB"/>
                          </a:solidFill>
                          <a:latin typeface="Calibri" pitchFamily="34" charset="0"/>
                          <a:ea typeface="Calibri" pitchFamily="34" charset="-122"/>
                          <a:cs typeface="Calibri" pitchFamily="34" charset="-120"/>
                        </a:rPr>
                        <a:t>— new</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50" b="1" dirty="0">
                          <a:solidFill>
                            <a:srgbClr val="EEF1F4"/>
                          </a:solidFill>
                          <a:latin typeface="Calibri" pitchFamily="34" charset="0"/>
                          <a:ea typeface="Calibri" pitchFamily="34" charset="-122"/>
                          <a:cs typeface="Calibri" pitchFamily="34" charset="-120"/>
                        </a:rPr>
                        <a:t>Reply (Report 1)</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84048">
                <a:tc>
                  <a:txBody>
                    <a:bodyPr/>
                    <a:lstStyle/>
                    <a:p>
                      <a:pPr indent="0" marL="0">
                        <a:buNone/>
                      </a:pPr>
                      <a:r>
                        <a:rPr lang="en-US" sz="1150" dirty="0">
                          <a:solidFill>
                            <a:srgbClr val="A3AEBB"/>
                          </a:solidFill>
                          <a:latin typeface="Calibri" pitchFamily="34" charset="0"/>
                          <a:ea typeface="Calibri" pitchFamily="34" charset="-122"/>
                          <a:cs typeface="Calibri" pitchFamily="34" charset="-120"/>
                        </a:rPr>
                        <a:t>Engine 4</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50" b="1" dirty="0">
                          <a:solidFill>
                            <a:srgbClr val="EEF1F4"/>
                          </a:solidFill>
                          <a:latin typeface="Calibri" pitchFamily="34" charset="0"/>
                          <a:ea typeface="Calibri" pitchFamily="34" charset="-122"/>
                          <a:cs typeface="Calibri" pitchFamily="34" charset="-120"/>
                        </a:rPr>
                        <a:t>Risk (Report 2)</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84048">
                <a:tc>
                  <a:txBody>
                    <a:bodyPr/>
                    <a:lstStyle/>
                    <a:p>
                      <a:pPr indent="0" marL="0">
                        <a:buNone/>
                      </a:pPr>
                      <a:r>
                        <a:rPr lang="en-US" sz="1150" dirty="0">
                          <a:solidFill>
                            <a:srgbClr val="A3AEBB"/>
                          </a:solidFill>
                          <a:latin typeface="Calibri" pitchFamily="34" charset="0"/>
                          <a:ea typeface="Calibri" pitchFamily="34" charset="-122"/>
                          <a:cs typeface="Calibri" pitchFamily="34" charset="-120"/>
                        </a:rPr>
                        <a:t>Engines 1.5B, 1.5C</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50" b="1" dirty="0">
                          <a:solidFill>
                            <a:srgbClr val="E5746A"/>
                          </a:solidFill>
                          <a:latin typeface="Calibri" pitchFamily="34" charset="0"/>
                          <a:ea typeface="Calibri" pitchFamily="34" charset="-122"/>
                          <a:cs typeface="Calibri" pitchFamily="34" charset="-120"/>
                        </a:rPr>
                        <a:t>Retired</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bl>
          </a:graphicData>
        </a:graphic>
      </p:graphicFrame>
      <p:sp>
        <p:nvSpPr>
          <p:cNvPr id="13" name="Text 9"/>
          <p:cNvSpPr txBox="1"/>
          <p:nvPr/>
        </p:nvSpPr>
        <p:spPr>
          <a:xfrm>
            <a:off x="6126480" y="5577840"/>
            <a:ext cx="5605272" cy="548640"/>
          </a:xfrm>
          <a:prstGeom prst="rect">
            <a:avLst/>
          </a:prstGeom>
          <a:noFill/>
          <a:ln/>
        </p:spPr>
        <p:txBody>
          <a:bodyPr wrap="square" lIns="0" tIns="0" rIns="0" bIns="0" rtlCol="0" anchor="t"/>
          <a:lstStyle/>
          <a:p>
            <a:pPr indent="0" marL="0">
              <a:buNone/>
            </a:pPr>
            <a:r>
              <a:rPr lang="en-US" sz="1150" b="1" dirty="0">
                <a:solidFill>
                  <a:srgbClr val="E2B54E"/>
                </a:solidFill>
                <a:latin typeface="Calibri" pitchFamily="34" charset="0"/>
                <a:ea typeface="Calibri" pitchFamily="34" charset="-122"/>
                <a:cs typeface="Calibri" pitchFamily="34" charset="-120"/>
              </a:rPr>
              <a:t>One home per fact: a rule lives in one chapter and is referenced, never restated.</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B7A3E0"/>
          </a:solidFill>
          <a:ln w="15875">
            <a:solidFill>
              <a:srgbClr val="B7A3E0"/>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7</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7 · PLATFORM &amp; GOVERNANCE · ENTITLEMENTS (G2)</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One table decides what each tier gets</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7</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914400"/>
        </p:xfrm>
        <a:graphic>
          <a:graphicData uri="http://schemas.openxmlformats.org/drawingml/2006/table">
            <a:tbl>
              <a:tblPr/>
              <a:tblGrid>
                <a:gridCol w="3291840"/>
                <a:gridCol w="1737360"/>
                <a:gridCol w="2240280"/>
                <a:gridCol w="4005072"/>
              </a:tblGrid>
              <a:tr h="329184">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Feature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algn="ctr" indent="0" marL="0">
                        <a:buNone/>
                      </a:pPr>
                      <a:r>
                        <a:rPr lang="en-US" sz="1050" b="1" dirty="0">
                          <a:solidFill>
                            <a:srgbClr val="E2B54E"/>
                          </a:solidFill>
                          <a:latin typeface="Calibri" pitchFamily="34" charset="0"/>
                          <a:ea typeface="Calibri" pitchFamily="34" charset="-122"/>
                          <a:cs typeface="Calibri" pitchFamily="34" charset="-120"/>
                        </a:rPr>
                        <a:t>Free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algn="ctr" indent="0" marL="0">
                        <a:buNone/>
                      </a:pPr>
                      <a:r>
                        <a:rPr lang="en-US" sz="1050" b="1" dirty="0">
                          <a:solidFill>
                            <a:srgbClr val="E2B54E"/>
                          </a:solidFill>
                          <a:latin typeface="Calibri" pitchFamily="34" charset="0"/>
                          <a:ea typeface="Calibri" pitchFamily="34" charset="-122"/>
                          <a:cs typeface="Calibri" pitchFamily="34" charset="-120"/>
                        </a:rPr>
                        <a:t>Pro</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Sources today</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r>
              <a:tr h="438912">
                <a:tc>
                  <a:txBody>
                    <a:bodyPr/>
                    <a:lstStyle/>
                    <a:p>
                      <a:pPr indent="0" marL="0">
                        <a:buNone/>
                      </a:pPr>
                      <a:r>
                        <a:rPr lang="en-US" sz="1150" b="1" dirty="0">
                          <a:solidFill>
                            <a:srgbClr val="EEF1F4"/>
                          </a:solidFill>
                          <a:latin typeface="Calibri" pitchFamily="34" charset="0"/>
                          <a:ea typeface="Calibri" pitchFamily="34" charset="-122"/>
                          <a:cs typeface="Calibri" pitchFamily="34" charset="-120"/>
                        </a:rPr>
                        <a:t>AI chat and Report 1</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50" dirty="0">
                          <a:solidFill>
                            <a:srgbClr val="F0A54A"/>
                          </a:solidFill>
                          <a:latin typeface="Calibri" pitchFamily="34" charset="0"/>
                          <a:ea typeface="Calibri" pitchFamily="34" charset="-122"/>
                          <a:cs typeface="Calibri" pitchFamily="34" charset="-120"/>
                        </a:rPr>
                        <a:t>Recorded demo</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50" b="1" dirty="0">
                          <a:solidFill>
                            <a:srgbClr val="5CC2B2"/>
                          </a:solidFill>
                          <a:latin typeface="Calibri" pitchFamily="34" charset="0"/>
                          <a:ea typeface="Calibri" pitchFamily="34" charset="-122"/>
                          <a:cs typeface="Calibri" pitchFamily="34" charset="-120"/>
                        </a:rPr>
                        <a:t>Yes, monthly units</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50" dirty="0">
                          <a:solidFill>
                            <a:srgbClr val="A3AEBB"/>
                          </a:solidFill>
                          <a:latin typeface="Calibri" pitchFamily="34" charset="0"/>
                          <a:ea typeface="Calibri" pitchFamily="34" charset="-122"/>
                          <a:cs typeface="Calibri" pitchFamily="34" charset="-120"/>
                        </a:rPr>
                        <a:t>A, deployed UI: PRO · D: 50k · I: 20 a day</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38912">
                <a:tc>
                  <a:txBody>
                    <a:bodyPr/>
                    <a:lstStyle/>
                    <a:p>
                      <a:pPr indent="0" marL="0">
                        <a:buNone/>
                      </a:pPr>
                      <a:r>
                        <a:rPr lang="en-US" sz="1150" b="1" dirty="0">
                          <a:solidFill>
                            <a:srgbClr val="EEF1F4"/>
                          </a:solidFill>
                          <a:latin typeface="Calibri" pitchFamily="34" charset="0"/>
                          <a:ea typeface="Calibri" pitchFamily="34" charset="-122"/>
                          <a:cs typeface="Calibri" pitchFamily="34" charset="-120"/>
                        </a:rPr>
                        <a:t>Report 2 (trade setup)</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150" dirty="0">
                          <a:solidFill>
                            <a:srgbClr val="6E7A88"/>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150" b="1" dirty="0">
                          <a:solidFill>
                            <a:srgbClr val="5CC2B2"/>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50" dirty="0">
                          <a:solidFill>
                            <a:srgbClr val="A3AEBB"/>
                          </a:solidFill>
                          <a:latin typeface="Calibri" pitchFamily="34" charset="0"/>
                          <a:ea typeface="Calibri" pitchFamily="34" charset="-122"/>
                          <a:cs typeface="Calibri" pitchFamily="34" charset="-120"/>
                        </a:rPr>
                        <a:t>Not tiered in G</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438912">
                <a:tc>
                  <a:txBody>
                    <a:bodyPr/>
                    <a:lstStyle/>
                    <a:p>
                      <a:pPr indent="0" marL="0">
                        <a:buNone/>
                      </a:pPr>
                      <a:r>
                        <a:rPr lang="en-US" sz="1150" b="1" dirty="0">
                          <a:solidFill>
                            <a:srgbClr val="EEF1F4"/>
                          </a:solidFill>
                          <a:latin typeface="Calibri" pitchFamily="34" charset="0"/>
                          <a:ea typeface="Calibri" pitchFamily="34" charset="-122"/>
                          <a:cs typeface="Calibri" pitchFamily="34" charset="-120"/>
                        </a:rPr>
                        <a:t>Chart image sent to the model</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50" dirty="0">
                          <a:solidFill>
                            <a:srgbClr val="6E7A88"/>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50" b="1" dirty="0">
                          <a:solidFill>
                            <a:srgbClr val="5CC2B2"/>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50" dirty="0">
                          <a:solidFill>
                            <a:srgbClr val="A3AEBB"/>
                          </a:solidFill>
                          <a:latin typeface="Calibri" pitchFamily="34" charset="0"/>
                          <a:ea typeface="Calibri" pitchFamily="34" charset="-122"/>
                          <a:cs typeface="Calibri" pitchFamily="34" charset="-120"/>
                        </a:rPr>
                        <a:t>D §10: PRO only</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38912">
                <a:tc>
                  <a:txBody>
                    <a:bodyPr/>
                    <a:lstStyle/>
                    <a:p>
                      <a:pPr indent="0" marL="0">
                        <a:buNone/>
                      </a:pPr>
                      <a:r>
                        <a:rPr lang="en-US" sz="1150" b="1" dirty="0">
                          <a:solidFill>
                            <a:srgbClr val="EEF1F4"/>
                          </a:solidFill>
                          <a:latin typeface="Calibri" pitchFamily="34" charset="0"/>
                          <a:ea typeface="Calibri" pitchFamily="34" charset="-122"/>
                          <a:cs typeface="Calibri" pitchFamily="34" charset="-120"/>
                        </a:rPr>
                        <a:t>Chart download · M5-on-M15 overlay</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150" dirty="0">
                          <a:solidFill>
                            <a:srgbClr val="6E7A88"/>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150" b="1" dirty="0">
                          <a:solidFill>
                            <a:srgbClr val="5CC2B2"/>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50" dirty="0">
                          <a:solidFill>
                            <a:srgbClr val="A3AEBB"/>
                          </a:solidFill>
                          <a:latin typeface="Calibri" pitchFamily="34" charset="0"/>
                          <a:ea typeface="Calibri" pitchFamily="34" charset="-122"/>
                          <a:cs typeface="Calibri" pitchFamily="34" charset="-120"/>
                        </a:rPr>
                        <a:t>R2 manifest: Free refused</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438912">
                <a:tc>
                  <a:txBody>
                    <a:bodyPr/>
                    <a:lstStyle/>
                    <a:p>
                      <a:pPr indent="0" marL="0">
                        <a:buNone/>
                      </a:pPr>
                      <a:r>
                        <a:rPr lang="en-US" sz="1150" b="1" dirty="0">
                          <a:solidFill>
                            <a:srgbClr val="EEF1F4"/>
                          </a:solidFill>
                          <a:latin typeface="Calibri" pitchFamily="34" charset="0"/>
                          <a:ea typeface="Calibri" pitchFamily="34" charset="-122"/>
                          <a:cs typeface="Calibri" pitchFamily="34" charset="-120"/>
                        </a:rPr>
                        <a:t>Session clock and news countdown</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50" dirty="0">
                          <a:solidFill>
                            <a:srgbClr val="6E7A88"/>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50" b="1" dirty="0">
                          <a:solidFill>
                            <a:srgbClr val="5CC2B2"/>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50" dirty="0">
                          <a:solidFill>
                            <a:srgbClr val="A3AEBB"/>
                          </a:solidFill>
                          <a:latin typeface="Calibri" pitchFamily="34" charset="0"/>
                          <a:ea typeface="Calibri" pitchFamily="34" charset="-122"/>
                          <a:cs typeface="Calibri" pitchFamily="34" charset="-120"/>
                        </a:rPr>
                        <a:t>Seed /free page; news manifest</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38912">
                <a:tc>
                  <a:txBody>
                    <a:bodyPr/>
                    <a:lstStyle/>
                    <a:p>
                      <a:pPr indent="0" marL="0">
                        <a:buNone/>
                      </a:pPr>
                      <a:r>
                        <a:rPr lang="en-US" sz="1150" b="1" dirty="0">
                          <a:solidFill>
                            <a:srgbClr val="EEF1F4"/>
                          </a:solidFill>
                          <a:latin typeface="Calibri" pitchFamily="34" charset="0"/>
                          <a:ea typeface="Calibri" pitchFamily="34" charset="-122"/>
                          <a:cs typeface="Calibri" pitchFamily="34" charset="-120"/>
                        </a:rPr>
                        <a:t>Model choice</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150" dirty="0">
                          <a:solidFill>
                            <a:srgbClr val="6E7A88"/>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150" b="1" dirty="0">
                          <a:solidFill>
                            <a:srgbClr val="5CC2B2"/>
                          </a:solidFill>
                          <a:latin typeface="Calibri" pitchFamily="34" charset="0"/>
                          <a:ea typeface="Calibri" pitchFamily="34" charset="-122"/>
                          <a:cs typeface="Calibri" pitchFamily="34" charset="-120"/>
                        </a:rPr>
                        <a:t>Passed models only</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50" dirty="0">
                          <a:solidFill>
                            <a:srgbClr val="A3AEBB"/>
                          </a:solidFill>
                          <a:latin typeface="Calibri" pitchFamily="34" charset="0"/>
                          <a:ea typeface="Calibri" pitchFamily="34" charset="-122"/>
                          <a:cs typeface="Calibri" pitchFamily="34" charset="-120"/>
                        </a:rPr>
                        <a:t>D §7: six models (decision 055)</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438912">
                <a:tc>
                  <a:txBody>
                    <a:bodyPr/>
                    <a:lstStyle/>
                    <a:p>
                      <a:pPr indent="0" marL="0">
                        <a:buNone/>
                      </a:pPr>
                      <a:r>
                        <a:rPr lang="en-US" sz="1150" b="1" dirty="0">
                          <a:solidFill>
                            <a:srgbClr val="EEF1F4"/>
                          </a:solidFill>
                          <a:latin typeface="Calibri" pitchFamily="34" charset="0"/>
                          <a:ea typeface="Calibri" pitchFamily="34" charset="-122"/>
                          <a:cs typeface="Calibri" pitchFamily="34" charset="-120"/>
                        </a:rPr>
                        <a:t>Chat history</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50" dirty="0">
                          <a:solidFill>
                            <a:srgbClr val="6E7A88"/>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50" b="1" dirty="0">
                          <a:solidFill>
                            <a:srgbClr val="5CC2B2"/>
                          </a:solidFill>
                          <a:latin typeface="Calibri" pitchFamily="34" charset="0"/>
                          <a:ea typeface="Calibri" pitchFamily="34" charset="-122"/>
                          <a:cs typeface="Calibri" pitchFamily="34" charset="-120"/>
                        </a:rPr>
                        <a:t>12 months, deletable</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50" dirty="0">
                          <a:solidFill>
                            <a:srgbClr val="A3AEBB"/>
                          </a:solidFill>
                          <a:latin typeface="Calibri" pitchFamily="34" charset="0"/>
                          <a:ea typeface="Calibri" pitchFamily="34" charset="-122"/>
                          <a:cs typeface="Calibri" pitchFamily="34" charset="-120"/>
                        </a:rPr>
                        <a:t>D §3</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bl>
          </a:graphicData>
        </a:graphic>
      </p:graphicFrame>
      <p:sp>
        <p:nvSpPr>
          <p:cNvPr id="9" name="Shape 5"/>
          <p:cNvSpPr/>
          <p:nvPr/>
        </p:nvSpPr>
        <p:spPr>
          <a:xfrm>
            <a:off x="457200" y="4892040"/>
            <a:ext cx="11274552" cy="1389888"/>
          </a:xfrm>
          <a:prstGeom prst="roundRect">
            <a:avLst>
              <a:gd name="adj" fmla="val 4605"/>
            </a:avLst>
          </a:prstGeom>
          <a:solidFill>
            <a:srgbClr val="1D242E"/>
          </a:solidFill>
          <a:ln w="15875">
            <a:solidFill>
              <a:srgbClr val="E2B54E"/>
            </a:solidFill>
            <a:prstDash val="solid"/>
          </a:ln>
        </p:spPr>
      </p:sp>
      <p:sp>
        <p:nvSpPr>
          <p:cNvPr id="10" name="Text 6"/>
          <p:cNvSpPr txBox="1"/>
          <p:nvPr/>
        </p:nvSpPr>
        <p:spPr>
          <a:xfrm>
            <a:off x="640080" y="4983480"/>
            <a:ext cx="7315200" cy="256032"/>
          </a:xfrm>
          <a:prstGeom prst="rect">
            <a:avLst/>
          </a:prstGeom>
          <a:noFill/>
          <a:ln/>
        </p:spPr>
        <p:txBody>
          <a:bodyPr wrap="square" lIns="0" tIns="0" rIns="0" bIns="0" rtlCol="0" anchor="t"/>
          <a:lstStyle/>
          <a:p>
            <a:pPr indent="0" marL="0">
              <a:buNone/>
            </a:pPr>
            <a:r>
              <a:rPr lang="en-US" sz="950" b="1" spc="150" kern="0" dirty="0">
                <a:solidFill>
                  <a:srgbClr val="E2B54E"/>
                </a:solidFill>
                <a:latin typeface="Calibri" pitchFamily="34" charset="0"/>
                <a:ea typeface="Calibri" pitchFamily="34" charset="-122"/>
                <a:cs typeface="Calibri" pitchFamily="34" charset="-120"/>
              </a:rPr>
              <a:t>PRO QUOTA · THE METHOD, NOT A NUMBER</a:t>
            </a:r>
            <a:endParaRPr lang="en-US" sz="950" dirty="0"/>
          </a:p>
        </p:txBody>
      </p:sp>
      <p:sp>
        <p:nvSpPr>
          <p:cNvPr id="11" name="Text 7"/>
          <p:cNvSpPr txBox="1"/>
          <p:nvPr/>
        </p:nvSpPr>
        <p:spPr>
          <a:xfrm>
            <a:off x="640080" y="5303520"/>
            <a:ext cx="10881360" cy="365760"/>
          </a:xfrm>
          <a:prstGeom prst="rect">
            <a:avLst/>
          </a:prstGeom>
          <a:noFill/>
          <a:ln/>
        </p:spPr>
        <p:txBody>
          <a:bodyPr wrap="square" lIns="0" tIns="0" rIns="0" bIns="0" rtlCol="0" anchor="ctr"/>
          <a:lstStyle/>
          <a:p>
            <a:pPr indent="0" marL="0">
              <a:buNone/>
            </a:pPr>
            <a:r>
              <a:rPr lang="en-US" sz="1400" dirty="0">
                <a:solidFill>
                  <a:srgbClr val="A3AEBB"/>
                </a:solidFill>
                <a:latin typeface="Courier New" pitchFamily="34" charset="0"/>
                <a:ea typeface="Courier New" pitchFamily="34" charset="-122"/>
                <a:cs typeface="Courier New" pitchFamily="34" charset="-120"/>
              </a:rPr>
              <a:t>Monthly units  =  </a:t>
            </a:r>
            <a:pPr indent="0" marL="0">
              <a:buNone/>
            </a:pPr>
            <a:r>
              <a:rPr lang="en-US" sz="1400" b="1" dirty="0">
                <a:solidFill>
                  <a:srgbClr val="EEF1F4"/>
                </a:solidFill>
                <a:latin typeface="Courier New" pitchFamily="34" charset="0"/>
                <a:ea typeface="Courier New" pitchFamily="34" charset="-122"/>
                <a:cs typeface="Courier New" pitchFamily="34" charset="-120"/>
              </a:rPr>
              <a:t>(Pro price × share you allow for models) ÷ measured cost per unit</a:t>
            </a:r>
            <a:endParaRPr lang="en-US" sz="1400" dirty="0"/>
          </a:p>
        </p:txBody>
      </p:sp>
      <p:sp>
        <p:nvSpPr>
          <p:cNvPr id="12" name="Text 8"/>
          <p:cNvSpPr txBox="1"/>
          <p:nvPr/>
        </p:nvSpPr>
        <p:spPr>
          <a:xfrm>
            <a:off x="640080" y="5715000"/>
            <a:ext cx="10881360" cy="50292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You set the share; decision 050 supplies the cost. The table lives in config, and the session gate, the chart route, the modal and the picker all read it.</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B7A3E0"/>
          </a:solidFill>
          <a:ln w="15875">
            <a:solidFill>
              <a:srgbClr val="B7A3E0"/>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7</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7 · PLATFORM &amp; GOVERNANCE · TRACE (G3)</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One trace per answer explains why it said what it said</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8</a:t>
            </a:r>
            <a:endParaRPr lang="en-US" sz="1000" dirty="0"/>
          </a:p>
        </p:txBody>
      </p:sp>
      <p:sp>
        <p:nvSpPr>
          <p:cNvPr id="8" name="Shape 5"/>
          <p:cNvSpPr/>
          <p:nvPr/>
        </p:nvSpPr>
        <p:spPr>
          <a:xfrm>
            <a:off x="457200" y="1325880"/>
            <a:ext cx="6949440" cy="621792"/>
          </a:xfrm>
          <a:prstGeom prst="roundRect">
            <a:avLst>
              <a:gd name="adj" fmla="val 10294"/>
            </a:avLst>
          </a:prstGeom>
          <a:solidFill>
            <a:srgbClr val="1D242E"/>
          </a:solidFill>
          <a:ln w="9525">
            <a:solidFill>
              <a:srgbClr val="323C49"/>
            </a:solidFill>
            <a:prstDash val="solid"/>
          </a:ln>
        </p:spPr>
      </p:sp>
      <p:sp>
        <p:nvSpPr>
          <p:cNvPr id="9" name="Text 6"/>
          <p:cNvSpPr txBox="1"/>
          <p:nvPr/>
        </p:nvSpPr>
        <p:spPr>
          <a:xfrm>
            <a:off x="621792" y="1325880"/>
            <a:ext cx="1280160" cy="621792"/>
          </a:xfrm>
          <a:prstGeom prst="rect">
            <a:avLst/>
          </a:prstGeom>
          <a:noFill/>
          <a:ln/>
        </p:spPr>
        <p:txBody>
          <a:bodyPr wrap="square" lIns="0" tIns="0" rIns="0" bIns="0" rtlCol="0" anchor="ctr"/>
          <a:lstStyle/>
          <a:p>
            <a:pPr indent="0" marL="0">
              <a:buNone/>
            </a:pPr>
            <a:r>
              <a:rPr lang="en-US" sz="1250" b="1" dirty="0">
                <a:solidFill>
                  <a:srgbClr val="E2B54E"/>
                </a:solidFill>
                <a:latin typeface="Calibri" pitchFamily="34" charset="0"/>
                <a:ea typeface="Calibri" pitchFamily="34" charset="-122"/>
                <a:cs typeface="Calibri" pitchFamily="34" charset="-120"/>
              </a:rPr>
              <a:t>Request</a:t>
            </a:r>
            <a:endParaRPr lang="en-US" sz="1250" dirty="0"/>
          </a:p>
        </p:txBody>
      </p:sp>
      <p:sp>
        <p:nvSpPr>
          <p:cNvPr id="10" name="Text 7"/>
          <p:cNvSpPr txBox="1"/>
          <p:nvPr/>
        </p:nvSpPr>
        <p:spPr>
          <a:xfrm>
            <a:off x="1920240" y="1325880"/>
            <a:ext cx="5394960" cy="621792"/>
          </a:xfrm>
          <a:prstGeom prst="rect">
            <a:avLst/>
          </a:prstGeom>
          <a:noFill/>
          <a:ln/>
        </p:spPr>
        <p:txBody>
          <a:bodyPr wrap="square" lIns="0" tIns="0" rIns="0" bIns="0" rtlCol="0" anchor="ctr"/>
          <a:lstStyle/>
          <a:p>
            <a:pPr indent="0" marL="0">
              <a:buNone/>
            </a:pPr>
            <a:r>
              <a:rPr lang="en-US" sz="1100" dirty="0">
                <a:solidFill>
                  <a:srgbClr val="EEF1F4"/>
                </a:solidFill>
                <a:latin typeface="Calibri" pitchFamily="34" charset="0"/>
                <a:ea typeface="Calibri" pitchFamily="34" charset="-122"/>
                <a:cs typeface="Calibri" pitchFamily="34" charset="-120"/>
              </a:rPr>
              <a:t>request id · user (hashed after deletion) · tier · language · intent · session</a:t>
            </a:r>
            <a:endParaRPr lang="en-US" sz="1100" dirty="0"/>
          </a:p>
        </p:txBody>
      </p:sp>
      <p:sp>
        <p:nvSpPr>
          <p:cNvPr id="11" name="Shape 8"/>
          <p:cNvSpPr/>
          <p:nvPr/>
        </p:nvSpPr>
        <p:spPr>
          <a:xfrm>
            <a:off x="457200" y="2029968"/>
            <a:ext cx="6949440" cy="621792"/>
          </a:xfrm>
          <a:prstGeom prst="roundRect">
            <a:avLst>
              <a:gd name="adj" fmla="val 10294"/>
            </a:avLst>
          </a:prstGeom>
          <a:solidFill>
            <a:srgbClr val="1D242E"/>
          </a:solidFill>
          <a:ln w="9525">
            <a:solidFill>
              <a:srgbClr val="323C49"/>
            </a:solidFill>
            <a:prstDash val="solid"/>
          </a:ln>
        </p:spPr>
      </p:sp>
      <p:sp>
        <p:nvSpPr>
          <p:cNvPr id="12" name="Text 9"/>
          <p:cNvSpPr txBox="1"/>
          <p:nvPr/>
        </p:nvSpPr>
        <p:spPr>
          <a:xfrm>
            <a:off x="621792" y="2029968"/>
            <a:ext cx="1280160" cy="621792"/>
          </a:xfrm>
          <a:prstGeom prst="rect">
            <a:avLst/>
          </a:prstGeom>
          <a:noFill/>
          <a:ln/>
        </p:spPr>
        <p:txBody>
          <a:bodyPr wrap="square" lIns="0" tIns="0" rIns="0" bIns="0" rtlCol="0" anchor="ctr"/>
          <a:lstStyle/>
          <a:p>
            <a:pPr indent="0" marL="0">
              <a:buNone/>
            </a:pPr>
            <a:r>
              <a:rPr lang="en-US" sz="1250" b="1" dirty="0">
                <a:solidFill>
                  <a:srgbClr val="E2B54E"/>
                </a:solidFill>
                <a:latin typeface="Calibri" pitchFamily="34" charset="0"/>
                <a:ea typeface="Calibri" pitchFamily="34" charset="-122"/>
                <a:cs typeface="Calibri" pitchFamily="34" charset="-120"/>
              </a:rPr>
              <a:t>Data</a:t>
            </a:r>
            <a:endParaRPr lang="en-US" sz="1250" dirty="0"/>
          </a:p>
        </p:txBody>
      </p:sp>
      <p:sp>
        <p:nvSpPr>
          <p:cNvPr id="13" name="Text 10"/>
          <p:cNvSpPr txBox="1"/>
          <p:nvPr/>
        </p:nvSpPr>
        <p:spPr>
          <a:xfrm>
            <a:off x="1920240" y="2029968"/>
            <a:ext cx="5394960" cy="621792"/>
          </a:xfrm>
          <a:prstGeom prst="rect">
            <a:avLst/>
          </a:prstGeom>
          <a:noFill/>
          <a:ln/>
        </p:spPr>
        <p:txBody>
          <a:bodyPr wrap="square" lIns="0" tIns="0" rIns="0" bIns="0" rtlCol="0" anchor="ctr"/>
          <a:lstStyle/>
          <a:p>
            <a:pPr indent="0" marL="0">
              <a:buNone/>
            </a:pPr>
            <a:r>
              <a:rPr lang="en-US" sz="1100" dirty="0">
                <a:solidFill>
                  <a:srgbClr val="EEF1F4"/>
                </a:solidFill>
                <a:latin typeface="Calibri" pitchFamily="34" charset="0"/>
                <a:ea typeface="Calibri" pitchFamily="34" charset="-122"/>
                <a:cs typeface="Calibri" pitchFamily="34" charset="-120"/>
              </a:rPr>
              <a:t>cycle slot · data status · sensor statuses · synthesis rule and version</a:t>
            </a:r>
            <a:endParaRPr lang="en-US" sz="1100" dirty="0"/>
          </a:p>
        </p:txBody>
      </p:sp>
      <p:sp>
        <p:nvSpPr>
          <p:cNvPr id="14" name="Shape 11"/>
          <p:cNvSpPr/>
          <p:nvPr/>
        </p:nvSpPr>
        <p:spPr>
          <a:xfrm>
            <a:off x="457200" y="2734056"/>
            <a:ext cx="6949440" cy="621792"/>
          </a:xfrm>
          <a:prstGeom prst="roundRect">
            <a:avLst>
              <a:gd name="adj" fmla="val 10294"/>
            </a:avLst>
          </a:prstGeom>
          <a:solidFill>
            <a:srgbClr val="1D242E"/>
          </a:solidFill>
          <a:ln w="9525">
            <a:solidFill>
              <a:srgbClr val="323C49"/>
            </a:solidFill>
            <a:prstDash val="solid"/>
          </a:ln>
        </p:spPr>
      </p:sp>
      <p:sp>
        <p:nvSpPr>
          <p:cNvPr id="15" name="Text 12"/>
          <p:cNvSpPr txBox="1"/>
          <p:nvPr/>
        </p:nvSpPr>
        <p:spPr>
          <a:xfrm>
            <a:off x="621792" y="2734056"/>
            <a:ext cx="1280160" cy="621792"/>
          </a:xfrm>
          <a:prstGeom prst="rect">
            <a:avLst/>
          </a:prstGeom>
          <a:noFill/>
          <a:ln/>
        </p:spPr>
        <p:txBody>
          <a:bodyPr wrap="square" lIns="0" tIns="0" rIns="0" bIns="0" rtlCol="0" anchor="ctr"/>
          <a:lstStyle/>
          <a:p>
            <a:pPr indent="0" marL="0">
              <a:buNone/>
            </a:pPr>
            <a:r>
              <a:rPr lang="en-US" sz="1250" b="1" dirty="0">
                <a:solidFill>
                  <a:srgbClr val="E2B54E"/>
                </a:solidFill>
                <a:latin typeface="Calibri" pitchFamily="34" charset="0"/>
                <a:ea typeface="Calibri" pitchFamily="34" charset="-122"/>
                <a:cs typeface="Calibri" pitchFamily="34" charset="-120"/>
              </a:rPr>
              <a:t>Knowledge</a:t>
            </a:r>
            <a:endParaRPr lang="en-US" sz="1250" dirty="0"/>
          </a:p>
        </p:txBody>
      </p:sp>
      <p:sp>
        <p:nvSpPr>
          <p:cNvPr id="16" name="Text 13"/>
          <p:cNvSpPr txBox="1"/>
          <p:nvPr/>
        </p:nvSpPr>
        <p:spPr>
          <a:xfrm>
            <a:off x="1920240" y="2734056"/>
            <a:ext cx="5394960" cy="621792"/>
          </a:xfrm>
          <a:prstGeom prst="rect">
            <a:avLst/>
          </a:prstGeom>
          <a:noFill/>
          <a:ln/>
        </p:spPr>
        <p:txBody>
          <a:bodyPr wrap="square" lIns="0" tIns="0" rIns="0" bIns="0" rtlCol="0" anchor="ctr"/>
          <a:lstStyle/>
          <a:p>
            <a:pPr indent="0" marL="0">
              <a:buNone/>
            </a:pPr>
            <a:r>
              <a:rPr lang="en-US" sz="1100" dirty="0">
                <a:solidFill>
                  <a:srgbClr val="EEF1F4"/>
                </a:solidFill>
                <a:latin typeface="Calibri" pitchFamily="34" charset="0"/>
                <a:ea typeface="Calibri" pitchFamily="34" charset="-122"/>
                <a:cs typeface="Calibri" pitchFamily="34" charset="-120"/>
              </a:rPr>
              <a:t>M* · chunk ids · index build id</a:t>
            </a:r>
            <a:endParaRPr lang="en-US" sz="1100" dirty="0"/>
          </a:p>
        </p:txBody>
      </p:sp>
      <p:sp>
        <p:nvSpPr>
          <p:cNvPr id="17" name="Shape 14"/>
          <p:cNvSpPr/>
          <p:nvPr/>
        </p:nvSpPr>
        <p:spPr>
          <a:xfrm>
            <a:off x="457200" y="3438144"/>
            <a:ext cx="6949440" cy="621792"/>
          </a:xfrm>
          <a:prstGeom prst="roundRect">
            <a:avLst>
              <a:gd name="adj" fmla="val 10294"/>
            </a:avLst>
          </a:prstGeom>
          <a:solidFill>
            <a:srgbClr val="1D242E"/>
          </a:solidFill>
          <a:ln w="9525">
            <a:solidFill>
              <a:srgbClr val="323C49"/>
            </a:solidFill>
            <a:prstDash val="solid"/>
          </a:ln>
        </p:spPr>
      </p:sp>
      <p:sp>
        <p:nvSpPr>
          <p:cNvPr id="18" name="Text 15"/>
          <p:cNvSpPr txBox="1"/>
          <p:nvPr/>
        </p:nvSpPr>
        <p:spPr>
          <a:xfrm>
            <a:off x="621792" y="3438144"/>
            <a:ext cx="1280160" cy="621792"/>
          </a:xfrm>
          <a:prstGeom prst="rect">
            <a:avLst/>
          </a:prstGeom>
          <a:noFill/>
          <a:ln/>
        </p:spPr>
        <p:txBody>
          <a:bodyPr wrap="square" lIns="0" tIns="0" rIns="0" bIns="0" rtlCol="0" anchor="ctr"/>
          <a:lstStyle/>
          <a:p>
            <a:pPr indent="0" marL="0">
              <a:buNone/>
            </a:pPr>
            <a:r>
              <a:rPr lang="en-US" sz="1250" b="1" dirty="0">
                <a:solidFill>
                  <a:srgbClr val="E2B54E"/>
                </a:solidFill>
                <a:latin typeface="Calibri" pitchFamily="34" charset="0"/>
                <a:ea typeface="Calibri" pitchFamily="34" charset="-122"/>
                <a:cs typeface="Calibri" pitchFamily="34" charset="-120"/>
              </a:rPr>
              <a:t>Model</a:t>
            </a:r>
            <a:endParaRPr lang="en-US" sz="1250" dirty="0"/>
          </a:p>
        </p:txBody>
      </p:sp>
      <p:sp>
        <p:nvSpPr>
          <p:cNvPr id="19" name="Text 16"/>
          <p:cNvSpPr txBox="1"/>
          <p:nvPr/>
        </p:nvSpPr>
        <p:spPr>
          <a:xfrm>
            <a:off x="1920240" y="3438144"/>
            <a:ext cx="5394960" cy="621792"/>
          </a:xfrm>
          <a:prstGeom prst="rect">
            <a:avLst/>
          </a:prstGeom>
          <a:noFill/>
          <a:ln/>
        </p:spPr>
        <p:txBody>
          <a:bodyPr wrap="square" lIns="0" tIns="0" rIns="0" bIns="0" rtlCol="0" anchor="ctr"/>
          <a:lstStyle/>
          <a:p>
            <a:pPr indent="0" marL="0">
              <a:buNone/>
            </a:pPr>
            <a:r>
              <a:rPr lang="en-US" sz="1100" dirty="0">
                <a:solidFill>
                  <a:srgbClr val="EEF1F4"/>
                </a:solidFill>
                <a:latin typeface="Calibri" pitchFamily="34" charset="0"/>
                <a:ea typeface="Calibri" pitchFamily="34" charset="-122"/>
                <a:cs typeface="Calibri" pitchFamily="34" charset="-120"/>
              </a:rPr>
              <a:t>model · prompt version · tokens per component · cached tokens · units charged</a:t>
            </a:r>
            <a:endParaRPr lang="en-US" sz="1100" dirty="0"/>
          </a:p>
        </p:txBody>
      </p:sp>
      <p:sp>
        <p:nvSpPr>
          <p:cNvPr id="20" name="Shape 17"/>
          <p:cNvSpPr/>
          <p:nvPr/>
        </p:nvSpPr>
        <p:spPr>
          <a:xfrm>
            <a:off x="457200" y="4142232"/>
            <a:ext cx="6949440" cy="621792"/>
          </a:xfrm>
          <a:prstGeom prst="roundRect">
            <a:avLst>
              <a:gd name="adj" fmla="val 10294"/>
            </a:avLst>
          </a:prstGeom>
          <a:solidFill>
            <a:srgbClr val="1D242E"/>
          </a:solidFill>
          <a:ln w="9525">
            <a:solidFill>
              <a:srgbClr val="323C49"/>
            </a:solidFill>
            <a:prstDash val="solid"/>
          </a:ln>
        </p:spPr>
      </p:sp>
      <p:sp>
        <p:nvSpPr>
          <p:cNvPr id="21" name="Text 18"/>
          <p:cNvSpPr txBox="1"/>
          <p:nvPr/>
        </p:nvSpPr>
        <p:spPr>
          <a:xfrm>
            <a:off x="621792" y="4142232"/>
            <a:ext cx="1280160" cy="621792"/>
          </a:xfrm>
          <a:prstGeom prst="rect">
            <a:avLst/>
          </a:prstGeom>
          <a:noFill/>
          <a:ln/>
        </p:spPr>
        <p:txBody>
          <a:bodyPr wrap="square" lIns="0" tIns="0" rIns="0" bIns="0" rtlCol="0" anchor="ctr"/>
          <a:lstStyle/>
          <a:p>
            <a:pPr indent="0" marL="0">
              <a:buNone/>
            </a:pPr>
            <a:r>
              <a:rPr lang="en-US" sz="1250" b="1" dirty="0">
                <a:solidFill>
                  <a:srgbClr val="E2B54E"/>
                </a:solidFill>
                <a:latin typeface="Calibri" pitchFamily="34" charset="0"/>
                <a:ea typeface="Calibri" pitchFamily="34" charset="-122"/>
                <a:cs typeface="Calibri" pitchFamily="34" charset="-120"/>
              </a:rPr>
              <a:t>Checks</a:t>
            </a:r>
            <a:endParaRPr lang="en-US" sz="1250" dirty="0"/>
          </a:p>
        </p:txBody>
      </p:sp>
      <p:sp>
        <p:nvSpPr>
          <p:cNvPr id="22" name="Text 19"/>
          <p:cNvSpPr txBox="1"/>
          <p:nvPr/>
        </p:nvSpPr>
        <p:spPr>
          <a:xfrm>
            <a:off x="1920240" y="4142232"/>
            <a:ext cx="5394960" cy="621792"/>
          </a:xfrm>
          <a:prstGeom prst="rect">
            <a:avLst/>
          </a:prstGeom>
          <a:noFill/>
          <a:ln/>
        </p:spPr>
        <p:txBody>
          <a:bodyPr wrap="square" lIns="0" tIns="0" rIns="0" bIns="0" rtlCol="0" anchor="ctr"/>
          <a:lstStyle/>
          <a:p>
            <a:pPr indent="0" marL="0">
              <a:buNone/>
            </a:pPr>
            <a:r>
              <a:rPr lang="en-US" sz="1100" dirty="0">
                <a:solidFill>
                  <a:srgbClr val="EEF1F4"/>
                </a:solidFill>
                <a:latin typeface="Calibri" pitchFamily="34" charset="0"/>
                <a:ea typeface="Calibri" pitchFamily="34" charset="-122"/>
                <a:cs typeface="Calibri" pitchFamily="34" charset="-120"/>
              </a:rPr>
              <a:t>answer gate · number and wording results · regenerations</a:t>
            </a:r>
            <a:endParaRPr lang="en-US" sz="1100" dirty="0"/>
          </a:p>
        </p:txBody>
      </p:sp>
      <p:sp>
        <p:nvSpPr>
          <p:cNvPr id="23" name="Shape 20"/>
          <p:cNvSpPr/>
          <p:nvPr/>
        </p:nvSpPr>
        <p:spPr>
          <a:xfrm>
            <a:off x="457200" y="4846320"/>
            <a:ext cx="6949440" cy="621792"/>
          </a:xfrm>
          <a:prstGeom prst="roundRect">
            <a:avLst>
              <a:gd name="adj" fmla="val 10294"/>
            </a:avLst>
          </a:prstGeom>
          <a:solidFill>
            <a:srgbClr val="1D242E"/>
          </a:solidFill>
          <a:ln w="9525">
            <a:solidFill>
              <a:srgbClr val="323C49"/>
            </a:solidFill>
            <a:prstDash val="solid"/>
          </a:ln>
        </p:spPr>
      </p:sp>
      <p:sp>
        <p:nvSpPr>
          <p:cNvPr id="24" name="Text 21"/>
          <p:cNvSpPr txBox="1"/>
          <p:nvPr/>
        </p:nvSpPr>
        <p:spPr>
          <a:xfrm>
            <a:off x="621792" y="4846320"/>
            <a:ext cx="1280160" cy="621792"/>
          </a:xfrm>
          <a:prstGeom prst="rect">
            <a:avLst/>
          </a:prstGeom>
          <a:noFill/>
          <a:ln/>
        </p:spPr>
        <p:txBody>
          <a:bodyPr wrap="square" lIns="0" tIns="0" rIns="0" bIns="0" rtlCol="0" anchor="ctr"/>
          <a:lstStyle/>
          <a:p>
            <a:pPr indent="0" marL="0">
              <a:buNone/>
            </a:pPr>
            <a:r>
              <a:rPr lang="en-US" sz="1250" b="1" dirty="0">
                <a:solidFill>
                  <a:srgbClr val="E2B54E"/>
                </a:solidFill>
                <a:latin typeface="Calibri" pitchFamily="34" charset="0"/>
                <a:ea typeface="Calibri" pitchFamily="34" charset="-122"/>
                <a:cs typeface="Calibri" pitchFamily="34" charset="-120"/>
              </a:rPr>
              <a:t>Risk</a:t>
            </a:r>
            <a:endParaRPr lang="en-US" sz="1250" dirty="0"/>
          </a:p>
        </p:txBody>
      </p:sp>
      <p:sp>
        <p:nvSpPr>
          <p:cNvPr id="25" name="Text 22"/>
          <p:cNvSpPr txBox="1"/>
          <p:nvPr/>
        </p:nvSpPr>
        <p:spPr>
          <a:xfrm>
            <a:off x="1920240" y="4846320"/>
            <a:ext cx="5394960" cy="621792"/>
          </a:xfrm>
          <a:prstGeom prst="rect">
            <a:avLst/>
          </a:prstGeom>
          <a:noFill/>
          <a:ln/>
        </p:spPr>
        <p:txBody>
          <a:bodyPr wrap="square" lIns="0" tIns="0" rIns="0" bIns="0" rtlCol="0" anchor="ctr"/>
          <a:lstStyle/>
          <a:p>
            <a:pPr indent="0" marL="0">
              <a:buNone/>
            </a:pPr>
            <a:r>
              <a:rPr lang="en-US" sz="1100" dirty="0">
                <a:solidFill>
                  <a:srgbClr val="EEF1F4"/>
                </a:solidFill>
                <a:latin typeface="Calibri" pitchFamily="34" charset="0"/>
                <a:ea typeface="Calibri" pitchFamily="34" charset="-122"/>
                <a:cs typeface="Calibri" pitchFamily="34" charset="-120"/>
              </a:rPr>
              <a:t>Engine 4 inputs and outputs · validator results · overrides · consent action</a:t>
            </a:r>
            <a:endParaRPr lang="en-US" sz="1100" dirty="0"/>
          </a:p>
        </p:txBody>
      </p:sp>
      <p:sp>
        <p:nvSpPr>
          <p:cNvPr id="26" name="Shape 23"/>
          <p:cNvSpPr/>
          <p:nvPr/>
        </p:nvSpPr>
        <p:spPr>
          <a:xfrm>
            <a:off x="457200" y="5550408"/>
            <a:ext cx="6949440" cy="621792"/>
          </a:xfrm>
          <a:prstGeom prst="roundRect">
            <a:avLst>
              <a:gd name="adj" fmla="val 10294"/>
            </a:avLst>
          </a:prstGeom>
          <a:solidFill>
            <a:srgbClr val="1D242E"/>
          </a:solidFill>
          <a:ln w="9525">
            <a:solidFill>
              <a:srgbClr val="323C49"/>
            </a:solidFill>
            <a:prstDash val="solid"/>
          </a:ln>
        </p:spPr>
      </p:sp>
      <p:sp>
        <p:nvSpPr>
          <p:cNvPr id="27" name="Text 24"/>
          <p:cNvSpPr txBox="1"/>
          <p:nvPr/>
        </p:nvSpPr>
        <p:spPr>
          <a:xfrm>
            <a:off x="621792" y="5550408"/>
            <a:ext cx="1280160" cy="621792"/>
          </a:xfrm>
          <a:prstGeom prst="rect">
            <a:avLst/>
          </a:prstGeom>
          <a:noFill/>
          <a:ln/>
        </p:spPr>
        <p:txBody>
          <a:bodyPr wrap="square" lIns="0" tIns="0" rIns="0" bIns="0" rtlCol="0" anchor="ctr"/>
          <a:lstStyle/>
          <a:p>
            <a:pPr indent="0" marL="0">
              <a:buNone/>
            </a:pPr>
            <a:r>
              <a:rPr lang="en-US" sz="1250" b="1" dirty="0">
                <a:solidFill>
                  <a:srgbClr val="E2B54E"/>
                </a:solidFill>
                <a:latin typeface="Calibri" pitchFamily="34" charset="0"/>
                <a:ea typeface="Calibri" pitchFamily="34" charset="-122"/>
                <a:cs typeface="Calibri" pitchFamily="34" charset="-120"/>
              </a:rPr>
              <a:t>Time</a:t>
            </a:r>
            <a:endParaRPr lang="en-US" sz="1250" dirty="0"/>
          </a:p>
        </p:txBody>
      </p:sp>
      <p:sp>
        <p:nvSpPr>
          <p:cNvPr id="28" name="Text 25"/>
          <p:cNvSpPr txBox="1"/>
          <p:nvPr/>
        </p:nvSpPr>
        <p:spPr>
          <a:xfrm>
            <a:off x="1920240" y="5550408"/>
            <a:ext cx="5394960" cy="621792"/>
          </a:xfrm>
          <a:prstGeom prst="rect">
            <a:avLst/>
          </a:prstGeom>
          <a:noFill/>
          <a:ln/>
        </p:spPr>
        <p:txBody>
          <a:bodyPr wrap="square" lIns="0" tIns="0" rIns="0" bIns="0" rtlCol="0" anchor="ctr"/>
          <a:lstStyle/>
          <a:p>
            <a:pPr indent="0" marL="0">
              <a:buNone/>
            </a:pPr>
            <a:r>
              <a:rPr lang="en-US" sz="1100" dirty="0">
                <a:solidFill>
                  <a:srgbClr val="EEF1F4"/>
                </a:solidFill>
                <a:latin typeface="Calibri" pitchFamily="34" charset="0"/>
                <a:ea typeface="Calibri" pitchFamily="34" charset="-122"/>
                <a:cs typeface="Calibri" pitchFamily="34" charset="-120"/>
              </a:rPr>
              <a:t>duration of every stage (decision 054)</a:t>
            </a:r>
            <a:endParaRPr lang="en-US" sz="1100" dirty="0"/>
          </a:p>
        </p:txBody>
      </p:sp>
      <p:sp>
        <p:nvSpPr>
          <p:cNvPr id="29" name="Shape 26"/>
          <p:cNvSpPr/>
          <p:nvPr/>
        </p:nvSpPr>
        <p:spPr>
          <a:xfrm>
            <a:off x="7635240" y="1325880"/>
            <a:ext cx="4096512" cy="1517904"/>
          </a:xfrm>
          <a:prstGeom prst="roundRect">
            <a:avLst>
              <a:gd name="adj" fmla="val 4217"/>
            </a:avLst>
          </a:prstGeom>
          <a:solidFill>
            <a:srgbClr val="1D242E"/>
          </a:solidFill>
          <a:ln w="15875">
            <a:solidFill>
              <a:srgbClr val="E2B54E"/>
            </a:solidFill>
            <a:prstDash val="solid"/>
          </a:ln>
        </p:spPr>
      </p:sp>
      <p:sp>
        <p:nvSpPr>
          <p:cNvPr id="30" name="Text 27"/>
          <p:cNvSpPr txBox="1"/>
          <p:nvPr/>
        </p:nvSpPr>
        <p:spPr>
          <a:xfrm>
            <a:off x="7790688" y="1435608"/>
            <a:ext cx="3749040" cy="347472"/>
          </a:xfrm>
          <a:prstGeom prst="rect">
            <a:avLst/>
          </a:prstGeom>
          <a:noFill/>
          <a:ln/>
        </p:spPr>
        <p:txBody>
          <a:bodyPr wrap="square" lIns="0" tIns="0" rIns="0" bIns="0" rtlCol="0" anchor="ctr"/>
          <a:lstStyle/>
          <a:p>
            <a:pPr indent="0" marL="0">
              <a:buNone/>
            </a:pPr>
            <a:r>
              <a:rPr lang="en-US" sz="1250" b="1" dirty="0">
                <a:solidFill>
                  <a:srgbClr val="E2B54E"/>
                </a:solidFill>
                <a:latin typeface="Calibri" pitchFamily="34" charset="0"/>
                <a:ea typeface="Calibri" pitchFamily="34" charset="-122"/>
                <a:cs typeface="Calibri" pitchFamily="34" charset="-120"/>
              </a:rPr>
              <a:t>Where it lives</a:t>
            </a:r>
            <a:endParaRPr lang="en-US" sz="1250" dirty="0"/>
          </a:p>
        </p:txBody>
      </p:sp>
      <p:sp>
        <p:nvSpPr>
          <p:cNvPr id="31" name="Text 28"/>
          <p:cNvSpPr txBox="1"/>
          <p:nvPr/>
        </p:nvSpPr>
        <p:spPr>
          <a:xfrm>
            <a:off x="7790688" y="1828800"/>
            <a:ext cx="3794760" cy="96012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A request_traces table: 90 days in PostgreSQL, then archived with the consent records.</a:t>
            </a:r>
            <a:endParaRPr lang="en-US" sz="1150" dirty="0"/>
          </a:p>
        </p:txBody>
      </p:sp>
      <p:sp>
        <p:nvSpPr>
          <p:cNvPr id="32" name="Shape 29"/>
          <p:cNvSpPr/>
          <p:nvPr/>
        </p:nvSpPr>
        <p:spPr>
          <a:xfrm>
            <a:off x="7635240" y="2971800"/>
            <a:ext cx="4096512" cy="1517904"/>
          </a:xfrm>
          <a:prstGeom prst="roundRect">
            <a:avLst>
              <a:gd name="adj" fmla="val 4217"/>
            </a:avLst>
          </a:prstGeom>
          <a:solidFill>
            <a:srgbClr val="1D242E"/>
          </a:solidFill>
          <a:ln w="9525">
            <a:solidFill>
              <a:srgbClr val="323C49"/>
            </a:solidFill>
            <a:prstDash val="solid"/>
          </a:ln>
        </p:spPr>
      </p:sp>
      <p:sp>
        <p:nvSpPr>
          <p:cNvPr id="33" name="Text 30"/>
          <p:cNvSpPr txBox="1"/>
          <p:nvPr/>
        </p:nvSpPr>
        <p:spPr>
          <a:xfrm>
            <a:off x="7790688" y="3081528"/>
            <a:ext cx="3749040" cy="347472"/>
          </a:xfrm>
          <a:prstGeom prst="rect">
            <a:avLst/>
          </a:prstGeom>
          <a:noFill/>
          <a:ln/>
        </p:spPr>
        <p:txBody>
          <a:bodyPr wrap="square" lIns="0" tIns="0" rIns="0" bIns="0" rtlCol="0" anchor="ctr"/>
          <a:lstStyle/>
          <a:p>
            <a:pPr indent="0" marL="0">
              <a:buNone/>
            </a:pPr>
            <a:r>
              <a:rPr lang="en-US" sz="1250" b="1" dirty="0">
                <a:solidFill>
                  <a:srgbClr val="E2B54E"/>
                </a:solidFill>
                <a:latin typeface="Calibri" pitchFamily="34" charset="0"/>
                <a:ea typeface="Calibri" pitchFamily="34" charset="-122"/>
                <a:cs typeface="Calibri" pitchFamily="34" charset="-120"/>
              </a:rPr>
              <a:t>Who reads it</a:t>
            </a:r>
            <a:endParaRPr lang="en-US" sz="1250" dirty="0"/>
          </a:p>
        </p:txBody>
      </p:sp>
      <p:sp>
        <p:nvSpPr>
          <p:cNvPr id="34" name="Text 31"/>
          <p:cNvSpPr txBox="1"/>
          <p:nvPr/>
        </p:nvSpPr>
        <p:spPr>
          <a:xfrm>
            <a:off x="7790688" y="3474720"/>
            <a:ext cx="3794760" cy="96012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Support (“open request id”), the dashboard, and audits.</a:t>
            </a:r>
            <a:endParaRPr lang="en-US" sz="1150" dirty="0"/>
          </a:p>
        </p:txBody>
      </p:sp>
      <p:sp>
        <p:nvSpPr>
          <p:cNvPr id="35" name="Shape 32"/>
          <p:cNvSpPr/>
          <p:nvPr/>
        </p:nvSpPr>
        <p:spPr>
          <a:xfrm>
            <a:off x="7635240" y="4617720"/>
            <a:ext cx="4096512" cy="1517904"/>
          </a:xfrm>
          <a:prstGeom prst="roundRect">
            <a:avLst>
              <a:gd name="adj" fmla="val 4217"/>
            </a:avLst>
          </a:prstGeom>
          <a:solidFill>
            <a:srgbClr val="1D242E"/>
          </a:solidFill>
          <a:ln w="9525">
            <a:solidFill>
              <a:srgbClr val="323C49"/>
            </a:solidFill>
            <a:prstDash val="solid"/>
          </a:ln>
        </p:spPr>
      </p:sp>
      <p:sp>
        <p:nvSpPr>
          <p:cNvPr id="36" name="Text 33"/>
          <p:cNvSpPr txBox="1"/>
          <p:nvPr/>
        </p:nvSpPr>
        <p:spPr>
          <a:xfrm>
            <a:off x="7790688" y="4727448"/>
            <a:ext cx="3749040" cy="347472"/>
          </a:xfrm>
          <a:prstGeom prst="rect">
            <a:avLst/>
          </a:prstGeom>
          <a:noFill/>
          <a:ln/>
        </p:spPr>
        <p:txBody>
          <a:bodyPr wrap="square" lIns="0" tIns="0" rIns="0" bIns="0" rtlCol="0" anchor="ctr"/>
          <a:lstStyle/>
          <a:p>
            <a:pPr indent="0" marL="0">
              <a:buNone/>
            </a:pPr>
            <a:r>
              <a:rPr lang="en-US" sz="1250" b="1" dirty="0">
                <a:solidFill>
                  <a:srgbClr val="E2B54E"/>
                </a:solidFill>
                <a:latin typeface="Calibri" pitchFamily="34" charset="0"/>
                <a:ea typeface="Calibri" pitchFamily="34" charset="-122"/>
                <a:cs typeface="Calibri" pitchFamily="34" charset="-120"/>
              </a:rPr>
              <a:t>One writer each</a:t>
            </a:r>
            <a:endParaRPr lang="en-US" sz="1250" dirty="0"/>
          </a:p>
        </p:txBody>
      </p:sp>
      <p:sp>
        <p:nvSpPr>
          <p:cNvPr id="37" name="Text 34"/>
          <p:cNvSpPr txBox="1"/>
          <p:nvPr/>
        </p:nvSpPr>
        <p:spPr>
          <a:xfrm>
            <a:off x="7790688" y="5120640"/>
            <a:ext cx="3794760" cy="96012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Sections 4, 5 and 6 each fill their own fields; nothing is written twice.</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B7A3E0"/>
          </a:solidFill>
          <a:ln w="15875">
            <a:solidFill>
              <a:srgbClr val="B7A3E0"/>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7</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7 · PLATFORM &amp; GOVERNANCE · RETENTION AND PRIVACY</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Keep what defends a decision; send models only what they need</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9</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6400800" cy="914400"/>
        </p:xfrm>
        <a:graphic>
          <a:graphicData uri="http://schemas.openxmlformats.org/drawingml/2006/table">
            <a:tbl>
              <a:tblPr/>
              <a:tblGrid>
                <a:gridCol w="2651760"/>
                <a:gridCol w="2148840"/>
                <a:gridCol w="1600200"/>
              </a:tblGrid>
              <a:tr h="329184">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Data</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Kept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Where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r>
              <a:tr h="548640">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Consent records</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E2B54E"/>
                          </a:solidFill>
                          <a:latin typeface="Calibri" pitchFamily="34" charset="0"/>
                          <a:ea typeface="Calibri" pitchFamily="34" charset="-122"/>
                          <a:cs typeface="Calibri" pitchFamily="34" charset="-120"/>
                        </a:rPr>
                        <a:t>7 years</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Write-once archive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548640">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Traces (with both reports as JSON)</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E2B54E"/>
                          </a:solidFill>
                          <a:latin typeface="Calibri" pitchFamily="34" charset="0"/>
                          <a:ea typeface="Calibri" pitchFamily="34" charset="-122"/>
                          <a:cs typeface="Calibri" pitchFamily="34" charset="-120"/>
                        </a:rPr>
                        <a:t>90 days live, then 7 years</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PostgreSQL → archive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548640">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Profile history</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E2B54E"/>
                          </a:solidFill>
                          <a:latin typeface="Calibri" pitchFamily="34" charset="0"/>
                          <a:ea typeface="Calibri" pitchFamily="34" charset="-122"/>
                          <a:cs typeface="Calibri" pitchFamily="34" charset="-120"/>
                        </a:rPr>
                        <a:t>7 years, hashed after deletion</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PostgreSQL</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548640">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Chat transcripts</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E2B54E"/>
                          </a:solidFill>
                          <a:latin typeface="Calibri" pitchFamily="34" charset="0"/>
                          <a:ea typeface="Calibri" pitchFamily="34" charset="-122"/>
                          <a:cs typeface="Calibri" pitchFamily="34" charset="-120"/>
                        </a:rPr>
                        <a:t>12 months; the trader can delete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PostgreSQL</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548640">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Account personal data</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E2B54E"/>
                          </a:solidFill>
                          <a:latin typeface="Calibri" pitchFamily="34" charset="0"/>
                          <a:ea typeface="Calibri" pitchFamily="34" charset="-122"/>
                          <a:cs typeface="Calibri" pitchFamily="34" charset="-120"/>
                        </a:rPr>
                        <a:t>Until the account is deleted</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PostgreSQL</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bl>
          </a:graphicData>
        </a:graphic>
      </p:graphicFrame>
      <p:sp>
        <p:nvSpPr>
          <p:cNvPr id="9" name="Shape 5"/>
          <p:cNvSpPr/>
          <p:nvPr/>
        </p:nvSpPr>
        <p:spPr>
          <a:xfrm>
            <a:off x="457200" y="4572000"/>
            <a:ext cx="6400800" cy="1709928"/>
          </a:xfrm>
          <a:prstGeom prst="roundRect">
            <a:avLst>
              <a:gd name="adj" fmla="val 3743"/>
            </a:avLst>
          </a:prstGeom>
          <a:solidFill>
            <a:srgbClr val="2E2715"/>
          </a:solidFill>
          <a:ln w="9525">
            <a:solidFill>
              <a:srgbClr val="2E2715"/>
            </a:solidFill>
            <a:prstDash val="solid"/>
          </a:ln>
        </p:spPr>
      </p:sp>
      <p:sp>
        <p:nvSpPr>
          <p:cNvPr id="10" name="Text 6"/>
          <p:cNvSpPr txBox="1"/>
          <p:nvPr/>
        </p:nvSpPr>
        <p:spPr>
          <a:xfrm>
            <a:off x="640080" y="4572000"/>
            <a:ext cx="6035040" cy="1709928"/>
          </a:xfrm>
          <a:prstGeom prst="rect">
            <a:avLst/>
          </a:prstGeom>
          <a:noFill/>
          <a:ln/>
        </p:spPr>
        <p:txBody>
          <a:bodyPr wrap="square" lIns="0" tIns="0" rIns="0" bIns="0" rtlCol="0" anchor="ctr"/>
          <a:lstStyle/>
          <a:p>
            <a:pPr indent="0" marL="0">
              <a:buNone/>
            </a:pPr>
            <a:r>
              <a:rPr lang="en-US" sz="1200" b="1" dirty="0">
                <a:solidFill>
                  <a:srgbClr val="E2B54E"/>
                </a:solidFill>
                <a:latin typeface="Calibri" pitchFamily="34" charset="0"/>
                <a:ea typeface="Calibri" pitchFamily="34" charset="-122"/>
                <a:cs typeface="Calibri" pitchFamily="34" charset="-120"/>
              </a:rPr>
              <a:t>One figure:  </a:t>
            </a:r>
            <a:pPr indent="0" marL="0">
              <a:buNone/>
            </a:pPr>
            <a:r>
              <a:rPr lang="en-US" sz="1200" dirty="0">
                <a:solidFill>
                  <a:srgbClr val="EEF1F4"/>
                </a:solidFill>
                <a:latin typeface="Calibri" pitchFamily="34" charset="0"/>
                <a:ea typeface="Calibri" pitchFamily="34" charset="-122"/>
                <a:cs typeface="Calibri" pitchFamily="34" charset="-120"/>
              </a:rPr>
              <a:t>7 years for everything that shows what a trader was told and chose. Transcripts are not needed for that, because the trace keeps both reports.</a:t>
            </a:r>
            <a:endParaRPr lang="en-US" sz="1200" dirty="0"/>
          </a:p>
        </p:txBody>
      </p:sp>
      <p:sp>
        <p:nvSpPr>
          <p:cNvPr id="11" name="Text 7"/>
          <p:cNvSpPr txBox="1"/>
          <p:nvPr/>
        </p:nvSpPr>
        <p:spPr>
          <a:xfrm>
            <a:off x="7132320" y="1325880"/>
            <a:ext cx="4572000" cy="256032"/>
          </a:xfrm>
          <a:prstGeom prst="rect">
            <a:avLst/>
          </a:prstGeom>
          <a:noFill/>
          <a:ln/>
        </p:spPr>
        <p:txBody>
          <a:bodyPr wrap="square" lIns="0" tIns="0" rIns="0" bIns="0" rtlCol="0" anchor="t"/>
          <a:lstStyle/>
          <a:p>
            <a:pPr indent="0" marL="0">
              <a:buNone/>
            </a:pPr>
            <a:r>
              <a:rPr lang="en-US" sz="950" b="1" spc="150" kern="0" dirty="0">
                <a:solidFill>
                  <a:srgbClr val="E2B54E"/>
                </a:solidFill>
                <a:latin typeface="Calibri" pitchFamily="34" charset="0"/>
                <a:ea typeface="Calibri" pitchFamily="34" charset="-122"/>
                <a:cs typeface="Calibri" pitchFamily="34" charset="-120"/>
              </a:rPr>
              <a:t>WHAT A MODEL PROVIDER SEES</a:t>
            </a:r>
            <a:endParaRPr lang="en-US" sz="950" dirty="0"/>
          </a:p>
        </p:txBody>
      </p:sp>
      <p:sp>
        <p:nvSpPr>
          <p:cNvPr id="12" name="Shape 8"/>
          <p:cNvSpPr/>
          <p:nvPr/>
        </p:nvSpPr>
        <p:spPr>
          <a:xfrm>
            <a:off x="7132320" y="1645920"/>
            <a:ext cx="4599432" cy="1051560"/>
          </a:xfrm>
          <a:prstGeom prst="roundRect">
            <a:avLst>
              <a:gd name="adj" fmla="val 6087"/>
            </a:avLst>
          </a:prstGeom>
          <a:solidFill>
            <a:srgbClr val="1D242E"/>
          </a:solidFill>
          <a:ln w="9525">
            <a:solidFill>
              <a:srgbClr val="323C49"/>
            </a:solidFill>
            <a:prstDash val="solid"/>
          </a:ln>
        </p:spPr>
      </p:sp>
      <p:sp>
        <p:nvSpPr>
          <p:cNvPr id="13" name="Shape 9"/>
          <p:cNvSpPr/>
          <p:nvPr/>
        </p:nvSpPr>
        <p:spPr>
          <a:xfrm>
            <a:off x="7269480" y="1755648"/>
            <a:ext cx="310896" cy="310896"/>
          </a:xfrm>
          <a:prstGeom prst="ellipse">
            <a:avLst/>
          </a:prstGeom>
          <a:solidFill>
            <a:srgbClr val="E2B54E"/>
          </a:solidFill>
          <a:ln w="15875">
            <a:solidFill>
              <a:srgbClr val="E2B54E"/>
            </a:solidFill>
            <a:prstDash val="solid"/>
          </a:ln>
        </p:spPr>
      </p:sp>
      <p:sp>
        <p:nvSpPr>
          <p:cNvPr id="14" name="Text 10"/>
          <p:cNvSpPr txBox="1"/>
          <p:nvPr/>
        </p:nvSpPr>
        <p:spPr>
          <a:xfrm>
            <a:off x="7269480" y="1755648"/>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1</a:t>
            </a:r>
            <a:endParaRPr lang="en-US" sz="1100" dirty="0"/>
          </a:p>
        </p:txBody>
      </p:sp>
      <p:sp>
        <p:nvSpPr>
          <p:cNvPr id="15" name="Text 11"/>
          <p:cNvSpPr txBox="1"/>
          <p:nvPr/>
        </p:nvSpPr>
        <p:spPr>
          <a:xfrm>
            <a:off x="7699248" y="1719072"/>
            <a:ext cx="3931920" cy="365760"/>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Only what Report 1 needs</a:t>
            </a:r>
            <a:endParaRPr lang="en-US" sz="1250" dirty="0"/>
          </a:p>
        </p:txBody>
      </p:sp>
      <p:sp>
        <p:nvSpPr>
          <p:cNvPr id="16" name="Text 12"/>
          <p:cNvSpPr txBox="1"/>
          <p:nvPr/>
        </p:nvSpPr>
        <p:spPr>
          <a:xfrm>
            <a:off x="7269480" y="2121408"/>
            <a:ext cx="4343400" cy="54864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Trader type, style and limits; never the equity balance or commission.</a:t>
            </a:r>
            <a:endParaRPr lang="en-US" sz="1050" dirty="0"/>
          </a:p>
        </p:txBody>
      </p:sp>
      <p:sp>
        <p:nvSpPr>
          <p:cNvPr id="17" name="Shape 13"/>
          <p:cNvSpPr/>
          <p:nvPr/>
        </p:nvSpPr>
        <p:spPr>
          <a:xfrm>
            <a:off x="7132320" y="2807208"/>
            <a:ext cx="4599432" cy="1051560"/>
          </a:xfrm>
          <a:prstGeom prst="roundRect">
            <a:avLst>
              <a:gd name="adj" fmla="val 6087"/>
            </a:avLst>
          </a:prstGeom>
          <a:solidFill>
            <a:srgbClr val="1D242E"/>
          </a:solidFill>
          <a:ln w="9525">
            <a:solidFill>
              <a:srgbClr val="323C49"/>
            </a:solidFill>
            <a:prstDash val="solid"/>
          </a:ln>
        </p:spPr>
      </p:sp>
      <p:sp>
        <p:nvSpPr>
          <p:cNvPr id="18" name="Shape 14"/>
          <p:cNvSpPr/>
          <p:nvPr/>
        </p:nvSpPr>
        <p:spPr>
          <a:xfrm>
            <a:off x="7269480" y="2916936"/>
            <a:ext cx="310896" cy="310896"/>
          </a:xfrm>
          <a:prstGeom prst="ellipse">
            <a:avLst/>
          </a:prstGeom>
          <a:solidFill>
            <a:srgbClr val="E2B54E"/>
          </a:solidFill>
          <a:ln w="15875">
            <a:solidFill>
              <a:srgbClr val="E2B54E"/>
            </a:solidFill>
            <a:prstDash val="solid"/>
          </a:ln>
        </p:spPr>
      </p:sp>
      <p:sp>
        <p:nvSpPr>
          <p:cNvPr id="19" name="Text 15"/>
          <p:cNvSpPr txBox="1"/>
          <p:nvPr/>
        </p:nvSpPr>
        <p:spPr>
          <a:xfrm>
            <a:off x="7269480" y="2916936"/>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2</a:t>
            </a:r>
            <a:endParaRPr lang="en-US" sz="1100" dirty="0"/>
          </a:p>
        </p:txBody>
      </p:sp>
      <p:sp>
        <p:nvSpPr>
          <p:cNvPr id="20" name="Text 16"/>
          <p:cNvSpPr txBox="1"/>
          <p:nvPr/>
        </p:nvSpPr>
        <p:spPr>
          <a:xfrm>
            <a:off x="7699248" y="2880360"/>
            <a:ext cx="3931920" cy="365760"/>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Chosen providers only</a:t>
            </a:r>
            <a:endParaRPr lang="en-US" sz="1250" dirty="0"/>
          </a:p>
        </p:txBody>
      </p:sp>
      <p:sp>
        <p:nvSpPr>
          <p:cNvPr id="21" name="Text 17"/>
          <p:cNvSpPr txBox="1"/>
          <p:nvPr/>
        </p:nvSpPr>
        <p:spPr>
          <a:xfrm>
            <a:off x="7269480" y="3282696"/>
            <a:ext cx="4343400" cy="54864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Providers that don’t train on or keep prompts, set in the gateway.</a:t>
            </a:r>
            <a:endParaRPr lang="en-US" sz="1050" dirty="0"/>
          </a:p>
        </p:txBody>
      </p:sp>
      <p:sp>
        <p:nvSpPr>
          <p:cNvPr id="22" name="Shape 18"/>
          <p:cNvSpPr/>
          <p:nvPr/>
        </p:nvSpPr>
        <p:spPr>
          <a:xfrm>
            <a:off x="7132320" y="3968496"/>
            <a:ext cx="4599432" cy="1051560"/>
          </a:xfrm>
          <a:prstGeom prst="roundRect">
            <a:avLst>
              <a:gd name="adj" fmla="val 6087"/>
            </a:avLst>
          </a:prstGeom>
          <a:solidFill>
            <a:srgbClr val="1D242E"/>
          </a:solidFill>
          <a:ln w="9525">
            <a:solidFill>
              <a:srgbClr val="323C49"/>
            </a:solidFill>
            <a:prstDash val="solid"/>
          </a:ln>
        </p:spPr>
      </p:sp>
      <p:sp>
        <p:nvSpPr>
          <p:cNvPr id="23" name="Shape 19"/>
          <p:cNvSpPr/>
          <p:nvPr/>
        </p:nvSpPr>
        <p:spPr>
          <a:xfrm>
            <a:off x="7269480" y="4078224"/>
            <a:ext cx="310896" cy="310896"/>
          </a:xfrm>
          <a:prstGeom prst="ellipse">
            <a:avLst/>
          </a:prstGeom>
          <a:solidFill>
            <a:srgbClr val="E2B54E"/>
          </a:solidFill>
          <a:ln w="15875">
            <a:solidFill>
              <a:srgbClr val="E2B54E"/>
            </a:solidFill>
            <a:prstDash val="solid"/>
          </a:ln>
        </p:spPr>
      </p:sp>
      <p:sp>
        <p:nvSpPr>
          <p:cNvPr id="24" name="Text 20"/>
          <p:cNvSpPr txBox="1"/>
          <p:nvPr/>
        </p:nvSpPr>
        <p:spPr>
          <a:xfrm>
            <a:off x="7269480" y="4078224"/>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3</a:t>
            </a:r>
            <a:endParaRPr lang="en-US" sz="1100" dirty="0"/>
          </a:p>
        </p:txBody>
      </p:sp>
      <p:sp>
        <p:nvSpPr>
          <p:cNvPr id="25" name="Text 21"/>
          <p:cNvSpPr txBox="1"/>
          <p:nvPr/>
        </p:nvSpPr>
        <p:spPr>
          <a:xfrm>
            <a:off x="7699248" y="4041648"/>
            <a:ext cx="3931920" cy="365760"/>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Named in the notice</a:t>
            </a:r>
            <a:endParaRPr lang="en-US" sz="1250" dirty="0"/>
          </a:p>
        </p:txBody>
      </p:sp>
      <p:sp>
        <p:nvSpPr>
          <p:cNvPr id="26" name="Text 22"/>
          <p:cNvSpPr txBox="1"/>
          <p:nvPr/>
        </p:nvSpPr>
        <p:spPr>
          <a:xfrm>
            <a:off x="7269480" y="4443984"/>
            <a:ext cx="4343400" cy="54864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The privacy notice lists the processors.</a:t>
            </a:r>
            <a:endParaRPr lang="en-US" sz="1050" dirty="0"/>
          </a:p>
        </p:txBody>
      </p:sp>
      <p:sp>
        <p:nvSpPr>
          <p:cNvPr id="27" name="Shape 23"/>
          <p:cNvSpPr/>
          <p:nvPr/>
        </p:nvSpPr>
        <p:spPr>
          <a:xfrm>
            <a:off x="7132320" y="5129784"/>
            <a:ext cx="4599432" cy="1051560"/>
          </a:xfrm>
          <a:prstGeom prst="roundRect">
            <a:avLst>
              <a:gd name="adj" fmla="val 6087"/>
            </a:avLst>
          </a:prstGeom>
          <a:solidFill>
            <a:srgbClr val="1D242E"/>
          </a:solidFill>
          <a:ln w="9525">
            <a:solidFill>
              <a:srgbClr val="323C49"/>
            </a:solidFill>
            <a:prstDash val="solid"/>
          </a:ln>
        </p:spPr>
      </p:sp>
      <p:sp>
        <p:nvSpPr>
          <p:cNvPr id="28" name="Shape 24"/>
          <p:cNvSpPr/>
          <p:nvPr/>
        </p:nvSpPr>
        <p:spPr>
          <a:xfrm>
            <a:off x="7269480" y="5239512"/>
            <a:ext cx="310896" cy="310896"/>
          </a:xfrm>
          <a:prstGeom prst="ellipse">
            <a:avLst/>
          </a:prstGeom>
          <a:solidFill>
            <a:srgbClr val="E2B54E"/>
          </a:solidFill>
          <a:ln w="15875">
            <a:solidFill>
              <a:srgbClr val="E2B54E"/>
            </a:solidFill>
            <a:prstDash val="solid"/>
          </a:ln>
        </p:spPr>
      </p:sp>
      <p:sp>
        <p:nvSpPr>
          <p:cNvPr id="29" name="Text 25"/>
          <p:cNvSpPr txBox="1"/>
          <p:nvPr/>
        </p:nvSpPr>
        <p:spPr>
          <a:xfrm>
            <a:off x="7269480" y="5239512"/>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4</a:t>
            </a:r>
            <a:endParaRPr lang="en-US" sz="1100" dirty="0"/>
          </a:p>
        </p:txBody>
      </p:sp>
      <p:sp>
        <p:nvSpPr>
          <p:cNvPr id="30" name="Text 26"/>
          <p:cNvSpPr txBox="1"/>
          <p:nvPr/>
        </p:nvSpPr>
        <p:spPr>
          <a:xfrm>
            <a:off x="7699248" y="5202936"/>
            <a:ext cx="3931920" cy="365760"/>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Deletion as file E says</a:t>
            </a:r>
            <a:endParaRPr lang="en-US" sz="1250" dirty="0"/>
          </a:p>
        </p:txBody>
      </p:sp>
      <p:sp>
        <p:nvSpPr>
          <p:cNvPr id="31" name="Text 27"/>
          <p:cNvSpPr txBox="1"/>
          <p:nvPr/>
        </p:nvSpPr>
        <p:spPr>
          <a:xfrm>
            <a:off x="7269480" y="5605272"/>
            <a:ext cx="4343400" cy="54864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Personal data removed; audit rows keep a hash.</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B7A3E0"/>
          </a:solidFill>
          <a:ln w="15875">
            <a:solidFill>
              <a:srgbClr val="B7A3E0"/>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7</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7 · PLATFORM &amp; GOVERNANCE · DEGRADED MODES (G4)</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Every failure has one defined response</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10</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298448"/>
          <a:ext cx="11274552" cy="914400"/>
        </p:xfrm>
        <a:graphic>
          <a:graphicData uri="http://schemas.openxmlformats.org/drawingml/2006/table">
            <a:tbl>
              <a:tblPr/>
              <a:tblGrid>
                <a:gridCol w="3383280"/>
                <a:gridCol w="6492240"/>
                <a:gridCol w="1399032"/>
              </a:tblGrid>
              <a:tr h="310896">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Failure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Response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algn="ctr" indent="0" marL="0">
                        <a:buNone/>
                      </a:pPr>
                      <a:r>
                        <a:rPr lang="en-US" sz="1050" b="1" dirty="0">
                          <a:solidFill>
                            <a:srgbClr val="E2B54E"/>
                          </a:solidFill>
                          <a:latin typeface="Calibri" pitchFamily="34" charset="0"/>
                          <a:ea typeface="Calibri" pitchFamily="34" charset="-122"/>
                          <a:cs typeface="Calibri" pitchFamily="34" charset="-120"/>
                        </a:rPr>
                        <a:t>From</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r>
              <a:tr h="438912">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Market data STALE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No direction, no Report 2; other questions answered; stop time stated</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00" dirty="0">
                          <a:solidFill>
                            <a:srgbClr val="A3AEBB"/>
                          </a:solidFill>
                          <a:latin typeface="Calibri" pitchFamily="34" charset="0"/>
                          <a:ea typeface="Calibri" pitchFamily="34" charset="-122"/>
                          <a:cs typeface="Calibri" pitchFamily="34" charset="-120"/>
                        </a:rPr>
                        <a:t>051 · 058</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38912">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Market closed</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Last session’s picture, labelled; no Report 2</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100" dirty="0">
                          <a:solidFill>
                            <a:srgbClr val="A3AEBB"/>
                          </a:solidFill>
                          <a:latin typeface="Calibri" pitchFamily="34" charset="0"/>
                          <a:ea typeface="Calibri" pitchFamily="34" charset="-122"/>
                          <a:cs typeface="Calibri" pitchFamily="34" charset="-120"/>
                        </a:rPr>
                        <a:t>051 · 058</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438912">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Sensor INVALID or STALE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Listed as unavailable; left out of synthesis</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00" dirty="0">
                          <a:solidFill>
                            <a:srgbClr val="A3AEBB"/>
                          </a:solidFill>
                          <a:latin typeface="Calibri" pitchFamily="34" charset="0"/>
                          <a:ea typeface="Calibri" pitchFamily="34" charset="-122"/>
                          <a:cs typeface="Calibri" pitchFamily="34" charset="-120"/>
                        </a:rPr>
                        <a:t>040</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38912">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Chart missing or from another cycle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Text-only answer; the missing chart is stated</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100" dirty="0">
                          <a:solidFill>
                            <a:srgbClr val="A3AEBB"/>
                          </a:solidFill>
                          <a:latin typeface="Calibri" pitchFamily="34" charset="0"/>
                          <a:ea typeface="Calibri" pitchFamily="34" charset="-122"/>
                          <a:cs typeface="Calibri" pitchFamily="34" charset="-120"/>
                        </a:rPr>
                        <a:t>051</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438912">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Promote in progress (RETUNING)</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Sensors CAUTIONARY; half risk pre-set</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00" dirty="0">
                          <a:solidFill>
                            <a:srgbClr val="A3AEBB"/>
                          </a:solidFill>
                          <a:latin typeface="Calibri" pitchFamily="34" charset="0"/>
                          <a:ea typeface="Calibri" pitchFamily="34" charset="-122"/>
                          <a:cs typeface="Calibri" pitchFamily="34" charset="-120"/>
                        </a:rPr>
                        <a:t>015 · 061</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38912">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Model provider down</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Fallback model; if both fail, a fixed answer from the sensor board</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100" dirty="0">
                          <a:solidFill>
                            <a:srgbClr val="A3AEBB"/>
                          </a:solidFill>
                          <a:latin typeface="Calibri" pitchFamily="34" charset="0"/>
                          <a:ea typeface="Calibri" pitchFamily="34" charset="-122"/>
                          <a:cs typeface="Calibri" pitchFamily="34" charset="-120"/>
                        </a:rPr>
                        <a:t>055</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438912">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Quota exhausted</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Refused before any model call; balance shown</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00" dirty="0">
                          <a:solidFill>
                            <a:srgbClr val="A3AEBB"/>
                          </a:solidFill>
                          <a:latin typeface="Calibri" pitchFamily="34" charset="0"/>
                          <a:ea typeface="Calibri" pitchFamily="34" charset="-122"/>
                          <a:cs typeface="Calibri" pitchFamily="34" charset="-120"/>
                        </a:rPr>
                        <a:t>050</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38912">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Knowledge index won’t load</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Report 1 from sensor data, flagged; Report 2 unaffected</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100" b="1" dirty="0">
                          <a:solidFill>
                            <a:srgbClr val="E2B54E"/>
                          </a:solidFill>
                          <a:latin typeface="Calibri" pitchFamily="34" charset="0"/>
                          <a:ea typeface="Calibri" pitchFamily="34" charset="-122"/>
                          <a:cs typeface="Calibri" pitchFamily="34" charset="-120"/>
                        </a:rPr>
                        <a:t>new</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438912">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News calendar not exported for 45 min</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Blackout still applied from the last known schedule; age shown</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00" b="1" dirty="0">
                          <a:solidFill>
                            <a:srgbClr val="E2B54E"/>
                          </a:solidFill>
                          <a:latin typeface="Calibri" pitchFamily="34" charset="0"/>
                          <a:ea typeface="Calibri" pitchFamily="34" charset="-122"/>
                          <a:cs typeface="Calibri" pitchFamily="34" charset="-120"/>
                        </a:rPr>
                        <a:t>new</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38912">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symbol_specs older than 7 days</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Report 2 not offered until the specs refresh</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100" b="1" dirty="0">
                          <a:solidFill>
                            <a:srgbClr val="E2B54E"/>
                          </a:solidFill>
                          <a:latin typeface="Calibri" pitchFamily="34" charset="0"/>
                          <a:ea typeface="Calibri" pitchFamily="34" charset="-122"/>
                          <a:cs typeface="Calibri" pitchFamily="34" charset="-120"/>
                        </a:rPr>
                        <a:t>new</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B7A3E0"/>
          </a:solidFill>
          <a:ln w="15875">
            <a:solidFill>
              <a:srgbClr val="B7A3E0"/>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7</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7 · PLATFORM &amp; GOVERNANCE · GOLDEN SCENARIOS (G4)</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Stored cycles, replayed end to end on every change</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11</a:t>
            </a:r>
            <a:endParaRPr lang="en-US" sz="1000" dirty="0"/>
          </a:p>
        </p:txBody>
      </p:sp>
      <p:sp>
        <p:nvSpPr>
          <p:cNvPr id="8" name="Shape 5"/>
          <p:cNvSpPr/>
          <p:nvPr/>
        </p:nvSpPr>
        <p:spPr>
          <a:xfrm>
            <a:off x="457200" y="1325880"/>
            <a:ext cx="5760720" cy="4956048"/>
          </a:xfrm>
          <a:prstGeom prst="roundRect">
            <a:avLst>
              <a:gd name="adj" fmla="val 1292"/>
            </a:avLst>
          </a:prstGeom>
          <a:solidFill>
            <a:srgbClr val="1D242E"/>
          </a:solidFill>
          <a:ln w="9525">
            <a:solidFill>
              <a:srgbClr val="323C49"/>
            </a:solidFill>
            <a:prstDash val="solid"/>
          </a:ln>
        </p:spPr>
      </p:sp>
      <p:sp>
        <p:nvSpPr>
          <p:cNvPr id="9" name="Text 6"/>
          <p:cNvSpPr txBox="1"/>
          <p:nvPr/>
        </p:nvSpPr>
        <p:spPr>
          <a:xfrm>
            <a:off x="640080" y="1435608"/>
            <a:ext cx="5394960" cy="256032"/>
          </a:xfrm>
          <a:prstGeom prst="rect">
            <a:avLst/>
          </a:prstGeom>
          <a:noFill/>
          <a:ln/>
        </p:spPr>
        <p:txBody>
          <a:bodyPr wrap="square" lIns="0" tIns="0" rIns="0" bIns="0" rtlCol="0" anchor="t"/>
          <a:lstStyle/>
          <a:p>
            <a:pPr indent="0" marL="0">
              <a:buNone/>
            </a:pPr>
            <a:r>
              <a:rPr lang="en-US" sz="950" b="1" spc="150" kern="0" dirty="0">
                <a:solidFill>
                  <a:srgbClr val="E2B54E"/>
                </a:solidFill>
                <a:latin typeface="Calibri" pitchFamily="34" charset="0"/>
                <a:ea typeface="Calibri" pitchFamily="34" charset="-122"/>
                <a:cs typeface="Calibri" pitchFamily="34" charset="-120"/>
              </a:rPr>
              <a:t>COVERAGE · ABOUT 24 CYCLES</a:t>
            </a:r>
            <a:endParaRPr lang="en-US" sz="950" dirty="0"/>
          </a:p>
        </p:txBody>
      </p:sp>
      <p:sp>
        <p:nvSpPr>
          <p:cNvPr id="10" name="Shape 7"/>
          <p:cNvSpPr/>
          <p:nvPr/>
        </p:nvSpPr>
        <p:spPr>
          <a:xfrm>
            <a:off x="658368" y="1929384"/>
            <a:ext cx="100584" cy="100584"/>
          </a:xfrm>
          <a:prstGeom prst="ellipse">
            <a:avLst/>
          </a:prstGeom>
          <a:solidFill>
            <a:srgbClr val="E2B54E"/>
          </a:solidFill>
          <a:ln w="12700">
            <a:solidFill>
              <a:srgbClr val="E2B54E"/>
            </a:solidFill>
            <a:prstDash val="solid"/>
          </a:ln>
        </p:spPr>
      </p:sp>
      <p:sp>
        <p:nvSpPr>
          <p:cNvPr id="11" name="Text 8"/>
          <p:cNvSpPr txBox="1"/>
          <p:nvPr/>
        </p:nvSpPr>
        <p:spPr>
          <a:xfrm>
            <a:off x="859536" y="1828800"/>
            <a:ext cx="5212080" cy="292608"/>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Every synthesis rule</a:t>
            </a:r>
            <a:endParaRPr lang="en-US" sz="1250" dirty="0"/>
          </a:p>
        </p:txBody>
      </p:sp>
      <p:sp>
        <p:nvSpPr>
          <p:cNvPr id="12" name="Text 9"/>
          <p:cNvSpPr txBox="1"/>
          <p:nvPr/>
        </p:nvSpPr>
        <p:spPr>
          <a:xfrm>
            <a:off x="859536" y="2121408"/>
            <a:ext cx="5212080" cy="365760"/>
          </a:xfrm>
          <a:prstGeom prst="rect">
            <a:avLst/>
          </a:prstGeom>
          <a:noFill/>
          <a:ln/>
        </p:spPr>
        <p:txBody>
          <a:bodyPr wrap="square" lIns="0" tIns="0" rIns="0" bIns="0" rtlCol="0" anchor="t"/>
          <a:lstStyle/>
          <a:p>
            <a:pPr indent="0" marL="0">
              <a:buNone/>
            </a:pPr>
            <a:r>
              <a:rPr lang="en-US" sz="1100" dirty="0">
                <a:solidFill>
                  <a:srgbClr val="A3AEBB"/>
                </a:solidFill>
                <a:latin typeface="Calibri" pitchFamily="34" charset="0"/>
                <a:ea typeface="Calibri" pitchFamily="34" charset="-122"/>
                <a:cs typeface="Calibri" pitchFamily="34" charset="-120"/>
              </a:rPr>
              <a:t>rules 0–5, 3s and no match, for both trader types</a:t>
            </a:r>
            <a:endParaRPr lang="en-US" sz="1100" dirty="0"/>
          </a:p>
        </p:txBody>
      </p:sp>
      <p:sp>
        <p:nvSpPr>
          <p:cNvPr id="13" name="Shape 10"/>
          <p:cNvSpPr/>
          <p:nvPr/>
        </p:nvSpPr>
        <p:spPr>
          <a:xfrm>
            <a:off x="658368" y="2642616"/>
            <a:ext cx="100584" cy="100584"/>
          </a:xfrm>
          <a:prstGeom prst="ellipse">
            <a:avLst/>
          </a:prstGeom>
          <a:solidFill>
            <a:srgbClr val="E2B54E"/>
          </a:solidFill>
          <a:ln w="12700">
            <a:solidFill>
              <a:srgbClr val="E2B54E"/>
            </a:solidFill>
            <a:prstDash val="solid"/>
          </a:ln>
        </p:spPr>
      </p:sp>
      <p:sp>
        <p:nvSpPr>
          <p:cNvPr id="14" name="Text 11"/>
          <p:cNvSpPr txBox="1"/>
          <p:nvPr/>
        </p:nvSpPr>
        <p:spPr>
          <a:xfrm>
            <a:off x="859536" y="2542032"/>
            <a:ext cx="5212080" cy="292608"/>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Every data status</a:t>
            </a:r>
            <a:endParaRPr lang="en-US" sz="1250" dirty="0"/>
          </a:p>
        </p:txBody>
      </p:sp>
      <p:sp>
        <p:nvSpPr>
          <p:cNvPr id="15" name="Text 12"/>
          <p:cNvSpPr txBox="1"/>
          <p:nvPr/>
        </p:nvSpPr>
        <p:spPr>
          <a:xfrm>
            <a:off x="859536" y="2834640"/>
            <a:ext cx="5212080" cy="365760"/>
          </a:xfrm>
          <a:prstGeom prst="rect">
            <a:avLst/>
          </a:prstGeom>
          <a:noFill/>
          <a:ln/>
        </p:spPr>
        <p:txBody>
          <a:bodyPr wrap="square" lIns="0" tIns="0" rIns="0" bIns="0" rtlCol="0" anchor="t"/>
          <a:lstStyle/>
          <a:p>
            <a:pPr indent="0" marL="0">
              <a:buNone/>
            </a:pPr>
            <a:r>
              <a:rPr lang="en-US" sz="1100" dirty="0">
                <a:solidFill>
                  <a:srgbClr val="A3AEBB"/>
                </a:solidFill>
                <a:latin typeface="Calibri" pitchFamily="34" charset="0"/>
                <a:ea typeface="Calibri" pitchFamily="34" charset="-122"/>
                <a:cs typeface="Calibri" pitchFamily="34" charset="-120"/>
              </a:rPr>
              <a:t>FRESH, DELAYED, STALE, MARKET CLOSED, RETUNING</a:t>
            </a:r>
            <a:endParaRPr lang="en-US" sz="1100" dirty="0"/>
          </a:p>
        </p:txBody>
      </p:sp>
      <p:sp>
        <p:nvSpPr>
          <p:cNvPr id="16" name="Shape 13"/>
          <p:cNvSpPr/>
          <p:nvPr/>
        </p:nvSpPr>
        <p:spPr>
          <a:xfrm>
            <a:off x="658368" y="3355848"/>
            <a:ext cx="100584" cy="100584"/>
          </a:xfrm>
          <a:prstGeom prst="ellipse">
            <a:avLst/>
          </a:prstGeom>
          <a:solidFill>
            <a:srgbClr val="E2B54E"/>
          </a:solidFill>
          <a:ln w="12700">
            <a:solidFill>
              <a:srgbClr val="E2B54E"/>
            </a:solidFill>
            <a:prstDash val="solid"/>
          </a:ln>
        </p:spPr>
      </p:sp>
      <p:sp>
        <p:nvSpPr>
          <p:cNvPr id="17" name="Text 14"/>
          <p:cNvSpPr txBox="1"/>
          <p:nvPr/>
        </p:nvSpPr>
        <p:spPr>
          <a:xfrm>
            <a:off x="859536" y="3255264"/>
            <a:ext cx="5212080" cy="292608"/>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Every caution</a:t>
            </a:r>
            <a:endParaRPr lang="en-US" sz="1250" dirty="0"/>
          </a:p>
        </p:txBody>
      </p:sp>
      <p:sp>
        <p:nvSpPr>
          <p:cNvPr id="18" name="Text 15"/>
          <p:cNvSpPr txBox="1"/>
          <p:nvPr/>
        </p:nvSpPr>
        <p:spPr>
          <a:xfrm>
            <a:off x="859536" y="3547872"/>
            <a:ext cx="5212080" cy="365760"/>
          </a:xfrm>
          <a:prstGeom prst="rect">
            <a:avLst/>
          </a:prstGeom>
          <a:noFill/>
          <a:ln/>
        </p:spPr>
        <p:txBody>
          <a:bodyPr wrap="square" lIns="0" tIns="0" rIns="0" bIns="0" rtlCol="0" anchor="t"/>
          <a:lstStyle/>
          <a:p>
            <a:pPr indent="0" marL="0">
              <a:buNone/>
            </a:pPr>
            <a:r>
              <a:rPr lang="en-US" sz="1100" dirty="0">
                <a:solidFill>
                  <a:srgbClr val="A3AEBB"/>
                </a:solidFill>
                <a:latin typeface="Calibri" pitchFamily="34" charset="0"/>
                <a:ea typeface="Calibri" pitchFamily="34" charset="-122"/>
                <a:cs typeface="Calibri" pitchFamily="34" charset="-120"/>
              </a:rPr>
              <a:t>MCD0 CAUTIONARY, style mismatch, no room (18 Sep)</a:t>
            </a:r>
            <a:endParaRPr lang="en-US" sz="1100" dirty="0"/>
          </a:p>
        </p:txBody>
      </p:sp>
      <p:sp>
        <p:nvSpPr>
          <p:cNvPr id="19" name="Shape 16"/>
          <p:cNvSpPr/>
          <p:nvPr/>
        </p:nvSpPr>
        <p:spPr>
          <a:xfrm>
            <a:off x="658368" y="4069080"/>
            <a:ext cx="100584" cy="100584"/>
          </a:xfrm>
          <a:prstGeom prst="ellipse">
            <a:avLst/>
          </a:prstGeom>
          <a:solidFill>
            <a:srgbClr val="E2B54E"/>
          </a:solidFill>
          <a:ln w="12700">
            <a:solidFill>
              <a:srgbClr val="E2B54E"/>
            </a:solidFill>
            <a:prstDash val="solid"/>
          </a:ln>
        </p:spPr>
      </p:sp>
      <p:sp>
        <p:nvSpPr>
          <p:cNvPr id="20" name="Text 17"/>
          <p:cNvSpPr txBox="1"/>
          <p:nvPr/>
        </p:nvSpPr>
        <p:spPr>
          <a:xfrm>
            <a:off x="859536" y="3968496"/>
            <a:ext cx="5212080" cy="292608"/>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Every block</a:t>
            </a:r>
            <a:endParaRPr lang="en-US" sz="1250" dirty="0"/>
          </a:p>
        </p:txBody>
      </p:sp>
      <p:sp>
        <p:nvSpPr>
          <p:cNvPr id="21" name="Text 18"/>
          <p:cNvSpPr txBox="1"/>
          <p:nvPr/>
        </p:nvSpPr>
        <p:spPr>
          <a:xfrm>
            <a:off x="859536" y="4261104"/>
            <a:ext cx="5212080" cy="365760"/>
          </a:xfrm>
          <a:prstGeom prst="rect">
            <a:avLst/>
          </a:prstGeom>
          <a:noFill/>
          <a:ln/>
        </p:spPr>
        <p:txBody>
          <a:bodyPr wrap="square" lIns="0" tIns="0" rIns="0" bIns="0" rtlCol="0" anchor="t"/>
          <a:lstStyle/>
          <a:p>
            <a:pPr indent="0" marL="0">
              <a:buNone/>
            </a:pPr>
            <a:r>
              <a:rPr lang="en-US" sz="1100" dirty="0">
                <a:solidFill>
                  <a:srgbClr val="A3AEBB"/>
                </a:solidFill>
                <a:latin typeface="Calibri" pitchFamily="34" charset="0"/>
                <a:ea typeface="Calibri" pitchFamily="34" charset="-122"/>
                <a:cs typeface="Calibri" pitchFamily="34" charset="-120"/>
              </a:rPr>
              <a:t>a Tier-1 release, a price past invalidation</a:t>
            </a:r>
            <a:endParaRPr lang="en-US" sz="1100" dirty="0"/>
          </a:p>
        </p:txBody>
      </p:sp>
      <p:sp>
        <p:nvSpPr>
          <p:cNvPr id="22" name="Shape 19"/>
          <p:cNvSpPr/>
          <p:nvPr/>
        </p:nvSpPr>
        <p:spPr>
          <a:xfrm>
            <a:off x="658368" y="4782312"/>
            <a:ext cx="100584" cy="100584"/>
          </a:xfrm>
          <a:prstGeom prst="ellipse">
            <a:avLst/>
          </a:prstGeom>
          <a:solidFill>
            <a:srgbClr val="E2B54E"/>
          </a:solidFill>
          <a:ln w="12700">
            <a:solidFill>
              <a:srgbClr val="E2B54E"/>
            </a:solidFill>
            <a:prstDash val="solid"/>
          </a:ln>
        </p:spPr>
      </p:sp>
      <p:sp>
        <p:nvSpPr>
          <p:cNvPr id="23" name="Text 20"/>
          <p:cNvSpPr txBox="1"/>
          <p:nvPr/>
        </p:nvSpPr>
        <p:spPr>
          <a:xfrm>
            <a:off x="859536" y="4681728"/>
            <a:ext cx="5212080" cy="292608"/>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Account edges</a:t>
            </a:r>
            <a:endParaRPr lang="en-US" sz="1250" dirty="0"/>
          </a:p>
        </p:txBody>
      </p:sp>
      <p:sp>
        <p:nvSpPr>
          <p:cNvPr id="24" name="Text 21"/>
          <p:cNvSpPr txBox="1"/>
          <p:nvPr/>
        </p:nvSpPr>
        <p:spPr>
          <a:xfrm>
            <a:off x="859536" y="4974336"/>
            <a:ext cx="5212080" cy="365760"/>
          </a:xfrm>
          <a:prstGeom prst="rect">
            <a:avLst/>
          </a:prstGeom>
          <a:noFill/>
          <a:ln/>
        </p:spPr>
        <p:txBody>
          <a:bodyPr wrap="square" lIns="0" tIns="0" rIns="0" bIns="0" rtlCol="0" anchor="t"/>
          <a:lstStyle/>
          <a:p>
            <a:pPr indent="0" marL="0">
              <a:buNone/>
            </a:pPr>
            <a:r>
              <a:rPr lang="en-US" sz="1100" dirty="0">
                <a:solidFill>
                  <a:srgbClr val="A3AEBB"/>
                </a:solidFill>
                <a:latin typeface="Calibri" pitchFamily="34" charset="0"/>
                <a:ea typeface="Calibri" pitchFamily="34" charset="-122"/>
                <a:cs typeface="Calibri" pitchFamily="34" charset="-120"/>
              </a:rPr>
              <a:t>an underflow account; the leverage clamp</a:t>
            </a:r>
            <a:endParaRPr lang="en-US" sz="1100" dirty="0"/>
          </a:p>
        </p:txBody>
      </p:sp>
      <p:sp>
        <p:nvSpPr>
          <p:cNvPr id="25" name="Shape 22"/>
          <p:cNvSpPr/>
          <p:nvPr/>
        </p:nvSpPr>
        <p:spPr>
          <a:xfrm>
            <a:off x="658368" y="5495544"/>
            <a:ext cx="100584" cy="100584"/>
          </a:xfrm>
          <a:prstGeom prst="ellipse">
            <a:avLst/>
          </a:prstGeom>
          <a:solidFill>
            <a:srgbClr val="E2B54E"/>
          </a:solidFill>
          <a:ln w="12700">
            <a:solidFill>
              <a:srgbClr val="E2B54E"/>
            </a:solidFill>
            <a:prstDash val="solid"/>
          </a:ln>
        </p:spPr>
      </p:sp>
      <p:sp>
        <p:nvSpPr>
          <p:cNvPr id="26" name="Text 23"/>
          <p:cNvSpPr txBox="1"/>
          <p:nvPr/>
        </p:nvSpPr>
        <p:spPr>
          <a:xfrm>
            <a:off x="859536" y="5394960"/>
            <a:ext cx="5212080" cy="292608"/>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Clock edges</a:t>
            </a:r>
            <a:endParaRPr lang="en-US" sz="1250" dirty="0"/>
          </a:p>
        </p:txBody>
      </p:sp>
      <p:sp>
        <p:nvSpPr>
          <p:cNvPr id="27" name="Text 24"/>
          <p:cNvSpPr txBox="1"/>
          <p:nvPr/>
        </p:nvSpPr>
        <p:spPr>
          <a:xfrm>
            <a:off x="859536" y="5687568"/>
            <a:ext cx="5212080" cy="365760"/>
          </a:xfrm>
          <a:prstGeom prst="rect">
            <a:avLst/>
          </a:prstGeom>
          <a:noFill/>
          <a:ln/>
        </p:spPr>
        <p:txBody>
          <a:bodyPr wrap="square" lIns="0" tIns="0" rIns="0" bIns="0" rtlCol="0" anchor="t"/>
          <a:lstStyle/>
          <a:p>
            <a:pPr indent="0" marL="0">
              <a:buNone/>
            </a:pPr>
            <a:r>
              <a:rPr lang="en-US" sz="1100" dirty="0">
                <a:solidFill>
                  <a:srgbClr val="A3AEBB"/>
                </a:solidFill>
                <a:latin typeface="Calibri" pitchFamily="34" charset="0"/>
                <a:ea typeface="Calibri" pitchFamily="34" charset="-122"/>
                <a:cs typeface="Calibri" pitchFamily="34" charset="-120"/>
              </a:rPr>
              <a:t>a weekend, and the broker’s clock change</a:t>
            </a:r>
            <a:endParaRPr lang="en-US" sz="1100" dirty="0"/>
          </a:p>
        </p:txBody>
      </p:sp>
      <p:sp>
        <p:nvSpPr>
          <p:cNvPr id="28" name="Text 25"/>
          <p:cNvSpPr txBox="1"/>
          <p:nvPr/>
        </p:nvSpPr>
        <p:spPr>
          <a:xfrm>
            <a:off x="6446520" y="1325880"/>
            <a:ext cx="5303520" cy="256032"/>
          </a:xfrm>
          <a:prstGeom prst="rect">
            <a:avLst/>
          </a:prstGeom>
          <a:noFill/>
          <a:ln/>
        </p:spPr>
        <p:txBody>
          <a:bodyPr wrap="square" lIns="0" tIns="0" rIns="0" bIns="0" rtlCol="0" anchor="t"/>
          <a:lstStyle/>
          <a:p>
            <a:pPr indent="0" marL="0">
              <a:buNone/>
            </a:pPr>
            <a:r>
              <a:rPr lang="en-US" sz="950" b="1" spc="150" kern="0" dirty="0">
                <a:solidFill>
                  <a:srgbClr val="E2B54E"/>
                </a:solidFill>
                <a:latin typeface="Calibri" pitchFamily="34" charset="0"/>
                <a:ea typeface="Calibri" pitchFamily="34" charset="-122"/>
                <a:cs typeface="Calibri" pitchFamily="34" charset="-120"/>
              </a:rPr>
              <a:t>THE RELEASE GATE · FIVE TEST ASSETS</a:t>
            </a:r>
            <a:endParaRPr lang="en-US" sz="9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46520" y="1645920"/>
          <a:ext cx="5285232" cy="914400"/>
        </p:xfrm>
        <a:graphic>
          <a:graphicData uri="http://schemas.openxmlformats.org/drawingml/2006/table">
            <a:tbl>
              <a:tblPr/>
              <a:tblGrid>
                <a:gridCol w="1920240"/>
                <a:gridCol w="2377440"/>
                <a:gridCol w="987552"/>
              </a:tblGrid>
              <a:tr h="310896">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Asset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Tests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algn="ctr" indent="0" marL="0">
                        <a:buNone/>
                      </a:pPr>
                      <a:r>
                        <a:rPr lang="en-US" sz="1050" b="1" dirty="0">
                          <a:solidFill>
                            <a:srgbClr val="E2B54E"/>
                          </a:solidFill>
                          <a:latin typeface="Calibri" pitchFamily="34" charset="0"/>
                          <a:ea typeface="Calibri" pitchFamily="34" charset="-122"/>
                          <a:cs typeface="Calibri" pitchFamily="34" charset="-120"/>
                        </a:rPr>
                        <a:t>From</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r>
              <a:tr h="475488">
                <a:tc>
                  <a:txBody>
                    <a:bodyPr/>
                    <a:lstStyle/>
                    <a:p>
                      <a:pPr indent="0" marL="0">
                        <a:buNone/>
                      </a:pPr>
                      <a:r>
                        <a:rPr lang="en-US" sz="1100" b="1" dirty="0">
                          <a:solidFill>
                            <a:srgbClr val="E2B54E"/>
                          </a:solidFill>
                          <a:latin typeface="Calibri" pitchFamily="34" charset="0"/>
                          <a:ea typeface="Calibri" pitchFamily="34" charset="-122"/>
                          <a:cs typeface="Calibri" pitchFamily="34" charset="-120"/>
                        </a:rPr>
                        <a:t>Golden scenarios</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whole cycle to Report 2</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00" dirty="0">
                          <a:solidFill>
                            <a:srgbClr val="A3AEBB"/>
                          </a:solidFill>
                          <a:latin typeface="Calibri" pitchFamily="34" charset="0"/>
                          <a:ea typeface="Calibri" pitchFamily="34" charset="-122"/>
                          <a:cs typeface="Calibri" pitchFamily="34" charset="-120"/>
                        </a:rPr>
                        <a:t>this section</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75488">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Labelled question set</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routing and retrieval, 16 languages</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100" dirty="0">
                          <a:solidFill>
                            <a:srgbClr val="A3AEBB"/>
                          </a:solidFill>
                          <a:latin typeface="Calibri" pitchFamily="34" charset="0"/>
                          <a:ea typeface="Calibri" pitchFamily="34" charset="-122"/>
                          <a:cs typeface="Calibri" pitchFamily="34" charset="-120"/>
                        </a:rPr>
                        <a:t>044</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475488">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Model evaluation suite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a model joins only after passing</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00" dirty="0">
                          <a:solidFill>
                            <a:srgbClr val="A3AEBB"/>
                          </a:solidFill>
                          <a:latin typeface="Calibri" pitchFamily="34" charset="0"/>
                          <a:ea typeface="Calibri" pitchFamily="34" charset="-122"/>
                          <a:cs typeface="Calibri" pitchFamily="34" charset="-120"/>
                        </a:rPr>
                        <a:t>055</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75488">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Engine 4 fixtures</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worked example, blackout, underflow</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100" dirty="0">
                          <a:solidFill>
                            <a:srgbClr val="A3AEBB"/>
                          </a:solidFill>
                          <a:latin typeface="Calibri" pitchFamily="34" charset="0"/>
                          <a:ea typeface="Calibri" pitchFamily="34" charset="-122"/>
                          <a:cs typeface="Calibri" pitchFamily="34" charset="-120"/>
                        </a:rPr>
                        <a:t>065</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475488">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Point-in-time replay</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sensor certification</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00" dirty="0">
                          <a:solidFill>
                            <a:srgbClr val="A3AEBB"/>
                          </a:solidFill>
                          <a:latin typeface="Calibri" pitchFamily="34" charset="0"/>
                          <a:ea typeface="Calibri" pitchFamily="34" charset="-122"/>
                          <a:cs typeface="Calibri" pitchFamily="34" charset="-120"/>
                        </a:rPr>
                        <a:t>020</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bl>
          </a:graphicData>
        </a:graphic>
      </p:graphicFrame>
      <p:sp>
        <p:nvSpPr>
          <p:cNvPr id="30" name="Shape 26"/>
          <p:cNvSpPr/>
          <p:nvPr/>
        </p:nvSpPr>
        <p:spPr>
          <a:xfrm>
            <a:off x="6446520" y="4663440"/>
            <a:ext cx="5285232" cy="1618488"/>
          </a:xfrm>
          <a:prstGeom prst="roundRect">
            <a:avLst>
              <a:gd name="adj" fmla="val 3955"/>
            </a:avLst>
          </a:prstGeom>
          <a:solidFill>
            <a:srgbClr val="2E2715"/>
          </a:solidFill>
          <a:ln w="9525">
            <a:solidFill>
              <a:srgbClr val="2E2715"/>
            </a:solidFill>
            <a:prstDash val="solid"/>
          </a:ln>
        </p:spPr>
      </p:sp>
      <p:sp>
        <p:nvSpPr>
          <p:cNvPr id="31" name="Text 27"/>
          <p:cNvSpPr txBox="1"/>
          <p:nvPr/>
        </p:nvSpPr>
        <p:spPr>
          <a:xfrm>
            <a:off x="6629400" y="4663440"/>
            <a:ext cx="4937760" cy="1618488"/>
          </a:xfrm>
          <a:prstGeom prst="rect">
            <a:avLst/>
          </a:prstGeom>
          <a:noFill/>
          <a:ln/>
        </p:spPr>
        <p:txBody>
          <a:bodyPr wrap="square" lIns="0" tIns="0" rIns="0" bIns="0" rtlCol="0" anchor="ctr"/>
          <a:lstStyle/>
          <a:p>
            <a:pPr indent="0" marL="0">
              <a:buNone/>
            </a:pPr>
            <a:r>
              <a:rPr lang="en-US" sz="1250" dirty="0">
                <a:solidFill>
                  <a:srgbClr val="EEF1F4"/>
                </a:solidFill>
                <a:latin typeface="Calibri" pitchFamily="34" charset="0"/>
                <a:ea typeface="Calibri" pitchFamily="34" charset="-122"/>
                <a:cs typeface="Calibri" pitchFamily="34" charset="-120"/>
              </a:rPr>
              <a:t>Run on every change to sensors, rules, prompts, models, the corpus or Engine 4. Any failure stops the deploy.</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B7A3E0"/>
          </a:solidFill>
          <a:ln w="15875">
            <a:solidFill>
              <a:srgbClr val="B7A3E0"/>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7</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7 · PLATFORM &amp; GOVERNANCE · OPERATIONS</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One admin page and five alerts</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12</a:t>
            </a:r>
            <a:endParaRPr lang="en-US" sz="1000" dirty="0"/>
          </a:p>
        </p:txBody>
      </p:sp>
      <p:sp>
        <p:nvSpPr>
          <p:cNvPr id="8" name="Text 5"/>
          <p:cNvSpPr txBox="1"/>
          <p:nvPr/>
        </p:nvSpPr>
        <p:spPr>
          <a:xfrm>
            <a:off x="457200" y="1325880"/>
            <a:ext cx="5486400" cy="256032"/>
          </a:xfrm>
          <a:prstGeom prst="rect">
            <a:avLst/>
          </a:prstGeom>
          <a:noFill/>
          <a:ln/>
        </p:spPr>
        <p:txBody>
          <a:bodyPr wrap="square" lIns="0" tIns="0" rIns="0" bIns="0" rtlCol="0" anchor="t"/>
          <a:lstStyle/>
          <a:p>
            <a:pPr indent="0" marL="0">
              <a:buNone/>
            </a:pPr>
            <a:r>
              <a:rPr lang="en-US" sz="950" b="1" spc="150" kern="0" dirty="0">
                <a:solidFill>
                  <a:srgbClr val="E2B54E"/>
                </a:solidFill>
                <a:latin typeface="Calibri" pitchFamily="34" charset="0"/>
                <a:ea typeface="Calibri" pitchFamily="34" charset="-122"/>
                <a:cs typeface="Calibri" pitchFamily="34" charset="-120"/>
              </a:rPr>
              <a:t>ON THE PAGE</a:t>
            </a:r>
            <a:endParaRPr lang="en-US" sz="950" dirty="0"/>
          </a:p>
        </p:txBody>
      </p:sp>
      <p:sp>
        <p:nvSpPr>
          <p:cNvPr id="9" name="Shape 6"/>
          <p:cNvSpPr/>
          <p:nvPr/>
        </p:nvSpPr>
        <p:spPr>
          <a:xfrm>
            <a:off x="457200" y="1645920"/>
            <a:ext cx="3429000" cy="1426464"/>
          </a:xfrm>
          <a:prstGeom prst="roundRect">
            <a:avLst>
              <a:gd name="adj" fmla="val 4487"/>
            </a:avLst>
          </a:prstGeom>
          <a:solidFill>
            <a:srgbClr val="1D242E"/>
          </a:solidFill>
          <a:ln w="9525">
            <a:solidFill>
              <a:srgbClr val="323C49"/>
            </a:solidFill>
            <a:prstDash val="solid"/>
          </a:ln>
        </p:spPr>
      </p:sp>
      <p:sp>
        <p:nvSpPr>
          <p:cNvPr id="10" name="Text 7"/>
          <p:cNvSpPr txBox="1"/>
          <p:nvPr/>
        </p:nvSpPr>
        <p:spPr>
          <a:xfrm>
            <a:off x="603504" y="1737360"/>
            <a:ext cx="3154680" cy="329184"/>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Pipeline</a:t>
            </a:r>
            <a:endParaRPr lang="en-US" sz="1250" dirty="0"/>
          </a:p>
        </p:txBody>
      </p:sp>
      <p:sp>
        <p:nvSpPr>
          <p:cNvPr id="11" name="Text 8"/>
          <p:cNvSpPr txBox="1"/>
          <p:nvPr/>
        </p:nvSpPr>
        <p:spPr>
          <a:xfrm>
            <a:off x="603504" y="2103120"/>
            <a:ext cx="3154680" cy="914400"/>
          </a:xfrm>
          <a:prstGeom prst="rect">
            <a:avLst/>
          </a:prstGeom>
          <a:noFill/>
          <a:ln/>
        </p:spPr>
        <p:txBody>
          <a:bodyPr wrap="square" lIns="0" tIns="0" rIns="0" bIns="0" rtlCol="0" anchor="t"/>
          <a:lstStyle/>
          <a:p>
            <a:pPr indent="0" marL="0">
              <a:buNone/>
            </a:pPr>
            <a:r>
              <a:rPr lang="en-US" sz="1100" dirty="0">
                <a:solidFill>
                  <a:srgbClr val="A3AEBB"/>
                </a:solidFill>
                <a:latin typeface="Calibri" pitchFamily="34" charset="0"/>
                <a:ea typeface="Calibri" pitchFamily="34" charset="-122"/>
                <a:cs typeface="Calibri" pitchFamily="34" charset="-120"/>
              </a:rPr>
              <a:t>cycle ready time · STALE and DELAYED counts · push throughput vs demand</a:t>
            </a:r>
            <a:endParaRPr lang="en-US" sz="1100" dirty="0"/>
          </a:p>
        </p:txBody>
      </p:sp>
      <p:sp>
        <p:nvSpPr>
          <p:cNvPr id="12" name="Shape 9"/>
          <p:cNvSpPr/>
          <p:nvPr/>
        </p:nvSpPr>
        <p:spPr>
          <a:xfrm>
            <a:off x="4023360" y="1645920"/>
            <a:ext cx="3429000" cy="1426464"/>
          </a:xfrm>
          <a:prstGeom prst="roundRect">
            <a:avLst>
              <a:gd name="adj" fmla="val 4487"/>
            </a:avLst>
          </a:prstGeom>
          <a:solidFill>
            <a:srgbClr val="1D242E"/>
          </a:solidFill>
          <a:ln w="9525">
            <a:solidFill>
              <a:srgbClr val="323C49"/>
            </a:solidFill>
            <a:prstDash val="solid"/>
          </a:ln>
        </p:spPr>
      </p:sp>
      <p:sp>
        <p:nvSpPr>
          <p:cNvPr id="13" name="Text 10"/>
          <p:cNvSpPr txBox="1"/>
          <p:nvPr/>
        </p:nvSpPr>
        <p:spPr>
          <a:xfrm>
            <a:off x="4169664" y="1737360"/>
            <a:ext cx="3154680" cy="329184"/>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Sensors + synthesis</a:t>
            </a:r>
            <a:endParaRPr lang="en-US" sz="1250" dirty="0"/>
          </a:p>
        </p:txBody>
      </p:sp>
      <p:sp>
        <p:nvSpPr>
          <p:cNvPr id="14" name="Text 11"/>
          <p:cNvSpPr txBox="1"/>
          <p:nvPr/>
        </p:nvSpPr>
        <p:spPr>
          <a:xfrm>
            <a:off x="4169664" y="2103120"/>
            <a:ext cx="3154680" cy="914400"/>
          </a:xfrm>
          <a:prstGeom prst="rect">
            <a:avLst/>
          </a:prstGeom>
          <a:noFill/>
          <a:ln/>
        </p:spPr>
        <p:txBody>
          <a:bodyPr wrap="square" lIns="0" tIns="0" rIns="0" bIns="0" rtlCol="0" anchor="t"/>
          <a:lstStyle/>
          <a:p>
            <a:pPr indent="0" marL="0">
              <a:buNone/>
            </a:pPr>
            <a:r>
              <a:rPr lang="en-US" sz="1100" dirty="0">
                <a:solidFill>
                  <a:srgbClr val="A3AEBB"/>
                </a:solidFill>
                <a:latin typeface="Calibri" pitchFamily="34" charset="0"/>
                <a:ea typeface="Calibri" pitchFamily="34" charset="-122"/>
                <a:cs typeface="Calibri" pitchFamily="34" charset="-120"/>
              </a:rPr>
              <a:t>INVALID rate per sensor · rule hit counts · NEUTRAL rate</a:t>
            </a:r>
            <a:endParaRPr lang="en-US" sz="1100" dirty="0"/>
          </a:p>
        </p:txBody>
      </p:sp>
      <p:sp>
        <p:nvSpPr>
          <p:cNvPr id="15" name="Shape 12"/>
          <p:cNvSpPr/>
          <p:nvPr/>
        </p:nvSpPr>
        <p:spPr>
          <a:xfrm>
            <a:off x="457200" y="3200400"/>
            <a:ext cx="3429000" cy="1426464"/>
          </a:xfrm>
          <a:prstGeom prst="roundRect">
            <a:avLst>
              <a:gd name="adj" fmla="val 4487"/>
            </a:avLst>
          </a:prstGeom>
          <a:solidFill>
            <a:srgbClr val="1D242E"/>
          </a:solidFill>
          <a:ln w="9525">
            <a:solidFill>
              <a:srgbClr val="323C49"/>
            </a:solidFill>
            <a:prstDash val="solid"/>
          </a:ln>
        </p:spPr>
      </p:sp>
      <p:sp>
        <p:nvSpPr>
          <p:cNvPr id="16" name="Text 13"/>
          <p:cNvSpPr txBox="1"/>
          <p:nvPr/>
        </p:nvSpPr>
        <p:spPr>
          <a:xfrm>
            <a:off x="603504" y="3291840"/>
            <a:ext cx="3154680" cy="329184"/>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Answers</a:t>
            </a:r>
            <a:endParaRPr lang="en-US" sz="1250" dirty="0"/>
          </a:p>
        </p:txBody>
      </p:sp>
      <p:sp>
        <p:nvSpPr>
          <p:cNvPr id="17" name="Text 14"/>
          <p:cNvSpPr txBox="1"/>
          <p:nvPr/>
        </p:nvSpPr>
        <p:spPr>
          <a:xfrm>
            <a:off x="603504" y="3657600"/>
            <a:ext cx="3154680" cy="914400"/>
          </a:xfrm>
          <a:prstGeom prst="rect">
            <a:avLst/>
          </a:prstGeom>
          <a:noFill/>
          <a:ln/>
        </p:spPr>
        <p:txBody>
          <a:bodyPr wrap="square" lIns="0" tIns="0" rIns="0" bIns="0" rtlCol="0" anchor="t"/>
          <a:lstStyle/>
          <a:p>
            <a:pPr indent="0" marL="0">
              <a:buNone/>
            </a:pPr>
            <a:r>
              <a:rPr lang="en-US" sz="1100" dirty="0">
                <a:solidFill>
                  <a:srgbClr val="A3AEBB"/>
                </a:solidFill>
                <a:latin typeface="Calibri" pitchFamily="34" charset="0"/>
                <a:ea typeface="Calibri" pitchFamily="34" charset="-122"/>
                <a:cs typeface="Calibri" pitchFamily="34" charset="-120"/>
              </a:rPr>
              <a:t>number and wording violations · regenerations · stage times</a:t>
            </a:r>
            <a:endParaRPr lang="en-US" sz="1100" dirty="0"/>
          </a:p>
        </p:txBody>
      </p:sp>
      <p:sp>
        <p:nvSpPr>
          <p:cNvPr id="18" name="Shape 15"/>
          <p:cNvSpPr/>
          <p:nvPr/>
        </p:nvSpPr>
        <p:spPr>
          <a:xfrm>
            <a:off x="4023360" y="3200400"/>
            <a:ext cx="3429000" cy="1426464"/>
          </a:xfrm>
          <a:prstGeom prst="roundRect">
            <a:avLst>
              <a:gd name="adj" fmla="val 4487"/>
            </a:avLst>
          </a:prstGeom>
          <a:solidFill>
            <a:srgbClr val="1D242E"/>
          </a:solidFill>
          <a:ln w="9525">
            <a:solidFill>
              <a:srgbClr val="323C49"/>
            </a:solidFill>
            <a:prstDash val="solid"/>
          </a:ln>
        </p:spPr>
      </p:sp>
      <p:sp>
        <p:nvSpPr>
          <p:cNvPr id="19" name="Text 16"/>
          <p:cNvSpPr txBox="1"/>
          <p:nvPr/>
        </p:nvSpPr>
        <p:spPr>
          <a:xfrm>
            <a:off x="4169664" y="3291840"/>
            <a:ext cx="3154680" cy="329184"/>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Cost</a:t>
            </a:r>
            <a:endParaRPr lang="en-US" sz="1250" dirty="0"/>
          </a:p>
        </p:txBody>
      </p:sp>
      <p:sp>
        <p:nvSpPr>
          <p:cNvPr id="20" name="Text 17"/>
          <p:cNvSpPr txBox="1"/>
          <p:nvPr/>
        </p:nvSpPr>
        <p:spPr>
          <a:xfrm>
            <a:off x="4169664" y="3657600"/>
            <a:ext cx="3154680" cy="914400"/>
          </a:xfrm>
          <a:prstGeom prst="rect">
            <a:avLst/>
          </a:prstGeom>
          <a:noFill/>
          <a:ln/>
        </p:spPr>
        <p:txBody>
          <a:bodyPr wrap="square" lIns="0" tIns="0" rIns="0" bIns="0" rtlCol="0" anchor="t"/>
          <a:lstStyle/>
          <a:p>
            <a:pPr indent="0" marL="0">
              <a:buNone/>
            </a:pPr>
            <a:r>
              <a:rPr lang="en-US" sz="1100" dirty="0">
                <a:solidFill>
                  <a:srgbClr val="A3AEBB"/>
                </a:solidFill>
                <a:latin typeface="Calibri" pitchFamily="34" charset="0"/>
                <a:ea typeface="Calibri" pitchFamily="34" charset="-122"/>
                <a:cs typeface="Calibri" pitchFamily="34" charset="-120"/>
              </a:rPr>
              <a:t>units per message by model · daily spend · quota use by tier</a:t>
            </a:r>
            <a:endParaRPr lang="en-US" sz="1100" dirty="0"/>
          </a:p>
        </p:txBody>
      </p:sp>
      <p:sp>
        <p:nvSpPr>
          <p:cNvPr id="21" name="Shape 18"/>
          <p:cNvSpPr/>
          <p:nvPr/>
        </p:nvSpPr>
        <p:spPr>
          <a:xfrm>
            <a:off x="457200" y="4754880"/>
            <a:ext cx="3429000" cy="1426464"/>
          </a:xfrm>
          <a:prstGeom prst="roundRect">
            <a:avLst>
              <a:gd name="adj" fmla="val 4487"/>
            </a:avLst>
          </a:prstGeom>
          <a:solidFill>
            <a:srgbClr val="1D242E"/>
          </a:solidFill>
          <a:ln w="9525">
            <a:solidFill>
              <a:srgbClr val="323C49"/>
            </a:solidFill>
            <a:prstDash val="solid"/>
          </a:ln>
        </p:spPr>
      </p:sp>
      <p:sp>
        <p:nvSpPr>
          <p:cNvPr id="22" name="Text 19"/>
          <p:cNvSpPr txBox="1"/>
          <p:nvPr/>
        </p:nvSpPr>
        <p:spPr>
          <a:xfrm>
            <a:off x="603504" y="4846320"/>
            <a:ext cx="3154680" cy="329184"/>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Setups</a:t>
            </a:r>
            <a:endParaRPr lang="en-US" sz="1250" dirty="0"/>
          </a:p>
        </p:txBody>
      </p:sp>
      <p:sp>
        <p:nvSpPr>
          <p:cNvPr id="23" name="Text 20"/>
          <p:cNvSpPr txBox="1"/>
          <p:nvPr/>
        </p:nvSpPr>
        <p:spPr>
          <a:xfrm>
            <a:off x="603504" y="5212080"/>
            <a:ext cx="3154680" cy="914400"/>
          </a:xfrm>
          <a:prstGeom prst="rect">
            <a:avLst/>
          </a:prstGeom>
          <a:noFill/>
          <a:ln/>
        </p:spPr>
        <p:txBody>
          <a:bodyPr wrap="square" lIns="0" tIns="0" rIns="0" bIns="0" rtlCol="0" anchor="t"/>
          <a:lstStyle/>
          <a:p>
            <a:pPr indent="0" marL="0">
              <a:buNone/>
            </a:pPr>
            <a:r>
              <a:rPr lang="en-US" sz="1100" dirty="0">
                <a:solidFill>
                  <a:srgbClr val="A3AEBB"/>
                </a:solidFill>
                <a:latin typeface="Calibri" pitchFamily="34" charset="0"/>
                <a:ea typeface="Calibri" pitchFamily="34" charset="-122"/>
                <a:cs typeface="Calibri" pitchFamily="34" charset="-120"/>
              </a:rPr>
              <a:t>Report 2 offered and blocked, by reason · accept, modify, decline</a:t>
            </a:r>
            <a:endParaRPr lang="en-US" sz="1100" dirty="0"/>
          </a:p>
        </p:txBody>
      </p:sp>
      <p:sp>
        <p:nvSpPr>
          <p:cNvPr id="24" name="Shape 21"/>
          <p:cNvSpPr/>
          <p:nvPr/>
        </p:nvSpPr>
        <p:spPr>
          <a:xfrm>
            <a:off x="4023360" y="4754880"/>
            <a:ext cx="3429000" cy="1426464"/>
          </a:xfrm>
          <a:prstGeom prst="roundRect">
            <a:avLst>
              <a:gd name="adj" fmla="val 4487"/>
            </a:avLst>
          </a:prstGeom>
          <a:solidFill>
            <a:srgbClr val="1D242E"/>
          </a:solidFill>
          <a:ln w="9525">
            <a:solidFill>
              <a:srgbClr val="323C49"/>
            </a:solidFill>
            <a:prstDash val="solid"/>
          </a:ln>
        </p:spPr>
      </p:sp>
      <p:sp>
        <p:nvSpPr>
          <p:cNvPr id="25" name="Text 22"/>
          <p:cNvSpPr txBox="1"/>
          <p:nvPr/>
        </p:nvSpPr>
        <p:spPr>
          <a:xfrm>
            <a:off x="4169664" y="4846320"/>
            <a:ext cx="3154680" cy="329184"/>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Languages</a:t>
            </a:r>
            <a:endParaRPr lang="en-US" sz="1250" dirty="0"/>
          </a:p>
        </p:txBody>
      </p:sp>
      <p:sp>
        <p:nvSpPr>
          <p:cNvPr id="26" name="Text 23"/>
          <p:cNvSpPr txBox="1"/>
          <p:nvPr/>
        </p:nvSpPr>
        <p:spPr>
          <a:xfrm>
            <a:off x="4169664" y="5212080"/>
            <a:ext cx="3154680" cy="914400"/>
          </a:xfrm>
          <a:prstGeom prst="rect">
            <a:avLst/>
          </a:prstGeom>
          <a:noFill/>
          <a:ln/>
        </p:spPr>
        <p:txBody>
          <a:bodyPr wrap="square" lIns="0" tIns="0" rIns="0" bIns="0" rtlCol="0" anchor="t"/>
          <a:lstStyle/>
          <a:p>
            <a:pPr indent="0" marL="0">
              <a:buNone/>
            </a:pPr>
            <a:r>
              <a:rPr lang="en-US" sz="1100" dirty="0">
                <a:solidFill>
                  <a:srgbClr val="A3AEBB"/>
                </a:solidFill>
                <a:latin typeface="Calibri" pitchFamily="34" charset="0"/>
                <a:ea typeface="Calibri" pitchFamily="34" charset="-122"/>
                <a:cs typeface="Calibri" pitchFamily="34" charset="-120"/>
              </a:rPr>
              <a:t>questions and routing accuracy per language</a:t>
            </a:r>
            <a:endParaRPr lang="en-US" sz="1100" dirty="0"/>
          </a:p>
        </p:txBody>
      </p:sp>
      <p:sp>
        <p:nvSpPr>
          <p:cNvPr id="27" name="Text 24"/>
          <p:cNvSpPr txBox="1"/>
          <p:nvPr/>
        </p:nvSpPr>
        <p:spPr>
          <a:xfrm>
            <a:off x="7726680" y="1325880"/>
            <a:ext cx="3657600" cy="256032"/>
          </a:xfrm>
          <a:prstGeom prst="rect">
            <a:avLst/>
          </a:prstGeom>
          <a:noFill/>
          <a:ln/>
        </p:spPr>
        <p:txBody>
          <a:bodyPr wrap="square" lIns="0" tIns="0" rIns="0" bIns="0" rtlCol="0" anchor="t"/>
          <a:lstStyle/>
          <a:p>
            <a:pPr indent="0" marL="0">
              <a:buNone/>
            </a:pPr>
            <a:r>
              <a:rPr lang="en-US" sz="950" b="1" spc="150" kern="0" dirty="0">
                <a:solidFill>
                  <a:srgbClr val="E2B54E"/>
                </a:solidFill>
                <a:latin typeface="Calibri" pitchFamily="34" charset="0"/>
                <a:ea typeface="Calibri" pitchFamily="34" charset="-122"/>
                <a:cs typeface="Calibri" pitchFamily="34" charset="-120"/>
              </a:rPr>
              <a:t>ALERTS</a:t>
            </a:r>
            <a:endParaRPr lang="en-US" sz="950" dirty="0"/>
          </a:p>
        </p:txBody>
      </p:sp>
      <p:sp>
        <p:nvSpPr>
          <p:cNvPr id="28" name="Shape 25"/>
          <p:cNvSpPr/>
          <p:nvPr/>
        </p:nvSpPr>
        <p:spPr>
          <a:xfrm>
            <a:off x="7726680" y="1645920"/>
            <a:ext cx="4005072" cy="822960"/>
          </a:xfrm>
          <a:prstGeom prst="roundRect">
            <a:avLst>
              <a:gd name="adj" fmla="val 7778"/>
            </a:avLst>
          </a:prstGeom>
          <a:solidFill>
            <a:srgbClr val="33201F"/>
          </a:solidFill>
          <a:ln w="9525">
            <a:solidFill>
              <a:srgbClr val="33201F"/>
            </a:solidFill>
            <a:prstDash val="solid"/>
          </a:ln>
        </p:spPr>
      </p:sp>
      <p:sp>
        <p:nvSpPr>
          <p:cNvPr id="29" name="Shape 26"/>
          <p:cNvSpPr/>
          <p:nvPr/>
        </p:nvSpPr>
        <p:spPr>
          <a:xfrm>
            <a:off x="7863840" y="1865376"/>
            <a:ext cx="384048" cy="384048"/>
          </a:xfrm>
          <a:prstGeom prst="ellipse">
            <a:avLst/>
          </a:prstGeom>
          <a:solidFill>
            <a:srgbClr val="E5746A"/>
          </a:solidFill>
          <a:ln w="15875">
            <a:solidFill>
              <a:srgbClr val="E5746A"/>
            </a:solidFill>
            <a:prstDash val="solid"/>
          </a:ln>
        </p:spPr>
      </p:sp>
      <p:sp>
        <p:nvSpPr>
          <p:cNvPr id="30" name="Text 27"/>
          <p:cNvSpPr txBox="1"/>
          <p:nvPr/>
        </p:nvSpPr>
        <p:spPr>
          <a:xfrm>
            <a:off x="7863840" y="1865376"/>
            <a:ext cx="384048" cy="384048"/>
          </a:xfrm>
          <a:prstGeom prst="rect">
            <a:avLst/>
          </a:prstGeom>
          <a:noFill/>
          <a:ln/>
        </p:spPr>
        <p:txBody>
          <a:bodyPr wrap="square" lIns="0" tIns="0" rIns="0" bIns="0" rtlCol="0" anchor="ctr"/>
          <a:lstStyle/>
          <a:p>
            <a:pPr algn="ctr" indent="0" marL="0">
              <a:buNone/>
            </a:pPr>
            <a:r>
              <a:rPr lang="en-US" sz="1200" b="1" dirty="0">
                <a:solidFill>
                  <a:srgbClr val="0F1318"/>
                </a:solidFill>
                <a:latin typeface="Cambria" pitchFamily="34" charset="0"/>
                <a:ea typeface="Cambria" pitchFamily="34" charset="-122"/>
                <a:cs typeface="Cambria" pitchFamily="34" charset="-120"/>
              </a:rPr>
              <a:t>1</a:t>
            </a:r>
            <a:endParaRPr lang="en-US" sz="1200" dirty="0"/>
          </a:p>
        </p:txBody>
      </p:sp>
      <p:sp>
        <p:nvSpPr>
          <p:cNvPr id="31" name="Text 28"/>
          <p:cNvSpPr txBox="1"/>
          <p:nvPr/>
        </p:nvSpPr>
        <p:spPr>
          <a:xfrm>
            <a:off x="8366760" y="1700784"/>
            <a:ext cx="3291840" cy="365760"/>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Cycles STALE</a:t>
            </a:r>
            <a:endParaRPr lang="en-US" sz="1250" dirty="0"/>
          </a:p>
        </p:txBody>
      </p:sp>
      <p:sp>
        <p:nvSpPr>
          <p:cNvPr id="32" name="Text 29"/>
          <p:cNvSpPr txBox="1"/>
          <p:nvPr/>
        </p:nvSpPr>
        <p:spPr>
          <a:xfrm>
            <a:off x="8366760" y="2048256"/>
            <a:ext cx="3291840" cy="365760"/>
          </a:xfrm>
          <a:prstGeom prst="rect">
            <a:avLst/>
          </a:prstGeom>
          <a:noFill/>
          <a:ln/>
        </p:spPr>
        <p:txBody>
          <a:bodyPr wrap="square" lIns="0" tIns="0" rIns="0" bIns="0" rtlCol="0" anchor="ctr"/>
          <a:lstStyle/>
          <a:p>
            <a:pPr indent="0" marL="0">
              <a:buNone/>
            </a:pPr>
            <a:r>
              <a:rPr lang="en-US" sz="1100" dirty="0">
                <a:solidFill>
                  <a:srgbClr val="A3AEBB"/>
                </a:solidFill>
                <a:latin typeface="Calibri" pitchFamily="34" charset="0"/>
                <a:ea typeface="Calibri" pitchFamily="34" charset="-122"/>
                <a:cs typeface="Calibri" pitchFamily="34" charset="-120"/>
              </a:rPr>
              <a:t>2 in a row in market hours</a:t>
            </a:r>
            <a:endParaRPr lang="en-US" sz="1100" dirty="0"/>
          </a:p>
        </p:txBody>
      </p:sp>
      <p:sp>
        <p:nvSpPr>
          <p:cNvPr id="33" name="Shape 30"/>
          <p:cNvSpPr/>
          <p:nvPr/>
        </p:nvSpPr>
        <p:spPr>
          <a:xfrm>
            <a:off x="7726680" y="2578608"/>
            <a:ext cx="4005072" cy="822960"/>
          </a:xfrm>
          <a:prstGeom prst="roundRect">
            <a:avLst>
              <a:gd name="adj" fmla="val 7778"/>
            </a:avLst>
          </a:prstGeom>
          <a:solidFill>
            <a:srgbClr val="33201F"/>
          </a:solidFill>
          <a:ln w="9525">
            <a:solidFill>
              <a:srgbClr val="33201F"/>
            </a:solidFill>
            <a:prstDash val="solid"/>
          </a:ln>
        </p:spPr>
      </p:sp>
      <p:sp>
        <p:nvSpPr>
          <p:cNvPr id="34" name="Shape 31"/>
          <p:cNvSpPr/>
          <p:nvPr/>
        </p:nvSpPr>
        <p:spPr>
          <a:xfrm>
            <a:off x="7863840" y="2798064"/>
            <a:ext cx="384048" cy="384048"/>
          </a:xfrm>
          <a:prstGeom prst="ellipse">
            <a:avLst/>
          </a:prstGeom>
          <a:solidFill>
            <a:srgbClr val="E5746A"/>
          </a:solidFill>
          <a:ln w="15875">
            <a:solidFill>
              <a:srgbClr val="E5746A"/>
            </a:solidFill>
            <a:prstDash val="solid"/>
          </a:ln>
        </p:spPr>
      </p:sp>
      <p:sp>
        <p:nvSpPr>
          <p:cNvPr id="35" name="Text 32"/>
          <p:cNvSpPr txBox="1"/>
          <p:nvPr/>
        </p:nvSpPr>
        <p:spPr>
          <a:xfrm>
            <a:off x="7863840" y="2798064"/>
            <a:ext cx="384048" cy="384048"/>
          </a:xfrm>
          <a:prstGeom prst="rect">
            <a:avLst/>
          </a:prstGeom>
          <a:noFill/>
          <a:ln/>
        </p:spPr>
        <p:txBody>
          <a:bodyPr wrap="square" lIns="0" tIns="0" rIns="0" bIns="0" rtlCol="0" anchor="ctr"/>
          <a:lstStyle/>
          <a:p>
            <a:pPr algn="ctr" indent="0" marL="0">
              <a:buNone/>
            </a:pPr>
            <a:r>
              <a:rPr lang="en-US" sz="1200" b="1" dirty="0">
                <a:solidFill>
                  <a:srgbClr val="0F1318"/>
                </a:solidFill>
                <a:latin typeface="Cambria" pitchFamily="34" charset="0"/>
                <a:ea typeface="Cambria" pitchFamily="34" charset="-122"/>
                <a:cs typeface="Cambria" pitchFamily="34" charset="-120"/>
              </a:rPr>
              <a:t>2</a:t>
            </a:r>
            <a:endParaRPr lang="en-US" sz="1200" dirty="0"/>
          </a:p>
        </p:txBody>
      </p:sp>
      <p:sp>
        <p:nvSpPr>
          <p:cNvPr id="36" name="Text 33"/>
          <p:cNvSpPr txBox="1"/>
          <p:nvPr/>
        </p:nvSpPr>
        <p:spPr>
          <a:xfrm>
            <a:off x="8366760" y="2633472"/>
            <a:ext cx="3291840" cy="365760"/>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Calendar export late</a:t>
            </a:r>
            <a:endParaRPr lang="en-US" sz="1250" dirty="0"/>
          </a:p>
        </p:txBody>
      </p:sp>
      <p:sp>
        <p:nvSpPr>
          <p:cNvPr id="37" name="Text 34"/>
          <p:cNvSpPr txBox="1"/>
          <p:nvPr/>
        </p:nvSpPr>
        <p:spPr>
          <a:xfrm>
            <a:off x="8366760" y="2980944"/>
            <a:ext cx="3291840" cy="365760"/>
          </a:xfrm>
          <a:prstGeom prst="rect">
            <a:avLst/>
          </a:prstGeom>
          <a:noFill/>
          <a:ln/>
        </p:spPr>
        <p:txBody>
          <a:bodyPr wrap="square" lIns="0" tIns="0" rIns="0" bIns="0" rtlCol="0" anchor="ctr"/>
          <a:lstStyle/>
          <a:p>
            <a:pPr indent="0" marL="0">
              <a:buNone/>
            </a:pPr>
            <a:r>
              <a:rPr lang="en-US" sz="1100" dirty="0">
                <a:solidFill>
                  <a:srgbClr val="A3AEBB"/>
                </a:solidFill>
                <a:latin typeface="Calibri" pitchFamily="34" charset="0"/>
                <a:ea typeface="Calibri" pitchFamily="34" charset="-122"/>
                <a:cs typeface="Calibri" pitchFamily="34" charset="-120"/>
              </a:rPr>
              <a:t>none for 45 minutes</a:t>
            </a:r>
            <a:endParaRPr lang="en-US" sz="1100" dirty="0"/>
          </a:p>
        </p:txBody>
      </p:sp>
      <p:sp>
        <p:nvSpPr>
          <p:cNvPr id="38" name="Shape 35"/>
          <p:cNvSpPr/>
          <p:nvPr/>
        </p:nvSpPr>
        <p:spPr>
          <a:xfrm>
            <a:off x="7726680" y="3511296"/>
            <a:ext cx="4005072" cy="822960"/>
          </a:xfrm>
          <a:prstGeom prst="roundRect">
            <a:avLst>
              <a:gd name="adj" fmla="val 7778"/>
            </a:avLst>
          </a:prstGeom>
          <a:solidFill>
            <a:srgbClr val="33201F"/>
          </a:solidFill>
          <a:ln w="9525">
            <a:solidFill>
              <a:srgbClr val="33201F"/>
            </a:solidFill>
            <a:prstDash val="solid"/>
          </a:ln>
        </p:spPr>
      </p:sp>
      <p:sp>
        <p:nvSpPr>
          <p:cNvPr id="39" name="Shape 36"/>
          <p:cNvSpPr/>
          <p:nvPr/>
        </p:nvSpPr>
        <p:spPr>
          <a:xfrm>
            <a:off x="7863840" y="3730752"/>
            <a:ext cx="384048" cy="384048"/>
          </a:xfrm>
          <a:prstGeom prst="ellipse">
            <a:avLst/>
          </a:prstGeom>
          <a:solidFill>
            <a:srgbClr val="E5746A"/>
          </a:solidFill>
          <a:ln w="15875">
            <a:solidFill>
              <a:srgbClr val="E5746A"/>
            </a:solidFill>
            <a:prstDash val="solid"/>
          </a:ln>
        </p:spPr>
      </p:sp>
      <p:sp>
        <p:nvSpPr>
          <p:cNvPr id="40" name="Text 37"/>
          <p:cNvSpPr txBox="1"/>
          <p:nvPr/>
        </p:nvSpPr>
        <p:spPr>
          <a:xfrm>
            <a:off x="7863840" y="3730752"/>
            <a:ext cx="384048" cy="384048"/>
          </a:xfrm>
          <a:prstGeom prst="rect">
            <a:avLst/>
          </a:prstGeom>
          <a:noFill/>
          <a:ln/>
        </p:spPr>
        <p:txBody>
          <a:bodyPr wrap="square" lIns="0" tIns="0" rIns="0" bIns="0" rtlCol="0" anchor="ctr"/>
          <a:lstStyle/>
          <a:p>
            <a:pPr algn="ctr" indent="0" marL="0">
              <a:buNone/>
            </a:pPr>
            <a:r>
              <a:rPr lang="en-US" sz="1200" b="1" dirty="0">
                <a:solidFill>
                  <a:srgbClr val="0F1318"/>
                </a:solidFill>
                <a:latin typeface="Cambria" pitchFamily="34" charset="0"/>
                <a:ea typeface="Cambria" pitchFamily="34" charset="-122"/>
                <a:cs typeface="Cambria" pitchFamily="34" charset="-120"/>
              </a:rPr>
              <a:t>3</a:t>
            </a:r>
            <a:endParaRPr lang="en-US" sz="1200" dirty="0"/>
          </a:p>
        </p:txBody>
      </p:sp>
      <p:sp>
        <p:nvSpPr>
          <p:cNvPr id="41" name="Text 38"/>
          <p:cNvSpPr txBox="1"/>
          <p:nvPr/>
        </p:nvSpPr>
        <p:spPr>
          <a:xfrm>
            <a:off x="8366760" y="3566160"/>
            <a:ext cx="3291840" cy="365760"/>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Checks failing</a:t>
            </a:r>
            <a:endParaRPr lang="en-US" sz="1250" dirty="0"/>
          </a:p>
        </p:txBody>
      </p:sp>
      <p:sp>
        <p:nvSpPr>
          <p:cNvPr id="42" name="Text 39"/>
          <p:cNvSpPr txBox="1"/>
          <p:nvPr/>
        </p:nvSpPr>
        <p:spPr>
          <a:xfrm>
            <a:off x="8366760" y="3913632"/>
            <a:ext cx="3291840" cy="365760"/>
          </a:xfrm>
          <a:prstGeom prst="rect">
            <a:avLst/>
          </a:prstGeom>
          <a:noFill/>
          <a:ln/>
        </p:spPr>
        <p:txBody>
          <a:bodyPr wrap="square" lIns="0" tIns="0" rIns="0" bIns="0" rtlCol="0" anchor="ctr"/>
          <a:lstStyle/>
          <a:p>
            <a:pPr indent="0" marL="0">
              <a:buNone/>
            </a:pPr>
            <a:r>
              <a:rPr lang="en-US" sz="1100" dirty="0">
                <a:solidFill>
                  <a:srgbClr val="A3AEBB"/>
                </a:solidFill>
                <a:latin typeface="Calibri" pitchFamily="34" charset="0"/>
                <a:ea typeface="Calibri" pitchFamily="34" charset="-122"/>
                <a:cs typeface="Calibri" pitchFamily="34" charset="-120"/>
              </a:rPr>
              <a:t>violations above 2% of replies in a day</a:t>
            </a:r>
            <a:endParaRPr lang="en-US" sz="1100" dirty="0"/>
          </a:p>
        </p:txBody>
      </p:sp>
      <p:sp>
        <p:nvSpPr>
          <p:cNvPr id="43" name="Shape 40"/>
          <p:cNvSpPr/>
          <p:nvPr/>
        </p:nvSpPr>
        <p:spPr>
          <a:xfrm>
            <a:off x="7726680" y="4443984"/>
            <a:ext cx="4005072" cy="822960"/>
          </a:xfrm>
          <a:prstGeom prst="roundRect">
            <a:avLst>
              <a:gd name="adj" fmla="val 7778"/>
            </a:avLst>
          </a:prstGeom>
          <a:solidFill>
            <a:srgbClr val="33201F"/>
          </a:solidFill>
          <a:ln w="9525">
            <a:solidFill>
              <a:srgbClr val="33201F"/>
            </a:solidFill>
            <a:prstDash val="solid"/>
          </a:ln>
        </p:spPr>
      </p:sp>
      <p:sp>
        <p:nvSpPr>
          <p:cNvPr id="44" name="Shape 41"/>
          <p:cNvSpPr/>
          <p:nvPr/>
        </p:nvSpPr>
        <p:spPr>
          <a:xfrm>
            <a:off x="7863840" y="4663440"/>
            <a:ext cx="384048" cy="384048"/>
          </a:xfrm>
          <a:prstGeom prst="ellipse">
            <a:avLst/>
          </a:prstGeom>
          <a:solidFill>
            <a:srgbClr val="E5746A"/>
          </a:solidFill>
          <a:ln w="15875">
            <a:solidFill>
              <a:srgbClr val="E5746A"/>
            </a:solidFill>
            <a:prstDash val="solid"/>
          </a:ln>
        </p:spPr>
      </p:sp>
      <p:sp>
        <p:nvSpPr>
          <p:cNvPr id="45" name="Text 42"/>
          <p:cNvSpPr txBox="1"/>
          <p:nvPr/>
        </p:nvSpPr>
        <p:spPr>
          <a:xfrm>
            <a:off x="7863840" y="4663440"/>
            <a:ext cx="384048" cy="384048"/>
          </a:xfrm>
          <a:prstGeom prst="rect">
            <a:avLst/>
          </a:prstGeom>
          <a:noFill/>
          <a:ln/>
        </p:spPr>
        <p:txBody>
          <a:bodyPr wrap="square" lIns="0" tIns="0" rIns="0" bIns="0" rtlCol="0" anchor="ctr"/>
          <a:lstStyle/>
          <a:p>
            <a:pPr algn="ctr" indent="0" marL="0">
              <a:buNone/>
            </a:pPr>
            <a:r>
              <a:rPr lang="en-US" sz="1200" b="1" dirty="0">
                <a:solidFill>
                  <a:srgbClr val="0F1318"/>
                </a:solidFill>
                <a:latin typeface="Cambria" pitchFamily="34" charset="0"/>
                <a:ea typeface="Cambria" pitchFamily="34" charset="-122"/>
                <a:cs typeface="Cambria" pitchFamily="34" charset="-120"/>
              </a:rPr>
              <a:t>4</a:t>
            </a:r>
            <a:endParaRPr lang="en-US" sz="1200" dirty="0"/>
          </a:p>
        </p:txBody>
      </p:sp>
      <p:sp>
        <p:nvSpPr>
          <p:cNvPr id="46" name="Text 43"/>
          <p:cNvSpPr txBox="1"/>
          <p:nvPr/>
        </p:nvSpPr>
        <p:spPr>
          <a:xfrm>
            <a:off x="8366760" y="4498848"/>
            <a:ext cx="3291840" cy="365760"/>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Spend</a:t>
            </a:r>
            <a:endParaRPr lang="en-US" sz="1250" dirty="0"/>
          </a:p>
        </p:txBody>
      </p:sp>
      <p:sp>
        <p:nvSpPr>
          <p:cNvPr id="47" name="Text 44"/>
          <p:cNvSpPr txBox="1"/>
          <p:nvPr/>
        </p:nvSpPr>
        <p:spPr>
          <a:xfrm>
            <a:off x="8366760" y="4846320"/>
            <a:ext cx="3291840" cy="365760"/>
          </a:xfrm>
          <a:prstGeom prst="rect">
            <a:avLst/>
          </a:prstGeom>
          <a:noFill/>
          <a:ln/>
        </p:spPr>
        <p:txBody>
          <a:bodyPr wrap="square" lIns="0" tIns="0" rIns="0" bIns="0" rtlCol="0" anchor="ctr"/>
          <a:lstStyle/>
          <a:p>
            <a:pPr indent="0" marL="0">
              <a:buNone/>
            </a:pPr>
            <a:r>
              <a:rPr lang="en-US" sz="1100" dirty="0">
                <a:solidFill>
                  <a:srgbClr val="A3AEBB"/>
                </a:solidFill>
                <a:latin typeface="Calibri" pitchFamily="34" charset="0"/>
                <a:ea typeface="Calibri" pitchFamily="34" charset="-122"/>
                <a:cs typeface="Calibri" pitchFamily="34" charset="-120"/>
              </a:rPr>
              <a:t>daily model cost above budget</a:t>
            </a:r>
            <a:endParaRPr lang="en-US" sz="1100" dirty="0"/>
          </a:p>
        </p:txBody>
      </p:sp>
      <p:sp>
        <p:nvSpPr>
          <p:cNvPr id="48" name="Shape 45"/>
          <p:cNvSpPr/>
          <p:nvPr/>
        </p:nvSpPr>
        <p:spPr>
          <a:xfrm>
            <a:off x="7726680" y="5376672"/>
            <a:ext cx="4005072" cy="822960"/>
          </a:xfrm>
          <a:prstGeom prst="roundRect">
            <a:avLst>
              <a:gd name="adj" fmla="val 7778"/>
            </a:avLst>
          </a:prstGeom>
          <a:solidFill>
            <a:srgbClr val="33201F"/>
          </a:solidFill>
          <a:ln w="9525">
            <a:solidFill>
              <a:srgbClr val="33201F"/>
            </a:solidFill>
            <a:prstDash val="solid"/>
          </a:ln>
        </p:spPr>
      </p:sp>
      <p:sp>
        <p:nvSpPr>
          <p:cNvPr id="49" name="Shape 46"/>
          <p:cNvSpPr/>
          <p:nvPr/>
        </p:nvSpPr>
        <p:spPr>
          <a:xfrm>
            <a:off x="7863840" y="5596128"/>
            <a:ext cx="384048" cy="384048"/>
          </a:xfrm>
          <a:prstGeom prst="ellipse">
            <a:avLst/>
          </a:prstGeom>
          <a:solidFill>
            <a:srgbClr val="E5746A"/>
          </a:solidFill>
          <a:ln w="15875">
            <a:solidFill>
              <a:srgbClr val="E5746A"/>
            </a:solidFill>
            <a:prstDash val="solid"/>
          </a:ln>
        </p:spPr>
      </p:sp>
      <p:sp>
        <p:nvSpPr>
          <p:cNvPr id="50" name="Text 47"/>
          <p:cNvSpPr txBox="1"/>
          <p:nvPr/>
        </p:nvSpPr>
        <p:spPr>
          <a:xfrm>
            <a:off x="7863840" y="5596128"/>
            <a:ext cx="384048" cy="384048"/>
          </a:xfrm>
          <a:prstGeom prst="rect">
            <a:avLst/>
          </a:prstGeom>
          <a:noFill/>
          <a:ln/>
        </p:spPr>
        <p:txBody>
          <a:bodyPr wrap="square" lIns="0" tIns="0" rIns="0" bIns="0" rtlCol="0" anchor="ctr"/>
          <a:lstStyle/>
          <a:p>
            <a:pPr algn="ctr" indent="0" marL="0">
              <a:buNone/>
            </a:pPr>
            <a:r>
              <a:rPr lang="en-US" sz="1200" b="1" dirty="0">
                <a:solidFill>
                  <a:srgbClr val="0F1318"/>
                </a:solidFill>
                <a:latin typeface="Cambria" pitchFamily="34" charset="0"/>
                <a:ea typeface="Cambria" pitchFamily="34" charset="-122"/>
                <a:cs typeface="Cambria" pitchFamily="34" charset="-120"/>
              </a:rPr>
              <a:t>5</a:t>
            </a:r>
            <a:endParaRPr lang="en-US" sz="1200" dirty="0"/>
          </a:p>
        </p:txBody>
      </p:sp>
      <p:sp>
        <p:nvSpPr>
          <p:cNvPr id="51" name="Text 48"/>
          <p:cNvSpPr txBox="1"/>
          <p:nvPr/>
        </p:nvSpPr>
        <p:spPr>
          <a:xfrm>
            <a:off x="8366760" y="5431536"/>
            <a:ext cx="3291840" cy="365760"/>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Gateway</a:t>
            </a:r>
            <a:endParaRPr lang="en-US" sz="1250" dirty="0"/>
          </a:p>
        </p:txBody>
      </p:sp>
      <p:sp>
        <p:nvSpPr>
          <p:cNvPr id="52" name="Text 49"/>
          <p:cNvSpPr txBox="1"/>
          <p:nvPr/>
        </p:nvSpPr>
        <p:spPr>
          <a:xfrm>
            <a:off x="8366760" y="5779008"/>
            <a:ext cx="3291840" cy="365760"/>
          </a:xfrm>
          <a:prstGeom prst="rect">
            <a:avLst/>
          </a:prstGeom>
          <a:noFill/>
          <a:ln/>
        </p:spPr>
        <p:txBody>
          <a:bodyPr wrap="square" lIns="0" tIns="0" rIns="0" bIns="0" rtlCol="0" anchor="ctr"/>
          <a:lstStyle/>
          <a:p>
            <a:pPr indent="0" marL="0">
              <a:buNone/>
            </a:pPr>
            <a:r>
              <a:rPr lang="en-US" sz="1100" dirty="0">
                <a:solidFill>
                  <a:srgbClr val="A3AEBB"/>
                </a:solidFill>
                <a:latin typeface="Calibri" pitchFamily="34" charset="0"/>
                <a:ea typeface="Calibri" pitchFamily="34" charset="-122"/>
                <a:cs typeface="Calibri" pitchFamily="34" charset="-120"/>
              </a:rPr>
              <a:t>errors or a growing push backlog</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B7A3E0"/>
          </a:solidFill>
          <a:ln w="15875">
            <a:solidFill>
              <a:srgbClr val="B7A3E0"/>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7</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7 · PLATFORM &amp; GOVERNANCE · 16 LANGUAGES</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One language list; safety texts complete in all 16</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13</a:t>
            </a:r>
            <a:endParaRPr lang="en-US" sz="1000" dirty="0"/>
          </a:p>
        </p:txBody>
      </p:sp>
      <p:sp>
        <p:nvSpPr>
          <p:cNvPr id="8" name="Shape 5"/>
          <p:cNvSpPr/>
          <p:nvPr/>
        </p:nvSpPr>
        <p:spPr>
          <a:xfrm>
            <a:off x="457200" y="1371600"/>
            <a:ext cx="2697480" cy="475488"/>
          </a:xfrm>
          <a:prstGeom prst="roundRect">
            <a:avLst>
              <a:gd name="adj" fmla="val 13462"/>
            </a:avLst>
          </a:prstGeom>
          <a:solidFill>
            <a:srgbClr val="1D242E"/>
          </a:solidFill>
          <a:ln w="15875">
            <a:solidFill>
              <a:srgbClr val="F0A54A"/>
            </a:solidFill>
            <a:prstDash val="solid"/>
          </a:ln>
        </p:spPr>
      </p:sp>
      <p:sp>
        <p:nvSpPr>
          <p:cNvPr id="9" name="Text 6"/>
          <p:cNvSpPr txBox="1"/>
          <p:nvPr/>
        </p:nvSpPr>
        <p:spPr>
          <a:xfrm>
            <a:off x="585216" y="1371600"/>
            <a:ext cx="1737360" cy="475488"/>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Arabic</a:t>
            </a:r>
            <a:endParaRPr lang="en-US" sz="1150" dirty="0"/>
          </a:p>
        </p:txBody>
      </p:sp>
      <p:sp>
        <p:nvSpPr>
          <p:cNvPr id="10" name="Text 7"/>
          <p:cNvSpPr txBox="1"/>
          <p:nvPr/>
        </p:nvSpPr>
        <p:spPr>
          <a:xfrm>
            <a:off x="2011680" y="1371600"/>
            <a:ext cx="1051560" cy="475488"/>
          </a:xfrm>
          <a:prstGeom prst="rect">
            <a:avLst/>
          </a:prstGeom>
          <a:noFill/>
          <a:ln/>
        </p:spPr>
        <p:txBody>
          <a:bodyPr wrap="square" lIns="0" tIns="0" rIns="0" bIns="0" rtlCol="0" anchor="ctr"/>
          <a:lstStyle/>
          <a:p>
            <a:pPr algn="r" indent="0" marL="0">
              <a:buNone/>
            </a:pPr>
            <a:r>
              <a:rPr lang="en-US" sz="950" dirty="0">
                <a:solidFill>
                  <a:srgbClr val="F0A54A"/>
                </a:solidFill>
                <a:latin typeface="Courier New" pitchFamily="34" charset="0"/>
                <a:ea typeface="Courier New" pitchFamily="34" charset="-122"/>
                <a:cs typeface="Courier New" pitchFamily="34" charset="-120"/>
              </a:rPr>
              <a:t>ar · RTL</a:t>
            </a:r>
            <a:endParaRPr lang="en-US" sz="950" dirty="0"/>
          </a:p>
        </p:txBody>
      </p:sp>
      <p:sp>
        <p:nvSpPr>
          <p:cNvPr id="11" name="Shape 8"/>
          <p:cNvSpPr/>
          <p:nvPr/>
        </p:nvSpPr>
        <p:spPr>
          <a:xfrm>
            <a:off x="3291840" y="1371600"/>
            <a:ext cx="2697480" cy="475488"/>
          </a:xfrm>
          <a:prstGeom prst="roundRect">
            <a:avLst>
              <a:gd name="adj" fmla="val 13462"/>
            </a:avLst>
          </a:prstGeom>
          <a:solidFill>
            <a:srgbClr val="1D242E"/>
          </a:solidFill>
          <a:ln w="9525">
            <a:solidFill>
              <a:srgbClr val="323C49"/>
            </a:solidFill>
            <a:prstDash val="solid"/>
          </a:ln>
        </p:spPr>
      </p:sp>
      <p:sp>
        <p:nvSpPr>
          <p:cNvPr id="12" name="Text 9"/>
          <p:cNvSpPr txBox="1"/>
          <p:nvPr/>
        </p:nvSpPr>
        <p:spPr>
          <a:xfrm>
            <a:off x="3419856" y="1371600"/>
            <a:ext cx="1737360" cy="475488"/>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Chinese (Simplified)</a:t>
            </a:r>
            <a:endParaRPr lang="en-US" sz="1150" dirty="0"/>
          </a:p>
        </p:txBody>
      </p:sp>
      <p:sp>
        <p:nvSpPr>
          <p:cNvPr id="13" name="Text 10"/>
          <p:cNvSpPr txBox="1"/>
          <p:nvPr/>
        </p:nvSpPr>
        <p:spPr>
          <a:xfrm>
            <a:off x="4846320" y="1371600"/>
            <a:ext cx="1051560" cy="475488"/>
          </a:xfrm>
          <a:prstGeom prst="rect">
            <a:avLst/>
          </a:prstGeom>
          <a:noFill/>
          <a:ln/>
        </p:spPr>
        <p:txBody>
          <a:bodyPr wrap="square" lIns="0" tIns="0" rIns="0" bIns="0" rtlCol="0" anchor="ctr"/>
          <a:lstStyle/>
          <a:p>
            <a:pPr algn="r" indent="0" marL="0">
              <a:buNone/>
            </a:pPr>
            <a:r>
              <a:rPr lang="en-US" sz="950" dirty="0">
                <a:solidFill>
                  <a:srgbClr val="A3AEBB"/>
                </a:solidFill>
                <a:latin typeface="Courier New" pitchFamily="34" charset="0"/>
                <a:ea typeface="Courier New" pitchFamily="34" charset="-122"/>
                <a:cs typeface="Courier New" pitchFamily="34" charset="-120"/>
              </a:rPr>
              <a:t>zh</a:t>
            </a:r>
            <a:endParaRPr lang="en-US" sz="950" dirty="0"/>
          </a:p>
        </p:txBody>
      </p:sp>
      <p:sp>
        <p:nvSpPr>
          <p:cNvPr id="14" name="Shape 11"/>
          <p:cNvSpPr/>
          <p:nvPr/>
        </p:nvSpPr>
        <p:spPr>
          <a:xfrm>
            <a:off x="6126480" y="1371600"/>
            <a:ext cx="2697480" cy="475488"/>
          </a:xfrm>
          <a:prstGeom prst="roundRect">
            <a:avLst>
              <a:gd name="adj" fmla="val 13462"/>
            </a:avLst>
          </a:prstGeom>
          <a:solidFill>
            <a:srgbClr val="1D242E"/>
          </a:solidFill>
          <a:ln w="9525">
            <a:solidFill>
              <a:srgbClr val="323C49"/>
            </a:solidFill>
            <a:prstDash val="solid"/>
          </a:ln>
        </p:spPr>
      </p:sp>
      <p:sp>
        <p:nvSpPr>
          <p:cNvPr id="15" name="Text 12"/>
          <p:cNvSpPr txBox="1"/>
          <p:nvPr/>
        </p:nvSpPr>
        <p:spPr>
          <a:xfrm>
            <a:off x="6254496" y="1371600"/>
            <a:ext cx="1737360" cy="475488"/>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Chinese (Traditional)</a:t>
            </a:r>
            <a:endParaRPr lang="en-US" sz="1150" dirty="0"/>
          </a:p>
        </p:txBody>
      </p:sp>
      <p:sp>
        <p:nvSpPr>
          <p:cNvPr id="16" name="Text 13"/>
          <p:cNvSpPr txBox="1"/>
          <p:nvPr/>
        </p:nvSpPr>
        <p:spPr>
          <a:xfrm>
            <a:off x="7680960" y="1371600"/>
            <a:ext cx="1051560" cy="475488"/>
          </a:xfrm>
          <a:prstGeom prst="rect">
            <a:avLst/>
          </a:prstGeom>
          <a:noFill/>
          <a:ln/>
        </p:spPr>
        <p:txBody>
          <a:bodyPr wrap="square" lIns="0" tIns="0" rIns="0" bIns="0" rtlCol="0" anchor="ctr"/>
          <a:lstStyle/>
          <a:p>
            <a:pPr algn="r" indent="0" marL="0">
              <a:buNone/>
            </a:pPr>
            <a:r>
              <a:rPr lang="en-US" sz="950" dirty="0">
                <a:solidFill>
                  <a:srgbClr val="A3AEBB"/>
                </a:solidFill>
                <a:latin typeface="Courier New" pitchFamily="34" charset="0"/>
                <a:ea typeface="Courier New" pitchFamily="34" charset="-122"/>
                <a:cs typeface="Courier New" pitchFamily="34" charset="-120"/>
              </a:rPr>
              <a:t>zh-TW</a:t>
            </a:r>
            <a:endParaRPr lang="en-US" sz="950" dirty="0"/>
          </a:p>
        </p:txBody>
      </p:sp>
      <p:sp>
        <p:nvSpPr>
          <p:cNvPr id="17" name="Shape 14"/>
          <p:cNvSpPr/>
          <p:nvPr/>
        </p:nvSpPr>
        <p:spPr>
          <a:xfrm>
            <a:off x="8961120" y="1371600"/>
            <a:ext cx="2697480" cy="475488"/>
          </a:xfrm>
          <a:prstGeom prst="roundRect">
            <a:avLst>
              <a:gd name="adj" fmla="val 13462"/>
            </a:avLst>
          </a:prstGeom>
          <a:solidFill>
            <a:srgbClr val="1D242E"/>
          </a:solidFill>
          <a:ln w="9525">
            <a:solidFill>
              <a:srgbClr val="323C49"/>
            </a:solidFill>
            <a:prstDash val="solid"/>
          </a:ln>
        </p:spPr>
      </p:sp>
      <p:sp>
        <p:nvSpPr>
          <p:cNvPr id="18" name="Text 15"/>
          <p:cNvSpPr txBox="1"/>
          <p:nvPr/>
        </p:nvSpPr>
        <p:spPr>
          <a:xfrm>
            <a:off x="9089136" y="1371600"/>
            <a:ext cx="1737360" cy="475488"/>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English</a:t>
            </a:r>
            <a:endParaRPr lang="en-US" sz="1150" dirty="0"/>
          </a:p>
        </p:txBody>
      </p:sp>
      <p:sp>
        <p:nvSpPr>
          <p:cNvPr id="19" name="Text 16"/>
          <p:cNvSpPr txBox="1"/>
          <p:nvPr/>
        </p:nvSpPr>
        <p:spPr>
          <a:xfrm>
            <a:off x="10515600" y="1371600"/>
            <a:ext cx="1051560" cy="475488"/>
          </a:xfrm>
          <a:prstGeom prst="rect">
            <a:avLst/>
          </a:prstGeom>
          <a:noFill/>
          <a:ln/>
        </p:spPr>
        <p:txBody>
          <a:bodyPr wrap="square" lIns="0" tIns="0" rIns="0" bIns="0" rtlCol="0" anchor="ctr"/>
          <a:lstStyle/>
          <a:p>
            <a:pPr algn="r" indent="0" marL="0">
              <a:buNone/>
            </a:pPr>
            <a:r>
              <a:rPr lang="en-US" sz="950" dirty="0">
                <a:solidFill>
                  <a:srgbClr val="A3AEBB"/>
                </a:solidFill>
                <a:latin typeface="Courier New" pitchFamily="34" charset="0"/>
                <a:ea typeface="Courier New" pitchFamily="34" charset="-122"/>
                <a:cs typeface="Courier New" pitchFamily="34" charset="-120"/>
              </a:rPr>
              <a:t>en-US · en-GB</a:t>
            </a:r>
            <a:endParaRPr lang="en-US" sz="950" dirty="0"/>
          </a:p>
        </p:txBody>
      </p:sp>
      <p:sp>
        <p:nvSpPr>
          <p:cNvPr id="20" name="Shape 17"/>
          <p:cNvSpPr/>
          <p:nvPr/>
        </p:nvSpPr>
        <p:spPr>
          <a:xfrm>
            <a:off x="457200" y="1938528"/>
            <a:ext cx="2697480" cy="475488"/>
          </a:xfrm>
          <a:prstGeom prst="roundRect">
            <a:avLst>
              <a:gd name="adj" fmla="val 13462"/>
            </a:avLst>
          </a:prstGeom>
          <a:solidFill>
            <a:srgbClr val="1D242E"/>
          </a:solidFill>
          <a:ln w="9525">
            <a:solidFill>
              <a:srgbClr val="323C49"/>
            </a:solidFill>
            <a:prstDash val="solid"/>
          </a:ln>
        </p:spPr>
      </p:sp>
      <p:sp>
        <p:nvSpPr>
          <p:cNvPr id="21" name="Text 18"/>
          <p:cNvSpPr txBox="1"/>
          <p:nvPr/>
        </p:nvSpPr>
        <p:spPr>
          <a:xfrm>
            <a:off x="585216" y="1938528"/>
            <a:ext cx="1737360" cy="475488"/>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French</a:t>
            </a:r>
            <a:endParaRPr lang="en-US" sz="1150" dirty="0"/>
          </a:p>
        </p:txBody>
      </p:sp>
      <p:sp>
        <p:nvSpPr>
          <p:cNvPr id="22" name="Text 19"/>
          <p:cNvSpPr txBox="1"/>
          <p:nvPr/>
        </p:nvSpPr>
        <p:spPr>
          <a:xfrm>
            <a:off x="2011680" y="1938528"/>
            <a:ext cx="1051560" cy="475488"/>
          </a:xfrm>
          <a:prstGeom prst="rect">
            <a:avLst/>
          </a:prstGeom>
          <a:noFill/>
          <a:ln/>
        </p:spPr>
        <p:txBody>
          <a:bodyPr wrap="square" lIns="0" tIns="0" rIns="0" bIns="0" rtlCol="0" anchor="ctr"/>
          <a:lstStyle/>
          <a:p>
            <a:pPr algn="r" indent="0" marL="0">
              <a:buNone/>
            </a:pPr>
            <a:r>
              <a:rPr lang="en-US" sz="950" dirty="0">
                <a:solidFill>
                  <a:srgbClr val="A3AEBB"/>
                </a:solidFill>
                <a:latin typeface="Courier New" pitchFamily="34" charset="0"/>
                <a:ea typeface="Courier New" pitchFamily="34" charset="-122"/>
                <a:cs typeface="Courier New" pitchFamily="34" charset="-120"/>
              </a:rPr>
              <a:t>fr</a:t>
            </a:r>
            <a:endParaRPr lang="en-US" sz="950" dirty="0"/>
          </a:p>
        </p:txBody>
      </p:sp>
      <p:sp>
        <p:nvSpPr>
          <p:cNvPr id="23" name="Shape 20"/>
          <p:cNvSpPr/>
          <p:nvPr/>
        </p:nvSpPr>
        <p:spPr>
          <a:xfrm>
            <a:off x="3291840" y="1938528"/>
            <a:ext cx="2697480" cy="475488"/>
          </a:xfrm>
          <a:prstGeom prst="roundRect">
            <a:avLst>
              <a:gd name="adj" fmla="val 13462"/>
            </a:avLst>
          </a:prstGeom>
          <a:solidFill>
            <a:srgbClr val="1D242E"/>
          </a:solidFill>
          <a:ln w="9525">
            <a:solidFill>
              <a:srgbClr val="323C49"/>
            </a:solidFill>
            <a:prstDash val="solid"/>
          </a:ln>
        </p:spPr>
      </p:sp>
      <p:sp>
        <p:nvSpPr>
          <p:cNvPr id="24" name="Text 21"/>
          <p:cNvSpPr txBox="1"/>
          <p:nvPr/>
        </p:nvSpPr>
        <p:spPr>
          <a:xfrm>
            <a:off x="3419856" y="1938528"/>
            <a:ext cx="1737360" cy="475488"/>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German</a:t>
            </a:r>
            <a:endParaRPr lang="en-US" sz="1150" dirty="0"/>
          </a:p>
        </p:txBody>
      </p:sp>
      <p:sp>
        <p:nvSpPr>
          <p:cNvPr id="25" name="Text 22"/>
          <p:cNvSpPr txBox="1"/>
          <p:nvPr/>
        </p:nvSpPr>
        <p:spPr>
          <a:xfrm>
            <a:off x="4846320" y="1938528"/>
            <a:ext cx="1051560" cy="475488"/>
          </a:xfrm>
          <a:prstGeom prst="rect">
            <a:avLst/>
          </a:prstGeom>
          <a:noFill/>
          <a:ln/>
        </p:spPr>
        <p:txBody>
          <a:bodyPr wrap="square" lIns="0" tIns="0" rIns="0" bIns="0" rtlCol="0" anchor="ctr"/>
          <a:lstStyle/>
          <a:p>
            <a:pPr algn="r" indent="0" marL="0">
              <a:buNone/>
            </a:pPr>
            <a:r>
              <a:rPr lang="en-US" sz="950" dirty="0">
                <a:solidFill>
                  <a:srgbClr val="A3AEBB"/>
                </a:solidFill>
                <a:latin typeface="Courier New" pitchFamily="34" charset="0"/>
                <a:ea typeface="Courier New" pitchFamily="34" charset="-122"/>
                <a:cs typeface="Courier New" pitchFamily="34" charset="-120"/>
              </a:rPr>
              <a:t>de</a:t>
            </a:r>
            <a:endParaRPr lang="en-US" sz="950" dirty="0"/>
          </a:p>
        </p:txBody>
      </p:sp>
      <p:sp>
        <p:nvSpPr>
          <p:cNvPr id="26" name="Shape 23"/>
          <p:cNvSpPr/>
          <p:nvPr/>
        </p:nvSpPr>
        <p:spPr>
          <a:xfrm>
            <a:off x="6126480" y="1938528"/>
            <a:ext cx="2697480" cy="475488"/>
          </a:xfrm>
          <a:prstGeom prst="roundRect">
            <a:avLst>
              <a:gd name="adj" fmla="val 13462"/>
            </a:avLst>
          </a:prstGeom>
          <a:solidFill>
            <a:srgbClr val="1D242E"/>
          </a:solidFill>
          <a:ln w="9525">
            <a:solidFill>
              <a:srgbClr val="323C49"/>
            </a:solidFill>
            <a:prstDash val="solid"/>
          </a:ln>
        </p:spPr>
      </p:sp>
      <p:sp>
        <p:nvSpPr>
          <p:cNvPr id="27" name="Text 24"/>
          <p:cNvSpPr txBox="1"/>
          <p:nvPr/>
        </p:nvSpPr>
        <p:spPr>
          <a:xfrm>
            <a:off x="6254496" y="1938528"/>
            <a:ext cx="1737360" cy="475488"/>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Hindi</a:t>
            </a:r>
            <a:endParaRPr lang="en-US" sz="1150" dirty="0"/>
          </a:p>
        </p:txBody>
      </p:sp>
      <p:sp>
        <p:nvSpPr>
          <p:cNvPr id="28" name="Text 25"/>
          <p:cNvSpPr txBox="1"/>
          <p:nvPr/>
        </p:nvSpPr>
        <p:spPr>
          <a:xfrm>
            <a:off x="7680960" y="1938528"/>
            <a:ext cx="1051560" cy="475488"/>
          </a:xfrm>
          <a:prstGeom prst="rect">
            <a:avLst/>
          </a:prstGeom>
          <a:noFill/>
          <a:ln/>
        </p:spPr>
        <p:txBody>
          <a:bodyPr wrap="square" lIns="0" tIns="0" rIns="0" bIns="0" rtlCol="0" anchor="ctr"/>
          <a:lstStyle/>
          <a:p>
            <a:pPr algn="r" indent="0" marL="0">
              <a:buNone/>
            </a:pPr>
            <a:r>
              <a:rPr lang="en-US" sz="950" dirty="0">
                <a:solidFill>
                  <a:srgbClr val="A3AEBB"/>
                </a:solidFill>
                <a:latin typeface="Courier New" pitchFamily="34" charset="0"/>
                <a:ea typeface="Courier New" pitchFamily="34" charset="-122"/>
                <a:cs typeface="Courier New" pitchFamily="34" charset="-120"/>
              </a:rPr>
              <a:t>hi</a:t>
            </a:r>
            <a:endParaRPr lang="en-US" sz="950" dirty="0"/>
          </a:p>
        </p:txBody>
      </p:sp>
      <p:sp>
        <p:nvSpPr>
          <p:cNvPr id="29" name="Shape 26"/>
          <p:cNvSpPr/>
          <p:nvPr/>
        </p:nvSpPr>
        <p:spPr>
          <a:xfrm>
            <a:off x="8961120" y="1938528"/>
            <a:ext cx="2697480" cy="475488"/>
          </a:xfrm>
          <a:prstGeom prst="roundRect">
            <a:avLst>
              <a:gd name="adj" fmla="val 13462"/>
            </a:avLst>
          </a:prstGeom>
          <a:solidFill>
            <a:srgbClr val="1D242E"/>
          </a:solidFill>
          <a:ln w="9525">
            <a:solidFill>
              <a:srgbClr val="323C49"/>
            </a:solidFill>
            <a:prstDash val="solid"/>
          </a:ln>
        </p:spPr>
      </p:sp>
      <p:sp>
        <p:nvSpPr>
          <p:cNvPr id="30" name="Text 27"/>
          <p:cNvSpPr txBox="1"/>
          <p:nvPr/>
        </p:nvSpPr>
        <p:spPr>
          <a:xfrm>
            <a:off x="9089136" y="1938528"/>
            <a:ext cx="1737360" cy="475488"/>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Indonesian</a:t>
            </a:r>
            <a:endParaRPr lang="en-US" sz="1150" dirty="0"/>
          </a:p>
        </p:txBody>
      </p:sp>
      <p:sp>
        <p:nvSpPr>
          <p:cNvPr id="31" name="Text 28"/>
          <p:cNvSpPr txBox="1"/>
          <p:nvPr/>
        </p:nvSpPr>
        <p:spPr>
          <a:xfrm>
            <a:off x="10515600" y="1938528"/>
            <a:ext cx="1051560" cy="475488"/>
          </a:xfrm>
          <a:prstGeom prst="rect">
            <a:avLst/>
          </a:prstGeom>
          <a:noFill/>
          <a:ln/>
        </p:spPr>
        <p:txBody>
          <a:bodyPr wrap="square" lIns="0" tIns="0" rIns="0" bIns="0" rtlCol="0" anchor="ctr"/>
          <a:lstStyle/>
          <a:p>
            <a:pPr algn="r" indent="0" marL="0">
              <a:buNone/>
            </a:pPr>
            <a:r>
              <a:rPr lang="en-US" sz="950" dirty="0">
                <a:solidFill>
                  <a:srgbClr val="A3AEBB"/>
                </a:solidFill>
                <a:latin typeface="Courier New" pitchFamily="34" charset="0"/>
                <a:ea typeface="Courier New" pitchFamily="34" charset="-122"/>
                <a:cs typeface="Courier New" pitchFamily="34" charset="-120"/>
              </a:rPr>
              <a:t>id</a:t>
            </a:r>
            <a:endParaRPr lang="en-US" sz="950" dirty="0"/>
          </a:p>
        </p:txBody>
      </p:sp>
      <p:sp>
        <p:nvSpPr>
          <p:cNvPr id="32" name="Shape 29"/>
          <p:cNvSpPr/>
          <p:nvPr/>
        </p:nvSpPr>
        <p:spPr>
          <a:xfrm>
            <a:off x="457200" y="2505456"/>
            <a:ext cx="2697480" cy="475488"/>
          </a:xfrm>
          <a:prstGeom prst="roundRect">
            <a:avLst>
              <a:gd name="adj" fmla="val 13462"/>
            </a:avLst>
          </a:prstGeom>
          <a:solidFill>
            <a:srgbClr val="1D242E"/>
          </a:solidFill>
          <a:ln w="9525">
            <a:solidFill>
              <a:srgbClr val="323C49"/>
            </a:solidFill>
            <a:prstDash val="solid"/>
          </a:ln>
        </p:spPr>
      </p:sp>
      <p:sp>
        <p:nvSpPr>
          <p:cNvPr id="33" name="Text 30"/>
          <p:cNvSpPr txBox="1"/>
          <p:nvPr/>
        </p:nvSpPr>
        <p:spPr>
          <a:xfrm>
            <a:off x="585216" y="2505456"/>
            <a:ext cx="1737360" cy="475488"/>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Japanese</a:t>
            </a:r>
            <a:endParaRPr lang="en-US" sz="1150" dirty="0"/>
          </a:p>
        </p:txBody>
      </p:sp>
      <p:sp>
        <p:nvSpPr>
          <p:cNvPr id="34" name="Text 31"/>
          <p:cNvSpPr txBox="1"/>
          <p:nvPr/>
        </p:nvSpPr>
        <p:spPr>
          <a:xfrm>
            <a:off x="2011680" y="2505456"/>
            <a:ext cx="1051560" cy="475488"/>
          </a:xfrm>
          <a:prstGeom prst="rect">
            <a:avLst/>
          </a:prstGeom>
          <a:noFill/>
          <a:ln/>
        </p:spPr>
        <p:txBody>
          <a:bodyPr wrap="square" lIns="0" tIns="0" rIns="0" bIns="0" rtlCol="0" anchor="ctr"/>
          <a:lstStyle/>
          <a:p>
            <a:pPr algn="r" indent="0" marL="0">
              <a:buNone/>
            </a:pPr>
            <a:r>
              <a:rPr lang="en-US" sz="950" dirty="0">
                <a:solidFill>
                  <a:srgbClr val="A3AEBB"/>
                </a:solidFill>
                <a:latin typeface="Courier New" pitchFamily="34" charset="0"/>
                <a:ea typeface="Courier New" pitchFamily="34" charset="-122"/>
                <a:cs typeface="Courier New" pitchFamily="34" charset="-120"/>
              </a:rPr>
              <a:t>ja</a:t>
            </a:r>
            <a:endParaRPr lang="en-US" sz="950" dirty="0"/>
          </a:p>
        </p:txBody>
      </p:sp>
      <p:sp>
        <p:nvSpPr>
          <p:cNvPr id="35" name="Shape 32"/>
          <p:cNvSpPr/>
          <p:nvPr/>
        </p:nvSpPr>
        <p:spPr>
          <a:xfrm>
            <a:off x="3291840" y="2505456"/>
            <a:ext cx="2697480" cy="475488"/>
          </a:xfrm>
          <a:prstGeom prst="roundRect">
            <a:avLst>
              <a:gd name="adj" fmla="val 13462"/>
            </a:avLst>
          </a:prstGeom>
          <a:solidFill>
            <a:srgbClr val="1D242E"/>
          </a:solidFill>
          <a:ln w="9525">
            <a:solidFill>
              <a:srgbClr val="323C49"/>
            </a:solidFill>
            <a:prstDash val="solid"/>
          </a:ln>
        </p:spPr>
      </p:sp>
      <p:sp>
        <p:nvSpPr>
          <p:cNvPr id="36" name="Text 33"/>
          <p:cNvSpPr txBox="1"/>
          <p:nvPr/>
        </p:nvSpPr>
        <p:spPr>
          <a:xfrm>
            <a:off x="3419856" y="2505456"/>
            <a:ext cx="1737360" cy="475488"/>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Korean</a:t>
            </a:r>
            <a:endParaRPr lang="en-US" sz="1150" dirty="0"/>
          </a:p>
        </p:txBody>
      </p:sp>
      <p:sp>
        <p:nvSpPr>
          <p:cNvPr id="37" name="Text 34"/>
          <p:cNvSpPr txBox="1"/>
          <p:nvPr/>
        </p:nvSpPr>
        <p:spPr>
          <a:xfrm>
            <a:off x="4846320" y="2505456"/>
            <a:ext cx="1051560" cy="475488"/>
          </a:xfrm>
          <a:prstGeom prst="rect">
            <a:avLst/>
          </a:prstGeom>
          <a:noFill/>
          <a:ln/>
        </p:spPr>
        <p:txBody>
          <a:bodyPr wrap="square" lIns="0" tIns="0" rIns="0" bIns="0" rtlCol="0" anchor="ctr"/>
          <a:lstStyle/>
          <a:p>
            <a:pPr algn="r" indent="0" marL="0">
              <a:buNone/>
            </a:pPr>
            <a:r>
              <a:rPr lang="en-US" sz="950" dirty="0">
                <a:solidFill>
                  <a:srgbClr val="A3AEBB"/>
                </a:solidFill>
                <a:latin typeface="Courier New" pitchFamily="34" charset="0"/>
                <a:ea typeface="Courier New" pitchFamily="34" charset="-122"/>
                <a:cs typeface="Courier New" pitchFamily="34" charset="-120"/>
              </a:rPr>
              <a:t>ko</a:t>
            </a:r>
            <a:endParaRPr lang="en-US" sz="950" dirty="0"/>
          </a:p>
        </p:txBody>
      </p:sp>
      <p:sp>
        <p:nvSpPr>
          <p:cNvPr id="38" name="Shape 35"/>
          <p:cNvSpPr/>
          <p:nvPr/>
        </p:nvSpPr>
        <p:spPr>
          <a:xfrm>
            <a:off x="6126480" y="2505456"/>
            <a:ext cx="2697480" cy="475488"/>
          </a:xfrm>
          <a:prstGeom prst="roundRect">
            <a:avLst>
              <a:gd name="adj" fmla="val 13462"/>
            </a:avLst>
          </a:prstGeom>
          <a:solidFill>
            <a:srgbClr val="1D242E"/>
          </a:solidFill>
          <a:ln w="9525">
            <a:solidFill>
              <a:srgbClr val="323C49"/>
            </a:solidFill>
            <a:prstDash val="solid"/>
          </a:ln>
        </p:spPr>
      </p:sp>
      <p:sp>
        <p:nvSpPr>
          <p:cNvPr id="39" name="Text 36"/>
          <p:cNvSpPr txBox="1"/>
          <p:nvPr/>
        </p:nvSpPr>
        <p:spPr>
          <a:xfrm>
            <a:off x="6254496" y="2505456"/>
            <a:ext cx="1737360" cy="475488"/>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Portuguese</a:t>
            </a:r>
            <a:endParaRPr lang="en-US" sz="1150" dirty="0"/>
          </a:p>
        </p:txBody>
      </p:sp>
      <p:sp>
        <p:nvSpPr>
          <p:cNvPr id="40" name="Text 37"/>
          <p:cNvSpPr txBox="1"/>
          <p:nvPr/>
        </p:nvSpPr>
        <p:spPr>
          <a:xfrm>
            <a:off x="7680960" y="2505456"/>
            <a:ext cx="1051560" cy="475488"/>
          </a:xfrm>
          <a:prstGeom prst="rect">
            <a:avLst/>
          </a:prstGeom>
          <a:noFill/>
          <a:ln/>
        </p:spPr>
        <p:txBody>
          <a:bodyPr wrap="square" lIns="0" tIns="0" rIns="0" bIns="0" rtlCol="0" anchor="ctr"/>
          <a:lstStyle/>
          <a:p>
            <a:pPr algn="r" indent="0" marL="0">
              <a:buNone/>
            </a:pPr>
            <a:r>
              <a:rPr lang="en-US" sz="950" dirty="0">
                <a:solidFill>
                  <a:srgbClr val="A3AEBB"/>
                </a:solidFill>
                <a:latin typeface="Courier New" pitchFamily="34" charset="0"/>
                <a:ea typeface="Courier New" pitchFamily="34" charset="-122"/>
                <a:cs typeface="Courier New" pitchFamily="34" charset="-120"/>
              </a:rPr>
              <a:t>pt</a:t>
            </a:r>
            <a:endParaRPr lang="en-US" sz="950" dirty="0"/>
          </a:p>
        </p:txBody>
      </p:sp>
      <p:sp>
        <p:nvSpPr>
          <p:cNvPr id="41" name="Shape 38"/>
          <p:cNvSpPr/>
          <p:nvPr/>
        </p:nvSpPr>
        <p:spPr>
          <a:xfrm>
            <a:off x="8961120" y="2505456"/>
            <a:ext cx="2697480" cy="475488"/>
          </a:xfrm>
          <a:prstGeom prst="roundRect">
            <a:avLst>
              <a:gd name="adj" fmla="val 13462"/>
            </a:avLst>
          </a:prstGeom>
          <a:solidFill>
            <a:srgbClr val="1D242E"/>
          </a:solidFill>
          <a:ln w="9525">
            <a:solidFill>
              <a:srgbClr val="323C49"/>
            </a:solidFill>
            <a:prstDash val="solid"/>
          </a:ln>
        </p:spPr>
      </p:sp>
      <p:sp>
        <p:nvSpPr>
          <p:cNvPr id="42" name="Text 39"/>
          <p:cNvSpPr txBox="1"/>
          <p:nvPr/>
        </p:nvSpPr>
        <p:spPr>
          <a:xfrm>
            <a:off x="9089136" y="2505456"/>
            <a:ext cx="1737360" cy="475488"/>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Spanish</a:t>
            </a:r>
            <a:endParaRPr lang="en-US" sz="1150" dirty="0"/>
          </a:p>
        </p:txBody>
      </p:sp>
      <p:sp>
        <p:nvSpPr>
          <p:cNvPr id="43" name="Text 40"/>
          <p:cNvSpPr txBox="1"/>
          <p:nvPr/>
        </p:nvSpPr>
        <p:spPr>
          <a:xfrm>
            <a:off x="10515600" y="2505456"/>
            <a:ext cx="1051560" cy="475488"/>
          </a:xfrm>
          <a:prstGeom prst="rect">
            <a:avLst/>
          </a:prstGeom>
          <a:noFill/>
          <a:ln/>
        </p:spPr>
        <p:txBody>
          <a:bodyPr wrap="square" lIns="0" tIns="0" rIns="0" bIns="0" rtlCol="0" anchor="ctr"/>
          <a:lstStyle/>
          <a:p>
            <a:pPr algn="r" indent="0" marL="0">
              <a:buNone/>
            </a:pPr>
            <a:r>
              <a:rPr lang="en-US" sz="950" dirty="0">
                <a:solidFill>
                  <a:srgbClr val="A3AEBB"/>
                </a:solidFill>
                <a:latin typeface="Courier New" pitchFamily="34" charset="0"/>
                <a:ea typeface="Courier New" pitchFamily="34" charset="-122"/>
                <a:cs typeface="Courier New" pitchFamily="34" charset="-120"/>
              </a:rPr>
              <a:t>es</a:t>
            </a:r>
            <a:endParaRPr lang="en-US" sz="950" dirty="0"/>
          </a:p>
        </p:txBody>
      </p:sp>
      <p:sp>
        <p:nvSpPr>
          <p:cNvPr id="44" name="Shape 41"/>
          <p:cNvSpPr/>
          <p:nvPr/>
        </p:nvSpPr>
        <p:spPr>
          <a:xfrm>
            <a:off x="457200" y="3072384"/>
            <a:ext cx="2697480" cy="475488"/>
          </a:xfrm>
          <a:prstGeom prst="roundRect">
            <a:avLst>
              <a:gd name="adj" fmla="val 13462"/>
            </a:avLst>
          </a:prstGeom>
          <a:solidFill>
            <a:srgbClr val="1D242E"/>
          </a:solidFill>
          <a:ln w="9525">
            <a:solidFill>
              <a:srgbClr val="323C49"/>
            </a:solidFill>
            <a:prstDash val="solid"/>
          </a:ln>
        </p:spPr>
      </p:sp>
      <p:sp>
        <p:nvSpPr>
          <p:cNvPr id="45" name="Text 42"/>
          <p:cNvSpPr txBox="1"/>
          <p:nvPr/>
        </p:nvSpPr>
        <p:spPr>
          <a:xfrm>
            <a:off x="585216" y="3072384"/>
            <a:ext cx="1737360" cy="475488"/>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Thai</a:t>
            </a:r>
            <a:endParaRPr lang="en-US" sz="1150" dirty="0"/>
          </a:p>
        </p:txBody>
      </p:sp>
      <p:sp>
        <p:nvSpPr>
          <p:cNvPr id="46" name="Text 43"/>
          <p:cNvSpPr txBox="1"/>
          <p:nvPr/>
        </p:nvSpPr>
        <p:spPr>
          <a:xfrm>
            <a:off x="2011680" y="3072384"/>
            <a:ext cx="1051560" cy="475488"/>
          </a:xfrm>
          <a:prstGeom prst="rect">
            <a:avLst/>
          </a:prstGeom>
          <a:noFill/>
          <a:ln/>
        </p:spPr>
        <p:txBody>
          <a:bodyPr wrap="square" lIns="0" tIns="0" rIns="0" bIns="0" rtlCol="0" anchor="ctr"/>
          <a:lstStyle/>
          <a:p>
            <a:pPr algn="r" indent="0" marL="0">
              <a:buNone/>
            </a:pPr>
            <a:r>
              <a:rPr lang="en-US" sz="950" dirty="0">
                <a:solidFill>
                  <a:srgbClr val="A3AEBB"/>
                </a:solidFill>
                <a:latin typeface="Courier New" pitchFamily="34" charset="0"/>
                <a:ea typeface="Courier New" pitchFamily="34" charset="-122"/>
                <a:cs typeface="Courier New" pitchFamily="34" charset="-120"/>
              </a:rPr>
              <a:t>th</a:t>
            </a:r>
            <a:endParaRPr lang="en-US" sz="950" dirty="0"/>
          </a:p>
        </p:txBody>
      </p:sp>
      <p:sp>
        <p:nvSpPr>
          <p:cNvPr id="47" name="Shape 44"/>
          <p:cNvSpPr/>
          <p:nvPr/>
        </p:nvSpPr>
        <p:spPr>
          <a:xfrm>
            <a:off x="3291840" y="3072384"/>
            <a:ext cx="2697480" cy="475488"/>
          </a:xfrm>
          <a:prstGeom prst="roundRect">
            <a:avLst>
              <a:gd name="adj" fmla="val 13462"/>
            </a:avLst>
          </a:prstGeom>
          <a:solidFill>
            <a:srgbClr val="1D242E"/>
          </a:solidFill>
          <a:ln w="9525">
            <a:solidFill>
              <a:srgbClr val="323C49"/>
            </a:solidFill>
            <a:prstDash val="solid"/>
          </a:ln>
        </p:spPr>
      </p:sp>
      <p:sp>
        <p:nvSpPr>
          <p:cNvPr id="48" name="Text 45"/>
          <p:cNvSpPr txBox="1"/>
          <p:nvPr/>
        </p:nvSpPr>
        <p:spPr>
          <a:xfrm>
            <a:off x="3419856" y="3072384"/>
            <a:ext cx="1737360" cy="475488"/>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Turkish</a:t>
            </a:r>
            <a:endParaRPr lang="en-US" sz="1150" dirty="0"/>
          </a:p>
        </p:txBody>
      </p:sp>
      <p:sp>
        <p:nvSpPr>
          <p:cNvPr id="49" name="Text 46"/>
          <p:cNvSpPr txBox="1"/>
          <p:nvPr/>
        </p:nvSpPr>
        <p:spPr>
          <a:xfrm>
            <a:off x="4846320" y="3072384"/>
            <a:ext cx="1051560" cy="475488"/>
          </a:xfrm>
          <a:prstGeom prst="rect">
            <a:avLst/>
          </a:prstGeom>
          <a:noFill/>
          <a:ln/>
        </p:spPr>
        <p:txBody>
          <a:bodyPr wrap="square" lIns="0" tIns="0" rIns="0" bIns="0" rtlCol="0" anchor="ctr"/>
          <a:lstStyle/>
          <a:p>
            <a:pPr algn="r" indent="0" marL="0">
              <a:buNone/>
            </a:pPr>
            <a:r>
              <a:rPr lang="en-US" sz="950" dirty="0">
                <a:solidFill>
                  <a:srgbClr val="A3AEBB"/>
                </a:solidFill>
                <a:latin typeface="Courier New" pitchFamily="34" charset="0"/>
                <a:ea typeface="Courier New" pitchFamily="34" charset="-122"/>
                <a:cs typeface="Courier New" pitchFamily="34" charset="-120"/>
              </a:rPr>
              <a:t>tr</a:t>
            </a:r>
            <a:endParaRPr lang="en-US" sz="950" dirty="0"/>
          </a:p>
        </p:txBody>
      </p:sp>
      <p:sp>
        <p:nvSpPr>
          <p:cNvPr id="50" name="Shape 47"/>
          <p:cNvSpPr/>
          <p:nvPr/>
        </p:nvSpPr>
        <p:spPr>
          <a:xfrm>
            <a:off x="6126480" y="3072384"/>
            <a:ext cx="2697480" cy="475488"/>
          </a:xfrm>
          <a:prstGeom prst="roundRect">
            <a:avLst>
              <a:gd name="adj" fmla="val 13462"/>
            </a:avLst>
          </a:prstGeom>
          <a:solidFill>
            <a:srgbClr val="1D242E"/>
          </a:solidFill>
          <a:ln w="15875">
            <a:solidFill>
              <a:srgbClr val="F0A54A"/>
            </a:solidFill>
            <a:prstDash val="solid"/>
          </a:ln>
        </p:spPr>
      </p:sp>
      <p:sp>
        <p:nvSpPr>
          <p:cNvPr id="51" name="Text 48"/>
          <p:cNvSpPr txBox="1"/>
          <p:nvPr/>
        </p:nvSpPr>
        <p:spPr>
          <a:xfrm>
            <a:off x="6254496" y="3072384"/>
            <a:ext cx="1737360" cy="475488"/>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Urdu</a:t>
            </a:r>
            <a:endParaRPr lang="en-US" sz="1150" dirty="0"/>
          </a:p>
        </p:txBody>
      </p:sp>
      <p:sp>
        <p:nvSpPr>
          <p:cNvPr id="52" name="Text 49"/>
          <p:cNvSpPr txBox="1"/>
          <p:nvPr/>
        </p:nvSpPr>
        <p:spPr>
          <a:xfrm>
            <a:off x="7680960" y="3072384"/>
            <a:ext cx="1051560" cy="475488"/>
          </a:xfrm>
          <a:prstGeom prst="rect">
            <a:avLst/>
          </a:prstGeom>
          <a:noFill/>
          <a:ln/>
        </p:spPr>
        <p:txBody>
          <a:bodyPr wrap="square" lIns="0" tIns="0" rIns="0" bIns="0" rtlCol="0" anchor="ctr"/>
          <a:lstStyle/>
          <a:p>
            <a:pPr algn="r" indent="0" marL="0">
              <a:buNone/>
            </a:pPr>
            <a:r>
              <a:rPr lang="en-US" sz="950" dirty="0">
                <a:solidFill>
                  <a:srgbClr val="F0A54A"/>
                </a:solidFill>
                <a:latin typeface="Courier New" pitchFamily="34" charset="0"/>
                <a:ea typeface="Courier New" pitchFamily="34" charset="-122"/>
                <a:cs typeface="Courier New" pitchFamily="34" charset="-120"/>
              </a:rPr>
              <a:t>ur · RTL</a:t>
            </a:r>
            <a:endParaRPr lang="en-US" sz="950" dirty="0"/>
          </a:p>
        </p:txBody>
      </p:sp>
      <p:sp>
        <p:nvSpPr>
          <p:cNvPr id="53" name="Shape 50"/>
          <p:cNvSpPr/>
          <p:nvPr/>
        </p:nvSpPr>
        <p:spPr>
          <a:xfrm>
            <a:off x="8961120" y="3072384"/>
            <a:ext cx="2697480" cy="475488"/>
          </a:xfrm>
          <a:prstGeom prst="roundRect">
            <a:avLst>
              <a:gd name="adj" fmla="val 13462"/>
            </a:avLst>
          </a:prstGeom>
          <a:solidFill>
            <a:srgbClr val="1D242E"/>
          </a:solidFill>
          <a:ln w="9525">
            <a:solidFill>
              <a:srgbClr val="323C49"/>
            </a:solidFill>
            <a:prstDash val="solid"/>
          </a:ln>
        </p:spPr>
      </p:sp>
      <p:sp>
        <p:nvSpPr>
          <p:cNvPr id="54" name="Text 51"/>
          <p:cNvSpPr txBox="1"/>
          <p:nvPr/>
        </p:nvSpPr>
        <p:spPr>
          <a:xfrm>
            <a:off x="9089136" y="3072384"/>
            <a:ext cx="1737360" cy="475488"/>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Vietnamese</a:t>
            </a:r>
            <a:endParaRPr lang="en-US" sz="1150" dirty="0"/>
          </a:p>
        </p:txBody>
      </p:sp>
      <p:sp>
        <p:nvSpPr>
          <p:cNvPr id="55" name="Text 52"/>
          <p:cNvSpPr txBox="1"/>
          <p:nvPr/>
        </p:nvSpPr>
        <p:spPr>
          <a:xfrm>
            <a:off x="10515600" y="3072384"/>
            <a:ext cx="1051560" cy="475488"/>
          </a:xfrm>
          <a:prstGeom prst="rect">
            <a:avLst/>
          </a:prstGeom>
          <a:noFill/>
          <a:ln/>
        </p:spPr>
        <p:txBody>
          <a:bodyPr wrap="square" lIns="0" tIns="0" rIns="0" bIns="0" rtlCol="0" anchor="ctr"/>
          <a:lstStyle/>
          <a:p>
            <a:pPr algn="r" indent="0" marL="0">
              <a:buNone/>
            </a:pPr>
            <a:r>
              <a:rPr lang="en-US" sz="950" dirty="0">
                <a:solidFill>
                  <a:srgbClr val="A3AEBB"/>
                </a:solidFill>
                <a:latin typeface="Courier New" pitchFamily="34" charset="0"/>
                <a:ea typeface="Courier New" pitchFamily="34" charset="-122"/>
                <a:cs typeface="Courier New" pitchFamily="34" charset="-120"/>
              </a:rPr>
              <a:t>vi</a:t>
            </a:r>
            <a:endParaRPr lang="en-US" sz="950" dirty="0"/>
          </a:p>
        </p:txBody>
      </p:sp>
      <p:sp>
        <p:nvSpPr>
          <p:cNvPr id="56" name="Shape 53"/>
          <p:cNvSpPr/>
          <p:nvPr/>
        </p:nvSpPr>
        <p:spPr>
          <a:xfrm>
            <a:off x="457200" y="3767328"/>
            <a:ext cx="3639312" cy="2514600"/>
          </a:xfrm>
          <a:prstGeom prst="roundRect">
            <a:avLst>
              <a:gd name="adj" fmla="val 2545"/>
            </a:avLst>
          </a:prstGeom>
          <a:solidFill>
            <a:srgbClr val="1D242E"/>
          </a:solidFill>
          <a:ln w="15875">
            <a:solidFill>
              <a:srgbClr val="E2B54E"/>
            </a:solidFill>
            <a:prstDash val="solid"/>
          </a:ln>
        </p:spPr>
      </p:sp>
      <p:sp>
        <p:nvSpPr>
          <p:cNvPr id="57" name="Text 54"/>
          <p:cNvSpPr txBox="1"/>
          <p:nvPr/>
        </p:nvSpPr>
        <p:spPr>
          <a:xfrm>
            <a:off x="621792" y="3877056"/>
            <a:ext cx="3310128" cy="603504"/>
          </a:xfrm>
          <a:prstGeom prst="rect">
            <a:avLst/>
          </a:prstGeom>
          <a:noFill/>
          <a:ln/>
        </p:spPr>
        <p:txBody>
          <a:bodyPr wrap="square" lIns="0" tIns="0" rIns="0" bIns="0" rtlCol="0" anchor="ctr"/>
          <a:lstStyle/>
          <a:p>
            <a:pPr indent="0" marL="0">
              <a:buNone/>
            </a:pPr>
            <a:r>
              <a:rPr lang="en-US" sz="1300" b="1" dirty="0">
                <a:solidFill>
                  <a:srgbClr val="E2B54E"/>
                </a:solidFill>
                <a:latin typeface="Calibri" pitchFamily="34" charset="0"/>
                <a:ea typeface="Calibri" pitchFamily="34" charset="-122"/>
                <a:cs typeface="Calibri" pitchFamily="34" charset="-120"/>
              </a:rPr>
              <a:t>Must exist in all 16 before release</a:t>
            </a:r>
            <a:endParaRPr lang="en-US" sz="1300" dirty="0"/>
          </a:p>
        </p:txBody>
      </p:sp>
      <p:sp>
        <p:nvSpPr>
          <p:cNvPr id="58" name="Text 55"/>
          <p:cNvSpPr txBox="1"/>
          <p:nvPr/>
        </p:nvSpPr>
        <p:spPr>
          <a:xfrm>
            <a:off x="621792" y="4535424"/>
            <a:ext cx="3310128" cy="164592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Disclaimers · out-of-scope replies · reasons Report 2 isn’t offered · consent buttons · phrase lists · the glossary</a:t>
            </a:r>
            <a:endParaRPr lang="en-US" sz="1150" dirty="0"/>
          </a:p>
        </p:txBody>
      </p:sp>
      <p:sp>
        <p:nvSpPr>
          <p:cNvPr id="59" name="Shape 56"/>
          <p:cNvSpPr/>
          <p:nvPr/>
        </p:nvSpPr>
        <p:spPr>
          <a:xfrm>
            <a:off x="4261104" y="3767328"/>
            <a:ext cx="3639312" cy="2514600"/>
          </a:xfrm>
          <a:prstGeom prst="roundRect">
            <a:avLst>
              <a:gd name="adj" fmla="val 2545"/>
            </a:avLst>
          </a:prstGeom>
          <a:solidFill>
            <a:srgbClr val="1D242E"/>
          </a:solidFill>
          <a:ln w="9525">
            <a:solidFill>
              <a:srgbClr val="323C49"/>
            </a:solidFill>
            <a:prstDash val="solid"/>
          </a:ln>
        </p:spPr>
      </p:sp>
      <p:sp>
        <p:nvSpPr>
          <p:cNvPr id="60" name="Text 57"/>
          <p:cNvSpPr txBox="1"/>
          <p:nvPr/>
        </p:nvSpPr>
        <p:spPr>
          <a:xfrm>
            <a:off x="4425696" y="3877056"/>
            <a:ext cx="3310128" cy="603504"/>
          </a:xfrm>
          <a:prstGeom prst="rect">
            <a:avLst/>
          </a:prstGeom>
          <a:noFill/>
          <a:ln/>
        </p:spPr>
        <p:txBody>
          <a:bodyPr wrap="square" lIns="0" tIns="0" rIns="0" bIns="0" rtlCol="0" anchor="ctr"/>
          <a:lstStyle/>
          <a:p>
            <a:pPr indent="0" marL="0">
              <a:buNone/>
            </a:pPr>
            <a:r>
              <a:rPr lang="en-US" sz="1300" b="1" dirty="0">
                <a:solidFill>
                  <a:srgbClr val="EEF1F4"/>
                </a:solidFill>
                <a:latin typeface="Calibri" pitchFamily="34" charset="0"/>
                <a:ea typeface="Calibri" pitchFamily="34" charset="-122"/>
                <a:cs typeface="Calibri" pitchFamily="34" charset="-120"/>
              </a:rPr>
              <a:t>May fall back to English</a:t>
            </a:r>
            <a:endParaRPr lang="en-US" sz="1300" dirty="0"/>
          </a:p>
        </p:txBody>
      </p:sp>
      <p:sp>
        <p:nvSpPr>
          <p:cNvPr id="61" name="Text 58"/>
          <p:cNvSpPr txBox="1"/>
          <p:nvPr/>
        </p:nvSpPr>
        <p:spPr>
          <a:xfrm>
            <a:off x="4425696" y="4535424"/>
            <a:ext cx="3310128" cy="164592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Ordinary interface labels, as the news lane does today</a:t>
            </a:r>
            <a:endParaRPr lang="en-US" sz="1150" dirty="0"/>
          </a:p>
        </p:txBody>
      </p:sp>
      <p:sp>
        <p:nvSpPr>
          <p:cNvPr id="62" name="Shape 59"/>
          <p:cNvSpPr/>
          <p:nvPr/>
        </p:nvSpPr>
        <p:spPr>
          <a:xfrm>
            <a:off x="8065008" y="3767328"/>
            <a:ext cx="3639312" cy="2514600"/>
          </a:xfrm>
          <a:prstGeom prst="roundRect">
            <a:avLst>
              <a:gd name="adj" fmla="val 2545"/>
            </a:avLst>
          </a:prstGeom>
          <a:solidFill>
            <a:srgbClr val="1D242E"/>
          </a:solidFill>
          <a:ln w="9525">
            <a:solidFill>
              <a:srgbClr val="323C49"/>
            </a:solidFill>
            <a:prstDash val="solid"/>
          </a:ln>
        </p:spPr>
      </p:sp>
      <p:sp>
        <p:nvSpPr>
          <p:cNvPr id="63" name="Text 60"/>
          <p:cNvSpPr txBox="1"/>
          <p:nvPr/>
        </p:nvSpPr>
        <p:spPr>
          <a:xfrm>
            <a:off x="8229600" y="3877056"/>
            <a:ext cx="3310128" cy="603504"/>
          </a:xfrm>
          <a:prstGeom prst="rect">
            <a:avLst/>
          </a:prstGeom>
          <a:noFill/>
          <a:ln/>
        </p:spPr>
        <p:txBody>
          <a:bodyPr wrap="square" lIns="0" tIns="0" rIns="0" bIns="0" rtlCol="0" anchor="ctr"/>
          <a:lstStyle/>
          <a:p>
            <a:pPr indent="0" marL="0">
              <a:buNone/>
            </a:pPr>
            <a:r>
              <a:rPr lang="en-US" sz="1300" b="1" dirty="0">
                <a:solidFill>
                  <a:srgbClr val="EEF1F4"/>
                </a:solidFill>
                <a:latin typeface="Calibri" pitchFamily="34" charset="0"/>
                <a:ea typeface="Calibri" pitchFamily="34" charset="-122"/>
                <a:cs typeface="Calibri" pitchFamily="34" charset="-120"/>
              </a:rPr>
              <a:t>Right-to-left</a:t>
            </a:r>
            <a:endParaRPr lang="en-US" sz="1300" dirty="0"/>
          </a:p>
        </p:txBody>
      </p:sp>
      <p:sp>
        <p:nvSpPr>
          <p:cNvPr id="64" name="Text 61"/>
          <p:cNvSpPr txBox="1"/>
          <p:nvPr/>
        </p:nvSpPr>
        <p:spPr>
          <a:xfrm>
            <a:off x="8229600" y="4535424"/>
            <a:ext cx="3310128" cy="164592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Arabic and Urdu reports render right-to-left, prices left-to-right</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B7A3E0"/>
          </a:solidFill>
          <a:ln w="15875">
            <a:solidFill>
              <a:srgbClr val="B7A3E0"/>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7</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7 · PLATFORM &amp; GOVERNANCE · BUILD ORDER</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The order to build what the seven decks settled</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14</a:t>
            </a:r>
            <a:endParaRPr lang="en-US" sz="1000" dirty="0"/>
          </a:p>
        </p:txBody>
      </p:sp>
      <p:sp>
        <p:nvSpPr>
          <p:cNvPr id="8" name="Shape 5"/>
          <p:cNvSpPr/>
          <p:nvPr/>
        </p:nvSpPr>
        <p:spPr>
          <a:xfrm>
            <a:off x="457200" y="1325880"/>
            <a:ext cx="6949440" cy="530352"/>
          </a:xfrm>
          <a:prstGeom prst="roundRect">
            <a:avLst>
              <a:gd name="adj" fmla="val 12069"/>
            </a:avLst>
          </a:prstGeom>
          <a:solidFill>
            <a:srgbClr val="1D242E"/>
          </a:solidFill>
          <a:ln w="9525">
            <a:solidFill>
              <a:srgbClr val="323C49"/>
            </a:solidFill>
            <a:prstDash val="solid"/>
          </a:ln>
        </p:spPr>
      </p:sp>
      <p:sp>
        <p:nvSpPr>
          <p:cNvPr id="9" name="Text 6"/>
          <p:cNvSpPr txBox="1"/>
          <p:nvPr/>
        </p:nvSpPr>
        <p:spPr>
          <a:xfrm>
            <a:off x="548640" y="1325880"/>
            <a:ext cx="365760" cy="530352"/>
          </a:xfrm>
          <a:prstGeom prst="rect">
            <a:avLst/>
          </a:prstGeom>
          <a:noFill/>
          <a:ln/>
        </p:spPr>
        <p:txBody>
          <a:bodyPr wrap="square" lIns="0" tIns="0" rIns="0" bIns="0" rtlCol="0" anchor="ctr"/>
          <a:lstStyle/>
          <a:p>
            <a:pPr indent="0" marL="0">
              <a:buNone/>
            </a:pPr>
            <a:r>
              <a:rPr lang="en-US" sz="1600" b="1" dirty="0">
                <a:solidFill>
                  <a:srgbClr val="E2B54E"/>
                </a:solidFill>
                <a:latin typeface="Cambria" pitchFamily="34" charset="0"/>
                <a:ea typeface="Cambria" pitchFamily="34" charset="-122"/>
                <a:cs typeface="Cambria" pitchFamily="34" charset="-120"/>
              </a:rPr>
              <a:t>1</a:t>
            </a:r>
            <a:endParaRPr lang="en-US" sz="1600" dirty="0"/>
          </a:p>
        </p:txBody>
      </p:sp>
      <p:sp>
        <p:nvSpPr>
          <p:cNvPr id="10" name="Shape 7"/>
          <p:cNvSpPr/>
          <p:nvPr/>
        </p:nvSpPr>
        <p:spPr>
          <a:xfrm>
            <a:off x="960120" y="1417320"/>
            <a:ext cx="347472" cy="347472"/>
          </a:xfrm>
          <a:prstGeom prst="ellipse">
            <a:avLst/>
          </a:prstGeom>
          <a:solidFill>
            <a:srgbClr val="B7A3E0"/>
          </a:solidFill>
          <a:ln w="15875">
            <a:solidFill>
              <a:srgbClr val="B7A3E0"/>
            </a:solidFill>
            <a:prstDash val="solid"/>
          </a:ln>
        </p:spPr>
      </p:sp>
      <p:sp>
        <p:nvSpPr>
          <p:cNvPr id="11" name="Text 8"/>
          <p:cNvSpPr txBox="1"/>
          <p:nvPr/>
        </p:nvSpPr>
        <p:spPr>
          <a:xfrm>
            <a:off x="960120" y="1417320"/>
            <a:ext cx="347472" cy="347472"/>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7</a:t>
            </a:r>
            <a:endParaRPr lang="en-US" sz="1100" dirty="0"/>
          </a:p>
        </p:txBody>
      </p:sp>
      <p:sp>
        <p:nvSpPr>
          <p:cNvPr id="12" name="Text 9"/>
          <p:cNvSpPr txBox="1"/>
          <p:nvPr/>
        </p:nvSpPr>
        <p:spPr>
          <a:xfrm>
            <a:off x="1444752" y="1325880"/>
            <a:ext cx="5897880" cy="530352"/>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Architecture document + decision log  </a:t>
            </a:r>
            <a:pPr indent="0" marL="0">
              <a:buNone/>
            </a:pPr>
            <a:r>
              <a:rPr lang="en-US" sz="1150" dirty="0">
                <a:solidFill>
                  <a:srgbClr val="A3AEBB"/>
                </a:solidFill>
                <a:latin typeface="Calibri" pitchFamily="34" charset="0"/>
                <a:ea typeface="Calibri" pitchFamily="34" charset="-122"/>
                <a:cs typeface="Calibri" pitchFamily="34" charset="-120"/>
              </a:rPr>
              <a:t>from these decks</a:t>
            </a:r>
            <a:endParaRPr lang="en-US" sz="1150" dirty="0"/>
          </a:p>
        </p:txBody>
      </p:sp>
      <p:sp>
        <p:nvSpPr>
          <p:cNvPr id="13" name="Shape 10"/>
          <p:cNvSpPr/>
          <p:nvPr/>
        </p:nvSpPr>
        <p:spPr>
          <a:xfrm>
            <a:off x="457200" y="1929384"/>
            <a:ext cx="6949440" cy="530352"/>
          </a:xfrm>
          <a:prstGeom prst="roundRect">
            <a:avLst>
              <a:gd name="adj" fmla="val 12069"/>
            </a:avLst>
          </a:prstGeom>
          <a:solidFill>
            <a:srgbClr val="1D242E"/>
          </a:solidFill>
          <a:ln w="9525">
            <a:solidFill>
              <a:srgbClr val="323C49"/>
            </a:solidFill>
            <a:prstDash val="solid"/>
          </a:ln>
        </p:spPr>
      </p:sp>
      <p:sp>
        <p:nvSpPr>
          <p:cNvPr id="14" name="Text 11"/>
          <p:cNvSpPr txBox="1"/>
          <p:nvPr/>
        </p:nvSpPr>
        <p:spPr>
          <a:xfrm>
            <a:off x="548640" y="1929384"/>
            <a:ext cx="365760" cy="530352"/>
          </a:xfrm>
          <a:prstGeom prst="rect">
            <a:avLst/>
          </a:prstGeom>
          <a:noFill/>
          <a:ln/>
        </p:spPr>
        <p:txBody>
          <a:bodyPr wrap="square" lIns="0" tIns="0" rIns="0" bIns="0" rtlCol="0" anchor="ctr"/>
          <a:lstStyle/>
          <a:p>
            <a:pPr indent="0" marL="0">
              <a:buNone/>
            </a:pPr>
            <a:r>
              <a:rPr lang="en-US" sz="1600" b="1" dirty="0">
                <a:solidFill>
                  <a:srgbClr val="E2B54E"/>
                </a:solidFill>
                <a:latin typeface="Cambria" pitchFamily="34" charset="0"/>
                <a:ea typeface="Cambria" pitchFamily="34" charset="-122"/>
                <a:cs typeface="Cambria" pitchFamily="34" charset="-120"/>
              </a:rPr>
              <a:t>2</a:t>
            </a:r>
            <a:endParaRPr lang="en-US" sz="1600" dirty="0"/>
          </a:p>
        </p:txBody>
      </p:sp>
      <p:sp>
        <p:nvSpPr>
          <p:cNvPr id="15" name="Shape 12"/>
          <p:cNvSpPr/>
          <p:nvPr/>
        </p:nvSpPr>
        <p:spPr>
          <a:xfrm>
            <a:off x="960120" y="2020824"/>
            <a:ext cx="347472" cy="347472"/>
          </a:xfrm>
          <a:prstGeom prst="ellipse">
            <a:avLst/>
          </a:prstGeom>
          <a:solidFill>
            <a:srgbClr val="5CC2B2"/>
          </a:solidFill>
          <a:ln w="15875">
            <a:solidFill>
              <a:srgbClr val="5CC2B2"/>
            </a:solidFill>
            <a:prstDash val="solid"/>
          </a:ln>
        </p:spPr>
      </p:sp>
      <p:sp>
        <p:nvSpPr>
          <p:cNvPr id="16" name="Text 13"/>
          <p:cNvSpPr txBox="1"/>
          <p:nvPr/>
        </p:nvSpPr>
        <p:spPr>
          <a:xfrm>
            <a:off x="960120" y="2020824"/>
            <a:ext cx="347472" cy="347472"/>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1</a:t>
            </a:r>
            <a:endParaRPr lang="en-US" sz="1100" dirty="0"/>
          </a:p>
        </p:txBody>
      </p:sp>
      <p:sp>
        <p:nvSpPr>
          <p:cNvPr id="17" name="Text 14"/>
          <p:cNvSpPr txBox="1"/>
          <p:nvPr/>
        </p:nvSpPr>
        <p:spPr>
          <a:xfrm>
            <a:off x="1444752" y="1929384"/>
            <a:ext cx="5897880" cy="530352"/>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Pipeline in production  </a:t>
            </a:r>
            <a:pPr indent="0" marL="0">
              <a:buNone/>
            </a:pPr>
            <a:r>
              <a:rPr lang="en-US" sz="1150" dirty="0">
                <a:solidFill>
                  <a:srgbClr val="A3AEBB"/>
                </a:solidFill>
                <a:latin typeface="Calibri" pitchFamily="34" charset="0"/>
                <a:ea typeface="Calibri" pitchFamily="34" charset="-122"/>
                <a:cs typeface="Calibri" pitchFamily="34" charset="-120"/>
              </a:rPr>
              <a:t>cycles, manifest, data status, symbol_specs</a:t>
            </a:r>
            <a:endParaRPr lang="en-US" sz="1150" dirty="0"/>
          </a:p>
        </p:txBody>
      </p:sp>
      <p:sp>
        <p:nvSpPr>
          <p:cNvPr id="18" name="Shape 15"/>
          <p:cNvSpPr/>
          <p:nvPr/>
        </p:nvSpPr>
        <p:spPr>
          <a:xfrm>
            <a:off x="457200" y="2532888"/>
            <a:ext cx="6949440" cy="530352"/>
          </a:xfrm>
          <a:prstGeom prst="roundRect">
            <a:avLst>
              <a:gd name="adj" fmla="val 12069"/>
            </a:avLst>
          </a:prstGeom>
          <a:solidFill>
            <a:srgbClr val="1D242E"/>
          </a:solidFill>
          <a:ln w="9525">
            <a:solidFill>
              <a:srgbClr val="323C49"/>
            </a:solidFill>
            <a:prstDash val="solid"/>
          </a:ln>
        </p:spPr>
      </p:sp>
      <p:sp>
        <p:nvSpPr>
          <p:cNvPr id="19" name="Text 16"/>
          <p:cNvSpPr txBox="1"/>
          <p:nvPr/>
        </p:nvSpPr>
        <p:spPr>
          <a:xfrm>
            <a:off x="548640" y="2532888"/>
            <a:ext cx="365760" cy="530352"/>
          </a:xfrm>
          <a:prstGeom prst="rect">
            <a:avLst/>
          </a:prstGeom>
          <a:noFill/>
          <a:ln/>
        </p:spPr>
        <p:txBody>
          <a:bodyPr wrap="square" lIns="0" tIns="0" rIns="0" bIns="0" rtlCol="0" anchor="ctr"/>
          <a:lstStyle/>
          <a:p>
            <a:pPr indent="0" marL="0">
              <a:buNone/>
            </a:pPr>
            <a:r>
              <a:rPr lang="en-US" sz="1600" b="1" dirty="0">
                <a:solidFill>
                  <a:srgbClr val="E2B54E"/>
                </a:solidFill>
                <a:latin typeface="Cambria" pitchFamily="34" charset="0"/>
                <a:ea typeface="Cambria" pitchFamily="34" charset="-122"/>
                <a:cs typeface="Cambria" pitchFamily="34" charset="-120"/>
              </a:rPr>
              <a:t>3</a:t>
            </a:r>
            <a:endParaRPr lang="en-US" sz="1600" dirty="0"/>
          </a:p>
        </p:txBody>
      </p:sp>
      <p:sp>
        <p:nvSpPr>
          <p:cNvPr id="20" name="Shape 17"/>
          <p:cNvSpPr/>
          <p:nvPr/>
        </p:nvSpPr>
        <p:spPr>
          <a:xfrm>
            <a:off x="960120" y="2624328"/>
            <a:ext cx="347472" cy="347472"/>
          </a:xfrm>
          <a:prstGeom prst="ellipse">
            <a:avLst/>
          </a:prstGeom>
          <a:solidFill>
            <a:srgbClr val="5CC2B2"/>
          </a:solidFill>
          <a:ln w="15875">
            <a:solidFill>
              <a:srgbClr val="5CC2B2"/>
            </a:solidFill>
            <a:prstDash val="solid"/>
          </a:ln>
        </p:spPr>
      </p:sp>
      <p:sp>
        <p:nvSpPr>
          <p:cNvPr id="21" name="Text 18"/>
          <p:cNvSpPr txBox="1"/>
          <p:nvPr/>
        </p:nvSpPr>
        <p:spPr>
          <a:xfrm>
            <a:off x="960120" y="2624328"/>
            <a:ext cx="347472" cy="347472"/>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2</a:t>
            </a:r>
            <a:endParaRPr lang="en-US" sz="1100" dirty="0"/>
          </a:p>
        </p:txBody>
      </p:sp>
      <p:sp>
        <p:nvSpPr>
          <p:cNvPr id="22" name="Text 19"/>
          <p:cNvSpPr txBox="1"/>
          <p:nvPr/>
        </p:nvSpPr>
        <p:spPr>
          <a:xfrm>
            <a:off x="1444752" y="2532888"/>
            <a:ext cx="5897880" cy="530352"/>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Sensor worker  </a:t>
            </a:r>
            <a:pPr indent="0" marL="0">
              <a:buNone/>
            </a:pPr>
            <a:r>
              <a:rPr lang="en-US" sz="1150" dirty="0">
                <a:solidFill>
                  <a:srgbClr val="A3AEBB"/>
                </a:solidFill>
                <a:latin typeface="Calibri" pitchFamily="34" charset="0"/>
                <a:ea typeface="Calibri" pitchFamily="34" charset="-122"/>
                <a:cs typeface="Calibri" pitchFamily="34" charset="-120"/>
              </a:rPr>
              <a:t>envelope, MCD0, point-in-time replay</a:t>
            </a:r>
            <a:endParaRPr lang="en-US" sz="1150" dirty="0"/>
          </a:p>
        </p:txBody>
      </p:sp>
      <p:sp>
        <p:nvSpPr>
          <p:cNvPr id="23" name="Shape 20"/>
          <p:cNvSpPr/>
          <p:nvPr/>
        </p:nvSpPr>
        <p:spPr>
          <a:xfrm>
            <a:off x="457200" y="3136392"/>
            <a:ext cx="6949440" cy="530352"/>
          </a:xfrm>
          <a:prstGeom prst="roundRect">
            <a:avLst>
              <a:gd name="adj" fmla="val 12069"/>
            </a:avLst>
          </a:prstGeom>
          <a:solidFill>
            <a:srgbClr val="1D242E"/>
          </a:solidFill>
          <a:ln w="9525">
            <a:solidFill>
              <a:srgbClr val="323C49"/>
            </a:solidFill>
            <a:prstDash val="solid"/>
          </a:ln>
        </p:spPr>
      </p:sp>
      <p:sp>
        <p:nvSpPr>
          <p:cNvPr id="24" name="Text 21"/>
          <p:cNvSpPr txBox="1"/>
          <p:nvPr/>
        </p:nvSpPr>
        <p:spPr>
          <a:xfrm>
            <a:off x="548640" y="3136392"/>
            <a:ext cx="365760" cy="530352"/>
          </a:xfrm>
          <a:prstGeom prst="rect">
            <a:avLst/>
          </a:prstGeom>
          <a:noFill/>
          <a:ln/>
        </p:spPr>
        <p:txBody>
          <a:bodyPr wrap="square" lIns="0" tIns="0" rIns="0" bIns="0" rtlCol="0" anchor="ctr"/>
          <a:lstStyle/>
          <a:p>
            <a:pPr indent="0" marL="0">
              <a:buNone/>
            </a:pPr>
            <a:r>
              <a:rPr lang="en-US" sz="1600" b="1" dirty="0">
                <a:solidFill>
                  <a:srgbClr val="E2B54E"/>
                </a:solidFill>
                <a:latin typeface="Cambria" pitchFamily="34" charset="0"/>
                <a:ea typeface="Cambria" pitchFamily="34" charset="-122"/>
                <a:cs typeface="Cambria" pitchFamily="34" charset="-120"/>
              </a:rPr>
              <a:t>4</a:t>
            </a:r>
            <a:endParaRPr lang="en-US" sz="1600" dirty="0"/>
          </a:p>
        </p:txBody>
      </p:sp>
      <p:sp>
        <p:nvSpPr>
          <p:cNvPr id="25" name="Shape 22"/>
          <p:cNvSpPr/>
          <p:nvPr/>
        </p:nvSpPr>
        <p:spPr>
          <a:xfrm>
            <a:off x="960120" y="3227832"/>
            <a:ext cx="347472" cy="347472"/>
          </a:xfrm>
          <a:prstGeom prst="ellipse">
            <a:avLst/>
          </a:prstGeom>
          <a:solidFill>
            <a:srgbClr val="5CC2B2"/>
          </a:solidFill>
          <a:ln w="15875">
            <a:solidFill>
              <a:srgbClr val="5CC2B2"/>
            </a:solidFill>
            <a:prstDash val="solid"/>
          </a:ln>
        </p:spPr>
      </p:sp>
      <p:sp>
        <p:nvSpPr>
          <p:cNvPr id="26" name="Text 23"/>
          <p:cNvSpPr txBox="1"/>
          <p:nvPr/>
        </p:nvSpPr>
        <p:spPr>
          <a:xfrm>
            <a:off x="960120" y="3227832"/>
            <a:ext cx="347472" cy="347472"/>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3</a:t>
            </a:r>
            <a:endParaRPr lang="en-US" sz="1100" dirty="0"/>
          </a:p>
        </p:txBody>
      </p:sp>
      <p:sp>
        <p:nvSpPr>
          <p:cNvPr id="27" name="Text 24"/>
          <p:cNvSpPr txBox="1"/>
          <p:nvPr/>
        </p:nvSpPr>
        <p:spPr>
          <a:xfrm>
            <a:off x="1444752" y="3136392"/>
            <a:ext cx="5897880" cy="530352"/>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Synthesis and zones  </a:t>
            </a:r>
            <a:pPr indent="0" marL="0">
              <a:buNone/>
            </a:pPr>
            <a:r>
              <a:rPr lang="en-US" sz="1150" dirty="0">
                <a:solidFill>
                  <a:srgbClr val="A3AEBB"/>
                </a:solidFill>
                <a:latin typeface="Calibri" pitchFamily="34" charset="0"/>
                <a:ea typeface="Calibri" pitchFamily="34" charset="-122"/>
                <a:cs typeface="Calibri" pitchFamily="34" charset="-120"/>
              </a:rPr>
              <a:t>first golden scenarios captured</a:t>
            </a:r>
            <a:endParaRPr lang="en-US" sz="1150" dirty="0"/>
          </a:p>
        </p:txBody>
      </p:sp>
      <p:sp>
        <p:nvSpPr>
          <p:cNvPr id="28" name="Shape 25"/>
          <p:cNvSpPr/>
          <p:nvPr/>
        </p:nvSpPr>
        <p:spPr>
          <a:xfrm>
            <a:off x="457200" y="3739896"/>
            <a:ext cx="6949440" cy="530352"/>
          </a:xfrm>
          <a:prstGeom prst="roundRect">
            <a:avLst>
              <a:gd name="adj" fmla="val 12069"/>
            </a:avLst>
          </a:prstGeom>
          <a:solidFill>
            <a:srgbClr val="1D242E"/>
          </a:solidFill>
          <a:ln w="9525">
            <a:solidFill>
              <a:srgbClr val="323C49"/>
            </a:solidFill>
            <a:prstDash val="solid"/>
          </a:ln>
        </p:spPr>
      </p:sp>
      <p:sp>
        <p:nvSpPr>
          <p:cNvPr id="29" name="Text 26"/>
          <p:cNvSpPr txBox="1"/>
          <p:nvPr/>
        </p:nvSpPr>
        <p:spPr>
          <a:xfrm>
            <a:off x="548640" y="3739896"/>
            <a:ext cx="365760" cy="530352"/>
          </a:xfrm>
          <a:prstGeom prst="rect">
            <a:avLst/>
          </a:prstGeom>
          <a:noFill/>
          <a:ln/>
        </p:spPr>
        <p:txBody>
          <a:bodyPr wrap="square" lIns="0" tIns="0" rIns="0" bIns="0" rtlCol="0" anchor="ctr"/>
          <a:lstStyle/>
          <a:p>
            <a:pPr indent="0" marL="0">
              <a:buNone/>
            </a:pPr>
            <a:r>
              <a:rPr lang="en-US" sz="1600" b="1" dirty="0">
                <a:solidFill>
                  <a:srgbClr val="E2B54E"/>
                </a:solidFill>
                <a:latin typeface="Cambria" pitchFamily="34" charset="0"/>
                <a:ea typeface="Cambria" pitchFamily="34" charset="-122"/>
                <a:cs typeface="Cambria" pitchFamily="34" charset="-120"/>
              </a:rPr>
              <a:t>5</a:t>
            </a:r>
            <a:endParaRPr lang="en-US" sz="1600" dirty="0"/>
          </a:p>
        </p:txBody>
      </p:sp>
      <p:sp>
        <p:nvSpPr>
          <p:cNvPr id="30" name="Shape 27"/>
          <p:cNvSpPr/>
          <p:nvPr/>
        </p:nvSpPr>
        <p:spPr>
          <a:xfrm>
            <a:off x="960120" y="3831336"/>
            <a:ext cx="347472" cy="347472"/>
          </a:xfrm>
          <a:prstGeom prst="ellipse">
            <a:avLst/>
          </a:prstGeom>
          <a:solidFill>
            <a:srgbClr val="7FA8E8"/>
          </a:solidFill>
          <a:ln w="15875">
            <a:solidFill>
              <a:srgbClr val="7FA8E8"/>
            </a:solidFill>
            <a:prstDash val="solid"/>
          </a:ln>
        </p:spPr>
      </p:sp>
      <p:sp>
        <p:nvSpPr>
          <p:cNvPr id="31" name="Text 28"/>
          <p:cNvSpPr txBox="1"/>
          <p:nvPr/>
        </p:nvSpPr>
        <p:spPr>
          <a:xfrm>
            <a:off x="960120" y="3831336"/>
            <a:ext cx="347472" cy="347472"/>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6</a:t>
            </a:r>
            <a:endParaRPr lang="en-US" sz="1100" dirty="0"/>
          </a:p>
        </p:txBody>
      </p:sp>
      <p:sp>
        <p:nvSpPr>
          <p:cNvPr id="32" name="Text 29"/>
          <p:cNvSpPr txBox="1"/>
          <p:nvPr/>
        </p:nvSpPr>
        <p:spPr>
          <a:xfrm>
            <a:off x="1444752" y="3739896"/>
            <a:ext cx="5897880" cy="530352"/>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Engine 4 and Report 2  </a:t>
            </a:r>
            <a:pPr indent="0" marL="0">
              <a:buNone/>
            </a:pPr>
            <a:r>
              <a:rPr lang="en-US" sz="1150" dirty="0">
                <a:solidFill>
                  <a:srgbClr val="A3AEBB"/>
                </a:solidFill>
                <a:latin typeface="Calibri" pitchFamily="34" charset="0"/>
                <a:ea typeface="Calibri" pitchFamily="34" charset="-122"/>
                <a:cs typeface="Calibri" pitchFamily="34" charset="-120"/>
              </a:rPr>
              <a:t>deterministic; fixtures first</a:t>
            </a:r>
            <a:endParaRPr lang="en-US" sz="1150" dirty="0"/>
          </a:p>
        </p:txBody>
      </p:sp>
      <p:sp>
        <p:nvSpPr>
          <p:cNvPr id="33" name="Shape 30"/>
          <p:cNvSpPr/>
          <p:nvPr/>
        </p:nvSpPr>
        <p:spPr>
          <a:xfrm>
            <a:off x="457200" y="4343400"/>
            <a:ext cx="6949440" cy="530352"/>
          </a:xfrm>
          <a:prstGeom prst="roundRect">
            <a:avLst>
              <a:gd name="adj" fmla="val 12069"/>
            </a:avLst>
          </a:prstGeom>
          <a:solidFill>
            <a:srgbClr val="1D242E"/>
          </a:solidFill>
          <a:ln w="9525">
            <a:solidFill>
              <a:srgbClr val="323C49"/>
            </a:solidFill>
            <a:prstDash val="solid"/>
          </a:ln>
        </p:spPr>
      </p:sp>
      <p:sp>
        <p:nvSpPr>
          <p:cNvPr id="34" name="Text 31"/>
          <p:cNvSpPr txBox="1"/>
          <p:nvPr/>
        </p:nvSpPr>
        <p:spPr>
          <a:xfrm>
            <a:off x="548640" y="4343400"/>
            <a:ext cx="365760" cy="530352"/>
          </a:xfrm>
          <a:prstGeom prst="rect">
            <a:avLst/>
          </a:prstGeom>
          <a:noFill/>
          <a:ln/>
        </p:spPr>
        <p:txBody>
          <a:bodyPr wrap="square" lIns="0" tIns="0" rIns="0" bIns="0" rtlCol="0" anchor="ctr"/>
          <a:lstStyle/>
          <a:p>
            <a:pPr indent="0" marL="0">
              <a:buNone/>
            </a:pPr>
            <a:r>
              <a:rPr lang="en-US" sz="1600" b="1" dirty="0">
                <a:solidFill>
                  <a:srgbClr val="E2B54E"/>
                </a:solidFill>
                <a:latin typeface="Cambria" pitchFamily="34" charset="0"/>
                <a:ea typeface="Cambria" pitchFamily="34" charset="-122"/>
                <a:cs typeface="Cambria" pitchFamily="34" charset="-120"/>
              </a:rPr>
              <a:t>6</a:t>
            </a:r>
            <a:endParaRPr lang="en-US" sz="1600" dirty="0"/>
          </a:p>
        </p:txBody>
      </p:sp>
      <p:sp>
        <p:nvSpPr>
          <p:cNvPr id="35" name="Shape 32"/>
          <p:cNvSpPr/>
          <p:nvPr/>
        </p:nvSpPr>
        <p:spPr>
          <a:xfrm>
            <a:off x="960120" y="4434840"/>
            <a:ext cx="347472" cy="347472"/>
          </a:xfrm>
          <a:prstGeom prst="ellipse">
            <a:avLst/>
          </a:prstGeom>
          <a:solidFill>
            <a:srgbClr val="7FA8E8"/>
          </a:solidFill>
          <a:ln w="15875">
            <a:solidFill>
              <a:srgbClr val="7FA8E8"/>
            </a:solidFill>
            <a:prstDash val="solid"/>
          </a:ln>
        </p:spPr>
      </p:sp>
      <p:sp>
        <p:nvSpPr>
          <p:cNvPr id="36" name="Text 33"/>
          <p:cNvSpPr txBox="1"/>
          <p:nvPr/>
        </p:nvSpPr>
        <p:spPr>
          <a:xfrm>
            <a:off x="960120" y="4434840"/>
            <a:ext cx="347472" cy="347472"/>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4</a:t>
            </a:r>
            <a:endParaRPr lang="en-US" sz="1100" dirty="0"/>
          </a:p>
        </p:txBody>
      </p:sp>
      <p:sp>
        <p:nvSpPr>
          <p:cNvPr id="37" name="Text 34"/>
          <p:cNvSpPr txBox="1"/>
          <p:nvPr/>
        </p:nvSpPr>
        <p:spPr>
          <a:xfrm>
            <a:off x="1444752" y="4343400"/>
            <a:ext cx="5897880" cy="530352"/>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Intake and knowledge  </a:t>
            </a:r>
            <a:pPr indent="0" marL="0">
              <a:buNone/>
            </a:pPr>
            <a:r>
              <a:rPr lang="en-US" sz="1150" dirty="0">
                <a:solidFill>
                  <a:srgbClr val="A3AEBB"/>
                </a:solidFill>
                <a:latin typeface="Calibri" pitchFamily="34" charset="0"/>
                <a:ea typeface="Calibri" pitchFamily="34" charset="-122"/>
                <a:cs typeface="Calibri" pitchFamily="34" charset="-120"/>
              </a:rPr>
              <a:t>glossary, corpus, index, labelled set</a:t>
            </a:r>
            <a:endParaRPr lang="en-US" sz="1150" dirty="0"/>
          </a:p>
        </p:txBody>
      </p:sp>
      <p:sp>
        <p:nvSpPr>
          <p:cNvPr id="38" name="Shape 35"/>
          <p:cNvSpPr/>
          <p:nvPr/>
        </p:nvSpPr>
        <p:spPr>
          <a:xfrm>
            <a:off x="457200" y="4946904"/>
            <a:ext cx="6949440" cy="530352"/>
          </a:xfrm>
          <a:prstGeom prst="roundRect">
            <a:avLst>
              <a:gd name="adj" fmla="val 12069"/>
            </a:avLst>
          </a:prstGeom>
          <a:solidFill>
            <a:srgbClr val="1D242E"/>
          </a:solidFill>
          <a:ln w="9525">
            <a:solidFill>
              <a:srgbClr val="323C49"/>
            </a:solidFill>
            <a:prstDash val="solid"/>
          </a:ln>
        </p:spPr>
      </p:sp>
      <p:sp>
        <p:nvSpPr>
          <p:cNvPr id="39" name="Text 36"/>
          <p:cNvSpPr txBox="1"/>
          <p:nvPr/>
        </p:nvSpPr>
        <p:spPr>
          <a:xfrm>
            <a:off x="548640" y="4946904"/>
            <a:ext cx="365760" cy="530352"/>
          </a:xfrm>
          <a:prstGeom prst="rect">
            <a:avLst/>
          </a:prstGeom>
          <a:noFill/>
          <a:ln/>
        </p:spPr>
        <p:txBody>
          <a:bodyPr wrap="square" lIns="0" tIns="0" rIns="0" bIns="0" rtlCol="0" anchor="ctr"/>
          <a:lstStyle/>
          <a:p>
            <a:pPr indent="0" marL="0">
              <a:buNone/>
            </a:pPr>
            <a:r>
              <a:rPr lang="en-US" sz="1600" b="1" dirty="0">
                <a:solidFill>
                  <a:srgbClr val="E2B54E"/>
                </a:solidFill>
                <a:latin typeface="Cambria" pitchFamily="34" charset="0"/>
                <a:ea typeface="Cambria" pitchFamily="34" charset="-122"/>
                <a:cs typeface="Cambria" pitchFamily="34" charset="-120"/>
              </a:rPr>
              <a:t>7</a:t>
            </a:r>
            <a:endParaRPr lang="en-US" sz="1600" dirty="0"/>
          </a:p>
        </p:txBody>
      </p:sp>
      <p:sp>
        <p:nvSpPr>
          <p:cNvPr id="40" name="Shape 37"/>
          <p:cNvSpPr/>
          <p:nvPr/>
        </p:nvSpPr>
        <p:spPr>
          <a:xfrm>
            <a:off x="960120" y="5038344"/>
            <a:ext cx="347472" cy="347472"/>
          </a:xfrm>
          <a:prstGeom prst="ellipse">
            <a:avLst/>
          </a:prstGeom>
          <a:solidFill>
            <a:srgbClr val="7FA8E8"/>
          </a:solidFill>
          <a:ln w="15875">
            <a:solidFill>
              <a:srgbClr val="7FA8E8"/>
            </a:solidFill>
            <a:prstDash val="solid"/>
          </a:ln>
        </p:spPr>
      </p:sp>
      <p:sp>
        <p:nvSpPr>
          <p:cNvPr id="41" name="Text 38"/>
          <p:cNvSpPr txBox="1"/>
          <p:nvPr/>
        </p:nvSpPr>
        <p:spPr>
          <a:xfrm>
            <a:off x="960120" y="5038344"/>
            <a:ext cx="347472" cy="347472"/>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5</a:t>
            </a:r>
            <a:endParaRPr lang="en-US" sz="1100" dirty="0"/>
          </a:p>
        </p:txBody>
      </p:sp>
      <p:sp>
        <p:nvSpPr>
          <p:cNvPr id="42" name="Text 39"/>
          <p:cNvSpPr txBox="1"/>
          <p:nvPr/>
        </p:nvSpPr>
        <p:spPr>
          <a:xfrm>
            <a:off x="1444752" y="4946904"/>
            <a:ext cx="5897880" cy="530352"/>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Prompt and reply  </a:t>
            </a:r>
            <a:pPr indent="0" marL="0">
              <a:buNone/>
            </a:pPr>
            <a:r>
              <a:rPr lang="en-US" sz="1150" dirty="0">
                <a:solidFill>
                  <a:srgbClr val="A3AEBB"/>
                </a:solidFill>
                <a:latin typeface="Calibri" pitchFamily="34" charset="0"/>
                <a:ea typeface="Calibri" pitchFamily="34" charset="-122"/>
                <a:cs typeface="Calibri" pitchFamily="34" charset="-120"/>
              </a:rPr>
              <a:t>assembler, checks, model evaluation</a:t>
            </a:r>
            <a:endParaRPr lang="en-US" sz="1150" dirty="0"/>
          </a:p>
        </p:txBody>
      </p:sp>
      <p:sp>
        <p:nvSpPr>
          <p:cNvPr id="43" name="Shape 40"/>
          <p:cNvSpPr/>
          <p:nvPr/>
        </p:nvSpPr>
        <p:spPr>
          <a:xfrm>
            <a:off x="457200" y="5577840"/>
            <a:ext cx="6949440" cy="704088"/>
          </a:xfrm>
          <a:prstGeom prst="roundRect">
            <a:avLst>
              <a:gd name="adj" fmla="val 9091"/>
            </a:avLst>
          </a:prstGeom>
          <a:solidFill>
            <a:srgbClr val="231E33"/>
          </a:solidFill>
          <a:ln w="9525">
            <a:solidFill>
              <a:srgbClr val="231E33"/>
            </a:solidFill>
            <a:prstDash val="solid"/>
          </a:ln>
        </p:spPr>
      </p:sp>
      <p:sp>
        <p:nvSpPr>
          <p:cNvPr id="44" name="Text 41"/>
          <p:cNvSpPr txBox="1"/>
          <p:nvPr/>
        </p:nvSpPr>
        <p:spPr>
          <a:xfrm>
            <a:off x="640080" y="5577840"/>
            <a:ext cx="6675120" cy="704088"/>
          </a:xfrm>
          <a:prstGeom prst="rect">
            <a:avLst/>
          </a:prstGeom>
          <a:noFill/>
          <a:ln/>
        </p:spPr>
        <p:txBody>
          <a:bodyPr wrap="square" lIns="0" tIns="0" rIns="0" bIns="0" rtlCol="0" anchor="ctr"/>
          <a:lstStyle/>
          <a:p>
            <a:pPr indent="0" marL="0">
              <a:buNone/>
            </a:pPr>
            <a:r>
              <a:rPr lang="en-US" sz="1150" b="1" dirty="0">
                <a:solidFill>
                  <a:srgbClr val="B7A3E0"/>
                </a:solidFill>
                <a:latin typeface="Calibri" pitchFamily="34" charset="0"/>
                <a:ea typeface="Calibri" pitchFamily="34" charset="-122"/>
                <a:cs typeface="Calibri" pitchFamily="34" charset="-120"/>
              </a:rPr>
              <a:t>Alongside from step 4:  </a:t>
            </a:r>
            <a:pPr indent="0" marL="0">
              <a:buNone/>
            </a:pPr>
            <a:r>
              <a:rPr lang="en-US" sz="1150" dirty="0">
                <a:solidFill>
                  <a:srgbClr val="EEF1F4"/>
                </a:solidFill>
                <a:latin typeface="Calibri" pitchFamily="34" charset="0"/>
                <a:ea typeface="Calibri" pitchFamily="34" charset="-122"/>
                <a:cs typeface="Calibri" pitchFamily="34" charset="-120"/>
              </a:rPr>
              <a:t>trace, entitlements, dashboard, alerts, retention.</a:t>
            </a:r>
            <a:endParaRPr lang="en-US" sz="1150" dirty="0"/>
          </a:p>
        </p:txBody>
      </p:sp>
      <p:sp>
        <p:nvSpPr>
          <p:cNvPr id="45" name="Shape 42"/>
          <p:cNvSpPr/>
          <p:nvPr/>
        </p:nvSpPr>
        <p:spPr>
          <a:xfrm>
            <a:off x="7635240" y="1325880"/>
            <a:ext cx="4096512" cy="4956048"/>
          </a:xfrm>
          <a:prstGeom prst="roundRect">
            <a:avLst>
              <a:gd name="adj" fmla="val 1563"/>
            </a:avLst>
          </a:prstGeom>
          <a:solidFill>
            <a:srgbClr val="1D242E"/>
          </a:solidFill>
          <a:ln w="9525">
            <a:solidFill>
              <a:srgbClr val="323C49"/>
            </a:solidFill>
            <a:prstDash val="solid"/>
          </a:ln>
        </p:spPr>
      </p:sp>
      <p:sp>
        <p:nvSpPr>
          <p:cNvPr id="46" name="Text 43"/>
          <p:cNvSpPr txBox="1"/>
          <p:nvPr/>
        </p:nvSpPr>
        <p:spPr>
          <a:xfrm>
            <a:off x="7818120" y="1435608"/>
            <a:ext cx="3749040" cy="256032"/>
          </a:xfrm>
          <a:prstGeom prst="rect">
            <a:avLst/>
          </a:prstGeom>
          <a:noFill/>
          <a:ln/>
        </p:spPr>
        <p:txBody>
          <a:bodyPr wrap="square" lIns="0" tIns="0" rIns="0" bIns="0" rtlCol="0" anchor="t"/>
          <a:lstStyle/>
          <a:p>
            <a:pPr indent="0" marL="0">
              <a:buNone/>
            </a:pPr>
            <a:r>
              <a:rPr lang="en-US" sz="950" b="1" spc="150" kern="0" dirty="0">
                <a:solidFill>
                  <a:srgbClr val="E2B54E"/>
                </a:solidFill>
                <a:latin typeface="Calibri" pitchFamily="34" charset="0"/>
                <a:ea typeface="Calibri" pitchFamily="34" charset="-122"/>
                <a:cs typeface="Calibri" pitchFamily="34" charset="-120"/>
              </a:rPr>
              <a:t>ON THE ROADMAP · LATER</a:t>
            </a:r>
            <a:endParaRPr lang="en-US" sz="950" dirty="0"/>
          </a:p>
        </p:txBody>
      </p:sp>
      <p:sp>
        <p:nvSpPr>
          <p:cNvPr id="47" name="Shape 44"/>
          <p:cNvSpPr/>
          <p:nvPr/>
        </p:nvSpPr>
        <p:spPr>
          <a:xfrm>
            <a:off x="7836408" y="1984248"/>
            <a:ext cx="100584" cy="100584"/>
          </a:xfrm>
          <a:prstGeom prst="ellipse">
            <a:avLst/>
          </a:prstGeom>
          <a:solidFill>
            <a:srgbClr val="E2B54E"/>
          </a:solidFill>
          <a:ln w="12700">
            <a:solidFill>
              <a:srgbClr val="E2B54E"/>
            </a:solidFill>
            <a:prstDash val="solid"/>
          </a:ln>
        </p:spPr>
      </p:sp>
      <p:sp>
        <p:nvSpPr>
          <p:cNvPr id="48" name="Text 45"/>
          <p:cNvSpPr txBox="1"/>
          <p:nvPr/>
        </p:nvSpPr>
        <p:spPr>
          <a:xfrm>
            <a:off x="8046720" y="1847088"/>
            <a:ext cx="3566160" cy="64008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Alerts to traders when a state changes (G5)</a:t>
            </a:r>
            <a:endParaRPr lang="en-US" sz="1150" dirty="0"/>
          </a:p>
        </p:txBody>
      </p:sp>
      <p:sp>
        <p:nvSpPr>
          <p:cNvPr id="49" name="Shape 46"/>
          <p:cNvSpPr/>
          <p:nvPr/>
        </p:nvSpPr>
        <p:spPr>
          <a:xfrm>
            <a:off x="7836408" y="2679192"/>
            <a:ext cx="100584" cy="100584"/>
          </a:xfrm>
          <a:prstGeom prst="ellipse">
            <a:avLst/>
          </a:prstGeom>
          <a:solidFill>
            <a:srgbClr val="E2B54E"/>
          </a:solidFill>
          <a:ln w="12700">
            <a:solidFill>
              <a:srgbClr val="E2B54E"/>
            </a:solidFill>
            <a:prstDash val="solid"/>
          </a:ln>
        </p:spPr>
      </p:sp>
      <p:sp>
        <p:nvSpPr>
          <p:cNvPr id="50" name="Text 47"/>
          <p:cNvSpPr txBox="1"/>
          <p:nvPr/>
        </p:nvSpPr>
        <p:spPr>
          <a:xfrm>
            <a:off x="8046720" y="2542032"/>
            <a:ext cx="3566160" cy="64008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Memory of a trader’s past setups and outcomes (G5)</a:t>
            </a:r>
            <a:endParaRPr lang="en-US" sz="1150" dirty="0"/>
          </a:p>
        </p:txBody>
      </p:sp>
      <p:sp>
        <p:nvSpPr>
          <p:cNvPr id="51" name="Shape 48"/>
          <p:cNvSpPr/>
          <p:nvPr/>
        </p:nvSpPr>
        <p:spPr>
          <a:xfrm>
            <a:off x="7836408" y="3374136"/>
            <a:ext cx="100584" cy="100584"/>
          </a:xfrm>
          <a:prstGeom prst="ellipse">
            <a:avLst/>
          </a:prstGeom>
          <a:solidFill>
            <a:srgbClr val="E2B54E"/>
          </a:solidFill>
          <a:ln w="12700">
            <a:solidFill>
              <a:srgbClr val="E2B54E"/>
            </a:solidFill>
            <a:prstDash val="solid"/>
          </a:ln>
        </p:spPr>
      </p:sp>
      <p:sp>
        <p:nvSpPr>
          <p:cNvPr id="52" name="Text 49"/>
          <p:cNvSpPr txBox="1"/>
          <p:nvPr/>
        </p:nvSpPr>
        <p:spPr>
          <a:xfrm>
            <a:off x="8046720" y="3236976"/>
            <a:ext cx="3566160" cy="64008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Each trader’s own time zone on screen (G5)</a:t>
            </a:r>
            <a:endParaRPr lang="en-US" sz="1150" dirty="0"/>
          </a:p>
        </p:txBody>
      </p:sp>
      <p:sp>
        <p:nvSpPr>
          <p:cNvPr id="53" name="Shape 50"/>
          <p:cNvSpPr/>
          <p:nvPr/>
        </p:nvSpPr>
        <p:spPr>
          <a:xfrm>
            <a:off x="7836408" y="4069080"/>
            <a:ext cx="100584" cy="100584"/>
          </a:xfrm>
          <a:prstGeom prst="ellipse">
            <a:avLst/>
          </a:prstGeom>
          <a:solidFill>
            <a:srgbClr val="E2B54E"/>
          </a:solidFill>
          <a:ln w="12700">
            <a:solidFill>
              <a:srgbClr val="E2B54E"/>
            </a:solidFill>
            <a:prstDash val="solid"/>
          </a:ln>
        </p:spPr>
      </p:sp>
      <p:sp>
        <p:nvSpPr>
          <p:cNvPr id="54" name="Text 51"/>
          <p:cNvSpPr txBox="1"/>
          <p:nvPr/>
        </p:nvSpPr>
        <p:spPr>
          <a:xfrm>
            <a:off x="8046720" y="3931920"/>
            <a:ext cx="3566160" cy="64008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MCD4–MCD15 through the plug-in contract (A8)</a:t>
            </a:r>
            <a:endParaRPr lang="en-US" sz="1150" dirty="0"/>
          </a:p>
        </p:txBody>
      </p:sp>
      <p:sp>
        <p:nvSpPr>
          <p:cNvPr id="55" name="Shape 52"/>
          <p:cNvSpPr/>
          <p:nvPr/>
        </p:nvSpPr>
        <p:spPr>
          <a:xfrm>
            <a:off x="7836408" y="4764024"/>
            <a:ext cx="100584" cy="100584"/>
          </a:xfrm>
          <a:prstGeom prst="ellipse">
            <a:avLst/>
          </a:prstGeom>
          <a:solidFill>
            <a:srgbClr val="E2B54E"/>
          </a:solidFill>
          <a:ln w="12700">
            <a:solidFill>
              <a:srgbClr val="E2B54E"/>
            </a:solidFill>
            <a:prstDash val="solid"/>
          </a:ln>
        </p:spPr>
      </p:sp>
      <p:sp>
        <p:nvSpPr>
          <p:cNvPr id="56" name="Text 53"/>
          <p:cNvSpPr txBox="1"/>
          <p:nvPr/>
        </p:nvSpPr>
        <p:spPr>
          <a:xfrm>
            <a:off x="8046720" y="4626864"/>
            <a:ext cx="3566160" cy="64008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Per-broker specs (decision 066)</a:t>
            </a:r>
            <a:endParaRPr lang="en-US" sz="1150" dirty="0"/>
          </a:p>
        </p:txBody>
      </p:sp>
      <p:sp>
        <p:nvSpPr>
          <p:cNvPr id="57" name="Shape 54"/>
          <p:cNvSpPr/>
          <p:nvPr/>
        </p:nvSpPr>
        <p:spPr>
          <a:xfrm>
            <a:off x="7836408" y="5458968"/>
            <a:ext cx="100584" cy="100584"/>
          </a:xfrm>
          <a:prstGeom prst="ellipse">
            <a:avLst/>
          </a:prstGeom>
          <a:solidFill>
            <a:srgbClr val="E2B54E"/>
          </a:solidFill>
          <a:ln w="12700">
            <a:solidFill>
              <a:srgbClr val="E2B54E"/>
            </a:solidFill>
            <a:prstDash val="solid"/>
          </a:ln>
        </p:spPr>
      </p:sp>
      <p:sp>
        <p:nvSpPr>
          <p:cNvPr id="58" name="Text 55"/>
          <p:cNvSpPr txBox="1"/>
          <p:nvPr/>
        </p:nvSpPr>
        <p:spPr>
          <a:xfrm>
            <a:off x="8046720" y="5321808"/>
            <a:ext cx="3566160" cy="64008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Vector routing, only if it beats the rules (036)</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B7A3E0"/>
          </a:solidFill>
          <a:ln w="15875">
            <a:solidFill>
              <a:srgbClr val="B7A3E0"/>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7</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7 · PLATFORM &amp; GOVERNANCE · CHANGE LIST</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Keep, change, add, remove</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15</a:t>
            </a:r>
            <a:endParaRPr lang="en-US" sz="1000" dirty="0"/>
          </a:p>
        </p:txBody>
      </p:sp>
      <p:sp>
        <p:nvSpPr>
          <p:cNvPr id="8" name="Shape 5"/>
          <p:cNvSpPr/>
          <p:nvPr/>
        </p:nvSpPr>
        <p:spPr>
          <a:xfrm>
            <a:off x="457200" y="1371600"/>
            <a:ext cx="2697480" cy="4892040"/>
          </a:xfrm>
          <a:prstGeom prst="roundRect">
            <a:avLst>
              <a:gd name="adj" fmla="val 2373"/>
            </a:avLst>
          </a:prstGeom>
          <a:solidFill>
            <a:srgbClr val="1D242E"/>
          </a:solidFill>
          <a:ln w="9525">
            <a:solidFill>
              <a:srgbClr val="323C49"/>
            </a:solidFill>
            <a:prstDash val="solid"/>
          </a:ln>
        </p:spPr>
      </p:sp>
      <p:sp>
        <p:nvSpPr>
          <p:cNvPr id="9" name="Shape 6"/>
          <p:cNvSpPr/>
          <p:nvPr/>
        </p:nvSpPr>
        <p:spPr>
          <a:xfrm>
            <a:off x="621792" y="1536192"/>
            <a:ext cx="1188720" cy="274320"/>
          </a:xfrm>
          <a:prstGeom prst="roundRect">
            <a:avLst>
              <a:gd name="adj" fmla="val 50000"/>
            </a:avLst>
          </a:prstGeom>
          <a:solidFill>
            <a:srgbClr val="5CC2B2"/>
          </a:solidFill>
          <a:ln w="9525">
            <a:solidFill>
              <a:srgbClr val="5CC2B2"/>
            </a:solidFill>
            <a:prstDash val="solid"/>
          </a:ln>
        </p:spPr>
      </p:sp>
      <p:sp>
        <p:nvSpPr>
          <p:cNvPr id="10" name="Text 7"/>
          <p:cNvSpPr txBox="1"/>
          <p:nvPr/>
        </p:nvSpPr>
        <p:spPr>
          <a:xfrm>
            <a:off x="621792" y="1536192"/>
            <a:ext cx="1188720" cy="274320"/>
          </a:xfrm>
          <a:prstGeom prst="rect">
            <a:avLst/>
          </a:prstGeom>
          <a:noFill/>
          <a:ln/>
        </p:spPr>
        <p:txBody>
          <a:bodyPr wrap="square" lIns="0" tIns="0" rIns="0" bIns="0" rtlCol="0" anchor="ctr"/>
          <a:lstStyle/>
          <a:p>
            <a:pPr algn="ctr" indent="0" marL="0">
              <a:buNone/>
            </a:pPr>
            <a:r>
              <a:rPr lang="en-US" sz="950" b="1" spc="100" kern="0" dirty="0">
                <a:solidFill>
                  <a:srgbClr val="0F1318"/>
                </a:solidFill>
                <a:latin typeface="Calibri" pitchFamily="34" charset="0"/>
                <a:ea typeface="Calibri" pitchFamily="34" charset="-122"/>
                <a:cs typeface="Calibri" pitchFamily="34" charset="-120"/>
              </a:rPr>
              <a:t>KEEP</a:t>
            </a:r>
            <a:endParaRPr lang="en-US" sz="950" dirty="0"/>
          </a:p>
        </p:txBody>
      </p:sp>
      <p:sp>
        <p:nvSpPr>
          <p:cNvPr id="11" name="Shape 8"/>
          <p:cNvSpPr/>
          <p:nvPr/>
        </p:nvSpPr>
        <p:spPr>
          <a:xfrm>
            <a:off x="640080" y="2112264"/>
            <a:ext cx="100584" cy="100584"/>
          </a:xfrm>
          <a:prstGeom prst="ellipse">
            <a:avLst/>
          </a:prstGeom>
          <a:solidFill>
            <a:srgbClr val="5CC2B2"/>
          </a:solidFill>
          <a:ln w="12700">
            <a:solidFill>
              <a:srgbClr val="5CC2B2"/>
            </a:solidFill>
            <a:prstDash val="solid"/>
          </a:ln>
        </p:spPr>
      </p:sp>
      <p:sp>
        <p:nvSpPr>
          <p:cNvPr id="12" name="Text 9"/>
          <p:cNvSpPr txBox="1"/>
          <p:nvPr/>
        </p:nvSpPr>
        <p:spPr>
          <a:xfrm>
            <a:off x="841248" y="2011680"/>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Write-once archive for audit rows</a:t>
            </a:r>
            <a:endParaRPr lang="en-US" sz="1150" dirty="0"/>
          </a:p>
        </p:txBody>
      </p:sp>
      <p:sp>
        <p:nvSpPr>
          <p:cNvPr id="13" name="Shape 10"/>
          <p:cNvSpPr/>
          <p:nvPr/>
        </p:nvSpPr>
        <p:spPr>
          <a:xfrm>
            <a:off x="640080" y="2898648"/>
            <a:ext cx="100584" cy="100584"/>
          </a:xfrm>
          <a:prstGeom prst="ellipse">
            <a:avLst/>
          </a:prstGeom>
          <a:solidFill>
            <a:srgbClr val="5CC2B2"/>
          </a:solidFill>
          <a:ln w="12700">
            <a:solidFill>
              <a:srgbClr val="5CC2B2"/>
            </a:solidFill>
            <a:prstDash val="solid"/>
          </a:ln>
        </p:spPr>
      </p:sp>
      <p:sp>
        <p:nvSpPr>
          <p:cNvPr id="14" name="Text 11"/>
          <p:cNvSpPr txBox="1"/>
          <p:nvPr/>
        </p:nvSpPr>
        <p:spPr>
          <a:xfrm>
            <a:off x="841248" y="2798064"/>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Hashed ids after deletion (file E)</a:t>
            </a:r>
            <a:endParaRPr lang="en-US" sz="1150" dirty="0"/>
          </a:p>
        </p:txBody>
      </p:sp>
      <p:sp>
        <p:nvSpPr>
          <p:cNvPr id="15" name="Shape 12"/>
          <p:cNvSpPr/>
          <p:nvPr/>
        </p:nvSpPr>
        <p:spPr>
          <a:xfrm>
            <a:off x="640080" y="3685032"/>
            <a:ext cx="100584" cy="100584"/>
          </a:xfrm>
          <a:prstGeom prst="ellipse">
            <a:avLst/>
          </a:prstGeom>
          <a:solidFill>
            <a:srgbClr val="5CC2B2"/>
          </a:solidFill>
          <a:ln w="12700">
            <a:solidFill>
              <a:srgbClr val="5CC2B2"/>
            </a:solidFill>
            <a:prstDash val="solid"/>
          </a:ln>
        </p:spPr>
      </p:sp>
      <p:sp>
        <p:nvSpPr>
          <p:cNvPr id="16" name="Text 13"/>
          <p:cNvSpPr txBox="1"/>
          <p:nvPr/>
        </p:nvSpPr>
        <p:spPr>
          <a:xfrm>
            <a:off x="841248" y="3584448"/>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Per-lane tests and mutation checks</a:t>
            </a:r>
            <a:endParaRPr lang="en-US" sz="1150" dirty="0"/>
          </a:p>
        </p:txBody>
      </p:sp>
      <p:sp>
        <p:nvSpPr>
          <p:cNvPr id="17" name="Shape 14"/>
          <p:cNvSpPr/>
          <p:nvPr/>
        </p:nvSpPr>
        <p:spPr>
          <a:xfrm>
            <a:off x="640080" y="4471416"/>
            <a:ext cx="100584" cy="100584"/>
          </a:xfrm>
          <a:prstGeom prst="ellipse">
            <a:avLst/>
          </a:prstGeom>
          <a:solidFill>
            <a:srgbClr val="5CC2B2"/>
          </a:solidFill>
          <a:ln w="12700">
            <a:solidFill>
              <a:srgbClr val="5CC2B2"/>
            </a:solidFill>
            <a:prstDash val="solid"/>
          </a:ln>
        </p:spPr>
      </p:sp>
      <p:sp>
        <p:nvSpPr>
          <p:cNvPr id="18" name="Text 15"/>
          <p:cNvSpPr txBox="1"/>
          <p:nvPr/>
        </p:nvSpPr>
        <p:spPr>
          <a:xfrm>
            <a:off x="841248" y="4370832"/>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AI badge and provenance metadata</a:t>
            </a:r>
            <a:endParaRPr lang="en-US" sz="1150" dirty="0"/>
          </a:p>
        </p:txBody>
      </p:sp>
      <p:sp>
        <p:nvSpPr>
          <p:cNvPr id="19" name="Shape 16"/>
          <p:cNvSpPr/>
          <p:nvPr/>
        </p:nvSpPr>
        <p:spPr>
          <a:xfrm>
            <a:off x="3319272" y="1371600"/>
            <a:ext cx="2697480" cy="4892040"/>
          </a:xfrm>
          <a:prstGeom prst="roundRect">
            <a:avLst>
              <a:gd name="adj" fmla="val 2373"/>
            </a:avLst>
          </a:prstGeom>
          <a:solidFill>
            <a:srgbClr val="1D242E"/>
          </a:solidFill>
          <a:ln w="9525">
            <a:solidFill>
              <a:srgbClr val="323C49"/>
            </a:solidFill>
            <a:prstDash val="solid"/>
          </a:ln>
        </p:spPr>
      </p:sp>
      <p:sp>
        <p:nvSpPr>
          <p:cNvPr id="20" name="Shape 17"/>
          <p:cNvSpPr/>
          <p:nvPr/>
        </p:nvSpPr>
        <p:spPr>
          <a:xfrm>
            <a:off x="3483864" y="1536192"/>
            <a:ext cx="1188720" cy="274320"/>
          </a:xfrm>
          <a:prstGeom prst="roundRect">
            <a:avLst>
              <a:gd name="adj" fmla="val 50000"/>
            </a:avLst>
          </a:prstGeom>
          <a:solidFill>
            <a:srgbClr val="F0A54A"/>
          </a:solidFill>
          <a:ln w="9525">
            <a:solidFill>
              <a:srgbClr val="F0A54A"/>
            </a:solidFill>
            <a:prstDash val="solid"/>
          </a:ln>
        </p:spPr>
      </p:sp>
      <p:sp>
        <p:nvSpPr>
          <p:cNvPr id="21" name="Text 18"/>
          <p:cNvSpPr txBox="1"/>
          <p:nvPr/>
        </p:nvSpPr>
        <p:spPr>
          <a:xfrm>
            <a:off x="3483864" y="1536192"/>
            <a:ext cx="1188720" cy="274320"/>
          </a:xfrm>
          <a:prstGeom prst="rect">
            <a:avLst/>
          </a:prstGeom>
          <a:noFill/>
          <a:ln/>
        </p:spPr>
        <p:txBody>
          <a:bodyPr wrap="square" lIns="0" tIns="0" rIns="0" bIns="0" rtlCol="0" anchor="ctr"/>
          <a:lstStyle/>
          <a:p>
            <a:pPr algn="ctr" indent="0" marL="0">
              <a:buNone/>
            </a:pPr>
            <a:r>
              <a:rPr lang="en-US" sz="950" b="1" spc="100" kern="0" dirty="0">
                <a:solidFill>
                  <a:srgbClr val="0F1318"/>
                </a:solidFill>
                <a:latin typeface="Calibri" pitchFamily="34" charset="0"/>
                <a:ea typeface="Calibri" pitchFamily="34" charset="-122"/>
                <a:cs typeface="Calibri" pitchFamily="34" charset="-120"/>
              </a:rPr>
              <a:t>CHANGE</a:t>
            </a:r>
            <a:endParaRPr lang="en-US" sz="950" dirty="0"/>
          </a:p>
        </p:txBody>
      </p:sp>
      <p:sp>
        <p:nvSpPr>
          <p:cNvPr id="22" name="Shape 19"/>
          <p:cNvSpPr/>
          <p:nvPr/>
        </p:nvSpPr>
        <p:spPr>
          <a:xfrm>
            <a:off x="3502152" y="2112264"/>
            <a:ext cx="100584" cy="100584"/>
          </a:xfrm>
          <a:prstGeom prst="ellipse">
            <a:avLst/>
          </a:prstGeom>
          <a:solidFill>
            <a:srgbClr val="F0A54A"/>
          </a:solidFill>
          <a:ln w="12700">
            <a:solidFill>
              <a:srgbClr val="F0A54A"/>
            </a:solidFill>
            <a:prstDash val="solid"/>
          </a:ln>
        </p:spPr>
      </p:sp>
      <p:sp>
        <p:nvSpPr>
          <p:cNvPr id="23" name="Text 20"/>
          <p:cNvSpPr txBox="1"/>
          <p:nvPr/>
        </p:nvSpPr>
        <p:spPr>
          <a:xfrm>
            <a:off x="3703320" y="2011680"/>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Newest wins → one document</a:t>
            </a:r>
            <a:endParaRPr lang="en-US" sz="1150" dirty="0"/>
          </a:p>
        </p:txBody>
      </p:sp>
      <p:sp>
        <p:nvSpPr>
          <p:cNvPr id="24" name="Shape 21"/>
          <p:cNvSpPr/>
          <p:nvPr/>
        </p:nvSpPr>
        <p:spPr>
          <a:xfrm>
            <a:off x="3502152" y="2898648"/>
            <a:ext cx="100584" cy="100584"/>
          </a:xfrm>
          <a:prstGeom prst="ellipse">
            <a:avLst/>
          </a:prstGeom>
          <a:solidFill>
            <a:srgbClr val="F0A54A"/>
          </a:solidFill>
          <a:ln w="12700">
            <a:solidFill>
              <a:srgbClr val="F0A54A"/>
            </a:solidFill>
            <a:prstDash val="solid"/>
          </a:ln>
        </p:spPr>
      </p:sp>
      <p:sp>
        <p:nvSpPr>
          <p:cNvPr id="25" name="Text 22"/>
          <p:cNvSpPr txBox="1"/>
          <p:nvPr/>
        </p:nvSpPr>
        <p:spPr>
          <a:xfrm>
            <a:off x="3703320" y="2798064"/>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Four tier answers → one table</a:t>
            </a:r>
            <a:endParaRPr lang="en-US" sz="1150" dirty="0"/>
          </a:p>
        </p:txBody>
      </p:sp>
      <p:sp>
        <p:nvSpPr>
          <p:cNvPr id="26" name="Shape 23"/>
          <p:cNvSpPr/>
          <p:nvPr/>
        </p:nvSpPr>
        <p:spPr>
          <a:xfrm>
            <a:off x="3502152" y="3685032"/>
            <a:ext cx="100584" cy="100584"/>
          </a:xfrm>
          <a:prstGeom prst="ellipse">
            <a:avLst/>
          </a:prstGeom>
          <a:solidFill>
            <a:srgbClr val="F0A54A"/>
          </a:solidFill>
          <a:ln w="12700">
            <a:solidFill>
              <a:srgbClr val="F0A54A"/>
            </a:solidFill>
            <a:prstDash val="solid"/>
          </a:ln>
        </p:spPr>
      </p:sp>
      <p:sp>
        <p:nvSpPr>
          <p:cNvPr id="27" name="Text 24"/>
          <p:cNvSpPr txBox="1"/>
          <p:nvPr/>
        </p:nvSpPr>
        <p:spPr>
          <a:xfrm>
            <a:off x="3703320" y="3584448"/>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Two retention figures → one</a:t>
            </a:r>
            <a:endParaRPr lang="en-US" sz="1150" dirty="0"/>
          </a:p>
        </p:txBody>
      </p:sp>
      <p:sp>
        <p:nvSpPr>
          <p:cNvPr id="28" name="Shape 25"/>
          <p:cNvSpPr/>
          <p:nvPr/>
        </p:nvSpPr>
        <p:spPr>
          <a:xfrm>
            <a:off x="3502152" y="4471416"/>
            <a:ext cx="100584" cy="100584"/>
          </a:xfrm>
          <a:prstGeom prst="ellipse">
            <a:avLst/>
          </a:prstGeom>
          <a:solidFill>
            <a:srgbClr val="F0A54A"/>
          </a:solidFill>
          <a:ln w="12700">
            <a:solidFill>
              <a:srgbClr val="F0A54A"/>
            </a:solidFill>
            <a:prstDash val="solid"/>
          </a:ln>
        </p:spPr>
      </p:sp>
      <p:sp>
        <p:nvSpPr>
          <p:cNvPr id="29" name="Text 26"/>
          <p:cNvSpPr txBox="1"/>
          <p:nvPr/>
        </p:nvSpPr>
        <p:spPr>
          <a:xfrm>
            <a:off x="3703320" y="4370832"/>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Engine numbers → names</a:t>
            </a:r>
            <a:endParaRPr lang="en-US" sz="1150" dirty="0"/>
          </a:p>
        </p:txBody>
      </p:sp>
      <p:sp>
        <p:nvSpPr>
          <p:cNvPr id="30" name="Shape 27"/>
          <p:cNvSpPr/>
          <p:nvPr/>
        </p:nvSpPr>
        <p:spPr>
          <a:xfrm>
            <a:off x="6181344" y="1371600"/>
            <a:ext cx="2697480" cy="4892040"/>
          </a:xfrm>
          <a:prstGeom prst="roundRect">
            <a:avLst>
              <a:gd name="adj" fmla="val 2373"/>
            </a:avLst>
          </a:prstGeom>
          <a:solidFill>
            <a:srgbClr val="1D242E"/>
          </a:solidFill>
          <a:ln w="9525">
            <a:solidFill>
              <a:srgbClr val="323C49"/>
            </a:solidFill>
            <a:prstDash val="solid"/>
          </a:ln>
        </p:spPr>
      </p:sp>
      <p:sp>
        <p:nvSpPr>
          <p:cNvPr id="31" name="Shape 28"/>
          <p:cNvSpPr/>
          <p:nvPr/>
        </p:nvSpPr>
        <p:spPr>
          <a:xfrm>
            <a:off x="6345936" y="1536192"/>
            <a:ext cx="1188720" cy="274320"/>
          </a:xfrm>
          <a:prstGeom prst="roundRect">
            <a:avLst>
              <a:gd name="adj" fmla="val 50000"/>
            </a:avLst>
          </a:prstGeom>
          <a:solidFill>
            <a:srgbClr val="E2B54E"/>
          </a:solidFill>
          <a:ln w="9525">
            <a:solidFill>
              <a:srgbClr val="E2B54E"/>
            </a:solidFill>
            <a:prstDash val="solid"/>
          </a:ln>
        </p:spPr>
      </p:sp>
      <p:sp>
        <p:nvSpPr>
          <p:cNvPr id="32" name="Text 29"/>
          <p:cNvSpPr txBox="1"/>
          <p:nvPr/>
        </p:nvSpPr>
        <p:spPr>
          <a:xfrm>
            <a:off x="6345936" y="1536192"/>
            <a:ext cx="1188720" cy="274320"/>
          </a:xfrm>
          <a:prstGeom prst="rect">
            <a:avLst/>
          </a:prstGeom>
          <a:noFill/>
          <a:ln/>
        </p:spPr>
        <p:txBody>
          <a:bodyPr wrap="square" lIns="0" tIns="0" rIns="0" bIns="0" rtlCol="0" anchor="ctr"/>
          <a:lstStyle/>
          <a:p>
            <a:pPr algn="ctr" indent="0" marL="0">
              <a:buNone/>
            </a:pPr>
            <a:r>
              <a:rPr lang="en-US" sz="950" b="1" spc="100" kern="0" dirty="0">
                <a:solidFill>
                  <a:srgbClr val="0F1318"/>
                </a:solidFill>
                <a:latin typeface="Calibri" pitchFamily="34" charset="0"/>
                <a:ea typeface="Calibri" pitchFamily="34" charset="-122"/>
                <a:cs typeface="Calibri" pitchFamily="34" charset="-120"/>
              </a:rPr>
              <a:t>ADD</a:t>
            </a:r>
            <a:endParaRPr lang="en-US" sz="950" dirty="0"/>
          </a:p>
        </p:txBody>
      </p:sp>
      <p:sp>
        <p:nvSpPr>
          <p:cNvPr id="33" name="Shape 30"/>
          <p:cNvSpPr/>
          <p:nvPr/>
        </p:nvSpPr>
        <p:spPr>
          <a:xfrm>
            <a:off x="6364224" y="2112264"/>
            <a:ext cx="100584" cy="100584"/>
          </a:xfrm>
          <a:prstGeom prst="ellipse">
            <a:avLst/>
          </a:prstGeom>
          <a:solidFill>
            <a:srgbClr val="E2B54E"/>
          </a:solidFill>
          <a:ln w="12700">
            <a:solidFill>
              <a:srgbClr val="E2B54E"/>
            </a:solidFill>
            <a:prstDash val="solid"/>
          </a:ln>
        </p:spPr>
      </p:sp>
      <p:sp>
        <p:nvSpPr>
          <p:cNvPr id="34" name="Text 31"/>
          <p:cNvSpPr txBox="1"/>
          <p:nvPr/>
        </p:nvSpPr>
        <p:spPr>
          <a:xfrm>
            <a:off x="6565392" y="2011680"/>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Decision log in the repository</a:t>
            </a:r>
            <a:endParaRPr lang="en-US" sz="1150" dirty="0"/>
          </a:p>
        </p:txBody>
      </p:sp>
      <p:sp>
        <p:nvSpPr>
          <p:cNvPr id="35" name="Shape 32"/>
          <p:cNvSpPr/>
          <p:nvPr/>
        </p:nvSpPr>
        <p:spPr>
          <a:xfrm>
            <a:off x="6364224" y="2898648"/>
            <a:ext cx="100584" cy="100584"/>
          </a:xfrm>
          <a:prstGeom prst="ellipse">
            <a:avLst/>
          </a:prstGeom>
          <a:solidFill>
            <a:srgbClr val="E2B54E"/>
          </a:solidFill>
          <a:ln w="12700">
            <a:solidFill>
              <a:srgbClr val="E2B54E"/>
            </a:solidFill>
            <a:prstDash val="solid"/>
          </a:ln>
        </p:spPr>
      </p:sp>
      <p:sp>
        <p:nvSpPr>
          <p:cNvPr id="36" name="Text 33"/>
          <p:cNvSpPr txBox="1"/>
          <p:nvPr/>
        </p:nvSpPr>
        <p:spPr>
          <a:xfrm>
            <a:off x="6565392" y="2798064"/>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Trace per answer</a:t>
            </a:r>
            <a:endParaRPr lang="en-US" sz="1150" dirty="0"/>
          </a:p>
        </p:txBody>
      </p:sp>
      <p:sp>
        <p:nvSpPr>
          <p:cNvPr id="37" name="Shape 34"/>
          <p:cNvSpPr/>
          <p:nvPr/>
        </p:nvSpPr>
        <p:spPr>
          <a:xfrm>
            <a:off x="6364224" y="3685032"/>
            <a:ext cx="100584" cy="100584"/>
          </a:xfrm>
          <a:prstGeom prst="ellipse">
            <a:avLst/>
          </a:prstGeom>
          <a:solidFill>
            <a:srgbClr val="E2B54E"/>
          </a:solidFill>
          <a:ln w="12700">
            <a:solidFill>
              <a:srgbClr val="E2B54E"/>
            </a:solidFill>
            <a:prstDash val="solid"/>
          </a:ln>
        </p:spPr>
      </p:sp>
      <p:sp>
        <p:nvSpPr>
          <p:cNvPr id="38" name="Text 35"/>
          <p:cNvSpPr txBox="1"/>
          <p:nvPr/>
        </p:nvSpPr>
        <p:spPr>
          <a:xfrm>
            <a:off x="6565392" y="3584448"/>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Degraded-mode table with tests</a:t>
            </a:r>
            <a:endParaRPr lang="en-US" sz="1150" dirty="0"/>
          </a:p>
        </p:txBody>
      </p:sp>
      <p:sp>
        <p:nvSpPr>
          <p:cNvPr id="39" name="Shape 36"/>
          <p:cNvSpPr/>
          <p:nvPr/>
        </p:nvSpPr>
        <p:spPr>
          <a:xfrm>
            <a:off x="6364224" y="4471416"/>
            <a:ext cx="100584" cy="100584"/>
          </a:xfrm>
          <a:prstGeom prst="ellipse">
            <a:avLst/>
          </a:prstGeom>
          <a:solidFill>
            <a:srgbClr val="E2B54E"/>
          </a:solidFill>
          <a:ln w="12700">
            <a:solidFill>
              <a:srgbClr val="E2B54E"/>
            </a:solidFill>
            <a:prstDash val="solid"/>
          </a:ln>
        </p:spPr>
      </p:sp>
      <p:sp>
        <p:nvSpPr>
          <p:cNvPr id="40" name="Text 37"/>
          <p:cNvSpPr txBox="1"/>
          <p:nvPr/>
        </p:nvSpPr>
        <p:spPr>
          <a:xfrm>
            <a:off x="6565392" y="4370832"/>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Golden scenarios in CI</a:t>
            </a:r>
            <a:endParaRPr lang="en-US" sz="1150" dirty="0"/>
          </a:p>
        </p:txBody>
      </p:sp>
      <p:sp>
        <p:nvSpPr>
          <p:cNvPr id="41" name="Shape 38"/>
          <p:cNvSpPr/>
          <p:nvPr/>
        </p:nvSpPr>
        <p:spPr>
          <a:xfrm>
            <a:off x="6364224" y="5257800"/>
            <a:ext cx="100584" cy="100584"/>
          </a:xfrm>
          <a:prstGeom prst="ellipse">
            <a:avLst/>
          </a:prstGeom>
          <a:solidFill>
            <a:srgbClr val="E2B54E"/>
          </a:solidFill>
          <a:ln w="12700">
            <a:solidFill>
              <a:srgbClr val="E2B54E"/>
            </a:solidFill>
            <a:prstDash val="solid"/>
          </a:ln>
        </p:spPr>
      </p:sp>
      <p:sp>
        <p:nvSpPr>
          <p:cNvPr id="42" name="Text 39"/>
          <p:cNvSpPr txBox="1"/>
          <p:nvPr/>
        </p:nvSpPr>
        <p:spPr>
          <a:xfrm>
            <a:off x="6565392" y="5157216"/>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Dashboard and five alerts</a:t>
            </a:r>
            <a:endParaRPr lang="en-US" sz="1150" dirty="0"/>
          </a:p>
        </p:txBody>
      </p:sp>
      <p:sp>
        <p:nvSpPr>
          <p:cNvPr id="43" name="Shape 40"/>
          <p:cNvSpPr/>
          <p:nvPr/>
        </p:nvSpPr>
        <p:spPr>
          <a:xfrm>
            <a:off x="9043416" y="1371600"/>
            <a:ext cx="2697480" cy="4892040"/>
          </a:xfrm>
          <a:prstGeom prst="roundRect">
            <a:avLst>
              <a:gd name="adj" fmla="val 2373"/>
            </a:avLst>
          </a:prstGeom>
          <a:solidFill>
            <a:srgbClr val="1D242E"/>
          </a:solidFill>
          <a:ln w="9525">
            <a:solidFill>
              <a:srgbClr val="323C49"/>
            </a:solidFill>
            <a:prstDash val="solid"/>
          </a:ln>
        </p:spPr>
      </p:sp>
      <p:sp>
        <p:nvSpPr>
          <p:cNvPr id="44" name="Shape 41"/>
          <p:cNvSpPr/>
          <p:nvPr/>
        </p:nvSpPr>
        <p:spPr>
          <a:xfrm>
            <a:off x="9208008" y="1536192"/>
            <a:ext cx="1188720" cy="274320"/>
          </a:xfrm>
          <a:prstGeom prst="roundRect">
            <a:avLst>
              <a:gd name="adj" fmla="val 50000"/>
            </a:avLst>
          </a:prstGeom>
          <a:solidFill>
            <a:srgbClr val="E5746A"/>
          </a:solidFill>
          <a:ln w="9525">
            <a:solidFill>
              <a:srgbClr val="E5746A"/>
            </a:solidFill>
            <a:prstDash val="solid"/>
          </a:ln>
        </p:spPr>
      </p:sp>
      <p:sp>
        <p:nvSpPr>
          <p:cNvPr id="45" name="Text 42"/>
          <p:cNvSpPr txBox="1"/>
          <p:nvPr/>
        </p:nvSpPr>
        <p:spPr>
          <a:xfrm>
            <a:off x="9208008" y="1536192"/>
            <a:ext cx="1188720" cy="274320"/>
          </a:xfrm>
          <a:prstGeom prst="rect">
            <a:avLst/>
          </a:prstGeom>
          <a:noFill/>
          <a:ln/>
        </p:spPr>
        <p:txBody>
          <a:bodyPr wrap="square" lIns="0" tIns="0" rIns="0" bIns="0" rtlCol="0" anchor="ctr"/>
          <a:lstStyle/>
          <a:p>
            <a:pPr algn="ctr" indent="0" marL="0">
              <a:buNone/>
            </a:pPr>
            <a:r>
              <a:rPr lang="en-US" sz="950" b="1" spc="100" kern="0" dirty="0">
                <a:solidFill>
                  <a:srgbClr val="0F1318"/>
                </a:solidFill>
                <a:latin typeface="Calibri" pitchFamily="34" charset="0"/>
                <a:ea typeface="Calibri" pitchFamily="34" charset="-122"/>
                <a:cs typeface="Calibri" pitchFamily="34" charset="-120"/>
              </a:rPr>
              <a:t>REMOVE</a:t>
            </a:r>
            <a:endParaRPr lang="en-US" sz="950" dirty="0"/>
          </a:p>
        </p:txBody>
      </p:sp>
      <p:sp>
        <p:nvSpPr>
          <p:cNvPr id="46" name="Shape 43"/>
          <p:cNvSpPr/>
          <p:nvPr/>
        </p:nvSpPr>
        <p:spPr>
          <a:xfrm>
            <a:off x="9226296" y="2112264"/>
            <a:ext cx="100584" cy="100584"/>
          </a:xfrm>
          <a:prstGeom prst="ellipse">
            <a:avLst/>
          </a:prstGeom>
          <a:solidFill>
            <a:srgbClr val="E5746A"/>
          </a:solidFill>
          <a:ln w="12700">
            <a:solidFill>
              <a:srgbClr val="E5746A"/>
            </a:solidFill>
            <a:prstDash val="solid"/>
          </a:ln>
        </p:spPr>
      </p:sp>
      <p:sp>
        <p:nvSpPr>
          <p:cNvPr id="47" name="Text 44"/>
          <p:cNvSpPr txBox="1"/>
          <p:nvPr/>
        </p:nvSpPr>
        <p:spPr>
          <a:xfrm>
            <a:off x="9427464" y="2011680"/>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Transcripts in the 7-year archive</a:t>
            </a:r>
            <a:endParaRPr lang="en-US" sz="1150" dirty="0"/>
          </a:p>
        </p:txBody>
      </p:sp>
      <p:sp>
        <p:nvSpPr>
          <p:cNvPr id="48" name="Shape 45"/>
          <p:cNvSpPr/>
          <p:nvPr/>
        </p:nvSpPr>
        <p:spPr>
          <a:xfrm>
            <a:off x="9226296" y="2898648"/>
            <a:ext cx="100584" cy="100584"/>
          </a:xfrm>
          <a:prstGeom prst="ellipse">
            <a:avLst/>
          </a:prstGeom>
          <a:solidFill>
            <a:srgbClr val="E5746A"/>
          </a:solidFill>
          <a:ln w="12700">
            <a:solidFill>
              <a:srgbClr val="E5746A"/>
            </a:solidFill>
            <a:prstDash val="solid"/>
          </a:ln>
        </p:spPr>
      </p:sp>
      <p:sp>
        <p:nvSpPr>
          <p:cNvPr id="49" name="Text 46"/>
          <p:cNvSpPr txBox="1"/>
          <p:nvPr/>
        </p:nvSpPr>
        <p:spPr>
          <a:xfrm>
            <a:off x="9427464" y="2798064"/>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Equity and commission in prompts</a:t>
            </a:r>
            <a:endParaRPr lang="en-US" sz="1150" dirty="0"/>
          </a:p>
        </p:txBody>
      </p:sp>
      <p:sp>
        <p:nvSpPr>
          <p:cNvPr id="50" name="Shape 47"/>
          <p:cNvSpPr/>
          <p:nvPr/>
        </p:nvSpPr>
        <p:spPr>
          <a:xfrm>
            <a:off x="9226296" y="3685032"/>
            <a:ext cx="100584" cy="100584"/>
          </a:xfrm>
          <a:prstGeom prst="ellipse">
            <a:avLst/>
          </a:prstGeom>
          <a:solidFill>
            <a:srgbClr val="E5746A"/>
          </a:solidFill>
          <a:ln w="12700">
            <a:solidFill>
              <a:srgbClr val="E5746A"/>
            </a:solidFill>
            <a:prstDash val="solid"/>
          </a:ln>
        </p:spPr>
      </p:sp>
      <p:sp>
        <p:nvSpPr>
          <p:cNvPr id="51" name="Text 48"/>
          <p:cNvSpPr txBox="1"/>
          <p:nvPr/>
        </p:nvSpPr>
        <p:spPr>
          <a:xfrm>
            <a:off x="9427464" y="3584448"/>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Safety texts falling back to English</a:t>
            </a:r>
            <a:endParaRPr lang="en-US" sz="1150" dirty="0"/>
          </a:p>
        </p:txBody>
      </p:sp>
      <p:sp>
        <p:nvSpPr>
          <p:cNvPr id="52" name="Shape 49"/>
          <p:cNvSpPr/>
          <p:nvPr/>
        </p:nvSpPr>
        <p:spPr>
          <a:xfrm>
            <a:off x="9226296" y="4471416"/>
            <a:ext cx="100584" cy="100584"/>
          </a:xfrm>
          <a:prstGeom prst="ellipse">
            <a:avLst/>
          </a:prstGeom>
          <a:solidFill>
            <a:srgbClr val="E5746A"/>
          </a:solidFill>
          <a:ln w="12700">
            <a:solidFill>
              <a:srgbClr val="E5746A"/>
            </a:solidFill>
            <a:prstDash val="solid"/>
          </a:ln>
        </p:spPr>
      </p:sp>
      <p:sp>
        <p:nvSpPr>
          <p:cNvPr id="53" name="Text 50"/>
          <p:cNvSpPr txBox="1"/>
          <p:nvPr/>
        </p:nvSpPr>
        <p:spPr>
          <a:xfrm>
            <a:off x="9427464" y="4370832"/>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Hand checks for chart staleness</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B7A3E0"/>
          </a:solidFill>
          <a:ln w="15875">
            <a:solidFill>
              <a:srgbClr val="B7A3E0"/>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7</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7 · PLATFORM &amp; GOVERNANCE · HANDOFFS</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What Section 7 hands to the other six</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16</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914400"/>
        </p:xfrm>
        <a:graphic>
          <a:graphicData uri="http://schemas.openxmlformats.org/drawingml/2006/table">
            <a:tbl>
              <a:tblPr/>
              <a:tblGrid>
                <a:gridCol w="1280160"/>
                <a:gridCol w="2103120"/>
                <a:gridCol w="5303520"/>
                <a:gridCol w="2587752"/>
              </a:tblGrid>
              <a:tr h="347472">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To</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What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Form</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Replaces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r>
              <a:tr h="640080">
                <a:tc>
                  <a:txBody>
                    <a:bodyPr/>
                    <a:lstStyle/>
                    <a:p>
                      <a:pPr indent="0" marL="0">
                        <a:buNone/>
                      </a:pPr>
                      <a:r>
                        <a:rPr lang="en-US" sz="1100" b="1" dirty="0">
                          <a:solidFill>
                            <a:srgbClr val="7FA8E8"/>
                          </a:solidFill>
                          <a:latin typeface="Calibri" pitchFamily="34" charset="0"/>
                          <a:ea typeface="Calibri" pitchFamily="34" charset="-122"/>
                          <a:cs typeface="Calibri" pitchFamily="34" charset="-120"/>
                        </a:rPr>
                        <a:t>Section 4</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Entitlement table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Tier rules read by the session gate, chart route, modal and picker</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Rules in four documents</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640080">
                <a:tc>
                  <a:txBody>
                    <a:bodyPr/>
                    <a:lstStyle/>
                    <a:p>
                      <a:pPr indent="0" marL="0">
                        <a:buNone/>
                      </a:pPr>
                      <a:r>
                        <a:rPr lang="en-US" sz="1100" b="1" dirty="0">
                          <a:solidFill>
                            <a:srgbClr val="7FA8E8"/>
                          </a:solidFill>
                          <a:latin typeface="Calibri" pitchFamily="34" charset="0"/>
                          <a:ea typeface="Calibri" pitchFamily="34" charset="-122"/>
                          <a:cs typeface="Calibri" pitchFamily="34" charset="-120"/>
                        </a:rPr>
                        <a:t>Section 5</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Quota method</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Units a month from your model-spend share and measured cost</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50k / 500k tokens</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640080">
                <a:tc>
                  <a:txBody>
                    <a:bodyPr/>
                    <a:lstStyle/>
                    <a:p>
                      <a:pPr indent="0" marL="0">
                        <a:buNone/>
                      </a:pPr>
                      <a:r>
                        <a:rPr lang="en-US" sz="1100" b="1" dirty="0">
                          <a:solidFill>
                            <a:srgbClr val="7FA8E8"/>
                          </a:solidFill>
                          <a:latin typeface="Calibri" pitchFamily="34" charset="0"/>
                          <a:ea typeface="Calibri" pitchFamily="34" charset="-122"/>
                          <a:cs typeface="Calibri" pitchFamily="34" charset="-120"/>
                        </a:rPr>
                        <a:t>Section 5</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Prompt privacy</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No equity or commission in prompts; provider allow-list</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Nothing</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640080">
                <a:tc>
                  <a:txBody>
                    <a:bodyPr/>
                    <a:lstStyle/>
                    <a:p>
                      <a:pPr indent="0" marL="0">
                        <a:buNone/>
                      </a:pPr>
                      <a:r>
                        <a:rPr lang="en-US" sz="1100" b="1" dirty="0">
                          <a:solidFill>
                            <a:srgbClr val="7FA8E8"/>
                          </a:solidFill>
                          <a:latin typeface="Calibri" pitchFamily="34" charset="0"/>
                          <a:ea typeface="Calibri" pitchFamily="34" charset="-122"/>
                          <a:cs typeface="Calibri" pitchFamily="34" charset="-120"/>
                        </a:rPr>
                        <a:t>Section 6</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Retention figure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7 years for consent records, traces and profile history</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Two figures</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640080">
                <a:tc>
                  <a:txBody>
                    <a:bodyPr/>
                    <a:lstStyle/>
                    <a:p>
                      <a:pPr indent="0" marL="0">
                        <a:buNone/>
                      </a:pPr>
                      <a:r>
                        <a:rPr lang="en-US" sz="1100" b="1" dirty="0">
                          <a:solidFill>
                            <a:srgbClr val="B7A3E0"/>
                          </a:solidFill>
                          <a:latin typeface="Calibri" pitchFamily="34" charset="0"/>
                          <a:ea typeface="Calibri" pitchFamily="34" charset="-122"/>
                          <a:cs typeface="Calibri" pitchFamily="34" charset="-120"/>
                        </a:rPr>
                        <a:t>Sections 1–6</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Degraded modes</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One table, each row with a test</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Behaviour per section</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640080">
                <a:tc>
                  <a:txBody>
                    <a:bodyPr/>
                    <a:lstStyle/>
                    <a:p>
                      <a:pPr indent="0" marL="0">
                        <a:buNone/>
                      </a:pPr>
                      <a:r>
                        <a:rPr lang="en-US" sz="1100" b="1" dirty="0">
                          <a:solidFill>
                            <a:srgbClr val="B7A3E0"/>
                          </a:solidFill>
                          <a:latin typeface="Calibri" pitchFamily="34" charset="0"/>
                          <a:ea typeface="Calibri" pitchFamily="34" charset="-122"/>
                          <a:cs typeface="Calibri" pitchFamily="34" charset="-120"/>
                        </a:rPr>
                        <a:t>Sections 1–6</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Release gate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Golden scenarios plus the four settled test assets</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Per-lane tests only</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640080">
                <a:tc>
                  <a:txBody>
                    <a:bodyPr/>
                    <a:lstStyle/>
                    <a:p>
                      <a:pPr indent="0" marL="0">
                        <a:buNone/>
                      </a:pPr>
                      <a:r>
                        <a:rPr lang="en-US" sz="1100" b="1" dirty="0">
                          <a:solidFill>
                            <a:srgbClr val="B7A3E0"/>
                          </a:solidFill>
                          <a:latin typeface="Calibri" pitchFamily="34" charset="0"/>
                          <a:ea typeface="Calibri" pitchFamily="34" charset="-122"/>
                          <a:cs typeface="Calibri" pitchFamily="34" charset="-120"/>
                        </a:rPr>
                        <a:t>Everyone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Source of truth</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STACK-D-ARCHITECTURE.md and docs/adr/</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Nine documents</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B7A3E0"/>
          </a:solidFill>
          <a:ln w="15875">
            <a:solidFill>
              <a:srgbClr val="B7A3E0"/>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7</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7 · PLATFORM &amp; GOVERNANCE · DECISIONS</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Section 7 decisions, settled 30 September</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17</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298448"/>
          <a:ext cx="11274552" cy="914400"/>
        </p:xfrm>
        <a:graphic>
          <a:graphicData uri="http://schemas.openxmlformats.org/drawingml/2006/table">
            <a:tbl>
              <a:tblPr/>
              <a:tblGrid>
                <a:gridCol w="548640"/>
                <a:gridCol w="2011680"/>
                <a:gridCol w="5852160"/>
                <a:gridCol w="1764792"/>
                <a:gridCol w="1097280"/>
              </a:tblGrid>
              <a:tr h="310896">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Decision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Decided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Not chosen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r>
              <a:tr h="393192">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7.1</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Source of truth</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STACK-D-ARCHITECTURE.md from the seven decks; docs/adr/; banners on A–I</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Keep “newest wins”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93192">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7.2</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Engine names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Names by function; old numbers kept as aliases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Keep numbers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93192">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7.3</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Free tier</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No AI chat; a recorded demo conversation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A small Free allowance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93192">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7.4</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Pro quota</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Units from your model-spend share and measured cost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A fixed token number</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93192">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7.5</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Entitlements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One table in config, as shown, read by every gate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Rules per feature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93192">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7.6</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Trace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One row per answer; 90 days live, then archived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Logs only</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93192">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7.7</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Retention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7 years for audit rows; transcripts 12 months, deletable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7-year transcripts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93192">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7.8</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Prompt privacy</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No equity or commission in prompts; provider allow-list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Any provider</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93192">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7.9</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Degraded modes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The table as shown, each row tested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Decide per incident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93192">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7.10</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Golden scenarios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About 24 cycles you approve; every change replayed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A random sample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93192">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7.11</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Operations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One admin page and five alerts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External monitoring</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93192">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7.12</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Languages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Safety texts in all 16 before release; RTL tested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English fallback</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B7A3E0"/>
          </a:solidFill>
          <a:ln w="15875">
            <a:solidFill>
              <a:srgbClr val="B7A3E0"/>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7</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7 · PLATFORM &amp; GOVERNANCE · DONE WHEN</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Section 7 is finished when these checks pass</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18</a:t>
            </a:r>
            <a:endParaRPr lang="en-US" sz="1000" dirty="0"/>
          </a:p>
        </p:txBody>
      </p:sp>
      <p:pic>
        <p:nvPicPr>
          <p:cNvPr id="8" name="Image 0" descr="preencoded.png">    </p:cNvPr>
          <p:cNvPicPr>
            <a:picLocks noChangeAspect="1"/>
          </p:cNvPicPr>
          <p:nvPr/>
        </p:nvPicPr>
        <p:blipFill>
          <a:blip r:embed="rId1"/>
          <a:stretch>
            <a:fillRect/>
          </a:stretch>
        </p:blipFill>
        <p:spPr>
          <a:xfrm>
            <a:off x="457200" y="1463040"/>
            <a:ext cx="384048" cy="384048"/>
          </a:xfrm>
          <a:prstGeom prst="rect">
            <a:avLst/>
          </a:prstGeom>
        </p:spPr>
      </p:pic>
      <p:sp>
        <p:nvSpPr>
          <p:cNvPr id="9" name="Text 5"/>
          <p:cNvSpPr txBox="1"/>
          <p:nvPr/>
        </p:nvSpPr>
        <p:spPr>
          <a:xfrm>
            <a:off x="1005840" y="1417320"/>
            <a:ext cx="4937760" cy="365760"/>
          </a:xfrm>
          <a:prstGeom prst="rect">
            <a:avLst/>
          </a:prstGeom>
          <a:noFill/>
          <a:ln/>
        </p:spPr>
        <p:txBody>
          <a:bodyPr wrap="square" lIns="0" tIns="0" rIns="0" bIns="0" rtlCol="0" anchor="ctr"/>
          <a:lstStyle/>
          <a:p>
            <a:pPr indent="0" marL="0">
              <a:buNone/>
            </a:pPr>
            <a:r>
              <a:rPr lang="en-US" sz="1350" b="1" dirty="0">
                <a:solidFill>
                  <a:srgbClr val="EEF1F4"/>
                </a:solidFill>
                <a:latin typeface="Calibri" pitchFamily="34" charset="0"/>
                <a:ea typeface="Calibri" pitchFamily="34" charset="-122"/>
                <a:cs typeface="Calibri" pitchFamily="34" charset="-120"/>
              </a:rPr>
              <a:t>One document</a:t>
            </a:r>
            <a:endParaRPr lang="en-US" sz="1350" dirty="0"/>
          </a:p>
        </p:txBody>
      </p:sp>
      <p:sp>
        <p:nvSpPr>
          <p:cNvPr id="10" name="Text 6"/>
          <p:cNvSpPr txBox="1"/>
          <p:nvPr/>
        </p:nvSpPr>
        <p:spPr>
          <a:xfrm>
            <a:off x="1005840" y="1801368"/>
            <a:ext cx="493776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STACK-D-ARCHITECTURE.md exists; A–I carry the banner; CLAUDE.md points to it.</a:t>
            </a:r>
            <a:endParaRPr lang="en-US" sz="1150" dirty="0"/>
          </a:p>
        </p:txBody>
      </p:sp>
      <p:pic>
        <p:nvPicPr>
          <p:cNvPr id="11" name="Image 1" descr="preencoded.png">    </p:cNvPr>
          <p:cNvPicPr>
            <a:picLocks noChangeAspect="1"/>
          </p:cNvPicPr>
          <p:nvPr/>
        </p:nvPicPr>
        <p:blipFill>
          <a:blip r:embed="rId2"/>
          <a:stretch>
            <a:fillRect/>
          </a:stretch>
        </p:blipFill>
        <p:spPr>
          <a:xfrm>
            <a:off x="6126480" y="1463040"/>
            <a:ext cx="384048" cy="384048"/>
          </a:xfrm>
          <a:prstGeom prst="rect">
            <a:avLst/>
          </a:prstGeom>
        </p:spPr>
      </p:pic>
      <p:sp>
        <p:nvSpPr>
          <p:cNvPr id="12" name="Text 7"/>
          <p:cNvSpPr txBox="1"/>
          <p:nvPr/>
        </p:nvSpPr>
        <p:spPr>
          <a:xfrm>
            <a:off x="6675120" y="1417320"/>
            <a:ext cx="4937760" cy="365760"/>
          </a:xfrm>
          <a:prstGeom prst="rect">
            <a:avLst/>
          </a:prstGeom>
          <a:noFill/>
          <a:ln/>
        </p:spPr>
        <p:txBody>
          <a:bodyPr wrap="square" lIns="0" tIns="0" rIns="0" bIns="0" rtlCol="0" anchor="ctr"/>
          <a:lstStyle/>
          <a:p>
            <a:pPr indent="0" marL="0">
              <a:buNone/>
            </a:pPr>
            <a:r>
              <a:rPr lang="en-US" sz="1350" b="1" dirty="0">
                <a:solidFill>
                  <a:srgbClr val="EEF1F4"/>
                </a:solidFill>
                <a:latin typeface="Calibri" pitchFamily="34" charset="0"/>
                <a:ea typeface="Calibri" pitchFamily="34" charset="-122"/>
                <a:cs typeface="Calibri" pitchFamily="34" charset="-120"/>
              </a:rPr>
              <a:t>Every decision is a file</a:t>
            </a:r>
            <a:endParaRPr lang="en-US" sz="1350" dirty="0"/>
          </a:p>
        </p:txBody>
      </p:sp>
      <p:sp>
        <p:nvSpPr>
          <p:cNvPr id="13" name="Text 8"/>
          <p:cNvSpPr txBox="1"/>
          <p:nvPr/>
        </p:nvSpPr>
        <p:spPr>
          <a:xfrm>
            <a:off x="6675120" y="1801368"/>
            <a:ext cx="493776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docs/adr/ holds every decision, each with its status.</a:t>
            </a:r>
            <a:endParaRPr lang="en-US" sz="1150" dirty="0"/>
          </a:p>
        </p:txBody>
      </p:sp>
      <p:pic>
        <p:nvPicPr>
          <p:cNvPr id="14" name="Image 2" descr="preencoded.png">    </p:cNvPr>
          <p:cNvPicPr>
            <a:picLocks noChangeAspect="1"/>
          </p:cNvPicPr>
          <p:nvPr/>
        </p:nvPicPr>
        <p:blipFill>
          <a:blip r:embed="rId3"/>
          <a:stretch>
            <a:fillRect/>
          </a:stretch>
        </p:blipFill>
        <p:spPr>
          <a:xfrm>
            <a:off x="457200" y="2606040"/>
            <a:ext cx="384048" cy="384048"/>
          </a:xfrm>
          <a:prstGeom prst="rect">
            <a:avLst/>
          </a:prstGeom>
        </p:spPr>
      </p:pic>
      <p:sp>
        <p:nvSpPr>
          <p:cNvPr id="15" name="Text 9"/>
          <p:cNvSpPr txBox="1"/>
          <p:nvPr/>
        </p:nvSpPr>
        <p:spPr>
          <a:xfrm>
            <a:off x="1005840" y="2560320"/>
            <a:ext cx="4937760" cy="365760"/>
          </a:xfrm>
          <a:prstGeom prst="rect">
            <a:avLst/>
          </a:prstGeom>
          <a:noFill/>
          <a:ln/>
        </p:spPr>
        <p:txBody>
          <a:bodyPr wrap="square" lIns="0" tIns="0" rIns="0" bIns="0" rtlCol="0" anchor="ctr"/>
          <a:lstStyle/>
          <a:p>
            <a:pPr indent="0" marL="0">
              <a:buNone/>
            </a:pPr>
            <a:r>
              <a:rPr lang="en-US" sz="1350" b="1" dirty="0">
                <a:solidFill>
                  <a:srgbClr val="EEF1F4"/>
                </a:solidFill>
                <a:latin typeface="Calibri" pitchFamily="34" charset="0"/>
                <a:ea typeface="Calibri" pitchFamily="34" charset="-122"/>
                <a:cs typeface="Calibri" pitchFamily="34" charset="-120"/>
              </a:rPr>
              <a:t>Gates read one table</a:t>
            </a:r>
            <a:endParaRPr lang="en-US" sz="1350" dirty="0"/>
          </a:p>
        </p:txBody>
      </p:sp>
      <p:sp>
        <p:nvSpPr>
          <p:cNvPr id="16" name="Text 10"/>
          <p:cNvSpPr txBox="1"/>
          <p:nvPr/>
        </p:nvSpPr>
        <p:spPr>
          <a:xfrm>
            <a:off x="1005840" y="2944368"/>
            <a:ext cx="493776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Changing one tier value changes the gate, chart route, modal and picker.</a:t>
            </a:r>
            <a:endParaRPr lang="en-US" sz="1150" dirty="0"/>
          </a:p>
        </p:txBody>
      </p:sp>
      <p:pic>
        <p:nvPicPr>
          <p:cNvPr id="17" name="Image 3" descr="preencoded.png">    </p:cNvPr>
          <p:cNvPicPr>
            <a:picLocks noChangeAspect="1"/>
          </p:cNvPicPr>
          <p:nvPr/>
        </p:nvPicPr>
        <p:blipFill>
          <a:blip r:embed="rId4"/>
          <a:stretch>
            <a:fillRect/>
          </a:stretch>
        </p:blipFill>
        <p:spPr>
          <a:xfrm>
            <a:off x="6126480" y="2606040"/>
            <a:ext cx="384048" cy="384048"/>
          </a:xfrm>
          <a:prstGeom prst="rect">
            <a:avLst/>
          </a:prstGeom>
        </p:spPr>
      </p:pic>
      <p:sp>
        <p:nvSpPr>
          <p:cNvPr id="18" name="Text 11"/>
          <p:cNvSpPr txBox="1"/>
          <p:nvPr/>
        </p:nvSpPr>
        <p:spPr>
          <a:xfrm>
            <a:off x="6675120" y="2560320"/>
            <a:ext cx="4937760" cy="365760"/>
          </a:xfrm>
          <a:prstGeom prst="rect">
            <a:avLst/>
          </a:prstGeom>
          <a:noFill/>
          <a:ln/>
        </p:spPr>
        <p:txBody>
          <a:bodyPr wrap="square" lIns="0" tIns="0" rIns="0" bIns="0" rtlCol="0" anchor="ctr"/>
          <a:lstStyle/>
          <a:p>
            <a:pPr indent="0" marL="0">
              <a:buNone/>
            </a:pPr>
            <a:r>
              <a:rPr lang="en-US" sz="1350" b="1" dirty="0">
                <a:solidFill>
                  <a:srgbClr val="EEF1F4"/>
                </a:solidFill>
                <a:latin typeface="Calibri" pitchFamily="34" charset="0"/>
                <a:ea typeface="Calibri" pitchFamily="34" charset="-122"/>
                <a:cs typeface="Calibri" pitchFamily="34" charset="-120"/>
              </a:rPr>
              <a:t>Any answer explains itself</a:t>
            </a:r>
            <a:endParaRPr lang="en-US" sz="1350" dirty="0"/>
          </a:p>
        </p:txBody>
      </p:sp>
      <p:sp>
        <p:nvSpPr>
          <p:cNvPr id="19" name="Text 12"/>
          <p:cNvSpPr txBox="1"/>
          <p:nvPr/>
        </p:nvSpPr>
        <p:spPr>
          <a:xfrm>
            <a:off x="6675120" y="2944368"/>
            <a:ext cx="493776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A request id opens its cycle, rule, chunks, model, checks and consent.</a:t>
            </a:r>
            <a:endParaRPr lang="en-US" sz="1150" dirty="0"/>
          </a:p>
        </p:txBody>
      </p:sp>
      <p:pic>
        <p:nvPicPr>
          <p:cNvPr id="20" name="Image 4" descr="preencoded.png">    </p:cNvPr>
          <p:cNvPicPr>
            <a:picLocks noChangeAspect="1"/>
          </p:cNvPicPr>
          <p:nvPr/>
        </p:nvPicPr>
        <p:blipFill>
          <a:blip r:embed="rId5"/>
          <a:stretch>
            <a:fillRect/>
          </a:stretch>
        </p:blipFill>
        <p:spPr>
          <a:xfrm>
            <a:off x="457200" y="3749040"/>
            <a:ext cx="384048" cy="384048"/>
          </a:xfrm>
          <a:prstGeom prst="rect">
            <a:avLst/>
          </a:prstGeom>
        </p:spPr>
      </p:pic>
      <p:sp>
        <p:nvSpPr>
          <p:cNvPr id="21" name="Text 13"/>
          <p:cNvSpPr txBox="1"/>
          <p:nvPr/>
        </p:nvSpPr>
        <p:spPr>
          <a:xfrm>
            <a:off x="1005840" y="3703320"/>
            <a:ext cx="4937760" cy="365760"/>
          </a:xfrm>
          <a:prstGeom prst="rect">
            <a:avLst/>
          </a:prstGeom>
          <a:noFill/>
          <a:ln/>
        </p:spPr>
        <p:txBody>
          <a:bodyPr wrap="square" lIns="0" tIns="0" rIns="0" bIns="0" rtlCol="0" anchor="ctr"/>
          <a:lstStyle/>
          <a:p>
            <a:pPr indent="0" marL="0">
              <a:buNone/>
            </a:pPr>
            <a:r>
              <a:rPr lang="en-US" sz="1350" b="1" dirty="0">
                <a:solidFill>
                  <a:srgbClr val="EEF1F4"/>
                </a:solidFill>
                <a:latin typeface="Calibri" pitchFamily="34" charset="0"/>
                <a:ea typeface="Calibri" pitchFamily="34" charset="-122"/>
                <a:cs typeface="Calibri" pitchFamily="34" charset="-120"/>
              </a:rPr>
              <a:t>Deletion keeps the evidence</a:t>
            </a:r>
            <a:endParaRPr lang="en-US" sz="1350" dirty="0"/>
          </a:p>
        </p:txBody>
      </p:sp>
      <p:sp>
        <p:nvSpPr>
          <p:cNvPr id="22" name="Text 14"/>
          <p:cNvSpPr txBox="1"/>
          <p:nvPr/>
        </p:nvSpPr>
        <p:spPr>
          <a:xfrm>
            <a:off x="1005840" y="4087368"/>
            <a:ext cx="493776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A deleted test account leaves hashed audit rows and no personal data.</a:t>
            </a:r>
            <a:endParaRPr lang="en-US" sz="1150" dirty="0"/>
          </a:p>
        </p:txBody>
      </p:sp>
      <p:pic>
        <p:nvPicPr>
          <p:cNvPr id="23" name="Image 5" descr="preencoded.png">    </p:cNvPr>
          <p:cNvPicPr>
            <a:picLocks noChangeAspect="1"/>
          </p:cNvPicPr>
          <p:nvPr/>
        </p:nvPicPr>
        <p:blipFill>
          <a:blip r:embed="rId6"/>
          <a:stretch>
            <a:fillRect/>
          </a:stretch>
        </p:blipFill>
        <p:spPr>
          <a:xfrm>
            <a:off x="6126480" y="3749040"/>
            <a:ext cx="384048" cy="384048"/>
          </a:xfrm>
          <a:prstGeom prst="rect">
            <a:avLst/>
          </a:prstGeom>
        </p:spPr>
      </p:pic>
      <p:sp>
        <p:nvSpPr>
          <p:cNvPr id="24" name="Text 15"/>
          <p:cNvSpPr txBox="1"/>
          <p:nvPr/>
        </p:nvSpPr>
        <p:spPr>
          <a:xfrm>
            <a:off x="6675120" y="3703320"/>
            <a:ext cx="4937760" cy="365760"/>
          </a:xfrm>
          <a:prstGeom prst="rect">
            <a:avLst/>
          </a:prstGeom>
          <a:noFill/>
          <a:ln/>
        </p:spPr>
        <p:txBody>
          <a:bodyPr wrap="square" lIns="0" tIns="0" rIns="0" bIns="0" rtlCol="0" anchor="ctr"/>
          <a:lstStyle/>
          <a:p>
            <a:pPr indent="0" marL="0">
              <a:buNone/>
            </a:pPr>
            <a:r>
              <a:rPr lang="en-US" sz="1350" b="1" dirty="0">
                <a:solidFill>
                  <a:srgbClr val="EEF1F4"/>
                </a:solidFill>
                <a:latin typeface="Calibri" pitchFamily="34" charset="0"/>
                <a:ea typeface="Calibri" pitchFamily="34" charset="-122"/>
                <a:cs typeface="Calibri" pitchFamily="34" charset="-120"/>
              </a:rPr>
              <a:t>Every failure is tested</a:t>
            </a:r>
            <a:endParaRPr lang="en-US" sz="1350" dirty="0"/>
          </a:p>
        </p:txBody>
      </p:sp>
      <p:sp>
        <p:nvSpPr>
          <p:cNvPr id="25" name="Text 16"/>
          <p:cNvSpPr txBox="1"/>
          <p:nvPr/>
        </p:nvSpPr>
        <p:spPr>
          <a:xfrm>
            <a:off x="6675120" y="4087368"/>
            <a:ext cx="493776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Each degraded-mode row has a golden scenario that passes.</a:t>
            </a:r>
            <a:endParaRPr lang="en-US" sz="1150" dirty="0"/>
          </a:p>
        </p:txBody>
      </p:sp>
      <p:pic>
        <p:nvPicPr>
          <p:cNvPr id="26" name="Image 6" descr="preencoded.png">    </p:cNvPr>
          <p:cNvPicPr>
            <a:picLocks noChangeAspect="1"/>
          </p:cNvPicPr>
          <p:nvPr/>
        </p:nvPicPr>
        <p:blipFill>
          <a:blip r:embed="rId7"/>
          <a:stretch>
            <a:fillRect/>
          </a:stretch>
        </p:blipFill>
        <p:spPr>
          <a:xfrm>
            <a:off x="457200" y="4892040"/>
            <a:ext cx="384048" cy="384048"/>
          </a:xfrm>
          <a:prstGeom prst="rect">
            <a:avLst/>
          </a:prstGeom>
        </p:spPr>
      </p:pic>
      <p:sp>
        <p:nvSpPr>
          <p:cNvPr id="27" name="Text 17"/>
          <p:cNvSpPr txBox="1"/>
          <p:nvPr/>
        </p:nvSpPr>
        <p:spPr>
          <a:xfrm>
            <a:off x="1005840" y="4846320"/>
            <a:ext cx="4937760" cy="365760"/>
          </a:xfrm>
          <a:prstGeom prst="rect">
            <a:avLst/>
          </a:prstGeom>
          <a:noFill/>
          <a:ln/>
        </p:spPr>
        <p:txBody>
          <a:bodyPr wrap="square" lIns="0" tIns="0" rIns="0" bIns="0" rtlCol="0" anchor="ctr"/>
          <a:lstStyle/>
          <a:p>
            <a:pPr indent="0" marL="0">
              <a:buNone/>
            </a:pPr>
            <a:r>
              <a:rPr lang="en-US" sz="1350" b="1" dirty="0">
                <a:solidFill>
                  <a:srgbClr val="EEF1F4"/>
                </a:solidFill>
                <a:latin typeface="Calibri" pitchFamily="34" charset="0"/>
                <a:ea typeface="Calibri" pitchFamily="34" charset="-122"/>
                <a:cs typeface="Calibri" pitchFamily="34" charset="-120"/>
              </a:rPr>
              <a:t>Safety texts are complete</a:t>
            </a:r>
            <a:endParaRPr lang="en-US" sz="1350" dirty="0"/>
          </a:p>
        </p:txBody>
      </p:sp>
      <p:sp>
        <p:nvSpPr>
          <p:cNvPr id="28" name="Text 18"/>
          <p:cNvSpPr txBox="1"/>
          <p:nvPr/>
        </p:nvSpPr>
        <p:spPr>
          <a:xfrm>
            <a:off x="1005840" y="5230368"/>
            <a:ext cx="493776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The release fails if one of the 16 languages lacks a safety text.</a:t>
            </a:r>
            <a:endParaRPr lang="en-US" sz="1150" dirty="0"/>
          </a:p>
        </p:txBody>
      </p:sp>
      <p:pic>
        <p:nvPicPr>
          <p:cNvPr id="29" name="Image 7" descr="preencoded.png">    </p:cNvPr>
          <p:cNvPicPr>
            <a:picLocks noChangeAspect="1"/>
          </p:cNvPicPr>
          <p:nvPr/>
        </p:nvPicPr>
        <p:blipFill>
          <a:blip r:embed="rId8"/>
          <a:stretch>
            <a:fillRect/>
          </a:stretch>
        </p:blipFill>
        <p:spPr>
          <a:xfrm>
            <a:off x="6126480" y="4892040"/>
            <a:ext cx="384048" cy="384048"/>
          </a:xfrm>
          <a:prstGeom prst="rect">
            <a:avLst/>
          </a:prstGeom>
        </p:spPr>
      </p:pic>
      <p:sp>
        <p:nvSpPr>
          <p:cNvPr id="30" name="Text 19"/>
          <p:cNvSpPr txBox="1"/>
          <p:nvPr/>
        </p:nvSpPr>
        <p:spPr>
          <a:xfrm>
            <a:off x="6675120" y="4846320"/>
            <a:ext cx="4937760" cy="365760"/>
          </a:xfrm>
          <a:prstGeom prst="rect">
            <a:avLst/>
          </a:prstGeom>
          <a:noFill/>
          <a:ln/>
        </p:spPr>
        <p:txBody>
          <a:bodyPr wrap="square" lIns="0" tIns="0" rIns="0" bIns="0" rtlCol="0" anchor="ctr"/>
          <a:lstStyle/>
          <a:p>
            <a:pPr indent="0" marL="0">
              <a:buNone/>
            </a:pPr>
            <a:r>
              <a:rPr lang="en-US" sz="1350" b="1" dirty="0">
                <a:solidFill>
                  <a:srgbClr val="EEF1F4"/>
                </a:solidFill>
                <a:latin typeface="Calibri" pitchFamily="34" charset="0"/>
                <a:ea typeface="Calibri" pitchFamily="34" charset="-122"/>
                <a:cs typeface="Calibri" pitchFamily="34" charset="-120"/>
              </a:rPr>
              <a:t>Clocks stay right</a:t>
            </a:r>
            <a:endParaRPr lang="en-US" sz="1350" dirty="0"/>
          </a:p>
        </p:txBody>
      </p:sp>
      <p:sp>
        <p:nvSpPr>
          <p:cNvPr id="31" name="Text 20"/>
          <p:cNvSpPr txBox="1"/>
          <p:nvPr/>
        </p:nvSpPr>
        <p:spPr>
          <a:xfrm>
            <a:off x="6675120" y="5230368"/>
            <a:ext cx="493776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The blackout test passes across the broker’s clock change.</a:t>
            </a:r>
            <a:endParaRPr lang="en-US" sz="1150" dirty="0"/>
          </a:p>
        </p:txBody>
      </p:sp>
      <p:sp>
        <p:nvSpPr>
          <p:cNvPr id="32" name="Text 21"/>
          <p:cNvSpPr txBox="1"/>
          <p:nvPr/>
        </p:nvSpPr>
        <p:spPr>
          <a:xfrm>
            <a:off x="457200" y="6035040"/>
            <a:ext cx="10972800" cy="320040"/>
          </a:xfrm>
          <a:prstGeom prst="rect">
            <a:avLst/>
          </a:prstGeom>
          <a:noFill/>
          <a:ln/>
        </p:spPr>
        <p:txBody>
          <a:bodyPr wrap="square" lIns="0" tIns="0" rIns="0" bIns="0" rtlCol="0" anchor="t"/>
          <a:lstStyle/>
          <a:p>
            <a:pPr indent="0" marL="0">
              <a:buNone/>
            </a:pPr>
            <a:r>
              <a:rPr lang="en-US" sz="1200" b="1" dirty="0">
                <a:solidFill>
                  <a:srgbClr val="E2B54E"/>
                </a:solidFill>
                <a:latin typeface="Calibri" pitchFamily="34" charset="0"/>
                <a:ea typeface="Calibri" pitchFamily="34" charset="-122"/>
                <a:cs typeface="Calibri" pitchFamily="34" charset="-120"/>
              </a:rPr>
              <a:t>Delivered with this update: STACK-D-ARCHITECTURE.md and docs/adr/, assembled from all seven decks.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Stack D Revised Architecture — Section 7: Platform &amp; governance</dc:title>
  <dc:subject>PptxGenJS Presentation</dc:subject>
  <dc:creator>DavinTrade</dc:creator>
  <cp:lastModifiedBy>DavinTrade</cp:lastModifiedBy>
  <cp:revision>1</cp:revision>
  <dcterms:created xsi:type="dcterms:W3CDTF">2026-09-29T17:20:03Z</dcterms:created>
  <dcterms:modified xsi:type="dcterms:W3CDTF">2026-09-29T17:20:03Z</dcterms:modified>
</cp:coreProperties>
</file>