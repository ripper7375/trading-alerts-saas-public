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fifth row is the one worth dwelling on. The indicators have always written _Statistic.txt companion files describing how well each line fits the data; nothing had ever read them, so each was overwritten a minute later and lost forever. That history cannot be reconstructed after the fact (see the append-only vs mutable slide), which is why capture had to start now rather than when something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 previously also implied 'and calculation.' It no longer does — the collector validates and forwards, nothing more. No component moved versus the previous deck; the only physical addition is the parallel statistics 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removed stage: CALCULATE used to sit between VALIDATE and PROMOTE, running four Python modules that recomputed the derived layer. It is gone — see the 'what was parked' slide for why that was possible and what it costs. The statistics side path hangs off the END of a successful cycle rather than sitting inside the four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buys: one implementation per indicator, no transliteration to keep faithful, no certification to maintain, and no way for the database to disagree with the chart the trader sees. What it costs: MQL5 values are admin-fixed — parameters are compiled in. There is no way to ask 'what would this look like with different parameters?' See section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cap: MT5 only ever re-exports its newest 3000 bars. A bar older than that will never be recalculated or re-sent, so keeping it on the VPS serves no purpose — it is already safe in Postgres. The prune trigger deletes it, but only if synced_at IS NOT NULL — the sync guarantee always beats retention. Indicators are not continuous series: Fractal, centroid, EDT, SSA and EMA-SSA are recalculated across the whole window on every pass, so the newest values overwrite older ones at the same timestamp — that's what the UPSERT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more than it sounds: because market_data overwrites, a bar's stored value is whatever the last recalculation produced — the honest, point-in-time value is computed and then destroyed (this is exactly the look-ahead problem in the open-issues slide). The new table cannot suffer that, because nothing is ever overwritten. Every row is stamped with the moment it was observed, so a series of rows for one line shows how the fit evolved, not just where it ended up. Retention: the statistics outbox on the VPS prunes after 7 days, and only rows already confirmed synced — same sync-beats-retention rule as the price lane. In Postgres it is kept permanently.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nuance: the export includes the still-forming bar, so the newest row in market_data_v6 is always an incomplete candle until the next cycle overwrites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Relatedly: maglev and turntable are Railway's shared proxy hostnames — the port identifies the service, so reasoning about which project owns an endpoint from its hostname alone is unsound. Three separate sessions have now been caught by this same .env.local mistake. General lesson worth its own slide if this deck ever covers ops: a migrate deploy against the wrong database looks exactly like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3E"/>
        </a:solidFill>
      </p:bgPr>
    </p:bg>
    <p:spTree>
      <p:nvGrpSpPr>
        <p:cNvPr id="1" name=""/>
        <p:cNvGrpSpPr/>
        <p:nvPr/>
      </p:nvGrpSpPr>
      <p:grpSpPr>
        <a:xfrm>
          <a:off x="0" y="0"/>
          <a:ext cx="0" cy="0"/>
          <a:chOff x="0" y="0"/>
          <a:chExt cx="0" cy="0"/>
        </a:xfrm>
      </p:grpSpPr>
      <p:sp>
        <p:nvSpPr>
          <p:cNvPr id="2" name="Shape 0"/>
          <p:cNvSpPr/>
          <p:nvPr/>
        </p:nvSpPr>
        <p:spPr>
          <a:xfrm>
            <a:off x="8988552" y="3657600"/>
            <a:ext cx="5852160" cy="5852160"/>
          </a:xfrm>
          <a:prstGeom prst="ellipse">
            <a:avLst/>
          </a:prstGeom>
          <a:ln w="15875">
            <a:solidFill>
              <a:srgbClr val="44577E">
                <a:alpha val="45000"/>
              </a:srgbClr>
            </a:solidFill>
            <a:prstDash val="solid"/>
          </a:ln>
        </p:spPr>
      </p:sp>
      <p:sp>
        <p:nvSpPr>
          <p:cNvPr id="3" name="Shape 1"/>
          <p:cNvSpPr/>
          <p:nvPr/>
        </p:nvSpPr>
        <p:spPr>
          <a:xfrm>
            <a:off x="9720072" y="4389120"/>
            <a:ext cx="4389120" cy="4389120"/>
          </a:xfrm>
          <a:prstGeom prst="ellipse">
            <a:avLst/>
          </a:prstGeom>
          <a:ln w="15875">
            <a:solidFill>
              <a:srgbClr val="44577E">
                <a:alpha val="45000"/>
              </a:srgbClr>
            </a:solidFill>
            <a:prstDash val="solid"/>
          </a:ln>
        </p:spPr>
      </p:sp>
      <p:sp>
        <p:nvSpPr>
          <p:cNvPr id="4" name="Shape 2"/>
          <p:cNvSpPr/>
          <p:nvPr/>
        </p:nvSpPr>
        <p:spPr>
          <a:xfrm>
            <a:off x="10451592" y="5120640"/>
            <a:ext cx="2926080" cy="2926080"/>
          </a:xfrm>
          <a:prstGeom prst="ellipse">
            <a:avLst/>
          </a:prstGeom>
          <a:ln w="15875">
            <a:solidFill>
              <a:srgbClr val="C1922C">
                <a:alpha val="80000"/>
              </a:srgbClr>
            </a:solidFill>
            <a:prstDash val="solid"/>
          </a:ln>
        </p:spPr>
      </p:sp>
      <p:sp>
        <p:nvSpPr>
          <p:cNvPr id="5" name="Shape 3"/>
          <p:cNvSpPr/>
          <p:nvPr/>
        </p:nvSpPr>
        <p:spPr>
          <a:xfrm>
            <a:off x="502920" y="822960"/>
            <a:ext cx="4206240" cy="310896"/>
          </a:xfrm>
          <a:prstGeom prst="roundRect">
            <a:avLst>
              <a:gd name="adj" fmla="val 50000"/>
            </a:avLst>
          </a:prstGeom>
          <a:solidFill>
            <a:srgbClr val="223A66"/>
          </a:solidFill>
          <a:ln/>
        </p:spPr>
      </p:sp>
      <p:sp>
        <p:nvSpPr>
          <p:cNvPr id="6" name="Text 4"/>
          <p:cNvSpPr txBox="1"/>
          <p:nvPr/>
        </p:nvSpPr>
        <p:spPr>
          <a:xfrm>
            <a:off x="502920" y="822960"/>
            <a:ext cx="4206240" cy="310896"/>
          </a:xfrm>
          <a:prstGeom prst="rect">
            <a:avLst/>
          </a:prstGeom>
          <a:noFill/>
          <a:ln/>
        </p:spPr>
        <p:txBody>
          <a:bodyPr wrap="square" lIns="0" tIns="0" rIns="0" bIns="0" rtlCol="0" anchor="ctr"/>
          <a:lstStyle/>
          <a:p>
            <a:pPr algn="ctr" indent="0" marL="0">
              <a:buNone/>
            </a:pPr>
            <a:r>
              <a:rPr lang="en-US" sz="1050" b="1" dirty="0">
                <a:solidFill>
                  <a:srgbClr val="E7CE96"/>
                </a:solidFill>
                <a:latin typeface="Calibri" pitchFamily="34" charset="0"/>
                <a:ea typeface="Calibri" pitchFamily="34" charset="-122"/>
                <a:cs typeface="Calibri" pitchFamily="34" charset="-120"/>
              </a:rPr>
              <a:t>ARCHITECTURE SUMMARY  ·  UPDATED 2026-09-09</a:t>
            </a:r>
            <a:endParaRPr lang="en-US" sz="1050" dirty="0"/>
          </a:p>
        </p:txBody>
      </p:sp>
      <p:sp>
        <p:nvSpPr>
          <p:cNvPr id="7" name="Text 5"/>
          <p:cNvSpPr txBox="1"/>
          <p:nvPr/>
        </p:nvSpPr>
        <p:spPr>
          <a:xfrm>
            <a:off x="502920" y="2331720"/>
            <a:ext cx="987552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V2.29 Data Pipeline</a:t>
            </a:r>
            <a:endParaRPr lang="en-US" sz="4600" dirty="0"/>
          </a:p>
        </p:txBody>
      </p:sp>
      <p:sp>
        <p:nvSpPr>
          <p:cNvPr id="8" name="Text 6"/>
          <p:cNvSpPr txBox="1"/>
          <p:nvPr/>
        </p:nvSpPr>
        <p:spPr>
          <a:xfrm>
            <a:off x="502920" y="3246120"/>
            <a:ext cx="9144000" cy="502920"/>
          </a:xfrm>
          <a:prstGeom prst="rect">
            <a:avLst/>
          </a:prstGeom>
          <a:noFill/>
          <a:ln/>
        </p:spPr>
        <p:txBody>
          <a:bodyPr wrap="square" lIns="0" tIns="0" rIns="0" bIns="0" rtlCol="0" anchor="ctr"/>
          <a:lstStyle/>
          <a:p>
            <a:pPr indent="0" marL="0">
              <a:buNone/>
            </a:pPr>
            <a:r>
              <a:rPr lang="en-US" sz="1800" dirty="0">
                <a:solidFill>
                  <a:srgbClr val="AAB6D4"/>
                </a:solidFill>
                <a:latin typeface="Calibri" pitchFamily="34" charset="0"/>
                <a:ea typeface="Calibri" pitchFamily="34" charset="-122"/>
                <a:cs typeface="Calibri" pitchFamily="34" charset="-120"/>
              </a:rPr>
              <a:t>What changed, how it works now, and what's still open</a:t>
            </a:r>
            <a:endParaRPr lang="en-US" sz="1800" dirty="0"/>
          </a:p>
        </p:txBody>
      </p:sp>
      <p:sp>
        <p:nvSpPr>
          <p:cNvPr id="9" name="Shape 7"/>
          <p:cNvSpPr/>
          <p:nvPr/>
        </p:nvSpPr>
        <p:spPr>
          <a:xfrm>
            <a:off x="502920" y="3977640"/>
            <a:ext cx="3108960" cy="0"/>
          </a:xfrm>
          <a:prstGeom prst="line">
            <a:avLst/>
          </a:prstGeom>
          <a:noFill/>
          <a:ln w="12700">
            <a:solidFill>
              <a:srgbClr val="44577E">
                <a:alpha val="60000"/>
              </a:srgbClr>
            </a:solidFill>
            <a:prstDash val="solid"/>
          </a:ln>
        </p:spPr>
      </p:sp>
      <p:sp>
        <p:nvSpPr>
          <p:cNvPr id="10" name="Text 8"/>
          <p:cNvSpPr txBox="1"/>
          <p:nvPr/>
        </p:nvSpPr>
        <p:spPr>
          <a:xfrm>
            <a:off x="502920" y="4160520"/>
            <a:ext cx="8503920" cy="822960"/>
          </a:xfrm>
          <a:prstGeom prst="rect">
            <a:avLst/>
          </a:prstGeom>
          <a:noFill/>
          <a:ln/>
        </p:spPr>
        <p:txBody>
          <a:bodyPr wrap="square" lIns="0" tIns="0" rIns="0" bIns="0" rtlCol="0" anchor="ctr"/>
          <a:lstStyle/>
          <a:p>
            <a:pPr indent="0" marL="0">
              <a:buNone/>
            </a:pPr>
            <a:r>
              <a:rPr lang="en-US" sz="1500" i="1" dirty="0">
                <a:solidFill>
                  <a:srgbClr val="E7CE96"/>
                </a:solidFill>
                <a:latin typeface="Cambria" pitchFamily="34" charset="0"/>
                <a:ea typeface="Cambria" pitchFamily="34" charset="-122"/>
                <a:cs typeface="Cambria" pitchFamily="34" charset="-120"/>
              </a:rPr>
              <a:t>“MQL5 now computes every value; the pipeline transports it — and, for the first time, records how good each fit actually was.”</a:t>
            </a:r>
            <a:endParaRPr lang="en-US" sz="1500" dirty="0"/>
          </a:p>
        </p:txBody>
      </p:sp>
      <p:sp>
        <p:nvSpPr>
          <p:cNvPr id="11" name="Text 9"/>
          <p:cNvSpPr txBox="1"/>
          <p:nvPr/>
        </p:nvSpPr>
        <p:spPr>
          <a:xfrm>
            <a:off x="502920" y="6080760"/>
            <a:ext cx="8229600" cy="320040"/>
          </a:xfrm>
          <a:prstGeom prst="rect">
            <a:avLst/>
          </a:prstGeom>
          <a:noFill/>
          <a:ln/>
        </p:spPr>
        <p:txBody>
          <a:bodyPr wrap="square" lIns="0" tIns="0" rIns="0" bIns="0" rtlCol="0" anchor="ctr"/>
          <a:lstStyle/>
          <a:p>
            <a:pPr indent="0" marL="0">
              <a:buNone/>
            </a:pPr>
            <a:r>
              <a:rPr lang="en-US" sz="1150" dirty="0">
                <a:solidFill>
                  <a:srgbClr val="AAB6D4"/>
                </a:solidFill>
                <a:latin typeface="Calibri" pitchFamily="34" charset="0"/>
                <a:ea typeface="Calibri" pitchFamily="34" charset="-122"/>
                <a:cs typeface="Calibri" pitchFamily="34" charset="-120"/>
              </a:rPr>
              <a:t>XAUUSD  ·  M5 &amp; M15   |   Audience: stack-development team &amp; stakeholders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12213E"/>
          </a:solidFill>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2000" b="1" dirty="0">
                <a:solidFill>
                  <a:srgbClr val="E7CE96"/>
                </a:solidFill>
                <a:latin typeface="Cambria" pitchFamily="34" charset="0"/>
                <a:ea typeface="Cambria" pitchFamily="34" charset="-122"/>
                <a:cs typeface="Cambria" pitchFamily="34" charset="-120"/>
              </a:rPr>
              <a:t>01</a:t>
            </a:r>
            <a:endParaRPr lang="en-US" sz="2000" dirty="0"/>
          </a:p>
        </p:txBody>
      </p:sp>
      <p:sp>
        <p:nvSpPr>
          <p:cNvPr id="4" name="Text 2"/>
          <p:cNvSpPr txBox="1"/>
          <p:nvPr/>
        </p:nvSpPr>
        <p:spPr>
          <a:xfrm>
            <a:off x="1216152" y="420624"/>
            <a:ext cx="8686800" cy="256032"/>
          </a:xfrm>
          <a:prstGeom prst="rect">
            <a:avLst/>
          </a:prstGeom>
          <a:noFill/>
          <a:ln/>
        </p:spPr>
        <p:txBody>
          <a:bodyPr wrap="square" lIns="0" tIns="0" rIns="0" bIns="0" rtlCol="0" anchor="ctr"/>
          <a:lstStyle/>
          <a:p>
            <a:pPr indent="0" marL="0">
              <a:buNone/>
            </a:pPr>
            <a:r>
              <a:rPr lang="en-US" sz="1100" b="1" spc="200" kern="0" dirty="0">
                <a:solidFill>
                  <a:srgbClr val="C1922C"/>
                </a:solidFill>
                <a:latin typeface="Calibri" pitchFamily="34" charset="0"/>
                <a:ea typeface="Calibri" pitchFamily="34" charset="-122"/>
                <a:cs typeface="Calibri" pitchFamily="34" charset="-120"/>
              </a:rPr>
              <a:t>OPENING</a:t>
            </a:r>
            <a:endParaRPr lang="en-US" sz="1100" dirty="0"/>
          </a:p>
        </p:txBody>
      </p:sp>
      <p:sp>
        <p:nvSpPr>
          <p:cNvPr id="5" name="Text 3"/>
          <p:cNvSpPr txBox="1"/>
          <p:nvPr/>
        </p:nvSpPr>
        <p:spPr>
          <a:xfrm>
            <a:off x="1216152" y="658368"/>
            <a:ext cx="9601200" cy="502920"/>
          </a:xfrm>
          <a:prstGeom prst="rect">
            <a:avLst/>
          </a:prstGeom>
          <a:noFill/>
          <a:ln/>
        </p:spPr>
        <p:txBody>
          <a:bodyPr wrap="square" lIns="0" tIns="0" rIns="0" bIns="0" rtlCol="0" anchor="ctr"/>
          <a:lstStyle/>
          <a:p>
            <a:pPr indent="0" marL="0">
              <a:buNone/>
            </a:pPr>
            <a:r>
              <a:rPr lang="en-US" sz="2700" b="1" dirty="0">
                <a:solidFill>
                  <a:srgbClr val="12213E"/>
                </a:solidFill>
                <a:latin typeface="Cambria" pitchFamily="34" charset="0"/>
                <a:ea typeface="Cambria" pitchFamily="34" charset="-122"/>
                <a:cs typeface="Cambria" pitchFamily="34" charset="-120"/>
              </a:rPr>
              <a:t>What Changed</a:t>
            </a:r>
            <a:endParaRPr lang="en-US" sz="2700" dirty="0"/>
          </a:p>
        </p:txBody>
      </p:sp>
      <p:sp>
        <p:nvSpPr>
          <p:cNvPr id="6" name="Text 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3708C"/>
                </a:solidFill>
                <a:latin typeface="Calibri" pitchFamily="34" charset="0"/>
                <a:ea typeface="Calibri" pitchFamily="34" charset="-122"/>
                <a:cs typeface="Calibri" pitchFamily="34" charset="-120"/>
              </a:rPr>
              <a:t>V2.29 Data Pipeline  ·  XAUUSD  M5 / M15</a:t>
            </a:r>
            <a:endParaRPr lang="en-US" sz="900" dirty="0"/>
          </a:p>
        </p:txBody>
      </p:sp>
      <p:sp>
        <p:nvSpPr>
          <p:cNvPr id="7" name="Text 5"/>
          <p:cNvSpPr txBox="1"/>
          <p:nvPr/>
        </p:nvSpPr>
        <p:spPr>
          <a:xfrm>
            <a:off x="10588752" y="6473952"/>
            <a:ext cx="1097280" cy="274320"/>
          </a:xfrm>
          <a:prstGeom prst="rect">
            <a:avLst/>
          </a:prstGeom>
          <a:noFill/>
          <a:ln/>
        </p:spPr>
        <p:txBody>
          <a:bodyPr wrap="square" lIns="0" tIns="0" rIns="0" bIns="0" rtlCol="0" anchor="ctr"/>
          <a:lstStyle/>
          <a:p>
            <a:pPr algn="r" indent="0" marL="0">
              <a:buNone/>
            </a:pPr>
            <a:r>
              <a:rPr lang="en-US" sz="900" dirty="0">
                <a:solidFill>
                  <a:srgbClr val="63708C"/>
                </a:solidFill>
                <a:latin typeface="Calibri" pitchFamily="34" charset="0"/>
                <a:ea typeface="Calibri" pitchFamily="34" charset="-122"/>
                <a:cs typeface="Calibri" pitchFamily="34" charset="-120"/>
              </a:rPr>
              <a:t>01</a:t>
            </a:r>
            <a:endParaRPr lang="en-US" sz="900" dirty="0"/>
          </a:p>
        </p:txBody>
      </p:sp>
      <p:sp>
        <p:nvSpPr>
          <p:cNvPr id="8" name="Text 6"/>
          <p:cNvSpPr txBox="1"/>
          <p:nvPr/>
        </p:nvSpPr>
        <p:spPr>
          <a:xfrm>
            <a:off x="502920" y="1280160"/>
            <a:ext cx="10789920" cy="292608"/>
          </a:xfrm>
          <a:prstGeom prst="rect">
            <a:avLst/>
          </a:prstGeom>
          <a:noFill/>
          <a:ln/>
        </p:spPr>
        <p:txBody>
          <a:bodyPr wrap="square" lIns="0" tIns="0" rIns="0" bIns="0" rtlCol="0" anchor="ctr"/>
          <a:lstStyle/>
          <a:p>
            <a:pPr indent="0" marL="0">
              <a:buNone/>
            </a:pPr>
            <a:r>
              <a:rPr lang="en-US" sz="1300" dirty="0">
                <a:solidFill>
                  <a:srgbClr val="63708C"/>
                </a:solidFill>
                <a:latin typeface="Calibri" pitchFamily="34" charset="0"/>
                <a:ea typeface="Calibri" pitchFamily="34" charset="-122"/>
                <a:cs typeface="Calibri" pitchFamily="34" charset="-120"/>
              </a:rPr>
              <a:t>Five things changed versus the previous deck. Everything else is unchanged.</a:t>
            </a:r>
            <a:endParaRPr lang="en-US" sz="1300" dirty="0"/>
          </a:p>
        </p:txBody>
      </p:sp>
      <p:sp>
        <p:nvSpPr>
          <p:cNvPr id="9" name="Shape 7"/>
          <p:cNvSpPr/>
          <p:nvPr/>
        </p:nvSpPr>
        <p:spPr>
          <a:xfrm>
            <a:off x="502920" y="1664208"/>
            <a:ext cx="11183112" cy="713232"/>
          </a:xfrm>
          <a:prstGeom prst="roundRect">
            <a:avLst>
              <a:gd name="adj" fmla="val 7692"/>
            </a:avLst>
          </a:prstGeom>
          <a:solidFill>
            <a:srgbClr val="EEF1F7"/>
          </a:solidFill>
          <a:ln w="12700">
            <a:solidFill>
              <a:srgbClr val="DCE3EF"/>
            </a:solidFill>
            <a:prstDash val="solid"/>
          </a:ln>
        </p:spPr>
      </p:sp>
      <p:sp>
        <p:nvSpPr>
          <p:cNvPr id="10" name="Text 8"/>
          <p:cNvSpPr txBox="1"/>
          <p:nvPr/>
        </p:nvSpPr>
        <p:spPr>
          <a:xfrm>
            <a:off x="731520" y="1664208"/>
            <a:ext cx="2834640" cy="713232"/>
          </a:xfrm>
          <a:prstGeom prst="rect">
            <a:avLst/>
          </a:prstGeom>
          <a:noFill/>
          <a:ln/>
        </p:spPr>
        <p:txBody>
          <a:bodyPr wrap="square" lIns="0" tIns="0" rIns="0" bIns="0" rtlCol="0" anchor="ctr"/>
          <a:lstStyle/>
          <a:p>
            <a:pPr indent="0" marL="0">
              <a:buNone/>
            </a:pPr>
            <a:r>
              <a:rPr lang="en-US" sz="1200" b="1" dirty="0">
                <a:solidFill>
                  <a:srgbClr val="1B2436"/>
                </a:solidFill>
                <a:latin typeface="Calibri" pitchFamily="34" charset="0"/>
                <a:ea typeface="Calibri" pitchFamily="34" charset="-122"/>
                <a:cs typeface="Calibri" pitchFamily="34" charset="-120"/>
              </a:rPr>
              <a:t>MQL5 indicators</a:t>
            </a:r>
            <a:endParaRPr lang="en-US" sz="1200" dirty="0"/>
          </a:p>
        </p:txBody>
      </p:sp>
      <p:sp>
        <p:nvSpPr>
          <p:cNvPr id="11" name="Text 9"/>
          <p:cNvSpPr txBox="1"/>
          <p:nvPr/>
        </p:nvSpPr>
        <p:spPr>
          <a:xfrm>
            <a:off x="3703320" y="1664208"/>
            <a:ext cx="4160520" cy="713232"/>
          </a:xfrm>
          <a:prstGeom prst="rect">
            <a:avLst/>
          </a:prstGeom>
          <a:noFill/>
          <a:ln/>
        </p:spPr>
        <p:txBody>
          <a:bodyPr wrap="square" lIns="0" tIns="0" rIns="0" bIns="0" rtlCol="0" anchor="ctr"/>
          <a:lstStyle/>
          <a:p>
            <a:pPr indent="0" marL="0">
              <a:buNone/>
            </a:pPr>
            <a:r>
              <a:rPr lang="en-US" sz="1100" strike="sngStrike" dirty="0">
                <a:solidFill>
                  <a:srgbClr val="63708C"/>
                </a:solidFill>
                <a:latin typeface="Calibri" pitchFamily="34" charset="0"/>
                <a:ea typeface="Calibri" pitchFamily="34" charset="-122"/>
                <a:cs typeface="Calibri" pitchFamily="34" charset="-120"/>
              </a:rPr>
              <a:t>12</a:t>
            </a:r>
            <a:endParaRPr lang="en-US" sz="1100" dirty="0"/>
          </a:p>
        </p:txBody>
      </p:sp>
      <p:sp>
        <p:nvSpPr>
          <p:cNvPr id="12" name="Shape 10"/>
          <p:cNvSpPr/>
          <p:nvPr/>
        </p:nvSpPr>
        <p:spPr>
          <a:xfrm>
            <a:off x="7955280" y="1938528"/>
            <a:ext cx="365760" cy="164592"/>
          </a:xfrm>
          <a:prstGeom prst="rightArrow">
            <a:avLst/>
          </a:prstGeom>
          <a:solidFill>
            <a:srgbClr val="C1922C"/>
          </a:solidFill>
          <a:ln/>
        </p:spPr>
      </p:sp>
      <p:sp>
        <p:nvSpPr>
          <p:cNvPr id="13" name="Text 11"/>
          <p:cNvSpPr txBox="1"/>
          <p:nvPr/>
        </p:nvSpPr>
        <p:spPr>
          <a:xfrm>
            <a:off x="8458200" y="1664208"/>
            <a:ext cx="3063240" cy="713232"/>
          </a:xfrm>
          <a:prstGeom prst="rect">
            <a:avLst/>
          </a:prstGeom>
          <a:noFill/>
          <a:ln/>
        </p:spPr>
        <p:txBody>
          <a:bodyPr wrap="square" lIns="0" tIns="0" rIns="0" bIns="0" rtlCol="0" anchor="ctr"/>
          <a:lstStyle/>
          <a:p>
            <a:pPr indent="0" marL="0">
              <a:buNone/>
            </a:pPr>
            <a:r>
              <a:rPr lang="en-US" sz="1200" b="1" dirty="0">
                <a:solidFill>
                  <a:srgbClr val="12213E"/>
                </a:solidFill>
                <a:latin typeface="Calibri" pitchFamily="34" charset="0"/>
                <a:ea typeface="Calibri" pitchFamily="34" charset="-122"/>
                <a:cs typeface="Calibri" pitchFamily="34" charset="-120"/>
              </a:rPr>
              <a:t>13</a:t>
            </a:r>
            <a:endParaRPr lang="en-US" sz="1200" dirty="0"/>
          </a:p>
        </p:txBody>
      </p:sp>
      <p:sp>
        <p:nvSpPr>
          <p:cNvPr id="14" name="Shape 12"/>
          <p:cNvSpPr/>
          <p:nvPr/>
        </p:nvSpPr>
        <p:spPr>
          <a:xfrm>
            <a:off x="502920" y="2487168"/>
            <a:ext cx="11183112" cy="713232"/>
          </a:xfrm>
          <a:prstGeom prst="roundRect">
            <a:avLst>
              <a:gd name="adj" fmla="val 7692"/>
            </a:avLst>
          </a:prstGeom>
          <a:solidFill>
            <a:srgbClr val="EEF1F7"/>
          </a:solidFill>
          <a:ln w="12700">
            <a:solidFill>
              <a:srgbClr val="DCE3EF"/>
            </a:solidFill>
            <a:prstDash val="solid"/>
          </a:ln>
        </p:spPr>
      </p:sp>
      <p:sp>
        <p:nvSpPr>
          <p:cNvPr id="15" name="Text 13"/>
          <p:cNvSpPr txBox="1"/>
          <p:nvPr/>
        </p:nvSpPr>
        <p:spPr>
          <a:xfrm>
            <a:off x="731520" y="2487168"/>
            <a:ext cx="2834640" cy="713232"/>
          </a:xfrm>
          <a:prstGeom prst="rect">
            <a:avLst/>
          </a:prstGeom>
          <a:noFill/>
          <a:ln/>
        </p:spPr>
        <p:txBody>
          <a:bodyPr wrap="square" lIns="0" tIns="0" rIns="0" bIns="0" rtlCol="0" anchor="ctr"/>
          <a:lstStyle/>
          <a:p>
            <a:pPr indent="0" marL="0">
              <a:buNone/>
            </a:pPr>
            <a:r>
              <a:rPr lang="en-US" sz="1200" b="1" dirty="0">
                <a:solidFill>
                  <a:srgbClr val="1B2436"/>
                </a:solidFill>
                <a:latin typeface="Calibri" pitchFamily="34" charset="0"/>
                <a:ea typeface="Calibri" pitchFamily="34" charset="-122"/>
                <a:cs typeface="Calibri" pitchFamily="34" charset="-120"/>
              </a:rPr>
              <a:t>market_data columns</a:t>
            </a:r>
            <a:endParaRPr lang="en-US" sz="1200" dirty="0"/>
          </a:p>
        </p:txBody>
      </p:sp>
      <p:sp>
        <p:nvSpPr>
          <p:cNvPr id="16" name="Text 14"/>
          <p:cNvSpPr txBox="1"/>
          <p:nvPr/>
        </p:nvSpPr>
        <p:spPr>
          <a:xfrm>
            <a:off x="3703320" y="2487168"/>
            <a:ext cx="4160520" cy="713232"/>
          </a:xfrm>
          <a:prstGeom prst="rect">
            <a:avLst/>
          </a:prstGeom>
          <a:noFill/>
          <a:ln/>
        </p:spPr>
        <p:txBody>
          <a:bodyPr wrap="square" lIns="0" tIns="0" rIns="0" bIns="0" rtlCol="0" anchor="ctr"/>
          <a:lstStyle/>
          <a:p>
            <a:pPr indent="0" marL="0">
              <a:buNone/>
            </a:pPr>
            <a:r>
              <a:rPr lang="en-US" sz="1100" strike="sngStrike" dirty="0">
                <a:solidFill>
                  <a:srgbClr val="63708C"/>
                </a:solidFill>
                <a:latin typeface="Calibri" pitchFamily="34" charset="0"/>
                <a:ea typeface="Calibri" pitchFamily="34" charset="-122"/>
                <a:cs typeface="Calibri" pitchFamily="34" charset="-120"/>
              </a:rPr>
              <a:t>79</a:t>
            </a:r>
            <a:endParaRPr lang="en-US" sz="1100" dirty="0"/>
          </a:p>
        </p:txBody>
      </p:sp>
      <p:sp>
        <p:nvSpPr>
          <p:cNvPr id="17" name="Shape 15"/>
          <p:cNvSpPr/>
          <p:nvPr/>
        </p:nvSpPr>
        <p:spPr>
          <a:xfrm>
            <a:off x="7955280" y="2761488"/>
            <a:ext cx="365760" cy="164592"/>
          </a:xfrm>
          <a:prstGeom prst="rightArrow">
            <a:avLst/>
          </a:prstGeom>
          <a:solidFill>
            <a:srgbClr val="C1922C"/>
          </a:solidFill>
          <a:ln/>
        </p:spPr>
      </p:sp>
      <p:sp>
        <p:nvSpPr>
          <p:cNvPr id="18" name="Text 16"/>
          <p:cNvSpPr txBox="1"/>
          <p:nvPr/>
        </p:nvSpPr>
        <p:spPr>
          <a:xfrm>
            <a:off x="8458200" y="2487168"/>
            <a:ext cx="3063240" cy="713232"/>
          </a:xfrm>
          <a:prstGeom prst="rect">
            <a:avLst/>
          </a:prstGeom>
          <a:noFill/>
          <a:ln/>
        </p:spPr>
        <p:txBody>
          <a:bodyPr wrap="square" lIns="0" tIns="0" rIns="0" bIns="0" rtlCol="0" anchor="ctr"/>
          <a:lstStyle/>
          <a:p>
            <a:pPr indent="0" marL="0">
              <a:buNone/>
            </a:pPr>
            <a:r>
              <a:rPr lang="en-US" sz="1200" b="1" dirty="0">
                <a:solidFill>
                  <a:srgbClr val="12213E"/>
                </a:solidFill>
                <a:latin typeface="Calibri" pitchFamily="34" charset="0"/>
                <a:ea typeface="Calibri" pitchFamily="34" charset="-122"/>
                <a:cs typeface="Calibri" pitchFamily="34" charset="-120"/>
              </a:rPr>
              <a:t>87</a:t>
            </a:r>
            <a:endParaRPr lang="en-US" sz="1200" dirty="0"/>
          </a:p>
        </p:txBody>
      </p:sp>
      <p:sp>
        <p:nvSpPr>
          <p:cNvPr id="19" name="Shape 17"/>
          <p:cNvSpPr/>
          <p:nvPr/>
        </p:nvSpPr>
        <p:spPr>
          <a:xfrm>
            <a:off x="502920" y="3310128"/>
            <a:ext cx="11183112" cy="713232"/>
          </a:xfrm>
          <a:prstGeom prst="roundRect">
            <a:avLst>
              <a:gd name="adj" fmla="val 7692"/>
            </a:avLst>
          </a:prstGeom>
          <a:solidFill>
            <a:srgbClr val="EEF1F7"/>
          </a:solidFill>
          <a:ln w="12700">
            <a:solidFill>
              <a:srgbClr val="DCE3EF"/>
            </a:solidFill>
            <a:prstDash val="solid"/>
          </a:ln>
        </p:spPr>
      </p:sp>
      <p:sp>
        <p:nvSpPr>
          <p:cNvPr id="20" name="Text 18"/>
          <p:cNvSpPr txBox="1"/>
          <p:nvPr/>
        </p:nvSpPr>
        <p:spPr>
          <a:xfrm>
            <a:off x="731520" y="3310128"/>
            <a:ext cx="2834640" cy="713232"/>
          </a:xfrm>
          <a:prstGeom prst="rect">
            <a:avLst/>
          </a:prstGeom>
          <a:noFill/>
          <a:ln/>
        </p:spPr>
        <p:txBody>
          <a:bodyPr wrap="square" lIns="0" tIns="0" rIns="0" bIns="0" rtlCol="0" anchor="ctr"/>
          <a:lstStyle/>
          <a:p>
            <a:pPr indent="0" marL="0">
              <a:buNone/>
            </a:pPr>
            <a:r>
              <a:rPr lang="en-US" sz="1200" b="1" dirty="0">
                <a:solidFill>
                  <a:srgbClr val="1B2436"/>
                </a:solidFill>
                <a:latin typeface="Calibri" pitchFamily="34" charset="0"/>
                <a:ea typeface="Calibri" pitchFamily="34" charset="-122"/>
                <a:cs typeface="Calibri" pitchFamily="34" charset="-120"/>
              </a:rPr>
              <a:t>Pipeline stages</a:t>
            </a:r>
            <a:endParaRPr lang="en-US" sz="1200" dirty="0"/>
          </a:p>
        </p:txBody>
      </p:sp>
      <p:sp>
        <p:nvSpPr>
          <p:cNvPr id="21" name="Text 19"/>
          <p:cNvSpPr txBox="1"/>
          <p:nvPr/>
        </p:nvSpPr>
        <p:spPr>
          <a:xfrm>
            <a:off x="3703320" y="3310128"/>
            <a:ext cx="4160520" cy="713232"/>
          </a:xfrm>
          <a:prstGeom prst="rect">
            <a:avLst/>
          </a:prstGeom>
          <a:noFill/>
          <a:ln/>
        </p:spPr>
        <p:txBody>
          <a:bodyPr wrap="square" lIns="0" tIns="0" rIns="0" bIns="0" rtlCol="0" anchor="ctr"/>
          <a:lstStyle/>
          <a:p>
            <a:pPr indent="0" marL="0">
              <a:buNone/>
            </a:pPr>
            <a:r>
              <a:rPr lang="en-US" sz="1100" strike="sngStrike" dirty="0">
                <a:solidFill>
                  <a:srgbClr val="63708C"/>
                </a:solidFill>
                <a:latin typeface="Calibri" pitchFamily="34" charset="0"/>
                <a:ea typeface="Calibri" pitchFamily="34" charset="-122"/>
                <a:cs typeface="Calibri" pitchFamily="34" charset="-120"/>
              </a:rPr>
              <a:t>5  (COLLECT → ADJUST → VALIDATE → CALCULATE → PROMOTE)</a:t>
            </a:r>
            <a:endParaRPr lang="en-US" sz="1100" dirty="0"/>
          </a:p>
        </p:txBody>
      </p:sp>
      <p:sp>
        <p:nvSpPr>
          <p:cNvPr id="22" name="Shape 20"/>
          <p:cNvSpPr/>
          <p:nvPr/>
        </p:nvSpPr>
        <p:spPr>
          <a:xfrm>
            <a:off x="7955280" y="3584448"/>
            <a:ext cx="365760" cy="164592"/>
          </a:xfrm>
          <a:prstGeom prst="rightArrow">
            <a:avLst/>
          </a:prstGeom>
          <a:solidFill>
            <a:srgbClr val="C1922C"/>
          </a:solidFill>
          <a:ln/>
        </p:spPr>
      </p:sp>
      <p:sp>
        <p:nvSpPr>
          <p:cNvPr id="23" name="Text 21"/>
          <p:cNvSpPr txBox="1"/>
          <p:nvPr/>
        </p:nvSpPr>
        <p:spPr>
          <a:xfrm>
            <a:off x="8458200" y="3310128"/>
            <a:ext cx="3063240" cy="713232"/>
          </a:xfrm>
          <a:prstGeom prst="rect">
            <a:avLst/>
          </a:prstGeom>
          <a:noFill/>
          <a:ln/>
        </p:spPr>
        <p:txBody>
          <a:bodyPr wrap="square" lIns="0" tIns="0" rIns="0" bIns="0" rtlCol="0" anchor="ctr"/>
          <a:lstStyle/>
          <a:p>
            <a:pPr indent="0" marL="0">
              <a:buNone/>
            </a:pPr>
            <a:r>
              <a:rPr lang="en-US" sz="1200" b="1" dirty="0">
                <a:solidFill>
                  <a:srgbClr val="12213E"/>
                </a:solidFill>
                <a:latin typeface="Calibri" pitchFamily="34" charset="0"/>
                <a:ea typeface="Calibri" pitchFamily="34" charset="-122"/>
                <a:cs typeface="Calibri" pitchFamily="34" charset="-120"/>
              </a:rPr>
              <a:t>4  (COLLECT → ADJUST → VALIDATE → PROMOTE)</a:t>
            </a:r>
            <a:endParaRPr lang="en-US" sz="1200" dirty="0"/>
          </a:p>
        </p:txBody>
      </p:sp>
      <p:sp>
        <p:nvSpPr>
          <p:cNvPr id="24" name="Shape 22"/>
          <p:cNvSpPr/>
          <p:nvPr/>
        </p:nvSpPr>
        <p:spPr>
          <a:xfrm>
            <a:off x="502920" y="4133088"/>
            <a:ext cx="11183112" cy="713232"/>
          </a:xfrm>
          <a:prstGeom prst="roundRect">
            <a:avLst>
              <a:gd name="adj" fmla="val 7692"/>
            </a:avLst>
          </a:prstGeom>
          <a:solidFill>
            <a:srgbClr val="EEF1F7"/>
          </a:solidFill>
          <a:ln w="12700">
            <a:solidFill>
              <a:srgbClr val="DCE3EF"/>
            </a:solidFill>
            <a:prstDash val="solid"/>
          </a:ln>
        </p:spPr>
      </p:sp>
      <p:sp>
        <p:nvSpPr>
          <p:cNvPr id="25" name="Text 23"/>
          <p:cNvSpPr txBox="1"/>
          <p:nvPr/>
        </p:nvSpPr>
        <p:spPr>
          <a:xfrm>
            <a:off x="731520" y="4133088"/>
            <a:ext cx="2834640" cy="713232"/>
          </a:xfrm>
          <a:prstGeom prst="rect">
            <a:avLst/>
          </a:prstGeom>
          <a:noFill/>
          <a:ln/>
        </p:spPr>
        <p:txBody>
          <a:bodyPr wrap="square" lIns="0" tIns="0" rIns="0" bIns="0" rtlCol="0" anchor="ctr"/>
          <a:lstStyle/>
          <a:p>
            <a:pPr indent="0" marL="0">
              <a:buNone/>
            </a:pPr>
            <a:r>
              <a:rPr lang="en-US" sz="1200" b="1" dirty="0">
                <a:solidFill>
                  <a:srgbClr val="1B2436"/>
                </a:solidFill>
                <a:latin typeface="Calibri" pitchFamily="34" charset="0"/>
                <a:ea typeface="Calibri" pitchFamily="34" charset="-122"/>
                <a:cs typeface="Calibri" pitchFamily="34" charset="-120"/>
              </a:rPr>
              <a:t>Who calculates the indicators</a:t>
            </a:r>
            <a:endParaRPr lang="en-US" sz="1200" dirty="0"/>
          </a:p>
        </p:txBody>
      </p:sp>
      <p:sp>
        <p:nvSpPr>
          <p:cNvPr id="26" name="Text 24"/>
          <p:cNvSpPr txBox="1"/>
          <p:nvPr/>
        </p:nvSpPr>
        <p:spPr>
          <a:xfrm>
            <a:off x="3703320" y="4133088"/>
            <a:ext cx="4160520" cy="713232"/>
          </a:xfrm>
          <a:prstGeom prst="rect">
            <a:avLst/>
          </a:prstGeom>
          <a:noFill/>
          <a:ln/>
        </p:spPr>
        <p:txBody>
          <a:bodyPr wrap="square" lIns="0" tIns="0" rIns="0" bIns="0" rtlCol="0" anchor="ctr"/>
          <a:lstStyle/>
          <a:p>
            <a:pPr indent="0" marL="0">
              <a:buNone/>
            </a:pPr>
            <a:r>
              <a:rPr lang="en-US" sz="1100" strike="sngStrike" dirty="0">
                <a:solidFill>
                  <a:srgbClr val="63708C"/>
                </a:solidFill>
                <a:latin typeface="Calibri" pitchFamily="34" charset="0"/>
                <a:ea typeface="Calibri" pitchFamily="34" charset="-122"/>
                <a:cs typeface="Calibri" pitchFamily="34" charset="-120"/>
              </a:rPr>
              <a:t>MT5  and  a Python calc stack</a:t>
            </a:r>
            <a:endParaRPr lang="en-US" sz="1100" dirty="0"/>
          </a:p>
        </p:txBody>
      </p:sp>
      <p:sp>
        <p:nvSpPr>
          <p:cNvPr id="27" name="Shape 25"/>
          <p:cNvSpPr/>
          <p:nvPr/>
        </p:nvSpPr>
        <p:spPr>
          <a:xfrm>
            <a:off x="7955280" y="4407408"/>
            <a:ext cx="365760" cy="164592"/>
          </a:xfrm>
          <a:prstGeom prst="rightArrow">
            <a:avLst/>
          </a:prstGeom>
          <a:solidFill>
            <a:srgbClr val="C1922C"/>
          </a:solidFill>
          <a:ln/>
        </p:spPr>
      </p:sp>
      <p:sp>
        <p:nvSpPr>
          <p:cNvPr id="28" name="Text 26"/>
          <p:cNvSpPr txBox="1"/>
          <p:nvPr/>
        </p:nvSpPr>
        <p:spPr>
          <a:xfrm>
            <a:off x="8458200" y="4133088"/>
            <a:ext cx="3063240" cy="713232"/>
          </a:xfrm>
          <a:prstGeom prst="rect">
            <a:avLst/>
          </a:prstGeom>
          <a:noFill/>
          <a:ln/>
        </p:spPr>
        <p:txBody>
          <a:bodyPr wrap="square" lIns="0" tIns="0" rIns="0" bIns="0" rtlCol="0" anchor="ctr"/>
          <a:lstStyle/>
          <a:p>
            <a:pPr indent="0" marL="0">
              <a:buNone/>
            </a:pPr>
            <a:r>
              <a:rPr lang="en-US" sz="1200" b="1" dirty="0">
                <a:solidFill>
                  <a:srgbClr val="12213E"/>
                </a:solidFill>
                <a:latin typeface="Calibri" pitchFamily="34" charset="0"/>
                <a:ea typeface="Calibri" pitchFamily="34" charset="-122"/>
                <a:cs typeface="Calibri" pitchFamily="34" charset="-120"/>
              </a:rPr>
              <a:t>MT5 only</a:t>
            </a:r>
            <a:endParaRPr lang="en-US" sz="1200" dirty="0"/>
          </a:p>
        </p:txBody>
      </p:sp>
      <p:sp>
        <p:nvSpPr>
          <p:cNvPr id="29" name="Shape 27"/>
          <p:cNvSpPr/>
          <p:nvPr/>
        </p:nvSpPr>
        <p:spPr>
          <a:xfrm>
            <a:off x="502920" y="4956048"/>
            <a:ext cx="11183112" cy="713232"/>
          </a:xfrm>
          <a:prstGeom prst="roundRect">
            <a:avLst>
              <a:gd name="adj" fmla="val 7692"/>
            </a:avLst>
          </a:prstGeom>
          <a:solidFill>
            <a:srgbClr val="EEF1F7"/>
          </a:solidFill>
          <a:ln w="12700">
            <a:solidFill>
              <a:srgbClr val="DCE3EF"/>
            </a:solidFill>
            <a:prstDash val="solid"/>
          </a:ln>
        </p:spPr>
      </p:sp>
      <p:sp>
        <p:nvSpPr>
          <p:cNvPr id="30" name="Text 28"/>
          <p:cNvSpPr txBox="1"/>
          <p:nvPr/>
        </p:nvSpPr>
        <p:spPr>
          <a:xfrm>
            <a:off x="731520" y="4956048"/>
            <a:ext cx="2834640" cy="713232"/>
          </a:xfrm>
          <a:prstGeom prst="rect">
            <a:avLst/>
          </a:prstGeom>
          <a:noFill/>
          <a:ln/>
        </p:spPr>
        <p:txBody>
          <a:bodyPr wrap="square" lIns="0" tIns="0" rIns="0" bIns="0" rtlCol="0" anchor="ctr"/>
          <a:lstStyle/>
          <a:p>
            <a:pPr indent="0" marL="0">
              <a:buNone/>
            </a:pPr>
            <a:r>
              <a:rPr lang="en-US" sz="1200" b="1" dirty="0">
                <a:solidFill>
                  <a:srgbClr val="1B2436"/>
                </a:solidFill>
                <a:latin typeface="Calibri" pitchFamily="34" charset="0"/>
                <a:ea typeface="Calibri" pitchFamily="34" charset="-122"/>
                <a:cs typeface="Calibri" pitchFamily="34" charset="-120"/>
              </a:rPr>
              <a:t>Indicator fit quality (R², MSE, containment…)</a:t>
            </a:r>
            <a:endParaRPr lang="en-US" sz="1200" dirty="0"/>
          </a:p>
        </p:txBody>
      </p:sp>
      <p:sp>
        <p:nvSpPr>
          <p:cNvPr id="31" name="Text 29"/>
          <p:cNvSpPr txBox="1"/>
          <p:nvPr/>
        </p:nvSpPr>
        <p:spPr>
          <a:xfrm>
            <a:off x="3703320" y="4956048"/>
            <a:ext cx="4160520" cy="713232"/>
          </a:xfrm>
          <a:prstGeom prst="rect">
            <a:avLst/>
          </a:prstGeom>
          <a:noFill/>
          <a:ln/>
        </p:spPr>
        <p:txBody>
          <a:bodyPr wrap="square" lIns="0" tIns="0" rIns="0" bIns="0" rtlCol="0" anchor="ctr"/>
          <a:lstStyle/>
          <a:p>
            <a:pPr indent="0" marL="0">
              <a:buNone/>
            </a:pPr>
            <a:r>
              <a:rPr lang="en-US" sz="1100" strike="sngStrike" dirty="0">
                <a:solidFill>
                  <a:srgbClr val="63708C"/>
                </a:solidFill>
                <a:latin typeface="Calibri" pitchFamily="34" charset="0"/>
                <a:ea typeface="Calibri" pitchFamily="34" charset="-122"/>
                <a:cs typeface="Calibri" pitchFamily="34" charset="-120"/>
              </a:rPr>
              <a:t>Written to disk every minute, read by nobody</a:t>
            </a:r>
            <a:endParaRPr lang="en-US" sz="1100" dirty="0"/>
          </a:p>
        </p:txBody>
      </p:sp>
      <p:sp>
        <p:nvSpPr>
          <p:cNvPr id="32" name="Shape 30"/>
          <p:cNvSpPr/>
          <p:nvPr/>
        </p:nvSpPr>
        <p:spPr>
          <a:xfrm>
            <a:off x="7955280" y="5230368"/>
            <a:ext cx="365760" cy="164592"/>
          </a:xfrm>
          <a:prstGeom prst="rightArrow">
            <a:avLst/>
          </a:prstGeom>
          <a:solidFill>
            <a:srgbClr val="C1922C"/>
          </a:solidFill>
          <a:ln/>
        </p:spPr>
      </p:sp>
      <p:sp>
        <p:nvSpPr>
          <p:cNvPr id="33" name="Text 31"/>
          <p:cNvSpPr txBox="1"/>
          <p:nvPr/>
        </p:nvSpPr>
        <p:spPr>
          <a:xfrm>
            <a:off x="8458200" y="4956048"/>
            <a:ext cx="3063240" cy="713232"/>
          </a:xfrm>
          <a:prstGeom prst="rect">
            <a:avLst/>
          </a:prstGeom>
          <a:noFill/>
          <a:ln/>
        </p:spPr>
        <p:txBody>
          <a:bodyPr wrap="square" lIns="0" tIns="0" rIns="0" bIns="0" rtlCol="0" anchor="ctr"/>
          <a:lstStyle/>
          <a:p>
            <a:pPr indent="0" marL="0">
              <a:buNone/>
            </a:pPr>
            <a:r>
              <a:rPr lang="en-US" sz="1200" b="1" dirty="0">
                <a:solidFill>
                  <a:srgbClr val="12213E"/>
                </a:solidFill>
                <a:latin typeface="Calibri" pitchFamily="34" charset="0"/>
                <a:ea typeface="Calibri" pitchFamily="34" charset="-122"/>
                <a:cs typeface="Calibri" pitchFamily="34" charset="-120"/>
              </a:rPr>
              <a:t>Captured into a new append-only table</a:t>
            </a:r>
            <a:endParaRPr lang="en-US" sz="1200" dirty="0"/>
          </a:p>
        </p:txBody>
      </p:sp>
      <p:sp>
        <p:nvSpPr>
          <p:cNvPr id="34" name="Text 32"/>
          <p:cNvSpPr txBox="1"/>
          <p:nvPr/>
        </p:nvSpPr>
        <p:spPr>
          <a:xfrm>
            <a:off x="502920" y="6126480"/>
            <a:ext cx="11183112" cy="292608"/>
          </a:xfrm>
          <a:prstGeom prst="rect">
            <a:avLst/>
          </a:prstGeom>
          <a:noFill/>
          <a:ln/>
        </p:spPr>
        <p:txBody>
          <a:bodyPr wrap="square" lIns="0" tIns="0" rIns="0" bIns="0" rtlCol="0" anchor="ctr"/>
          <a:lstStyle/>
          <a:p>
            <a:pPr indent="0" marL="0">
              <a:buNone/>
            </a:pPr>
            <a:r>
              <a:rPr lang="en-US" sz="1050" b="1" dirty="0">
                <a:solidFill>
                  <a:srgbClr val="44577E"/>
                </a:solidFill>
                <a:latin typeface="Calibri" pitchFamily="34" charset="0"/>
                <a:ea typeface="Calibri" pitchFamily="34" charset="-122"/>
                <a:cs typeface="Calibri" pitchFamily="34" charset="-120"/>
              </a:rPr>
              <a:t>Note:  </a:t>
            </a:r>
            <a:pPr indent="0" marL="0">
              <a:buNone/>
            </a:pPr>
            <a:r>
              <a:rPr lang="en-US" sz="1050" dirty="0">
                <a:solidFill>
                  <a:srgbClr val="63708C"/>
                </a:solidFill>
                <a:latin typeface="Calibri" pitchFamily="34" charset="0"/>
                <a:ea typeface="Calibri" pitchFamily="34" charset="-122"/>
                <a:cs typeface="Calibri" pitchFamily="34" charset="-120"/>
              </a:rPr>
              <a:t>12→13 and 79→87 came from splitting the </a:t>
            </a:r>
            <a:pPr indent="0" marL="0">
              <a:buNone/>
            </a:pPr>
            <a:r>
              <a:rPr lang="en-US" sz="1050" dirty="0">
                <a:solidFill>
                  <a:srgbClr val="1B2436"/>
                </a:solidFill>
                <a:latin typeface="Courier New" pitchFamily="34" charset="0"/>
                <a:ea typeface="Courier New" pitchFamily="34" charset="-122"/>
                <a:cs typeface="Courier New" pitchFamily="34" charset="-120"/>
              </a:rPr>
              <a:t>best_fit</a:t>
            </a:r>
            <a:pPr indent="0" marL="0">
              <a:buNone/>
            </a:pPr>
            <a:r>
              <a:rPr lang="en-US" sz="1050" dirty="0">
                <a:solidFill>
                  <a:srgbClr val="63708C"/>
                </a:solidFill>
                <a:latin typeface="Calibri" pitchFamily="34" charset="0"/>
                <a:ea typeface="Calibri" pitchFamily="34" charset="-122"/>
                <a:cs typeface="Calibri" pitchFamily="34" charset="-120"/>
              </a:rPr>
              <a:t> centroid variant into </a:t>
            </a:r>
            <a:pPr indent="0" marL="0">
              <a:buNone/>
            </a:pPr>
            <a:r>
              <a:rPr lang="en-US" sz="1050" dirty="0">
                <a:solidFill>
                  <a:srgbClr val="1B2436"/>
                </a:solidFill>
                <a:latin typeface="Courier New" pitchFamily="34" charset="0"/>
                <a:ea typeface="Courier New" pitchFamily="34" charset="-122"/>
                <a:cs typeface="Courier New" pitchFamily="34" charset="-120"/>
              </a:rPr>
              <a:t>best_fit_a</a:t>
            </a:r>
            <a:pPr indent="0" marL="0">
              <a:buNone/>
            </a:pPr>
            <a:r>
              <a:rPr lang="en-US" sz="1050" dirty="0">
                <a:solidFill>
                  <a:srgbClr val="63708C"/>
                </a:solidFill>
                <a:latin typeface="Calibri" pitchFamily="34" charset="0"/>
                <a:ea typeface="Calibri" pitchFamily="34" charset="-122"/>
                <a:cs typeface="Calibri" pitchFamily="34" charset="-120"/>
              </a:rPr>
              <a:t> / </a:t>
            </a:r>
            <a:pPr indent="0" marL="0">
              <a:buNone/>
            </a:pPr>
            <a:r>
              <a:rPr lang="en-US" sz="1050" dirty="0">
                <a:solidFill>
                  <a:srgbClr val="1B2436"/>
                </a:solidFill>
                <a:latin typeface="Courier New" pitchFamily="34" charset="0"/>
                <a:ea typeface="Courier New" pitchFamily="34" charset="-122"/>
                <a:cs typeface="Courier New" pitchFamily="34" charset="-120"/>
              </a:rPr>
              <a:t>best_fit_b</a:t>
            </a:r>
            <a:pPr indent="0" marL="0">
              <a:buNone/>
            </a:pPr>
            <a:r>
              <a:rPr lang="en-US" sz="1050" dirty="0">
                <a:solidFill>
                  <a:srgbClr val="63708C"/>
                </a:solidFill>
                <a:latin typeface="Calibri" pitchFamily="34" charset="0"/>
                <a:ea typeface="Calibri" pitchFamily="34" charset="-122"/>
                <a:cs typeface="Calibri" pitchFamily="34" charset="-120"/>
              </a:rPr>
              <a:t> on 2026-09-03. The rest is the 2026-09-09 work.</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12213E"/>
          </a:solidFill>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2000" b="1" dirty="0">
                <a:solidFill>
                  <a:srgbClr val="E7CE96"/>
                </a:solidFill>
                <a:latin typeface="Cambria" pitchFamily="34" charset="0"/>
                <a:ea typeface="Cambria" pitchFamily="34" charset="-122"/>
                <a:cs typeface="Cambria" pitchFamily="34" charset="-120"/>
              </a:rPr>
              <a:t>02</a:t>
            </a:r>
            <a:endParaRPr lang="en-US" sz="2000" dirty="0"/>
          </a:p>
        </p:txBody>
      </p:sp>
      <p:sp>
        <p:nvSpPr>
          <p:cNvPr id="4" name="Text 2"/>
          <p:cNvSpPr txBox="1"/>
          <p:nvPr/>
        </p:nvSpPr>
        <p:spPr>
          <a:xfrm>
            <a:off x="1216152" y="420624"/>
            <a:ext cx="8686800" cy="256032"/>
          </a:xfrm>
          <a:prstGeom prst="rect">
            <a:avLst/>
          </a:prstGeom>
          <a:noFill/>
          <a:ln/>
        </p:spPr>
        <p:txBody>
          <a:bodyPr wrap="square" lIns="0" tIns="0" rIns="0" bIns="0" rtlCol="0" anchor="ctr"/>
          <a:lstStyle/>
          <a:p>
            <a:pPr indent="0" marL="0">
              <a:buNone/>
            </a:pPr>
            <a:r>
              <a:rPr lang="en-US" sz="1100" b="1" spc="200" kern="0" dirty="0">
                <a:solidFill>
                  <a:srgbClr val="C1922C"/>
                </a:solidFill>
                <a:latin typeface="Calibri" pitchFamily="34" charset="0"/>
                <a:ea typeface="Calibri" pitchFamily="34" charset="-122"/>
                <a:cs typeface="Calibri" pitchFamily="34" charset="-120"/>
              </a:rPr>
              <a:t>INFRASTRUCTURE</a:t>
            </a:r>
            <a:endParaRPr lang="en-US" sz="1100" dirty="0"/>
          </a:p>
        </p:txBody>
      </p:sp>
      <p:sp>
        <p:nvSpPr>
          <p:cNvPr id="5" name="Text 3"/>
          <p:cNvSpPr txBox="1"/>
          <p:nvPr/>
        </p:nvSpPr>
        <p:spPr>
          <a:xfrm>
            <a:off x="1216152" y="658368"/>
            <a:ext cx="9601200" cy="502920"/>
          </a:xfrm>
          <a:prstGeom prst="rect">
            <a:avLst/>
          </a:prstGeom>
          <a:noFill/>
          <a:ln/>
        </p:spPr>
        <p:txBody>
          <a:bodyPr wrap="square" lIns="0" tIns="0" rIns="0" bIns="0" rtlCol="0" anchor="ctr"/>
          <a:lstStyle/>
          <a:p>
            <a:pPr indent="0" marL="0">
              <a:buNone/>
            </a:pPr>
            <a:r>
              <a:rPr lang="en-US" sz="2700" b="1" dirty="0">
                <a:solidFill>
                  <a:srgbClr val="12213E"/>
                </a:solidFill>
                <a:latin typeface="Cambria" pitchFamily="34" charset="0"/>
                <a:ea typeface="Cambria" pitchFamily="34" charset="-122"/>
                <a:cs typeface="Cambria" pitchFamily="34" charset="-120"/>
              </a:rPr>
              <a:t>Physical Topology — A Second Lane</a:t>
            </a:r>
            <a:endParaRPr lang="en-US" sz="2700" dirty="0"/>
          </a:p>
        </p:txBody>
      </p:sp>
      <p:sp>
        <p:nvSpPr>
          <p:cNvPr id="6" name="Text 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3708C"/>
                </a:solidFill>
                <a:latin typeface="Calibri" pitchFamily="34" charset="0"/>
                <a:ea typeface="Calibri" pitchFamily="34" charset="-122"/>
                <a:cs typeface="Calibri" pitchFamily="34" charset="-120"/>
              </a:rPr>
              <a:t>V2.29 Data Pipeline  ·  XAUUSD  M5 / M15</a:t>
            </a:r>
            <a:endParaRPr lang="en-US" sz="900" dirty="0"/>
          </a:p>
        </p:txBody>
      </p:sp>
      <p:sp>
        <p:nvSpPr>
          <p:cNvPr id="7" name="Text 5"/>
          <p:cNvSpPr txBox="1"/>
          <p:nvPr/>
        </p:nvSpPr>
        <p:spPr>
          <a:xfrm>
            <a:off x="10588752" y="6473952"/>
            <a:ext cx="1097280" cy="274320"/>
          </a:xfrm>
          <a:prstGeom prst="rect">
            <a:avLst/>
          </a:prstGeom>
          <a:noFill/>
          <a:ln/>
        </p:spPr>
        <p:txBody>
          <a:bodyPr wrap="square" lIns="0" tIns="0" rIns="0" bIns="0" rtlCol="0" anchor="ctr"/>
          <a:lstStyle/>
          <a:p>
            <a:pPr algn="r" indent="0" marL="0">
              <a:buNone/>
            </a:pPr>
            <a:r>
              <a:rPr lang="en-US" sz="900" dirty="0">
                <a:solidFill>
                  <a:srgbClr val="63708C"/>
                </a:solidFill>
                <a:latin typeface="Calibri" pitchFamily="34" charset="0"/>
                <a:ea typeface="Calibri" pitchFamily="34" charset="-122"/>
                <a:cs typeface="Calibri" pitchFamily="34" charset="-120"/>
              </a:rPr>
              <a:t>02</a:t>
            </a:r>
            <a:endParaRPr lang="en-US" sz="900" dirty="0"/>
          </a:p>
        </p:txBody>
      </p:sp>
      <p:sp>
        <p:nvSpPr>
          <p:cNvPr id="8" name="Text 6"/>
          <p:cNvSpPr txBox="1"/>
          <p:nvPr/>
        </p:nvSpPr>
        <p:spPr>
          <a:xfrm>
            <a:off x="502920" y="1280160"/>
            <a:ext cx="10881360" cy="292608"/>
          </a:xfrm>
          <a:prstGeom prst="rect">
            <a:avLst/>
          </a:prstGeom>
          <a:noFill/>
          <a:ln/>
        </p:spPr>
        <p:txBody>
          <a:bodyPr wrap="square" lIns="0" tIns="0" rIns="0" bIns="0" rtlCol="0" anchor="ctr"/>
          <a:lstStyle/>
          <a:p>
            <a:pPr indent="0" marL="0">
              <a:buNone/>
            </a:pPr>
            <a:r>
              <a:rPr lang="en-US" sz="1200" dirty="0">
                <a:solidFill>
                  <a:srgbClr val="63708C"/>
                </a:solidFill>
                <a:latin typeface="Calibri" pitchFamily="34" charset="0"/>
                <a:ea typeface="Calibri" pitchFamily="34" charset="-122"/>
                <a:cs typeface="Calibri" pitchFamily="34" charset="-120"/>
              </a:rPr>
              <a:t>Same machines, same services as before. The only addition is a second, parallel lane for statistics — drawn below the price lane.</a:t>
            </a:r>
            <a:endParaRPr lang="en-US" sz="1200" dirty="0"/>
          </a:p>
        </p:txBody>
      </p:sp>
      <p:sp>
        <p:nvSpPr>
          <p:cNvPr id="9" name="Shape 7"/>
          <p:cNvSpPr/>
          <p:nvPr/>
        </p:nvSpPr>
        <p:spPr>
          <a:xfrm>
            <a:off x="502920" y="1645920"/>
            <a:ext cx="6309360" cy="2606040"/>
          </a:xfrm>
          <a:prstGeom prst="roundRect">
            <a:avLst>
              <a:gd name="adj" fmla="val 2105"/>
            </a:avLst>
          </a:prstGeom>
          <a:solidFill>
            <a:srgbClr val="FFFFFF"/>
          </a:solidFill>
          <a:ln w="12700">
            <a:solidFill>
              <a:srgbClr val="12213E"/>
            </a:solidFill>
            <a:prstDash val="solid"/>
          </a:ln>
        </p:spPr>
      </p:sp>
      <p:sp>
        <p:nvSpPr>
          <p:cNvPr id="10" name="Text 8"/>
          <p:cNvSpPr txBox="1"/>
          <p:nvPr/>
        </p:nvSpPr>
        <p:spPr>
          <a:xfrm>
            <a:off x="731520" y="1737360"/>
            <a:ext cx="4572000" cy="256032"/>
          </a:xfrm>
          <a:prstGeom prst="rect">
            <a:avLst/>
          </a:prstGeom>
          <a:noFill/>
          <a:ln/>
        </p:spPr>
        <p:txBody>
          <a:bodyPr wrap="square" lIns="0" tIns="0" rIns="0" bIns="0" rtlCol="0" anchor="ctr"/>
          <a:lstStyle/>
          <a:p>
            <a:pPr indent="0" marL="0">
              <a:buNone/>
            </a:pPr>
            <a:r>
              <a:rPr lang="en-US" sz="1050" b="1" spc="100" kern="0" dirty="0">
                <a:solidFill>
                  <a:srgbClr val="12213E"/>
                </a:solidFill>
                <a:latin typeface="Calibri" pitchFamily="34" charset="0"/>
                <a:ea typeface="Calibri" pitchFamily="34" charset="-122"/>
                <a:cs typeface="Calibri" pitchFamily="34" charset="-120"/>
              </a:rPr>
              <a:t>CONTABO WINDOWS VPS</a:t>
            </a:r>
            <a:endParaRPr lang="en-US" sz="1050" dirty="0"/>
          </a:p>
        </p:txBody>
      </p:sp>
      <p:sp>
        <p:nvSpPr>
          <p:cNvPr id="11" name="Shape 9"/>
          <p:cNvSpPr/>
          <p:nvPr/>
        </p:nvSpPr>
        <p:spPr>
          <a:xfrm>
            <a:off x="7223760" y="1645920"/>
            <a:ext cx="3566160" cy="2606040"/>
          </a:xfrm>
          <a:prstGeom prst="roundRect">
            <a:avLst>
              <a:gd name="adj" fmla="val 2105"/>
            </a:avLst>
          </a:prstGeom>
          <a:solidFill>
            <a:srgbClr val="FFFFFF"/>
          </a:solidFill>
          <a:ln w="12700">
            <a:solidFill>
              <a:srgbClr val="12213E"/>
            </a:solidFill>
            <a:prstDash val="solid"/>
          </a:ln>
        </p:spPr>
      </p:sp>
      <p:sp>
        <p:nvSpPr>
          <p:cNvPr id="12" name="Text 10"/>
          <p:cNvSpPr txBox="1"/>
          <p:nvPr/>
        </p:nvSpPr>
        <p:spPr>
          <a:xfrm>
            <a:off x="7452360" y="1737360"/>
            <a:ext cx="2743200" cy="256032"/>
          </a:xfrm>
          <a:prstGeom prst="rect">
            <a:avLst/>
          </a:prstGeom>
          <a:noFill/>
          <a:ln/>
        </p:spPr>
        <p:txBody>
          <a:bodyPr wrap="square" lIns="0" tIns="0" rIns="0" bIns="0" rtlCol="0" anchor="ctr"/>
          <a:lstStyle/>
          <a:p>
            <a:pPr indent="0" marL="0">
              <a:buNone/>
            </a:pPr>
            <a:r>
              <a:rPr lang="en-US" sz="1050" b="1" spc="100" kern="0" dirty="0">
                <a:solidFill>
                  <a:srgbClr val="12213E"/>
                </a:solidFill>
                <a:latin typeface="Calibri" pitchFamily="34" charset="0"/>
                <a:ea typeface="Calibri" pitchFamily="34" charset="-122"/>
                <a:cs typeface="Calibri" pitchFamily="34" charset="-120"/>
              </a:rPr>
              <a:t>RAILWAY</a:t>
            </a:r>
            <a:endParaRPr lang="en-US" sz="1050" dirty="0"/>
          </a:p>
        </p:txBody>
      </p:sp>
      <p:sp>
        <p:nvSpPr>
          <p:cNvPr id="13" name="Shape 11"/>
          <p:cNvSpPr/>
          <p:nvPr/>
        </p:nvSpPr>
        <p:spPr>
          <a:xfrm>
            <a:off x="822960" y="2057400"/>
            <a:ext cx="5669280" cy="365760"/>
          </a:xfrm>
          <a:prstGeom prst="roundRect">
            <a:avLst>
              <a:gd name="adj" fmla="val 15000"/>
            </a:avLst>
          </a:prstGeom>
          <a:solidFill>
            <a:srgbClr val="EEF1F7"/>
          </a:solidFill>
          <a:ln w="12700">
            <a:solidFill>
              <a:srgbClr val="DCE3EF"/>
            </a:solidFill>
            <a:prstDash val="solid"/>
          </a:ln>
        </p:spPr>
      </p:sp>
      <p:sp>
        <p:nvSpPr>
          <p:cNvPr id="14" name="Text 12"/>
          <p:cNvSpPr txBox="1"/>
          <p:nvPr/>
        </p:nvSpPr>
        <p:spPr>
          <a:xfrm>
            <a:off x="868680" y="2057400"/>
            <a:ext cx="5577840" cy="365760"/>
          </a:xfrm>
          <a:prstGeom prst="rect">
            <a:avLst/>
          </a:prstGeom>
          <a:noFill/>
          <a:ln/>
        </p:spPr>
        <p:txBody>
          <a:bodyPr wrap="square" lIns="25400" tIns="25400" rIns="25400" bIns="25400" rtlCol="0" anchor="ctr"/>
          <a:lstStyle/>
          <a:p>
            <a:pPr algn="ctr" indent="0" marL="0">
              <a:buNone/>
            </a:pPr>
            <a:r>
              <a:rPr lang="en-US" sz="1100" b="1" dirty="0">
                <a:solidFill>
                  <a:srgbClr val="1B2436"/>
                </a:solidFill>
                <a:latin typeface="Calibri" pitchFamily="34" charset="0"/>
                <a:ea typeface="Calibri" pitchFamily="34" charset="-122"/>
                <a:cs typeface="Calibri" pitchFamily="34" charset="-120"/>
              </a:rPr>
              <a:t>MT5 Terminals</a:t>
            </a:r>
            <a:endParaRPr lang="en-US" sz="1100" dirty="0"/>
          </a:p>
        </p:txBody>
      </p:sp>
      <p:sp>
        <p:nvSpPr>
          <p:cNvPr id="15" name="Shape 13"/>
          <p:cNvSpPr/>
          <p:nvPr/>
        </p:nvSpPr>
        <p:spPr>
          <a:xfrm>
            <a:off x="3575304" y="2423160"/>
            <a:ext cx="164592" cy="146304"/>
          </a:xfrm>
          <a:prstGeom prst="downArrow">
            <a:avLst/>
          </a:prstGeom>
          <a:solidFill>
            <a:srgbClr val="44577E"/>
          </a:solidFill>
          <a:ln/>
        </p:spPr>
      </p:sp>
      <p:sp>
        <p:nvSpPr>
          <p:cNvPr id="16" name="Shape 14"/>
          <p:cNvSpPr/>
          <p:nvPr/>
        </p:nvSpPr>
        <p:spPr>
          <a:xfrm>
            <a:off x="822960" y="2569464"/>
            <a:ext cx="2743200" cy="384048"/>
          </a:xfrm>
          <a:prstGeom prst="roundRect">
            <a:avLst>
              <a:gd name="adj" fmla="val 14286"/>
            </a:avLst>
          </a:prstGeom>
          <a:solidFill>
            <a:srgbClr val="EEF1F7"/>
          </a:solidFill>
          <a:ln w="12700">
            <a:solidFill>
              <a:srgbClr val="DCE3EF"/>
            </a:solidFill>
            <a:prstDash val="solid"/>
          </a:ln>
        </p:spPr>
      </p:sp>
      <p:sp>
        <p:nvSpPr>
          <p:cNvPr id="17" name="Text 15"/>
          <p:cNvSpPr txBox="1"/>
          <p:nvPr/>
        </p:nvSpPr>
        <p:spPr>
          <a:xfrm>
            <a:off x="868680" y="2569464"/>
            <a:ext cx="2651760" cy="384048"/>
          </a:xfrm>
          <a:prstGeom prst="rect">
            <a:avLst/>
          </a:prstGeom>
          <a:noFill/>
          <a:ln/>
        </p:spPr>
        <p:txBody>
          <a:bodyPr wrap="square" lIns="25400" tIns="25400" rIns="25400" bIns="25400" rtlCol="0" anchor="ctr"/>
          <a:lstStyle/>
          <a:p>
            <a:pPr algn="ctr" indent="0" marL="0">
              <a:buNone/>
            </a:pPr>
            <a:r>
              <a:rPr lang="en-US" sz="860" b="1" dirty="0">
                <a:solidFill>
                  <a:srgbClr val="1B2436"/>
                </a:solidFill>
                <a:latin typeface="Calibri" pitchFamily="34" charset="0"/>
                <a:ea typeface="Calibri" pitchFamily="34" charset="-122"/>
                <a:cs typeface="Calibri" pitchFamily="34" charset="-120"/>
              </a:rPr>
              <a:t>Indicator Text Exports</a:t>
            </a:r>
            <a:endParaRPr lang="en-US" sz="860" dirty="0"/>
          </a:p>
          <a:p>
            <a:pPr algn="ctr" indent="0" marL="0">
              <a:buNone/>
            </a:pPr>
            <a:r>
              <a:rPr lang="en-US" sz="860" b="1" dirty="0">
                <a:solidFill>
                  <a:srgbClr val="1B2436"/>
                </a:solidFill>
                <a:latin typeface="Calibri" pitchFamily="34" charset="0"/>
                <a:ea typeface="Calibri" pitchFamily="34" charset="-122"/>
                <a:cs typeface="Calibri" pitchFamily="34" charset="-120"/>
              </a:rPr>
              <a:t>(13 .txt)</a:t>
            </a:r>
            <a:endParaRPr lang="en-US" sz="860" dirty="0"/>
          </a:p>
        </p:txBody>
      </p:sp>
      <p:sp>
        <p:nvSpPr>
          <p:cNvPr id="18" name="Shape 16"/>
          <p:cNvSpPr/>
          <p:nvPr/>
        </p:nvSpPr>
        <p:spPr>
          <a:xfrm>
            <a:off x="3749040" y="2569464"/>
            <a:ext cx="2743200" cy="384048"/>
          </a:xfrm>
          <a:prstGeom prst="roundRect">
            <a:avLst>
              <a:gd name="adj" fmla="val 14286"/>
            </a:avLst>
          </a:prstGeom>
          <a:solidFill>
            <a:srgbClr val="EEF1F7"/>
          </a:solidFill>
          <a:ln w="12700">
            <a:solidFill>
              <a:srgbClr val="DCE3EF"/>
            </a:solidFill>
            <a:prstDash val="solid"/>
          </a:ln>
        </p:spPr>
      </p:sp>
      <p:sp>
        <p:nvSpPr>
          <p:cNvPr id="19" name="Text 17"/>
          <p:cNvSpPr txBox="1"/>
          <p:nvPr/>
        </p:nvSpPr>
        <p:spPr>
          <a:xfrm>
            <a:off x="3794760" y="2569464"/>
            <a:ext cx="2651760" cy="384048"/>
          </a:xfrm>
          <a:prstGeom prst="rect">
            <a:avLst/>
          </a:prstGeom>
          <a:noFill/>
          <a:ln/>
        </p:spPr>
        <p:txBody>
          <a:bodyPr wrap="square" lIns="25400" tIns="25400" rIns="25400" bIns="25400" rtlCol="0" anchor="ctr"/>
          <a:lstStyle/>
          <a:p>
            <a:pPr algn="ctr" indent="0" marL="0">
              <a:buNone/>
            </a:pPr>
            <a:r>
              <a:rPr lang="en-US" sz="860" b="1" dirty="0">
                <a:solidFill>
                  <a:srgbClr val="1B2436"/>
                </a:solidFill>
                <a:latin typeface="Calibri" pitchFamily="34" charset="0"/>
                <a:ea typeface="Calibri" pitchFamily="34" charset="-122"/>
                <a:cs typeface="Calibri" pitchFamily="34" charset="-120"/>
              </a:rPr>
              <a:t>Statistic Exports</a:t>
            </a:r>
            <a:endParaRPr lang="en-US" sz="860" dirty="0"/>
          </a:p>
          <a:p>
            <a:pPr algn="ctr" indent="0" marL="0">
              <a:buNone/>
            </a:pPr>
            <a:r>
              <a:rPr lang="en-US" sz="860" b="1" dirty="0">
                <a:solidFill>
                  <a:srgbClr val="1B2436"/>
                </a:solidFill>
                <a:latin typeface="Calibri" pitchFamily="34" charset="0"/>
                <a:ea typeface="Calibri" pitchFamily="34" charset="-122"/>
                <a:cs typeface="Calibri" pitchFamily="34" charset="-120"/>
              </a:rPr>
              <a:t>(10 _Statistic.txt)</a:t>
            </a:r>
            <a:endParaRPr lang="en-US" sz="860" dirty="0"/>
          </a:p>
        </p:txBody>
      </p:sp>
      <p:sp>
        <p:nvSpPr>
          <p:cNvPr id="20" name="Shape 18"/>
          <p:cNvSpPr/>
          <p:nvPr/>
        </p:nvSpPr>
        <p:spPr>
          <a:xfrm>
            <a:off x="2112264" y="2953512"/>
            <a:ext cx="164592" cy="128016"/>
          </a:xfrm>
          <a:prstGeom prst="downArrow">
            <a:avLst/>
          </a:prstGeom>
          <a:solidFill>
            <a:srgbClr val="44577E"/>
          </a:solidFill>
          <a:ln/>
        </p:spPr>
      </p:sp>
      <p:sp>
        <p:nvSpPr>
          <p:cNvPr id="21" name="Shape 19"/>
          <p:cNvSpPr/>
          <p:nvPr/>
        </p:nvSpPr>
        <p:spPr>
          <a:xfrm>
            <a:off x="5038344" y="2953512"/>
            <a:ext cx="164592" cy="128016"/>
          </a:xfrm>
          <a:prstGeom prst="downArrow">
            <a:avLst/>
          </a:prstGeom>
          <a:solidFill>
            <a:srgbClr val="44577E"/>
          </a:solidFill>
          <a:ln/>
        </p:spPr>
      </p:sp>
      <p:sp>
        <p:nvSpPr>
          <p:cNvPr id="22" name="Shape 20"/>
          <p:cNvSpPr/>
          <p:nvPr/>
        </p:nvSpPr>
        <p:spPr>
          <a:xfrm>
            <a:off x="822960" y="3081528"/>
            <a:ext cx="2743200" cy="566928"/>
          </a:xfrm>
          <a:prstGeom prst="roundRect">
            <a:avLst>
              <a:gd name="adj" fmla="val 9677"/>
            </a:avLst>
          </a:prstGeom>
          <a:solidFill>
            <a:srgbClr val="E7CE96"/>
          </a:solidFill>
          <a:ln w="12700">
            <a:solidFill>
              <a:srgbClr val="C1922C"/>
            </a:solidFill>
            <a:prstDash val="solid"/>
          </a:ln>
        </p:spPr>
      </p:sp>
      <p:sp>
        <p:nvSpPr>
          <p:cNvPr id="23" name="Text 21"/>
          <p:cNvSpPr txBox="1"/>
          <p:nvPr/>
        </p:nvSpPr>
        <p:spPr>
          <a:xfrm>
            <a:off x="868680" y="3081528"/>
            <a:ext cx="2651760" cy="566928"/>
          </a:xfrm>
          <a:prstGeom prst="rect">
            <a:avLst/>
          </a:prstGeom>
          <a:noFill/>
          <a:ln/>
        </p:spPr>
        <p:txBody>
          <a:bodyPr wrap="square" lIns="25400" tIns="25400" rIns="25400" bIns="25400" rtlCol="0" anchor="ctr"/>
          <a:lstStyle/>
          <a:p>
            <a:pPr algn="ctr" indent="0" marL="0">
              <a:buNone/>
            </a:pPr>
            <a:r>
              <a:rPr lang="en-US" sz="860" b="1" dirty="0">
                <a:solidFill>
                  <a:srgbClr val="12213E"/>
                </a:solidFill>
                <a:latin typeface="Calibri" pitchFamily="34" charset="0"/>
                <a:ea typeface="Calibri" pitchFamily="34" charset="-122"/>
                <a:cs typeface="Calibri" pitchFamily="34" charset="-120"/>
              </a:rPr>
              <a:t>★ Collector</a:t>
            </a:r>
            <a:endParaRPr lang="en-US" sz="860" dirty="0"/>
          </a:p>
          <a:p>
            <a:pPr algn="ctr" indent="0" marL="0">
              <a:buNone/>
            </a:pPr>
            <a:r>
              <a:rPr lang="en-US" sz="860" b="1" dirty="0">
                <a:solidFill>
                  <a:srgbClr val="12213E"/>
                </a:solidFill>
                <a:latin typeface="Calibri" pitchFamily="34" charset="0"/>
                <a:ea typeface="Calibri" pitchFamily="34" charset="-122"/>
                <a:cs typeface="Calibri" pitchFamily="34" charset="-120"/>
              </a:rPr>
              <a:t>→ SQLite → Push Worker</a:t>
            </a:r>
            <a:endParaRPr lang="en-US" sz="860" dirty="0"/>
          </a:p>
        </p:txBody>
      </p:sp>
      <p:sp>
        <p:nvSpPr>
          <p:cNvPr id="24" name="Shape 22"/>
          <p:cNvSpPr/>
          <p:nvPr/>
        </p:nvSpPr>
        <p:spPr>
          <a:xfrm>
            <a:off x="3749040" y="3081528"/>
            <a:ext cx="2743200" cy="566928"/>
          </a:xfrm>
          <a:prstGeom prst="roundRect">
            <a:avLst>
              <a:gd name="adj" fmla="val 9677"/>
            </a:avLst>
          </a:prstGeom>
          <a:solidFill>
            <a:srgbClr val="EEF1F7"/>
          </a:solidFill>
          <a:ln w="12700">
            <a:solidFill>
              <a:srgbClr val="44577E"/>
            </a:solidFill>
            <a:prstDash val="solid"/>
          </a:ln>
        </p:spPr>
      </p:sp>
      <p:sp>
        <p:nvSpPr>
          <p:cNvPr id="25" name="Text 23"/>
          <p:cNvSpPr txBox="1"/>
          <p:nvPr/>
        </p:nvSpPr>
        <p:spPr>
          <a:xfrm>
            <a:off x="3794760" y="3081528"/>
            <a:ext cx="2651760" cy="566928"/>
          </a:xfrm>
          <a:prstGeom prst="rect">
            <a:avLst/>
          </a:prstGeom>
          <a:noFill/>
          <a:ln/>
        </p:spPr>
        <p:txBody>
          <a:bodyPr wrap="square" lIns="25400" tIns="25400" rIns="25400" bIns="25400" rtlCol="0" anchor="ctr"/>
          <a:lstStyle/>
          <a:p>
            <a:pPr algn="ctr" indent="0" marL="0">
              <a:buNone/>
            </a:pPr>
            <a:r>
              <a:rPr lang="en-US" sz="860" b="1" dirty="0">
                <a:solidFill>
                  <a:srgbClr val="1B2436"/>
                </a:solidFill>
                <a:latin typeface="Calibri" pitchFamily="34" charset="0"/>
                <a:ea typeface="Calibri" pitchFamily="34" charset="-122"/>
                <a:cs typeface="Calibri" pitchFamily="34" charset="-120"/>
              </a:rPr>
              <a:t>Statistics Outbox</a:t>
            </a:r>
            <a:endParaRPr lang="en-US" sz="860" dirty="0"/>
          </a:p>
          <a:p>
            <a:pPr algn="ctr" indent="0" marL="0">
              <a:buNone/>
            </a:pPr>
            <a:r>
              <a:rPr lang="en-US" sz="860" b="1" dirty="0">
                <a:solidFill>
                  <a:srgbClr val="1B2436"/>
                </a:solidFill>
                <a:latin typeface="Calibri" pitchFamily="34" charset="0"/>
                <a:ea typeface="Calibri" pitchFamily="34" charset="-122"/>
                <a:cs typeface="Calibri" pitchFamily="34" charset="-120"/>
              </a:rPr>
              <a:t>→ own queue + processor</a:t>
            </a:r>
            <a:endParaRPr lang="en-US" sz="860" dirty="0"/>
          </a:p>
        </p:txBody>
      </p:sp>
      <p:sp>
        <p:nvSpPr>
          <p:cNvPr id="26" name="Shape 24"/>
          <p:cNvSpPr/>
          <p:nvPr/>
        </p:nvSpPr>
        <p:spPr>
          <a:xfrm>
            <a:off x="7543800" y="2057400"/>
            <a:ext cx="2880360" cy="365760"/>
          </a:xfrm>
          <a:prstGeom prst="roundRect">
            <a:avLst>
              <a:gd name="adj" fmla="val 15000"/>
            </a:avLst>
          </a:prstGeom>
          <a:solidFill>
            <a:srgbClr val="EEF1F7"/>
          </a:solidFill>
          <a:ln w="12700">
            <a:solidFill>
              <a:srgbClr val="DCE3EF"/>
            </a:solidFill>
            <a:prstDash val="solid"/>
          </a:ln>
        </p:spPr>
      </p:sp>
      <p:sp>
        <p:nvSpPr>
          <p:cNvPr id="27" name="Text 25"/>
          <p:cNvSpPr txBox="1"/>
          <p:nvPr/>
        </p:nvSpPr>
        <p:spPr>
          <a:xfrm>
            <a:off x="7589520" y="2057400"/>
            <a:ext cx="2788920" cy="365760"/>
          </a:xfrm>
          <a:prstGeom prst="rect">
            <a:avLst/>
          </a:prstGeom>
          <a:noFill/>
          <a:ln/>
        </p:spPr>
        <p:txBody>
          <a:bodyPr wrap="square" lIns="25400" tIns="25400" rIns="25400" bIns="25400" rtlCol="0" anchor="ctr"/>
          <a:lstStyle/>
          <a:p>
            <a:pPr algn="ctr" indent="0" marL="0">
              <a:buNone/>
            </a:pPr>
            <a:r>
              <a:rPr lang="en-US" sz="1000" b="1" dirty="0">
                <a:solidFill>
                  <a:srgbClr val="1B2436"/>
                </a:solidFill>
                <a:latin typeface="Calibri" pitchFamily="34" charset="0"/>
                <a:ea typeface="Calibri" pitchFamily="34" charset="-122"/>
                <a:cs typeface="Calibri" pitchFamily="34" charset="-120"/>
              </a:rPr>
              <a:t>NestJS API Gateway</a:t>
            </a:r>
            <a:endParaRPr lang="en-US" sz="1000" dirty="0"/>
          </a:p>
        </p:txBody>
      </p:sp>
      <p:sp>
        <p:nvSpPr>
          <p:cNvPr id="28" name="Shape 26"/>
          <p:cNvSpPr/>
          <p:nvPr/>
        </p:nvSpPr>
        <p:spPr>
          <a:xfrm>
            <a:off x="8901684" y="2423160"/>
            <a:ext cx="164592" cy="146304"/>
          </a:xfrm>
          <a:prstGeom prst="downArrow">
            <a:avLst/>
          </a:prstGeom>
          <a:solidFill>
            <a:srgbClr val="44577E"/>
          </a:solidFill>
          <a:ln/>
        </p:spPr>
      </p:sp>
      <p:sp>
        <p:nvSpPr>
          <p:cNvPr id="29" name="Shape 27"/>
          <p:cNvSpPr/>
          <p:nvPr/>
        </p:nvSpPr>
        <p:spPr>
          <a:xfrm>
            <a:off x="7543800" y="2569464"/>
            <a:ext cx="2880360" cy="384048"/>
          </a:xfrm>
          <a:prstGeom prst="roundRect">
            <a:avLst>
              <a:gd name="adj" fmla="val 14286"/>
            </a:avLst>
          </a:prstGeom>
          <a:solidFill>
            <a:srgbClr val="EEF1F7"/>
          </a:solidFill>
          <a:ln w="12700">
            <a:solidFill>
              <a:srgbClr val="DCE3EF"/>
            </a:solidFill>
            <a:prstDash val="solid"/>
          </a:ln>
        </p:spPr>
      </p:sp>
      <p:sp>
        <p:nvSpPr>
          <p:cNvPr id="30" name="Text 28"/>
          <p:cNvSpPr txBox="1"/>
          <p:nvPr/>
        </p:nvSpPr>
        <p:spPr>
          <a:xfrm>
            <a:off x="7589520" y="2569464"/>
            <a:ext cx="2788920" cy="384048"/>
          </a:xfrm>
          <a:prstGeom prst="rect">
            <a:avLst/>
          </a:prstGeom>
          <a:noFill/>
          <a:ln/>
        </p:spPr>
        <p:txBody>
          <a:bodyPr wrap="square" lIns="25400" tIns="25400" rIns="25400" bIns="25400" rtlCol="0" anchor="ctr"/>
          <a:lstStyle/>
          <a:p>
            <a:pPr algn="ctr" indent="0" marL="0">
              <a:buNone/>
            </a:pPr>
            <a:r>
              <a:rPr lang="en-US" sz="1000" b="1" dirty="0">
                <a:solidFill>
                  <a:srgbClr val="1B2436"/>
                </a:solidFill>
                <a:latin typeface="Calibri" pitchFamily="34" charset="0"/>
                <a:ea typeface="Calibri" pitchFamily="34" charset="-122"/>
                <a:cs typeface="Calibri" pitchFamily="34" charset="-120"/>
              </a:rPr>
              <a:t>Pgbouncer</a:t>
            </a:r>
            <a:endParaRPr lang="en-US" sz="1000" dirty="0"/>
          </a:p>
        </p:txBody>
      </p:sp>
      <p:sp>
        <p:nvSpPr>
          <p:cNvPr id="31" name="Shape 29"/>
          <p:cNvSpPr/>
          <p:nvPr/>
        </p:nvSpPr>
        <p:spPr>
          <a:xfrm>
            <a:off x="7543800" y="3081528"/>
            <a:ext cx="1371600" cy="566928"/>
          </a:xfrm>
          <a:prstGeom prst="roundRect">
            <a:avLst>
              <a:gd name="adj" fmla="val 9677"/>
            </a:avLst>
          </a:prstGeom>
          <a:solidFill>
            <a:srgbClr val="223A66"/>
          </a:solidFill>
          <a:ln w="12700">
            <a:solidFill>
              <a:srgbClr val="DCE3EF"/>
            </a:solidFill>
            <a:prstDash val="solid"/>
          </a:ln>
        </p:spPr>
      </p:sp>
      <p:sp>
        <p:nvSpPr>
          <p:cNvPr id="32" name="Text 30"/>
          <p:cNvSpPr txBox="1"/>
          <p:nvPr/>
        </p:nvSpPr>
        <p:spPr>
          <a:xfrm>
            <a:off x="7589520" y="3081528"/>
            <a:ext cx="1280160" cy="566928"/>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PostgreSQL</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market_data_v6</a:t>
            </a:r>
            <a:endParaRPr lang="en-US" sz="800" dirty="0"/>
          </a:p>
        </p:txBody>
      </p:sp>
      <p:sp>
        <p:nvSpPr>
          <p:cNvPr id="33" name="Shape 31"/>
          <p:cNvSpPr/>
          <p:nvPr/>
        </p:nvSpPr>
        <p:spPr>
          <a:xfrm>
            <a:off x="9052560" y="3081528"/>
            <a:ext cx="1371600" cy="566928"/>
          </a:xfrm>
          <a:prstGeom prst="roundRect">
            <a:avLst>
              <a:gd name="adj" fmla="val 9677"/>
            </a:avLst>
          </a:prstGeom>
          <a:solidFill>
            <a:srgbClr val="223A66"/>
          </a:solidFill>
          <a:ln w="12700">
            <a:solidFill>
              <a:srgbClr val="C1922C"/>
            </a:solidFill>
            <a:prstDash val="solid"/>
          </a:ln>
        </p:spPr>
      </p:sp>
      <p:sp>
        <p:nvSpPr>
          <p:cNvPr id="34" name="Text 32"/>
          <p:cNvSpPr txBox="1"/>
          <p:nvPr/>
        </p:nvSpPr>
        <p:spPr>
          <a:xfrm>
            <a:off x="9098280" y="3081528"/>
            <a:ext cx="1280160" cy="566928"/>
          </a:xfrm>
          <a:prstGeom prst="rect">
            <a:avLst/>
          </a:prstGeom>
          <a:noFill/>
          <a:ln/>
        </p:spPr>
        <p:txBody>
          <a:bodyPr wrap="square" lIns="25400" tIns="25400" rIns="25400" bIns="25400" rtlCol="0" anchor="ctr"/>
          <a:lstStyle/>
          <a:p>
            <a:pPr algn="ctr" indent="0" marL="0">
              <a:buNone/>
            </a:pPr>
            <a:r>
              <a:rPr lang="en-US" sz="760" b="1" dirty="0">
                <a:solidFill>
                  <a:srgbClr val="E7CE96"/>
                </a:solidFill>
                <a:latin typeface="Calibri" pitchFamily="34" charset="0"/>
                <a:ea typeface="Calibri" pitchFamily="34" charset="-122"/>
                <a:cs typeface="Calibri" pitchFamily="34" charset="-120"/>
              </a:rPr>
              <a:t>PostgreSQL</a:t>
            </a:r>
            <a:endParaRPr lang="en-US" sz="760" dirty="0"/>
          </a:p>
          <a:p>
            <a:pPr algn="ctr" indent="0" marL="0">
              <a:buNone/>
            </a:pPr>
            <a:r>
              <a:rPr lang="en-US" sz="760" b="1" dirty="0">
                <a:solidFill>
                  <a:srgbClr val="E7CE96"/>
                </a:solidFill>
                <a:latin typeface="Calibri" pitchFamily="34" charset="0"/>
                <a:ea typeface="Calibri" pitchFamily="34" charset="-122"/>
                <a:cs typeface="Calibri" pitchFamily="34" charset="-120"/>
              </a:rPr>
              <a:t>indicator_statistics (NEW)</a:t>
            </a:r>
            <a:endParaRPr lang="en-US" sz="760" dirty="0"/>
          </a:p>
        </p:txBody>
      </p:sp>
      <p:sp>
        <p:nvSpPr>
          <p:cNvPr id="35" name="Shape 33"/>
          <p:cNvSpPr/>
          <p:nvPr/>
        </p:nvSpPr>
        <p:spPr>
          <a:xfrm>
            <a:off x="6601968" y="3282696"/>
            <a:ext cx="1051560" cy="164592"/>
          </a:xfrm>
          <a:prstGeom prst="rightArrow">
            <a:avLst/>
          </a:prstGeom>
          <a:solidFill>
            <a:srgbClr val="44577E"/>
          </a:solidFill>
          <a:ln/>
        </p:spPr>
      </p:sp>
      <p:sp>
        <p:nvSpPr>
          <p:cNvPr id="36" name="Text 34"/>
          <p:cNvSpPr txBox="1"/>
          <p:nvPr/>
        </p:nvSpPr>
        <p:spPr>
          <a:xfrm>
            <a:off x="6601968" y="3072384"/>
            <a:ext cx="1051560" cy="182880"/>
          </a:xfrm>
          <a:prstGeom prst="rect">
            <a:avLst/>
          </a:prstGeom>
          <a:noFill/>
          <a:ln/>
        </p:spPr>
        <p:txBody>
          <a:bodyPr wrap="square" lIns="0" tIns="0" rIns="0" bIns="0" rtlCol="0" anchor="ctr"/>
          <a:lstStyle/>
          <a:p>
            <a:pPr algn="ctr" indent="0" marL="0">
              <a:buNone/>
            </a:pPr>
            <a:r>
              <a:rPr lang="en-US" sz="750" dirty="0">
                <a:solidFill>
                  <a:srgbClr val="63708C"/>
                </a:solidFill>
                <a:latin typeface="Calibri" pitchFamily="34" charset="0"/>
                <a:ea typeface="Calibri" pitchFamily="34" charset="-122"/>
                <a:cs typeface="Calibri" pitchFamily="34" charset="-120"/>
              </a:rPr>
              <a:t>HTTP POST</a:t>
            </a:r>
            <a:endParaRPr lang="en-US" sz="750" dirty="0"/>
          </a:p>
        </p:txBody>
      </p:sp>
      <p:sp>
        <p:nvSpPr>
          <p:cNvPr id="37" name="Text 35"/>
          <p:cNvSpPr txBox="1"/>
          <p:nvPr/>
        </p:nvSpPr>
        <p:spPr>
          <a:xfrm>
            <a:off x="6601968" y="3456432"/>
            <a:ext cx="1051560" cy="182880"/>
          </a:xfrm>
          <a:prstGeom prst="rect">
            <a:avLst/>
          </a:prstGeom>
          <a:noFill/>
          <a:ln/>
        </p:spPr>
        <p:txBody>
          <a:bodyPr wrap="square" lIns="0" tIns="0" rIns="0" bIns="0" rtlCol="0" anchor="ctr"/>
          <a:lstStyle/>
          <a:p>
            <a:pPr algn="ctr" indent="0" marL="0">
              <a:buNone/>
            </a:pPr>
            <a:r>
              <a:rPr lang="en-US" sz="700" i="1" dirty="0">
                <a:solidFill>
                  <a:srgbClr val="63708C"/>
                </a:solidFill>
                <a:latin typeface="Calibri" pitchFamily="34" charset="0"/>
                <a:ea typeface="Calibri" pitchFamily="34" charset="-122"/>
                <a:cs typeface="Calibri" pitchFamily="34" charset="-120"/>
              </a:rPr>
              <a:t>(own route)</a:t>
            </a:r>
            <a:endParaRPr lang="en-US" sz="700" dirty="0"/>
          </a:p>
        </p:txBody>
      </p:sp>
      <p:sp>
        <p:nvSpPr>
          <p:cNvPr id="38" name="Shape 36"/>
          <p:cNvSpPr/>
          <p:nvPr/>
        </p:nvSpPr>
        <p:spPr>
          <a:xfrm>
            <a:off x="502920" y="4453128"/>
            <a:ext cx="11183112" cy="1170432"/>
          </a:xfrm>
          <a:prstGeom prst="roundRect">
            <a:avLst>
              <a:gd name="adj" fmla="val 4688"/>
            </a:avLst>
          </a:prstGeom>
          <a:solidFill>
            <a:srgbClr val="EEF1F7"/>
          </a:solidFill>
          <a:ln w="12700">
            <a:solidFill>
              <a:srgbClr val="DCE3EF"/>
            </a:solidFill>
            <a:prstDash val="solid"/>
          </a:ln>
        </p:spPr>
      </p:sp>
      <p:sp>
        <p:nvSpPr>
          <p:cNvPr id="39" name="Text 37"/>
          <p:cNvSpPr txBox="1"/>
          <p:nvPr/>
        </p:nvSpPr>
        <p:spPr>
          <a:xfrm>
            <a:off x="685800" y="4453128"/>
            <a:ext cx="10789920" cy="1170432"/>
          </a:xfrm>
          <a:prstGeom prst="rect">
            <a:avLst/>
          </a:prstGeom>
          <a:noFill/>
          <a:ln/>
        </p:spPr>
        <p:txBody>
          <a:bodyPr wrap="square" lIns="0" tIns="0" rIns="0" bIns="0" rtlCol="0" anchor="ctr"/>
          <a:lstStyle/>
          <a:p>
            <a:pPr indent="0" marL="0">
              <a:buNone/>
            </a:pPr>
            <a:r>
              <a:rPr lang="en-US" sz="1080" b="1" dirty="0">
                <a:solidFill>
                  <a:srgbClr val="44577E"/>
                </a:solidFill>
                <a:latin typeface="Calibri" pitchFamily="34" charset="0"/>
                <a:ea typeface="Calibri" pitchFamily="34" charset="-122"/>
                <a:cs typeface="Calibri" pitchFamily="34" charset="-120"/>
              </a:rPr>
              <a:t>The design rule behind the second lane:  </a:t>
            </a:r>
            <a:pPr indent="0" marL="0">
              <a:buNone/>
            </a:pPr>
            <a:r>
              <a:rPr lang="en-US" sz="1080" dirty="0">
                <a:solidFill>
                  <a:srgbClr val="1B2436"/>
                </a:solidFill>
                <a:latin typeface="Calibri" pitchFamily="34" charset="0"/>
                <a:ea typeface="Calibri" pitchFamily="34" charset="-122"/>
                <a:cs typeface="Calibri" pitchFamily="34" charset="-120"/>
              </a:rPr>
              <a:t>it shares nothing with the price lane except the collector process and the API key — separate staging table, outbox, HTTP route, queue, processor, reject file. Statistics are valuable; price data is load-bearing — so a failure in the statistics lane must never delay or reject a price row. </a:t>
            </a:r>
            <a:pPr indent="0" marL="0">
              <a:buNone/>
            </a:pPr>
            <a:r>
              <a:rPr lang="en-US" sz="1080" b="1" dirty="0">
                <a:solidFill>
                  <a:srgbClr val="12213E"/>
                </a:solidFill>
                <a:latin typeface="Calibri" pitchFamily="34" charset="0"/>
                <a:ea typeface="Calibri" pitchFamily="34" charset="-122"/>
                <a:cs typeface="Calibri" pitchFamily="34" charset="-120"/>
              </a:rPr>
              <a:t>Proven by test, not just intended: </a:t>
            </a:r>
            <a:pPr indent="0" marL="0">
              <a:buNone/>
            </a:pPr>
            <a:r>
              <a:rPr lang="en-US" sz="1080" dirty="0">
                <a:solidFill>
                  <a:srgbClr val="1B2436"/>
                </a:solidFill>
                <a:latin typeface="Calibri" pitchFamily="34" charset="0"/>
                <a:ea typeface="Calibri" pitchFamily="34" charset="-122"/>
                <a:cs typeface="Calibri" pitchFamily="34" charset="-120"/>
              </a:rPr>
              <a:t>with the statistics endpoint pointed at a dead port, the market_data drain is completely unaffected.</a:t>
            </a:r>
            <a:endParaRPr lang="en-US" sz="10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12213E"/>
          </a:solidFill>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2000" b="1" dirty="0">
                <a:solidFill>
                  <a:srgbClr val="E7CE96"/>
                </a:solidFill>
                <a:latin typeface="Cambria" pitchFamily="34" charset="0"/>
                <a:ea typeface="Cambria" pitchFamily="34" charset="-122"/>
                <a:cs typeface="Cambria" pitchFamily="34" charset="-120"/>
              </a:rPr>
              <a:t>03</a:t>
            </a:r>
            <a:endParaRPr lang="en-US" sz="2000" dirty="0"/>
          </a:p>
        </p:txBody>
      </p:sp>
      <p:sp>
        <p:nvSpPr>
          <p:cNvPr id="4" name="Text 2"/>
          <p:cNvSpPr txBox="1"/>
          <p:nvPr/>
        </p:nvSpPr>
        <p:spPr>
          <a:xfrm>
            <a:off x="1216152" y="420624"/>
            <a:ext cx="8686800" cy="256032"/>
          </a:xfrm>
          <a:prstGeom prst="rect">
            <a:avLst/>
          </a:prstGeom>
          <a:noFill/>
          <a:ln/>
        </p:spPr>
        <p:txBody>
          <a:bodyPr wrap="square" lIns="0" tIns="0" rIns="0" bIns="0" rtlCol="0" anchor="ctr"/>
          <a:lstStyle/>
          <a:p>
            <a:pPr indent="0" marL="0">
              <a:buNone/>
            </a:pPr>
            <a:r>
              <a:rPr lang="en-US" sz="1100" b="1" spc="200" kern="0" dirty="0">
                <a:solidFill>
                  <a:srgbClr val="C1922C"/>
                </a:solidFill>
                <a:latin typeface="Calibri" pitchFamily="34" charset="0"/>
                <a:ea typeface="Calibri" pitchFamily="34" charset="-122"/>
                <a:cs typeface="Calibri" pitchFamily="34" charset="-120"/>
              </a:rPr>
              <a:t>ARCHITECTURE</a:t>
            </a:r>
            <a:endParaRPr lang="en-US" sz="1100" dirty="0"/>
          </a:p>
        </p:txBody>
      </p:sp>
      <p:sp>
        <p:nvSpPr>
          <p:cNvPr id="5" name="Text 3"/>
          <p:cNvSpPr txBox="1"/>
          <p:nvPr/>
        </p:nvSpPr>
        <p:spPr>
          <a:xfrm>
            <a:off x="1216152" y="658368"/>
            <a:ext cx="9601200" cy="502920"/>
          </a:xfrm>
          <a:prstGeom prst="rect">
            <a:avLst/>
          </a:prstGeom>
          <a:noFill/>
          <a:ln/>
        </p:spPr>
        <p:txBody>
          <a:bodyPr wrap="square" lIns="0" tIns="0" rIns="0" bIns="0" rtlCol="0" anchor="ctr"/>
          <a:lstStyle/>
          <a:p>
            <a:pPr indent="0" marL="0">
              <a:buNone/>
            </a:pPr>
            <a:r>
              <a:rPr lang="en-US" sz="2700" b="1" dirty="0">
                <a:solidFill>
                  <a:srgbClr val="12213E"/>
                </a:solidFill>
                <a:latin typeface="Cambria" pitchFamily="34" charset="0"/>
                <a:ea typeface="Cambria" pitchFamily="34" charset="-122"/>
                <a:cs typeface="Cambria" pitchFamily="34" charset="-120"/>
              </a:rPr>
              <a:t>The Pipeline — Now 4 Stages</a:t>
            </a:r>
            <a:endParaRPr lang="en-US" sz="2700" dirty="0"/>
          </a:p>
        </p:txBody>
      </p:sp>
      <p:sp>
        <p:nvSpPr>
          <p:cNvPr id="6" name="Text 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3708C"/>
                </a:solidFill>
                <a:latin typeface="Calibri" pitchFamily="34" charset="0"/>
                <a:ea typeface="Calibri" pitchFamily="34" charset="-122"/>
                <a:cs typeface="Calibri" pitchFamily="34" charset="-120"/>
              </a:rPr>
              <a:t>V2.29 Data Pipeline  ·  XAUUSD  M5 / M15</a:t>
            </a:r>
            <a:endParaRPr lang="en-US" sz="900" dirty="0"/>
          </a:p>
        </p:txBody>
      </p:sp>
      <p:sp>
        <p:nvSpPr>
          <p:cNvPr id="7" name="Text 5"/>
          <p:cNvSpPr txBox="1"/>
          <p:nvPr/>
        </p:nvSpPr>
        <p:spPr>
          <a:xfrm>
            <a:off x="10588752" y="6473952"/>
            <a:ext cx="1097280" cy="274320"/>
          </a:xfrm>
          <a:prstGeom prst="rect">
            <a:avLst/>
          </a:prstGeom>
          <a:noFill/>
          <a:ln/>
        </p:spPr>
        <p:txBody>
          <a:bodyPr wrap="square" lIns="0" tIns="0" rIns="0" bIns="0" rtlCol="0" anchor="ctr"/>
          <a:lstStyle/>
          <a:p>
            <a:pPr algn="r" indent="0" marL="0">
              <a:buNone/>
            </a:pPr>
            <a:r>
              <a:rPr lang="en-US" sz="900" dirty="0">
                <a:solidFill>
                  <a:srgbClr val="63708C"/>
                </a:solidFill>
                <a:latin typeface="Calibri" pitchFamily="34" charset="0"/>
                <a:ea typeface="Calibri" pitchFamily="34" charset="-122"/>
                <a:cs typeface="Calibri" pitchFamily="34" charset="-120"/>
              </a:rPr>
              <a:t>03</a:t>
            </a:r>
            <a:endParaRPr lang="en-US" sz="900" dirty="0"/>
          </a:p>
        </p:txBody>
      </p:sp>
      <p:sp>
        <p:nvSpPr>
          <p:cNvPr id="8" name="Text 6"/>
          <p:cNvSpPr txBox="1"/>
          <p:nvPr/>
        </p:nvSpPr>
        <p:spPr>
          <a:xfrm>
            <a:off x="502920" y="1298448"/>
            <a:ext cx="7315200" cy="256032"/>
          </a:xfrm>
          <a:prstGeom prst="rect">
            <a:avLst/>
          </a:prstGeom>
          <a:noFill/>
          <a:ln/>
        </p:spPr>
        <p:txBody>
          <a:bodyPr wrap="square" lIns="0" tIns="0" rIns="0" bIns="0" rtlCol="0" anchor="ctr"/>
          <a:lstStyle/>
          <a:p>
            <a:pPr indent="0" marL="0">
              <a:buNone/>
            </a:pPr>
            <a:r>
              <a:rPr lang="en-US" sz="1100" dirty="0">
                <a:solidFill>
                  <a:srgbClr val="63708C"/>
                </a:solidFill>
                <a:latin typeface="Courier New" pitchFamily="34" charset="0"/>
                <a:ea typeface="Courier New" pitchFamily="34" charset="-122"/>
                <a:cs typeface="Courier New" pitchFamily="34" charset="-120"/>
              </a:rPr>
              <a:t>export_collector_validator_v2.py</a:t>
            </a:r>
            <a:endParaRPr lang="en-US" sz="1100" dirty="0"/>
          </a:p>
        </p:txBody>
      </p:sp>
      <p:sp>
        <p:nvSpPr>
          <p:cNvPr id="9" name="Shape 7"/>
          <p:cNvSpPr/>
          <p:nvPr/>
        </p:nvSpPr>
        <p:spPr>
          <a:xfrm>
            <a:off x="502920" y="1737360"/>
            <a:ext cx="2514600" cy="1234440"/>
          </a:xfrm>
          <a:prstGeom prst="roundRect">
            <a:avLst>
              <a:gd name="adj" fmla="val 4444"/>
            </a:avLst>
          </a:prstGeom>
          <a:solidFill>
            <a:srgbClr val="FFFFFF"/>
          </a:solidFill>
          <a:ln w="12700">
            <a:solidFill>
              <a:srgbClr val="12213E"/>
            </a:solidFill>
            <a:prstDash val="solid"/>
          </a:ln>
          <a:effectLst>
            <a:outerShdw sx="100000" sy="100000" kx="0" ky="0" algn="bl" rotWithShape="0" blurRad="76200" dist="25400" dir="5400000">
              <a:srgbClr val="1B2436">
                <a:alpha val="18000"/>
              </a:srgbClr>
            </a:outerShdw>
          </a:effectLst>
        </p:spPr>
      </p:sp>
      <p:sp>
        <p:nvSpPr>
          <p:cNvPr id="10" name="Shape 8"/>
          <p:cNvSpPr/>
          <p:nvPr/>
        </p:nvSpPr>
        <p:spPr>
          <a:xfrm>
            <a:off x="649224" y="1865376"/>
            <a:ext cx="329184" cy="329184"/>
          </a:xfrm>
          <a:prstGeom prst="roundRect">
            <a:avLst>
              <a:gd name="adj" fmla="val 50000"/>
            </a:avLst>
          </a:prstGeom>
          <a:solidFill>
            <a:srgbClr val="12213E"/>
          </a:solidFill>
          <a:ln/>
        </p:spPr>
      </p:sp>
      <p:sp>
        <p:nvSpPr>
          <p:cNvPr id="11" name="Text 9"/>
          <p:cNvSpPr txBox="1"/>
          <p:nvPr/>
        </p:nvSpPr>
        <p:spPr>
          <a:xfrm>
            <a:off x="649224" y="1865376"/>
            <a:ext cx="329184" cy="329184"/>
          </a:xfrm>
          <a:prstGeom prst="rect">
            <a:avLst/>
          </a:prstGeom>
          <a:noFill/>
          <a:ln/>
        </p:spPr>
        <p:txBody>
          <a:bodyPr wrap="square" lIns="0" tIns="0" rIns="0" bIns="0" rtlCol="0" anchor="ctr"/>
          <a:lstStyle/>
          <a:p>
            <a:pPr algn="ctr" indent="0" marL="0">
              <a:buNone/>
            </a:pPr>
            <a:r>
              <a:rPr lang="en-US" sz="1200" b="1" dirty="0">
                <a:solidFill>
                  <a:srgbClr val="E7CE96"/>
                </a:solidFill>
                <a:latin typeface="Calibri" pitchFamily="34" charset="0"/>
                <a:ea typeface="Calibri" pitchFamily="34" charset="-122"/>
                <a:cs typeface="Calibri" pitchFamily="34" charset="-120"/>
              </a:rPr>
              <a:t>1</a:t>
            </a:r>
            <a:endParaRPr lang="en-US" sz="1200" dirty="0"/>
          </a:p>
        </p:txBody>
      </p:sp>
      <p:sp>
        <p:nvSpPr>
          <p:cNvPr id="12" name="Text 10"/>
          <p:cNvSpPr txBox="1"/>
          <p:nvPr/>
        </p:nvSpPr>
        <p:spPr>
          <a:xfrm>
            <a:off x="649224" y="2249424"/>
            <a:ext cx="2221992" cy="256032"/>
          </a:xfrm>
          <a:prstGeom prst="rect">
            <a:avLst/>
          </a:prstGeom>
          <a:noFill/>
          <a:ln/>
        </p:spPr>
        <p:txBody>
          <a:bodyPr wrap="square" lIns="0" tIns="0" rIns="0" bIns="0" rtlCol="0" anchor="ctr"/>
          <a:lstStyle/>
          <a:p>
            <a:pPr indent="0" marL="0">
              <a:buNone/>
            </a:pPr>
            <a:r>
              <a:rPr lang="en-US" sz="1400" b="1" dirty="0">
                <a:solidFill>
                  <a:srgbClr val="12213E"/>
                </a:solidFill>
                <a:latin typeface="Cambria" pitchFamily="34" charset="0"/>
                <a:ea typeface="Cambria" pitchFamily="34" charset="-122"/>
                <a:cs typeface="Cambria" pitchFamily="34" charset="-120"/>
              </a:rPr>
              <a:t>COLLECT</a:t>
            </a:r>
            <a:endParaRPr lang="en-US" sz="1400" dirty="0"/>
          </a:p>
        </p:txBody>
      </p:sp>
      <p:sp>
        <p:nvSpPr>
          <p:cNvPr id="13" name="Text 11"/>
          <p:cNvSpPr txBox="1"/>
          <p:nvPr/>
        </p:nvSpPr>
        <p:spPr>
          <a:xfrm>
            <a:off x="649224" y="2523744"/>
            <a:ext cx="2221992" cy="393192"/>
          </a:xfrm>
          <a:prstGeom prst="rect">
            <a:avLst/>
          </a:prstGeom>
          <a:noFill/>
          <a:ln/>
        </p:spPr>
        <p:txBody>
          <a:bodyPr wrap="square" lIns="0" tIns="0" rIns="0" bIns="0" rtlCol="0" anchor="t"/>
          <a:lstStyle/>
          <a:p>
            <a:pPr indent="0" marL="0">
              <a:buNone/>
            </a:pPr>
            <a:r>
              <a:rPr lang="en-US" sz="860" dirty="0">
                <a:solidFill>
                  <a:srgbClr val="1B2436"/>
                </a:solidFill>
                <a:latin typeface="Calibri" pitchFamily="34" charset="0"/>
                <a:ea typeface="Calibri" pitchFamily="34" charset="-122"/>
                <a:cs typeface="Calibri" pitchFamily="34" charset="-120"/>
              </a:rPr>
              <a:t>Read all 13 .txt into 13 raw_* staging tables. Every exported column is staged, not a subset.</a:t>
            </a:r>
            <a:endParaRPr lang="en-US" sz="860" dirty="0"/>
          </a:p>
        </p:txBody>
      </p:sp>
      <p:sp>
        <p:nvSpPr>
          <p:cNvPr id="14" name="Shape 12"/>
          <p:cNvSpPr/>
          <p:nvPr/>
        </p:nvSpPr>
        <p:spPr>
          <a:xfrm>
            <a:off x="3035808" y="2272284"/>
            <a:ext cx="219456" cy="164592"/>
          </a:xfrm>
          <a:prstGeom prst="rightArrow">
            <a:avLst/>
          </a:prstGeom>
          <a:solidFill>
            <a:srgbClr val="44577E"/>
          </a:solidFill>
          <a:ln/>
        </p:spPr>
      </p:sp>
      <p:sp>
        <p:nvSpPr>
          <p:cNvPr id="15" name="Shape 13"/>
          <p:cNvSpPr/>
          <p:nvPr/>
        </p:nvSpPr>
        <p:spPr>
          <a:xfrm>
            <a:off x="3273552" y="1737360"/>
            <a:ext cx="2514600" cy="1234440"/>
          </a:xfrm>
          <a:prstGeom prst="roundRect">
            <a:avLst>
              <a:gd name="adj" fmla="val 4444"/>
            </a:avLst>
          </a:prstGeom>
          <a:solidFill>
            <a:srgbClr val="FFFFFF"/>
          </a:solidFill>
          <a:ln w="12700">
            <a:solidFill>
              <a:srgbClr val="12213E"/>
            </a:solidFill>
            <a:prstDash val="solid"/>
          </a:ln>
          <a:effectLst>
            <a:outerShdw sx="100000" sy="100000" kx="0" ky="0" algn="bl" rotWithShape="0" blurRad="76200" dist="25400" dir="5400000">
              <a:srgbClr val="1B2436">
                <a:alpha val="18000"/>
              </a:srgbClr>
            </a:outerShdw>
          </a:effectLst>
        </p:spPr>
      </p:sp>
      <p:sp>
        <p:nvSpPr>
          <p:cNvPr id="16" name="Shape 14"/>
          <p:cNvSpPr/>
          <p:nvPr/>
        </p:nvSpPr>
        <p:spPr>
          <a:xfrm>
            <a:off x="3419856" y="1865376"/>
            <a:ext cx="329184" cy="329184"/>
          </a:xfrm>
          <a:prstGeom prst="roundRect">
            <a:avLst>
              <a:gd name="adj" fmla="val 50000"/>
            </a:avLst>
          </a:prstGeom>
          <a:solidFill>
            <a:srgbClr val="12213E"/>
          </a:solidFill>
          <a:ln/>
        </p:spPr>
      </p:sp>
      <p:sp>
        <p:nvSpPr>
          <p:cNvPr id="17" name="Text 15"/>
          <p:cNvSpPr txBox="1"/>
          <p:nvPr/>
        </p:nvSpPr>
        <p:spPr>
          <a:xfrm>
            <a:off x="3419856" y="1865376"/>
            <a:ext cx="329184" cy="329184"/>
          </a:xfrm>
          <a:prstGeom prst="rect">
            <a:avLst/>
          </a:prstGeom>
          <a:noFill/>
          <a:ln/>
        </p:spPr>
        <p:txBody>
          <a:bodyPr wrap="square" lIns="0" tIns="0" rIns="0" bIns="0" rtlCol="0" anchor="ctr"/>
          <a:lstStyle/>
          <a:p>
            <a:pPr algn="ctr" indent="0" marL="0">
              <a:buNone/>
            </a:pPr>
            <a:r>
              <a:rPr lang="en-US" sz="1200" b="1" dirty="0">
                <a:solidFill>
                  <a:srgbClr val="E7CE96"/>
                </a:solidFill>
                <a:latin typeface="Calibri" pitchFamily="34" charset="0"/>
                <a:ea typeface="Calibri" pitchFamily="34" charset="-122"/>
                <a:cs typeface="Calibri" pitchFamily="34" charset="-120"/>
              </a:rPr>
              <a:t>2</a:t>
            </a:r>
            <a:endParaRPr lang="en-US" sz="1200" dirty="0"/>
          </a:p>
        </p:txBody>
      </p:sp>
      <p:sp>
        <p:nvSpPr>
          <p:cNvPr id="18" name="Text 16"/>
          <p:cNvSpPr txBox="1"/>
          <p:nvPr/>
        </p:nvSpPr>
        <p:spPr>
          <a:xfrm>
            <a:off x="3419856" y="2249424"/>
            <a:ext cx="2221992" cy="256032"/>
          </a:xfrm>
          <a:prstGeom prst="rect">
            <a:avLst/>
          </a:prstGeom>
          <a:noFill/>
          <a:ln/>
        </p:spPr>
        <p:txBody>
          <a:bodyPr wrap="square" lIns="0" tIns="0" rIns="0" bIns="0" rtlCol="0" anchor="ctr"/>
          <a:lstStyle/>
          <a:p>
            <a:pPr indent="0" marL="0">
              <a:buNone/>
            </a:pPr>
            <a:r>
              <a:rPr lang="en-US" sz="1400" b="1" dirty="0">
                <a:solidFill>
                  <a:srgbClr val="12213E"/>
                </a:solidFill>
                <a:latin typeface="Cambria" pitchFamily="34" charset="0"/>
                <a:ea typeface="Cambria" pitchFamily="34" charset="-122"/>
                <a:cs typeface="Cambria" pitchFamily="34" charset="-120"/>
              </a:rPr>
              <a:t>ADJUST</a:t>
            </a:r>
            <a:endParaRPr lang="en-US" sz="1400" dirty="0"/>
          </a:p>
        </p:txBody>
      </p:sp>
      <p:sp>
        <p:nvSpPr>
          <p:cNvPr id="19" name="Text 17"/>
          <p:cNvSpPr txBox="1"/>
          <p:nvPr/>
        </p:nvSpPr>
        <p:spPr>
          <a:xfrm>
            <a:off x="3419856" y="2523744"/>
            <a:ext cx="2221992" cy="393192"/>
          </a:xfrm>
          <a:prstGeom prst="rect">
            <a:avLst/>
          </a:prstGeom>
          <a:noFill/>
          <a:ln/>
        </p:spPr>
        <p:txBody>
          <a:bodyPr wrap="square" lIns="0" tIns="0" rIns="0" bIns="0" rtlCol="0" anchor="t"/>
          <a:lstStyle/>
          <a:p>
            <a:pPr indent="0" marL="0">
              <a:buNone/>
            </a:pPr>
            <a:r>
              <a:rPr lang="en-US" sz="860" dirty="0">
                <a:solidFill>
                  <a:srgbClr val="1B2436"/>
                </a:solidFill>
                <a:latin typeface="Calibri" pitchFamily="34" charset="0"/>
                <a:ea typeface="Calibri" pitchFamily="34" charset="-122"/>
                <a:cs typeface="Calibri" pitchFamily="34" charset="-120"/>
              </a:rPr>
              <a:t>Snap timestamp to the bar grid — now a no-op (see §7).</a:t>
            </a:r>
            <a:endParaRPr lang="en-US" sz="860" dirty="0"/>
          </a:p>
        </p:txBody>
      </p:sp>
      <p:sp>
        <p:nvSpPr>
          <p:cNvPr id="20" name="Shape 18"/>
          <p:cNvSpPr/>
          <p:nvPr/>
        </p:nvSpPr>
        <p:spPr>
          <a:xfrm>
            <a:off x="5806440" y="2272284"/>
            <a:ext cx="219456" cy="164592"/>
          </a:xfrm>
          <a:prstGeom prst="rightArrow">
            <a:avLst/>
          </a:prstGeom>
          <a:solidFill>
            <a:srgbClr val="44577E"/>
          </a:solidFill>
          <a:ln/>
        </p:spPr>
      </p:sp>
      <p:sp>
        <p:nvSpPr>
          <p:cNvPr id="21" name="Shape 19"/>
          <p:cNvSpPr/>
          <p:nvPr/>
        </p:nvSpPr>
        <p:spPr>
          <a:xfrm>
            <a:off x="6044184" y="1737360"/>
            <a:ext cx="2514600" cy="1234440"/>
          </a:xfrm>
          <a:prstGeom prst="roundRect">
            <a:avLst>
              <a:gd name="adj" fmla="val 4444"/>
            </a:avLst>
          </a:prstGeom>
          <a:solidFill>
            <a:srgbClr val="FFFFFF"/>
          </a:solidFill>
          <a:ln w="12700">
            <a:solidFill>
              <a:srgbClr val="12213E"/>
            </a:solidFill>
            <a:prstDash val="solid"/>
          </a:ln>
          <a:effectLst>
            <a:outerShdw sx="100000" sy="100000" kx="0" ky="0" algn="bl" rotWithShape="0" blurRad="76200" dist="25400" dir="5400000">
              <a:srgbClr val="1B2436">
                <a:alpha val="18000"/>
              </a:srgbClr>
            </a:outerShdw>
          </a:effectLst>
        </p:spPr>
      </p:sp>
      <p:sp>
        <p:nvSpPr>
          <p:cNvPr id="22" name="Shape 20"/>
          <p:cNvSpPr/>
          <p:nvPr/>
        </p:nvSpPr>
        <p:spPr>
          <a:xfrm>
            <a:off x="6190488" y="1865376"/>
            <a:ext cx="329184" cy="329184"/>
          </a:xfrm>
          <a:prstGeom prst="roundRect">
            <a:avLst>
              <a:gd name="adj" fmla="val 50000"/>
            </a:avLst>
          </a:prstGeom>
          <a:solidFill>
            <a:srgbClr val="12213E"/>
          </a:solidFill>
          <a:ln/>
        </p:spPr>
      </p:sp>
      <p:sp>
        <p:nvSpPr>
          <p:cNvPr id="23" name="Text 21"/>
          <p:cNvSpPr txBox="1"/>
          <p:nvPr/>
        </p:nvSpPr>
        <p:spPr>
          <a:xfrm>
            <a:off x="6190488" y="1865376"/>
            <a:ext cx="329184" cy="329184"/>
          </a:xfrm>
          <a:prstGeom prst="rect">
            <a:avLst/>
          </a:prstGeom>
          <a:noFill/>
          <a:ln/>
        </p:spPr>
        <p:txBody>
          <a:bodyPr wrap="square" lIns="0" tIns="0" rIns="0" bIns="0" rtlCol="0" anchor="ctr"/>
          <a:lstStyle/>
          <a:p>
            <a:pPr algn="ctr" indent="0" marL="0">
              <a:buNone/>
            </a:pPr>
            <a:r>
              <a:rPr lang="en-US" sz="1200" b="1" dirty="0">
                <a:solidFill>
                  <a:srgbClr val="E7CE96"/>
                </a:solidFill>
                <a:latin typeface="Calibri" pitchFamily="34" charset="0"/>
                <a:ea typeface="Calibri" pitchFamily="34" charset="-122"/>
                <a:cs typeface="Calibri" pitchFamily="34" charset="-120"/>
              </a:rPr>
              <a:t>3</a:t>
            </a:r>
            <a:endParaRPr lang="en-US" sz="1200" dirty="0"/>
          </a:p>
        </p:txBody>
      </p:sp>
      <p:sp>
        <p:nvSpPr>
          <p:cNvPr id="24" name="Text 22"/>
          <p:cNvSpPr txBox="1"/>
          <p:nvPr/>
        </p:nvSpPr>
        <p:spPr>
          <a:xfrm>
            <a:off x="6190488" y="2249424"/>
            <a:ext cx="2221992" cy="256032"/>
          </a:xfrm>
          <a:prstGeom prst="rect">
            <a:avLst/>
          </a:prstGeom>
          <a:noFill/>
          <a:ln/>
        </p:spPr>
        <p:txBody>
          <a:bodyPr wrap="square" lIns="0" tIns="0" rIns="0" bIns="0" rtlCol="0" anchor="ctr"/>
          <a:lstStyle/>
          <a:p>
            <a:pPr indent="0" marL="0">
              <a:buNone/>
            </a:pPr>
            <a:r>
              <a:rPr lang="en-US" sz="1400" b="1" dirty="0">
                <a:solidFill>
                  <a:srgbClr val="12213E"/>
                </a:solidFill>
                <a:latin typeface="Cambria" pitchFamily="34" charset="0"/>
                <a:ea typeface="Cambria" pitchFamily="34" charset="-122"/>
                <a:cs typeface="Cambria" pitchFamily="34" charset="-120"/>
              </a:rPr>
              <a:t>VALIDATE</a:t>
            </a:r>
            <a:endParaRPr lang="en-US" sz="1400" dirty="0"/>
          </a:p>
        </p:txBody>
      </p:sp>
      <p:sp>
        <p:nvSpPr>
          <p:cNvPr id="25" name="Text 23"/>
          <p:cNvSpPr txBox="1"/>
          <p:nvPr/>
        </p:nvSpPr>
        <p:spPr>
          <a:xfrm>
            <a:off x="6190488" y="2523744"/>
            <a:ext cx="2221992" cy="393192"/>
          </a:xfrm>
          <a:prstGeom prst="rect">
            <a:avLst/>
          </a:prstGeom>
          <a:noFill/>
          <a:ln/>
        </p:spPr>
        <p:txBody>
          <a:bodyPr wrap="square" lIns="0" tIns="0" rIns="0" bIns="0" rtlCol="0" anchor="t"/>
          <a:lstStyle/>
          <a:p>
            <a:pPr indent="0" marL="0">
              <a:buNone/>
            </a:pPr>
            <a:r>
              <a:rPr lang="en-US" sz="860" dirty="0">
                <a:solidFill>
                  <a:srgbClr val="1B2436"/>
                </a:solidFill>
                <a:latin typeface="Calibri" pitchFamily="34" charset="0"/>
                <a:ea typeface="Calibri" pitchFamily="34" charset="-122"/>
                <a:cs typeface="Calibri" pitchFamily="34" charset="-120"/>
              </a:rPr>
              <a:t>Cross-check symbol / timeframe / close (±0.01) across sources. Any mismatch → reject whole cycle, retry (max 3).</a:t>
            </a:r>
            <a:endParaRPr lang="en-US" sz="860" dirty="0"/>
          </a:p>
        </p:txBody>
      </p:sp>
      <p:sp>
        <p:nvSpPr>
          <p:cNvPr id="26" name="Shape 24"/>
          <p:cNvSpPr/>
          <p:nvPr/>
        </p:nvSpPr>
        <p:spPr>
          <a:xfrm>
            <a:off x="8577072" y="2272284"/>
            <a:ext cx="219456" cy="164592"/>
          </a:xfrm>
          <a:prstGeom prst="rightArrow">
            <a:avLst/>
          </a:prstGeom>
          <a:solidFill>
            <a:srgbClr val="44577E"/>
          </a:solidFill>
          <a:ln/>
        </p:spPr>
      </p:sp>
      <p:sp>
        <p:nvSpPr>
          <p:cNvPr id="27" name="Shape 25"/>
          <p:cNvSpPr/>
          <p:nvPr/>
        </p:nvSpPr>
        <p:spPr>
          <a:xfrm>
            <a:off x="8814816" y="1737360"/>
            <a:ext cx="2514600" cy="1234440"/>
          </a:xfrm>
          <a:prstGeom prst="roundRect">
            <a:avLst>
              <a:gd name="adj" fmla="val 4444"/>
            </a:avLst>
          </a:prstGeom>
          <a:solidFill>
            <a:srgbClr val="FFFFFF"/>
          </a:solidFill>
          <a:ln w="12700">
            <a:solidFill>
              <a:srgbClr val="12213E"/>
            </a:solidFill>
            <a:prstDash val="solid"/>
          </a:ln>
          <a:effectLst>
            <a:outerShdw sx="100000" sy="100000" kx="0" ky="0" algn="bl" rotWithShape="0" blurRad="76200" dist="25400" dir="5400000">
              <a:srgbClr val="1B2436">
                <a:alpha val="18000"/>
              </a:srgbClr>
            </a:outerShdw>
          </a:effectLst>
        </p:spPr>
      </p:sp>
      <p:sp>
        <p:nvSpPr>
          <p:cNvPr id="28" name="Shape 26"/>
          <p:cNvSpPr/>
          <p:nvPr/>
        </p:nvSpPr>
        <p:spPr>
          <a:xfrm>
            <a:off x="8961120" y="1865376"/>
            <a:ext cx="329184" cy="329184"/>
          </a:xfrm>
          <a:prstGeom prst="roundRect">
            <a:avLst>
              <a:gd name="adj" fmla="val 50000"/>
            </a:avLst>
          </a:prstGeom>
          <a:solidFill>
            <a:srgbClr val="12213E"/>
          </a:solidFill>
          <a:ln/>
        </p:spPr>
      </p:sp>
      <p:sp>
        <p:nvSpPr>
          <p:cNvPr id="29" name="Text 27"/>
          <p:cNvSpPr txBox="1"/>
          <p:nvPr/>
        </p:nvSpPr>
        <p:spPr>
          <a:xfrm>
            <a:off x="8961120" y="1865376"/>
            <a:ext cx="329184" cy="329184"/>
          </a:xfrm>
          <a:prstGeom prst="rect">
            <a:avLst/>
          </a:prstGeom>
          <a:noFill/>
          <a:ln/>
        </p:spPr>
        <p:txBody>
          <a:bodyPr wrap="square" lIns="0" tIns="0" rIns="0" bIns="0" rtlCol="0" anchor="ctr"/>
          <a:lstStyle/>
          <a:p>
            <a:pPr algn="ctr" indent="0" marL="0">
              <a:buNone/>
            </a:pPr>
            <a:r>
              <a:rPr lang="en-US" sz="1200" b="1" dirty="0">
                <a:solidFill>
                  <a:srgbClr val="E7CE96"/>
                </a:solidFill>
                <a:latin typeface="Calibri" pitchFamily="34" charset="0"/>
                <a:ea typeface="Calibri" pitchFamily="34" charset="-122"/>
                <a:cs typeface="Calibri" pitchFamily="34" charset="-120"/>
              </a:rPr>
              <a:t>4</a:t>
            </a:r>
            <a:endParaRPr lang="en-US" sz="1200" dirty="0"/>
          </a:p>
        </p:txBody>
      </p:sp>
      <p:sp>
        <p:nvSpPr>
          <p:cNvPr id="30" name="Text 28"/>
          <p:cNvSpPr txBox="1"/>
          <p:nvPr/>
        </p:nvSpPr>
        <p:spPr>
          <a:xfrm>
            <a:off x="8961120" y="2249424"/>
            <a:ext cx="2221992" cy="256032"/>
          </a:xfrm>
          <a:prstGeom prst="rect">
            <a:avLst/>
          </a:prstGeom>
          <a:noFill/>
          <a:ln/>
        </p:spPr>
        <p:txBody>
          <a:bodyPr wrap="square" lIns="0" tIns="0" rIns="0" bIns="0" rtlCol="0" anchor="ctr"/>
          <a:lstStyle/>
          <a:p>
            <a:pPr indent="0" marL="0">
              <a:buNone/>
            </a:pPr>
            <a:r>
              <a:rPr lang="en-US" sz="1400" b="1" dirty="0">
                <a:solidFill>
                  <a:srgbClr val="12213E"/>
                </a:solidFill>
                <a:latin typeface="Cambria" pitchFamily="34" charset="0"/>
                <a:ea typeface="Cambria" pitchFamily="34" charset="-122"/>
                <a:cs typeface="Cambria" pitchFamily="34" charset="-120"/>
              </a:rPr>
              <a:t>PROMOTE</a:t>
            </a:r>
            <a:endParaRPr lang="en-US" sz="1400" dirty="0"/>
          </a:p>
        </p:txBody>
      </p:sp>
      <p:sp>
        <p:nvSpPr>
          <p:cNvPr id="31" name="Text 29"/>
          <p:cNvSpPr txBox="1"/>
          <p:nvPr/>
        </p:nvSpPr>
        <p:spPr>
          <a:xfrm>
            <a:off x="8961120" y="2523744"/>
            <a:ext cx="2221992" cy="393192"/>
          </a:xfrm>
          <a:prstGeom prst="rect">
            <a:avLst/>
          </a:prstGeom>
          <a:noFill/>
          <a:ln/>
        </p:spPr>
        <p:txBody>
          <a:bodyPr wrap="square" lIns="0" tIns="0" rIns="0" bIns="0" rtlCol="0" anchor="t"/>
          <a:lstStyle/>
          <a:p>
            <a:pPr indent="0" marL="0">
              <a:buNone/>
            </a:pPr>
            <a:r>
              <a:rPr lang="en-US" sz="860" dirty="0">
                <a:solidFill>
                  <a:srgbClr val="1B2436"/>
                </a:solidFill>
                <a:latin typeface="Calibri" pitchFamily="34" charset="0"/>
                <a:ea typeface="Calibri" pitchFamily="34" charset="-122"/>
                <a:cs typeface="Calibri" pitchFamily="34" charset="-120"/>
              </a:rPr>
              <a:t>Merge onto the OHLCV per-bar spine into market_data (87 columns).</a:t>
            </a:r>
            <a:endParaRPr lang="en-US" sz="860" dirty="0"/>
          </a:p>
        </p:txBody>
      </p:sp>
      <p:sp>
        <p:nvSpPr>
          <p:cNvPr id="32" name="Shape 30"/>
          <p:cNvSpPr/>
          <p:nvPr/>
        </p:nvSpPr>
        <p:spPr>
          <a:xfrm>
            <a:off x="6044184" y="3227832"/>
            <a:ext cx="2514600" cy="457200"/>
          </a:xfrm>
          <a:prstGeom prst="roundRect">
            <a:avLst>
              <a:gd name="adj" fmla="val 12000"/>
            </a:avLst>
          </a:prstGeom>
          <a:solidFill>
            <a:srgbClr val="F3DFDF"/>
          </a:solidFill>
          <a:ln w="12700">
            <a:solidFill>
              <a:srgbClr val="AD3B3B"/>
            </a:solidFill>
            <a:prstDash val="solid"/>
          </a:ln>
        </p:spPr>
      </p:sp>
      <p:sp>
        <p:nvSpPr>
          <p:cNvPr id="33" name="Text 31"/>
          <p:cNvSpPr txBox="1"/>
          <p:nvPr/>
        </p:nvSpPr>
        <p:spPr>
          <a:xfrm>
            <a:off x="6089904" y="3227832"/>
            <a:ext cx="2423160" cy="457200"/>
          </a:xfrm>
          <a:prstGeom prst="rect">
            <a:avLst/>
          </a:prstGeom>
          <a:noFill/>
          <a:ln/>
        </p:spPr>
        <p:txBody>
          <a:bodyPr wrap="square" lIns="25400" tIns="25400" rIns="25400" bIns="25400" rtlCol="0" anchor="ctr"/>
          <a:lstStyle/>
          <a:p>
            <a:pPr algn="ctr" indent="0" marL="0">
              <a:buNone/>
            </a:pPr>
            <a:r>
              <a:rPr lang="en-US" sz="800" b="1" dirty="0">
                <a:solidFill>
                  <a:srgbClr val="AD3B3B"/>
                </a:solidFill>
                <a:latin typeface="Calibri" pitchFamily="34" charset="0"/>
                <a:ea typeface="Calibri" pitchFamily="34" charset="-122"/>
                <a:cs typeface="Calibri" pitchFamily="34" charset="-120"/>
              </a:rPr>
              <a:t>CALCULATE — removed</a:t>
            </a:r>
            <a:endParaRPr lang="en-US" sz="800" dirty="0"/>
          </a:p>
          <a:p>
            <a:pPr algn="ctr" indent="0" marL="0">
              <a:buNone/>
            </a:pPr>
            <a:r>
              <a:rPr lang="en-US" sz="800" b="1" dirty="0">
                <a:solidFill>
                  <a:srgbClr val="AD3B3B"/>
                </a:solidFill>
                <a:latin typeface="Calibri" pitchFamily="34" charset="0"/>
                <a:ea typeface="Calibri" pitchFamily="34" charset="-122"/>
                <a:cs typeface="Calibri" pitchFamily="34" charset="-120"/>
              </a:rPr>
              <a:t>(4 Python modules, archived)</a:t>
            </a:r>
            <a:endParaRPr lang="en-US" sz="800" dirty="0"/>
          </a:p>
        </p:txBody>
      </p:sp>
      <p:sp>
        <p:nvSpPr>
          <p:cNvPr id="34" name="Shape 32"/>
          <p:cNvSpPr/>
          <p:nvPr/>
        </p:nvSpPr>
        <p:spPr>
          <a:xfrm>
            <a:off x="7301484" y="2971800"/>
            <a:ext cx="0" cy="256032"/>
          </a:xfrm>
          <a:prstGeom prst="line">
            <a:avLst/>
          </a:prstGeom>
          <a:noFill/>
          <a:ln w="15875">
            <a:solidFill>
              <a:srgbClr val="AD3B3B"/>
            </a:solidFill>
            <a:prstDash val="dash"/>
          </a:ln>
        </p:spPr>
      </p:sp>
      <p:sp>
        <p:nvSpPr>
          <p:cNvPr id="35" name="Text 33"/>
          <p:cNvSpPr txBox="1"/>
          <p:nvPr/>
        </p:nvSpPr>
        <p:spPr>
          <a:xfrm>
            <a:off x="502920" y="1481328"/>
            <a:ext cx="10058400" cy="219456"/>
          </a:xfrm>
          <a:prstGeom prst="rect">
            <a:avLst/>
          </a:prstGeom>
          <a:noFill/>
          <a:ln/>
        </p:spPr>
        <p:txBody>
          <a:bodyPr wrap="square" lIns="0" tIns="0" rIns="0" bIns="0" rtlCol="0" anchor="ctr"/>
          <a:lstStyle/>
          <a:p>
            <a:pPr indent="0" marL="0">
              <a:buNone/>
            </a:pPr>
            <a:r>
              <a:rPr lang="en-US" sz="1000" i="1" dirty="0">
                <a:solidFill>
                  <a:srgbClr val="63708C"/>
                </a:solidFill>
                <a:latin typeface="Calibri" pitchFamily="34" charset="0"/>
                <a:ea typeface="Calibri" pitchFamily="34" charset="-122"/>
                <a:cs typeface="Calibri" pitchFamily="34" charset="-120"/>
              </a:rPr>
              <a:t>MT5 Terminal  →  13 MQL5 indicators export .txt every minute</a:t>
            </a:r>
            <a:endParaRPr lang="en-US" sz="1000" dirty="0"/>
          </a:p>
        </p:txBody>
      </p:sp>
      <p:sp>
        <p:nvSpPr>
          <p:cNvPr id="36" name="Text 34"/>
          <p:cNvSpPr txBox="1"/>
          <p:nvPr/>
        </p:nvSpPr>
        <p:spPr>
          <a:xfrm>
            <a:off x="502920" y="3758184"/>
            <a:ext cx="11155680" cy="237744"/>
          </a:xfrm>
          <a:prstGeom prst="rect">
            <a:avLst/>
          </a:prstGeom>
          <a:noFill/>
          <a:ln/>
        </p:spPr>
        <p:txBody>
          <a:bodyPr wrap="square" lIns="0" tIns="0" rIns="0" bIns="0" rtlCol="0" anchor="ctr"/>
          <a:lstStyle/>
          <a:p>
            <a:pPr indent="0" marL="0">
              <a:buNone/>
            </a:pPr>
            <a:r>
              <a:rPr lang="en-US" sz="1000" b="1" dirty="0">
                <a:solidFill>
                  <a:srgbClr val="12213E"/>
                </a:solidFill>
                <a:latin typeface="Calibri" pitchFamily="34" charset="0"/>
                <a:ea typeface="Calibri" pitchFamily="34" charset="-122"/>
                <a:cs typeface="Calibri" pitchFamily="34" charset="-120"/>
              </a:rPr>
              <a:t>→  rows WHERE synced_at IS NULL  →  Python Push Worker  →  HTTP POST  →  Railway Gateway</a:t>
            </a:r>
            <a:endParaRPr lang="en-US" sz="1000" dirty="0"/>
          </a:p>
        </p:txBody>
      </p:sp>
      <p:sp>
        <p:nvSpPr>
          <p:cNvPr id="37" name="Shape 35"/>
          <p:cNvSpPr/>
          <p:nvPr/>
        </p:nvSpPr>
        <p:spPr>
          <a:xfrm>
            <a:off x="502920" y="4050792"/>
            <a:ext cx="11183112" cy="512064"/>
          </a:xfrm>
          <a:prstGeom prst="roundRect">
            <a:avLst>
              <a:gd name="adj" fmla="val 10714"/>
            </a:avLst>
          </a:prstGeom>
          <a:solidFill>
            <a:srgbClr val="EEF1F7"/>
          </a:solidFill>
          <a:ln w="12700">
            <a:solidFill>
              <a:srgbClr val="DCE3EF"/>
            </a:solidFill>
            <a:prstDash val="solid"/>
          </a:ln>
        </p:spPr>
      </p:sp>
      <p:sp>
        <p:nvSpPr>
          <p:cNvPr id="38" name="Text 36"/>
          <p:cNvSpPr txBox="1"/>
          <p:nvPr/>
        </p:nvSpPr>
        <p:spPr>
          <a:xfrm>
            <a:off x="685800" y="4050792"/>
            <a:ext cx="10789920" cy="512064"/>
          </a:xfrm>
          <a:prstGeom prst="rect">
            <a:avLst/>
          </a:prstGeom>
          <a:noFill/>
          <a:ln/>
        </p:spPr>
        <p:txBody>
          <a:bodyPr wrap="square" lIns="0" tIns="0" rIns="0" bIns="0" rtlCol="0" anchor="ctr"/>
          <a:lstStyle/>
          <a:p>
            <a:pPr indent="0" marL="0">
              <a:buNone/>
            </a:pPr>
            <a:r>
              <a:rPr lang="en-US" sz="1000" b="1" dirty="0">
                <a:solidFill>
                  <a:srgbClr val="44577E"/>
                </a:solidFill>
                <a:latin typeface="Calibri" pitchFamily="34" charset="0"/>
                <a:ea typeface="Calibri" pitchFamily="34" charset="-122"/>
                <a:cs typeface="Calibri" pitchFamily="34" charset="-120"/>
              </a:rPr>
              <a:t>Why PROMOTE got simpler:  </a:t>
            </a:r>
            <a:pPr indent="0" marL="0">
              <a:buNone/>
            </a:pPr>
            <a:r>
              <a:rPr lang="en-US" sz="1000" dirty="0">
                <a:solidFill>
                  <a:srgbClr val="1B2436"/>
                </a:solidFill>
                <a:latin typeface="Calibri" pitchFamily="34" charset="0"/>
                <a:ea typeface="Calibri" pitchFamily="34" charset="-122"/>
                <a:cs typeface="Calibri" pitchFamily="34" charset="-120"/>
              </a:rPr>
              <a:t>it used to merge two sources (staged admin columns + freshly calculated columns). It is now a straight copy, because everything already arrived from MT5.</a:t>
            </a:r>
            <a:endParaRPr lang="en-US" sz="1000" dirty="0"/>
          </a:p>
        </p:txBody>
      </p:sp>
      <p:sp>
        <p:nvSpPr>
          <p:cNvPr id="39" name="Text 37"/>
          <p:cNvSpPr txBox="1"/>
          <p:nvPr/>
        </p:nvSpPr>
        <p:spPr>
          <a:xfrm>
            <a:off x="502920" y="4709160"/>
            <a:ext cx="8229600" cy="256032"/>
          </a:xfrm>
          <a:prstGeom prst="rect">
            <a:avLst/>
          </a:prstGeom>
          <a:noFill/>
          <a:ln/>
        </p:spPr>
        <p:txBody>
          <a:bodyPr wrap="square" lIns="0" tIns="0" rIns="0" bIns="0" rtlCol="0" anchor="ctr"/>
          <a:lstStyle/>
          <a:p>
            <a:pPr indent="0" marL="0">
              <a:buNone/>
            </a:pPr>
            <a:r>
              <a:rPr lang="en-US" sz="1100" b="1" spc="150" kern="0" dirty="0">
                <a:solidFill>
                  <a:srgbClr val="44577E"/>
                </a:solidFill>
                <a:latin typeface="Calibri" pitchFamily="34" charset="0"/>
                <a:ea typeface="Calibri" pitchFamily="34" charset="-122"/>
                <a:cs typeface="Calibri" pitchFamily="34" charset="-120"/>
              </a:rPr>
              <a:t>SIDE PATH — ONLY FOR CYCLES THAT PASSED VALIDATE</a:t>
            </a:r>
            <a:endParaRPr lang="en-US" sz="1100" dirty="0"/>
          </a:p>
        </p:txBody>
      </p:sp>
      <p:sp>
        <p:nvSpPr>
          <p:cNvPr id="40" name="Shape 38"/>
          <p:cNvSpPr/>
          <p:nvPr/>
        </p:nvSpPr>
        <p:spPr>
          <a:xfrm>
            <a:off x="502920" y="4983480"/>
            <a:ext cx="2658618" cy="457200"/>
          </a:xfrm>
          <a:prstGeom prst="roundRect">
            <a:avLst>
              <a:gd name="adj" fmla="val 12000"/>
            </a:avLst>
          </a:prstGeom>
          <a:solidFill>
            <a:srgbClr val="E7CE96"/>
          </a:solidFill>
          <a:ln w="12700">
            <a:solidFill>
              <a:srgbClr val="C1922C"/>
            </a:solidFill>
            <a:prstDash val="solid"/>
          </a:ln>
        </p:spPr>
      </p:sp>
      <p:sp>
        <p:nvSpPr>
          <p:cNvPr id="41" name="Text 39"/>
          <p:cNvSpPr txBox="1"/>
          <p:nvPr/>
        </p:nvSpPr>
        <p:spPr>
          <a:xfrm>
            <a:off x="548640" y="4983480"/>
            <a:ext cx="2567178" cy="457200"/>
          </a:xfrm>
          <a:prstGeom prst="rect">
            <a:avLst/>
          </a:prstGeom>
          <a:noFill/>
          <a:ln/>
        </p:spPr>
        <p:txBody>
          <a:bodyPr wrap="square" lIns="25400" tIns="25400" rIns="25400" bIns="25400" rtlCol="0" anchor="ctr"/>
          <a:lstStyle/>
          <a:p>
            <a:pPr algn="ctr" indent="0" marL="0">
              <a:buNone/>
            </a:pPr>
            <a:r>
              <a:rPr lang="en-US" sz="800" b="1" dirty="0">
                <a:solidFill>
                  <a:srgbClr val="12213E"/>
                </a:solidFill>
                <a:latin typeface="Calibri" pitchFamily="34" charset="0"/>
                <a:ea typeface="Calibri" pitchFamily="34" charset="-122"/>
                <a:cs typeface="Calibri" pitchFamily="34" charset="-120"/>
              </a:rPr>
              <a:t>10 _Statistic.txt</a:t>
            </a:r>
            <a:endParaRPr lang="en-US" sz="800" dirty="0"/>
          </a:p>
        </p:txBody>
      </p:sp>
      <p:sp>
        <p:nvSpPr>
          <p:cNvPr id="42" name="Shape 40"/>
          <p:cNvSpPr/>
          <p:nvPr/>
        </p:nvSpPr>
        <p:spPr>
          <a:xfrm>
            <a:off x="3179826" y="5148072"/>
            <a:ext cx="146304" cy="128016"/>
          </a:xfrm>
          <a:prstGeom prst="rightArrow">
            <a:avLst/>
          </a:prstGeom>
          <a:solidFill>
            <a:srgbClr val="C1922C"/>
          </a:solidFill>
          <a:ln/>
        </p:spPr>
      </p:sp>
      <p:sp>
        <p:nvSpPr>
          <p:cNvPr id="43" name="Shape 41"/>
          <p:cNvSpPr/>
          <p:nvPr/>
        </p:nvSpPr>
        <p:spPr>
          <a:xfrm>
            <a:off x="3344418" y="4983480"/>
            <a:ext cx="2658618" cy="457200"/>
          </a:xfrm>
          <a:prstGeom prst="roundRect">
            <a:avLst>
              <a:gd name="adj" fmla="val 12000"/>
            </a:avLst>
          </a:prstGeom>
          <a:solidFill>
            <a:srgbClr val="E7CE96"/>
          </a:solidFill>
          <a:ln w="12700">
            <a:solidFill>
              <a:srgbClr val="C1922C"/>
            </a:solidFill>
            <a:prstDash val="solid"/>
          </a:ln>
        </p:spPr>
      </p:sp>
      <p:sp>
        <p:nvSpPr>
          <p:cNvPr id="44" name="Text 42"/>
          <p:cNvSpPr txBox="1"/>
          <p:nvPr/>
        </p:nvSpPr>
        <p:spPr>
          <a:xfrm>
            <a:off x="3390138" y="4983480"/>
            <a:ext cx="2567178" cy="457200"/>
          </a:xfrm>
          <a:prstGeom prst="rect">
            <a:avLst/>
          </a:prstGeom>
          <a:noFill/>
          <a:ln/>
        </p:spPr>
        <p:txBody>
          <a:bodyPr wrap="square" lIns="25400" tIns="25400" rIns="25400" bIns="25400" rtlCol="0" anchor="ctr"/>
          <a:lstStyle/>
          <a:p>
            <a:pPr algn="ctr" indent="0" marL="0">
              <a:buNone/>
            </a:pPr>
            <a:r>
              <a:rPr lang="en-US" sz="800" b="1" dirty="0">
                <a:solidFill>
                  <a:srgbClr val="12213E"/>
                </a:solidFill>
                <a:latin typeface="Calibri" pitchFamily="34" charset="0"/>
                <a:ea typeface="Calibri" pitchFamily="34" charset="-122"/>
                <a:cs typeface="Calibri" pitchFamily="34" charset="-120"/>
              </a:rPr>
              <a:t>Parse</a:t>
            </a:r>
            <a:endParaRPr lang="en-US" sz="800" dirty="0"/>
          </a:p>
        </p:txBody>
      </p:sp>
      <p:sp>
        <p:nvSpPr>
          <p:cNvPr id="45" name="Shape 43"/>
          <p:cNvSpPr/>
          <p:nvPr/>
        </p:nvSpPr>
        <p:spPr>
          <a:xfrm>
            <a:off x="6021324" y="5148072"/>
            <a:ext cx="146304" cy="128016"/>
          </a:xfrm>
          <a:prstGeom prst="rightArrow">
            <a:avLst/>
          </a:prstGeom>
          <a:solidFill>
            <a:srgbClr val="C1922C"/>
          </a:solidFill>
          <a:ln/>
        </p:spPr>
      </p:sp>
      <p:sp>
        <p:nvSpPr>
          <p:cNvPr id="46" name="Shape 44"/>
          <p:cNvSpPr/>
          <p:nvPr/>
        </p:nvSpPr>
        <p:spPr>
          <a:xfrm>
            <a:off x="6185916" y="4983480"/>
            <a:ext cx="2658618" cy="457200"/>
          </a:xfrm>
          <a:prstGeom prst="roundRect">
            <a:avLst>
              <a:gd name="adj" fmla="val 12000"/>
            </a:avLst>
          </a:prstGeom>
          <a:solidFill>
            <a:srgbClr val="E7CE96"/>
          </a:solidFill>
          <a:ln w="12700">
            <a:solidFill>
              <a:srgbClr val="C1922C"/>
            </a:solidFill>
            <a:prstDash val="solid"/>
          </a:ln>
        </p:spPr>
      </p:sp>
      <p:sp>
        <p:nvSpPr>
          <p:cNvPr id="47" name="Text 45"/>
          <p:cNvSpPr txBox="1"/>
          <p:nvPr/>
        </p:nvSpPr>
        <p:spPr>
          <a:xfrm>
            <a:off x="6231636" y="4983480"/>
            <a:ext cx="2567178" cy="457200"/>
          </a:xfrm>
          <a:prstGeom prst="rect">
            <a:avLst/>
          </a:prstGeom>
          <a:noFill/>
          <a:ln/>
        </p:spPr>
        <p:txBody>
          <a:bodyPr wrap="square" lIns="25400" tIns="25400" rIns="25400" bIns="25400" rtlCol="0" anchor="ctr"/>
          <a:lstStyle/>
          <a:p>
            <a:pPr algn="ctr" indent="0" marL="0">
              <a:buNone/>
            </a:pPr>
            <a:r>
              <a:rPr lang="en-US" sz="800" b="1" dirty="0">
                <a:solidFill>
                  <a:srgbClr val="12213E"/>
                </a:solidFill>
                <a:latin typeface="Calibri" pitchFamily="34" charset="0"/>
                <a:ea typeface="Calibri" pitchFamily="34" charset="-122"/>
                <a:cs typeface="Calibri" pitchFamily="34" charset="-120"/>
              </a:rPr>
              <a:t>indicator_statistics</a:t>
            </a:r>
            <a:endParaRPr lang="en-US" sz="800" dirty="0"/>
          </a:p>
          <a:p>
            <a:pPr algn="ctr" indent="0" marL="0">
              <a:buNone/>
            </a:pPr>
            <a:r>
              <a:rPr lang="en-US" sz="800" b="1" dirty="0">
                <a:solidFill>
                  <a:srgbClr val="12213E"/>
                </a:solidFill>
                <a:latin typeface="Calibri" pitchFamily="34" charset="0"/>
                <a:ea typeface="Calibri" pitchFamily="34" charset="-122"/>
                <a:cs typeface="Calibri" pitchFamily="34" charset="-120"/>
              </a:rPr>
              <a:t>outbox (append-only)</a:t>
            </a:r>
            <a:endParaRPr lang="en-US" sz="800" dirty="0"/>
          </a:p>
        </p:txBody>
      </p:sp>
      <p:sp>
        <p:nvSpPr>
          <p:cNvPr id="48" name="Shape 46"/>
          <p:cNvSpPr/>
          <p:nvPr/>
        </p:nvSpPr>
        <p:spPr>
          <a:xfrm>
            <a:off x="8862822" y="5148072"/>
            <a:ext cx="146304" cy="128016"/>
          </a:xfrm>
          <a:prstGeom prst="rightArrow">
            <a:avLst/>
          </a:prstGeom>
          <a:solidFill>
            <a:srgbClr val="C1922C"/>
          </a:solidFill>
          <a:ln/>
        </p:spPr>
      </p:sp>
      <p:sp>
        <p:nvSpPr>
          <p:cNvPr id="49" name="Shape 47"/>
          <p:cNvSpPr/>
          <p:nvPr/>
        </p:nvSpPr>
        <p:spPr>
          <a:xfrm>
            <a:off x="9027414" y="4983480"/>
            <a:ext cx="2658618" cy="457200"/>
          </a:xfrm>
          <a:prstGeom prst="roundRect">
            <a:avLst>
              <a:gd name="adj" fmla="val 12000"/>
            </a:avLst>
          </a:prstGeom>
          <a:solidFill>
            <a:srgbClr val="E7CE96"/>
          </a:solidFill>
          <a:ln w="12700">
            <a:solidFill>
              <a:srgbClr val="C1922C"/>
            </a:solidFill>
            <a:prstDash val="solid"/>
          </a:ln>
        </p:spPr>
      </p:sp>
      <p:sp>
        <p:nvSpPr>
          <p:cNvPr id="50" name="Text 48"/>
          <p:cNvSpPr txBox="1"/>
          <p:nvPr/>
        </p:nvSpPr>
        <p:spPr>
          <a:xfrm>
            <a:off x="9073134" y="4983480"/>
            <a:ext cx="2567178" cy="457200"/>
          </a:xfrm>
          <a:prstGeom prst="rect">
            <a:avLst/>
          </a:prstGeom>
          <a:noFill/>
          <a:ln/>
        </p:spPr>
        <p:txBody>
          <a:bodyPr wrap="square" lIns="25400" tIns="25400" rIns="25400" bIns="25400" rtlCol="0" anchor="ctr"/>
          <a:lstStyle/>
          <a:p>
            <a:pPr algn="ctr" indent="0" marL="0">
              <a:buNone/>
            </a:pPr>
            <a:r>
              <a:rPr lang="en-US" sz="800" b="1" dirty="0">
                <a:solidFill>
                  <a:srgbClr val="12213E"/>
                </a:solidFill>
                <a:latin typeface="Calibri" pitchFamily="34" charset="0"/>
                <a:ea typeface="Calibri" pitchFamily="34" charset="-122"/>
                <a:cs typeface="Calibri" pitchFamily="34" charset="-120"/>
              </a:rPr>
              <a:t>Batched POST →</a:t>
            </a:r>
            <a:endParaRPr lang="en-US" sz="800" dirty="0"/>
          </a:p>
          <a:p>
            <a:pPr algn="ctr" indent="0" marL="0">
              <a:buNone/>
            </a:pPr>
            <a:r>
              <a:rPr lang="en-US" sz="800" b="1" dirty="0">
                <a:solidFill>
                  <a:srgbClr val="12213E"/>
                </a:solidFill>
                <a:latin typeface="Calibri" pitchFamily="34" charset="0"/>
                <a:ea typeface="Calibri" pitchFamily="34" charset="-122"/>
                <a:cs typeface="Calibri" pitchFamily="34" charset="-120"/>
              </a:rPr>
              <a:t>own queue + processor</a:t>
            </a:r>
            <a:endParaRPr lang="en-US" sz="800" dirty="0"/>
          </a:p>
        </p:txBody>
      </p:sp>
      <p:sp>
        <p:nvSpPr>
          <p:cNvPr id="51" name="Text 49"/>
          <p:cNvSpPr txBox="1"/>
          <p:nvPr/>
        </p:nvSpPr>
        <p:spPr>
          <a:xfrm>
            <a:off x="502920" y="5550408"/>
            <a:ext cx="11183112" cy="274320"/>
          </a:xfrm>
          <a:prstGeom prst="rect">
            <a:avLst/>
          </a:prstGeom>
          <a:noFill/>
          <a:ln/>
        </p:spPr>
        <p:txBody>
          <a:bodyPr wrap="square" lIns="0" tIns="0" rIns="0" bIns="0" rtlCol="0" anchor="ctr"/>
          <a:lstStyle/>
          <a:p>
            <a:pPr indent="0" marL="0">
              <a:buNone/>
            </a:pPr>
            <a:r>
              <a:rPr lang="en-US" sz="930" i="1" dirty="0">
                <a:solidFill>
                  <a:srgbClr val="63708C"/>
                </a:solidFill>
                <a:latin typeface="Calibri" pitchFamily="34" charset="0"/>
                <a:ea typeface="Calibri" pitchFamily="34" charset="-122"/>
                <a:cs typeface="Calibri" pitchFamily="34" charset="-120"/>
              </a:rPr>
              <a:t>Wrapped so any failure here is a logged warning — never a rejected cycle. Statistics describe a cycle; they are not a precondition for one.</a:t>
            </a:r>
            <a:endParaRPr lang="en-US" sz="9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12213E"/>
          </a:solidFill>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2000" b="1" dirty="0">
                <a:solidFill>
                  <a:srgbClr val="E7CE96"/>
                </a:solidFill>
                <a:latin typeface="Cambria" pitchFamily="34" charset="0"/>
                <a:ea typeface="Cambria" pitchFamily="34" charset="-122"/>
                <a:cs typeface="Cambria" pitchFamily="34" charset="-120"/>
              </a:rPr>
              <a:t>04</a:t>
            </a:r>
            <a:endParaRPr lang="en-US" sz="2000" dirty="0"/>
          </a:p>
        </p:txBody>
      </p:sp>
      <p:sp>
        <p:nvSpPr>
          <p:cNvPr id="4" name="Text 2"/>
          <p:cNvSpPr txBox="1"/>
          <p:nvPr/>
        </p:nvSpPr>
        <p:spPr>
          <a:xfrm>
            <a:off x="1216152" y="420624"/>
            <a:ext cx="8686800" cy="256032"/>
          </a:xfrm>
          <a:prstGeom prst="rect">
            <a:avLst/>
          </a:prstGeom>
          <a:noFill/>
          <a:ln/>
        </p:spPr>
        <p:txBody>
          <a:bodyPr wrap="square" lIns="0" tIns="0" rIns="0" bIns="0" rtlCol="0" anchor="ctr"/>
          <a:lstStyle/>
          <a:p>
            <a:pPr indent="0" marL="0">
              <a:buNone/>
            </a:pPr>
            <a:r>
              <a:rPr lang="en-US" sz="1100" b="1" spc="200" kern="0" dirty="0">
                <a:solidFill>
                  <a:srgbClr val="C1922C"/>
                </a:solidFill>
                <a:latin typeface="Calibri" pitchFamily="34" charset="0"/>
                <a:ea typeface="Calibri" pitchFamily="34" charset="-122"/>
                <a:cs typeface="Calibri" pitchFamily="34" charset="-120"/>
              </a:rPr>
              <a:t>THE CORE CHANGE</a:t>
            </a:r>
            <a:endParaRPr lang="en-US" sz="1100" dirty="0"/>
          </a:p>
        </p:txBody>
      </p:sp>
      <p:sp>
        <p:nvSpPr>
          <p:cNvPr id="5" name="Text 3"/>
          <p:cNvSpPr txBox="1"/>
          <p:nvPr/>
        </p:nvSpPr>
        <p:spPr>
          <a:xfrm>
            <a:off x="1216152" y="658368"/>
            <a:ext cx="9601200" cy="502920"/>
          </a:xfrm>
          <a:prstGeom prst="rect">
            <a:avLst/>
          </a:prstGeom>
          <a:noFill/>
          <a:ln/>
        </p:spPr>
        <p:txBody>
          <a:bodyPr wrap="square" lIns="0" tIns="0" rIns="0" bIns="0" rtlCol="0" anchor="ctr"/>
          <a:lstStyle/>
          <a:p>
            <a:pPr indent="0" marL="0">
              <a:buNone/>
            </a:pPr>
            <a:r>
              <a:rPr lang="en-US" sz="2700" b="1" dirty="0">
                <a:solidFill>
                  <a:srgbClr val="12213E"/>
                </a:solidFill>
                <a:latin typeface="Cambria" pitchFamily="34" charset="0"/>
                <a:ea typeface="Cambria" pitchFamily="34" charset="-122"/>
                <a:cs typeface="Cambria" pitchFamily="34" charset="-120"/>
              </a:rPr>
              <a:t>Who Calculates What</a:t>
            </a:r>
            <a:endParaRPr lang="en-US" sz="2700" dirty="0"/>
          </a:p>
        </p:txBody>
      </p:sp>
      <p:sp>
        <p:nvSpPr>
          <p:cNvPr id="6" name="Text 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3708C"/>
                </a:solidFill>
                <a:latin typeface="Calibri" pitchFamily="34" charset="0"/>
                <a:ea typeface="Calibri" pitchFamily="34" charset="-122"/>
                <a:cs typeface="Calibri" pitchFamily="34" charset="-120"/>
              </a:rPr>
              <a:t>V2.29 Data Pipeline  ·  XAUUSD  M5 / M15</a:t>
            </a:r>
            <a:endParaRPr lang="en-US" sz="900" dirty="0"/>
          </a:p>
        </p:txBody>
      </p:sp>
      <p:sp>
        <p:nvSpPr>
          <p:cNvPr id="7" name="Text 5"/>
          <p:cNvSpPr txBox="1"/>
          <p:nvPr/>
        </p:nvSpPr>
        <p:spPr>
          <a:xfrm>
            <a:off x="10588752" y="6473952"/>
            <a:ext cx="1097280" cy="274320"/>
          </a:xfrm>
          <a:prstGeom prst="rect">
            <a:avLst/>
          </a:prstGeom>
          <a:noFill/>
          <a:ln/>
        </p:spPr>
        <p:txBody>
          <a:bodyPr wrap="square" lIns="0" tIns="0" rIns="0" bIns="0" rtlCol="0" anchor="ctr"/>
          <a:lstStyle/>
          <a:p>
            <a:pPr algn="r" indent="0" marL="0">
              <a:buNone/>
            </a:pPr>
            <a:r>
              <a:rPr lang="en-US" sz="900" dirty="0">
                <a:solidFill>
                  <a:srgbClr val="63708C"/>
                </a:solidFill>
                <a:latin typeface="Calibri" pitchFamily="34" charset="0"/>
                <a:ea typeface="Calibri" pitchFamily="34" charset="-122"/>
                <a:cs typeface="Calibri" pitchFamily="34" charset="-120"/>
              </a:rPr>
              <a:t>04</a:t>
            </a:r>
            <a:endParaRPr lang="en-US" sz="900" dirty="0"/>
          </a:p>
        </p:txBody>
      </p:sp>
      <p:sp>
        <p:nvSpPr>
          <p:cNvPr id="8" name="Shape 6"/>
          <p:cNvSpPr/>
          <p:nvPr/>
        </p:nvSpPr>
        <p:spPr>
          <a:xfrm>
            <a:off x="502920" y="1298448"/>
            <a:ext cx="5394960" cy="777240"/>
          </a:xfrm>
          <a:prstGeom prst="roundRect">
            <a:avLst>
              <a:gd name="adj" fmla="val 7059"/>
            </a:avLst>
          </a:prstGeom>
          <a:solidFill>
            <a:srgbClr val="EEF1F7"/>
          </a:solidFill>
          <a:ln w="12700">
            <a:solidFill>
              <a:srgbClr val="DCE3EF"/>
            </a:solidFill>
            <a:prstDash val="solid"/>
          </a:ln>
        </p:spPr>
      </p:sp>
      <p:sp>
        <p:nvSpPr>
          <p:cNvPr id="9" name="Text 7"/>
          <p:cNvSpPr txBox="1"/>
          <p:nvPr/>
        </p:nvSpPr>
        <p:spPr>
          <a:xfrm>
            <a:off x="685800" y="1371600"/>
            <a:ext cx="5029200" cy="630936"/>
          </a:xfrm>
          <a:prstGeom prst="rect">
            <a:avLst/>
          </a:prstGeom>
          <a:noFill/>
          <a:ln/>
        </p:spPr>
        <p:txBody>
          <a:bodyPr wrap="square" lIns="0" tIns="0" rIns="0" bIns="0" rtlCol="0" anchor="ctr"/>
          <a:lstStyle/>
          <a:p>
            <a:pPr indent="0" marL="0">
              <a:buNone/>
            </a:pPr>
            <a:r>
              <a:rPr lang="en-US" sz="1000" b="1" dirty="0">
                <a:solidFill>
                  <a:srgbClr val="63708C"/>
                </a:solidFill>
                <a:latin typeface="Calibri" pitchFamily="34" charset="0"/>
                <a:ea typeface="Calibri" pitchFamily="34" charset="-122"/>
                <a:cs typeface="Calibri" pitchFamily="34" charset="-120"/>
              </a:rPr>
              <a:t>BEFORE   </a:t>
            </a:r>
            <a:pPr indent="0" marL="0">
              <a:buNone/>
            </a:pPr>
            <a:r>
              <a:rPr lang="en-US" sz="1050" dirty="0">
                <a:solidFill>
                  <a:srgbClr val="1B2436"/>
                </a:solidFill>
                <a:latin typeface="Calibri" pitchFamily="34" charset="0"/>
                <a:ea typeface="Calibri" pitchFamily="34" charset="-122"/>
                <a:cs typeface="Calibri" pitchFamily="34" charset="-120"/>
              </a:rPr>
              <a:t>MQL5 computed a stable “admin layer” (SSA, crossings, fractal maps, OHLCV, ZigZag pivots); Python recomputed the “derived layer” (centroid baselines/EDTs, fractal &amp; S/R lines, ZigZag metrics, z-score body set).</a:t>
            </a:r>
            <a:endParaRPr lang="en-US" sz="1000" dirty="0"/>
          </a:p>
        </p:txBody>
      </p:sp>
      <p:sp>
        <p:nvSpPr>
          <p:cNvPr id="10" name="Shape 8"/>
          <p:cNvSpPr/>
          <p:nvPr/>
        </p:nvSpPr>
        <p:spPr>
          <a:xfrm>
            <a:off x="6126480" y="1298448"/>
            <a:ext cx="5559552" cy="777240"/>
          </a:xfrm>
          <a:prstGeom prst="roundRect">
            <a:avLst>
              <a:gd name="adj" fmla="val 7059"/>
            </a:avLst>
          </a:prstGeom>
          <a:solidFill>
            <a:srgbClr val="223A66"/>
          </a:solidFill>
          <a:ln w="12700">
            <a:solidFill>
              <a:srgbClr val="DCE3EF"/>
            </a:solidFill>
            <a:prstDash val="solid"/>
          </a:ln>
        </p:spPr>
      </p:sp>
      <p:sp>
        <p:nvSpPr>
          <p:cNvPr id="11" name="Text 9"/>
          <p:cNvSpPr txBox="1"/>
          <p:nvPr/>
        </p:nvSpPr>
        <p:spPr>
          <a:xfrm>
            <a:off x="6309360" y="1371600"/>
            <a:ext cx="5193792" cy="630936"/>
          </a:xfrm>
          <a:prstGeom prst="rect">
            <a:avLst/>
          </a:prstGeom>
          <a:noFill/>
          <a:ln/>
        </p:spPr>
        <p:txBody>
          <a:bodyPr wrap="square" lIns="0" tIns="0" rIns="0" bIns="0" rtlCol="0" anchor="ctr"/>
          <a:lstStyle/>
          <a:p>
            <a:pPr indent="0" marL="0">
              <a:buNone/>
            </a:pPr>
            <a:r>
              <a:rPr lang="en-US" sz="1000" b="1" dirty="0">
                <a:solidFill>
                  <a:srgbClr val="E7CE96"/>
                </a:solidFill>
                <a:latin typeface="Calibri" pitchFamily="34" charset="0"/>
                <a:ea typeface="Calibri" pitchFamily="34" charset="-122"/>
                <a:cs typeface="Calibri" pitchFamily="34" charset="-120"/>
              </a:rPr>
              <a:t>NOW   </a:t>
            </a:r>
            <a:pPr indent="0" marL="0">
              <a:buNone/>
            </a:pPr>
            <a:r>
              <a:rPr lang="en-US" sz="1100" dirty="0">
                <a:solidFill>
                  <a:srgbClr val="FFFFFF"/>
                </a:solidFill>
                <a:latin typeface="Calibri" pitchFamily="34" charset="0"/>
                <a:ea typeface="Calibri" pitchFamily="34" charset="-122"/>
                <a:cs typeface="Calibri" pitchFamily="34" charset="-120"/>
              </a:rPr>
              <a:t>MQL5 computes all 83 data fields and exports them. Python adds only 4 provenance fields.</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258568"/>
          <a:ext cx="11183112" cy="3611880"/>
        </p:xfrm>
        <a:graphic>
          <a:graphicData uri="http://schemas.openxmlformats.org/drawingml/2006/table">
            <a:tbl>
              <a:tblPr/>
              <a:tblGrid>
                <a:gridCol w="4572000"/>
                <a:gridCol w="6611112"/>
              </a:tblGrid>
              <a:tr h="292608">
                <a:tc>
                  <a:txBody>
                    <a:bodyPr/>
                    <a:lstStyle/>
                    <a:p>
                      <a:pPr indent="0" marL="0">
                        <a:buNone/>
                      </a:pPr>
                      <a:r>
                        <a:rPr lang="en-US" sz="1050" b="1" dirty="0">
                          <a:solidFill>
                            <a:srgbClr val="FFFFFF"/>
                          </a:solidFill>
                        </a:rPr>
                        <a:t>Source (13 total)</a:t>
                      </a:r>
                      <a:endParaRPr lang="en-US" sz="1050" dirty="0"/>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12213E"/>
                    </a:solidFill>
                  </a:tcPr>
                </a:tc>
                <a:tc>
                  <a:txBody>
                    <a:bodyPr/>
                    <a:lstStyle/>
                    <a:p>
                      <a:pPr indent="0" marL="0">
                        <a:buNone/>
                      </a:pPr>
                      <a:r>
                        <a:rPr lang="en-US" sz="1050" b="1" dirty="0">
                          <a:solidFill>
                            <a:srgbClr val="FFFFFF"/>
                          </a:solidFill>
                        </a:rPr>
                        <a:t>Exports</a:t>
                      </a:r>
                      <a:endParaRPr lang="en-US" sz="1050" dirty="0"/>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12213E"/>
                    </a:solidFill>
                  </a:tcPr>
                </a:tc>
              </a:tr>
              <a:tr h="457200">
                <a:tc>
                  <a:txBody>
                    <a:bodyPr/>
                    <a:lstStyle/>
                    <a:p>
                      <a:pPr indent="0" marL="0">
                        <a:buNone/>
                      </a:pPr>
                      <a:r>
                        <a:rPr lang="en-US" sz="930" dirty="0">
                          <a:solidFill>
                            <a:srgbClr val="1B2436"/>
                          </a:solidFill>
                          <a:latin typeface="Calibri" pitchFamily="34" charset="0"/>
                          <a:ea typeface="Calibri" pitchFamily="34" charset="-122"/>
                          <a:cs typeface="Calibri" pitchFamily="34" charset="-120"/>
                        </a:rPr>
                        <a:t>7 centroid variants (best_fit_a/b, cherry_a/b, most_recent, non_a/b)</a:t>
                      </a:r>
                      <a:endParaRPr lang="en-US" sz="930" dirty="0">
                        <a:latin typeface="Calibri" charset="0"/>
                        <a:ea typeface="Calibri" charset="0"/>
                        <a:cs typeface="Calibri"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30" dirty="0">
                          <a:solidFill>
                            <a:srgbClr val="1B2436"/>
                          </a:solidFill>
                          <a:latin typeface="Courier New" pitchFamily="34" charset="0"/>
                          <a:ea typeface="Courier New" pitchFamily="34" charset="-122"/>
                          <a:cs typeface="Courier New" pitchFamily="34" charset="-120"/>
                        </a:rPr>
                        <a:t>Base_FL, UOEDT, LOEDT, horiz_high_map, horiz_low_map, ssa, ema_ssa, crossing  —  8 × 7 = 56 fields</a:t>
                      </a:r>
                      <a:endParaRPr lang="en-US" sz="930" dirty="0">
                        <a:latin typeface="Courier New" charset="0"/>
                        <a:ea typeface="Courier New" charset="0"/>
                        <a:cs typeface="Courier New"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292608">
                <a:tc>
                  <a:txBody>
                    <a:bodyPr/>
                    <a:lstStyle/>
                    <a:p>
                      <a:pPr indent="0" marL="0">
                        <a:buNone/>
                      </a:pPr>
                      <a:r>
                        <a:rPr lang="en-US" sz="930" dirty="0">
                          <a:solidFill>
                            <a:srgbClr val="1B2436"/>
                          </a:solidFill>
                          <a:latin typeface="Calibri" pitchFamily="34" charset="0"/>
                          <a:ea typeface="Calibri" pitchFamily="34" charset="-122"/>
                          <a:cs typeface="Calibri" pitchFamily="34" charset="-120"/>
                        </a:rPr>
                        <a:t>Fractal EDT</a:t>
                      </a:r>
                      <a:endParaRPr lang="en-US" sz="930" dirty="0">
                        <a:latin typeface="Calibri" charset="0"/>
                        <a:ea typeface="Calibri" charset="0"/>
                        <a:cs typeface="Calibri"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30" dirty="0">
                          <a:solidFill>
                            <a:srgbClr val="1B2436"/>
                          </a:solidFill>
                          <a:latin typeface="Courier New" pitchFamily="34" charset="0"/>
                          <a:ea typeface="Courier New" pitchFamily="34" charset="-122"/>
                          <a:cs typeface="Courier New" pitchFamily="34" charset="-120"/>
                        </a:rPr>
                        <a:t>Fractal_Best_FL, Fractal_UOEDT, Fractal_LOEDT</a:t>
                      </a:r>
                      <a:endParaRPr lang="en-US" sz="930" dirty="0">
                        <a:latin typeface="Courier New" charset="0"/>
                        <a:ea typeface="Courier New" charset="0"/>
                        <a:cs typeface="Courier New"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292608">
                <a:tc>
                  <a:txBody>
                    <a:bodyPr/>
                    <a:lstStyle/>
                    <a:p>
                      <a:pPr indent="0" marL="0">
                        <a:buNone/>
                      </a:pPr>
                      <a:r>
                        <a:rPr lang="en-US" sz="930" dirty="0">
                          <a:solidFill>
                            <a:srgbClr val="1B2436"/>
                          </a:solidFill>
                          <a:latin typeface="Calibri" pitchFamily="34" charset="0"/>
                          <a:ea typeface="Calibri" pitchFamily="34" charset="-122"/>
                          <a:cs typeface="Calibri" pitchFamily="34" charset="-120"/>
                        </a:rPr>
                        <a:t>Resistance line</a:t>
                      </a:r>
                      <a:endParaRPr lang="en-US" sz="930" dirty="0">
                        <a:latin typeface="Calibri" charset="0"/>
                        <a:ea typeface="Calibri" charset="0"/>
                        <a:cs typeface="Calibri"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30" dirty="0">
                          <a:solidFill>
                            <a:srgbClr val="1B2436"/>
                          </a:solidFill>
                          <a:latin typeface="Courier New" pitchFamily="34" charset="0"/>
                          <a:ea typeface="Courier New" pitchFamily="34" charset="-122"/>
                          <a:cs typeface="Courier New" pitchFamily="34" charset="-120"/>
                        </a:rPr>
                        <a:t>Best_Resistance</a:t>
                      </a:r>
                      <a:endParaRPr lang="en-US" sz="930" dirty="0">
                        <a:latin typeface="Courier New" charset="0"/>
                        <a:ea typeface="Courier New" charset="0"/>
                        <a:cs typeface="Courier New"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292608">
                <a:tc>
                  <a:txBody>
                    <a:bodyPr/>
                    <a:lstStyle/>
                    <a:p>
                      <a:pPr indent="0" marL="0">
                        <a:buNone/>
                      </a:pPr>
                      <a:r>
                        <a:rPr lang="en-US" sz="930" dirty="0">
                          <a:solidFill>
                            <a:srgbClr val="1B2436"/>
                          </a:solidFill>
                          <a:latin typeface="Calibri" pitchFamily="34" charset="0"/>
                          <a:ea typeface="Calibri" pitchFamily="34" charset="-122"/>
                          <a:cs typeface="Calibri" pitchFamily="34" charset="-120"/>
                        </a:rPr>
                        <a:t>Support line</a:t>
                      </a:r>
                      <a:endParaRPr lang="en-US" sz="930" dirty="0">
                        <a:latin typeface="Calibri" charset="0"/>
                        <a:ea typeface="Calibri" charset="0"/>
                        <a:cs typeface="Calibri"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30" dirty="0">
                          <a:solidFill>
                            <a:srgbClr val="1B2436"/>
                          </a:solidFill>
                          <a:latin typeface="Courier New" pitchFamily="34" charset="0"/>
                          <a:ea typeface="Courier New" pitchFamily="34" charset="-122"/>
                          <a:cs typeface="Courier New" pitchFamily="34" charset="-120"/>
                        </a:rPr>
                        <a:t>Best_Support</a:t>
                      </a:r>
                      <a:endParaRPr lang="en-US" sz="930" dirty="0">
                        <a:latin typeface="Courier New" charset="0"/>
                        <a:ea typeface="Courier New" charset="0"/>
                        <a:cs typeface="Courier New"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347472">
                <a:tc>
                  <a:txBody>
                    <a:bodyPr/>
                    <a:lstStyle/>
                    <a:p>
                      <a:pPr indent="0" marL="0">
                        <a:buNone/>
                      </a:pPr>
                      <a:r>
                        <a:rPr lang="en-US" sz="930" dirty="0">
                          <a:solidFill>
                            <a:srgbClr val="1B2436"/>
                          </a:solidFill>
                          <a:latin typeface="Calibri" pitchFamily="34" charset="0"/>
                          <a:ea typeface="Calibri" pitchFamily="34" charset="-122"/>
                          <a:cs typeface="Calibri" pitchFamily="34" charset="-120"/>
                        </a:rPr>
                        <a:t>OHLCV</a:t>
                      </a:r>
                      <a:endParaRPr lang="en-US" sz="930" dirty="0">
                        <a:latin typeface="Calibri" charset="0"/>
                        <a:ea typeface="Calibri" charset="0"/>
                        <a:cs typeface="Calibri"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30" dirty="0">
                          <a:solidFill>
                            <a:srgbClr val="1B2436"/>
                          </a:solidFill>
                          <a:latin typeface="Courier New" pitchFamily="34" charset="0"/>
                          <a:ea typeface="Courier New" pitchFamily="34" charset="-122"/>
                          <a:cs typeface="Courier New" pitchFamily="34" charset="-120"/>
                        </a:rPr>
                        <a:t>open, high, low, close, volume  —  the per-bar spine</a:t>
                      </a:r>
                      <a:endParaRPr lang="en-US" sz="930" dirty="0">
                        <a:latin typeface="Courier New" charset="0"/>
                        <a:ea typeface="Courier New" charset="0"/>
                        <a:cs typeface="Courier New"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457200">
                <a:tc>
                  <a:txBody>
                    <a:bodyPr/>
                    <a:lstStyle/>
                    <a:p>
                      <a:pPr indent="0" marL="0">
                        <a:buNone/>
                      </a:pPr>
                      <a:r>
                        <a:rPr lang="en-US" sz="930" dirty="0">
                          <a:solidFill>
                            <a:srgbClr val="1B2436"/>
                          </a:solidFill>
                          <a:latin typeface="Calibri" pitchFamily="34" charset="0"/>
                          <a:ea typeface="Calibri" pitchFamily="34" charset="-122"/>
                          <a:cs typeface="Calibri" pitchFamily="34" charset="-120"/>
                        </a:rPr>
                        <a:t>ZigZag</a:t>
                      </a:r>
                      <a:endParaRPr lang="en-US" sz="930" dirty="0">
                        <a:latin typeface="Calibri" charset="0"/>
                        <a:ea typeface="Calibri" charset="0"/>
                        <a:cs typeface="Calibri"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30" dirty="0">
                          <a:solidFill>
                            <a:srgbClr val="1B2436"/>
                          </a:solidFill>
                          <a:latin typeface="Courier New" pitchFamily="34" charset="0"/>
                          <a:ea typeface="Courier New" pitchFamily="34" charset="-122"/>
                          <a:cs typeface="Courier New" pitchFamily="34" charset="-120"/>
                        </a:rPr>
                        <a:t>pivot type + point + 9 segment metrics  —  11 fields (sparse: pivot events, not per-bar)</a:t>
                      </a:r>
                      <a:endParaRPr lang="en-US" sz="930" dirty="0">
                        <a:latin typeface="Courier New" charset="0"/>
                        <a:ea typeface="Courier New" charset="0"/>
                        <a:cs typeface="Courier New"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347472">
                <a:tc>
                  <a:txBody>
                    <a:bodyPr/>
                    <a:lstStyle/>
                    <a:p>
                      <a:pPr indent="0" marL="0">
                        <a:buNone/>
                      </a:pPr>
                      <a:r>
                        <a:rPr lang="en-US" sz="930" dirty="0">
                          <a:solidFill>
                            <a:srgbClr val="1B2436"/>
                          </a:solidFill>
                          <a:latin typeface="Calibri" pitchFamily="34" charset="0"/>
                          <a:ea typeface="Calibri" pitchFamily="34" charset="-122"/>
                          <a:cs typeface="Calibri" pitchFamily="34" charset="-120"/>
                        </a:rPr>
                        <a:t>Z-Score candle</a:t>
                      </a:r>
                      <a:endParaRPr lang="en-US" sz="930" dirty="0">
                        <a:latin typeface="Calibri" charset="0"/>
                        <a:ea typeface="Calibri" charset="0"/>
                        <a:cs typeface="Calibri"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30" dirty="0">
                          <a:solidFill>
                            <a:srgbClr val="1B2436"/>
                          </a:solidFill>
                          <a:latin typeface="Courier New" pitchFamily="34" charset="0"/>
                          <a:ea typeface="Courier New" pitchFamily="34" charset="-122"/>
                          <a:cs typeface="Courier New" pitchFamily="34" charset="-120"/>
                        </a:rPr>
                        <a:t>body_direction, body_size (=|z|), body_classification</a:t>
                      </a:r>
                      <a:endParaRPr lang="en-US" sz="930" dirty="0">
                        <a:latin typeface="Courier New" charset="0"/>
                        <a:ea typeface="Courier New" charset="0"/>
                        <a:cs typeface="Courier New"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292608">
                <a:tc>
                  <a:txBody>
                    <a:bodyPr/>
                    <a:lstStyle/>
                    <a:p>
                      <a:pPr indent="0" marL="0">
                        <a:buNone/>
                      </a:pPr>
                      <a:r>
                        <a:rPr lang="en-US" sz="930" i="1" dirty="0">
                          <a:solidFill>
                            <a:srgbClr val="1B2436"/>
                          </a:solidFill>
                          <a:latin typeface="Calibri" pitchFamily="34" charset="0"/>
                          <a:ea typeface="Calibri" pitchFamily="34" charset="-122"/>
                          <a:cs typeface="Calibri" pitchFamily="34" charset="-120"/>
                        </a:rPr>
                        <a:t>Pipeline adds</a:t>
                      </a:r>
                      <a:endParaRPr lang="en-US" sz="930" dirty="0">
                        <a:latin typeface="Calibri" charset="0"/>
                        <a:ea typeface="Calibri" charset="0"/>
                        <a:cs typeface="Calibri"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30" i="1" dirty="0">
                          <a:solidFill>
                            <a:srgbClr val="1B2436"/>
                          </a:solidFill>
                          <a:latin typeface="Courier New" pitchFamily="34" charset="0"/>
                          <a:ea typeface="Courier New" pitchFamily="34" charset="-122"/>
                          <a:cs typeface="Courier New" pitchFamily="34" charset="-120"/>
                        </a:rPr>
                        <a:t>cycle_id, collected_at, calculated_at, synced_at</a:t>
                      </a:r>
                      <a:endParaRPr lang="en-US" sz="930" dirty="0">
                        <a:latin typeface="Courier New" charset="0"/>
                        <a:ea typeface="Courier New" charset="0"/>
                        <a:cs typeface="Courier New" charset="0"/>
                      </a:endParaRPr>
                    </a:p>
                  </a:txBody>
                  <a:tcPr marL="76200" marR="76200" marT="38100" marB="381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bl>
          </a:graphicData>
        </a:graphic>
      </p:graphicFrame>
      <p:sp>
        <p:nvSpPr>
          <p:cNvPr id="13" name="Shape 10"/>
          <p:cNvSpPr/>
          <p:nvPr/>
        </p:nvSpPr>
        <p:spPr>
          <a:xfrm>
            <a:off x="9308592" y="2240280"/>
            <a:ext cx="2377440" cy="329184"/>
          </a:xfrm>
          <a:prstGeom prst="roundRect">
            <a:avLst>
              <a:gd name="adj" fmla="val 50000"/>
            </a:avLst>
          </a:prstGeom>
          <a:solidFill>
            <a:srgbClr val="C1922C"/>
          </a:solidFill>
          <a:ln/>
        </p:spPr>
      </p:sp>
      <p:sp>
        <p:nvSpPr>
          <p:cNvPr id="14" name="Text 11"/>
          <p:cNvSpPr txBox="1"/>
          <p:nvPr/>
        </p:nvSpPr>
        <p:spPr>
          <a:xfrm>
            <a:off x="9308592" y="2240280"/>
            <a:ext cx="2377440" cy="329184"/>
          </a:xfrm>
          <a:prstGeom prst="rect">
            <a:avLst/>
          </a:prstGeom>
          <a:noFill/>
          <a:ln/>
        </p:spPr>
        <p:txBody>
          <a:bodyPr wrap="square" lIns="0" tIns="0" rIns="0" bIns="0" rtlCol="0" anchor="ctr"/>
          <a:lstStyle/>
          <a:p>
            <a:pPr algn="ctr" indent="0" marL="0">
              <a:buNone/>
            </a:pPr>
            <a:r>
              <a:rPr lang="en-US" sz="1100" b="1" dirty="0">
                <a:solidFill>
                  <a:srgbClr val="12213E"/>
                </a:solidFill>
                <a:latin typeface="Calibri" pitchFamily="34" charset="0"/>
                <a:ea typeface="Calibri" pitchFamily="34" charset="-122"/>
                <a:cs typeface="Calibri" pitchFamily="34" charset="-120"/>
              </a:rPr>
              <a:t>= 87 COLUMNS TOTAL</a:t>
            </a:r>
            <a:endParaRPr lang="en-US" sz="1100" dirty="0"/>
          </a:p>
        </p:txBody>
      </p:sp>
      <p:sp>
        <p:nvSpPr>
          <p:cNvPr id="15" name="Text 12"/>
          <p:cNvSpPr txBox="1"/>
          <p:nvPr/>
        </p:nvSpPr>
        <p:spPr>
          <a:xfrm>
            <a:off x="502920" y="6382512"/>
            <a:ext cx="11183112" cy="274320"/>
          </a:xfrm>
          <a:prstGeom prst="rect">
            <a:avLst/>
          </a:prstGeom>
          <a:noFill/>
          <a:ln/>
        </p:spPr>
        <p:txBody>
          <a:bodyPr wrap="square" lIns="0" tIns="0" rIns="0" bIns="0" rtlCol="0" anchor="ctr"/>
          <a:lstStyle/>
          <a:p>
            <a:pPr indent="0" marL="0">
              <a:buNone/>
            </a:pPr>
            <a:r>
              <a:rPr lang="en-US" sz="1000" i="1" dirty="0">
                <a:solidFill>
                  <a:srgbClr val="63708C"/>
                </a:solidFill>
                <a:latin typeface="Calibri" pitchFamily="34" charset="0"/>
                <a:ea typeface="Calibri" pitchFamily="34" charset="-122"/>
                <a:cs typeface="Calibri" pitchFamily="34" charset="-120"/>
              </a:rPr>
              <a:t>Nothing new was built in MQL5 — the indicators were already exporting these columns; the collector simply wasn't reading the calculated ones.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12213E"/>
          </a:solidFill>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2000" b="1" dirty="0">
                <a:solidFill>
                  <a:srgbClr val="E7CE96"/>
                </a:solidFill>
                <a:latin typeface="Cambria" pitchFamily="34" charset="0"/>
                <a:ea typeface="Cambria" pitchFamily="34" charset="-122"/>
                <a:cs typeface="Cambria" pitchFamily="34" charset="-120"/>
              </a:rPr>
              <a:t>05</a:t>
            </a:r>
            <a:endParaRPr lang="en-US" sz="2000" dirty="0"/>
          </a:p>
        </p:txBody>
      </p:sp>
      <p:sp>
        <p:nvSpPr>
          <p:cNvPr id="4" name="Text 2"/>
          <p:cNvSpPr txBox="1"/>
          <p:nvPr/>
        </p:nvSpPr>
        <p:spPr>
          <a:xfrm>
            <a:off x="1216152" y="420624"/>
            <a:ext cx="8686800" cy="256032"/>
          </a:xfrm>
          <a:prstGeom prst="rect">
            <a:avLst/>
          </a:prstGeom>
          <a:noFill/>
          <a:ln/>
        </p:spPr>
        <p:txBody>
          <a:bodyPr wrap="square" lIns="0" tIns="0" rIns="0" bIns="0" rtlCol="0" anchor="ctr"/>
          <a:lstStyle/>
          <a:p>
            <a:pPr indent="0" marL="0">
              <a:buNone/>
            </a:pPr>
            <a:r>
              <a:rPr lang="en-US" sz="1100" b="1" spc="200" kern="0" dirty="0">
                <a:solidFill>
                  <a:srgbClr val="C1922C"/>
                </a:solidFill>
                <a:latin typeface="Calibri" pitchFamily="34" charset="0"/>
                <a:ea typeface="Calibri" pitchFamily="34" charset="-122"/>
                <a:cs typeface="Calibri" pitchFamily="34" charset="-120"/>
              </a:rPr>
              <a:t>STORAGE</a:t>
            </a:r>
            <a:endParaRPr lang="en-US" sz="1100" dirty="0"/>
          </a:p>
        </p:txBody>
      </p:sp>
      <p:sp>
        <p:nvSpPr>
          <p:cNvPr id="5" name="Text 3"/>
          <p:cNvSpPr txBox="1"/>
          <p:nvPr/>
        </p:nvSpPr>
        <p:spPr>
          <a:xfrm>
            <a:off x="1216152" y="658368"/>
            <a:ext cx="9601200" cy="502920"/>
          </a:xfrm>
          <a:prstGeom prst="rect">
            <a:avLst/>
          </a:prstGeom>
          <a:noFill/>
          <a:ln/>
        </p:spPr>
        <p:txBody>
          <a:bodyPr wrap="square" lIns="0" tIns="0" rIns="0" bIns="0" rtlCol="0" anchor="ctr"/>
          <a:lstStyle/>
          <a:p>
            <a:pPr indent="0" marL="0">
              <a:buNone/>
            </a:pPr>
            <a:r>
              <a:rPr lang="en-US" sz="2700" b="1" dirty="0">
                <a:solidFill>
                  <a:srgbClr val="12213E"/>
                </a:solidFill>
                <a:latin typeface="Cambria" pitchFamily="34" charset="0"/>
                <a:ea typeface="Cambria" pitchFamily="34" charset="-122"/>
                <a:cs typeface="Cambria" pitchFamily="34" charset="-120"/>
              </a:rPr>
              <a:t>Data Retention — Two Different Jobs</a:t>
            </a:r>
            <a:endParaRPr lang="en-US" sz="2700" dirty="0"/>
          </a:p>
        </p:txBody>
      </p:sp>
      <p:sp>
        <p:nvSpPr>
          <p:cNvPr id="6" name="Text 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3708C"/>
                </a:solidFill>
                <a:latin typeface="Calibri" pitchFamily="34" charset="0"/>
                <a:ea typeface="Calibri" pitchFamily="34" charset="-122"/>
                <a:cs typeface="Calibri" pitchFamily="34" charset="-120"/>
              </a:rPr>
              <a:t>V2.29 Data Pipeline  ·  XAUUSD  M5 / M15</a:t>
            </a:r>
            <a:endParaRPr lang="en-US" sz="900" dirty="0"/>
          </a:p>
        </p:txBody>
      </p:sp>
      <p:sp>
        <p:nvSpPr>
          <p:cNvPr id="7" name="Text 5"/>
          <p:cNvSpPr txBox="1"/>
          <p:nvPr/>
        </p:nvSpPr>
        <p:spPr>
          <a:xfrm>
            <a:off x="10588752" y="6473952"/>
            <a:ext cx="1097280" cy="274320"/>
          </a:xfrm>
          <a:prstGeom prst="rect">
            <a:avLst/>
          </a:prstGeom>
          <a:noFill/>
          <a:ln/>
        </p:spPr>
        <p:txBody>
          <a:bodyPr wrap="square" lIns="0" tIns="0" rIns="0" bIns="0" rtlCol="0" anchor="ctr"/>
          <a:lstStyle/>
          <a:p>
            <a:pPr algn="r" indent="0" marL="0">
              <a:buNone/>
            </a:pPr>
            <a:r>
              <a:rPr lang="en-US" sz="900" dirty="0">
                <a:solidFill>
                  <a:srgbClr val="63708C"/>
                </a:solidFill>
                <a:latin typeface="Calibri" pitchFamily="34" charset="0"/>
                <a:ea typeface="Calibri" pitchFamily="34" charset="-122"/>
                <a:cs typeface="Calibri" pitchFamily="34" charset="-120"/>
              </a:rPr>
              <a:t>05</a:t>
            </a:r>
            <a:endParaRPr lang="en-US" sz="900" dirty="0"/>
          </a:p>
        </p:txBody>
      </p:sp>
      <p:sp>
        <p:nvSpPr>
          <p:cNvPr id="8" name="Text 6"/>
          <p:cNvSpPr txBox="1"/>
          <p:nvPr/>
        </p:nvSpPr>
        <p:spPr>
          <a:xfrm>
            <a:off x="502920" y="1298448"/>
            <a:ext cx="10789920" cy="292608"/>
          </a:xfrm>
          <a:prstGeom prst="rect">
            <a:avLst/>
          </a:prstGeom>
          <a:noFill/>
          <a:ln/>
        </p:spPr>
        <p:txBody>
          <a:bodyPr wrap="square" lIns="0" tIns="0" rIns="0" bIns="0" rtlCol="0" anchor="ctr"/>
          <a:lstStyle/>
          <a:p>
            <a:pPr indent="0" marL="0">
              <a:buNone/>
            </a:pPr>
            <a:r>
              <a:rPr lang="en-US" sz="1300" b="1" dirty="0">
                <a:solidFill>
                  <a:srgbClr val="63708C"/>
                </a:solidFill>
                <a:latin typeface="Calibri" pitchFamily="34" charset="0"/>
                <a:ea typeface="Calibri" pitchFamily="34" charset="-122"/>
                <a:cs typeface="Calibri" pitchFamily="34" charset="-120"/>
              </a:rPr>
              <a:t>The most commonly misunderstood part.  SQLite and PostgreSQL are not mirrors.</a:t>
            </a:r>
            <a:endParaRPr lang="en-US" sz="1300" dirty="0"/>
          </a:p>
        </p:txBody>
      </p:sp>
      <p:sp>
        <p:nvSpPr>
          <p:cNvPr id="9" name="Shape 7"/>
          <p:cNvSpPr/>
          <p:nvPr/>
        </p:nvSpPr>
        <p:spPr>
          <a:xfrm>
            <a:off x="502920" y="1737360"/>
            <a:ext cx="5394960" cy="2148840"/>
          </a:xfrm>
          <a:prstGeom prst="roundRect">
            <a:avLst>
              <a:gd name="adj" fmla="val 2553"/>
            </a:avLst>
          </a:prstGeom>
          <a:solidFill>
            <a:srgbClr val="FFFFFF"/>
          </a:solidFill>
          <a:ln w="12700">
            <a:solidFill>
              <a:srgbClr val="44577E"/>
            </a:solidFill>
            <a:prstDash val="solid"/>
          </a:ln>
          <a:effectLst>
            <a:outerShdw sx="100000" sy="100000" kx="0" ky="0" algn="bl" rotWithShape="0" blurRad="76200" dist="25400" dir="5400000">
              <a:srgbClr val="1B2436">
                <a:alpha val="18000"/>
              </a:srgbClr>
            </a:outerShdw>
          </a:effectLst>
        </p:spPr>
      </p:sp>
      <p:sp>
        <p:nvSpPr>
          <p:cNvPr id="10" name="Shape 8"/>
          <p:cNvSpPr/>
          <p:nvPr/>
        </p:nvSpPr>
        <p:spPr>
          <a:xfrm>
            <a:off x="502920" y="1737360"/>
            <a:ext cx="5394960" cy="457200"/>
          </a:xfrm>
          <a:prstGeom prst="roundRect">
            <a:avLst>
              <a:gd name="adj" fmla="val 12000"/>
            </a:avLst>
          </a:prstGeom>
          <a:solidFill>
            <a:srgbClr val="44577E"/>
          </a:solidFill>
          <a:ln w="12700">
            <a:solidFill>
              <a:srgbClr val="DCE3EF"/>
            </a:solidFill>
            <a:prstDash val="solid"/>
          </a:ln>
        </p:spPr>
      </p:sp>
      <p:sp>
        <p:nvSpPr>
          <p:cNvPr id="11" name="Text 9"/>
          <p:cNvSpPr txBox="1"/>
          <p:nvPr/>
        </p:nvSpPr>
        <p:spPr>
          <a:xfrm>
            <a:off x="548640" y="1737360"/>
            <a:ext cx="5303520" cy="45720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SQLite  ·  xauusd.db (VPS)</a:t>
            </a:r>
            <a:endParaRPr lang="en-US" sz="1200" dirty="0"/>
          </a:p>
        </p:txBody>
      </p:sp>
      <p:sp>
        <p:nvSpPr>
          <p:cNvPr id="12" name="Text 10"/>
          <p:cNvSpPr txBox="1"/>
          <p:nvPr/>
        </p:nvSpPr>
        <p:spPr>
          <a:xfrm>
            <a:off x="731520" y="2331720"/>
            <a:ext cx="1280160" cy="365760"/>
          </a:xfrm>
          <a:prstGeom prst="rect">
            <a:avLst/>
          </a:prstGeom>
          <a:noFill/>
          <a:ln/>
        </p:spPr>
        <p:txBody>
          <a:bodyPr wrap="square" lIns="0" tIns="0" rIns="0" bIns="0" rtlCol="0" anchor="ctr"/>
          <a:lstStyle/>
          <a:p>
            <a:pPr indent="0" marL="0">
              <a:buNone/>
            </a:pPr>
            <a:r>
              <a:rPr lang="en-US" sz="850" b="1" dirty="0">
                <a:solidFill>
                  <a:srgbClr val="63708C"/>
                </a:solidFill>
                <a:latin typeface="Calibri" pitchFamily="34" charset="0"/>
                <a:ea typeface="Calibri" pitchFamily="34" charset="-122"/>
                <a:cs typeface="Calibri" pitchFamily="34" charset="-120"/>
              </a:rPr>
              <a:t>ROLE</a:t>
            </a:r>
            <a:endParaRPr lang="en-US" sz="850" dirty="0"/>
          </a:p>
        </p:txBody>
      </p:sp>
      <p:sp>
        <p:nvSpPr>
          <p:cNvPr id="13" name="Text 11"/>
          <p:cNvSpPr txBox="1"/>
          <p:nvPr/>
        </p:nvSpPr>
        <p:spPr>
          <a:xfrm>
            <a:off x="2011680" y="2331720"/>
            <a:ext cx="3657600" cy="365760"/>
          </a:xfrm>
          <a:prstGeom prst="rect">
            <a:avLst/>
          </a:prstGeom>
          <a:noFill/>
          <a:ln/>
        </p:spPr>
        <p:txBody>
          <a:bodyPr wrap="square" lIns="0" tIns="0" rIns="0" bIns="0" rtlCol="0" anchor="t"/>
          <a:lstStyle/>
          <a:p>
            <a:pPr indent="0" marL="0">
              <a:buNone/>
            </a:pPr>
            <a:r>
              <a:rPr lang="en-US" sz="1050" dirty="0">
                <a:solidFill>
                  <a:srgbClr val="1B2436"/>
                </a:solidFill>
                <a:latin typeface="Calibri" pitchFamily="34" charset="0"/>
                <a:ea typeface="Calibri" pitchFamily="34" charset="-122"/>
                <a:cs typeface="Calibri" pitchFamily="34" charset="-120"/>
              </a:rPr>
              <a:t>Working buffer + outbox</a:t>
            </a:r>
            <a:endParaRPr lang="en-US" sz="1050" dirty="0"/>
          </a:p>
        </p:txBody>
      </p:sp>
      <p:sp>
        <p:nvSpPr>
          <p:cNvPr id="14" name="Text 12"/>
          <p:cNvSpPr txBox="1"/>
          <p:nvPr/>
        </p:nvSpPr>
        <p:spPr>
          <a:xfrm>
            <a:off x="731520" y="2734056"/>
            <a:ext cx="1280160" cy="365760"/>
          </a:xfrm>
          <a:prstGeom prst="rect">
            <a:avLst/>
          </a:prstGeom>
          <a:noFill/>
          <a:ln/>
        </p:spPr>
        <p:txBody>
          <a:bodyPr wrap="square" lIns="0" tIns="0" rIns="0" bIns="0" rtlCol="0" anchor="ctr"/>
          <a:lstStyle/>
          <a:p>
            <a:pPr indent="0" marL="0">
              <a:buNone/>
            </a:pPr>
            <a:r>
              <a:rPr lang="en-US" sz="850" b="1" dirty="0">
                <a:solidFill>
                  <a:srgbClr val="63708C"/>
                </a:solidFill>
                <a:latin typeface="Calibri" pitchFamily="34" charset="0"/>
                <a:ea typeface="Calibri" pitchFamily="34" charset="-122"/>
                <a:cs typeface="Calibri" pitchFamily="34" charset="-120"/>
              </a:rPr>
              <a:t>SIZE</a:t>
            </a:r>
            <a:endParaRPr lang="en-US" sz="850" dirty="0"/>
          </a:p>
        </p:txBody>
      </p:sp>
      <p:sp>
        <p:nvSpPr>
          <p:cNvPr id="15" name="Text 13"/>
          <p:cNvSpPr txBox="1"/>
          <p:nvPr/>
        </p:nvSpPr>
        <p:spPr>
          <a:xfrm>
            <a:off x="2011680" y="2734056"/>
            <a:ext cx="3657600" cy="365760"/>
          </a:xfrm>
          <a:prstGeom prst="rect">
            <a:avLst/>
          </a:prstGeom>
          <a:noFill/>
          <a:ln/>
        </p:spPr>
        <p:txBody>
          <a:bodyPr wrap="square" lIns="0" tIns="0" rIns="0" bIns="0" rtlCol="0" anchor="t"/>
          <a:lstStyle/>
          <a:p>
            <a:pPr indent="0" marL="0">
              <a:buNone/>
            </a:pPr>
            <a:r>
              <a:rPr lang="en-US" sz="1050" dirty="0">
                <a:solidFill>
                  <a:srgbClr val="1B2436"/>
                </a:solidFill>
                <a:latin typeface="Calibri" pitchFamily="34" charset="0"/>
                <a:ea typeface="Calibri" pitchFamily="34" charset="-122"/>
                <a:cs typeface="Calibri" pitchFamily="34" charset="-120"/>
              </a:rPr>
              <a:t>Capped: 3000 bars per timeframe (~6000 rows)</a:t>
            </a:r>
            <a:endParaRPr lang="en-US" sz="1050" dirty="0"/>
          </a:p>
        </p:txBody>
      </p:sp>
      <p:sp>
        <p:nvSpPr>
          <p:cNvPr id="16" name="Text 14"/>
          <p:cNvSpPr txBox="1"/>
          <p:nvPr/>
        </p:nvSpPr>
        <p:spPr>
          <a:xfrm>
            <a:off x="731520" y="3136392"/>
            <a:ext cx="1280160" cy="365760"/>
          </a:xfrm>
          <a:prstGeom prst="rect">
            <a:avLst/>
          </a:prstGeom>
          <a:noFill/>
          <a:ln/>
        </p:spPr>
        <p:txBody>
          <a:bodyPr wrap="square" lIns="0" tIns="0" rIns="0" bIns="0" rtlCol="0" anchor="ctr"/>
          <a:lstStyle/>
          <a:p>
            <a:pPr indent="0" marL="0">
              <a:buNone/>
            </a:pPr>
            <a:r>
              <a:rPr lang="en-US" sz="850" b="1" dirty="0">
                <a:solidFill>
                  <a:srgbClr val="63708C"/>
                </a:solidFill>
                <a:latin typeface="Calibri" pitchFamily="34" charset="0"/>
                <a:ea typeface="Calibri" pitchFamily="34" charset="-122"/>
                <a:cs typeface="Calibri" pitchFamily="34" charset="-120"/>
              </a:rPr>
              <a:t>OLD ROWS</a:t>
            </a:r>
            <a:endParaRPr lang="en-US" sz="850" dirty="0"/>
          </a:p>
        </p:txBody>
      </p:sp>
      <p:sp>
        <p:nvSpPr>
          <p:cNvPr id="17" name="Text 15"/>
          <p:cNvSpPr txBox="1"/>
          <p:nvPr/>
        </p:nvSpPr>
        <p:spPr>
          <a:xfrm>
            <a:off x="2011680" y="3136392"/>
            <a:ext cx="3657600" cy="365760"/>
          </a:xfrm>
          <a:prstGeom prst="rect">
            <a:avLst/>
          </a:prstGeom>
          <a:noFill/>
          <a:ln/>
        </p:spPr>
        <p:txBody>
          <a:bodyPr wrap="square" lIns="0" tIns="0" rIns="0" bIns="0" rtlCol="0" anchor="t"/>
          <a:lstStyle/>
          <a:p>
            <a:pPr indent="0" marL="0">
              <a:buNone/>
            </a:pPr>
            <a:r>
              <a:rPr lang="en-US" sz="1050" dirty="0">
                <a:solidFill>
                  <a:srgbClr val="1B2436"/>
                </a:solidFill>
                <a:latin typeface="Calibri" pitchFamily="34" charset="0"/>
                <a:ea typeface="Calibri" pitchFamily="34" charset="-122"/>
                <a:cs typeface="Calibri" pitchFamily="34" charset="-120"/>
              </a:rPr>
              <a:t>Deleted once confirmed synced</a:t>
            </a:r>
            <a:endParaRPr lang="en-US" sz="1050" dirty="0"/>
          </a:p>
        </p:txBody>
      </p:sp>
      <p:sp>
        <p:nvSpPr>
          <p:cNvPr id="18" name="Text 16"/>
          <p:cNvSpPr txBox="1"/>
          <p:nvPr/>
        </p:nvSpPr>
        <p:spPr>
          <a:xfrm>
            <a:off x="731520" y="3538728"/>
            <a:ext cx="1280160" cy="365760"/>
          </a:xfrm>
          <a:prstGeom prst="rect">
            <a:avLst/>
          </a:prstGeom>
          <a:noFill/>
          <a:ln/>
        </p:spPr>
        <p:txBody>
          <a:bodyPr wrap="square" lIns="0" tIns="0" rIns="0" bIns="0" rtlCol="0" anchor="ctr"/>
          <a:lstStyle/>
          <a:p>
            <a:pPr indent="0" marL="0">
              <a:buNone/>
            </a:pPr>
            <a:r>
              <a:rPr lang="en-US" sz="850" b="1" dirty="0">
                <a:solidFill>
                  <a:srgbClr val="63708C"/>
                </a:solidFill>
                <a:latin typeface="Calibri" pitchFamily="34" charset="0"/>
                <a:ea typeface="Calibri" pitchFamily="34" charset="-122"/>
                <a:cs typeface="Calibri" pitchFamily="34" charset="-120"/>
              </a:rPr>
              <a:t>IN TIME TERMS</a:t>
            </a:r>
            <a:endParaRPr lang="en-US" sz="850" dirty="0"/>
          </a:p>
        </p:txBody>
      </p:sp>
      <p:sp>
        <p:nvSpPr>
          <p:cNvPr id="19" name="Text 17"/>
          <p:cNvSpPr txBox="1"/>
          <p:nvPr/>
        </p:nvSpPr>
        <p:spPr>
          <a:xfrm>
            <a:off x="2011680" y="3538728"/>
            <a:ext cx="3657600" cy="365760"/>
          </a:xfrm>
          <a:prstGeom prst="rect">
            <a:avLst/>
          </a:prstGeom>
          <a:noFill/>
          <a:ln/>
        </p:spPr>
        <p:txBody>
          <a:bodyPr wrap="square" lIns="0" tIns="0" rIns="0" bIns="0" rtlCol="0" anchor="t"/>
          <a:lstStyle/>
          <a:p>
            <a:pPr indent="0" marL="0">
              <a:buNone/>
            </a:pPr>
            <a:r>
              <a:rPr lang="en-US" sz="1050" dirty="0">
                <a:solidFill>
                  <a:srgbClr val="1B2436"/>
                </a:solidFill>
                <a:latin typeface="Calibri" pitchFamily="34" charset="0"/>
                <a:ea typeface="Calibri" pitchFamily="34" charset="-122"/>
                <a:cs typeface="Calibri" pitchFamily="34" charset="-120"/>
              </a:rPr>
              <a:t>~2.2 weeks of M5, ~6.5 weeks of M15</a:t>
            </a:r>
            <a:endParaRPr lang="en-US" sz="1050" dirty="0"/>
          </a:p>
        </p:txBody>
      </p:sp>
      <p:sp>
        <p:nvSpPr>
          <p:cNvPr id="20" name="Shape 18"/>
          <p:cNvSpPr/>
          <p:nvPr/>
        </p:nvSpPr>
        <p:spPr>
          <a:xfrm>
            <a:off x="6263640" y="1737360"/>
            <a:ext cx="5394960" cy="2148840"/>
          </a:xfrm>
          <a:prstGeom prst="roundRect">
            <a:avLst>
              <a:gd name="adj" fmla="val 2553"/>
            </a:avLst>
          </a:prstGeom>
          <a:solidFill>
            <a:srgbClr val="FFFFFF"/>
          </a:solidFill>
          <a:ln w="12700">
            <a:solidFill>
              <a:srgbClr val="12213E"/>
            </a:solidFill>
            <a:prstDash val="solid"/>
          </a:ln>
          <a:effectLst>
            <a:outerShdw sx="100000" sy="100000" kx="0" ky="0" algn="bl" rotWithShape="0" blurRad="76200" dist="25400" dir="5400000">
              <a:srgbClr val="1B2436">
                <a:alpha val="18000"/>
              </a:srgbClr>
            </a:outerShdw>
          </a:effectLst>
        </p:spPr>
      </p:sp>
      <p:sp>
        <p:nvSpPr>
          <p:cNvPr id="21" name="Shape 19"/>
          <p:cNvSpPr/>
          <p:nvPr/>
        </p:nvSpPr>
        <p:spPr>
          <a:xfrm>
            <a:off x="6263640" y="1737360"/>
            <a:ext cx="5394960" cy="457200"/>
          </a:xfrm>
          <a:prstGeom prst="roundRect">
            <a:avLst>
              <a:gd name="adj" fmla="val 12000"/>
            </a:avLst>
          </a:prstGeom>
          <a:solidFill>
            <a:srgbClr val="12213E"/>
          </a:solidFill>
          <a:ln w="12700">
            <a:solidFill>
              <a:srgbClr val="DCE3EF"/>
            </a:solidFill>
            <a:prstDash val="solid"/>
          </a:ln>
        </p:spPr>
      </p:sp>
      <p:sp>
        <p:nvSpPr>
          <p:cNvPr id="22" name="Text 20"/>
          <p:cNvSpPr txBox="1"/>
          <p:nvPr/>
        </p:nvSpPr>
        <p:spPr>
          <a:xfrm>
            <a:off x="6309360" y="1737360"/>
            <a:ext cx="5303520" cy="45720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PostgreSQL  ·  market_data_v6 (Railway)</a:t>
            </a:r>
            <a:endParaRPr lang="en-US" sz="1200" dirty="0"/>
          </a:p>
        </p:txBody>
      </p:sp>
      <p:sp>
        <p:nvSpPr>
          <p:cNvPr id="23" name="Text 21"/>
          <p:cNvSpPr txBox="1"/>
          <p:nvPr/>
        </p:nvSpPr>
        <p:spPr>
          <a:xfrm>
            <a:off x="6492240" y="2331720"/>
            <a:ext cx="1280160" cy="365760"/>
          </a:xfrm>
          <a:prstGeom prst="rect">
            <a:avLst/>
          </a:prstGeom>
          <a:noFill/>
          <a:ln/>
        </p:spPr>
        <p:txBody>
          <a:bodyPr wrap="square" lIns="0" tIns="0" rIns="0" bIns="0" rtlCol="0" anchor="ctr"/>
          <a:lstStyle/>
          <a:p>
            <a:pPr indent="0" marL="0">
              <a:buNone/>
            </a:pPr>
            <a:r>
              <a:rPr lang="en-US" sz="850" b="1" dirty="0">
                <a:solidFill>
                  <a:srgbClr val="63708C"/>
                </a:solidFill>
                <a:latin typeface="Calibri" pitchFamily="34" charset="0"/>
                <a:ea typeface="Calibri" pitchFamily="34" charset="-122"/>
                <a:cs typeface="Calibri" pitchFamily="34" charset="-120"/>
              </a:rPr>
              <a:t>ROLE</a:t>
            </a:r>
            <a:endParaRPr lang="en-US" sz="850" dirty="0"/>
          </a:p>
        </p:txBody>
      </p:sp>
      <p:sp>
        <p:nvSpPr>
          <p:cNvPr id="24" name="Text 22"/>
          <p:cNvSpPr txBox="1"/>
          <p:nvPr/>
        </p:nvSpPr>
        <p:spPr>
          <a:xfrm>
            <a:off x="7772400" y="2331720"/>
            <a:ext cx="3657600" cy="365760"/>
          </a:xfrm>
          <a:prstGeom prst="rect">
            <a:avLst/>
          </a:prstGeom>
          <a:noFill/>
          <a:ln/>
        </p:spPr>
        <p:txBody>
          <a:bodyPr wrap="square" lIns="0" tIns="0" rIns="0" bIns="0" rtlCol="0" anchor="t"/>
          <a:lstStyle/>
          <a:p>
            <a:pPr indent="0" marL="0">
              <a:buNone/>
            </a:pPr>
            <a:r>
              <a:rPr lang="en-US" sz="1050" dirty="0">
                <a:solidFill>
                  <a:srgbClr val="1B2436"/>
                </a:solidFill>
                <a:latin typeface="Calibri" pitchFamily="34" charset="0"/>
                <a:ea typeface="Calibri" pitchFamily="34" charset="-122"/>
                <a:cs typeface="Calibri" pitchFamily="34" charset="-120"/>
              </a:rPr>
              <a:t>Permanent archive</a:t>
            </a:r>
            <a:endParaRPr lang="en-US" sz="1050" dirty="0"/>
          </a:p>
        </p:txBody>
      </p:sp>
      <p:sp>
        <p:nvSpPr>
          <p:cNvPr id="25" name="Text 23"/>
          <p:cNvSpPr txBox="1"/>
          <p:nvPr/>
        </p:nvSpPr>
        <p:spPr>
          <a:xfrm>
            <a:off x="6492240" y="2734056"/>
            <a:ext cx="1280160" cy="365760"/>
          </a:xfrm>
          <a:prstGeom prst="rect">
            <a:avLst/>
          </a:prstGeom>
          <a:noFill/>
          <a:ln/>
        </p:spPr>
        <p:txBody>
          <a:bodyPr wrap="square" lIns="0" tIns="0" rIns="0" bIns="0" rtlCol="0" anchor="ctr"/>
          <a:lstStyle/>
          <a:p>
            <a:pPr indent="0" marL="0">
              <a:buNone/>
            </a:pPr>
            <a:r>
              <a:rPr lang="en-US" sz="850" b="1" dirty="0">
                <a:solidFill>
                  <a:srgbClr val="63708C"/>
                </a:solidFill>
                <a:latin typeface="Calibri" pitchFamily="34" charset="0"/>
                <a:ea typeface="Calibri" pitchFamily="34" charset="-122"/>
                <a:cs typeface="Calibri" pitchFamily="34" charset="-120"/>
              </a:rPr>
              <a:t>SIZE</a:t>
            </a:r>
            <a:endParaRPr lang="en-US" sz="850" dirty="0"/>
          </a:p>
        </p:txBody>
      </p:sp>
      <p:sp>
        <p:nvSpPr>
          <p:cNvPr id="26" name="Text 24"/>
          <p:cNvSpPr txBox="1"/>
          <p:nvPr/>
        </p:nvSpPr>
        <p:spPr>
          <a:xfrm>
            <a:off x="7772400" y="2734056"/>
            <a:ext cx="3657600" cy="365760"/>
          </a:xfrm>
          <a:prstGeom prst="rect">
            <a:avLst/>
          </a:prstGeom>
          <a:noFill/>
          <a:ln/>
        </p:spPr>
        <p:txBody>
          <a:bodyPr wrap="square" lIns="0" tIns="0" rIns="0" bIns="0" rtlCol="0" anchor="t"/>
          <a:lstStyle/>
          <a:p>
            <a:pPr indent="0" marL="0">
              <a:buNone/>
            </a:pPr>
            <a:r>
              <a:rPr lang="en-US" sz="1050" dirty="0">
                <a:solidFill>
                  <a:srgbClr val="1B2436"/>
                </a:solidFill>
                <a:latin typeface="Calibri" pitchFamily="34" charset="0"/>
                <a:ea typeface="Calibri" pitchFamily="34" charset="-122"/>
                <a:cs typeface="Calibri" pitchFamily="34" charset="-120"/>
              </a:rPr>
              <a:t>Uncapped — grows forever</a:t>
            </a:r>
            <a:endParaRPr lang="en-US" sz="1050" dirty="0"/>
          </a:p>
        </p:txBody>
      </p:sp>
      <p:sp>
        <p:nvSpPr>
          <p:cNvPr id="27" name="Text 25"/>
          <p:cNvSpPr txBox="1"/>
          <p:nvPr/>
        </p:nvSpPr>
        <p:spPr>
          <a:xfrm>
            <a:off x="6492240" y="3136392"/>
            <a:ext cx="1280160" cy="365760"/>
          </a:xfrm>
          <a:prstGeom prst="rect">
            <a:avLst/>
          </a:prstGeom>
          <a:noFill/>
          <a:ln/>
        </p:spPr>
        <p:txBody>
          <a:bodyPr wrap="square" lIns="0" tIns="0" rIns="0" bIns="0" rtlCol="0" anchor="ctr"/>
          <a:lstStyle/>
          <a:p>
            <a:pPr indent="0" marL="0">
              <a:buNone/>
            </a:pPr>
            <a:r>
              <a:rPr lang="en-US" sz="850" b="1" dirty="0">
                <a:solidFill>
                  <a:srgbClr val="63708C"/>
                </a:solidFill>
                <a:latin typeface="Calibri" pitchFamily="34" charset="0"/>
                <a:ea typeface="Calibri" pitchFamily="34" charset="-122"/>
                <a:cs typeface="Calibri" pitchFamily="34" charset="-120"/>
              </a:rPr>
              <a:t>OLD ROWS</a:t>
            </a:r>
            <a:endParaRPr lang="en-US" sz="850" dirty="0"/>
          </a:p>
        </p:txBody>
      </p:sp>
      <p:sp>
        <p:nvSpPr>
          <p:cNvPr id="28" name="Text 26"/>
          <p:cNvSpPr txBox="1"/>
          <p:nvPr/>
        </p:nvSpPr>
        <p:spPr>
          <a:xfrm>
            <a:off x="7772400" y="3136392"/>
            <a:ext cx="3657600" cy="365760"/>
          </a:xfrm>
          <a:prstGeom prst="rect">
            <a:avLst/>
          </a:prstGeom>
          <a:noFill/>
          <a:ln/>
        </p:spPr>
        <p:txBody>
          <a:bodyPr wrap="square" lIns="0" tIns="0" rIns="0" bIns="0" rtlCol="0" anchor="t"/>
          <a:lstStyle/>
          <a:p>
            <a:pPr indent="0" marL="0">
              <a:buNone/>
            </a:pPr>
            <a:r>
              <a:rPr lang="en-US" sz="1050" dirty="0">
                <a:solidFill>
                  <a:srgbClr val="1B2436"/>
                </a:solidFill>
                <a:latin typeface="Calibri" pitchFamily="34" charset="0"/>
                <a:ea typeface="Calibri" pitchFamily="34" charset="-122"/>
                <a:cs typeface="Calibri" pitchFamily="34" charset="-120"/>
              </a:rPr>
              <a:t>Kept permanently</a:t>
            </a:r>
            <a:endParaRPr lang="en-US" sz="1050" dirty="0"/>
          </a:p>
        </p:txBody>
      </p:sp>
      <p:sp>
        <p:nvSpPr>
          <p:cNvPr id="29" name="Text 27"/>
          <p:cNvSpPr txBox="1"/>
          <p:nvPr/>
        </p:nvSpPr>
        <p:spPr>
          <a:xfrm>
            <a:off x="6492240" y="3538728"/>
            <a:ext cx="1280160" cy="365760"/>
          </a:xfrm>
          <a:prstGeom prst="rect">
            <a:avLst/>
          </a:prstGeom>
          <a:noFill/>
          <a:ln/>
        </p:spPr>
        <p:txBody>
          <a:bodyPr wrap="square" lIns="0" tIns="0" rIns="0" bIns="0" rtlCol="0" anchor="ctr"/>
          <a:lstStyle/>
          <a:p>
            <a:pPr indent="0" marL="0">
              <a:buNone/>
            </a:pPr>
            <a:r>
              <a:rPr lang="en-US" sz="850" b="1" dirty="0">
                <a:solidFill>
                  <a:srgbClr val="63708C"/>
                </a:solidFill>
                <a:latin typeface="Calibri" pitchFamily="34" charset="0"/>
                <a:ea typeface="Calibri" pitchFamily="34" charset="-122"/>
                <a:cs typeface="Calibri" pitchFamily="34" charset="-120"/>
              </a:rPr>
              <a:t>IN TIME TERMS</a:t>
            </a:r>
            <a:endParaRPr lang="en-US" sz="850" dirty="0"/>
          </a:p>
        </p:txBody>
      </p:sp>
      <p:sp>
        <p:nvSpPr>
          <p:cNvPr id="30" name="Text 28"/>
          <p:cNvSpPr txBox="1"/>
          <p:nvPr/>
        </p:nvSpPr>
        <p:spPr>
          <a:xfrm>
            <a:off x="7772400" y="3538728"/>
            <a:ext cx="3657600" cy="365760"/>
          </a:xfrm>
          <a:prstGeom prst="rect">
            <a:avLst/>
          </a:prstGeom>
          <a:noFill/>
          <a:ln/>
        </p:spPr>
        <p:txBody>
          <a:bodyPr wrap="square" lIns="0" tIns="0" rIns="0" bIns="0" rtlCol="0" anchor="t"/>
          <a:lstStyle/>
          <a:p>
            <a:pPr indent="0" marL="0">
              <a:buNone/>
            </a:pPr>
            <a:r>
              <a:rPr lang="en-US" sz="1050" dirty="0">
                <a:solidFill>
                  <a:srgbClr val="1B2436"/>
                </a:solidFill>
                <a:latin typeface="Calibri" pitchFamily="34" charset="0"/>
                <a:ea typeface="Calibri" pitchFamily="34" charset="-122"/>
                <a:cs typeface="Calibri" pitchFamily="34" charset="-120"/>
              </a:rPr>
              <a:t>Everything since day one (~100k rows/year)</a:t>
            </a:r>
            <a:endParaRPr lang="en-US" sz="1050" dirty="0"/>
          </a:p>
        </p:txBody>
      </p:sp>
      <p:sp>
        <p:nvSpPr>
          <p:cNvPr id="31" name="Text 29"/>
          <p:cNvSpPr txBox="1"/>
          <p:nvPr/>
        </p:nvSpPr>
        <p:spPr>
          <a:xfrm>
            <a:off x="502920" y="4206240"/>
            <a:ext cx="5486400" cy="256032"/>
          </a:xfrm>
          <a:prstGeom prst="rect">
            <a:avLst/>
          </a:prstGeom>
          <a:noFill/>
          <a:ln/>
        </p:spPr>
        <p:txBody>
          <a:bodyPr wrap="square" lIns="0" tIns="0" rIns="0" bIns="0" rtlCol="0" anchor="ctr"/>
          <a:lstStyle/>
          <a:p>
            <a:pPr indent="0" marL="0">
              <a:buNone/>
            </a:pPr>
            <a:r>
              <a:rPr lang="en-US" sz="1100" b="1" spc="150" kern="0" dirty="0">
                <a:solidFill>
                  <a:srgbClr val="44577E"/>
                </a:solidFill>
                <a:latin typeface="Calibri" pitchFamily="34" charset="0"/>
                <a:ea typeface="Calibri" pitchFamily="34" charset="-122"/>
                <a:cs typeface="Calibri" pitchFamily="34" charset="-120"/>
              </a:rPr>
              <a:t>THE LIFE OF A BAR</a:t>
            </a:r>
            <a:endParaRPr lang="en-US" sz="1100" dirty="0"/>
          </a:p>
        </p:txBody>
      </p:sp>
      <p:sp>
        <p:nvSpPr>
          <p:cNvPr id="32" name="Shape 30"/>
          <p:cNvSpPr/>
          <p:nvPr/>
        </p:nvSpPr>
        <p:spPr>
          <a:xfrm>
            <a:off x="502920" y="4498848"/>
            <a:ext cx="1673352" cy="777240"/>
          </a:xfrm>
          <a:prstGeom prst="roundRect">
            <a:avLst>
              <a:gd name="adj" fmla="val 7059"/>
            </a:avLst>
          </a:prstGeom>
          <a:solidFill>
            <a:srgbClr val="EEF1F7"/>
          </a:solidFill>
          <a:ln w="12700">
            <a:solidFill>
              <a:srgbClr val="DCE3EF"/>
            </a:solidFill>
            <a:prstDash val="solid"/>
          </a:ln>
        </p:spPr>
      </p:sp>
      <p:sp>
        <p:nvSpPr>
          <p:cNvPr id="33" name="Text 31"/>
          <p:cNvSpPr txBox="1"/>
          <p:nvPr/>
        </p:nvSpPr>
        <p:spPr>
          <a:xfrm>
            <a:off x="548640" y="4498848"/>
            <a:ext cx="1581912" cy="777240"/>
          </a:xfrm>
          <a:prstGeom prst="rect">
            <a:avLst/>
          </a:prstGeom>
          <a:noFill/>
          <a:ln/>
        </p:spPr>
        <p:txBody>
          <a:bodyPr wrap="square" lIns="25400" tIns="25400" rIns="25400" bIns="25400" rtlCol="0" anchor="ctr"/>
          <a:lstStyle/>
          <a:p>
            <a:pPr algn="ctr" indent="0" marL="0">
              <a:buNone/>
            </a:pPr>
            <a:r>
              <a:rPr lang="en-US" sz="800" b="1" dirty="0">
                <a:solidFill>
                  <a:srgbClr val="1B2436"/>
                </a:solidFill>
                <a:latin typeface="Calibri" pitchFamily="34" charset="0"/>
                <a:ea typeface="Calibri" pitchFamily="34" charset="-122"/>
                <a:cs typeface="Calibri" pitchFamily="34" charset="-120"/>
              </a:rPr>
              <a:t>Born in MT5</a:t>
            </a:r>
            <a:endParaRPr lang="en-US" sz="800" dirty="0"/>
          </a:p>
        </p:txBody>
      </p:sp>
      <p:sp>
        <p:nvSpPr>
          <p:cNvPr id="34" name="Shape 32"/>
          <p:cNvSpPr/>
          <p:nvPr/>
        </p:nvSpPr>
        <p:spPr>
          <a:xfrm>
            <a:off x="2194560" y="4823460"/>
            <a:ext cx="192024" cy="128016"/>
          </a:xfrm>
          <a:prstGeom prst="rightArrow">
            <a:avLst/>
          </a:prstGeom>
          <a:solidFill>
            <a:srgbClr val="44577E"/>
          </a:solidFill>
          <a:ln/>
        </p:spPr>
      </p:sp>
      <p:sp>
        <p:nvSpPr>
          <p:cNvPr id="35" name="Shape 33"/>
          <p:cNvSpPr/>
          <p:nvPr/>
        </p:nvSpPr>
        <p:spPr>
          <a:xfrm>
            <a:off x="2404872" y="4498848"/>
            <a:ext cx="1673352" cy="777240"/>
          </a:xfrm>
          <a:prstGeom prst="roundRect">
            <a:avLst>
              <a:gd name="adj" fmla="val 7059"/>
            </a:avLst>
          </a:prstGeom>
          <a:solidFill>
            <a:srgbClr val="EEF1F7"/>
          </a:solidFill>
          <a:ln w="12700">
            <a:solidFill>
              <a:srgbClr val="DCE3EF"/>
            </a:solidFill>
            <a:prstDash val="solid"/>
          </a:ln>
        </p:spPr>
      </p:sp>
      <p:sp>
        <p:nvSpPr>
          <p:cNvPr id="36" name="Text 34"/>
          <p:cNvSpPr txBox="1"/>
          <p:nvPr/>
        </p:nvSpPr>
        <p:spPr>
          <a:xfrm>
            <a:off x="2450592" y="4498848"/>
            <a:ext cx="1581912" cy="777240"/>
          </a:xfrm>
          <a:prstGeom prst="rect">
            <a:avLst/>
          </a:prstGeom>
          <a:noFill/>
          <a:ln/>
        </p:spPr>
        <p:txBody>
          <a:bodyPr wrap="square" lIns="25400" tIns="25400" rIns="25400" bIns="25400" rtlCol="0" anchor="ctr"/>
          <a:lstStyle/>
          <a:p>
            <a:pPr algn="ctr" indent="0" marL="0">
              <a:buNone/>
            </a:pPr>
            <a:r>
              <a:rPr lang="en-US" sz="800" dirty="0">
                <a:solidFill>
                  <a:srgbClr val="1B2436"/>
                </a:solidFill>
                <a:latin typeface="Calibri" pitchFamily="34" charset="0"/>
                <a:ea typeface="Calibri" pitchFamily="34" charset="-122"/>
                <a:cs typeface="Calibri" pitchFamily="34" charset="-120"/>
              </a:rPr>
              <a:t>Enters SQLite (updated in place each cycle, ~2 wks)</a:t>
            </a:r>
            <a:endParaRPr lang="en-US" sz="800" dirty="0"/>
          </a:p>
        </p:txBody>
      </p:sp>
      <p:sp>
        <p:nvSpPr>
          <p:cNvPr id="37" name="Shape 35"/>
          <p:cNvSpPr/>
          <p:nvPr/>
        </p:nvSpPr>
        <p:spPr>
          <a:xfrm>
            <a:off x="4096512" y="4823460"/>
            <a:ext cx="192024" cy="128016"/>
          </a:xfrm>
          <a:prstGeom prst="rightArrow">
            <a:avLst/>
          </a:prstGeom>
          <a:solidFill>
            <a:srgbClr val="44577E"/>
          </a:solidFill>
          <a:ln/>
        </p:spPr>
      </p:sp>
      <p:sp>
        <p:nvSpPr>
          <p:cNvPr id="38" name="Shape 36"/>
          <p:cNvSpPr/>
          <p:nvPr/>
        </p:nvSpPr>
        <p:spPr>
          <a:xfrm>
            <a:off x="4306824" y="4498848"/>
            <a:ext cx="1673352" cy="777240"/>
          </a:xfrm>
          <a:prstGeom prst="roundRect">
            <a:avLst>
              <a:gd name="adj" fmla="val 7059"/>
            </a:avLst>
          </a:prstGeom>
          <a:solidFill>
            <a:srgbClr val="EEF1F7"/>
          </a:solidFill>
          <a:ln w="12700">
            <a:solidFill>
              <a:srgbClr val="DCE3EF"/>
            </a:solidFill>
            <a:prstDash val="solid"/>
          </a:ln>
        </p:spPr>
      </p:sp>
      <p:sp>
        <p:nvSpPr>
          <p:cNvPr id="39" name="Text 37"/>
          <p:cNvSpPr txBox="1"/>
          <p:nvPr/>
        </p:nvSpPr>
        <p:spPr>
          <a:xfrm>
            <a:off x="4352544" y="4498848"/>
            <a:ext cx="1581912" cy="777240"/>
          </a:xfrm>
          <a:prstGeom prst="rect">
            <a:avLst/>
          </a:prstGeom>
          <a:noFill/>
          <a:ln/>
        </p:spPr>
        <p:txBody>
          <a:bodyPr wrap="square" lIns="25400" tIns="25400" rIns="25400" bIns="25400" rtlCol="0" anchor="ctr"/>
          <a:lstStyle/>
          <a:p>
            <a:pPr algn="ctr" indent="0" marL="0">
              <a:buNone/>
            </a:pPr>
            <a:r>
              <a:rPr lang="en-US" sz="800" dirty="0">
                <a:solidFill>
                  <a:srgbClr val="1B2436"/>
                </a:solidFill>
                <a:latin typeface="Calibri" pitchFamily="34" charset="0"/>
                <a:ea typeface="Calibri" pitchFamily="34" charset="-122"/>
                <a:cs typeface="Calibri" pitchFamily="34" charset="-120"/>
              </a:rPr>
              <a:t>Pushed to Postgres repeatedly — UPSERT on (symbol, timeframe, timestamp)</a:t>
            </a:r>
            <a:endParaRPr lang="en-US" sz="800" dirty="0"/>
          </a:p>
        </p:txBody>
      </p:sp>
      <p:sp>
        <p:nvSpPr>
          <p:cNvPr id="40" name="Shape 38"/>
          <p:cNvSpPr/>
          <p:nvPr/>
        </p:nvSpPr>
        <p:spPr>
          <a:xfrm>
            <a:off x="5998464" y="4823460"/>
            <a:ext cx="192024" cy="128016"/>
          </a:xfrm>
          <a:prstGeom prst="rightArrow">
            <a:avLst/>
          </a:prstGeom>
          <a:solidFill>
            <a:srgbClr val="44577E"/>
          </a:solidFill>
          <a:ln/>
        </p:spPr>
      </p:sp>
      <p:sp>
        <p:nvSpPr>
          <p:cNvPr id="41" name="Shape 39"/>
          <p:cNvSpPr/>
          <p:nvPr/>
        </p:nvSpPr>
        <p:spPr>
          <a:xfrm>
            <a:off x="6208776" y="4498848"/>
            <a:ext cx="1673352" cy="777240"/>
          </a:xfrm>
          <a:prstGeom prst="roundRect">
            <a:avLst>
              <a:gd name="adj" fmla="val 7059"/>
            </a:avLst>
          </a:prstGeom>
          <a:solidFill>
            <a:srgbClr val="EEF1F7"/>
          </a:solidFill>
          <a:ln w="12700">
            <a:solidFill>
              <a:srgbClr val="DCE3EF"/>
            </a:solidFill>
            <a:prstDash val="solid"/>
          </a:ln>
        </p:spPr>
      </p:sp>
      <p:sp>
        <p:nvSpPr>
          <p:cNvPr id="42" name="Text 40"/>
          <p:cNvSpPr txBox="1"/>
          <p:nvPr/>
        </p:nvSpPr>
        <p:spPr>
          <a:xfrm>
            <a:off x="6254496" y="4498848"/>
            <a:ext cx="1581912" cy="777240"/>
          </a:xfrm>
          <a:prstGeom prst="rect">
            <a:avLst/>
          </a:prstGeom>
          <a:noFill/>
          <a:ln/>
        </p:spPr>
        <p:txBody>
          <a:bodyPr wrap="square" lIns="25400" tIns="25400" rIns="25400" bIns="25400" rtlCol="0" anchor="ctr"/>
          <a:lstStyle/>
          <a:p>
            <a:pPr algn="ctr" indent="0" marL="0">
              <a:buNone/>
            </a:pPr>
            <a:r>
              <a:rPr lang="en-US" sz="800" dirty="0">
                <a:solidFill>
                  <a:srgbClr val="1B2436"/>
                </a:solidFill>
                <a:latin typeface="Calibri" pitchFamily="34" charset="0"/>
                <a:ea typeface="Calibri" pitchFamily="34" charset="-122"/>
                <a:cs typeface="Calibri" pitchFamily="34" charset="-120"/>
              </a:rPr>
              <a:t>Falls out of MT5's 3000-bar window</a:t>
            </a:r>
            <a:endParaRPr lang="en-US" sz="800" dirty="0"/>
          </a:p>
        </p:txBody>
      </p:sp>
      <p:sp>
        <p:nvSpPr>
          <p:cNvPr id="43" name="Shape 41"/>
          <p:cNvSpPr/>
          <p:nvPr/>
        </p:nvSpPr>
        <p:spPr>
          <a:xfrm>
            <a:off x="7900416" y="4823460"/>
            <a:ext cx="192024" cy="128016"/>
          </a:xfrm>
          <a:prstGeom prst="rightArrow">
            <a:avLst/>
          </a:prstGeom>
          <a:solidFill>
            <a:srgbClr val="44577E"/>
          </a:solidFill>
          <a:ln/>
        </p:spPr>
      </p:sp>
      <p:sp>
        <p:nvSpPr>
          <p:cNvPr id="44" name="Shape 42"/>
          <p:cNvSpPr/>
          <p:nvPr/>
        </p:nvSpPr>
        <p:spPr>
          <a:xfrm>
            <a:off x="8110728" y="4498848"/>
            <a:ext cx="1673352" cy="777240"/>
          </a:xfrm>
          <a:prstGeom prst="roundRect">
            <a:avLst>
              <a:gd name="adj" fmla="val 7059"/>
            </a:avLst>
          </a:prstGeom>
          <a:solidFill>
            <a:srgbClr val="EEF1F7"/>
          </a:solidFill>
          <a:ln w="12700">
            <a:solidFill>
              <a:srgbClr val="DCE3EF"/>
            </a:solidFill>
            <a:prstDash val="solid"/>
          </a:ln>
        </p:spPr>
      </p:sp>
      <p:sp>
        <p:nvSpPr>
          <p:cNvPr id="45" name="Text 43"/>
          <p:cNvSpPr txBox="1"/>
          <p:nvPr/>
        </p:nvSpPr>
        <p:spPr>
          <a:xfrm>
            <a:off x="8156448" y="4498848"/>
            <a:ext cx="1581912" cy="777240"/>
          </a:xfrm>
          <a:prstGeom prst="rect">
            <a:avLst/>
          </a:prstGeom>
          <a:noFill/>
          <a:ln/>
        </p:spPr>
        <p:txBody>
          <a:bodyPr wrap="square" lIns="25400" tIns="25400" rIns="25400" bIns="25400" rtlCol="0" anchor="ctr"/>
          <a:lstStyle/>
          <a:p>
            <a:pPr algn="ctr" indent="0" marL="0">
              <a:buNone/>
            </a:pPr>
            <a:r>
              <a:rPr lang="en-US" sz="800" dirty="0">
                <a:solidFill>
                  <a:srgbClr val="1B2436"/>
                </a:solidFill>
                <a:latin typeface="Calibri" pitchFamily="34" charset="0"/>
                <a:ea typeface="Calibri" pitchFamily="34" charset="-122"/>
                <a:cs typeface="Calibri" pitchFamily="34" charset="-120"/>
              </a:rPr>
              <a:t>Deleted from SQLite</a:t>
            </a:r>
            <a:endParaRPr lang="en-US" sz="800" dirty="0"/>
          </a:p>
        </p:txBody>
      </p:sp>
      <p:sp>
        <p:nvSpPr>
          <p:cNvPr id="46" name="Shape 44"/>
          <p:cNvSpPr/>
          <p:nvPr/>
        </p:nvSpPr>
        <p:spPr>
          <a:xfrm>
            <a:off x="9802368" y="4823460"/>
            <a:ext cx="192024" cy="128016"/>
          </a:xfrm>
          <a:prstGeom prst="rightArrow">
            <a:avLst/>
          </a:prstGeom>
          <a:solidFill>
            <a:srgbClr val="44577E"/>
          </a:solidFill>
          <a:ln/>
        </p:spPr>
      </p:sp>
      <p:sp>
        <p:nvSpPr>
          <p:cNvPr id="47" name="Shape 45"/>
          <p:cNvSpPr/>
          <p:nvPr/>
        </p:nvSpPr>
        <p:spPr>
          <a:xfrm>
            <a:off x="10012680" y="4498848"/>
            <a:ext cx="1673352" cy="777240"/>
          </a:xfrm>
          <a:prstGeom prst="roundRect">
            <a:avLst>
              <a:gd name="adj" fmla="val 7059"/>
            </a:avLst>
          </a:prstGeom>
          <a:solidFill>
            <a:srgbClr val="E7CE96"/>
          </a:solidFill>
          <a:ln w="12700">
            <a:solidFill>
              <a:srgbClr val="C1922C"/>
            </a:solidFill>
            <a:prstDash val="solid"/>
          </a:ln>
        </p:spPr>
      </p:sp>
      <p:sp>
        <p:nvSpPr>
          <p:cNvPr id="48" name="Text 46"/>
          <p:cNvSpPr txBox="1"/>
          <p:nvPr/>
        </p:nvSpPr>
        <p:spPr>
          <a:xfrm>
            <a:off x="10058400" y="4498848"/>
            <a:ext cx="1581912" cy="777240"/>
          </a:xfrm>
          <a:prstGeom prst="rect">
            <a:avLst/>
          </a:prstGeom>
          <a:noFill/>
          <a:ln/>
        </p:spPr>
        <p:txBody>
          <a:bodyPr wrap="square" lIns="25400" tIns="25400" rIns="25400" bIns="25400" rtlCol="0" anchor="ctr"/>
          <a:lstStyle/>
          <a:p>
            <a:pPr algn="ctr" indent="0" marL="0">
              <a:buNone/>
            </a:pPr>
            <a:r>
              <a:rPr lang="en-US" sz="800" b="1" dirty="0">
                <a:solidFill>
                  <a:srgbClr val="1B2436"/>
                </a:solidFill>
                <a:latin typeface="Calibri" pitchFamily="34" charset="0"/>
                <a:ea typeface="Calibri" pitchFamily="34" charset="-122"/>
                <a:cs typeface="Calibri" pitchFamily="34" charset="-120"/>
              </a:rPr>
              <a:t>Lives in Postgres permanently, frozen at last value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12213E"/>
          </a:solidFill>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2000" b="1" dirty="0">
                <a:solidFill>
                  <a:srgbClr val="E7CE96"/>
                </a:solidFill>
                <a:latin typeface="Cambria" pitchFamily="34" charset="0"/>
                <a:ea typeface="Cambria" pitchFamily="34" charset="-122"/>
                <a:cs typeface="Cambria" pitchFamily="34" charset="-120"/>
              </a:rPr>
              <a:t>06</a:t>
            </a:r>
            <a:endParaRPr lang="en-US" sz="2000" dirty="0"/>
          </a:p>
        </p:txBody>
      </p:sp>
      <p:sp>
        <p:nvSpPr>
          <p:cNvPr id="4" name="Text 2"/>
          <p:cNvSpPr txBox="1"/>
          <p:nvPr/>
        </p:nvSpPr>
        <p:spPr>
          <a:xfrm>
            <a:off x="1216152" y="420624"/>
            <a:ext cx="8686800" cy="256032"/>
          </a:xfrm>
          <a:prstGeom prst="rect">
            <a:avLst/>
          </a:prstGeom>
          <a:noFill/>
          <a:ln/>
        </p:spPr>
        <p:txBody>
          <a:bodyPr wrap="square" lIns="0" tIns="0" rIns="0" bIns="0" rtlCol="0" anchor="ctr"/>
          <a:lstStyle/>
          <a:p>
            <a:pPr indent="0" marL="0">
              <a:buNone/>
            </a:pPr>
            <a:r>
              <a:rPr lang="en-US" sz="1100" b="1" spc="200" kern="0" dirty="0">
                <a:solidFill>
                  <a:srgbClr val="C1922C"/>
                </a:solidFill>
                <a:latin typeface="Calibri" pitchFamily="34" charset="0"/>
                <a:ea typeface="Calibri" pitchFamily="34" charset="-122"/>
                <a:cs typeface="Calibri" pitchFamily="34" charset="-120"/>
              </a:rPr>
              <a:t>DATA MODEL</a:t>
            </a:r>
            <a:endParaRPr lang="en-US" sz="1100" dirty="0"/>
          </a:p>
        </p:txBody>
      </p:sp>
      <p:sp>
        <p:nvSpPr>
          <p:cNvPr id="5" name="Text 3"/>
          <p:cNvSpPr txBox="1"/>
          <p:nvPr/>
        </p:nvSpPr>
        <p:spPr>
          <a:xfrm>
            <a:off x="1216152" y="658368"/>
            <a:ext cx="9601200" cy="502920"/>
          </a:xfrm>
          <a:prstGeom prst="rect">
            <a:avLst/>
          </a:prstGeom>
          <a:noFill/>
          <a:ln/>
        </p:spPr>
        <p:txBody>
          <a:bodyPr wrap="square" lIns="0" tIns="0" rIns="0" bIns="0" rtlCol="0" anchor="ctr"/>
          <a:lstStyle/>
          <a:p>
            <a:pPr indent="0" marL="0">
              <a:buNone/>
            </a:pPr>
            <a:r>
              <a:rPr lang="en-US" sz="2700" b="1" dirty="0">
                <a:solidFill>
                  <a:srgbClr val="12213E"/>
                </a:solidFill>
                <a:latin typeface="Cambria" pitchFamily="34" charset="0"/>
                <a:ea typeface="Cambria" pitchFamily="34" charset="-122"/>
                <a:cs typeface="Cambria" pitchFamily="34" charset="-120"/>
              </a:rPr>
              <a:t>Append-Only vs Mutable</a:t>
            </a:r>
            <a:endParaRPr lang="en-US" sz="2700" dirty="0"/>
          </a:p>
        </p:txBody>
      </p:sp>
      <p:sp>
        <p:nvSpPr>
          <p:cNvPr id="6" name="Text 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3708C"/>
                </a:solidFill>
                <a:latin typeface="Calibri" pitchFamily="34" charset="0"/>
                <a:ea typeface="Calibri" pitchFamily="34" charset="-122"/>
                <a:cs typeface="Calibri" pitchFamily="34" charset="-120"/>
              </a:rPr>
              <a:t>V2.29 Data Pipeline  ·  XAUUSD  M5 / M15</a:t>
            </a:r>
            <a:endParaRPr lang="en-US" sz="900" dirty="0"/>
          </a:p>
        </p:txBody>
      </p:sp>
      <p:sp>
        <p:nvSpPr>
          <p:cNvPr id="7" name="Text 5"/>
          <p:cNvSpPr txBox="1"/>
          <p:nvPr/>
        </p:nvSpPr>
        <p:spPr>
          <a:xfrm>
            <a:off x="10588752" y="6473952"/>
            <a:ext cx="1097280" cy="274320"/>
          </a:xfrm>
          <a:prstGeom prst="rect">
            <a:avLst/>
          </a:prstGeom>
          <a:noFill/>
          <a:ln/>
        </p:spPr>
        <p:txBody>
          <a:bodyPr wrap="square" lIns="0" tIns="0" rIns="0" bIns="0" rtlCol="0" anchor="ctr"/>
          <a:lstStyle/>
          <a:p>
            <a:pPr algn="r" indent="0" marL="0">
              <a:buNone/>
            </a:pPr>
            <a:r>
              <a:rPr lang="en-US" sz="900" dirty="0">
                <a:solidFill>
                  <a:srgbClr val="63708C"/>
                </a:solidFill>
                <a:latin typeface="Calibri" pitchFamily="34" charset="0"/>
                <a:ea typeface="Calibri" pitchFamily="34" charset="-122"/>
                <a:cs typeface="Calibri" pitchFamily="34" charset="-120"/>
              </a:rPr>
              <a:t>06</a:t>
            </a:r>
            <a:endParaRPr lang="en-US" sz="900" dirty="0"/>
          </a:p>
        </p:txBody>
      </p:sp>
      <p:sp>
        <p:nvSpPr>
          <p:cNvPr id="8" name="Text 6"/>
          <p:cNvSpPr txBox="1"/>
          <p:nvPr/>
        </p:nvSpPr>
        <p:spPr>
          <a:xfrm>
            <a:off x="502920" y="1280160"/>
            <a:ext cx="10881360" cy="274320"/>
          </a:xfrm>
          <a:prstGeom prst="rect">
            <a:avLst/>
          </a:prstGeom>
          <a:noFill/>
          <a:ln/>
        </p:spPr>
        <p:txBody>
          <a:bodyPr wrap="square" lIns="0" tIns="0" rIns="0" bIns="0" rtlCol="0" anchor="ctr"/>
          <a:lstStyle/>
          <a:p>
            <a:pPr indent="0" marL="0">
              <a:buNone/>
            </a:pPr>
            <a:r>
              <a:rPr lang="en-US" sz="1250" dirty="0">
                <a:solidFill>
                  <a:srgbClr val="63708C"/>
                </a:solidFill>
                <a:latin typeface="Calibri" pitchFamily="34" charset="0"/>
                <a:ea typeface="Calibri" pitchFamily="34" charset="-122"/>
                <a:cs typeface="Calibri" pitchFamily="34" charset="-120"/>
              </a:rPr>
              <a:t>The conceptual heart of the statistics work — two tables, deliberately opposite.</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627632"/>
          <a:ext cx="11183112" cy="2331720"/>
        </p:xfrm>
        <a:graphic>
          <a:graphicData uri="http://schemas.openxmlformats.org/drawingml/2006/table">
            <a:tbl>
              <a:tblPr/>
              <a:tblGrid>
                <a:gridCol w="2377440"/>
                <a:gridCol w="4297680"/>
                <a:gridCol w="4507992"/>
              </a:tblGrid>
              <a:tr h="388620">
                <a:tc>
                  <a:txBody>
                    <a:bodyPr/>
                    <a:lstStyle/>
                    <a:p>
                      <a:pPr indent="0" marL="0">
                        <a:buNone/>
                      </a:pPr>
                      <a:endParaRPr lang="en-US" sz="1050" dirty="0"/>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12213E"/>
                    </a:solidFill>
                  </a:tcPr>
                </a:tc>
                <a:tc>
                  <a:txBody>
                    <a:bodyPr/>
                    <a:lstStyle/>
                    <a:p>
                      <a:pPr indent="0" marL="0">
                        <a:buNone/>
                      </a:pPr>
                      <a:r>
                        <a:rPr lang="en-US" sz="1050" b="1" dirty="0">
                          <a:solidFill>
                            <a:srgbClr val="FFFFFF"/>
                          </a:solidFill>
                        </a:rPr>
                        <a:t>market_data_v6</a:t>
                      </a:r>
                      <a:endParaRPr lang="en-US" sz="1050" dirty="0"/>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12213E"/>
                    </a:solidFill>
                  </a:tcPr>
                </a:tc>
                <a:tc>
                  <a:txBody>
                    <a:bodyPr/>
                    <a:lstStyle/>
                    <a:p>
                      <a:pPr indent="0" marL="0">
                        <a:buNone/>
                      </a:pPr>
                      <a:r>
                        <a:rPr lang="en-US" sz="1050" b="1" dirty="0">
                          <a:solidFill>
                            <a:srgbClr val="FFFFFF"/>
                          </a:solidFill>
                        </a:rPr>
                        <a:t>indicator_statistics (new)</a:t>
                      </a:r>
                      <a:endParaRPr lang="en-US" sz="1050" dirty="0"/>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223A66"/>
                    </a:solidFill>
                  </a:tcPr>
                </a:tc>
              </a:tr>
              <a:tr h="388620">
                <a:tc>
                  <a:txBody>
                    <a:bodyPr/>
                    <a:lstStyle/>
                    <a:p>
                      <a:pPr indent="0" marL="0">
                        <a:buNone/>
                      </a:pPr>
                      <a:r>
                        <a:rPr lang="en-US" sz="970" b="1" dirty="0">
                          <a:solidFill>
                            <a:srgbClr val="1B2436"/>
                          </a:solidFill>
                          <a:latin typeface="Calibri" pitchFamily="34" charset="0"/>
                          <a:ea typeface="Calibri" pitchFamily="34" charset="-122"/>
                          <a:cs typeface="Calibri" pitchFamily="34" charset="-120"/>
                        </a:rPr>
                        <a:t>Keyed by</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70" dirty="0">
                          <a:solidFill>
                            <a:srgbClr val="1B2436"/>
                          </a:solidFill>
                          <a:latin typeface="Calibri" pitchFamily="34" charset="0"/>
                          <a:ea typeface="Calibri" pitchFamily="34" charset="-122"/>
                          <a:cs typeface="Calibri" pitchFamily="34" charset="-120"/>
                        </a:rPr>
                        <a:t>(symbol, timeframe, timestamp) — which bar</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70" dirty="0">
                          <a:solidFill>
                            <a:srgbClr val="1B2436"/>
                          </a:solidFill>
                          <a:latin typeface="Calibri" pitchFamily="34" charset="0"/>
                          <a:ea typeface="Calibri" pitchFamily="34" charset="-122"/>
                          <a:cs typeface="Calibri" pitchFamily="34" charset="-120"/>
                        </a:rPr>
                        <a:t>(symbol, timeframe, source, captured_at) — which fit, and when we looked</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EEF1F7"/>
                    </a:solidFill>
                  </a:tcPr>
                </a:tc>
              </a:tr>
              <a:tr h="388620">
                <a:tc>
                  <a:txBody>
                    <a:bodyPr/>
                    <a:lstStyle/>
                    <a:p>
                      <a:pPr indent="0" marL="0">
                        <a:buNone/>
                      </a:pPr>
                      <a:r>
                        <a:rPr lang="en-US" sz="970" b="1" dirty="0">
                          <a:solidFill>
                            <a:srgbClr val="1B2436"/>
                          </a:solidFill>
                          <a:latin typeface="Calibri" pitchFamily="34" charset="0"/>
                          <a:ea typeface="Calibri" pitchFamily="34" charset="-122"/>
                          <a:cs typeface="Calibri" pitchFamily="34" charset="-120"/>
                        </a:rPr>
                        <a:t>Re-sending the same key</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70" dirty="0">
                          <a:solidFill>
                            <a:srgbClr val="1B2436"/>
                          </a:solidFill>
                          <a:latin typeface="Calibri" pitchFamily="34" charset="0"/>
                          <a:ea typeface="Calibri" pitchFamily="34" charset="-122"/>
                          <a:cs typeface="Calibri" pitchFamily="34" charset="-120"/>
                        </a:rPr>
                        <a:t>Overwrites. Newest fit wins</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70" dirty="0">
                          <a:solidFill>
                            <a:srgbClr val="1B2436"/>
                          </a:solidFill>
                          <a:latin typeface="Calibri" pitchFamily="34" charset="0"/>
                          <a:ea typeface="Calibri" pitchFamily="34" charset="-122"/>
                          <a:cs typeface="Calibri" pitchFamily="34" charset="-120"/>
                        </a:rPr>
                        <a:t>Cannot happen. A new observation is a new key</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EEF1F7"/>
                    </a:solidFill>
                  </a:tcPr>
                </a:tc>
              </a:tr>
              <a:tr h="388620">
                <a:tc>
                  <a:txBody>
                    <a:bodyPr/>
                    <a:lstStyle/>
                    <a:p>
                      <a:pPr indent="0" marL="0">
                        <a:buNone/>
                      </a:pPr>
                      <a:r>
                        <a:rPr lang="en-US" sz="970" b="1" dirty="0">
                          <a:solidFill>
                            <a:srgbClr val="1B2436"/>
                          </a:solidFill>
                          <a:latin typeface="Calibri" pitchFamily="34" charset="0"/>
                          <a:ea typeface="Calibri" pitchFamily="34" charset="-122"/>
                          <a:cs typeface="Calibri" pitchFamily="34" charset="-120"/>
                        </a:rPr>
                        <a:t>Therefore</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70" dirty="0">
                          <a:solidFill>
                            <a:srgbClr val="1B2436"/>
                          </a:solidFill>
                          <a:latin typeface="Calibri" pitchFamily="34" charset="0"/>
                          <a:ea typeface="Calibri" pitchFamily="34" charset="-122"/>
                          <a:cs typeface="Calibri" pitchFamily="34" charset="-120"/>
                        </a:rPr>
                        <a:t>Mutable — always shows the latest view</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70" dirty="0">
                          <a:solidFill>
                            <a:srgbClr val="1B2436"/>
                          </a:solidFill>
                          <a:latin typeface="Calibri" pitchFamily="34" charset="0"/>
                          <a:ea typeface="Calibri" pitchFamily="34" charset="-122"/>
                          <a:cs typeface="Calibri" pitchFamily="34" charset="-120"/>
                        </a:rPr>
                        <a:t>Append-only — keeps every view ever taken</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EEF1F7"/>
                    </a:solidFill>
                  </a:tcPr>
                </a:tc>
              </a:tr>
              <a:tr h="388620">
                <a:tc>
                  <a:txBody>
                    <a:bodyPr/>
                    <a:lstStyle/>
                    <a:p>
                      <a:pPr indent="0" marL="0">
                        <a:buNone/>
                      </a:pPr>
                      <a:r>
                        <a:rPr lang="en-US" sz="970" b="1" dirty="0">
                          <a:solidFill>
                            <a:srgbClr val="1B2436"/>
                          </a:solidFill>
                          <a:latin typeface="Calibri" pitchFamily="34" charset="0"/>
                          <a:ea typeface="Calibri" pitchFamily="34" charset="-122"/>
                          <a:cs typeface="Calibri" pitchFamily="34" charset="-120"/>
                        </a:rPr>
                        <a:t>A correction is</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70" dirty="0">
                          <a:solidFill>
                            <a:srgbClr val="1B2436"/>
                          </a:solidFill>
                          <a:latin typeface="Calibri" pitchFamily="34" charset="0"/>
                          <a:ea typeface="Calibri" pitchFamily="34" charset="-122"/>
                          <a:cs typeface="Calibri" pitchFamily="34" charset="-120"/>
                        </a:rPr>
                        <a:t>an UPDATE</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70" dirty="0">
                          <a:solidFill>
                            <a:srgbClr val="1B2436"/>
                          </a:solidFill>
                          <a:latin typeface="Calibri" pitchFamily="34" charset="0"/>
                          <a:ea typeface="Calibri" pitchFamily="34" charset="-122"/>
                          <a:cs typeface="Calibri" pitchFamily="34" charset="-120"/>
                        </a:rPr>
                        <a:t>a new row with a later captured_at</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EEF1F7"/>
                    </a:solidFill>
                  </a:tcPr>
                </a:tc>
              </a:tr>
              <a:tr h="388620">
                <a:tc>
                  <a:txBody>
                    <a:bodyPr/>
                    <a:lstStyle/>
                    <a:p>
                      <a:pPr indent="0" marL="0">
                        <a:buNone/>
                      </a:pPr>
                      <a:r>
                        <a:rPr lang="en-US" sz="970" b="1" dirty="0">
                          <a:solidFill>
                            <a:srgbClr val="1B2436"/>
                          </a:solidFill>
                          <a:latin typeface="Calibri" pitchFamily="34" charset="0"/>
                          <a:ea typeface="Calibri" pitchFamily="34" charset="-122"/>
                          <a:cs typeface="Calibri" pitchFamily="34" charset="-120"/>
                        </a:rPr>
                        <a:t>Right for</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70" dirty="0">
                          <a:solidFill>
                            <a:srgbClr val="1B2436"/>
                          </a:solidFill>
                          <a:latin typeface="Calibri" pitchFamily="34" charset="0"/>
                          <a:ea typeface="Calibri" pitchFamily="34" charset="-122"/>
                          <a:cs typeface="Calibri" pitchFamily="34" charset="-120"/>
                        </a:rPr>
                        <a:t>live charts and alerting</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970" dirty="0">
                          <a:solidFill>
                            <a:srgbClr val="1B2436"/>
                          </a:solidFill>
                          <a:latin typeface="Calibri" pitchFamily="34" charset="0"/>
                          <a:ea typeface="Calibri" pitchFamily="34" charset="-122"/>
                          <a:cs typeface="Calibri" pitchFamily="34" charset="-120"/>
                        </a:rPr>
                        <a:t>history, drift detection, backtesting</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EEF1F7"/>
                    </a:solidFill>
                  </a:tcPr>
                </a:tc>
              </a:tr>
            </a:tbl>
          </a:graphicData>
        </a:graphic>
      </p:graphicFrame>
      <p:sp>
        <p:nvSpPr>
          <p:cNvPr id="10" name="Shape 7"/>
          <p:cNvSpPr/>
          <p:nvPr/>
        </p:nvSpPr>
        <p:spPr>
          <a:xfrm>
            <a:off x="502920" y="4160520"/>
            <a:ext cx="11183112" cy="566928"/>
          </a:xfrm>
          <a:prstGeom prst="roundRect">
            <a:avLst>
              <a:gd name="adj" fmla="val 9677"/>
            </a:avLst>
          </a:prstGeom>
          <a:solidFill>
            <a:srgbClr val="223A66"/>
          </a:solidFill>
          <a:ln w="12700">
            <a:solidFill>
              <a:srgbClr val="DCE3EF"/>
            </a:solidFill>
            <a:prstDash val="solid"/>
          </a:ln>
        </p:spPr>
      </p:sp>
      <p:sp>
        <p:nvSpPr>
          <p:cNvPr id="11" name="Text 8"/>
          <p:cNvSpPr txBox="1"/>
          <p:nvPr/>
        </p:nvSpPr>
        <p:spPr>
          <a:xfrm>
            <a:off x="704088" y="4160520"/>
            <a:ext cx="10789920" cy="566928"/>
          </a:xfrm>
          <a:prstGeom prst="rect">
            <a:avLst/>
          </a:prstGeom>
          <a:noFill/>
          <a:ln/>
        </p:spPr>
        <p:txBody>
          <a:bodyPr wrap="square" lIns="0" tIns="0" rIns="0" bIns="0" rtlCol="0" anchor="ctr"/>
          <a:lstStyle/>
          <a:p>
            <a:pPr indent="0" marL="0">
              <a:buNone/>
            </a:pPr>
            <a:r>
              <a:rPr lang="en-US" sz="1150" b="1" dirty="0">
                <a:solidFill>
                  <a:srgbClr val="E7CE96"/>
                </a:solidFill>
                <a:latin typeface="Cambria" pitchFamily="34" charset="0"/>
                <a:ea typeface="Cambria" pitchFamily="34" charset="-122"/>
                <a:cs typeface="Cambria" pitchFamily="34" charset="-120"/>
              </a:rPr>
              <a:t>The one-line version:  </a:t>
            </a:r>
            <a:pPr indent="0" marL="0">
              <a:buNone/>
            </a:pPr>
            <a:r>
              <a:rPr lang="en-US" sz="1150" i="1" dirty="0">
                <a:solidFill>
                  <a:srgbClr val="FFFFFF"/>
                </a:solidFill>
                <a:latin typeface="Cambria" pitchFamily="34" charset="0"/>
                <a:ea typeface="Cambria" pitchFamily="34" charset="-122"/>
                <a:cs typeface="Cambria" pitchFamily="34" charset="-120"/>
              </a:rPr>
              <a:t>market_data answers “what does this bar look like now?”  indicator_statistics answers “what did we believe, and when did we believe it?”</a:t>
            </a:r>
            <a:endParaRPr lang="en-US" sz="1150" dirty="0"/>
          </a:p>
        </p:txBody>
      </p:sp>
      <p:sp>
        <p:nvSpPr>
          <p:cNvPr id="12" name="Shape 9"/>
          <p:cNvSpPr/>
          <p:nvPr/>
        </p:nvSpPr>
        <p:spPr>
          <a:xfrm>
            <a:off x="502920" y="4892040"/>
            <a:ext cx="5454396" cy="1417320"/>
          </a:xfrm>
          <a:prstGeom prst="roundRect">
            <a:avLst>
              <a:gd name="adj" fmla="val 3871"/>
            </a:avLst>
          </a:prstGeom>
          <a:solidFill>
            <a:srgbClr val="EEF1F7"/>
          </a:solidFill>
          <a:ln w="12700">
            <a:solidFill>
              <a:srgbClr val="DCE3EF"/>
            </a:solidFill>
            <a:prstDash val="solid"/>
          </a:ln>
        </p:spPr>
      </p:sp>
      <p:sp>
        <p:nvSpPr>
          <p:cNvPr id="13" name="Text 10"/>
          <p:cNvSpPr txBox="1"/>
          <p:nvPr/>
        </p:nvSpPr>
        <p:spPr>
          <a:xfrm>
            <a:off x="704088" y="5010912"/>
            <a:ext cx="5052060" cy="274320"/>
          </a:xfrm>
          <a:prstGeom prst="rect">
            <a:avLst/>
          </a:prstGeom>
          <a:noFill/>
          <a:ln/>
        </p:spPr>
        <p:txBody>
          <a:bodyPr wrap="square" lIns="0" tIns="0" rIns="0" bIns="0" rtlCol="0" anchor="ctr"/>
          <a:lstStyle/>
          <a:p>
            <a:pPr indent="0" marL="0">
              <a:buNone/>
            </a:pPr>
            <a:r>
              <a:rPr lang="en-US" sz="1150" b="1" dirty="0">
                <a:solidFill>
                  <a:srgbClr val="12213E"/>
                </a:solidFill>
                <a:latin typeface="Calibri" pitchFamily="34" charset="0"/>
                <a:ea typeface="Calibri" pitchFamily="34" charset="-122"/>
                <a:cs typeface="Calibri" pitchFamily="34" charset="-120"/>
              </a:rPr>
              <a:t>Enforced by the key, not a policy</a:t>
            </a:r>
            <a:endParaRPr lang="en-US" sz="1150" dirty="0"/>
          </a:p>
        </p:txBody>
      </p:sp>
      <p:sp>
        <p:nvSpPr>
          <p:cNvPr id="14" name="Text 11"/>
          <p:cNvSpPr txBox="1"/>
          <p:nvPr/>
        </p:nvSpPr>
        <p:spPr>
          <a:xfrm>
            <a:off x="704088" y="5321808"/>
            <a:ext cx="5052060" cy="914400"/>
          </a:xfrm>
          <a:prstGeom prst="rect">
            <a:avLst/>
          </a:prstGeom>
          <a:noFill/>
          <a:ln/>
        </p:spPr>
        <p:txBody>
          <a:bodyPr wrap="square" lIns="0" tIns="0" rIns="0" bIns="0" rtlCol="0" anchor="ctr"/>
          <a:lstStyle/>
          <a:p>
            <a:pPr indent="0" marL="0">
              <a:buNone/>
            </a:pPr>
            <a:r>
              <a:rPr lang="en-US" sz="950" dirty="0">
                <a:solidFill>
                  <a:srgbClr val="1B2436"/>
                </a:solidFill>
                <a:latin typeface="Calibri" pitchFamily="34" charset="0"/>
                <a:ea typeface="Calibri" pitchFamily="34" charset="-122"/>
                <a:cs typeface="Calibri" pitchFamily="34" charset="-120"/>
              </a:rPr>
              <a:t>There is no “please don't update this” convention to remember or violate — the schema makes overwriting structurally impossible. A push retry re-delivers the same key with byte-identical content, so retries are safe and duplicates are impossible.</a:t>
            </a:r>
            <a:endParaRPr lang="en-US" sz="950" dirty="0"/>
          </a:p>
        </p:txBody>
      </p:sp>
      <p:sp>
        <p:nvSpPr>
          <p:cNvPr id="15" name="Shape 12"/>
          <p:cNvSpPr/>
          <p:nvPr/>
        </p:nvSpPr>
        <p:spPr>
          <a:xfrm>
            <a:off x="6231636" y="4892040"/>
            <a:ext cx="5454396" cy="1417320"/>
          </a:xfrm>
          <a:prstGeom prst="roundRect">
            <a:avLst>
              <a:gd name="adj" fmla="val 3871"/>
            </a:avLst>
          </a:prstGeom>
          <a:solidFill>
            <a:srgbClr val="EEF1F7"/>
          </a:solidFill>
          <a:ln w="12700">
            <a:solidFill>
              <a:srgbClr val="DCE3EF"/>
            </a:solidFill>
            <a:prstDash val="solid"/>
          </a:ln>
        </p:spPr>
      </p:sp>
      <p:sp>
        <p:nvSpPr>
          <p:cNvPr id="16" name="Text 13"/>
          <p:cNvSpPr txBox="1"/>
          <p:nvPr/>
        </p:nvSpPr>
        <p:spPr>
          <a:xfrm>
            <a:off x="6432804" y="5010912"/>
            <a:ext cx="5052060" cy="274320"/>
          </a:xfrm>
          <a:prstGeom prst="rect">
            <a:avLst/>
          </a:prstGeom>
          <a:noFill/>
          <a:ln/>
        </p:spPr>
        <p:txBody>
          <a:bodyPr wrap="square" lIns="0" tIns="0" rIns="0" bIns="0" rtlCol="0" anchor="ctr"/>
          <a:lstStyle/>
          <a:p>
            <a:pPr indent="0" marL="0">
              <a:buNone/>
            </a:pPr>
            <a:r>
              <a:rPr lang="en-US" sz="1150" b="1" dirty="0">
                <a:solidFill>
                  <a:srgbClr val="12213E"/>
                </a:solidFill>
                <a:latin typeface="Calibri" pitchFamily="34" charset="0"/>
                <a:ea typeface="Calibri" pitchFamily="34" charset="-122"/>
                <a:cs typeface="Calibri" pitchFamily="34" charset="-120"/>
              </a:rPr>
              <a:t>Configuration stored once, not per row</a:t>
            </a:r>
            <a:endParaRPr lang="en-US" sz="1150" dirty="0"/>
          </a:p>
        </p:txBody>
      </p:sp>
      <p:sp>
        <p:nvSpPr>
          <p:cNvPr id="17" name="Text 14"/>
          <p:cNvSpPr txBox="1"/>
          <p:nvPr/>
        </p:nvSpPr>
        <p:spPr>
          <a:xfrm>
            <a:off x="6432804" y="5321808"/>
            <a:ext cx="5052060" cy="914400"/>
          </a:xfrm>
          <a:prstGeom prst="rect">
            <a:avLst/>
          </a:prstGeom>
          <a:noFill/>
          <a:ln/>
        </p:spPr>
        <p:txBody>
          <a:bodyPr wrap="square" lIns="0" tIns="0" rIns="0" bIns="0" rtlCol="0" anchor="ctr"/>
          <a:lstStyle/>
          <a:p>
            <a:pPr indent="0" marL="0">
              <a:buNone/>
            </a:pPr>
            <a:r>
              <a:rPr lang="en-US" sz="950" dirty="0">
                <a:solidFill>
                  <a:srgbClr val="1B2436"/>
                </a:solidFill>
                <a:latin typeface="Calibri" pitchFamily="34" charset="0"/>
                <a:ea typeface="Calibri" pitchFamily="34" charset="-122"/>
                <a:cs typeface="Calibri" pitchFamily="34" charset="-120"/>
              </a:rPr>
              <a:t>Indicator parameters are hashed into a small </a:t>
            </a:r>
            <a:pPr indent="0" marL="0">
              <a:buNone/>
            </a:pPr>
            <a:r>
              <a:rPr lang="en-US" sz="950" dirty="0">
                <a:solidFill>
                  <a:srgbClr val="1B2436"/>
                </a:solidFill>
                <a:latin typeface="Courier New" pitchFamily="34" charset="0"/>
                <a:ea typeface="Courier New" pitchFamily="34" charset="-122"/>
                <a:cs typeface="Courier New" pitchFamily="34" charset="-120"/>
              </a:rPr>
              <a:t>indicator_configs</a:t>
            </a:r>
            <a:pPr indent="0" marL="0">
              <a:buNone/>
            </a:pPr>
            <a:r>
              <a:rPr lang="en-US" sz="950" dirty="0">
                <a:solidFill>
                  <a:srgbClr val="1B2436"/>
                </a:solidFill>
                <a:latin typeface="Calibri" pitchFamily="34" charset="0"/>
                <a:ea typeface="Calibri" pitchFamily="34" charset="-122"/>
                <a:cs typeface="Calibri" pitchFamily="34" charset="-120"/>
              </a:rPr>
              <a:t> table instead of repeated on every row. A new hash appearing is itself the “someone reconfigured this indicator” signal, with the exact date it started.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12213E"/>
          </a:solidFill>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2000" b="1" dirty="0">
                <a:solidFill>
                  <a:srgbClr val="E7CE96"/>
                </a:solidFill>
                <a:latin typeface="Cambria" pitchFamily="34" charset="0"/>
                <a:ea typeface="Cambria" pitchFamily="34" charset="-122"/>
                <a:cs typeface="Cambria" pitchFamily="34" charset="-120"/>
              </a:rPr>
              <a:t>07</a:t>
            </a:r>
            <a:endParaRPr lang="en-US" sz="2000" dirty="0"/>
          </a:p>
        </p:txBody>
      </p:sp>
      <p:sp>
        <p:nvSpPr>
          <p:cNvPr id="4" name="Text 2"/>
          <p:cNvSpPr txBox="1"/>
          <p:nvPr/>
        </p:nvSpPr>
        <p:spPr>
          <a:xfrm>
            <a:off x="1216152" y="420624"/>
            <a:ext cx="8686800" cy="256032"/>
          </a:xfrm>
          <a:prstGeom prst="rect">
            <a:avLst/>
          </a:prstGeom>
          <a:noFill/>
          <a:ln/>
        </p:spPr>
        <p:txBody>
          <a:bodyPr wrap="square" lIns="0" tIns="0" rIns="0" bIns="0" rtlCol="0" anchor="ctr"/>
          <a:lstStyle/>
          <a:p>
            <a:pPr indent="0" marL="0">
              <a:buNone/>
            </a:pPr>
            <a:r>
              <a:rPr lang="en-US" sz="1100" b="1" spc="200" kern="0" dirty="0">
                <a:solidFill>
                  <a:srgbClr val="C1922C"/>
                </a:solidFill>
                <a:latin typeface="Calibri" pitchFamily="34" charset="0"/>
                <a:ea typeface="Calibri" pitchFamily="34" charset="-122"/>
                <a:cs typeface="Calibri" pitchFamily="34" charset="-120"/>
              </a:rPr>
              <a:t>TIMING</a:t>
            </a:r>
            <a:endParaRPr lang="en-US" sz="1100" dirty="0"/>
          </a:p>
        </p:txBody>
      </p:sp>
      <p:sp>
        <p:nvSpPr>
          <p:cNvPr id="5" name="Text 3"/>
          <p:cNvSpPr txBox="1"/>
          <p:nvPr/>
        </p:nvSpPr>
        <p:spPr>
          <a:xfrm>
            <a:off x="1216152" y="658368"/>
            <a:ext cx="9601200" cy="502920"/>
          </a:xfrm>
          <a:prstGeom prst="rect">
            <a:avLst/>
          </a:prstGeom>
          <a:noFill/>
          <a:ln/>
        </p:spPr>
        <p:txBody>
          <a:bodyPr wrap="square" lIns="0" tIns="0" rIns="0" bIns="0" rtlCol="0" anchor="ctr"/>
          <a:lstStyle/>
          <a:p>
            <a:pPr indent="0" marL="0">
              <a:buNone/>
            </a:pPr>
            <a:r>
              <a:rPr lang="en-US" sz="2700" b="1" dirty="0">
                <a:solidFill>
                  <a:srgbClr val="12213E"/>
                </a:solidFill>
                <a:latin typeface="Cambria" pitchFamily="34" charset="0"/>
                <a:ea typeface="Cambria" pitchFamily="34" charset="-122"/>
                <a:cs typeface="Cambria" pitchFamily="34" charset="-120"/>
              </a:rPr>
              <a:t>Cadence &amp; Volume</a:t>
            </a:r>
            <a:endParaRPr lang="en-US" sz="2700" dirty="0"/>
          </a:p>
        </p:txBody>
      </p:sp>
      <p:sp>
        <p:nvSpPr>
          <p:cNvPr id="6" name="Text 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3708C"/>
                </a:solidFill>
                <a:latin typeface="Calibri" pitchFamily="34" charset="0"/>
                <a:ea typeface="Calibri" pitchFamily="34" charset="-122"/>
                <a:cs typeface="Calibri" pitchFamily="34" charset="-120"/>
              </a:rPr>
              <a:t>V2.29 Data Pipeline  ·  XAUUSD  M5 / M15</a:t>
            </a:r>
            <a:endParaRPr lang="en-US" sz="900" dirty="0"/>
          </a:p>
        </p:txBody>
      </p:sp>
      <p:sp>
        <p:nvSpPr>
          <p:cNvPr id="7" name="Text 5"/>
          <p:cNvSpPr txBox="1"/>
          <p:nvPr/>
        </p:nvSpPr>
        <p:spPr>
          <a:xfrm>
            <a:off x="10588752" y="6473952"/>
            <a:ext cx="1097280" cy="274320"/>
          </a:xfrm>
          <a:prstGeom prst="rect">
            <a:avLst/>
          </a:prstGeom>
          <a:noFill/>
          <a:ln/>
        </p:spPr>
        <p:txBody>
          <a:bodyPr wrap="square" lIns="0" tIns="0" rIns="0" bIns="0" rtlCol="0" anchor="ctr"/>
          <a:lstStyle/>
          <a:p>
            <a:pPr algn="r" indent="0" marL="0">
              <a:buNone/>
            </a:pPr>
            <a:r>
              <a:rPr lang="en-US" sz="900" dirty="0">
                <a:solidFill>
                  <a:srgbClr val="63708C"/>
                </a:solidFill>
                <a:latin typeface="Calibri" pitchFamily="34" charset="0"/>
                <a:ea typeface="Calibri" pitchFamily="34" charset="-122"/>
                <a:cs typeface="Calibri" pitchFamily="34" charset="-120"/>
              </a:rPr>
              <a:t>07</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83112" cy="1965960"/>
        </p:xfrm>
        <a:graphic>
          <a:graphicData uri="http://schemas.openxmlformats.org/drawingml/2006/table">
            <a:tbl>
              <a:tblPr/>
              <a:tblGrid>
                <a:gridCol w="5120640"/>
                <a:gridCol w="6062472"/>
              </a:tblGrid>
              <a:tr h="393192">
                <a:tc>
                  <a:txBody>
                    <a:bodyPr/>
                    <a:lstStyle/>
                    <a:p>
                      <a:pPr indent="0" marL="0">
                        <a:buNone/>
                      </a:pPr>
                      <a:r>
                        <a:rPr lang="en-US" sz="1100" b="1" dirty="0">
                          <a:solidFill>
                            <a:srgbClr val="FFFFFF"/>
                          </a:solidFill>
                        </a:rPr>
                        <a:t>Event</a:t>
                      </a:r>
                      <a:endParaRPr lang="en-US" sz="1100" dirty="0"/>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12213E"/>
                    </a:solidFill>
                  </a:tcPr>
                </a:tc>
                <a:tc>
                  <a:txBody>
                    <a:bodyPr/>
                    <a:lstStyle/>
                    <a:p>
                      <a:pPr indent="0" marL="0">
                        <a:buNone/>
                      </a:pPr>
                      <a:r>
                        <a:rPr lang="en-US" sz="1100" b="1" dirty="0">
                          <a:solidFill>
                            <a:srgbClr val="FFFFFF"/>
                          </a:solidFill>
                        </a:rPr>
                        <a:t>Frequency</a:t>
                      </a:r>
                      <a:endParaRPr lang="en-US" sz="1100" dirty="0"/>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12213E"/>
                    </a:solidFill>
                  </a:tcPr>
                </a:tc>
              </a:tr>
              <a:tr h="393192">
                <a:tc>
                  <a:txBody>
                    <a:bodyPr/>
                    <a:lstStyle/>
                    <a:p>
                      <a:pPr indent="0" marL="0">
                        <a:buNone/>
                      </a:pPr>
                      <a:r>
                        <a:rPr lang="en-US" sz="1150" b="1" dirty="0">
                          <a:solidFill>
                            <a:srgbClr val="1B2436"/>
                          </a:solidFill>
                          <a:latin typeface="Courier New" pitchFamily="34" charset="0"/>
                          <a:ea typeface="Courier New" pitchFamily="34" charset="-122"/>
                          <a:cs typeface="Courier New" pitchFamily="34" charset="-120"/>
                        </a:rPr>
                        <a:t>MT5 overwrites the 13 .txt exports</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1150" dirty="0">
                          <a:solidFill>
                            <a:srgbClr val="1B2436"/>
                          </a:solidFill>
                          <a:latin typeface="Calibri" pitchFamily="34" charset="0"/>
                          <a:ea typeface="Calibri" pitchFamily="34" charset="-122"/>
                          <a:cs typeface="Calibri" pitchFamily="34" charset="-120"/>
                        </a:rPr>
                        <a:t>Every minute (at second :59)</a:t>
                      </a:r>
                      <a:endParaRPr lang="en-US" sz="115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393192">
                <a:tc>
                  <a:txBody>
                    <a:bodyPr/>
                    <a:lstStyle/>
                    <a:p>
                      <a:pPr indent="0" marL="0">
                        <a:buNone/>
                      </a:pPr>
                      <a:r>
                        <a:rPr lang="en-US" sz="1150" b="1" dirty="0">
                          <a:solidFill>
                            <a:srgbClr val="1B2436"/>
                          </a:solidFill>
                          <a:latin typeface="Courier New" pitchFamily="34" charset="0"/>
                          <a:ea typeface="Courier New" pitchFamily="34" charset="-122"/>
                          <a:cs typeface="Courier New" pitchFamily="34" charset="-120"/>
                        </a:rPr>
                        <a:t>Collector ingests M5</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1150" dirty="0">
                          <a:solidFill>
                            <a:srgbClr val="1B2436"/>
                          </a:solidFill>
                          <a:latin typeface="Calibri" pitchFamily="34" charset="0"/>
                          <a:ea typeface="Calibri" pitchFamily="34" charset="-122"/>
                          <a:cs typeface="Calibri" pitchFamily="34" charset="-120"/>
                        </a:rPr>
                        <a:t>Every 5 minutes (at :05 past the boundary)</a:t>
                      </a:r>
                      <a:endParaRPr lang="en-US" sz="115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393192">
                <a:tc>
                  <a:txBody>
                    <a:bodyPr/>
                    <a:lstStyle/>
                    <a:p>
                      <a:pPr indent="0" marL="0">
                        <a:buNone/>
                      </a:pPr>
                      <a:r>
                        <a:rPr lang="en-US" sz="1150" b="1" dirty="0">
                          <a:solidFill>
                            <a:srgbClr val="1B2436"/>
                          </a:solidFill>
                          <a:latin typeface="Courier New" pitchFamily="34" charset="0"/>
                          <a:ea typeface="Courier New" pitchFamily="34" charset="-122"/>
                          <a:cs typeface="Courier New" pitchFamily="34" charset="-120"/>
                        </a:rPr>
                        <a:t>Collector ingests M15</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1150" dirty="0">
                          <a:solidFill>
                            <a:srgbClr val="1B2436"/>
                          </a:solidFill>
                          <a:latin typeface="Calibri" pitchFamily="34" charset="0"/>
                          <a:ea typeface="Calibri" pitchFamily="34" charset="-122"/>
                          <a:cs typeface="Calibri" pitchFamily="34" charset="-120"/>
                        </a:rPr>
                        <a:t>Every 15 minutes</a:t>
                      </a:r>
                      <a:endParaRPr lang="en-US" sz="115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393192">
                <a:tc>
                  <a:txBody>
                    <a:bodyPr/>
                    <a:lstStyle/>
                    <a:p>
                      <a:pPr indent="0" marL="0">
                        <a:buNone/>
                      </a:pPr>
                      <a:r>
                        <a:rPr lang="en-US" sz="1150" b="1" dirty="0">
                          <a:solidFill>
                            <a:srgbClr val="1B2436"/>
                          </a:solidFill>
                          <a:latin typeface="Courier New" pitchFamily="34" charset="0"/>
                          <a:ea typeface="Courier New" pitchFamily="34" charset="-122"/>
                          <a:cs typeface="Courier New" pitchFamily="34" charset="-120"/>
                        </a:rPr>
                        <a:t>Rows re-queued per cycle</a:t>
                      </a:r>
                      <a:endParaRPr lang="en-US" sz="115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indent="0" marL="0">
                        <a:buNone/>
                      </a:pPr>
                      <a:r>
                        <a:rPr lang="en-US" sz="1150" dirty="0">
                          <a:solidFill>
                            <a:srgbClr val="1B2436"/>
                          </a:solidFill>
                          <a:latin typeface="Calibri" pitchFamily="34" charset="0"/>
                          <a:ea typeface="Calibri" pitchFamily="34" charset="-122"/>
                          <a:cs typeface="Calibri" pitchFamily="34" charset="-120"/>
                        </a:rPr>
                        <a:t>All ~3000 in-window bars for that timeframe</a:t>
                      </a:r>
                      <a:endParaRPr lang="en-US" sz="115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02920" y="3703320"/>
            <a:ext cx="7315200" cy="256032"/>
          </a:xfrm>
          <a:prstGeom prst="rect">
            <a:avLst/>
          </a:prstGeom>
          <a:noFill/>
          <a:ln/>
        </p:spPr>
        <p:txBody>
          <a:bodyPr wrap="square" lIns="0" tIns="0" rIns="0" bIns="0" rtlCol="0" anchor="ctr"/>
          <a:lstStyle/>
          <a:p>
            <a:pPr indent="0" marL="0">
              <a:buNone/>
            </a:pPr>
            <a:r>
              <a:rPr lang="en-US" sz="1100" b="1" spc="150" kern="0" dirty="0">
                <a:solidFill>
                  <a:srgbClr val="44577E"/>
                </a:solidFill>
                <a:latin typeface="Calibri" pitchFamily="34" charset="0"/>
                <a:ea typeface="Calibri" pitchFamily="34" charset="-122"/>
                <a:cs typeface="Calibri" pitchFamily="34" charset="-120"/>
              </a:rPr>
              <a:t>WHY EXPORT EVERY MINUTE BUT READ EVERY 5?</a:t>
            </a:r>
            <a:endParaRPr lang="en-US" sz="1100" dirty="0"/>
          </a:p>
        </p:txBody>
      </p:sp>
      <p:sp>
        <p:nvSpPr>
          <p:cNvPr id="10" name="Shape 7"/>
          <p:cNvSpPr/>
          <p:nvPr/>
        </p:nvSpPr>
        <p:spPr>
          <a:xfrm>
            <a:off x="502920" y="4023360"/>
            <a:ext cx="5431536" cy="1691640"/>
          </a:xfrm>
          <a:prstGeom prst="roundRect">
            <a:avLst>
              <a:gd name="adj" fmla="val 3243"/>
            </a:avLst>
          </a:prstGeom>
          <a:solidFill>
            <a:srgbClr val="EEF1F7"/>
          </a:solidFill>
          <a:ln w="12700">
            <a:solidFill>
              <a:srgbClr val="DCE3EF"/>
            </a:solidFill>
            <a:prstDash val="solid"/>
          </a:ln>
        </p:spPr>
      </p:sp>
      <p:sp>
        <p:nvSpPr>
          <p:cNvPr id="11" name="Text 8"/>
          <p:cNvSpPr txBox="1"/>
          <p:nvPr/>
        </p:nvSpPr>
        <p:spPr>
          <a:xfrm>
            <a:off x="704088" y="4160520"/>
            <a:ext cx="5029200" cy="1463040"/>
          </a:xfrm>
          <a:prstGeom prst="rect">
            <a:avLst/>
          </a:prstGeom>
          <a:noFill/>
          <a:ln/>
        </p:spPr>
        <p:txBody>
          <a:bodyPr wrap="square" lIns="0" tIns="0" rIns="0" bIns="0" rtlCol="0" anchor="ctr"/>
          <a:lstStyle/>
          <a:p>
            <a:pPr indent="0" marL="0">
              <a:buNone/>
            </a:pPr>
            <a:r>
              <a:rPr lang="en-US" sz="1150" b="1" dirty="0">
                <a:solidFill>
                  <a:srgbClr val="12213E"/>
                </a:solidFill>
                <a:latin typeface="Calibri" pitchFamily="34" charset="0"/>
                <a:ea typeface="Calibri" pitchFamily="34" charset="-122"/>
                <a:cs typeface="Calibri" pitchFamily="34" charset="-120"/>
              </a:rPr>
              <a:t>Read cadence matches the data.  </a:t>
            </a:r>
            <a:pPr indent="0" marL="0">
              <a:buNone/>
            </a:pPr>
            <a:r>
              <a:rPr lang="en-US" sz="1150" dirty="0">
                <a:solidFill>
                  <a:srgbClr val="1B2436"/>
                </a:solidFill>
                <a:latin typeface="Calibri" pitchFamily="34" charset="0"/>
                <a:ea typeface="Calibri" pitchFamily="34" charset="-122"/>
                <a:cs typeface="Calibri" pitchFamily="34" charset="-120"/>
              </a:rPr>
              <a:t>An M5 bar only closes every 5 minutes, so reading more often would just re-read the same bar.</a:t>
            </a:r>
            <a:endParaRPr lang="en-US" sz="1150" dirty="0"/>
          </a:p>
        </p:txBody>
      </p:sp>
      <p:sp>
        <p:nvSpPr>
          <p:cNvPr id="12" name="Shape 9"/>
          <p:cNvSpPr/>
          <p:nvPr/>
        </p:nvSpPr>
        <p:spPr>
          <a:xfrm>
            <a:off x="6254496" y="4023360"/>
            <a:ext cx="5431536" cy="1691640"/>
          </a:xfrm>
          <a:prstGeom prst="roundRect">
            <a:avLst>
              <a:gd name="adj" fmla="val 3243"/>
            </a:avLst>
          </a:prstGeom>
          <a:solidFill>
            <a:srgbClr val="EEF1F7"/>
          </a:solidFill>
          <a:ln w="12700">
            <a:solidFill>
              <a:srgbClr val="DCE3EF"/>
            </a:solidFill>
            <a:prstDash val="solid"/>
          </a:ln>
        </p:spPr>
      </p:sp>
      <p:sp>
        <p:nvSpPr>
          <p:cNvPr id="13" name="Text 10"/>
          <p:cNvSpPr txBox="1"/>
          <p:nvPr/>
        </p:nvSpPr>
        <p:spPr>
          <a:xfrm>
            <a:off x="6455664" y="4160520"/>
            <a:ext cx="5029200" cy="1463040"/>
          </a:xfrm>
          <a:prstGeom prst="rect">
            <a:avLst/>
          </a:prstGeom>
          <a:noFill/>
          <a:ln/>
        </p:spPr>
        <p:txBody>
          <a:bodyPr wrap="square" lIns="0" tIns="0" rIns="0" bIns="0" rtlCol="0" anchor="ctr"/>
          <a:lstStyle/>
          <a:p>
            <a:pPr indent="0" marL="0">
              <a:buNone/>
            </a:pPr>
            <a:r>
              <a:rPr lang="en-US" sz="1050" b="1" dirty="0">
                <a:solidFill>
                  <a:srgbClr val="12213E"/>
                </a:solidFill>
                <a:latin typeface="Calibri" pitchFamily="34" charset="0"/>
                <a:ea typeface="Calibri" pitchFamily="34" charset="-122"/>
                <a:cs typeface="Calibri" pitchFamily="34" charset="-120"/>
              </a:rPr>
              <a:t>Write cadence serves recovery.  </a:t>
            </a:r>
            <a:pPr indent="0" marL="0">
              <a:buNone/>
            </a:pPr>
            <a:r>
              <a:rPr lang="en-US" sz="1050" dirty="0">
                <a:solidFill>
                  <a:srgbClr val="1B2436"/>
                </a:solidFill>
                <a:latin typeface="Calibri" pitchFamily="34" charset="0"/>
                <a:ea typeface="Calibri" pitchFamily="34" charset="-122"/>
                <a:cs typeface="Calibri" pitchFamily="34" charset="-120"/>
              </a:rPr>
              <a:t>If a cycle is rejected because sources disagree, the collector waits RETRY_WAIT_SEC = 65s — just over one minute — so a fresh export set has landed. Three attempts cost ~2 min and still fit inside the 5-min slot. At 5-min exports, three retries would take 15 min and collide with the next cycle.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12213E"/>
          </a:solidFill>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2000" b="1" dirty="0">
                <a:solidFill>
                  <a:srgbClr val="E7CE96"/>
                </a:solidFill>
                <a:latin typeface="Cambria" pitchFamily="34" charset="0"/>
                <a:ea typeface="Cambria" pitchFamily="34" charset="-122"/>
                <a:cs typeface="Cambria" pitchFamily="34" charset="-120"/>
              </a:rPr>
              <a:t>08</a:t>
            </a:r>
            <a:endParaRPr lang="en-US" sz="2000" dirty="0"/>
          </a:p>
        </p:txBody>
      </p:sp>
      <p:sp>
        <p:nvSpPr>
          <p:cNvPr id="4" name="Text 2"/>
          <p:cNvSpPr txBox="1"/>
          <p:nvPr/>
        </p:nvSpPr>
        <p:spPr>
          <a:xfrm>
            <a:off x="1216152" y="420624"/>
            <a:ext cx="8686800" cy="256032"/>
          </a:xfrm>
          <a:prstGeom prst="rect">
            <a:avLst/>
          </a:prstGeom>
          <a:noFill/>
          <a:ln/>
        </p:spPr>
        <p:txBody>
          <a:bodyPr wrap="square" lIns="0" tIns="0" rIns="0" bIns="0" rtlCol="0" anchor="ctr"/>
          <a:lstStyle/>
          <a:p>
            <a:pPr indent="0" marL="0">
              <a:buNone/>
            </a:pPr>
            <a:r>
              <a:rPr lang="en-US" sz="1100" b="1" spc="200" kern="0" dirty="0">
                <a:solidFill>
                  <a:srgbClr val="C1922C"/>
                </a:solidFill>
                <a:latin typeface="Calibri" pitchFamily="34" charset="0"/>
                <a:ea typeface="Calibri" pitchFamily="34" charset="-122"/>
                <a:cs typeface="Calibri" pitchFamily="34" charset="-120"/>
              </a:rPr>
              <a:t>ROOT-CAUSE STORY</a:t>
            </a:r>
            <a:endParaRPr lang="en-US" sz="1100" dirty="0"/>
          </a:p>
        </p:txBody>
      </p:sp>
      <p:sp>
        <p:nvSpPr>
          <p:cNvPr id="5" name="Text 3"/>
          <p:cNvSpPr txBox="1"/>
          <p:nvPr/>
        </p:nvSpPr>
        <p:spPr>
          <a:xfrm>
            <a:off x="1216152" y="658368"/>
            <a:ext cx="9601200" cy="502920"/>
          </a:xfrm>
          <a:prstGeom prst="rect">
            <a:avLst/>
          </a:prstGeom>
          <a:noFill/>
          <a:ln/>
        </p:spPr>
        <p:txBody>
          <a:bodyPr wrap="square" lIns="0" tIns="0" rIns="0" bIns="0" rtlCol="0" anchor="ctr"/>
          <a:lstStyle/>
          <a:p>
            <a:pPr indent="0" marL="0">
              <a:buNone/>
            </a:pPr>
            <a:r>
              <a:rPr lang="en-US" sz="2700" b="1" dirty="0">
                <a:solidFill>
                  <a:srgbClr val="12213E"/>
                </a:solidFill>
                <a:latin typeface="Cambria" pitchFamily="34" charset="0"/>
                <a:ea typeface="Cambria" pitchFamily="34" charset="-122"/>
                <a:cs typeface="Cambria" pitchFamily="34" charset="-120"/>
              </a:rPr>
              <a:t>The Timestamp Fix</a:t>
            </a:r>
            <a:endParaRPr lang="en-US" sz="2700" dirty="0"/>
          </a:p>
        </p:txBody>
      </p:sp>
      <p:sp>
        <p:nvSpPr>
          <p:cNvPr id="6" name="Text 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3708C"/>
                </a:solidFill>
                <a:latin typeface="Calibri" pitchFamily="34" charset="0"/>
                <a:ea typeface="Calibri" pitchFamily="34" charset="-122"/>
                <a:cs typeface="Calibri" pitchFamily="34" charset="-120"/>
              </a:rPr>
              <a:t>V2.29 Data Pipeline  ·  XAUUSD  M5 / M15</a:t>
            </a:r>
            <a:endParaRPr lang="en-US" sz="900" dirty="0"/>
          </a:p>
        </p:txBody>
      </p:sp>
      <p:sp>
        <p:nvSpPr>
          <p:cNvPr id="7" name="Text 5"/>
          <p:cNvSpPr txBox="1"/>
          <p:nvPr/>
        </p:nvSpPr>
        <p:spPr>
          <a:xfrm>
            <a:off x="10588752" y="6473952"/>
            <a:ext cx="1097280" cy="274320"/>
          </a:xfrm>
          <a:prstGeom prst="rect">
            <a:avLst/>
          </a:prstGeom>
          <a:noFill/>
          <a:ln/>
        </p:spPr>
        <p:txBody>
          <a:bodyPr wrap="square" lIns="0" tIns="0" rIns="0" bIns="0" rtlCol="0" anchor="ctr"/>
          <a:lstStyle/>
          <a:p>
            <a:pPr algn="r" indent="0" marL="0">
              <a:buNone/>
            </a:pPr>
            <a:r>
              <a:rPr lang="en-US" sz="900" dirty="0">
                <a:solidFill>
                  <a:srgbClr val="63708C"/>
                </a:solidFill>
                <a:latin typeface="Calibri" pitchFamily="34" charset="0"/>
                <a:ea typeface="Calibri" pitchFamily="34" charset="-122"/>
                <a:cs typeface="Calibri" pitchFamily="34" charset="-120"/>
              </a:rPr>
              <a:t>08</a:t>
            </a:r>
            <a:endParaRPr lang="en-US" sz="900" dirty="0"/>
          </a:p>
        </p:txBody>
      </p:sp>
      <p:sp>
        <p:nvSpPr>
          <p:cNvPr id="8" name="Shape 6"/>
          <p:cNvSpPr/>
          <p:nvPr/>
        </p:nvSpPr>
        <p:spPr>
          <a:xfrm>
            <a:off x="502920" y="1298448"/>
            <a:ext cx="11183112" cy="658368"/>
          </a:xfrm>
          <a:prstGeom prst="roundRect">
            <a:avLst>
              <a:gd name="adj" fmla="val 8333"/>
            </a:avLst>
          </a:prstGeom>
          <a:solidFill>
            <a:srgbClr val="F3DFDF"/>
          </a:solidFill>
          <a:ln w="12700">
            <a:solidFill>
              <a:srgbClr val="DCE3EF"/>
            </a:solidFill>
            <a:prstDash val="solid"/>
          </a:ln>
        </p:spPr>
      </p:sp>
      <p:sp>
        <p:nvSpPr>
          <p:cNvPr id="9" name="Text 7"/>
          <p:cNvSpPr txBox="1"/>
          <p:nvPr/>
        </p:nvSpPr>
        <p:spPr>
          <a:xfrm>
            <a:off x="685800" y="1298448"/>
            <a:ext cx="10789920" cy="658368"/>
          </a:xfrm>
          <a:prstGeom prst="rect">
            <a:avLst/>
          </a:prstGeom>
          <a:noFill/>
          <a:ln/>
        </p:spPr>
        <p:txBody>
          <a:bodyPr wrap="square" lIns="0" tIns="0" rIns="0" bIns="0" rtlCol="0" anchor="ctr"/>
          <a:lstStyle/>
          <a:p>
            <a:pPr indent="0" marL="0">
              <a:buNone/>
            </a:pPr>
            <a:r>
              <a:rPr lang="en-US" sz="1080" b="1" dirty="0">
                <a:solidFill>
                  <a:srgbClr val="AD3B3B"/>
                </a:solidFill>
                <a:latin typeface="Calibri" pitchFamily="34" charset="0"/>
                <a:ea typeface="Calibri" pitchFamily="34" charset="-122"/>
                <a:cs typeface="Calibri" pitchFamily="34" charset="-120"/>
              </a:rPr>
              <a:t>The problem, as it stood for a long time:  </a:t>
            </a:r>
            <a:pPr indent="0" marL="0">
              <a:buNone/>
            </a:pPr>
            <a:r>
              <a:rPr lang="en-US" sz="1080" dirty="0">
                <a:solidFill>
                  <a:srgbClr val="1B2436"/>
                </a:solidFill>
                <a:latin typeface="Calibri" pitchFamily="34" charset="0"/>
                <a:ea typeface="Calibri" pitchFamily="34" charset="-122"/>
                <a:cs typeface="Calibri" pitchFamily="34" charset="-120"/>
              </a:rPr>
              <a:t>cross-source validation couldn't pass — each indicator's exported timestamps carried a different constant sub-bar offset. Documented as needing a dedicated timestamp-conversion stack; the #1 gating item before production.</a:t>
            </a:r>
            <a:endParaRPr lang="en-US" sz="1080" dirty="0"/>
          </a:p>
        </p:txBody>
      </p:sp>
      <p:sp>
        <p:nvSpPr>
          <p:cNvPr id="10" name="Text 8"/>
          <p:cNvSpPr txBox="1"/>
          <p:nvPr/>
        </p:nvSpPr>
        <p:spPr>
          <a:xfrm>
            <a:off x="502920" y="2084832"/>
            <a:ext cx="8229600" cy="274320"/>
          </a:xfrm>
          <a:prstGeom prst="rect">
            <a:avLst/>
          </a:prstGeom>
          <a:noFill/>
          <a:ln/>
        </p:spPr>
        <p:txBody>
          <a:bodyPr wrap="square" lIns="0" tIns="0" rIns="0" bIns="0" rtlCol="0" anchor="ctr"/>
          <a:lstStyle/>
          <a:p>
            <a:pPr indent="0" marL="0">
              <a:buNone/>
            </a:pPr>
            <a:r>
              <a:rPr lang="en-US" sz="1200" b="1" dirty="0">
                <a:solidFill>
                  <a:srgbClr val="12213E"/>
                </a:solidFill>
                <a:latin typeface="Calibri" pitchFamily="34" charset="0"/>
                <a:ea typeface="Calibri" pitchFamily="34" charset="-122"/>
                <a:cs typeface="Calibri" pitchFamily="34" charset="-120"/>
              </a:rPr>
              <a:t>It was never that. It was a one-line bug, identical in all 13 indicators:</a:t>
            </a:r>
            <a:endParaRPr lang="en-US" sz="1200" dirty="0"/>
          </a:p>
        </p:txBody>
      </p:sp>
      <p:sp>
        <p:nvSpPr>
          <p:cNvPr id="11" name="Shape 9"/>
          <p:cNvSpPr/>
          <p:nvPr/>
        </p:nvSpPr>
        <p:spPr>
          <a:xfrm>
            <a:off x="502920" y="2395728"/>
            <a:ext cx="5486400" cy="502920"/>
          </a:xfrm>
          <a:prstGeom prst="roundRect">
            <a:avLst>
              <a:gd name="adj" fmla="val 10909"/>
            </a:avLst>
          </a:prstGeom>
          <a:solidFill>
            <a:srgbClr val="12213E"/>
          </a:solidFill>
          <a:ln w="12700">
            <a:solidFill>
              <a:srgbClr val="DCE3EF"/>
            </a:solidFill>
            <a:prstDash val="solid"/>
          </a:ln>
        </p:spPr>
      </p:sp>
      <p:sp>
        <p:nvSpPr>
          <p:cNvPr id="12" name="Text 10"/>
          <p:cNvSpPr txBox="1"/>
          <p:nvPr/>
        </p:nvSpPr>
        <p:spPr>
          <a:xfrm>
            <a:off x="667512" y="2395728"/>
            <a:ext cx="5212080" cy="502920"/>
          </a:xfrm>
          <a:prstGeom prst="rect">
            <a:avLst/>
          </a:prstGeom>
          <a:noFill/>
          <a:ln/>
        </p:spPr>
        <p:txBody>
          <a:bodyPr wrap="square" lIns="0" tIns="0" rIns="0" bIns="0" rtlCol="0" anchor="ctr"/>
          <a:lstStyle/>
          <a:p>
            <a:pPr indent="0" marL="0">
              <a:buNone/>
            </a:pPr>
            <a:r>
              <a:rPr lang="en-US" sz="1000" dirty="0">
                <a:solidFill>
                  <a:srgbClr val="F0B0B0"/>
                </a:solidFill>
                <a:latin typeface="Courier New" pitchFamily="34" charset="0"/>
                <a:ea typeface="Courier New" pitchFamily="34" charset="-122"/>
                <a:cs typeface="Courier New" pitchFamily="34" charset="-120"/>
              </a:rPr>
              <a:t>datetime gmt_offset = TimeCurrent() - TimeGMT();   // WRONG</a:t>
            </a:r>
            <a:endParaRPr lang="en-US" sz="1000" dirty="0"/>
          </a:p>
        </p:txBody>
      </p:sp>
      <p:sp>
        <p:nvSpPr>
          <p:cNvPr id="13" name="Text 11"/>
          <p:cNvSpPr txBox="1"/>
          <p:nvPr/>
        </p:nvSpPr>
        <p:spPr>
          <a:xfrm>
            <a:off x="502920" y="2962656"/>
            <a:ext cx="5486400" cy="777240"/>
          </a:xfrm>
          <a:prstGeom prst="rect">
            <a:avLst/>
          </a:prstGeom>
          <a:noFill/>
          <a:ln/>
        </p:spPr>
        <p:txBody>
          <a:bodyPr wrap="square" lIns="0" tIns="0" rIns="0" bIns="0" rtlCol="0" anchor="ctr"/>
          <a:lstStyle/>
          <a:p>
            <a:pPr indent="0" marL="0">
              <a:buNone/>
            </a:pPr>
            <a:r>
              <a:rPr lang="en-US" sz="960" dirty="0">
                <a:solidFill>
                  <a:srgbClr val="63708C"/>
                </a:solidFill>
                <a:latin typeface="Calibri" pitchFamily="34" charset="0"/>
                <a:ea typeface="Calibri" pitchFamily="34" charset="-122"/>
                <a:cs typeface="Calibri" pitchFamily="34" charset="-120"/>
              </a:rPr>
              <a:t>TimeCurrent() returns the time of the last received tick, not the clock — the offset silently absorbed “seconds since the last tick,” stamped as a constant phase on every row.</a:t>
            </a:r>
            <a:endParaRPr lang="en-US" sz="960" dirty="0"/>
          </a:p>
        </p:txBody>
      </p:sp>
      <p:sp>
        <p:nvSpPr>
          <p:cNvPr id="14" name="Text 12"/>
          <p:cNvSpPr txBox="1"/>
          <p:nvPr/>
        </p:nvSpPr>
        <p:spPr>
          <a:xfrm>
            <a:off x="6309360" y="2395728"/>
            <a:ext cx="5376672" cy="256032"/>
          </a:xfrm>
          <a:prstGeom prst="rect">
            <a:avLst/>
          </a:prstGeom>
          <a:noFill/>
          <a:ln/>
        </p:spPr>
        <p:txBody>
          <a:bodyPr wrap="square" lIns="0" tIns="0" rIns="0" bIns="0" rtlCol="0" anchor="ctr"/>
          <a:lstStyle/>
          <a:p>
            <a:pPr indent="0" marL="0">
              <a:buNone/>
            </a:pPr>
            <a:r>
              <a:rPr lang="en-US" sz="1100" b="1" spc="150" kern="0" dirty="0">
                <a:solidFill>
                  <a:srgbClr val="44577E"/>
                </a:solidFill>
                <a:latin typeface="Calibri" pitchFamily="34" charset="0"/>
                <a:ea typeface="Calibri" pitchFamily="34" charset="-122"/>
                <a:cs typeface="Calibri" pitchFamily="34" charset="-120"/>
              </a:rPr>
              <a:t>EVIDENCE — TIMESTAMP % 300, BY EXPORT FILE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309360" y="2688336"/>
          <a:ext cx="5376672" cy="502920"/>
        </p:xfrm>
        <a:graphic>
          <a:graphicData uri="http://schemas.openxmlformats.org/drawingml/2006/table">
            <a:tbl>
              <a:tblPr/>
              <a:tblGrid>
                <a:gridCol w="672084"/>
                <a:gridCol w="672084"/>
                <a:gridCol w="672084"/>
                <a:gridCol w="672084"/>
                <a:gridCol w="672084"/>
                <a:gridCol w="672084"/>
                <a:gridCol w="672084"/>
                <a:gridCol w="672084"/>
              </a:tblGrid>
              <a:tr h="251460">
                <a:tc>
                  <a:txBody>
                    <a:bodyPr/>
                    <a:lstStyle/>
                    <a:p>
                      <a:pPr algn="ctr" indent="0" marL="0">
                        <a:buNone/>
                      </a:pPr>
                      <a:r>
                        <a:rPr lang="en-US" sz="830" b="1" dirty="0">
                          <a:solidFill>
                            <a:srgbClr val="FFFFFF"/>
                          </a:solidFill>
                          <a:latin typeface="Courier New" pitchFamily="34" charset="0"/>
                          <a:ea typeface="Courier New" pitchFamily="34" charset="-122"/>
                          <a:cs typeface="Courier New" pitchFamily="34" charset="-120"/>
                        </a:rPr>
                        <a:t>ohlcv</a:t>
                      </a:r>
                      <a:endParaRPr lang="en-US" sz="83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44577E"/>
                    </a:solidFill>
                  </a:tcPr>
                </a:tc>
                <a:tc>
                  <a:txBody>
                    <a:bodyPr/>
                    <a:lstStyle/>
                    <a:p>
                      <a:pPr algn="ctr" indent="0" marL="0">
                        <a:buNone/>
                      </a:pPr>
                      <a:r>
                        <a:rPr lang="en-US" sz="830" b="1" dirty="0">
                          <a:solidFill>
                            <a:srgbClr val="FFFFFF"/>
                          </a:solidFill>
                          <a:latin typeface="Courier New" pitchFamily="34" charset="0"/>
                          <a:ea typeface="Courier New" pitchFamily="34" charset="-122"/>
                          <a:cs typeface="Courier New" pitchFamily="34" charset="-120"/>
                        </a:rPr>
                        <a:t>cherry_a</a:t>
                      </a:r>
                      <a:endParaRPr lang="en-US" sz="83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44577E"/>
                    </a:solidFill>
                  </a:tcPr>
                </a:tc>
                <a:tc>
                  <a:txBody>
                    <a:bodyPr/>
                    <a:lstStyle/>
                    <a:p>
                      <a:pPr algn="ctr" indent="0" marL="0">
                        <a:buNone/>
                      </a:pPr>
                      <a:r>
                        <a:rPr lang="en-US" sz="830" b="1" dirty="0">
                          <a:solidFill>
                            <a:srgbClr val="FFFFFF"/>
                          </a:solidFill>
                          <a:latin typeface="Courier New" pitchFamily="34" charset="0"/>
                          <a:ea typeface="Courier New" pitchFamily="34" charset="-122"/>
                          <a:cs typeface="Courier New" pitchFamily="34" charset="-120"/>
                        </a:rPr>
                        <a:t>cherry_b</a:t>
                      </a:r>
                      <a:endParaRPr lang="en-US" sz="83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44577E"/>
                    </a:solidFill>
                  </a:tcPr>
                </a:tc>
                <a:tc>
                  <a:txBody>
                    <a:bodyPr/>
                    <a:lstStyle/>
                    <a:p>
                      <a:pPr algn="ctr" indent="0" marL="0">
                        <a:buNone/>
                      </a:pPr>
                      <a:r>
                        <a:rPr lang="en-US" sz="830" b="1" dirty="0">
                          <a:solidFill>
                            <a:srgbClr val="FFFFFF"/>
                          </a:solidFill>
                          <a:latin typeface="Courier New" pitchFamily="34" charset="0"/>
                          <a:ea typeface="Courier New" pitchFamily="34" charset="-122"/>
                          <a:cs typeface="Courier New" pitchFamily="34" charset="-120"/>
                        </a:rPr>
                        <a:t>fractal</a:t>
                      </a:r>
                      <a:endParaRPr lang="en-US" sz="83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44577E"/>
                    </a:solidFill>
                  </a:tcPr>
                </a:tc>
                <a:tc>
                  <a:txBody>
                    <a:bodyPr/>
                    <a:lstStyle/>
                    <a:p>
                      <a:pPr algn="ctr" indent="0" marL="0">
                        <a:buNone/>
                      </a:pPr>
                      <a:r>
                        <a:rPr lang="en-US" sz="830" b="1" dirty="0">
                          <a:solidFill>
                            <a:srgbClr val="FFFFFF"/>
                          </a:solidFill>
                          <a:latin typeface="Courier New" pitchFamily="34" charset="0"/>
                          <a:ea typeface="Courier New" pitchFamily="34" charset="-122"/>
                          <a:cs typeface="Courier New" pitchFamily="34" charset="-120"/>
                        </a:rPr>
                        <a:t>non_a</a:t>
                      </a:r>
                      <a:endParaRPr lang="en-US" sz="83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44577E"/>
                    </a:solidFill>
                  </a:tcPr>
                </a:tc>
                <a:tc>
                  <a:txBody>
                    <a:bodyPr/>
                    <a:lstStyle/>
                    <a:p>
                      <a:pPr algn="ctr" indent="0" marL="0">
                        <a:buNone/>
                      </a:pPr>
                      <a:r>
                        <a:rPr lang="en-US" sz="830" b="1" dirty="0">
                          <a:solidFill>
                            <a:srgbClr val="FFFFFF"/>
                          </a:solidFill>
                          <a:latin typeface="Courier New" pitchFamily="34" charset="0"/>
                          <a:ea typeface="Courier New" pitchFamily="34" charset="-122"/>
                          <a:cs typeface="Courier New" pitchFamily="34" charset="-120"/>
                        </a:rPr>
                        <a:t>non_b</a:t>
                      </a:r>
                      <a:endParaRPr lang="en-US" sz="83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44577E"/>
                    </a:solidFill>
                  </a:tcPr>
                </a:tc>
                <a:tc>
                  <a:txBody>
                    <a:bodyPr/>
                    <a:lstStyle/>
                    <a:p>
                      <a:pPr algn="ctr" indent="0" marL="0">
                        <a:buNone/>
                      </a:pPr>
                      <a:r>
                        <a:rPr lang="en-US" sz="830" b="1" dirty="0">
                          <a:solidFill>
                            <a:srgbClr val="FFFFFF"/>
                          </a:solidFill>
                          <a:latin typeface="Courier New" pitchFamily="34" charset="0"/>
                          <a:ea typeface="Courier New" pitchFamily="34" charset="-122"/>
                          <a:cs typeface="Courier New" pitchFamily="34" charset="-120"/>
                        </a:rPr>
                        <a:t>best_fit</a:t>
                      </a:r>
                      <a:endParaRPr lang="en-US" sz="83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44577E"/>
                    </a:solidFill>
                  </a:tcPr>
                </a:tc>
                <a:tc>
                  <a:txBody>
                    <a:bodyPr/>
                    <a:lstStyle/>
                    <a:p>
                      <a:pPr algn="ctr" indent="0" marL="0">
                        <a:buNone/>
                      </a:pPr>
                      <a:r>
                        <a:rPr lang="en-US" sz="830" b="1" dirty="0">
                          <a:solidFill>
                            <a:srgbClr val="FFFFFF"/>
                          </a:solidFill>
                          <a:latin typeface="Courier New" pitchFamily="34" charset="0"/>
                          <a:ea typeface="Courier New" pitchFamily="34" charset="-122"/>
                          <a:cs typeface="Courier New" pitchFamily="34" charset="-120"/>
                        </a:rPr>
                        <a:t>zigzag</a:t>
                      </a:r>
                      <a:endParaRPr lang="en-US" sz="83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44577E"/>
                    </a:solidFill>
                  </a:tcPr>
                </a:tc>
              </a:tr>
              <a:tr h="251460">
                <a:tc>
                  <a:txBody>
                    <a:bodyPr/>
                    <a:lstStyle/>
                    <a:p>
                      <a:pPr algn="ctr" indent="0" marL="0">
                        <a:buNone/>
                      </a:pPr>
                      <a:r>
                        <a:rPr lang="en-US" sz="950" b="1" dirty="0">
                          <a:solidFill>
                            <a:srgbClr val="1B2436"/>
                          </a:solidFill>
                          <a:latin typeface="Courier New" pitchFamily="34" charset="0"/>
                          <a:ea typeface="Courier New" pitchFamily="34" charset="-122"/>
                          <a:cs typeface="Courier New" pitchFamily="34" charset="-120"/>
                        </a:rPr>
                        <a:t>206</a:t>
                      </a:r>
                      <a:endParaRPr lang="en-US" sz="95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B2436"/>
                          </a:solidFill>
                          <a:latin typeface="Courier New" pitchFamily="34" charset="0"/>
                          <a:ea typeface="Courier New" pitchFamily="34" charset="-122"/>
                          <a:cs typeface="Courier New" pitchFamily="34" charset="-120"/>
                        </a:rPr>
                        <a:t>240</a:t>
                      </a:r>
                      <a:endParaRPr lang="en-US" sz="95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B2436"/>
                          </a:solidFill>
                          <a:latin typeface="Courier New" pitchFamily="34" charset="0"/>
                          <a:ea typeface="Courier New" pitchFamily="34" charset="-122"/>
                          <a:cs typeface="Courier New" pitchFamily="34" charset="-120"/>
                        </a:rPr>
                        <a:t>288</a:t>
                      </a:r>
                      <a:endParaRPr lang="en-US" sz="95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B2436"/>
                          </a:solidFill>
                          <a:latin typeface="Courier New" pitchFamily="34" charset="0"/>
                          <a:ea typeface="Courier New" pitchFamily="34" charset="-122"/>
                          <a:cs typeface="Courier New" pitchFamily="34" charset="-120"/>
                        </a:rPr>
                        <a:t>189</a:t>
                      </a:r>
                      <a:endParaRPr lang="en-US" sz="95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B2436"/>
                          </a:solidFill>
                          <a:latin typeface="Courier New" pitchFamily="34" charset="0"/>
                          <a:ea typeface="Courier New" pitchFamily="34" charset="-122"/>
                          <a:cs typeface="Courier New" pitchFamily="34" charset="-120"/>
                        </a:rPr>
                        <a:t>43</a:t>
                      </a:r>
                      <a:endParaRPr lang="en-US" sz="95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B2436"/>
                          </a:solidFill>
                          <a:latin typeface="Courier New" pitchFamily="34" charset="0"/>
                          <a:ea typeface="Courier New" pitchFamily="34" charset="-122"/>
                          <a:cs typeface="Courier New" pitchFamily="34" charset="-120"/>
                        </a:rPr>
                        <a:t>81</a:t>
                      </a:r>
                      <a:endParaRPr lang="en-US" sz="95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B2436"/>
                          </a:solidFill>
                          <a:latin typeface="Courier New" pitchFamily="34" charset="0"/>
                          <a:ea typeface="Courier New" pitchFamily="34" charset="-122"/>
                          <a:cs typeface="Courier New" pitchFamily="34" charset="-120"/>
                        </a:rPr>
                        <a:t>4</a:t>
                      </a:r>
                      <a:endParaRPr lang="en-US" sz="95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B2436"/>
                          </a:solidFill>
                          <a:latin typeface="Courier New" pitchFamily="34" charset="0"/>
                          <a:ea typeface="Courier New" pitchFamily="34" charset="-122"/>
                          <a:cs typeface="Courier New" pitchFamily="34" charset="-120"/>
                        </a:rPr>
                        <a:t>76</a:t>
                      </a:r>
                      <a:endParaRPr lang="en-US" sz="950" dirty="0">
                        <a:latin typeface="Courier New" charset="0"/>
                        <a:ea typeface="Courier New" charset="0"/>
                        <a:cs typeface="Courier New" charset="0"/>
                      </a:endParaRPr>
                    </a:p>
                  </a:txBody>
                  <a:tcPr marL="25400" marR="25400" marT="25400" marB="25400" anchor="ctr">
                    <a:lnL w="6350" cap="flat" cmpd="sng" algn="ctr">
                      <a:solidFill>
                        <a:srgbClr val="DCE3EF"/>
                      </a:solidFill>
                      <a:prstDash val="solid"/>
                      <a:round/>
                      <a:headEnd type="none" w="med" len="med"/>
                      <a:tailEnd type="none" w="med" len="med"/>
                    </a:lnL>
                    <a:lnR w="6350" cap="flat" cmpd="sng" algn="ctr">
                      <a:solidFill>
                        <a:srgbClr val="DCE3EF"/>
                      </a:solidFill>
                      <a:prstDash val="solid"/>
                      <a:round/>
                      <a:headEnd type="none" w="med" len="med"/>
                      <a:tailEnd type="none" w="med" len="med"/>
                    </a:lnR>
                    <a:lnT w="6350" cap="flat" cmpd="sng" algn="ctr">
                      <a:solidFill>
                        <a:srgbClr val="DCE3EF"/>
                      </a:solidFill>
                      <a:prstDash val="solid"/>
                      <a:round/>
                      <a:headEnd type="none" w="med" len="med"/>
                      <a:tailEnd type="none" w="med" len="med"/>
                    </a:lnT>
                    <a:lnB w="6350" cap="flat" cmpd="sng" algn="ctr">
                      <a:solidFill>
                        <a:srgbClr val="DCE3EF"/>
                      </a:solidFill>
                      <a:prstDash val="solid"/>
                      <a:round/>
                      <a:headEnd type="none" w="med" len="med"/>
                      <a:tailEnd type="none" w="med" len="med"/>
                    </a:lnB>
                    <a:solidFill>
                      <a:srgbClr val="FFFFFF"/>
                    </a:solidFill>
                  </a:tcPr>
                </a:tc>
              </a:tr>
            </a:tbl>
          </a:graphicData>
        </a:graphic>
      </p:graphicFrame>
      <p:sp>
        <p:nvSpPr>
          <p:cNvPr id="16" name="Text 13"/>
          <p:cNvSpPr txBox="1"/>
          <p:nvPr/>
        </p:nvSpPr>
        <p:spPr>
          <a:xfrm>
            <a:off x="6309360" y="3291840"/>
            <a:ext cx="5376672" cy="502920"/>
          </a:xfrm>
          <a:prstGeom prst="rect">
            <a:avLst/>
          </a:prstGeom>
          <a:noFill/>
          <a:ln/>
        </p:spPr>
        <p:txBody>
          <a:bodyPr wrap="square" lIns="0" tIns="0" rIns="0" bIns="0" rtlCol="0" anchor="ctr"/>
          <a:lstStyle/>
          <a:p>
            <a:pPr indent="0" marL="0">
              <a:buNone/>
            </a:pPr>
            <a:r>
              <a:rPr lang="en-US" sz="960" i="1" dirty="0">
                <a:solidFill>
                  <a:srgbClr val="63708C"/>
                </a:solidFill>
                <a:latin typeface="Calibri" pitchFamily="34" charset="0"/>
                <a:ea typeface="Calibri" pitchFamily="34" charset="-122"/>
                <a:cs typeface="Calibri" pitchFamily="34" charset="-120"/>
              </a:rPr>
              <a:t>One constant per file — differing exactly as “how quiet was the market when I clicked export” predicts. Every source's closes still matched OHLCV 100%.</a:t>
            </a:r>
            <a:endParaRPr lang="en-US" sz="960" dirty="0"/>
          </a:p>
        </p:txBody>
      </p:sp>
      <p:sp>
        <p:nvSpPr>
          <p:cNvPr id="17" name="Text 14"/>
          <p:cNvSpPr txBox="1"/>
          <p:nvPr/>
        </p:nvSpPr>
        <p:spPr>
          <a:xfrm>
            <a:off x="502920" y="3913632"/>
            <a:ext cx="8229600" cy="256032"/>
          </a:xfrm>
          <a:prstGeom prst="rect">
            <a:avLst/>
          </a:prstGeom>
          <a:noFill/>
          <a:ln/>
        </p:spPr>
        <p:txBody>
          <a:bodyPr wrap="square" lIns="0" tIns="0" rIns="0" bIns="0" rtlCol="0" anchor="ctr"/>
          <a:lstStyle/>
          <a:p>
            <a:pPr indent="0" marL="0">
              <a:buNone/>
            </a:pPr>
            <a:r>
              <a:rPr lang="en-US" sz="1200" b="1" dirty="0">
                <a:solidFill>
                  <a:srgbClr val="12213E"/>
                </a:solidFill>
                <a:latin typeface="Calibri" pitchFamily="34" charset="0"/>
                <a:ea typeface="Calibri" pitchFamily="34" charset="-122"/>
                <a:cs typeface="Calibri" pitchFamily="34" charset="-120"/>
              </a:rPr>
              <a:t>The fix — applied to all 16 sites across the 13 indicators:</a:t>
            </a:r>
            <a:endParaRPr lang="en-US" sz="1200" dirty="0"/>
          </a:p>
        </p:txBody>
      </p:sp>
      <p:sp>
        <p:nvSpPr>
          <p:cNvPr id="18" name="Shape 15"/>
          <p:cNvSpPr/>
          <p:nvPr/>
        </p:nvSpPr>
        <p:spPr>
          <a:xfrm>
            <a:off x="502920" y="4206240"/>
            <a:ext cx="11183112" cy="868680"/>
          </a:xfrm>
          <a:prstGeom prst="roundRect">
            <a:avLst>
              <a:gd name="adj" fmla="val 6316"/>
            </a:avLst>
          </a:prstGeom>
          <a:solidFill>
            <a:srgbClr val="12213E"/>
          </a:solidFill>
          <a:ln w="12700">
            <a:solidFill>
              <a:srgbClr val="DCE3EF"/>
            </a:solidFill>
            <a:prstDash val="solid"/>
          </a:ln>
        </p:spPr>
      </p:sp>
      <p:sp>
        <p:nvSpPr>
          <p:cNvPr id="19" name="Text 16"/>
          <p:cNvSpPr txBox="1"/>
          <p:nvPr/>
        </p:nvSpPr>
        <p:spPr>
          <a:xfrm>
            <a:off x="704088" y="4206240"/>
            <a:ext cx="10789920" cy="868680"/>
          </a:xfrm>
          <a:prstGeom prst="rect">
            <a:avLst/>
          </a:prstGeom>
          <a:noFill/>
          <a:ln/>
        </p:spPr>
        <p:txBody>
          <a:bodyPr wrap="square" lIns="0" tIns="0" rIns="0" bIns="0" rtlCol="0" anchor="ctr"/>
          <a:lstStyle/>
          <a:p>
            <a:pPr indent="0" marL="0">
              <a:lnSpc>
                <a:spcPct val="125000"/>
              </a:lnSpc>
              <a:buNone/>
            </a:pPr>
            <a:r>
              <a:rPr lang="en-US" sz="1050" dirty="0">
                <a:solidFill>
                  <a:srgbClr val="9FE6B8"/>
                </a:solidFill>
                <a:latin typeface="Courier New" pitchFamily="34" charset="0"/>
                <a:ea typeface="Courier New" pitchFamily="34" charset="-122"/>
                <a:cs typeface="Courier New" pitchFamily="34" charset="-120"/>
              </a:rPr>
              <a:t>long _srv_off = (long)TimeTradeServer() - (long)TimeGMT();</a:t>
            </a:r>
            <a:endParaRPr lang="en-US" sz="1050" dirty="0"/>
          </a:p>
          <a:p>
            <a:pPr indent="0" marL="0">
              <a:lnSpc>
                <a:spcPct val="125000"/>
              </a:lnSpc>
              <a:buNone/>
            </a:pPr>
            <a:r>
              <a:rPr lang="en-US" sz="1050" dirty="0">
                <a:solidFill>
                  <a:srgbClr val="9FE6B8"/>
                </a:solidFill>
                <a:latin typeface="Courier New" pitchFamily="34" charset="0"/>
                <a:ea typeface="Courier New" pitchFamily="34" charset="-122"/>
                <a:cs typeface="Courier New" pitchFamily="34" charset="-120"/>
              </a:rPr>
              <a:t>datetime gmt_offset = (datetime)((long)MathRound(_srv_off / 3600.0) * 3600);</a:t>
            </a:r>
            <a:endParaRPr lang="en-US" sz="1050" dirty="0"/>
          </a:p>
        </p:txBody>
      </p:sp>
      <p:sp>
        <p:nvSpPr>
          <p:cNvPr id="20" name="Shape 17"/>
          <p:cNvSpPr/>
          <p:nvPr/>
        </p:nvSpPr>
        <p:spPr>
          <a:xfrm>
            <a:off x="502920" y="5230368"/>
            <a:ext cx="11183112" cy="566928"/>
          </a:xfrm>
          <a:prstGeom prst="roundRect">
            <a:avLst>
              <a:gd name="adj" fmla="val 9677"/>
            </a:avLst>
          </a:prstGeom>
          <a:solidFill>
            <a:srgbClr val="EEF1F7"/>
          </a:solidFill>
          <a:ln w="12700">
            <a:solidFill>
              <a:srgbClr val="DCE3EF"/>
            </a:solidFill>
            <a:prstDash val="solid"/>
          </a:ln>
        </p:spPr>
      </p:sp>
      <p:sp>
        <p:nvSpPr>
          <p:cNvPr id="21" name="Text 18"/>
          <p:cNvSpPr txBox="1"/>
          <p:nvPr/>
        </p:nvSpPr>
        <p:spPr>
          <a:xfrm>
            <a:off x="685800" y="5230368"/>
            <a:ext cx="10789920" cy="566928"/>
          </a:xfrm>
          <a:prstGeom prst="rect">
            <a:avLst/>
          </a:prstGeom>
          <a:noFill/>
          <a:ln/>
        </p:spPr>
        <p:txBody>
          <a:bodyPr wrap="square" lIns="0" tIns="0" rIns="0" bIns="0" rtlCol="0" anchor="ctr"/>
          <a:lstStyle/>
          <a:p>
            <a:pPr indent="0" marL="0">
              <a:buNone/>
            </a:pPr>
            <a:r>
              <a:rPr lang="en-US" sz="1080" b="1" dirty="0">
                <a:solidFill>
                  <a:srgbClr val="44577E"/>
                </a:solidFill>
                <a:latin typeface="Calibri" pitchFamily="34" charset="0"/>
                <a:ea typeface="Calibri" pitchFamily="34" charset="-122"/>
                <a:cs typeface="Calibri" pitchFamily="34" charset="-120"/>
              </a:rPr>
              <a:t>A second bug, fixed alongside it:  </a:t>
            </a:r>
            <a:pPr indent="0" marL="0">
              <a:buNone/>
            </a:pPr>
            <a:r>
              <a:rPr lang="en-US" sz="1080" dirty="0">
                <a:solidFill>
                  <a:srgbClr val="1B2436"/>
                </a:solidFill>
                <a:latin typeface="Calibri" pitchFamily="34" charset="0"/>
                <a:ea typeface="Calibri" pitchFamily="34" charset="-122"/>
                <a:cs typeface="Calibri" pitchFamily="34" charset="-120"/>
              </a:rPr>
              <a:t>ZigZag wrote its “unconfirmed live pivot” row using the export wall clock as the timestamp. It now uses the current bar's open time.</a:t>
            </a:r>
            <a:endParaRPr lang="en-US" sz="1080" dirty="0"/>
          </a:p>
        </p:txBody>
      </p:sp>
      <p:sp>
        <p:nvSpPr>
          <p:cNvPr id="22" name="Shape 19"/>
          <p:cNvSpPr/>
          <p:nvPr/>
        </p:nvSpPr>
        <p:spPr>
          <a:xfrm>
            <a:off x="502920" y="5943600"/>
            <a:ext cx="11183112" cy="384048"/>
          </a:xfrm>
          <a:prstGeom prst="roundRect">
            <a:avLst>
              <a:gd name="adj" fmla="val 50000"/>
            </a:avLst>
          </a:prstGeom>
          <a:solidFill>
            <a:srgbClr val="AD3B3B"/>
          </a:solidFill>
          <a:ln/>
        </p:spPr>
      </p:sp>
      <p:sp>
        <p:nvSpPr>
          <p:cNvPr id="23" name="Text 20"/>
          <p:cNvSpPr txBox="1"/>
          <p:nvPr/>
        </p:nvSpPr>
        <p:spPr>
          <a:xfrm>
            <a:off x="502920" y="5943600"/>
            <a:ext cx="11183112"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INERT UNTIL ALL 13 INDICATORS ARE RECOMPILED IN METAEDITOR AND THE .ex5 REDEPLOYED TO THE VPS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12213E"/>
          </a:solidFill>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2000" b="1" dirty="0">
                <a:solidFill>
                  <a:srgbClr val="E7CE96"/>
                </a:solidFill>
                <a:latin typeface="Cambria" pitchFamily="34" charset="0"/>
                <a:ea typeface="Cambria" pitchFamily="34" charset="-122"/>
                <a:cs typeface="Cambria" pitchFamily="34" charset="-120"/>
              </a:rPr>
              <a:t>09</a:t>
            </a:r>
            <a:endParaRPr lang="en-US" sz="2000" dirty="0"/>
          </a:p>
        </p:txBody>
      </p:sp>
      <p:sp>
        <p:nvSpPr>
          <p:cNvPr id="4" name="Text 2"/>
          <p:cNvSpPr txBox="1"/>
          <p:nvPr/>
        </p:nvSpPr>
        <p:spPr>
          <a:xfrm>
            <a:off x="1216152" y="420624"/>
            <a:ext cx="8686800" cy="256032"/>
          </a:xfrm>
          <a:prstGeom prst="rect">
            <a:avLst/>
          </a:prstGeom>
          <a:noFill/>
          <a:ln/>
        </p:spPr>
        <p:txBody>
          <a:bodyPr wrap="square" lIns="0" tIns="0" rIns="0" bIns="0" rtlCol="0" anchor="ctr"/>
          <a:lstStyle/>
          <a:p>
            <a:pPr indent="0" marL="0">
              <a:buNone/>
            </a:pPr>
            <a:r>
              <a:rPr lang="en-US" sz="1100" b="1" spc="200" kern="0" dirty="0">
                <a:solidFill>
                  <a:srgbClr val="C1922C"/>
                </a:solidFill>
                <a:latin typeface="Calibri" pitchFamily="34" charset="0"/>
                <a:ea typeface="Calibri" pitchFamily="34" charset="-122"/>
                <a:cs typeface="Calibri" pitchFamily="34" charset="-120"/>
              </a:rPr>
              <a:t>IMPACT</a:t>
            </a:r>
            <a:endParaRPr lang="en-US" sz="1100" dirty="0"/>
          </a:p>
        </p:txBody>
      </p:sp>
      <p:sp>
        <p:nvSpPr>
          <p:cNvPr id="5" name="Text 3"/>
          <p:cNvSpPr txBox="1"/>
          <p:nvPr/>
        </p:nvSpPr>
        <p:spPr>
          <a:xfrm>
            <a:off x="1216152" y="658368"/>
            <a:ext cx="9601200" cy="502920"/>
          </a:xfrm>
          <a:prstGeom prst="rect">
            <a:avLst/>
          </a:prstGeom>
          <a:noFill/>
          <a:ln/>
        </p:spPr>
        <p:txBody>
          <a:bodyPr wrap="square" lIns="0" tIns="0" rIns="0" bIns="0" rtlCol="0" anchor="ctr"/>
          <a:lstStyle/>
          <a:p>
            <a:pPr indent="0" marL="0">
              <a:buNone/>
            </a:pPr>
            <a:r>
              <a:rPr lang="en-US" sz="2700" b="1" dirty="0">
                <a:solidFill>
                  <a:srgbClr val="12213E"/>
                </a:solidFill>
                <a:latin typeface="Cambria" pitchFamily="34" charset="0"/>
                <a:ea typeface="Cambria" pitchFamily="34" charset="-122"/>
                <a:cs typeface="Cambria" pitchFamily="34" charset="-120"/>
              </a:rPr>
              <a:t>Downstream — Stack D / E</a:t>
            </a:r>
            <a:endParaRPr lang="en-US" sz="2700" dirty="0"/>
          </a:p>
        </p:txBody>
      </p:sp>
      <p:sp>
        <p:nvSpPr>
          <p:cNvPr id="6" name="Text 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3708C"/>
                </a:solidFill>
                <a:latin typeface="Calibri" pitchFamily="34" charset="0"/>
                <a:ea typeface="Calibri" pitchFamily="34" charset="-122"/>
                <a:cs typeface="Calibri" pitchFamily="34" charset="-120"/>
              </a:rPr>
              <a:t>V2.29 Data Pipeline  ·  XAUUSD  M5 / M15</a:t>
            </a:r>
            <a:endParaRPr lang="en-US" sz="900" dirty="0"/>
          </a:p>
        </p:txBody>
      </p:sp>
      <p:sp>
        <p:nvSpPr>
          <p:cNvPr id="7" name="Text 5"/>
          <p:cNvSpPr txBox="1"/>
          <p:nvPr/>
        </p:nvSpPr>
        <p:spPr>
          <a:xfrm>
            <a:off x="10588752" y="6473952"/>
            <a:ext cx="1097280" cy="274320"/>
          </a:xfrm>
          <a:prstGeom prst="rect">
            <a:avLst/>
          </a:prstGeom>
          <a:noFill/>
          <a:ln/>
        </p:spPr>
        <p:txBody>
          <a:bodyPr wrap="square" lIns="0" tIns="0" rIns="0" bIns="0" rtlCol="0" anchor="ctr"/>
          <a:lstStyle/>
          <a:p>
            <a:pPr algn="r" indent="0" marL="0">
              <a:buNone/>
            </a:pPr>
            <a:r>
              <a:rPr lang="en-US" sz="900" dirty="0">
                <a:solidFill>
                  <a:srgbClr val="63708C"/>
                </a:solidFill>
                <a:latin typeface="Calibri" pitchFamily="34" charset="0"/>
                <a:ea typeface="Calibri" pitchFamily="34" charset="-122"/>
                <a:cs typeface="Calibri" pitchFamily="34" charset="-120"/>
              </a:rPr>
              <a:t>09</a:t>
            </a:r>
            <a:endParaRPr lang="en-US" sz="900" dirty="0"/>
          </a:p>
        </p:txBody>
      </p:sp>
      <p:sp>
        <p:nvSpPr>
          <p:cNvPr id="8" name="Shape 6"/>
          <p:cNvSpPr/>
          <p:nvPr/>
        </p:nvSpPr>
        <p:spPr>
          <a:xfrm>
            <a:off x="502920" y="1280160"/>
            <a:ext cx="11183112" cy="566928"/>
          </a:xfrm>
          <a:prstGeom prst="roundRect">
            <a:avLst>
              <a:gd name="adj" fmla="val 9677"/>
            </a:avLst>
          </a:prstGeom>
          <a:solidFill>
            <a:srgbClr val="DCEBE1"/>
          </a:solidFill>
          <a:ln w="12700">
            <a:solidFill>
              <a:srgbClr val="DCE3EF"/>
            </a:solidFill>
            <a:prstDash val="solid"/>
          </a:ln>
        </p:spPr>
      </p:sp>
      <p:sp>
        <p:nvSpPr>
          <p:cNvPr id="9" name="Text 7"/>
          <p:cNvSpPr txBox="1"/>
          <p:nvPr/>
        </p:nvSpPr>
        <p:spPr>
          <a:xfrm>
            <a:off x="685800" y="1280160"/>
            <a:ext cx="10789920" cy="566928"/>
          </a:xfrm>
          <a:prstGeom prst="rect">
            <a:avLst/>
          </a:prstGeom>
          <a:noFill/>
          <a:ln/>
        </p:spPr>
        <p:txBody>
          <a:bodyPr wrap="square" lIns="0" tIns="0" rIns="0" bIns="0" rtlCol="0" anchor="ctr"/>
          <a:lstStyle/>
          <a:p>
            <a:pPr indent="0" marL="0">
              <a:buNone/>
            </a:pPr>
            <a:r>
              <a:rPr lang="en-US" sz="1100" b="1" dirty="0">
                <a:solidFill>
                  <a:srgbClr val="3E7C59"/>
                </a:solidFill>
                <a:latin typeface="Calibri" pitchFamily="34" charset="0"/>
                <a:ea typeface="Calibri" pitchFamily="34" charset="-122"/>
                <a:cs typeface="Calibri" pitchFamily="34" charset="-120"/>
              </a:rPr>
              <a:t>Good news:  </a:t>
            </a:r>
            <a:pPr indent="0" marL="0">
              <a:buNone/>
            </a:pPr>
            <a:r>
              <a:rPr lang="en-US" sz="960" dirty="0">
                <a:solidFill>
                  <a:srgbClr val="1B2436"/>
                </a:solidFill>
                <a:latin typeface="Calibri" pitchFamily="34" charset="0"/>
                <a:ea typeface="Calibri" pitchFamily="34" charset="-122"/>
                <a:cs typeface="Calibri" pitchFamily="34" charset="-120"/>
              </a:rPr>
              <a:t>the existing downstream contract is unchanged. market_data is still 87 columns with identical names/types, so the gateway JSON contract, both Prisma schemas' MarketDataV6 model, the generated DTO and operation-service were untouched by the calculation-split removal. Only the source of the values changed.</a:t>
            </a:r>
            <a:endParaRPr lang="en-US" sz="1100" dirty="0"/>
          </a:p>
        </p:txBody>
      </p:sp>
      <p:sp>
        <p:nvSpPr>
          <p:cNvPr id="10" name="Shape 8"/>
          <p:cNvSpPr/>
          <p:nvPr/>
        </p:nvSpPr>
        <p:spPr>
          <a:xfrm>
            <a:off x="502920" y="1901952"/>
            <a:ext cx="11183112" cy="713232"/>
          </a:xfrm>
          <a:prstGeom prst="roundRect">
            <a:avLst>
              <a:gd name="adj" fmla="val 7692"/>
            </a:avLst>
          </a:prstGeom>
          <a:solidFill>
            <a:srgbClr val="223A66"/>
          </a:solidFill>
          <a:ln w="12700">
            <a:solidFill>
              <a:srgbClr val="DCE3EF"/>
            </a:solidFill>
            <a:prstDash val="solid"/>
          </a:ln>
        </p:spPr>
      </p:sp>
      <p:sp>
        <p:nvSpPr>
          <p:cNvPr id="11" name="Text 9"/>
          <p:cNvSpPr txBox="1"/>
          <p:nvPr/>
        </p:nvSpPr>
        <p:spPr>
          <a:xfrm>
            <a:off x="685800" y="1901952"/>
            <a:ext cx="10789920" cy="713232"/>
          </a:xfrm>
          <a:prstGeom prst="rect">
            <a:avLst/>
          </a:prstGeom>
          <a:noFill/>
          <a:ln/>
        </p:spPr>
        <p:txBody>
          <a:bodyPr wrap="square" lIns="0" tIns="0" rIns="0" bIns="0" rtlCol="0" anchor="ctr"/>
          <a:lstStyle/>
          <a:p>
            <a:pPr indent="0" marL="0">
              <a:buNone/>
            </a:pPr>
            <a:r>
              <a:rPr lang="en-US" sz="1100" b="1" dirty="0">
                <a:solidFill>
                  <a:srgbClr val="E7CE96"/>
                </a:solidFill>
                <a:latin typeface="Calibri" pitchFamily="34" charset="0"/>
                <a:ea typeface="Calibri" pitchFamily="34" charset="-122"/>
                <a:cs typeface="Calibri" pitchFamily="34" charset="-120"/>
              </a:rPr>
              <a:t>What's new is additive, alongside it — nothing altered:  </a:t>
            </a:r>
            <a:pPr indent="0" marL="0">
              <a:buNone/>
            </a:pPr>
            <a:r>
              <a:rPr lang="en-US" sz="960" dirty="0">
                <a:solidFill>
                  <a:srgbClr val="FFFFFF"/>
                </a:solidFill>
                <a:latin typeface="Calibri" pitchFamily="34" charset="0"/>
                <a:ea typeface="Calibri" pitchFamily="34" charset="-122"/>
                <a:cs typeface="Calibri" pitchFamily="34" charset="-120"/>
              </a:rPr>
              <a:t>the statistics path adds its own JSON contract, its own DTO, two new Prisma models and two new tables (indicator_statistics, indicator_configs). Its migration is purely additive — it does not touch market_data_v6. Not yet in production (see action items). operation-service isn't involved: nothing reads the new tables yet, by design.</a:t>
            </a:r>
            <a:endParaRPr lang="en-US" sz="1100" dirty="0"/>
          </a:p>
        </p:txBody>
      </p:sp>
      <p:sp>
        <p:nvSpPr>
          <p:cNvPr id="12" name="Text 10"/>
          <p:cNvSpPr txBox="1"/>
          <p:nvPr/>
        </p:nvSpPr>
        <p:spPr>
          <a:xfrm>
            <a:off x="502920" y="2761488"/>
            <a:ext cx="10789920" cy="274320"/>
          </a:xfrm>
          <a:prstGeom prst="rect">
            <a:avLst/>
          </a:prstGeom>
          <a:noFill/>
          <a:ln/>
        </p:spPr>
        <p:txBody>
          <a:bodyPr wrap="square" lIns="0" tIns="0" rIns="0" bIns="0" rtlCol="0" anchor="ctr"/>
          <a:lstStyle/>
          <a:p>
            <a:pPr indent="0" marL="0">
              <a:buNone/>
            </a:pPr>
            <a:r>
              <a:rPr lang="en-US" sz="1200" b="1" dirty="0">
                <a:solidFill>
                  <a:srgbClr val="12213E"/>
                </a:solidFill>
                <a:latin typeface="Calibri" pitchFamily="34" charset="0"/>
                <a:ea typeface="Calibri" pitchFamily="34" charset="-122"/>
                <a:cs typeface="Calibri" pitchFamily="34" charset="-120"/>
              </a:rPr>
              <a:t>But the column </a:t>
            </a:r>
            <a:pPr indent="0" marL="0">
              <a:buNone/>
            </a:pPr>
            <a:r>
              <a:rPr lang="en-US" sz="1200" b="1" i="1" dirty="0">
                <a:solidFill>
                  <a:srgbClr val="12213E"/>
                </a:solidFill>
                <a:latin typeface="Calibri" pitchFamily="34" charset="0"/>
                <a:ea typeface="Calibri" pitchFamily="34" charset="-122"/>
                <a:cs typeface="Calibri" pitchFamily="34" charset="-120"/>
              </a:rPr>
              <a:t>positions</a:t>
            </a:r>
            <a:pPr indent="0" marL="0">
              <a:buNone/>
            </a:pPr>
            <a:r>
              <a:rPr lang="en-US" sz="1200" b="1" dirty="0">
                <a:solidFill>
                  <a:srgbClr val="12213E"/>
                </a:solidFill>
                <a:latin typeface="Calibri" pitchFamily="34" charset="0"/>
                <a:ea typeface="Calibri" pitchFamily="34" charset="-122"/>
                <a:cs typeface="Calibri" pitchFamily="34" charset="-120"/>
              </a:rPr>
              <a:t> shift — if the Engine 1.5A/B/C design refers to columns by position:</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3072384"/>
          <a:ext cx="11183112" cy="2606040"/>
        </p:xfrm>
        <a:graphic>
          <a:graphicData uri="http://schemas.openxmlformats.org/drawingml/2006/table">
            <a:tbl>
              <a:tblPr/>
              <a:tblGrid>
                <a:gridCol w="3867912"/>
                <a:gridCol w="3657600"/>
                <a:gridCol w="3657600"/>
              </a:tblGrid>
              <a:tr h="325755">
                <a:tc>
                  <a:txBody>
                    <a:bodyPr/>
                    <a:lstStyle/>
                    <a:p>
                      <a:pPr algn="l" indent="0" marL="0">
                        <a:buNone/>
                      </a:pPr>
                      <a:endParaRPr lang="en-US" sz="1000" dirty="0"/>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12213E"/>
                    </a:solidFill>
                  </a:tcPr>
                </a:tc>
                <a:tc>
                  <a:txBody>
                    <a:bodyPr/>
                    <a:lstStyle/>
                    <a:p>
                      <a:pPr algn="ctr" indent="0" marL="0">
                        <a:buNone/>
                      </a:pPr>
                      <a:r>
                        <a:rPr lang="en-US" sz="1000" b="1" dirty="0">
                          <a:solidFill>
                            <a:srgbClr val="FFFFFF"/>
                          </a:solidFill>
                        </a:rPr>
                        <a:t>Previous deck</a:t>
                      </a:r>
                      <a:endParaRPr lang="en-US" sz="1000" dirty="0"/>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12213E"/>
                    </a:solidFill>
                  </a:tcPr>
                </a:tc>
                <a:tc>
                  <a:txBody>
                    <a:bodyPr/>
                    <a:lstStyle/>
                    <a:p>
                      <a:pPr algn="ctr" indent="0" marL="0">
                        <a:buNone/>
                      </a:pPr>
                      <a:r>
                        <a:rPr lang="en-US" sz="1000" b="1" dirty="0">
                          <a:solidFill>
                            <a:srgbClr val="FFFFFF"/>
                          </a:solidFill>
                        </a:rPr>
                        <a:t>Current</a:t>
                      </a:r>
                      <a:endParaRPr lang="en-US" sz="1000" dirty="0"/>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12213E"/>
                    </a:solidFill>
                  </a:tcPr>
                </a:tc>
              </a:tr>
              <a:tr h="325755">
                <a:tc>
                  <a:txBody>
                    <a:bodyPr/>
                    <a:lstStyle/>
                    <a:p>
                      <a:pPr algn="l" indent="0" marL="0">
                        <a:buNone/>
                      </a:pPr>
                      <a:r>
                        <a:rPr lang="en-US" sz="970" b="1" dirty="0">
                          <a:solidFill>
                            <a:srgbClr val="1B2436"/>
                          </a:solidFill>
                          <a:latin typeface="Calibri" pitchFamily="34" charset="0"/>
                          <a:ea typeface="Calibri" pitchFamily="34" charset="-122"/>
                          <a:cs typeface="Calibri" pitchFamily="34" charset="-120"/>
                        </a:rPr>
                        <a:t>Base columns</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70" dirty="0">
                          <a:solidFill>
                            <a:srgbClr val="1B2436"/>
                          </a:solidFill>
                          <a:latin typeface="Courier New" pitchFamily="34" charset="0"/>
                          <a:ea typeface="Courier New" pitchFamily="34" charset="-122"/>
                          <a:cs typeface="Courier New" pitchFamily="34" charset="-120"/>
                        </a:rPr>
                        <a:t>79</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70" dirty="0">
                          <a:solidFill>
                            <a:srgbClr val="1B2436"/>
                          </a:solidFill>
                          <a:latin typeface="Courier New" pitchFamily="34" charset="0"/>
                          <a:ea typeface="Courier New" pitchFamily="34" charset="-122"/>
                          <a:cs typeface="Courier New" pitchFamily="34" charset="-120"/>
                        </a:rPr>
                        <a:t>87</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325755">
                <a:tc>
                  <a:txBody>
                    <a:bodyPr/>
                    <a:lstStyle/>
                    <a:p>
                      <a:pPr algn="l" indent="0" marL="0">
                        <a:buNone/>
                      </a:pPr>
                      <a:r>
                        <a:rPr lang="en-US" sz="970" b="1" dirty="0">
                          <a:solidFill>
                            <a:srgbClr val="1B2436"/>
                          </a:solidFill>
                          <a:latin typeface="Calibri" pitchFamily="34" charset="0"/>
                          <a:ea typeface="Calibri" pitchFamily="34" charset="-122"/>
                          <a:cs typeface="Calibri" pitchFamily="34" charset="-120"/>
                        </a:rPr>
                        <a:t>MCD01–10</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70" dirty="0">
                          <a:solidFill>
                            <a:srgbClr val="1B2436"/>
                          </a:solidFill>
                          <a:latin typeface="Courier New" pitchFamily="34" charset="0"/>
                          <a:ea typeface="Courier New" pitchFamily="34" charset="-122"/>
                          <a:cs typeface="Courier New" pitchFamily="34" charset="-120"/>
                        </a:rPr>
                        <a:t>Cols 80–89</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70" dirty="0">
                          <a:solidFill>
                            <a:srgbClr val="1B2436"/>
                          </a:solidFill>
                          <a:latin typeface="Courier New" pitchFamily="34" charset="0"/>
                          <a:ea typeface="Courier New" pitchFamily="34" charset="-122"/>
                          <a:cs typeface="Courier New" pitchFamily="34" charset="-120"/>
                        </a:rPr>
                        <a:t>Cols 88–97</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325755">
                <a:tc>
                  <a:txBody>
                    <a:bodyPr/>
                    <a:lstStyle/>
                    <a:p>
                      <a:pPr algn="l" indent="0" marL="0">
                        <a:buNone/>
                      </a:pPr>
                      <a:r>
                        <a:rPr lang="en-US" sz="970" b="1" dirty="0">
                          <a:solidFill>
                            <a:srgbClr val="1B2436"/>
                          </a:solidFill>
                          <a:latin typeface="Calibri" pitchFamily="34" charset="0"/>
                          <a:ea typeface="Calibri" pitchFamily="34" charset="-122"/>
                          <a:cs typeface="Calibri" pitchFamily="34" charset="-120"/>
                        </a:rPr>
                        <a:t>FREQ54</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70" dirty="0">
                          <a:solidFill>
                            <a:srgbClr val="1B2436"/>
                          </a:solidFill>
                          <a:latin typeface="Courier New" pitchFamily="34" charset="0"/>
                          <a:ea typeface="Courier New" pitchFamily="34" charset="-122"/>
                          <a:cs typeface="Courier New" pitchFamily="34" charset="-120"/>
                        </a:rPr>
                        <a:t>Cols 90–99</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70" dirty="0">
                          <a:solidFill>
                            <a:srgbClr val="1B2436"/>
                          </a:solidFill>
                          <a:latin typeface="Courier New" pitchFamily="34" charset="0"/>
                          <a:ea typeface="Courier New" pitchFamily="34" charset="-122"/>
                          <a:cs typeface="Courier New" pitchFamily="34" charset="-120"/>
                        </a:rPr>
                        <a:t>Cols 98–107</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325755">
                <a:tc>
                  <a:txBody>
                    <a:bodyPr/>
                    <a:lstStyle/>
                    <a:p>
                      <a:pPr algn="l" indent="0" marL="0">
                        <a:buNone/>
                      </a:pPr>
                      <a:r>
                        <a:rPr lang="en-US" sz="970" b="1" dirty="0">
                          <a:solidFill>
                            <a:srgbClr val="1B2436"/>
                          </a:solidFill>
                          <a:latin typeface="Calibri" pitchFamily="34" charset="0"/>
                          <a:ea typeface="Calibri" pitchFamily="34" charset="-122"/>
                          <a:cs typeface="Calibri" pitchFamily="34" charset="-120"/>
                        </a:rPr>
                        <a:t>JSONB54 Narrative</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70" dirty="0">
                          <a:solidFill>
                            <a:srgbClr val="1B2436"/>
                          </a:solidFill>
                          <a:latin typeface="Courier New" pitchFamily="34" charset="0"/>
                          <a:ea typeface="Courier New" pitchFamily="34" charset="-122"/>
                          <a:cs typeface="Courier New" pitchFamily="34" charset="-120"/>
                        </a:rPr>
                        <a:t>Col 100</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70" dirty="0">
                          <a:solidFill>
                            <a:srgbClr val="1B2436"/>
                          </a:solidFill>
                          <a:latin typeface="Courier New" pitchFamily="34" charset="0"/>
                          <a:ea typeface="Courier New" pitchFamily="34" charset="-122"/>
                          <a:cs typeface="Courier New" pitchFamily="34" charset="-120"/>
                        </a:rPr>
                        <a:t>Col 108</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325755">
                <a:tc>
                  <a:txBody>
                    <a:bodyPr/>
                    <a:lstStyle/>
                    <a:p>
                      <a:pPr algn="l" indent="0" marL="0">
                        <a:buNone/>
                      </a:pPr>
                      <a:r>
                        <a:rPr lang="en-US" sz="970" b="1" dirty="0">
                          <a:solidFill>
                            <a:srgbClr val="1B2436"/>
                          </a:solidFill>
                          <a:latin typeface="Calibri" pitchFamily="34" charset="0"/>
                          <a:ea typeface="Calibri" pitchFamily="34" charset="-122"/>
                          <a:cs typeface="Calibri" pitchFamily="34" charset="-120"/>
                        </a:rPr>
                        <a:t>Conf_Score</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70" dirty="0">
                          <a:solidFill>
                            <a:srgbClr val="1B2436"/>
                          </a:solidFill>
                          <a:latin typeface="Courier New" pitchFamily="34" charset="0"/>
                          <a:ea typeface="Courier New" pitchFamily="34" charset="-122"/>
                          <a:cs typeface="Courier New" pitchFamily="34" charset="-120"/>
                        </a:rPr>
                        <a:t>Col 101</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70" dirty="0">
                          <a:solidFill>
                            <a:srgbClr val="1B2436"/>
                          </a:solidFill>
                          <a:latin typeface="Courier New" pitchFamily="34" charset="0"/>
                          <a:ea typeface="Courier New" pitchFamily="34" charset="-122"/>
                          <a:cs typeface="Courier New" pitchFamily="34" charset="-120"/>
                        </a:rPr>
                        <a:t>Col 109</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325755">
                <a:tc>
                  <a:txBody>
                    <a:bodyPr/>
                    <a:lstStyle/>
                    <a:p>
                      <a:pPr algn="l" indent="0" marL="0">
                        <a:buNone/>
                      </a:pPr>
                      <a:r>
                        <a:rPr lang="en-US" sz="970" b="1" dirty="0">
                          <a:solidFill>
                            <a:srgbClr val="1B2436"/>
                          </a:solidFill>
                          <a:latin typeface="Calibri" pitchFamily="34" charset="0"/>
                          <a:ea typeface="Calibri" pitchFamily="34" charset="-122"/>
                          <a:cs typeface="Calibri" pitchFamily="34" charset="-120"/>
                        </a:rPr>
                        <a:t>WACS54</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70" dirty="0">
                          <a:solidFill>
                            <a:srgbClr val="1B2436"/>
                          </a:solidFill>
                          <a:latin typeface="Courier New" pitchFamily="34" charset="0"/>
                          <a:ea typeface="Courier New" pitchFamily="34" charset="-122"/>
                          <a:cs typeface="Courier New" pitchFamily="34" charset="-120"/>
                        </a:rPr>
                        <a:t>Col 102</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c>
                  <a:txBody>
                    <a:bodyPr/>
                    <a:lstStyle/>
                    <a:p>
                      <a:pPr algn="ctr" indent="0" marL="0">
                        <a:buNone/>
                      </a:pPr>
                      <a:r>
                        <a:rPr lang="en-US" sz="970" dirty="0">
                          <a:solidFill>
                            <a:srgbClr val="1B2436"/>
                          </a:solidFill>
                          <a:latin typeface="Courier New" pitchFamily="34" charset="0"/>
                          <a:ea typeface="Courier New" pitchFamily="34" charset="-122"/>
                          <a:cs typeface="Courier New" pitchFamily="34" charset="-120"/>
                        </a:rPr>
                        <a:t>Col 110</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FFF"/>
                    </a:solidFill>
                  </a:tcPr>
                </a:tc>
              </a:tr>
              <a:tr h="325755">
                <a:tc>
                  <a:txBody>
                    <a:bodyPr/>
                    <a:lstStyle/>
                    <a:p>
                      <a:pPr algn="l" indent="0" marL="0">
                        <a:buNone/>
                      </a:pPr>
                      <a:r>
                        <a:rPr lang="en-US" sz="970" b="1" dirty="0">
                          <a:solidFill>
                            <a:srgbClr val="12213E"/>
                          </a:solidFill>
                          <a:latin typeface="Calibri" pitchFamily="34" charset="0"/>
                          <a:ea typeface="Calibri" pitchFamily="34" charset="-122"/>
                          <a:cs typeface="Calibri" pitchFamily="34" charset="-120"/>
                        </a:rPr>
                        <a:t>Prisma total</a:t>
                      </a:r>
                      <a:endParaRPr lang="en-US" sz="970" dirty="0">
                        <a:latin typeface="Calibri" charset="0"/>
                        <a:ea typeface="Calibri" charset="0"/>
                        <a:cs typeface="Calibri"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E7CE96"/>
                    </a:solidFill>
                  </a:tcPr>
                </a:tc>
                <a:tc>
                  <a:txBody>
                    <a:bodyPr/>
                    <a:lstStyle/>
                    <a:p>
                      <a:pPr algn="ctr" indent="0" marL="0">
                        <a:buNone/>
                      </a:pPr>
                      <a:r>
                        <a:rPr lang="en-US" sz="970" b="1" dirty="0">
                          <a:solidFill>
                            <a:srgbClr val="12213E"/>
                          </a:solidFill>
                          <a:latin typeface="Courier New" pitchFamily="34" charset="0"/>
                          <a:ea typeface="Courier New" pitchFamily="34" charset="-122"/>
                          <a:cs typeface="Courier New" pitchFamily="34" charset="-120"/>
                        </a:rPr>
                        <a:t>102</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E7CE96"/>
                    </a:solidFill>
                  </a:tcPr>
                </a:tc>
                <a:tc>
                  <a:txBody>
                    <a:bodyPr/>
                    <a:lstStyle/>
                    <a:p>
                      <a:pPr algn="ctr" indent="0" marL="0">
                        <a:buNone/>
                      </a:pPr>
                      <a:r>
                        <a:rPr lang="en-US" sz="970" b="1" dirty="0">
                          <a:solidFill>
                            <a:srgbClr val="12213E"/>
                          </a:solidFill>
                          <a:latin typeface="Courier New" pitchFamily="34" charset="0"/>
                          <a:ea typeface="Courier New" pitchFamily="34" charset="-122"/>
                          <a:cs typeface="Courier New" pitchFamily="34" charset="-120"/>
                        </a:rPr>
                        <a:t>110</a:t>
                      </a:r>
                      <a:endParaRPr lang="en-US" sz="970" dirty="0">
                        <a:latin typeface="Courier New" charset="0"/>
                        <a:ea typeface="Courier New" charset="0"/>
                        <a:cs typeface="Courier New" charset="0"/>
                      </a:endParaRPr>
                    </a:p>
                  </a:txBody>
                  <a:tcPr marL="101600" marR="101600" marT="50800" marB="5080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E7CE96"/>
                    </a:solidFill>
                  </a:tcPr>
                </a:tc>
              </a:tr>
            </a:tbl>
          </a:graphicData>
        </a:graphic>
      </p:graphicFrame>
      <p:sp>
        <p:nvSpPr>
          <p:cNvPr id="14" name="Text 11"/>
          <p:cNvSpPr txBox="1"/>
          <p:nvPr/>
        </p:nvSpPr>
        <p:spPr>
          <a:xfrm>
            <a:off x="502920" y="5779008"/>
            <a:ext cx="11183112" cy="274320"/>
          </a:xfrm>
          <a:prstGeom prst="rect">
            <a:avLst/>
          </a:prstGeom>
          <a:noFill/>
          <a:ln/>
        </p:spPr>
        <p:txBody>
          <a:bodyPr wrap="square" lIns="0" tIns="0" rIns="0" bIns="0" rtlCol="0" anchor="ctr"/>
          <a:lstStyle/>
          <a:p>
            <a:pPr indent="0" marL="0">
              <a:buNone/>
            </a:pPr>
            <a:r>
              <a:rPr lang="en-US" sz="1000" i="1" dirty="0">
                <a:solidFill>
                  <a:srgbClr val="63708C"/>
                </a:solidFill>
                <a:latin typeface="Calibri" pitchFamily="34" charset="0"/>
                <a:ea typeface="Calibri" pitchFamily="34" charset="-122"/>
                <a:cs typeface="Calibri" pitchFamily="34" charset="-120"/>
              </a:rPr>
              <a:t>If the Engine 1.5 design refers to columns by name rather than position, this is a non-issue — worth confirming.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12213E"/>
          </a:solidFill>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2000" b="1" dirty="0">
                <a:solidFill>
                  <a:srgbClr val="E7CE96"/>
                </a:solidFill>
                <a:latin typeface="Cambria" pitchFamily="34" charset="0"/>
                <a:ea typeface="Cambria" pitchFamily="34" charset="-122"/>
                <a:cs typeface="Cambria" pitchFamily="34" charset="-120"/>
              </a:rPr>
              <a:t>10</a:t>
            </a:r>
            <a:endParaRPr lang="en-US" sz="2000" dirty="0"/>
          </a:p>
        </p:txBody>
      </p:sp>
      <p:sp>
        <p:nvSpPr>
          <p:cNvPr id="4" name="Text 2"/>
          <p:cNvSpPr txBox="1"/>
          <p:nvPr/>
        </p:nvSpPr>
        <p:spPr>
          <a:xfrm>
            <a:off x="1216152" y="420624"/>
            <a:ext cx="8686800" cy="256032"/>
          </a:xfrm>
          <a:prstGeom prst="rect">
            <a:avLst/>
          </a:prstGeom>
          <a:noFill/>
          <a:ln/>
        </p:spPr>
        <p:txBody>
          <a:bodyPr wrap="square" lIns="0" tIns="0" rIns="0" bIns="0" rtlCol="0" anchor="ctr"/>
          <a:lstStyle/>
          <a:p>
            <a:pPr indent="0" marL="0">
              <a:buNone/>
            </a:pPr>
            <a:r>
              <a:rPr lang="en-US" sz="1100" b="1" spc="200" kern="0" dirty="0">
                <a:solidFill>
                  <a:srgbClr val="C1922C"/>
                </a:solidFill>
                <a:latin typeface="Calibri" pitchFamily="34" charset="0"/>
                <a:ea typeface="Calibri" pitchFamily="34" charset="-122"/>
                <a:cs typeface="Calibri" pitchFamily="34" charset="-120"/>
              </a:rPr>
              <a:t>TRADE-OFF</a:t>
            </a:r>
            <a:endParaRPr lang="en-US" sz="1100" dirty="0"/>
          </a:p>
        </p:txBody>
      </p:sp>
      <p:sp>
        <p:nvSpPr>
          <p:cNvPr id="5" name="Text 3"/>
          <p:cNvSpPr txBox="1"/>
          <p:nvPr/>
        </p:nvSpPr>
        <p:spPr>
          <a:xfrm>
            <a:off x="1216152" y="658368"/>
            <a:ext cx="9601200" cy="502920"/>
          </a:xfrm>
          <a:prstGeom prst="rect">
            <a:avLst/>
          </a:prstGeom>
          <a:noFill/>
          <a:ln/>
        </p:spPr>
        <p:txBody>
          <a:bodyPr wrap="square" lIns="0" tIns="0" rIns="0" bIns="0" rtlCol="0" anchor="ctr"/>
          <a:lstStyle/>
          <a:p>
            <a:pPr indent="0" marL="0">
              <a:buNone/>
            </a:pPr>
            <a:r>
              <a:rPr lang="en-US" sz="2700" b="1" dirty="0">
                <a:solidFill>
                  <a:srgbClr val="12213E"/>
                </a:solidFill>
                <a:latin typeface="Cambria" pitchFamily="34" charset="0"/>
                <a:ea typeface="Cambria" pitchFamily="34" charset="-122"/>
                <a:cs typeface="Cambria" pitchFamily="34" charset="-120"/>
              </a:rPr>
              <a:t>What Was Parked, and Why It Matters</a:t>
            </a:r>
            <a:endParaRPr lang="en-US" sz="2700" dirty="0"/>
          </a:p>
        </p:txBody>
      </p:sp>
      <p:sp>
        <p:nvSpPr>
          <p:cNvPr id="6" name="Text 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3708C"/>
                </a:solidFill>
                <a:latin typeface="Calibri" pitchFamily="34" charset="0"/>
                <a:ea typeface="Calibri" pitchFamily="34" charset="-122"/>
                <a:cs typeface="Calibri" pitchFamily="34" charset="-120"/>
              </a:rPr>
              <a:t>V2.29 Data Pipeline  ·  XAUUSD  M5 / M15</a:t>
            </a:r>
            <a:endParaRPr lang="en-US" sz="900" dirty="0"/>
          </a:p>
        </p:txBody>
      </p:sp>
      <p:sp>
        <p:nvSpPr>
          <p:cNvPr id="7" name="Text 5"/>
          <p:cNvSpPr txBox="1"/>
          <p:nvPr/>
        </p:nvSpPr>
        <p:spPr>
          <a:xfrm>
            <a:off x="10588752" y="6473952"/>
            <a:ext cx="1097280" cy="274320"/>
          </a:xfrm>
          <a:prstGeom prst="rect">
            <a:avLst/>
          </a:prstGeom>
          <a:noFill/>
          <a:ln/>
        </p:spPr>
        <p:txBody>
          <a:bodyPr wrap="square" lIns="0" tIns="0" rIns="0" bIns="0" rtlCol="0" anchor="ctr"/>
          <a:lstStyle/>
          <a:p>
            <a:pPr algn="r" indent="0" marL="0">
              <a:buNone/>
            </a:pPr>
            <a:r>
              <a:rPr lang="en-US" sz="900" dirty="0">
                <a:solidFill>
                  <a:srgbClr val="63708C"/>
                </a:solidFill>
                <a:latin typeface="Calibri" pitchFamily="34" charset="0"/>
                <a:ea typeface="Calibri" pitchFamily="34" charset="-122"/>
                <a:cs typeface="Calibri" pitchFamily="34" charset="-120"/>
              </a:rPr>
              <a:t>10</a:t>
            </a:r>
            <a:endParaRPr lang="en-US" sz="900" dirty="0"/>
          </a:p>
        </p:txBody>
      </p:sp>
      <p:sp>
        <p:nvSpPr>
          <p:cNvPr id="8" name="Text 6"/>
          <p:cNvSpPr txBox="1"/>
          <p:nvPr/>
        </p:nvSpPr>
        <p:spPr>
          <a:xfrm>
            <a:off x="502920" y="1234440"/>
            <a:ext cx="11183112" cy="530352"/>
          </a:xfrm>
          <a:prstGeom prst="rect">
            <a:avLst/>
          </a:prstGeom>
          <a:noFill/>
          <a:ln/>
        </p:spPr>
        <p:txBody>
          <a:bodyPr wrap="square" lIns="0" tIns="0" rIns="0" bIns="0" rtlCol="0" anchor="ctr"/>
          <a:lstStyle/>
          <a:p>
            <a:pPr indent="0" marL="0">
              <a:buNone/>
            </a:pPr>
            <a:r>
              <a:rPr lang="en-US" sz="1100" dirty="0">
                <a:solidFill>
                  <a:srgbClr val="1B2436"/>
                </a:solidFill>
                <a:latin typeface="Calibri" pitchFamily="34" charset="0"/>
                <a:ea typeface="Calibri" pitchFamily="34" charset="-122"/>
                <a:cs typeface="Calibri" pitchFamily="34" charset="-120"/>
              </a:rPr>
              <a:t>The four Python calc modules and their certification harness were </a:t>
            </a:r>
            <a:pPr indent="0" marL="0">
              <a:buNone/>
            </a:pPr>
            <a:r>
              <a:rPr lang="en-US" sz="1100" b="1" dirty="0">
                <a:solidFill>
                  <a:srgbClr val="12213E"/>
                </a:solidFill>
                <a:latin typeface="Calibri" pitchFamily="34" charset="0"/>
                <a:ea typeface="Calibri" pitchFamily="34" charset="-122"/>
                <a:cs typeface="Calibri" pitchFamily="34" charset="-120"/>
              </a:rPr>
              <a:t>archived, not deleted</a:t>
            </a:r>
            <a:pPr indent="0" marL="0">
              <a:buNone/>
            </a:pPr>
            <a:r>
              <a:rPr lang="en-US" sz="1100" dirty="0">
                <a:solidFill>
                  <a:srgbClr val="1B2436"/>
                </a:solidFill>
                <a:latin typeface="Calibri" pitchFamily="34" charset="0"/>
                <a:ea typeface="Calibri" pitchFamily="34" charset="-122"/>
                <a:cs typeface="Calibri" pitchFamily="34" charset="-120"/>
              </a:rPr>
              <a:t>, in calculation-split-between-mt5-and-python-PENDING-PROJECT/, with a document covering the design, what it cost to park, two open bugs to fix before revival, and how to restore it.</a:t>
            </a:r>
            <a:endParaRPr lang="en-US" sz="1100" dirty="0"/>
          </a:p>
        </p:txBody>
      </p:sp>
      <p:sp>
        <p:nvSpPr>
          <p:cNvPr id="9" name="Shape 7"/>
          <p:cNvSpPr/>
          <p:nvPr/>
        </p:nvSpPr>
        <p:spPr>
          <a:xfrm>
            <a:off x="502920" y="1828800"/>
            <a:ext cx="5431536" cy="3017520"/>
          </a:xfrm>
          <a:prstGeom prst="roundRect">
            <a:avLst>
              <a:gd name="adj" fmla="val 1818"/>
            </a:avLst>
          </a:prstGeom>
          <a:solidFill>
            <a:srgbClr val="EEF1F7"/>
          </a:solidFill>
          <a:ln w="12700">
            <a:solidFill>
              <a:srgbClr val="DCE3EF"/>
            </a:solidFill>
            <a:prstDash val="solid"/>
          </a:ln>
        </p:spPr>
      </p:sp>
      <p:sp>
        <p:nvSpPr>
          <p:cNvPr id="10" name="Text 8"/>
          <p:cNvSpPr txBox="1"/>
          <p:nvPr/>
        </p:nvSpPr>
        <p:spPr>
          <a:xfrm>
            <a:off x="704088" y="1956816"/>
            <a:ext cx="5029200" cy="274320"/>
          </a:xfrm>
          <a:prstGeom prst="rect">
            <a:avLst/>
          </a:prstGeom>
          <a:noFill/>
          <a:ln/>
        </p:spPr>
        <p:txBody>
          <a:bodyPr wrap="square" lIns="0" tIns="0" rIns="0" bIns="0" rtlCol="0" anchor="ctr"/>
          <a:lstStyle/>
          <a:p>
            <a:pPr indent="0" marL="0">
              <a:buNone/>
            </a:pPr>
            <a:r>
              <a:rPr lang="en-US" sz="1200" b="1" dirty="0">
                <a:solidFill>
                  <a:srgbClr val="12213E"/>
                </a:solidFill>
                <a:latin typeface="Calibri" pitchFamily="34" charset="0"/>
                <a:ea typeface="Calibri" pitchFamily="34" charset="-122"/>
                <a:cs typeface="Calibri" pitchFamily="34" charset="-120"/>
              </a:rPr>
              <a:t>The one real capability given up</a:t>
            </a:r>
            <a:endParaRPr lang="en-US" sz="1200" dirty="0"/>
          </a:p>
        </p:txBody>
      </p:sp>
      <p:sp>
        <p:nvSpPr>
          <p:cNvPr id="11" name="Text 9"/>
          <p:cNvSpPr txBox="1"/>
          <p:nvPr/>
        </p:nvSpPr>
        <p:spPr>
          <a:xfrm>
            <a:off x="704088" y="2286000"/>
            <a:ext cx="5029200" cy="960120"/>
          </a:xfrm>
          <a:prstGeom prst="rect">
            <a:avLst/>
          </a:prstGeom>
          <a:noFill/>
          <a:ln/>
        </p:spPr>
        <p:txBody>
          <a:bodyPr wrap="square" lIns="0" tIns="0" rIns="0" bIns="0" rtlCol="0" anchor="ctr"/>
          <a:lstStyle/>
          <a:p>
            <a:pPr indent="0" marL="0">
              <a:buNone/>
            </a:pPr>
            <a:r>
              <a:rPr lang="en-US" sz="1030" b="1" dirty="0">
                <a:solidFill>
                  <a:srgbClr val="1B2436"/>
                </a:solidFill>
                <a:latin typeface="Calibri" pitchFamily="34" charset="0"/>
                <a:ea typeface="Calibri" pitchFamily="34" charset="-122"/>
                <a:cs typeface="Calibri" pitchFamily="34" charset="-120"/>
              </a:rPr>
              <a:t>Arbitrary-parameter recomputation.  </a:t>
            </a:r>
            <a:pPr indent="0" marL="0">
              <a:buNone/>
            </a:pPr>
            <a:r>
              <a:rPr lang="en-US" sz="1030" dirty="0">
                <a:solidFill>
                  <a:srgbClr val="1B2436"/>
                </a:solidFill>
                <a:latin typeface="Calibri" pitchFamily="34" charset="0"/>
                <a:ea typeface="Calibri" pitchFamily="34" charset="-122"/>
                <a:cs typeface="Calibri" pitchFamily="34" charset="-120"/>
              </a:rPr>
              <a:t>MQL5 exports one fixed, admin-configured parameterization; it cannot answer “what would this look like with </a:t>
            </a:r>
            <a:pPr indent="0" marL="0">
              <a:buNone/>
            </a:pPr>
            <a:r>
              <a:rPr lang="en-US" sz="1030" dirty="0">
                <a:solidFill>
                  <a:srgbClr val="1B2436"/>
                </a:solidFill>
                <a:latin typeface="Courier New" pitchFamily="34" charset="0"/>
                <a:ea typeface="Courier New" pitchFamily="34" charset="-122"/>
                <a:cs typeface="Courier New" pitchFamily="34" charset="-120"/>
              </a:rPr>
              <a:t>min_touches=4</a:t>
            </a:r>
            <a:pPr indent="0" marL="0">
              <a:buNone/>
            </a:pPr>
            <a:r>
              <a:rPr lang="en-US" sz="1030" dirty="0">
                <a:solidFill>
                  <a:srgbClr val="1B2436"/>
                </a:solidFill>
                <a:latin typeface="Calibri" pitchFamily="34" charset="0"/>
                <a:ea typeface="Calibri" pitchFamily="34" charset="-122"/>
                <a:cs typeface="Calibri" pitchFamily="34" charset="-120"/>
              </a:rPr>
              <a:t>?” without editing the .mq5, recompiling and redeploying.</a:t>
            </a:r>
            <a:endParaRPr lang="en-US" sz="1030" dirty="0"/>
          </a:p>
        </p:txBody>
      </p:sp>
      <p:sp>
        <p:nvSpPr>
          <p:cNvPr id="12" name="Shape 10"/>
          <p:cNvSpPr/>
          <p:nvPr/>
        </p:nvSpPr>
        <p:spPr>
          <a:xfrm>
            <a:off x="704088" y="3310128"/>
            <a:ext cx="5029200" cy="1371600"/>
          </a:xfrm>
          <a:prstGeom prst="roundRect">
            <a:avLst>
              <a:gd name="adj" fmla="val 4000"/>
            </a:avLst>
          </a:prstGeom>
          <a:solidFill>
            <a:srgbClr val="DCEBE1"/>
          </a:solidFill>
          <a:ln w="12700">
            <a:solidFill>
              <a:srgbClr val="DCE3EF"/>
            </a:solidFill>
            <a:prstDash val="solid"/>
          </a:ln>
        </p:spPr>
      </p:sp>
      <p:sp>
        <p:nvSpPr>
          <p:cNvPr id="13" name="Text 11"/>
          <p:cNvSpPr txBox="1"/>
          <p:nvPr/>
        </p:nvSpPr>
        <p:spPr>
          <a:xfrm>
            <a:off x="868680" y="3401568"/>
            <a:ext cx="4700016" cy="1188720"/>
          </a:xfrm>
          <a:prstGeom prst="rect">
            <a:avLst/>
          </a:prstGeom>
          <a:noFill/>
          <a:ln/>
        </p:spPr>
        <p:txBody>
          <a:bodyPr wrap="square" lIns="0" tIns="0" rIns="0" bIns="0" rtlCol="0" anchor="ctr"/>
          <a:lstStyle/>
          <a:p>
            <a:pPr indent="0" marL="0">
              <a:buNone/>
            </a:pPr>
            <a:r>
              <a:rPr lang="en-US" sz="940" b="1" dirty="0">
                <a:solidFill>
                  <a:srgbClr val="3E7C59"/>
                </a:solidFill>
                <a:latin typeface="Calibri" pitchFamily="34" charset="0"/>
                <a:ea typeface="Calibri" pitchFamily="34" charset="-122"/>
                <a:cs typeface="Calibri" pitchFamily="34" charset="-120"/>
              </a:rPr>
              <a:t>Recovered, as of this update:  </a:t>
            </a:r>
            <a:pPr indent="0" marL="0">
              <a:buNone/>
            </a:pPr>
            <a:r>
              <a:rPr lang="en-US" sz="940" dirty="0">
                <a:solidFill>
                  <a:srgbClr val="1B2436"/>
                </a:solidFill>
                <a:latin typeface="Calibri" pitchFamily="34" charset="0"/>
                <a:ea typeface="Calibri" pitchFamily="34" charset="-122"/>
                <a:cs typeface="Calibri" pitchFamily="34" charset="-120"/>
              </a:rPr>
              <a:t>the statistics substrate (R², MSE, variance ratio, skewness, kurtosis, containment, touch counts) looked lost too — it only ever reached _Statistic.txt companion files. The new append-only capture path fixes this: rather than recomputing those numbers downstream, the pipeline now records the ones MT5 already produced, at the moment it produced them. Recomputing later would have inherited the look-ahead contamination.</a:t>
            </a:r>
            <a:endParaRPr lang="en-US" sz="940" dirty="0"/>
          </a:p>
        </p:txBody>
      </p:sp>
      <p:sp>
        <p:nvSpPr>
          <p:cNvPr id="14" name="Shape 12"/>
          <p:cNvSpPr/>
          <p:nvPr/>
        </p:nvSpPr>
        <p:spPr>
          <a:xfrm>
            <a:off x="6254496" y="1828800"/>
            <a:ext cx="5431536" cy="3017520"/>
          </a:xfrm>
          <a:prstGeom prst="roundRect">
            <a:avLst>
              <a:gd name="adj" fmla="val 1818"/>
            </a:avLst>
          </a:prstGeom>
          <a:solidFill>
            <a:srgbClr val="223A66"/>
          </a:solidFill>
          <a:ln w="12700">
            <a:solidFill>
              <a:srgbClr val="DCE3EF"/>
            </a:solidFill>
            <a:prstDash val="solid"/>
          </a:ln>
        </p:spPr>
      </p:sp>
      <p:sp>
        <p:nvSpPr>
          <p:cNvPr id="15" name="Text 13"/>
          <p:cNvSpPr txBox="1"/>
          <p:nvPr/>
        </p:nvSpPr>
        <p:spPr>
          <a:xfrm>
            <a:off x="6455664" y="1956816"/>
            <a:ext cx="5029200" cy="274320"/>
          </a:xfrm>
          <a:prstGeom prst="rect">
            <a:avLst/>
          </a:prstGeom>
          <a:noFill/>
          <a:ln/>
        </p:spPr>
        <p:txBody>
          <a:bodyPr wrap="square" lIns="0" tIns="0" rIns="0" bIns="0" rtlCol="0" anchor="ctr"/>
          <a:lstStyle/>
          <a:p>
            <a:pPr indent="0" marL="0">
              <a:buNone/>
            </a:pPr>
            <a:r>
              <a:rPr lang="en-US" sz="1200" b="1" dirty="0">
                <a:solidFill>
                  <a:srgbClr val="E7CE96"/>
                </a:solidFill>
                <a:latin typeface="Calibri" pitchFamily="34" charset="0"/>
                <a:ea typeface="Calibri" pitchFamily="34" charset="-122"/>
                <a:cs typeface="Calibri" pitchFamily="34" charset="-120"/>
              </a:rPr>
              <a:t>Consequence for the Decision Layer</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55664" y="2286000"/>
          <a:ext cx="5029200" cy="960120"/>
        </p:xfrm>
        <a:graphic>
          <a:graphicData uri="http://schemas.openxmlformats.org/drawingml/2006/table">
            <a:tbl>
              <a:tblPr/>
              <a:tblGrid>
                <a:gridCol w="1691640"/>
                <a:gridCol w="1600200"/>
                <a:gridCol w="1371600"/>
              </a:tblGrid>
              <a:tr h="320040">
                <a:tc>
                  <a:txBody>
                    <a:bodyPr/>
                    <a:lstStyle/>
                    <a:p>
                      <a:pPr indent="0" marL="0">
                        <a:buNone/>
                      </a:pPr>
                      <a:r>
                        <a:rPr lang="en-US" sz="850" b="1" dirty="0">
                          <a:solidFill>
                            <a:srgbClr val="AAB6D4"/>
                          </a:solidFill>
                        </a:rPr>
                        <a:t>Component</a:t>
                      </a:r>
                      <a:endParaRPr lang="en-US" sz="850" dirty="0"/>
                    </a:p>
                  </a:txBody>
                  <a:tcPr marL="63500" marR="635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c>
                  <a:txBody>
                    <a:bodyPr/>
                    <a:lstStyle/>
                    <a:p>
                      <a:pPr indent="0" marL="0">
                        <a:buNone/>
                      </a:pPr>
                      <a:r>
                        <a:rPr lang="en-US" sz="850" b="1" dirty="0">
                          <a:solidFill>
                            <a:srgbClr val="AAB6D4"/>
                          </a:solidFill>
                        </a:rPr>
                        <a:t>Needs</a:t>
                      </a:r>
                      <a:endParaRPr lang="en-US" sz="850" dirty="0"/>
                    </a:p>
                  </a:txBody>
                  <a:tcPr marL="63500" marR="635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c>
                  <a:txBody>
                    <a:bodyPr/>
                    <a:lstStyle/>
                    <a:p>
                      <a:pPr indent="0" marL="0">
                        <a:buNone/>
                      </a:pPr>
                      <a:r>
                        <a:rPr lang="en-US" sz="850" b="1" dirty="0">
                          <a:solidFill>
                            <a:srgbClr val="AAB6D4"/>
                          </a:solidFill>
                        </a:rPr>
                        <a:t>Status</a:t>
                      </a:r>
                      <a:endParaRPr lang="en-US" sz="850" dirty="0"/>
                    </a:p>
                  </a:txBody>
                  <a:tcPr marL="63500" marR="635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r>
              <a:tr h="320040">
                <a:tc>
                  <a:txBody>
                    <a:bodyPr/>
                    <a:lstStyle/>
                    <a:p>
                      <a:pPr indent="0" marL="0">
                        <a:buNone/>
                      </a:pPr>
                      <a:r>
                        <a:rPr lang="en-US" sz="900" b="1" dirty="0">
                          <a:solidFill>
                            <a:srgbClr val="FFFFFF"/>
                          </a:solidFill>
                          <a:latin typeface="Courier New" pitchFamily="34" charset="0"/>
                          <a:ea typeface="Courier New" pitchFamily="34" charset="-122"/>
                          <a:cs typeface="Courier New" pitchFamily="34" charset="-120"/>
                        </a:rPr>
                        <a:t>fitness_scorer</a:t>
                      </a:r>
                      <a:endParaRPr lang="en-US" sz="900" dirty="0">
                        <a:latin typeface="Courier New" charset="0"/>
                        <a:ea typeface="Courier New" charset="0"/>
                        <a:cs typeface="Courier New" charset="0"/>
                      </a:endParaRPr>
                    </a:p>
                  </a:txBody>
                  <a:tcPr marL="63500" marR="635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the statistics substrate</a:t>
                      </a:r>
                      <a:endParaRPr lang="en-US" sz="900" dirty="0">
                        <a:latin typeface="Calibri" charset="0"/>
                        <a:ea typeface="Calibri" charset="0"/>
                        <a:cs typeface="Calibri" charset="0"/>
                      </a:endParaRPr>
                    </a:p>
                  </a:txBody>
                  <a:tcPr marL="63500" marR="635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c>
                  <a:txBody>
                    <a:bodyPr/>
                    <a:lstStyle/>
                    <a:p>
                      <a:pPr indent="0" marL="0">
                        <a:buNone/>
                      </a:pPr>
                      <a:r>
                        <a:rPr lang="en-US" sz="900" b="1" dirty="0">
                          <a:solidFill>
                            <a:srgbClr val="8FD9A8"/>
                          </a:solidFill>
                          <a:latin typeface="Calibri" pitchFamily="34" charset="0"/>
                          <a:ea typeface="Calibri" pitchFamily="34" charset="-122"/>
                          <a:cs typeface="Calibri" pitchFamily="34" charset="-120"/>
                        </a:rPr>
                        <a:t>UNBLOCKED</a:t>
                      </a:r>
                      <a:endParaRPr lang="en-US" sz="900" dirty="0">
                        <a:latin typeface="Calibri" charset="0"/>
                        <a:ea typeface="Calibri" charset="0"/>
                        <a:cs typeface="Calibri" charset="0"/>
                      </a:endParaRPr>
                    </a:p>
                  </a:txBody>
                  <a:tcPr marL="63500" marR="635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r>
              <a:tr h="320040">
                <a:tc>
                  <a:txBody>
                    <a:bodyPr/>
                    <a:lstStyle/>
                    <a:p>
                      <a:pPr indent="0" marL="0">
                        <a:buNone/>
                      </a:pPr>
                      <a:r>
                        <a:rPr lang="en-US" sz="900" b="1" dirty="0">
                          <a:solidFill>
                            <a:srgbClr val="FFFFFF"/>
                          </a:solidFill>
                          <a:latin typeface="Courier New" pitchFamily="34" charset="0"/>
                          <a:ea typeface="Courier New" pitchFamily="34" charset="-122"/>
                          <a:cs typeface="Courier New" pitchFamily="34" charset="-120"/>
                        </a:rPr>
                        <a:t>param_search</a:t>
                      </a:r>
                      <a:endParaRPr lang="en-US" sz="900" dirty="0">
                        <a:latin typeface="Courier New" charset="0"/>
                        <a:ea typeface="Courier New" charset="0"/>
                        <a:cs typeface="Courier New" charset="0"/>
                      </a:endParaRPr>
                    </a:p>
                  </a:txBody>
                  <a:tcPr marL="63500" marR="635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arbitrary-param recomputation</a:t>
                      </a:r>
                      <a:endParaRPr lang="en-US" sz="900" dirty="0">
                        <a:latin typeface="Calibri" charset="0"/>
                        <a:ea typeface="Calibri" charset="0"/>
                        <a:cs typeface="Calibri" charset="0"/>
                      </a:endParaRPr>
                    </a:p>
                  </a:txBody>
                  <a:tcPr marL="63500" marR="635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c>
                  <a:txBody>
                    <a:bodyPr/>
                    <a:lstStyle/>
                    <a:p>
                      <a:pPr indent="0" marL="0">
                        <a:buNone/>
                      </a:pPr>
                      <a:r>
                        <a:rPr lang="en-US" sz="900" b="1" dirty="0">
                          <a:solidFill>
                            <a:srgbClr val="F0A8A8"/>
                          </a:solidFill>
                          <a:latin typeface="Calibri" pitchFamily="34" charset="0"/>
                          <a:ea typeface="Calibri" pitchFamily="34" charset="-122"/>
                          <a:cs typeface="Calibri" pitchFamily="34" charset="-120"/>
                        </a:rPr>
                        <a:t>STILL BLOCKED</a:t>
                      </a:r>
                      <a:endParaRPr lang="en-US" sz="900" dirty="0">
                        <a:latin typeface="Calibri" charset="0"/>
                        <a:ea typeface="Calibri" charset="0"/>
                        <a:cs typeface="Calibri" charset="0"/>
                      </a:endParaRPr>
                    </a:p>
                  </a:txBody>
                  <a:tcPr marL="63500" marR="635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r>
            </a:tbl>
          </a:graphicData>
        </a:graphic>
      </p:graphicFrame>
      <p:sp>
        <p:nvSpPr>
          <p:cNvPr id="17" name="Text 14"/>
          <p:cNvSpPr txBox="1"/>
          <p:nvPr/>
        </p:nvSpPr>
        <p:spPr>
          <a:xfrm>
            <a:off x="6455664" y="3364992"/>
            <a:ext cx="5029200" cy="1371600"/>
          </a:xfrm>
          <a:prstGeom prst="rect">
            <a:avLst/>
          </a:prstGeom>
          <a:noFill/>
          <a:ln/>
        </p:spPr>
        <p:txBody>
          <a:bodyPr wrap="square" lIns="0" tIns="0" rIns="0" bIns="0" rtlCol="0" anchor="ctr"/>
          <a:lstStyle/>
          <a:p>
            <a:pPr indent="0" marL="0">
              <a:buNone/>
            </a:pPr>
            <a:r>
              <a:rPr lang="en-US" sz="960" b="1" dirty="0">
                <a:solidFill>
                  <a:srgbClr val="FFFFFF"/>
                </a:solidFill>
                <a:latin typeface="Calibri" pitchFamily="34" charset="0"/>
                <a:ea typeface="Calibri" pitchFamily="34" charset="-122"/>
                <a:cs typeface="Calibri" pitchFamily="34" charset="-120"/>
              </a:rPr>
              <a:t>So the blueprint's BLOCKED banner stands</a:t>
            </a:r>
            <a:pPr indent="0" marL="0">
              <a:buNone/>
            </a:pPr>
            <a:r>
              <a:rPr lang="en-US" sz="960" dirty="0">
                <a:solidFill>
                  <a:srgbClr val="AAB6D4"/>
                </a:solidFill>
                <a:latin typeface="Calibri" pitchFamily="34" charset="0"/>
                <a:ea typeface="Calibri" pitchFamily="34" charset="-122"/>
                <a:cs typeface="Calibri" pitchFamily="34" charset="-120"/>
              </a:rPr>
              <a:t> — but the blocker has narrowed from two independent causes to one. Scoring weights and thresholds were deliberately left out of MQL5: they're tuning parameters, pure arithmetic downstream on numbers already exported.</a:t>
            </a:r>
            <a:endParaRPr lang="en-US" sz="9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12213E"/>
          </a:solidFill>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2000" b="1" dirty="0">
                <a:solidFill>
                  <a:srgbClr val="E7CE96"/>
                </a:solidFill>
                <a:latin typeface="Cambria" pitchFamily="34" charset="0"/>
                <a:ea typeface="Cambria" pitchFamily="34" charset="-122"/>
                <a:cs typeface="Cambria" pitchFamily="34" charset="-120"/>
              </a:rPr>
              <a:t>11</a:t>
            </a:r>
            <a:endParaRPr lang="en-US" sz="2000" dirty="0"/>
          </a:p>
        </p:txBody>
      </p:sp>
      <p:sp>
        <p:nvSpPr>
          <p:cNvPr id="4" name="Text 2"/>
          <p:cNvSpPr txBox="1"/>
          <p:nvPr/>
        </p:nvSpPr>
        <p:spPr>
          <a:xfrm>
            <a:off x="1216152" y="420624"/>
            <a:ext cx="8686800" cy="256032"/>
          </a:xfrm>
          <a:prstGeom prst="rect">
            <a:avLst/>
          </a:prstGeom>
          <a:noFill/>
          <a:ln/>
        </p:spPr>
        <p:txBody>
          <a:bodyPr wrap="square" lIns="0" tIns="0" rIns="0" bIns="0" rtlCol="0" anchor="ctr"/>
          <a:lstStyle/>
          <a:p>
            <a:pPr indent="0" marL="0">
              <a:buNone/>
            </a:pPr>
            <a:r>
              <a:rPr lang="en-US" sz="1100" b="1" spc="200" kern="0" dirty="0">
                <a:solidFill>
                  <a:srgbClr val="C1922C"/>
                </a:solidFill>
                <a:latin typeface="Calibri" pitchFamily="34" charset="0"/>
                <a:ea typeface="Calibri" pitchFamily="34" charset="-122"/>
                <a:cs typeface="Calibri" pitchFamily="34" charset="-120"/>
              </a:rPr>
              <a:t>RISK</a:t>
            </a:r>
            <a:endParaRPr lang="en-US" sz="1100" dirty="0"/>
          </a:p>
        </p:txBody>
      </p:sp>
      <p:sp>
        <p:nvSpPr>
          <p:cNvPr id="5" name="Text 3"/>
          <p:cNvSpPr txBox="1"/>
          <p:nvPr/>
        </p:nvSpPr>
        <p:spPr>
          <a:xfrm>
            <a:off x="1216152" y="658368"/>
            <a:ext cx="9601200" cy="502920"/>
          </a:xfrm>
          <a:prstGeom prst="rect">
            <a:avLst/>
          </a:prstGeom>
          <a:noFill/>
          <a:ln/>
        </p:spPr>
        <p:txBody>
          <a:bodyPr wrap="square" lIns="0" tIns="0" rIns="0" bIns="0" rtlCol="0" anchor="ctr"/>
          <a:lstStyle/>
          <a:p>
            <a:pPr indent="0" marL="0">
              <a:buNone/>
            </a:pPr>
            <a:r>
              <a:rPr lang="en-US" sz="2700" b="1" dirty="0">
                <a:solidFill>
                  <a:srgbClr val="12213E"/>
                </a:solidFill>
                <a:latin typeface="Cambria" pitchFamily="34" charset="0"/>
                <a:ea typeface="Cambria" pitchFamily="34" charset="-122"/>
                <a:cs typeface="Cambria" pitchFamily="34" charset="-120"/>
              </a:rPr>
              <a:t>Open Issues</a:t>
            </a:r>
            <a:endParaRPr lang="en-US" sz="2700" dirty="0"/>
          </a:p>
        </p:txBody>
      </p:sp>
      <p:sp>
        <p:nvSpPr>
          <p:cNvPr id="6" name="Text 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3708C"/>
                </a:solidFill>
                <a:latin typeface="Calibri" pitchFamily="34" charset="0"/>
                <a:ea typeface="Calibri" pitchFamily="34" charset="-122"/>
                <a:cs typeface="Calibri" pitchFamily="34" charset="-120"/>
              </a:rPr>
              <a:t>V2.29 Data Pipeline  ·  XAUUSD  M5 / M15</a:t>
            </a:r>
            <a:endParaRPr lang="en-US" sz="900" dirty="0"/>
          </a:p>
        </p:txBody>
      </p:sp>
      <p:sp>
        <p:nvSpPr>
          <p:cNvPr id="7" name="Text 5"/>
          <p:cNvSpPr txBox="1"/>
          <p:nvPr/>
        </p:nvSpPr>
        <p:spPr>
          <a:xfrm>
            <a:off x="10588752" y="6473952"/>
            <a:ext cx="1097280" cy="274320"/>
          </a:xfrm>
          <a:prstGeom prst="rect">
            <a:avLst/>
          </a:prstGeom>
          <a:noFill/>
          <a:ln/>
        </p:spPr>
        <p:txBody>
          <a:bodyPr wrap="square" lIns="0" tIns="0" rIns="0" bIns="0" rtlCol="0" anchor="ctr"/>
          <a:lstStyle/>
          <a:p>
            <a:pPr algn="r" indent="0" marL="0">
              <a:buNone/>
            </a:pPr>
            <a:r>
              <a:rPr lang="en-US" sz="900" dirty="0">
                <a:solidFill>
                  <a:srgbClr val="63708C"/>
                </a:solidFill>
                <a:latin typeface="Calibri" pitchFamily="34" charset="0"/>
                <a:ea typeface="Calibri" pitchFamily="34" charset="-122"/>
                <a:cs typeface="Calibri" pitchFamily="34" charset="-120"/>
              </a:rPr>
              <a:t>11</a:t>
            </a:r>
            <a:endParaRPr lang="en-US" sz="900" dirty="0"/>
          </a:p>
        </p:txBody>
      </p:sp>
      <p:sp>
        <p:nvSpPr>
          <p:cNvPr id="8" name="Text 6"/>
          <p:cNvSpPr txBox="1"/>
          <p:nvPr/>
        </p:nvSpPr>
        <p:spPr>
          <a:xfrm>
            <a:off x="502920" y="1298448"/>
            <a:ext cx="10789920" cy="320040"/>
          </a:xfrm>
          <a:prstGeom prst="rect">
            <a:avLst/>
          </a:prstGeom>
          <a:noFill/>
          <a:ln/>
        </p:spPr>
        <p:txBody>
          <a:bodyPr wrap="square" lIns="0" tIns="0" rIns="0" bIns="0" rtlCol="0" anchor="ctr"/>
          <a:lstStyle/>
          <a:p>
            <a:pPr indent="0" marL="0">
              <a:buNone/>
            </a:pPr>
            <a:r>
              <a:rPr lang="en-US" sz="1200" i="1" dirty="0">
                <a:solidFill>
                  <a:srgbClr val="63708C"/>
                </a:solidFill>
                <a:latin typeface="Calibri" pitchFamily="34" charset="0"/>
                <a:ea typeface="Calibri" pitchFamily="34" charset="-122"/>
                <a:cs typeface="Calibri" pitchFamily="34" charset="-120"/>
              </a:rPr>
              <a:t>Neither is caused by this change; both predate it. Both are documented in full, with the measurements to take before acting.</a:t>
            </a:r>
            <a:endParaRPr lang="en-US" sz="1200" dirty="0"/>
          </a:p>
        </p:txBody>
      </p:sp>
      <p:sp>
        <p:nvSpPr>
          <p:cNvPr id="9" name="Shape 7"/>
          <p:cNvSpPr/>
          <p:nvPr/>
        </p:nvSpPr>
        <p:spPr>
          <a:xfrm>
            <a:off x="502920" y="1783080"/>
            <a:ext cx="5431536" cy="4160520"/>
          </a:xfrm>
          <a:prstGeom prst="roundRect">
            <a:avLst>
              <a:gd name="adj" fmla="val 1319"/>
            </a:avLst>
          </a:prstGeom>
          <a:solidFill>
            <a:srgbClr val="FFFFFF"/>
          </a:solidFill>
          <a:ln w="12700">
            <a:solidFill>
              <a:srgbClr val="DCE3EF"/>
            </a:solidFill>
            <a:prstDash val="solid"/>
          </a:ln>
          <a:effectLst>
            <a:outerShdw sx="100000" sy="100000" kx="0" ky="0" algn="bl" rotWithShape="0" blurRad="76200" dist="25400" dir="5400000">
              <a:srgbClr val="1B2436">
                <a:alpha val="18000"/>
              </a:srgbClr>
            </a:outerShdw>
          </a:effectLst>
        </p:spPr>
      </p:sp>
      <p:sp>
        <p:nvSpPr>
          <p:cNvPr id="10" name="Text 8"/>
          <p:cNvSpPr txBox="1"/>
          <p:nvPr/>
        </p:nvSpPr>
        <p:spPr>
          <a:xfrm>
            <a:off x="704088" y="1947672"/>
            <a:ext cx="365760" cy="320040"/>
          </a:xfrm>
          <a:prstGeom prst="rect">
            <a:avLst/>
          </a:prstGeom>
          <a:noFill/>
          <a:ln/>
        </p:spPr>
        <p:txBody>
          <a:bodyPr wrap="square" lIns="0" tIns="0" rIns="0" bIns="0" rtlCol="0" anchor="ctr"/>
          <a:lstStyle/>
          <a:p>
            <a:pPr indent="0" marL="0">
              <a:buNone/>
            </a:pPr>
            <a:r>
              <a:rPr lang="en-US" sz="1600" b="1" dirty="0">
                <a:solidFill>
                  <a:srgbClr val="C1922C"/>
                </a:solidFill>
                <a:latin typeface="Cambria" pitchFamily="34" charset="0"/>
                <a:ea typeface="Cambria" pitchFamily="34" charset="-122"/>
                <a:cs typeface="Cambria" pitchFamily="34" charset="-120"/>
              </a:rPr>
              <a:t>a.</a:t>
            </a:r>
            <a:endParaRPr lang="en-US" sz="1600" dirty="0"/>
          </a:p>
        </p:txBody>
      </p:sp>
      <p:sp>
        <p:nvSpPr>
          <p:cNvPr id="11" name="Text 9"/>
          <p:cNvSpPr txBox="1"/>
          <p:nvPr/>
        </p:nvSpPr>
        <p:spPr>
          <a:xfrm>
            <a:off x="1005840" y="1947672"/>
            <a:ext cx="4700016" cy="502920"/>
          </a:xfrm>
          <a:prstGeom prst="rect">
            <a:avLst/>
          </a:prstGeom>
          <a:noFill/>
          <a:ln/>
        </p:spPr>
        <p:txBody>
          <a:bodyPr wrap="square" lIns="0" tIns="0" rIns="0" bIns="0" rtlCol="0" anchor="ctr"/>
          <a:lstStyle/>
          <a:p>
            <a:pPr indent="0" marL="0">
              <a:buNone/>
            </a:pPr>
            <a:r>
              <a:rPr lang="en-US" sz="1350" b="1" dirty="0">
                <a:solidFill>
                  <a:srgbClr val="12213E"/>
                </a:solidFill>
                <a:latin typeface="Cambria" pitchFamily="34" charset="0"/>
                <a:ea typeface="Cambria" pitchFamily="34" charset="-122"/>
                <a:cs typeface="Cambria" pitchFamily="34" charset="-120"/>
              </a:rPr>
              <a:t>Push-worker throughput may not keep up</a:t>
            </a:r>
            <a:endParaRPr lang="en-US" sz="1350" dirty="0"/>
          </a:p>
        </p:txBody>
      </p:sp>
      <p:sp>
        <p:nvSpPr>
          <p:cNvPr id="12" name="Text 10"/>
          <p:cNvSpPr txBox="1"/>
          <p:nvPr/>
        </p:nvSpPr>
        <p:spPr>
          <a:xfrm>
            <a:off x="704088" y="2404872"/>
            <a:ext cx="5029200" cy="228600"/>
          </a:xfrm>
          <a:prstGeom prst="rect">
            <a:avLst/>
          </a:prstGeom>
          <a:noFill/>
          <a:ln/>
        </p:spPr>
        <p:txBody>
          <a:bodyPr wrap="square" lIns="0" tIns="0" rIns="0" bIns="0" rtlCol="0" anchor="ctr"/>
          <a:lstStyle/>
          <a:p>
            <a:pPr indent="0" marL="0">
              <a:buNone/>
            </a:pPr>
            <a:r>
              <a:rPr lang="en-US" sz="850" dirty="0">
                <a:solidFill>
                  <a:srgbClr val="63708C"/>
                </a:solidFill>
                <a:latin typeface="Courier New" pitchFamily="34" charset="0"/>
                <a:ea typeface="Courier New" pitchFamily="34" charset="-122"/>
                <a:cs typeface="Courier New" pitchFamily="34" charset="-120"/>
              </a:rPr>
              <a:t>PUSH-WORKER-THROUGHPUT-OPEN-ISSUE.md</a:t>
            </a:r>
            <a:endParaRPr lang="en-US" sz="850" dirty="0"/>
          </a:p>
        </p:txBody>
      </p:sp>
      <p:sp>
        <p:nvSpPr>
          <p:cNvPr id="13" name="Text 11"/>
          <p:cNvSpPr txBox="1"/>
          <p:nvPr/>
        </p:nvSpPr>
        <p:spPr>
          <a:xfrm>
            <a:off x="704088" y="2715768"/>
            <a:ext cx="5029200" cy="2331720"/>
          </a:xfrm>
          <a:prstGeom prst="rect">
            <a:avLst/>
          </a:prstGeom>
          <a:noFill/>
          <a:ln/>
        </p:spPr>
        <p:txBody>
          <a:bodyPr wrap="square" lIns="0" tIns="0" rIns="0" bIns="0" rtlCol="0" anchor="ctr"/>
          <a:lstStyle/>
          <a:p>
            <a:pPr indent="0" marL="0">
              <a:buNone/>
            </a:pPr>
            <a:r>
              <a:rPr lang="en-US" sz="1050" dirty="0">
                <a:solidFill>
                  <a:srgbClr val="1B2436"/>
                </a:solidFill>
                <a:latin typeface="Calibri" pitchFamily="34" charset="0"/>
                <a:ea typeface="Calibri" pitchFamily="34" charset="-122"/>
                <a:cs typeface="Calibri" pitchFamily="34" charset="-120"/>
              </a:rPr>
              <a:t>Every cycle re-queues all ~6000 in-window rows (correct — MT5 recalculates the whole window), and the worker POSTs </a:t>
            </a:r>
            <a:pPr indent="0" marL="0">
              <a:buNone/>
            </a:pPr>
            <a:r>
              <a:rPr lang="en-US" sz="1050" b="1" dirty="0">
                <a:solidFill>
                  <a:srgbClr val="1B2436"/>
                </a:solidFill>
                <a:latin typeface="Calibri" pitchFamily="34" charset="0"/>
                <a:ea typeface="Calibri" pitchFamily="34" charset="-122"/>
                <a:cs typeface="Calibri" pitchFamily="34" charset="-120"/>
              </a:rPr>
              <a:t>one row per HTTP request</a:t>
            </a:r>
            <a:pPr indent="0" marL="0">
              <a:buNone/>
            </a:pPr>
            <a:r>
              <a:rPr lang="en-US" sz="1050" dirty="0">
                <a:solidFill>
                  <a:srgbClr val="1B2436"/>
                </a:solidFill>
                <a:latin typeface="Calibri" pitchFamily="34" charset="0"/>
                <a:ea typeface="Calibri" pitchFamily="34" charset="-122"/>
                <a:cs typeface="Calibri" pitchFamily="34" charset="-120"/>
              </a:rPr>
              <a:t> at 500 per cycle plus a 30-second sleep.
</a:t>
            </a:r>
            <a:pPr indent="0" marL="0">
              <a:buNone/>
            </a:pPr>
            <a:r>
              <a:rPr lang="en-US" sz="1050" dirty="0">
                <a:solidFill>
                  <a:srgbClr val="1B2436"/>
                </a:solidFill>
                <a:latin typeface="Calibri" pitchFamily="34" charset="0"/>
                <a:ea typeface="Calibri" pitchFamily="34" charset="-122"/>
                <a:cs typeface="Calibri" pitchFamily="34" charset="-120"/>
              </a:rPr>
              <a:t>Demand </a:t>
            </a:r>
            <a:pPr indent="0" marL="0">
              <a:buNone/>
            </a:pPr>
            <a:r>
              <a:rPr lang="en-US" sz="1050" b="1" dirty="0">
                <a:solidFill>
                  <a:srgbClr val="AD3B3B"/>
                </a:solidFill>
                <a:latin typeface="Calibri" pitchFamily="34" charset="0"/>
                <a:ea typeface="Calibri" pitchFamily="34" charset="-122"/>
                <a:cs typeface="Calibri" pitchFamily="34" charset="-120"/>
              </a:rPr>
              <a:t>~800 rows/min</a:t>
            </a:r>
            <a:pPr indent="0" marL="0">
              <a:buNone/>
            </a:pPr>
            <a:r>
              <a:rPr lang="en-US" sz="1050" dirty="0">
                <a:solidFill>
                  <a:srgbClr val="1B2436"/>
                </a:solidFill>
                <a:latin typeface="Calibri" pitchFamily="34" charset="0"/>
                <a:ea typeface="Calibri" pitchFamily="34" charset="-122"/>
                <a:cs typeface="Calibri" pitchFamily="34" charset="-120"/>
              </a:rPr>
              <a:t> against a likely capacity of </a:t>
            </a:r>
            <a:pPr indent="0" marL="0">
              <a:buNone/>
            </a:pPr>
            <a:r>
              <a:rPr lang="en-US" sz="1050" b="1" dirty="0">
                <a:solidFill>
                  <a:srgbClr val="1B2436"/>
                </a:solidFill>
                <a:latin typeface="Calibri" pitchFamily="34" charset="0"/>
                <a:ea typeface="Calibri" pitchFamily="34" charset="-122"/>
                <a:cs typeface="Calibri" pitchFamily="34" charset="-120"/>
              </a:rPr>
              <a:t>375–600</a:t>
            </a:r>
            <a:pPr indent="0" marL="0">
              <a:buNone/>
            </a:pPr>
            <a:r>
              <a:rPr lang="en-US" sz="1050" dirty="0">
                <a:solidFill>
                  <a:srgbClr val="1B2436"/>
                </a:solidFill>
                <a:latin typeface="Calibri" pitchFamily="34" charset="0"/>
                <a:ea typeface="Calibri" pitchFamily="34" charset="-122"/>
                <a:cs typeface="Calibri" pitchFamily="34" charset="-120"/>
              </a:rPr>
              <a:t>.
</a:t>
            </a:r>
            <a:pPr indent="0" marL="0">
              <a:buNone/>
            </a:pPr>
            <a:r>
              <a:rPr lang="en-US" sz="1050" dirty="0">
                <a:solidFill>
                  <a:srgbClr val="1B2436"/>
                </a:solidFill>
                <a:latin typeface="Calibri" pitchFamily="34" charset="0"/>
                <a:ea typeface="Calibri" pitchFamily="34" charset="-122"/>
                <a:cs typeface="Calibri" pitchFamily="34" charset="-120"/>
              </a:rPr>
              <a:t>Because rows are selected oldest-first, the symptom would be the newest bars arriving late or never — not a crash, and no data loss.</a:t>
            </a:r>
            <a:endParaRPr lang="en-US" sz="1050" dirty="0"/>
          </a:p>
        </p:txBody>
      </p:sp>
      <p:sp>
        <p:nvSpPr>
          <p:cNvPr id="14" name="Shape 12"/>
          <p:cNvSpPr/>
          <p:nvPr/>
        </p:nvSpPr>
        <p:spPr>
          <a:xfrm>
            <a:off x="704088" y="5440680"/>
            <a:ext cx="5029200" cy="329184"/>
          </a:xfrm>
          <a:prstGeom prst="roundRect">
            <a:avLst>
              <a:gd name="adj" fmla="val 50000"/>
            </a:avLst>
          </a:prstGeom>
          <a:solidFill>
            <a:srgbClr val="EEF1F7"/>
          </a:solidFill>
          <a:ln/>
        </p:spPr>
      </p:sp>
      <p:sp>
        <p:nvSpPr>
          <p:cNvPr id="15" name="Text 13"/>
          <p:cNvSpPr txBox="1"/>
          <p:nvPr/>
        </p:nvSpPr>
        <p:spPr>
          <a:xfrm>
            <a:off x="704088" y="5440680"/>
            <a:ext cx="5029200" cy="329184"/>
          </a:xfrm>
          <a:prstGeom prst="rect">
            <a:avLst/>
          </a:prstGeom>
          <a:noFill/>
          <a:ln/>
        </p:spPr>
        <p:txBody>
          <a:bodyPr wrap="square" lIns="0" tIns="0" rIns="0" bIns="0" rtlCol="0" anchor="ctr"/>
          <a:lstStyle/>
          <a:p>
            <a:pPr algn="ctr" indent="0" marL="0">
              <a:buNone/>
            </a:pPr>
            <a:r>
              <a:rPr lang="en-US" sz="900" b="1" dirty="0">
                <a:solidFill>
                  <a:srgbClr val="44577E"/>
                </a:solidFill>
                <a:latin typeface="Calibri" pitchFamily="34" charset="0"/>
                <a:ea typeface="Calibri" pitchFamily="34" charset="-122"/>
                <a:cs typeface="Calibri" pitchFamily="34" charset="-120"/>
              </a:rPr>
              <a:t>ARITHMETIC ONLY — NEVER OBSERVED IN PRODUCTION</a:t>
            </a:r>
            <a:endParaRPr lang="en-US" sz="900" dirty="0"/>
          </a:p>
        </p:txBody>
      </p:sp>
      <p:sp>
        <p:nvSpPr>
          <p:cNvPr id="16" name="Shape 14"/>
          <p:cNvSpPr/>
          <p:nvPr/>
        </p:nvSpPr>
        <p:spPr>
          <a:xfrm>
            <a:off x="6254496" y="1783080"/>
            <a:ext cx="5431536" cy="4160520"/>
          </a:xfrm>
          <a:prstGeom prst="roundRect">
            <a:avLst>
              <a:gd name="adj" fmla="val 1319"/>
            </a:avLst>
          </a:prstGeom>
          <a:solidFill>
            <a:srgbClr val="FFFFFF"/>
          </a:solidFill>
          <a:ln w="12700">
            <a:solidFill>
              <a:srgbClr val="DCE3EF"/>
            </a:solidFill>
            <a:prstDash val="solid"/>
          </a:ln>
          <a:effectLst>
            <a:outerShdw sx="100000" sy="100000" kx="0" ky="0" algn="bl" rotWithShape="0" blurRad="76200" dist="25400" dir="5400000">
              <a:srgbClr val="1B2436">
                <a:alpha val="18000"/>
              </a:srgbClr>
            </a:outerShdw>
          </a:effectLst>
        </p:spPr>
      </p:sp>
      <p:sp>
        <p:nvSpPr>
          <p:cNvPr id="17" name="Text 15"/>
          <p:cNvSpPr txBox="1"/>
          <p:nvPr/>
        </p:nvSpPr>
        <p:spPr>
          <a:xfrm>
            <a:off x="6455664" y="1947672"/>
            <a:ext cx="365760" cy="320040"/>
          </a:xfrm>
          <a:prstGeom prst="rect">
            <a:avLst/>
          </a:prstGeom>
          <a:noFill/>
          <a:ln/>
        </p:spPr>
        <p:txBody>
          <a:bodyPr wrap="square" lIns="0" tIns="0" rIns="0" bIns="0" rtlCol="0" anchor="ctr"/>
          <a:lstStyle/>
          <a:p>
            <a:pPr indent="0" marL="0">
              <a:buNone/>
            </a:pPr>
            <a:r>
              <a:rPr lang="en-US" sz="1600" b="1" dirty="0">
                <a:solidFill>
                  <a:srgbClr val="C1922C"/>
                </a:solidFill>
                <a:latin typeface="Cambria" pitchFamily="34" charset="0"/>
                <a:ea typeface="Cambria" pitchFamily="34" charset="-122"/>
                <a:cs typeface="Cambria" pitchFamily="34" charset="-120"/>
              </a:rPr>
              <a:t>b.</a:t>
            </a:r>
            <a:endParaRPr lang="en-US" sz="1600" dirty="0"/>
          </a:p>
        </p:txBody>
      </p:sp>
      <p:sp>
        <p:nvSpPr>
          <p:cNvPr id="18" name="Text 16"/>
          <p:cNvSpPr txBox="1"/>
          <p:nvPr/>
        </p:nvSpPr>
        <p:spPr>
          <a:xfrm>
            <a:off x="6757416" y="1947672"/>
            <a:ext cx="4700016" cy="502920"/>
          </a:xfrm>
          <a:prstGeom prst="rect">
            <a:avLst/>
          </a:prstGeom>
          <a:noFill/>
          <a:ln/>
        </p:spPr>
        <p:txBody>
          <a:bodyPr wrap="square" lIns="0" tIns="0" rIns="0" bIns="0" rtlCol="0" anchor="ctr"/>
          <a:lstStyle/>
          <a:p>
            <a:pPr indent="0" marL="0">
              <a:buNone/>
            </a:pPr>
            <a:r>
              <a:rPr lang="en-US" sz="1350" b="1" dirty="0">
                <a:solidFill>
                  <a:srgbClr val="12213E"/>
                </a:solidFill>
                <a:latin typeface="Cambria" pitchFamily="34" charset="0"/>
                <a:ea typeface="Cambria" pitchFamily="34" charset="-122"/>
                <a:cs typeface="Cambria" pitchFamily="34" charset="-120"/>
              </a:rPr>
              <a:t>Historical values are not point-in-time (look-ahead bias)</a:t>
            </a:r>
            <a:endParaRPr lang="en-US" sz="1350" dirty="0"/>
          </a:p>
        </p:txBody>
      </p:sp>
      <p:sp>
        <p:nvSpPr>
          <p:cNvPr id="19" name="Text 17"/>
          <p:cNvSpPr txBox="1"/>
          <p:nvPr/>
        </p:nvSpPr>
        <p:spPr>
          <a:xfrm>
            <a:off x="6455664" y="2404872"/>
            <a:ext cx="5029200" cy="228600"/>
          </a:xfrm>
          <a:prstGeom prst="rect">
            <a:avLst/>
          </a:prstGeom>
          <a:noFill/>
          <a:ln/>
        </p:spPr>
        <p:txBody>
          <a:bodyPr wrap="square" lIns="0" tIns="0" rIns="0" bIns="0" rtlCol="0" anchor="ctr"/>
          <a:lstStyle/>
          <a:p>
            <a:pPr indent="0" marL="0">
              <a:buNone/>
            </a:pPr>
            <a:r>
              <a:rPr lang="en-US" sz="850" dirty="0">
                <a:solidFill>
                  <a:srgbClr val="63708C"/>
                </a:solidFill>
                <a:latin typeface="Courier New" pitchFamily="34" charset="0"/>
                <a:ea typeface="Courier New" pitchFamily="34" charset="-122"/>
                <a:cs typeface="Courier New" pitchFamily="34" charset="-120"/>
              </a:rPr>
              <a:t>HISTORICAL-VALUES-LOOK-AHEAD-BIAS-OPEN-ISSUE.md</a:t>
            </a:r>
            <a:endParaRPr lang="en-US" sz="850" dirty="0"/>
          </a:p>
        </p:txBody>
      </p:sp>
      <p:sp>
        <p:nvSpPr>
          <p:cNvPr id="20" name="Text 18"/>
          <p:cNvSpPr txBox="1"/>
          <p:nvPr/>
        </p:nvSpPr>
        <p:spPr>
          <a:xfrm>
            <a:off x="6455664" y="2697480"/>
            <a:ext cx="5029200" cy="1371600"/>
          </a:xfrm>
          <a:prstGeom prst="rect">
            <a:avLst/>
          </a:prstGeom>
          <a:noFill/>
          <a:ln/>
        </p:spPr>
        <p:txBody>
          <a:bodyPr wrap="square" lIns="0" tIns="0" rIns="0" bIns="0" rtlCol="0" anchor="ctr"/>
          <a:lstStyle/>
          <a:p>
            <a:pPr indent="0" marL="0">
              <a:buNone/>
            </a:pPr>
            <a:r>
              <a:rPr lang="en-US" sz="1000" dirty="0">
                <a:solidFill>
                  <a:srgbClr val="1B2436"/>
                </a:solidFill>
                <a:latin typeface="Calibri" pitchFamily="34" charset="0"/>
                <a:ea typeface="Calibri" pitchFamily="34" charset="-122"/>
                <a:cs typeface="Calibri" pitchFamily="34" charset="-120"/>
              </a:rPr>
              <a:t>The centroid/SSA fitting window re-anchors to the live bar on every pass, so a bar's row is refitted for ~3000 bars before it freezes. The stored value for bar T was computed using price action from up to </a:t>
            </a:r>
            <a:pPr indent="0" marL="0">
              <a:buNone/>
            </a:pPr>
            <a:r>
              <a:rPr lang="en-US" sz="1000" b="1" dirty="0">
                <a:solidFill>
                  <a:srgbClr val="AD3B3B"/>
                </a:solidFill>
                <a:latin typeface="Calibri" pitchFamily="34" charset="0"/>
                <a:ea typeface="Calibri" pitchFamily="34" charset="-122"/>
                <a:cs typeface="Calibri" pitchFamily="34" charset="-120"/>
              </a:rPr>
              <a:t>~2 weeks after T</a:t>
            </a:r>
            <a:pPr indent="0" marL="0">
              <a:buNone/>
            </a:pPr>
            <a:r>
              <a:rPr lang="en-US" sz="1000" dirty="0">
                <a:solidFill>
                  <a:srgbClr val="1B2436"/>
                </a:solidFill>
                <a:latin typeface="Calibri" pitchFamily="34" charset="0"/>
                <a:ea typeface="Calibri" pitchFamily="34" charset="-122"/>
                <a:cs typeface="Calibri" pitchFamily="34" charset="-120"/>
              </a:rPr>
              <a:t>.
</a:t>
            </a:r>
            <a:pPr indent="0" marL="0">
              <a:buNone/>
            </a:pPr>
            <a:r>
              <a:rPr lang="en-US" sz="1000" b="1" dirty="0">
                <a:solidFill>
                  <a:srgbClr val="3E7C59"/>
                </a:solidFill>
                <a:latin typeface="Calibri" pitchFamily="34" charset="0"/>
                <a:ea typeface="Calibri" pitchFamily="34" charset="-122"/>
                <a:cs typeface="Calibri" pitchFamily="34" charset="-120"/>
              </a:rPr>
              <a:t>Harmless for live alerting/charts</a:t>
            </a:r>
            <a:pPr indent="0" marL="0">
              <a:buNone/>
            </a:pPr>
            <a:r>
              <a:rPr lang="en-US" sz="1000" dirty="0">
                <a:solidFill>
                  <a:srgbClr val="1B2436"/>
                </a:solidFill>
                <a:latin typeface="Calibri" pitchFamily="34" charset="0"/>
                <a:ea typeface="Calibri" pitchFamily="34" charset="-122"/>
                <a:cs typeface="Calibri" pitchFamily="34" charset="-120"/>
              </a:rPr>
              <a:t> (they want the newest fit). </a:t>
            </a:r>
            <a:pPr indent="0" marL="0">
              <a:buNone/>
            </a:pPr>
            <a:r>
              <a:rPr lang="en-US" sz="1000" b="1" dirty="0">
                <a:solidFill>
                  <a:srgbClr val="AD3B3B"/>
                </a:solidFill>
                <a:latin typeface="Calibri" pitchFamily="34" charset="0"/>
                <a:ea typeface="Calibri" pitchFamily="34" charset="-122"/>
                <a:cs typeface="Calibri" pitchFamily="34" charset="-120"/>
              </a:rPr>
              <a:t>Invalid for backtesting, walk-forward or fitness scoring.</a:t>
            </a:r>
            <a:pPr indent="0" marL="0">
              <a:buNone/>
            </a:pPr>
            <a:r>
              <a:rPr lang="en-US" sz="1000" dirty="0">
                <a:solidFill>
                  <a:srgbClr val="1B2436"/>
                </a:solidFill>
                <a:latin typeface="Calibri" pitchFamily="34" charset="0"/>
                <a:ea typeface="Calibri" pitchFamily="34" charset="-122"/>
                <a:cs typeface="Calibri" pitchFamily="34" charset="-120"/>
              </a:rPr>
              <a:t>  ~56 of 83 fields drift; OHLCV and the z-score triple are genuinely causal and safe.</a:t>
            </a:r>
            <a:endParaRPr lang="en-US" sz="1000" dirty="0"/>
          </a:p>
        </p:txBody>
      </p:sp>
      <p:sp>
        <p:nvSpPr>
          <p:cNvPr id="21" name="Shape 19"/>
          <p:cNvSpPr/>
          <p:nvPr/>
        </p:nvSpPr>
        <p:spPr>
          <a:xfrm>
            <a:off x="6455664" y="4114800"/>
            <a:ext cx="5029200" cy="1234440"/>
          </a:xfrm>
          <a:prstGeom prst="roundRect">
            <a:avLst>
              <a:gd name="adj" fmla="val 4444"/>
            </a:avLst>
          </a:prstGeom>
          <a:solidFill>
            <a:srgbClr val="E7CE96"/>
          </a:solidFill>
          <a:ln w="12700">
            <a:solidFill>
              <a:srgbClr val="DCE3EF"/>
            </a:solidFill>
            <a:prstDash val="solid"/>
          </a:ln>
        </p:spPr>
      </p:sp>
      <p:sp>
        <p:nvSpPr>
          <p:cNvPr id="22" name="Text 20"/>
          <p:cNvSpPr txBox="1"/>
          <p:nvPr/>
        </p:nvSpPr>
        <p:spPr>
          <a:xfrm>
            <a:off x="6620256" y="4206240"/>
            <a:ext cx="4700016" cy="1051560"/>
          </a:xfrm>
          <a:prstGeom prst="rect">
            <a:avLst/>
          </a:prstGeom>
          <a:noFill/>
          <a:ln/>
        </p:spPr>
        <p:txBody>
          <a:bodyPr wrap="square" lIns="0" tIns="0" rIns="0" bIns="0" rtlCol="0" anchor="ctr"/>
          <a:lstStyle/>
          <a:p>
            <a:pPr indent="0" marL="0">
              <a:buNone/>
            </a:pPr>
            <a:r>
              <a:rPr lang="en-US" sz="900" b="1" dirty="0">
                <a:solidFill>
                  <a:srgbClr val="12213E"/>
                </a:solidFill>
                <a:latin typeface="Calibri" pitchFamily="34" charset="0"/>
                <a:ea typeface="Calibri" pitchFamily="34" charset="-122"/>
                <a:cs typeface="Calibri" pitchFamily="34" charset="-120"/>
              </a:rPr>
              <a:t>Partially addressed as of 2026-09-09, not solved:  </a:t>
            </a:r>
            <a:pPr indent="0" marL="0">
              <a:buNone/>
            </a:pPr>
            <a:r>
              <a:rPr lang="en-US" sz="900" dirty="0">
                <a:solidFill>
                  <a:srgbClr val="1B2436"/>
                </a:solidFill>
                <a:latin typeface="Calibri" pitchFamily="34" charset="0"/>
                <a:ea typeface="Calibri" pitchFamily="34" charset="-122"/>
                <a:cs typeface="Calibri" pitchFamily="34" charset="-120"/>
              </a:rPr>
              <a:t>the new append-only table is immune to this by construction — each row is stamped with when it was observed and never overwritten, so the statistics series is point-in-time honest from now on. That does </a:t>
            </a:r>
            <a:pPr indent="0" marL="0">
              <a:buNone/>
            </a:pPr>
            <a:r>
              <a:rPr lang="en-US" sz="900" b="1" i="1" dirty="0">
                <a:solidFill>
                  <a:srgbClr val="AD3B3B"/>
                </a:solidFill>
                <a:latin typeface="Calibri" pitchFamily="34" charset="0"/>
                <a:ea typeface="Calibri" pitchFamily="34" charset="-122"/>
                <a:cs typeface="Calibri" pitchFamily="34" charset="-120"/>
              </a:rPr>
              <a:t>not</a:t>
            </a:r>
            <a:pPr indent="0" marL="0">
              <a:buNone/>
            </a:pPr>
            <a:r>
              <a:rPr lang="en-US" sz="900" dirty="0">
                <a:solidFill>
                  <a:srgbClr val="1B2436"/>
                </a:solidFill>
                <a:latin typeface="Calibri" pitchFamily="34" charset="0"/>
                <a:ea typeface="Calibri" pitchFamily="34" charset="-122"/>
                <a:cs typeface="Calibri" pitchFamily="34" charset="-120"/>
              </a:rPr>
              <a:t> retroactively fix market_data_v6 or the price/level columns. It does mean the drift is now directly measurable, by comparing rows at different captured_at values.</a:t>
            </a:r>
            <a:endParaRPr lang="en-US" sz="900" dirty="0"/>
          </a:p>
        </p:txBody>
      </p:sp>
      <p:sp>
        <p:nvSpPr>
          <p:cNvPr id="23" name="Shape 21"/>
          <p:cNvSpPr/>
          <p:nvPr/>
        </p:nvSpPr>
        <p:spPr>
          <a:xfrm>
            <a:off x="6455664" y="5440680"/>
            <a:ext cx="5029200" cy="329184"/>
          </a:xfrm>
          <a:prstGeom prst="roundRect">
            <a:avLst>
              <a:gd name="adj" fmla="val 50000"/>
            </a:avLst>
          </a:prstGeom>
          <a:solidFill>
            <a:srgbClr val="EEF1F7"/>
          </a:solidFill>
          <a:ln/>
        </p:spPr>
      </p:sp>
      <p:sp>
        <p:nvSpPr>
          <p:cNvPr id="24" name="Text 22"/>
          <p:cNvSpPr txBox="1"/>
          <p:nvPr/>
        </p:nvSpPr>
        <p:spPr>
          <a:xfrm>
            <a:off x="6455664" y="5440680"/>
            <a:ext cx="5029200" cy="329184"/>
          </a:xfrm>
          <a:prstGeom prst="rect">
            <a:avLst/>
          </a:prstGeom>
          <a:noFill/>
          <a:ln/>
        </p:spPr>
        <p:txBody>
          <a:bodyPr wrap="square" lIns="0" tIns="0" rIns="0" bIns="0" rtlCol="0" anchor="ctr"/>
          <a:lstStyle/>
          <a:p>
            <a:pPr algn="ctr" indent="0" marL="0">
              <a:buNone/>
            </a:pPr>
            <a:r>
              <a:rPr lang="en-US" sz="900" b="1" dirty="0">
                <a:solidFill>
                  <a:srgbClr val="44577E"/>
                </a:solidFill>
                <a:latin typeface="Calibri" pitchFamily="34" charset="0"/>
                <a:ea typeface="Calibri" pitchFamily="34" charset="-122"/>
                <a:cs typeface="Calibri" pitchFamily="34" charset="-120"/>
              </a:rPr>
              <a:t>MECHANISM VERIFIED — MAGNITUDE NEVER MEASURED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13E"/>
        </a:solidFill>
      </p:bgPr>
    </p:bg>
    <p:spTree>
      <p:nvGrpSpPr>
        <p:cNvPr id="1" name=""/>
        <p:cNvGrpSpPr/>
        <p:nvPr/>
      </p:nvGrpSpPr>
      <p:grpSpPr>
        <a:xfrm>
          <a:off x="0" y="0"/>
          <a:ext cx="0" cy="0"/>
          <a:chOff x="0" y="0"/>
          <a:chExt cx="0" cy="0"/>
        </a:xfrm>
      </p:grpSpPr>
      <p:sp>
        <p:nvSpPr>
          <p:cNvPr id="2" name="Shape 0"/>
          <p:cNvSpPr/>
          <p:nvPr/>
        </p:nvSpPr>
        <p:spPr>
          <a:xfrm>
            <a:off x="502920" y="438912"/>
            <a:ext cx="530352" cy="530352"/>
          </a:xfrm>
          <a:prstGeom prst="ellipse">
            <a:avLst/>
          </a:prstGeom>
          <a:solidFill>
            <a:srgbClr val="C1922C"/>
          </a:solidFill>
          <a:ln/>
        </p:spPr>
      </p:sp>
      <p:sp>
        <p:nvSpPr>
          <p:cNvPr id="3" name="Text 1"/>
          <p:cNvSpPr txBox="1"/>
          <p:nvPr/>
        </p:nvSpPr>
        <p:spPr>
          <a:xfrm>
            <a:off x="502920" y="438912"/>
            <a:ext cx="530352" cy="530352"/>
          </a:xfrm>
          <a:prstGeom prst="rect">
            <a:avLst/>
          </a:prstGeom>
          <a:noFill/>
          <a:ln/>
        </p:spPr>
        <p:txBody>
          <a:bodyPr wrap="square" lIns="0" tIns="0" rIns="0" bIns="0" rtlCol="0" anchor="ctr"/>
          <a:lstStyle/>
          <a:p>
            <a:pPr algn="ctr" indent="0" marL="0">
              <a:buNone/>
            </a:pPr>
            <a:r>
              <a:rPr lang="en-US" sz="1800" b="1" dirty="0">
                <a:solidFill>
                  <a:srgbClr val="12213E"/>
                </a:solidFill>
                <a:latin typeface="Cambria" pitchFamily="34" charset="0"/>
                <a:ea typeface="Cambria" pitchFamily="34" charset="-122"/>
                <a:cs typeface="Cambria" pitchFamily="34" charset="-120"/>
              </a:rPr>
              <a:t>12</a:t>
            </a:r>
            <a:endParaRPr lang="en-US" sz="1800" dirty="0"/>
          </a:p>
        </p:txBody>
      </p:sp>
      <p:sp>
        <p:nvSpPr>
          <p:cNvPr id="4" name="Text 2"/>
          <p:cNvSpPr txBox="1"/>
          <p:nvPr/>
        </p:nvSpPr>
        <p:spPr>
          <a:xfrm>
            <a:off x="1179576" y="438912"/>
            <a:ext cx="5486400" cy="237744"/>
          </a:xfrm>
          <a:prstGeom prst="rect">
            <a:avLst/>
          </a:prstGeom>
          <a:noFill/>
          <a:ln/>
        </p:spPr>
        <p:txBody>
          <a:bodyPr wrap="square" lIns="0" tIns="0" rIns="0" bIns="0" rtlCol="0" anchor="ctr"/>
          <a:lstStyle/>
          <a:p>
            <a:pPr indent="0" marL="0">
              <a:buNone/>
            </a:pPr>
            <a:r>
              <a:rPr lang="en-US" sz="1050" b="1" spc="200" kern="0" dirty="0">
                <a:solidFill>
                  <a:srgbClr val="C1922C"/>
                </a:solidFill>
                <a:latin typeface="Calibri" pitchFamily="34" charset="0"/>
                <a:ea typeface="Calibri" pitchFamily="34" charset="-122"/>
                <a:cs typeface="Calibri" pitchFamily="34" charset="-120"/>
              </a:rPr>
              <a:t>CLOSING</a:t>
            </a:r>
            <a:endParaRPr lang="en-US" sz="1050" dirty="0"/>
          </a:p>
        </p:txBody>
      </p:sp>
      <p:sp>
        <p:nvSpPr>
          <p:cNvPr id="5" name="Text 3"/>
          <p:cNvSpPr txBox="1"/>
          <p:nvPr/>
        </p:nvSpPr>
        <p:spPr>
          <a:xfrm>
            <a:off x="1179576" y="658368"/>
            <a:ext cx="731520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Action Items</a:t>
            </a:r>
            <a:endParaRPr lang="en-US" sz="2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11183112" cy="4617720"/>
        </p:xfrm>
        <a:graphic>
          <a:graphicData uri="http://schemas.openxmlformats.org/drawingml/2006/table">
            <a:tbl>
              <a:tblPr/>
              <a:tblGrid>
                <a:gridCol w="457200"/>
                <a:gridCol w="7616952"/>
                <a:gridCol w="1463040"/>
                <a:gridCol w="1645920"/>
              </a:tblGrid>
              <a:tr h="292608">
                <a:tc>
                  <a:txBody>
                    <a:bodyPr/>
                    <a:lstStyle/>
                    <a:p>
                      <a:pPr algn="ctr" indent="0" marL="0">
                        <a:buNone/>
                      </a:pPr>
                      <a:r>
                        <a:rPr lang="en-US" sz="1000" b="1" dirty="0">
                          <a:solidFill>
                            <a:srgbClr val="12213E"/>
                          </a:solidFill>
                        </a:rPr>
                        <a:t>#</a:t>
                      </a:r>
                      <a:endParaRPr lang="en-US" sz="1000" dirty="0"/>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E7CE96"/>
                    </a:solidFill>
                  </a:tcPr>
                </a:tc>
                <a:tc>
                  <a:txBody>
                    <a:bodyPr/>
                    <a:lstStyle/>
                    <a:p>
                      <a:pPr algn="l" indent="0" marL="0">
                        <a:buNone/>
                      </a:pPr>
                      <a:r>
                        <a:rPr lang="en-US" sz="1000" b="1" dirty="0">
                          <a:solidFill>
                            <a:srgbClr val="12213E"/>
                          </a:solidFill>
                        </a:rPr>
                        <a:t>Action</a:t>
                      </a:r>
                      <a:endParaRPr lang="en-US" sz="1000" dirty="0"/>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E7CE96"/>
                    </a:solidFill>
                  </a:tcPr>
                </a:tc>
                <a:tc>
                  <a:txBody>
                    <a:bodyPr/>
                    <a:lstStyle/>
                    <a:p>
                      <a:pPr algn="l" indent="0" marL="0">
                        <a:buNone/>
                      </a:pPr>
                      <a:r>
                        <a:rPr lang="en-US" sz="1000" b="1" dirty="0">
                          <a:solidFill>
                            <a:srgbClr val="12213E"/>
                          </a:solidFill>
                        </a:rPr>
                        <a:t>Owner</a:t>
                      </a:r>
                      <a:endParaRPr lang="en-US" sz="1000" dirty="0"/>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E7CE96"/>
                    </a:solidFill>
                  </a:tcPr>
                </a:tc>
                <a:tc>
                  <a:txBody>
                    <a:bodyPr/>
                    <a:lstStyle/>
                    <a:p>
                      <a:pPr algn="ctr" indent="0" marL="0">
                        <a:buNone/>
                      </a:pPr>
                      <a:r>
                        <a:rPr lang="en-US" sz="1000" b="1" dirty="0">
                          <a:solidFill>
                            <a:srgbClr val="12213E"/>
                          </a:solidFill>
                        </a:rPr>
                        <a:t>Blocking?</a:t>
                      </a:r>
                      <a:endParaRPr lang="en-US" sz="1000" dirty="0"/>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E7CE96"/>
                    </a:solidFill>
                  </a:tcPr>
                </a:tc>
              </a:tr>
              <a:tr h="45720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Recompile the 10 statistic-emitting indicators and redeploy all 13 .ex5 to the VPS — see the traps on the next slide</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Davin</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c>
                  <a:txBody>
                    <a:bodyPr/>
                    <a:lstStyle/>
                    <a:p>
                      <a:pPr algn="ctr" indent="0" marL="0">
                        <a:buNone/>
                      </a:pPr>
                      <a:r>
                        <a:rPr lang="en-US" sz="900" b="1" dirty="0">
                          <a:solidFill>
                            <a:srgbClr val="AD3B3B"/>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r>
              <a:tr h="84124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Deploy the updated collector + schema, restart MT5Collector. migrate_raw_tables() widens xauusd.db automatically (market_data untouched); same restart creates the statistics outbox</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Davin</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c>
                  <a:txBody>
                    <a:bodyPr/>
                    <a:lstStyle/>
                    <a:p>
                      <a:pPr algn="ctr" indent="0" marL="0">
                        <a:buNone/>
                      </a:pPr>
                      <a:r>
                        <a:rPr lang="en-US" sz="900" b="1" dirty="0">
                          <a:solidFill>
                            <a:srgbClr val="AD3B3B"/>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r>
              <a:tr h="621792">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Confirm a real green end-to-end cycle — both lanes: price rows in market_data_v6, statistics rows in indicator_statistics</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Davin</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c>
                  <a:txBody>
                    <a:bodyPr/>
                    <a:lstStyle/>
                    <a:p>
                      <a:pPr algn="ctr" indent="0" marL="0">
                        <a:buNone/>
                      </a:pPr>
                      <a:r>
                        <a:rPr lang="en-US" sz="900" b="1" dirty="0">
                          <a:solidFill>
                            <a:srgbClr val="AD3B3B"/>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C3159"/>
                    </a:solidFill>
                  </a:tcPr>
                </a:tc>
              </a:tr>
              <a:tr h="65836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2E2411"/>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 Apply the indicator_statistics migration to the PRODUCTION database — it ran 2026-09-09 against the wrong DB (see next slide)</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2E2411"/>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Davin</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2E2411"/>
                    </a:solidFill>
                  </a:tcPr>
                </a:tc>
                <a:tc>
                  <a:txBody>
                    <a:bodyPr/>
                    <a:lstStyle/>
                    <a:p>
                      <a:pPr algn="ctr" indent="0" marL="0">
                        <a:buNone/>
                      </a:pPr>
                      <a:r>
                        <a:rPr lang="en-US" sz="900" b="1" dirty="0">
                          <a:solidFill>
                            <a:srgbClr val="E7CE96"/>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2E2411"/>
                    </a:solidFill>
                  </a:tcPr>
                </a:tc>
              </a:tr>
              <a:tr h="36576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Measure push-worker throughput (§10a)</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c>
                  <a:txBody>
                    <a:bodyPr/>
                    <a:lstStyle/>
                    <a:p>
                      <a:pPr algn="ctr" indent="0" marL="0">
                        <a:buNone/>
                      </a:pPr>
                      <a:r>
                        <a:rPr lang="en-US" sz="900" dirty="0">
                          <a:solidFill>
                            <a:srgbClr val="AAB6D4"/>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r>
              <a:tr h="45720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Measure historical drift magnitude (§10b) — now measurable directly from the statistics series</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c>
                  <a:txBody>
                    <a:bodyPr/>
                    <a:lstStyle/>
                    <a:p>
                      <a:pPr algn="ctr" indent="0" marL="0">
                        <a:buNone/>
                      </a:pPr>
                      <a:r>
                        <a:rPr lang="en-US" sz="900" dirty="0">
                          <a:solidFill>
                            <a:srgbClr val="AAB6D4"/>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r>
              <a:tr h="65836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Decide Decision Layer direction: revive the calc stack for param_search, or redesign around admin-fixed values. fitness_scorer is unblocked either way</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c>
                  <a:txBody>
                    <a:bodyPr/>
                    <a:lstStyle/>
                    <a:p>
                      <a:pPr algn="l" indent="0" marL="0">
                        <a:buNone/>
                      </a:pPr>
                      <a:r>
                        <a:rPr lang="en-US" sz="900" dirty="0">
                          <a:solidFill>
                            <a:srgbClr val="FFFFFF"/>
                          </a:solidFill>
                          <a:latin typeface="Calibri" pitchFamily="34" charset="0"/>
                          <a:ea typeface="Calibri" pitchFamily="34" charset="-122"/>
                          <a:cs typeface="Calibri" pitchFamily="34" charset="-120"/>
                        </a:rPr>
                        <a:t>Davin</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c>
                  <a:txBody>
                    <a:bodyPr/>
                    <a:lstStyle/>
                    <a:p>
                      <a:pPr algn="ctr" indent="0" marL="0">
                        <a:buNone/>
                      </a:pPr>
                      <a:r>
                        <a:rPr lang="en-US" sz="900" dirty="0">
                          <a:solidFill>
                            <a:srgbClr val="AAB6D4"/>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88900" marR="88900" marT="38100" marB="38100" anchor="ctr">
                    <a:lnL w="6350" cap="flat" cmpd="sng" algn="ctr">
                      <a:solidFill>
                        <a:srgbClr val="44577E"/>
                      </a:solidFill>
                      <a:prstDash val="solid"/>
                      <a:round/>
                      <a:headEnd type="none" w="med" len="med"/>
                      <a:tailEnd type="none" w="med" len="med"/>
                    </a:lnL>
                    <a:lnR w="6350" cap="flat" cmpd="sng" algn="ctr">
                      <a:solidFill>
                        <a:srgbClr val="44577E"/>
                      </a:solidFill>
                      <a:prstDash val="solid"/>
                      <a:round/>
                      <a:headEnd type="none" w="med" len="med"/>
                      <a:tailEnd type="none" w="med" len="med"/>
                    </a:lnR>
                    <a:lnT w="6350" cap="flat" cmpd="sng" algn="ctr">
                      <a:solidFill>
                        <a:srgbClr val="44577E"/>
                      </a:solidFill>
                      <a:prstDash val="solid"/>
                      <a:round/>
                      <a:headEnd type="none" w="med" len="med"/>
                      <a:tailEnd type="none" w="med" len="med"/>
                    </a:lnT>
                    <a:lnB w="6350" cap="flat" cmpd="sng" algn="ctr">
                      <a:solidFill>
                        <a:srgbClr val="44577E"/>
                      </a:solidFill>
                      <a:prstDash val="solid"/>
                      <a:round/>
                      <a:headEnd type="none" w="med" len="med"/>
                      <a:tailEnd type="none" w="med" len="med"/>
                    </a:lnB>
                    <a:solidFill>
                      <a:srgbClr val="12213E"/>
                    </a:solidFill>
                  </a:tcPr>
                </a:tc>
              </a:tr>
            </a:tbl>
          </a:graphicData>
        </a:graphic>
      </p:graphicFrame>
      <p:sp>
        <p:nvSpPr>
          <p:cNvPr id="7" name="Text 4"/>
          <p:cNvSpPr txBox="1"/>
          <p:nvPr/>
        </p:nvSpPr>
        <p:spPr>
          <a:xfrm>
            <a:off x="502920" y="6492240"/>
            <a:ext cx="8229600" cy="256032"/>
          </a:xfrm>
          <a:prstGeom prst="rect">
            <a:avLst/>
          </a:prstGeom>
          <a:noFill/>
          <a:ln/>
        </p:spPr>
        <p:txBody>
          <a:bodyPr wrap="square" lIns="0" tIns="0" rIns="0" bIns="0" rtlCol="0" anchor="ctr"/>
          <a:lstStyle/>
          <a:p>
            <a:pPr indent="0" marL="0">
              <a:buNone/>
            </a:pPr>
            <a:r>
              <a:rPr lang="en-US" sz="850" dirty="0">
                <a:solidFill>
                  <a:srgbClr val="AAB6D4"/>
                </a:solidFill>
                <a:latin typeface="Calibri" pitchFamily="34" charset="0"/>
                <a:ea typeface="Calibri" pitchFamily="34" charset="-122"/>
                <a:cs typeface="Calibri" pitchFamily="34" charset="-120"/>
              </a:rPr>
              <a:t>XAUUSD  ·  M5 &amp; M15   |   V2.29 Data Pipeline — Updated Architecture Summary</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13E"/>
        </a:solidFill>
      </p:bgPr>
    </p:bg>
    <p:spTree>
      <p:nvGrpSpPr>
        <p:cNvPr id="1" name=""/>
        <p:cNvGrpSpPr/>
        <p:nvPr/>
      </p:nvGrpSpPr>
      <p:grpSpPr>
        <a:xfrm>
          <a:off x="0" y="0"/>
          <a:ext cx="0" cy="0"/>
          <a:chOff x="0" y="0"/>
          <a:chExt cx="0" cy="0"/>
        </a:xfrm>
      </p:grpSpPr>
      <p:sp>
        <p:nvSpPr>
          <p:cNvPr id="2" name="Shape 0"/>
          <p:cNvSpPr/>
          <p:nvPr/>
        </p:nvSpPr>
        <p:spPr>
          <a:xfrm>
            <a:off x="502920" y="438912"/>
            <a:ext cx="530352" cy="530352"/>
          </a:xfrm>
          <a:prstGeom prst="ellipse">
            <a:avLst/>
          </a:prstGeom>
          <a:solidFill>
            <a:srgbClr val="AD3B3B"/>
          </a:solidFill>
          <a:ln/>
        </p:spPr>
      </p:sp>
      <p:sp>
        <p:nvSpPr>
          <p:cNvPr id="3" name="Text 1"/>
          <p:cNvSpPr txBox="1"/>
          <p:nvPr/>
        </p:nvSpPr>
        <p:spPr>
          <a:xfrm>
            <a:off x="502920" y="43891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13</a:t>
            </a:r>
            <a:endParaRPr lang="en-US" sz="1800" dirty="0"/>
          </a:p>
        </p:txBody>
      </p:sp>
      <p:sp>
        <p:nvSpPr>
          <p:cNvPr id="4" name="Text 2"/>
          <p:cNvSpPr txBox="1"/>
          <p:nvPr/>
        </p:nvSpPr>
        <p:spPr>
          <a:xfrm>
            <a:off x="1179576" y="438912"/>
            <a:ext cx="7315200" cy="237744"/>
          </a:xfrm>
          <a:prstGeom prst="rect">
            <a:avLst/>
          </a:prstGeom>
          <a:noFill/>
          <a:ln/>
        </p:spPr>
        <p:txBody>
          <a:bodyPr wrap="square" lIns="0" tIns="0" rIns="0" bIns="0" rtlCol="0" anchor="ctr"/>
          <a:lstStyle/>
          <a:p>
            <a:pPr indent="0" marL="0">
              <a:buNone/>
            </a:pPr>
            <a:r>
              <a:rPr lang="en-US" sz="1050" b="1" spc="200" kern="0" dirty="0">
                <a:solidFill>
                  <a:srgbClr val="AD3B3B"/>
                </a:solidFill>
                <a:latin typeface="Calibri" pitchFamily="34" charset="0"/>
                <a:ea typeface="Calibri" pitchFamily="34" charset="-122"/>
                <a:cs typeface="Calibri" pitchFamily="34" charset="-120"/>
              </a:rPr>
              <a:t>DEPLOYMENT RISK</a:t>
            </a:r>
            <a:endParaRPr lang="en-US" sz="1050" dirty="0"/>
          </a:p>
        </p:txBody>
      </p:sp>
      <p:sp>
        <p:nvSpPr>
          <p:cNvPr id="5" name="Text 3"/>
          <p:cNvSpPr txBox="1"/>
          <p:nvPr/>
        </p:nvSpPr>
        <p:spPr>
          <a:xfrm>
            <a:off x="1179576" y="658368"/>
            <a:ext cx="914400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Two Deployment Traps</a:t>
            </a:r>
            <a:endParaRPr lang="en-US" sz="2500" dirty="0"/>
          </a:p>
        </p:txBody>
      </p:sp>
      <p:sp>
        <p:nvSpPr>
          <p:cNvPr id="6" name="Text 4"/>
          <p:cNvSpPr txBox="1"/>
          <p:nvPr/>
        </p:nvSpPr>
        <p:spPr>
          <a:xfrm>
            <a:off x="502920" y="1170432"/>
            <a:ext cx="10515600" cy="274320"/>
          </a:xfrm>
          <a:prstGeom prst="rect">
            <a:avLst/>
          </a:prstGeom>
          <a:noFill/>
          <a:ln/>
        </p:spPr>
        <p:txBody>
          <a:bodyPr wrap="square" lIns="0" tIns="0" rIns="0" bIns="0" rtlCol="0" anchor="ctr"/>
          <a:lstStyle/>
          <a:p>
            <a:pPr indent="0" marL="0">
              <a:buNone/>
            </a:pPr>
            <a:r>
              <a:rPr lang="en-US" sz="1250" i="1" dirty="0">
                <a:solidFill>
                  <a:srgbClr val="AAB6D4"/>
                </a:solidFill>
                <a:latin typeface="Calibri" pitchFamily="34" charset="0"/>
                <a:ea typeface="Calibri" pitchFamily="34" charset="-122"/>
                <a:cs typeface="Calibri" pitchFamily="34" charset="-120"/>
              </a:rPr>
              <a:t>Both would look exactly like success.</a:t>
            </a:r>
            <a:endParaRPr lang="en-US" sz="1250" dirty="0"/>
          </a:p>
        </p:txBody>
      </p:sp>
      <p:sp>
        <p:nvSpPr>
          <p:cNvPr id="7" name="Shape 5"/>
          <p:cNvSpPr/>
          <p:nvPr/>
        </p:nvSpPr>
        <p:spPr>
          <a:xfrm>
            <a:off x="502920" y="1572768"/>
            <a:ext cx="5431536" cy="4297680"/>
          </a:xfrm>
          <a:prstGeom prst="roundRect">
            <a:avLst>
              <a:gd name="adj" fmla="val 1277"/>
            </a:avLst>
          </a:prstGeom>
          <a:solidFill>
            <a:srgbClr val="223A66"/>
          </a:solidFill>
          <a:ln w="12700">
            <a:solidFill>
              <a:srgbClr val="AD3B3B"/>
            </a:solidFill>
            <a:prstDash val="solid"/>
          </a:ln>
        </p:spPr>
      </p:sp>
      <p:sp>
        <p:nvSpPr>
          <p:cNvPr id="8" name="Text 6"/>
          <p:cNvSpPr txBox="1"/>
          <p:nvPr/>
        </p:nvSpPr>
        <p:spPr>
          <a:xfrm>
            <a:off x="722376" y="1737360"/>
            <a:ext cx="4992624" cy="274320"/>
          </a:xfrm>
          <a:prstGeom prst="rect">
            <a:avLst/>
          </a:prstGeom>
          <a:noFill/>
          <a:ln/>
        </p:spPr>
        <p:txBody>
          <a:bodyPr wrap="square" lIns="0" tIns="0" rIns="0" bIns="0" rtlCol="0" anchor="ctr"/>
          <a:lstStyle/>
          <a:p>
            <a:pPr indent="0" marL="0">
              <a:buNone/>
            </a:pPr>
            <a:r>
              <a:rPr lang="en-US" sz="1400" b="1" dirty="0">
                <a:solidFill>
                  <a:srgbClr val="F0A8A8"/>
                </a:solidFill>
                <a:latin typeface="Cambria" pitchFamily="34" charset="0"/>
                <a:ea typeface="Cambria" pitchFamily="34" charset="-122"/>
                <a:cs typeface="Cambria" pitchFamily="34" charset="-120"/>
              </a:rPr>
              <a:t>Trap #1</a:t>
            </a:r>
            <a:endParaRPr lang="en-US" sz="1400" dirty="0"/>
          </a:p>
        </p:txBody>
      </p:sp>
      <p:sp>
        <p:nvSpPr>
          <p:cNvPr id="9" name="Text 7"/>
          <p:cNvSpPr txBox="1"/>
          <p:nvPr/>
        </p:nvSpPr>
        <p:spPr>
          <a:xfrm>
            <a:off x="722376" y="2029968"/>
            <a:ext cx="4992624" cy="502920"/>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.env.local</a:t>
            </a:r>
            <a:pPr indent="0" marL="0">
              <a:buNone/>
            </a:pPr>
            <a:r>
              <a:rPr lang="en-US" sz="1500" b="1" dirty="0">
                <a:solidFill>
                  <a:srgbClr val="FFFFFF"/>
                </a:solidFill>
                <a:latin typeface="Cambria" pitchFamily="34" charset="0"/>
                <a:ea typeface="Cambria" pitchFamily="34" charset="-122"/>
                <a:cs typeface="Cambria" pitchFamily="34" charset="-120"/>
              </a:rPr>
              <a:t> points at the wrong database</a:t>
            </a:r>
            <a:endParaRPr lang="en-US" sz="1500" dirty="0"/>
          </a:p>
        </p:txBody>
      </p:sp>
      <p:sp>
        <p:nvSpPr>
          <p:cNvPr id="10" name="Text 8"/>
          <p:cNvSpPr txBox="1"/>
          <p:nvPr/>
        </p:nvSpPr>
        <p:spPr>
          <a:xfrm>
            <a:off x="722376" y="2624328"/>
            <a:ext cx="4992624" cy="2834640"/>
          </a:xfrm>
          <a:prstGeom prst="rect">
            <a:avLst/>
          </a:prstGeom>
          <a:noFill/>
          <a:ln/>
        </p:spPr>
        <p:txBody>
          <a:bodyPr wrap="square" lIns="0" tIns="0" rIns="0" bIns="0" rtlCol="0" anchor="ctr"/>
          <a:lstStyle/>
          <a:p>
            <a:pPr indent="0" marL="0">
              <a:buNone/>
            </a:pPr>
            <a:r>
              <a:rPr lang="en-US" sz="960" dirty="0">
                <a:solidFill>
                  <a:srgbClr val="AAB6D4"/>
                </a:solidFill>
                <a:latin typeface="Calibri" pitchFamily="34" charset="0"/>
                <a:ea typeface="Calibri" pitchFamily="34" charset="-122"/>
                <a:cs typeface="Calibri" pitchFamily="34" charset="-120"/>
              </a:rPr>
              <a:t>The 2026-09-09 </a:t>
            </a:r>
            <a:pPr indent="0" marL="0">
              <a:buNone/>
            </a:pPr>
            <a:r>
              <a:rPr lang="en-US" sz="960" dirty="0">
                <a:solidFill>
                  <a:srgbClr val="AAB6D4"/>
                </a:solidFill>
                <a:latin typeface="Courier New" pitchFamily="34" charset="0"/>
                <a:ea typeface="Courier New" pitchFamily="34" charset="-122"/>
                <a:cs typeface="Courier New" pitchFamily="34" charset="-120"/>
              </a:rPr>
              <a:t>prisma migrate deploy</a:t>
            </a:r>
            <a:pPr indent="0" marL="0">
              <a:buNone/>
            </a:pPr>
            <a:r>
              <a:rPr lang="en-US" sz="960" dirty="0">
                <a:solidFill>
                  <a:srgbClr val="AAB6D4"/>
                </a:solidFill>
                <a:latin typeface="Calibri" pitchFamily="34" charset="0"/>
                <a:ea typeface="Calibri" pitchFamily="34" charset="-122"/>
                <a:cs typeface="Calibri" pitchFamily="34" charset="-120"/>
              </a:rPr>
              <a:t> succeeded — against </a:t>
            </a:r>
            <a:pPr indent="0" marL="0">
              <a:buNone/>
            </a:pPr>
            <a:r>
              <a:rPr lang="en-US" sz="800" dirty="0">
                <a:solidFill>
                  <a:srgbClr val="AAB6D4"/>
                </a:solidFill>
                <a:latin typeface="Courier New" pitchFamily="34" charset="0"/>
                <a:ea typeface="Courier New" pitchFamily="34" charset="-122"/>
                <a:cs typeface="Courier New" pitchFamily="34" charset="-120"/>
              </a:rPr>
              <a:t>turntable.proxy.rlwy.net:55082</a:t>
            </a:r>
            <a:pPr indent="0" marL="0">
              <a:buNone/>
            </a:pPr>
            <a:r>
              <a:rPr lang="en-US" sz="960" dirty="0">
                <a:solidFill>
                  <a:srgbClr val="AAB6D4"/>
                </a:solidFill>
                <a:latin typeface="Calibri" pitchFamily="34" charset="0"/>
                <a:ea typeface="Calibri" pitchFamily="34" charset="-122"/>
                <a:cs typeface="Calibri" pitchFamily="34" charset="-120"/>
              </a:rPr>
              <a:t>, which is NOT production. Production's railway-gateway connects to </a:t>
            </a:r>
            <a:pPr indent="0" marL="0">
              <a:buNone/>
            </a:pPr>
            <a:r>
              <a:rPr lang="en-US" sz="800" dirty="0">
                <a:solidFill>
                  <a:srgbClr val="AAB6D4"/>
                </a:solidFill>
                <a:latin typeface="Courier New" pitchFamily="34" charset="0"/>
                <a:ea typeface="Courier New" pitchFamily="34" charset="-122"/>
                <a:cs typeface="Courier New" pitchFamily="34" charset="-120"/>
              </a:rPr>
              <a:t>postgres.railway.internal</a:t>
            </a:r>
            <a:pPr indent="0" marL="0">
              <a:buNone/>
            </a:pPr>
            <a:r>
              <a:rPr lang="en-US" sz="960" dirty="0">
                <a:solidFill>
                  <a:srgbClr val="AAB6D4"/>
                </a:solidFill>
                <a:latin typeface="Calibri" pitchFamily="34" charset="0"/>
                <a:ea typeface="Calibri" pitchFamily="34" charset="-122"/>
                <a:cs typeface="Calibri" pitchFamily="34" charset="-120"/>
              </a:rPr>
              <a:t> (public proxy </a:t>
            </a:r>
            <a:pPr indent="0" marL="0">
              <a:buNone/>
            </a:pPr>
            <a:r>
              <a:rPr lang="en-US" sz="800" dirty="0">
                <a:solidFill>
                  <a:srgbClr val="AAB6D4"/>
                </a:solidFill>
                <a:latin typeface="Courier New" pitchFamily="34" charset="0"/>
                <a:ea typeface="Courier New" pitchFamily="34" charset="-122"/>
                <a:cs typeface="Courier New" pitchFamily="34" charset="-120"/>
              </a:rPr>
              <a:t>maglev.proxy.rlwy.net:58290</a:t>
            </a:r>
            <a:pPr indent="0" marL="0">
              <a:buNone/>
            </a:pPr>
            <a:r>
              <a:rPr lang="en-US" sz="960" dirty="0">
                <a:solidFill>
                  <a:srgbClr val="AAB6D4"/>
                </a:solidFill>
                <a:latin typeface="Calibri" pitchFamily="34" charset="0"/>
                <a:ea typeface="Calibri" pitchFamily="34" charset="-122"/>
                <a:cs typeface="Calibri" pitchFamily="34" charset="-120"/>
              </a:rPr>
              <a:t>).
</a:t>
            </a:r>
            <a:pPr indent="0" marL="0">
              <a:buNone/>
            </a:pPr>
            <a:r>
              <a:rPr lang="en-US" sz="960" b="1" dirty="0">
                <a:solidFill>
                  <a:srgbClr val="E7CE96"/>
                </a:solidFill>
                <a:latin typeface="Calibri" pitchFamily="34" charset="0"/>
                <a:ea typeface="Calibri" pitchFamily="34" charset="-122"/>
                <a:cs typeface="Calibri" pitchFamily="34" charset="-120"/>
              </a:rPr>
              <a:t>So the new tables don't exist where the gateway writes — it will reject every statistics POST until the migration is re-run against production.
</a:t>
            </a:r>
            <a:pPr indent="0" marL="0">
              <a:buNone/>
            </a:pPr>
            <a:r>
              <a:rPr lang="en-US" sz="960" b="1" dirty="0">
                <a:solidFill>
                  <a:srgbClr val="FFFFFF"/>
                </a:solidFill>
                <a:latin typeface="Calibri" pitchFamily="34" charset="0"/>
                <a:ea typeface="Calibri" pitchFamily="34" charset="-122"/>
                <a:cs typeface="Calibri" pitchFamily="34" charset="-120"/>
              </a:rPr>
              <a:t>Fix it: </a:t>
            </a:r>
            <a:pPr indent="0" marL="0">
              <a:buNone/>
            </a:pPr>
            <a:r>
              <a:rPr lang="en-US" sz="960" dirty="0">
                <a:solidFill>
                  <a:srgbClr val="AAB6D4"/>
                </a:solidFill>
                <a:latin typeface="Calibri" pitchFamily="34" charset="0"/>
                <a:ea typeface="Calibri" pitchFamily="34" charset="-122"/>
                <a:cs typeface="Calibri" pitchFamily="34" charset="-120"/>
              </a:rPr>
              <a:t>use the service's </a:t>
            </a:r>
            <a:pPr indent="0" marL="0">
              <a:buNone/>
            </a:pPr>
            <a:r>
              <a:rPr lang="en-US" sz="960" dirty="0">
                <a:solidFill>
                  <a:srgbClr val="AAB6D4"/>
                </a:solidFill>
                <a:latin typeface="Courier New" pitchFamily="34" charset="0"/>
                <a:ea typeface="Courier New" pitchFamily="34" charset="-122"/>
                <a:cs typeface="Courier New" pitchFamily="34" charset="-120"/>
              </a:rPr>
              <a:t>DATABASE_PUBLIC_URL</a:t>
            </a:r>
            <a:pPr indent="0" marL="0">
              <a:buNone/>
            </a:pPr>
            <a:r>
              <a:rPr lang="en-US" sz="960" dirty="0">
                <a:solidFill>
                  <a:srgbClr val="AAB6D4"/>
                </a:solidFill>
                <a:latin typeface="Calibri" pitchFamily="34" charset="0"/>
                <a:ea typeface="Calibri" pitchFamily="34" charset="-122"/>
                <a:cs typeface="Calibri" pitchFamily="34" charset="-120"/>
              </a:rPr>
              <a:t> (the internal hostname doesn't resolve outside Railway), and run the NULL pre-flight before the provenance migration — production holds real history.</a:t>
            </a:r>
            <a:endParaRPr lang="en-US" sz="960" dirty="0"/>
          </a:p>
        </p:txBody>
      </p:sp>
      <p:sp>
        <p:nvSpPr>
          <p:cNvPr id="11" name="Shape 9"/>
          <p:cNvSpPr/>
          <p:nvPr/>
        </p:nvSpPr>
        <p:spPr>
          <a:xfrm>
            <a:off x="6254496" y="1572768"/>
            <a:ext cx="5431536" cy="4297680"/>
          </a:xfrm>
          <a:prstGeom prst="roundRect">
            <a:avLst>
              <a:gd name="adj" fmla="val 1277"/>
            </a:avLst>
          </a:prstGeom>
          <a:solidFill>
            <a:srgbClr val="223A66"/>
          </a:solidFill>
          <a:ln w="12700">
            <a:solidFill>
              <a:srgbClr val="AD3B3B"/>
            </a:solidFill>
            <a:prstDash val="solid"/>
          </a:ln>
        </p:spPr>
      </p:sp>
      <p:sp>
        <p:nvSpPr>
          <p:cNvPr id="12" name="Text 10"/>
          <p:cNvSpPr txBox="1"/>
          <p:nvPr/>
        </p:nvSpPr>
        <p:spPr>
          <a:xfrm>
            <a:off x="6473952" y="1737360"/>
            <a:ext cx="4992624" cy="274320"/>
          </a:xfrm>
          <a:prstGeom prst="rect">
            <a:avLst/>
          </a:prstGeom>
          <a:noFill/>
          <a:ln/>
        </p:spPr>
        <p:txBody>
          <a:bodyPr wrap="square" lIns="0" tIns="0" rIns="0" bIns="0" rtlCol="0" anchor="ctr"/>
          <a:lstStyle/>
          <a:p>
            <a:pPr indent="0" marL="0">
              <a:buNone/>
            </a:pPr>
            <a:r>
              <a:rPr lang="en-US" sz="1400" b="1" dirty="0">
                <a:solidFill>
                  <a:srgbClr val="F0A8A8"/>
                </a:solidFill>
                <a:latin typeface="Cambria" pitchFamily="34" charset="0"/>
                <a:ea typeface="Cambria" pitchFamily="34" charset="-122"/>
                <a:cs typeface="Cambria" pitchFamily="34" charset="-120"/>
              </a:rPr>
              <a:t>Trap #2</a:t>
            </a:r>
            <a:endParaRPr lang="en-US" sz="1400" dirty="0"/>
          </a:p>
        </p:txBody>
      </p:sp>
      <p:sp>
        <p:nvSpPr>
          <p:cNvPr id="13" name="Text 11"/>
          <p:cNvSpPr txBox="1"/>
          <p:nvPr/>
        </p:nvSpPr>
        <p:spPr>
          <a:xfrm>
            <a:off x="6473952" y="2029968"/>
            <a:ext cx="4992624" cy="5029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The </a:t>
            </a:r>
            <a:pPr indent="0" marL="0">
              <a:buNone/>
            </a:pPr>
            <a:r>
              <a:rPr lang="en-US" sz="1500" b="1" dirty="0">
                <a:solidFill>
                  <a:srgbClr val="FFFFFF"/>
                </a:solidFill>
                <a:latin typeface="Courier New" pitchFamily="34" charset="0"/>
                <a:ea typeface="Courier New" pitchFamily="34" charset="-122"/>
                <a:cs typeface="Courier New" pitchFamily="34" charset="-120"/>
              </a:rPr>
              <a:t>.ex5</a:t>
            </a:r>
            <a:pPr indent="0" marL="0">
              <a:buNone/>
            </a:pPr>
            <a:r>
              <a:rPr lang="en-US" sz="1500" b="1" dirty="0">
                <a:solidFill>
                  <a:srgbClr val="FFFFFF"/>
                </a:solidFill>
                <a:latin typeface="Cambria" pitchFamily="34" charset="0"/>
                <a:ea typeface="Cambria" pitchFamily="34" charset="-122"/>
                <a:cs typeface="Cambria" pitchFamily="34" charset="-120"/>
              </a:rPr>
              <a:t> binaries are a build behind — silently</a:t>
            </a:r>
            <a:endParaRPr lang="en-US" sz="1500" dirty="0"/>
          </a:p>
        </p:txBody>
      </p:sp>
      <p:sp>
        <p:nvSpPr>
          <p:cNvPr id="14" name="Text 12"/>
          <p:cNvSpPr txBox="1"/>
          <p:nvPr/>
        </p:nvSpPr>
        <p:spPr>
          <a:xfrm>
            <a:off x="6473952" y="2624328"/>
            <a:ext cx="4992624" cy="2834640"/>
          </a:xfrm>
          <a:prstGeom prst="rect">
            <a:avLst/>
          </a:prstGeom>
          <a:noFill/>
          <a:ln/>
        </p:spPr>
        <p:txBody>
          <a:bodyPr wrap="square" lIns="0" tIns="0" rIns="0" bIns="0" rtlCol="0" anchor="ctr"/>
          <a:lstStyle/>
          <a:p>
            <a:pPr indent="0" marL="0">
              <a:buNone/>
            </a:pPr>
            <a:r>
              <a:rPr lang="en-US" sz="960" dirty="0">
                <a:solidFill>
                  <a:srgbClr val="AAB6D4"/>
                </a:solidFill>
                <a:latin typeface="Calibri" pitchFamily="34" charset="0"/>
                <a:ea typeface="Calibri" pitchFamily="34" charset="-122"/>
                <a:cs typeface="Calibri" pitchFamily="34" charset="-120"/>
              </a:rPr>
              <a:t>All 13 were compiled 2026-09-09 ~13:45 — that build does include the timestamp fix (§7, sources edited 12:03). The EDT Quality Metrics blocks were then added 14:52–14:54, </a:t>
            </a:r>
            <a:pPr indent="0" marL="0">
              <a:buNone/>
            </a:pPr>
            <a:r>
              <a:rPr lang="en-US" sz="960" b="1" i="1" dirty="0">
                <a:solidFill>
                  <a:srgbClr val="AAB6D4"/>
                </a:solidFill>
                <a:latin typeface="Calibri" pitchFamily="34" charset="0"/>
                <a:ea typeface="Calibri" pitchFamily="34" charset="-122"/>
                <a:cs typeface="Calibri" pitchFamily="34" charset="-120"/>
              </a:rPr>
              <a:t>after</a:t>
            </a:r>
            <a:pPr indent="0" marL="0">
              <a:buNone/>
            </a:pPr>
            <a:r>
              <a:rPr lang="en-US" sz="960" dirty="0">
                <a:solidFill>
                  <a:srgbClr val="AAB6D4"/>
                </a:solidFill>
                <a:latin typeface="Calibri" pitchFamily="34" charset="0"/>
                <a:ea typeface="Calibri" pitchFamily="34" charset="-122"/>
                <a:cs typeface="Calibri" pitchFamily="34" charset="-120"/>
              </a:rPr>
              <a:t> that compile — to the 10 statistic-emitting indicators.
</a:t>
            </a:r>
            <a:pPr indent="0" marL="0">
              <a:buNone/>
            </a:pPr>
            <a:r>
              <a:rPr lang="en-US" sz="960" b="1" dirty="0">
                <a:solidFill>
                  <a:srgbClr val="E7CE96"/>
                </a:solidFill>
                <a:latin typeface="Calibri" pitchFamily="34" charset="0"/>
                <a:ea typeface="Calibri" pitchFamily="34" charset="-122"/>
                <a:cs typeface="Calibri" pitchFamily="34" charset="-120"/>
              </a:rPr>
              <a:t>So those 10 binaries carry the timestamp fix but not the statistic blocks.</a:t>
            </a:r>
            <a:pPr indent="0" marL="0">
              <a:buNone/>
            </a:pPr>
            <a:r>
              <a:rPr lang="en-US" sz="960" dirty="0">
                <a:solidFill>
                  <a:srgbClr val="AAB6D4"/>
                </a:solidFill>
                <a:latin typeface="Calibri" pitchFamily="34" charset="0"/>
                <a:ea typeface="Calibri" pitchFamily="34" charset="-122"/>
                <a:cs typeface="Calibri" pitchFamily="34" charset="-120"/>
              </a:rPr>
              <a:t> (ZigZag, OHLCV, Z-Score emit no statistics — correctly unaffected.)
</a:t>
            </a:r>
            <a:pPr indent="0" marL="0">
              <a:buNone/>
            </a:pPr>
            <a:r>
              <a:rPr lang="en-US" sz="960" b="1" dirty="0">
                <a:solidFill>
                  <a:srgbClr val="FFFFFF"/>
                </a:solidFill>
                <a:latin typeface="Calibri" pitchFamily="34" charset="0"/>
                <a:ea typeface="Calibri" pitchFamily="34" charset="-122"/>
                <a:cs typeface="Calibri" pitchFamily="34" charset="-120"/>
              </a:rPr>
              <a:t>Why it's dangerous: </a:t>
            </a:r>
            <a:pPr indent="0" marL="0">
              <a:buNone/>
            </a:pPr>
            <a:r>
              <a:rPr lang="en-US" sz="960" dirty="0">
                <a:solidFill>
                  <a:srgbClr val="AAB6D4"/>
                </a:solidFill>
                <a:latin typeface="Calibri" pitchFamily="34" charset="0"/>
                <a:ea typeface="Calibri" pitchFamily="34" charset="-122"/>
                <a:cs typeface="Calibri" pitchFamily="34" charset="-120"/>
              </a:rPr>
              <a:t>deploying as-is would look successful — timestamps correct, cycles validate, statistics rows created — with every new field empty. The failure is silent. Recompile those 10 before deploying.</a:t>
            </a:r>
            <a:endParaRPr lang="en-US" sz="9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12213E"/>
          </a:solidFill>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2000" b="1" dirty="0">
                <a:solidFill>
                  <a:srgbClr val="E7CE96"/>
                </a:solidFill>
                <a:latin typeface="Cambria" pitchFamily="34" charset="0"/>
                <a:ea typeface="Cambria" pitchFamily="34" charset="-122"/>
                <a:cs typeface="Cambria" pitchFamily="34" charset="-120"/>
              </a:rPr>
              <a:t>A</a:t>
            </a:r>
            <a:endParaRPr lang="en-US" sz="2000" dirty="0"/>
          </a:p>
        </p:txBody>
      </p:sp>
      <p:sp>
        <p:nvSpPr>
          <p:cNvPr id="4" name="Text 2"/>
          <p:cNvSpPr txBox="1"/>
          <p:nvPr/>
        </p:nvSpPr>
        <p:spPr>
          <a:xfrm>
            <a:off x="1216152" y="420624"/>
            <a:ext cx="8686800" cy="256032"/>
          </a:xfrm>
          <a:prstGeom prst="rect">
            <a:avLst/>
          </a:prstGeom>
          <a:noFill/>
          <a:ln/>
        </p:spPr>
        <p:txBody>
          <a:bodyPr wrap="square" lIns="0" tIns="0" rIns="0" bIns="0" rtlCol="0" anchor="ctr"/>
          <a:lstStyle/>
          <a:p>
            <a:pPr indent="0" marL="0">
              <a:buNone/>
            </a:pPr>
            <a:r>
              <a:rPr lang="en-US" sz="1100" b="1" spc="200" kern="0" dirty="0">
                <a:solidFill>
                  <a:srgbClr val="C1922C"/>
                </a:solidFill>
                <a:latin typeface="Calibri" pitchFamily="34" charset="0"/>
                <a:ea typeface="Calibri" pitchFamily="34" charset="-122"/>
                <a:cs typeface="Calibri" pitchFamily="34" charset="-120"/>
              </a:rPr>
              <a:t>APPENDIX A</a:t>
            </a:r>
            <a:endParaRPr lang="en-US" sz="1100" dirty="0"/>
          </a:p>
        </p:txBody>
      </p:sp>
      <p:sp>
        <p:nvSpPr>
          <p:cNvPr id="5" name="Text 3"/>
          <p:cNvSpPr txBox="1"/>
          <p:nvPr/>
        </p:nvSpPr>
        <p:spPr>
          <a:xfrm>
            <a:off x="1216152" y="658368"/>
            <a:ext cx="9601200" cy="502920"/>
          </a:xfrm>
          <a:prstGeom prst="rect">
            <a:avLst/>
          </a:prstGeom>
          <a:noFill/>
          <a:ln/>
        </p:spPr>
        <p:txBody>
          <a:bodyPr wrap="square" lIns="0" tIns="0" rIns="0" bIns="0" rtlCol="0" anchor="ctr"/>
          <a:lstStyle/>
          <a:p>
            <a:pPr indent="0" marL="0">
              <a:buNone/>
            </a:pPr>
            <a:r>
              <a:rPr lang="en-US" sz="2700" b="1" dirty="0">
                <a:solidFill>
                  <a:srgbClr val="12213E"/>
                </a:solidFill>
                <a:latin typeface="Cambria" pitchFamily="34" charset="0"/>
                <a:ea typeface="Cambria" pitchFamily="34" charset="-122"/>
                <a:cs typeface="Cambria" pitchFamily="34" charset="-120"/>
              </a:rPr>
              <a:t>Pipeline Verification Performed</a:t>
            </a:r>
            <a:endParaRPr lang="en-US" sz="2700" dirty="0"/>
          </a:p>
        </p:txBody>
      </p:sp>
      <p:sp>
        <p:nvSpPr>
          <p:cNvPr id="6" name="Text 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3708C"/>
                </a:solidFill>
                <a:latin typeface="Calibri" pitchFamily="34" charset="0"/>
                <a:ea typeface="Calibri" pitchFamily="34" charset="-122"/>
                <a:cs typeface="Calibri" pitchFamily="34" charset="-120"/>
              </a:rPr>
              <a:t>V2.29 Data Pipeline  ·  XAUUSD  M5 / M15</a:t>
            </a:r>
            <a:endParaRPr lang="en-US" sz="900" dirty="0"/>
          </a:p>
        </p:txBody>
      </p:sp>
      <p:sp>
        <p:nvSpPr>
          <p:cNvPr id="7" name="Text 5"/>
          <p:cNvSpPr txBox="1"/>
          <p:nvPr/>
        </p:nvSpPr>
        <p:spPr>
          <a:xfrm>
            <a:off x="10588752" y="6473952"/>
            <a:ext cx="1097280" cy="274320"/>
          </a:xfrm>
          <a:prstGeom prst="rect">
            <a:avLst/>
          </a:prstGeom>
          <a:noFill/>
          <a:ln/>
        </p:spPr>
        <p:txBody>
          <a:bodyPr wrap="square" lIns="0" tIns="0" rIns="0" bIns="0" rtlCol="0" anchor="ctr"/>
          <a:lstStyle/>
          <a:p>
            <a:pPr algn="r" indent="0" marL="0">
              <a:buNone/>
            </a:pPr>
            <a:r>
              <a:rPr lang="en-US" sz="900" dirty="0">
                <a:solidFill>
                  <a:srgbClr val="63708C"/>
                </a:solidFill>
                <a:latin typeface="Calibri" pitchFamily="34" charset="0"/>
                <a:ea typeface="Calibri" pitchFamily="34" charset="-122"/>
                <a:cs typeface="Calibri" pitchFamily="34" charset="-120"/>
              </a:rPr>
              <a:t>A</a:t>
            </a:r>
            <a:endParaRPr lang="en-US" sz="900" dirty="0"/>
          </a:p>
        </p:txBody>
      </p:sp>
      <p:sp>
        <p:nvSpPr>
          <p:cNvPr id="8" name="Text 6"/>
          <p:cNvSpPr txBox="1"/>
          <p:nvPr/>
        </p:nvSpPr>
        <p:spPr>
          <a:xfrm>
            <a:off x="502920" y="1298448"/>
            <a:ext cx="10789920" cy="292608"/>
          </a:xfrm>
          <a:prstGeom prst="rect">
            <a:avLst/>
          </a:prstGeom>
          <a:noFill/>
          <a:ln/>
        </p:spPr>
        <p:txBody>
          <a:bodyPr wrap="square" lIns="0" tIns="0" rIns="0" bIns="0" rtlCol="0" anchor="ctr"/>
          <a:lstStyle/>
          <a:p>
            <a:pPr indent="0" marL="0">
              <a:buNone/>
            </a:pPr>
            <a:r>
              <a:rPr lang="en-US" sz="1300" i="1" dirty="0">
                <a:solidFill>
                  <a:srgbClr val="63708C"/>
                </a:solidFill>
                <a:latin typeface="Calibri" pitchFamily="34" charset="0"/>
                <a:ea typeface="Calibri" pitchFamily="34" charset="-122"/>
                <a:cs typeface="Calibri" pitchFamily="34" charset="-120"/>
              </a:rPr>
              <a:t>For anyone asking “how do we know this works”:</a:t>
            </a:r>
            <a:endParaRPr lang="en-US" sz="1300" dirty="0"/>
          </a:p>
        </p:txBody>
      </p:sp>
      <p:sp>
        <p:nvSpPr>
          <p:cNvPr id="9" name="Shape 7"/>
          <p:cNvSpPr/>
          <p:nvPr/>
        </p:nvSpPr>
        <p:spPr>
          <a:xfrm>
            <a:off x="502920" y="1737360"/>
            <a:ext cx="5454396" cy="1600200"/>
          </a:xfrm>
          <a:prstGeom prst="roundRect">
            <a:avLst>
              <a:gd name="adj" fmla="val 3429"/>
            </a:avLst>
          </a:prstGeom>
          <a:solidFill>
            <a:srgbClr val="EEF1F7"/>
          </a:solidFill>
          <a:ln w="12700">
            <a:solidFill>
              <a:srgbClr val="DCE3EF"/>
            </a:solidFill>
            <a:prstDash val="solid"/>
          </a:ln>
        </p:spPr>
      </p:sp>
      <p:sp>
        <p:nvSpPr>
          <p:cNvPr id="10" name="Text 8"/>
          <p:cNvSpPr txBox="1"/>
          <p:nvPr/>
        </p:nvSpPr>
        <p:spPr>
          <a:xfrm>
            <a:off x="704088" y="1865376"/>
            <a:ext cx="5052060" cy="457200"/>
          </a:xfrm>
          <a:prstGeom prst="rect">
            <a:avLst/>
          </a:prstGeom>
          <a:noFill/>
          <a:ln/>
        </p:spPr>
        <p:txBody>
          <a:bodyPr wrap="square" lIns="0" tIns="0" rIns="0" bIns="0" rtlCol="0" anchor="ctr"/>
          <a:lstStyle/>
          <a:p>
            <a:pPr indent="0" marL="0">
              <a:buNone/>
            </a:pPr>
            <a:r>
              <a:rPr lang="en-US" sz="2400" b="1" dirty="0">
                <a:solidFill>
                  <a:srgbClr val="12213E"/>
                </a:solidFill>
                <a:latin typeface="Cambria" pitchFamily="34" charset="0"/>
                <a:ea typeface="Cambria" pitchFamily="34" charset="-122"/>
                <a:cs typeface="Cambria" pitchFamily="34" charset="-120"/>
              </a:rPr>
              <a:t>192,024</a:t>
            </a:r>
            <a:endParaRPr lang="en-US" sz="2400" dirty="0"/>
          </a:p>
        </p:txBody>
      </p:sp>
      <p:sp>
        <p:nvSpPr>
          <p:cNvPr id="11" name="Text 9"/>
          <p:cNvSpPr txBox="1"/>
          <p:nvPr/>
        </p:nvSpPr>
        <p:spPr>
          <a:xfrm>
            <a:off x="704088" y="2304288"/>
            <a:ext cx="5052060" cy="274320"/>
          </a:xfrm>
          <a:prstGeom prst="rect">
            <a:avLst/>
          </a:prstGeom>
          <a:noFill/>
          <a:ln/>
        </p:spPr>
        <p:txBody>
          <a:bodyPr wrap="square" lIns="0" tIns="0" rIns="0" bIns="0" rtlCol="0" anchor="ctr"/>
          <a:lstStyle/>
          <a:p>
            <a:pPr indent="0" marL="0">
              <a:buNone/>
            </a:pPr>
            <a:r>
              <a:rPr lang="en-US" sz="1050" b="1" dirty="0">
                <a:solidFill>
                  <a:srgbClr val="C1922C"/>
                </a:solidFill>
                <a:latin typeface="Calibri" pitchFamily="34" charset="0"/>
                <a:ea typeface="Calibri" pitchFamily="34" charset="-122"/>
                <a:cs typeface="Calibri" pitchFamily="34" charset="-120"/>
              </a:rPr>
              <a:t>field-by-field comparisons, 0 mismatches</a:t>
            </a:r>
            <a:endParaRPr lang="en-US" sz="1050" dirty="0"/>
          </a:p>
        </p:txBody>
      </p:sp>
      <p:sp>
        <p:nvSpPr>
          <p:cNvPr id="12" name="Text 10"/>
          <p:cNvSpPr txBox="1"/>
          <p:nvPr/>
        </p:nvSpPr>
        <p:spPr>
          <a:xfrm>
            <a:off x="704088" y="2596896"/>
            <a:ext cx="5052060" cy="685800"/>
          </a:xfrm>
          <a:prstGeom prst="rect">
            <a:avLst/>
          </a:prstGeom>
          <a:noFill/>
          <a:ln/>
        </p:spPr>
        <p:txBody>
          <a:bodyPr wrap="square" lIns="0" tIns="0" rIns="0" bIns="0" rtlCol="0" anchor="t"/>
          <a:lstStyle/>
          <a:p>
            <a:pPr indent="0" marL="0">
              <a:buNone/>
            </a:pPr>
            <a:r>
              <a:rPr lang="en-US" sz="900" dirty="0">
                <a:solidFill>
                  <a:srgbClr val="63708C"/>
                </a:solidFill>
                <a:latin typeface="Calibri" pitchFamily="34" charset="0"/>
                <a:ea typeface="Calibri" pitchFamily="34" charset="-122"/>
                <a:cs typeface="Calibri" pitchFamily="34" charset="-120"/>
              </a:rPr>
              <a:t>The refactored pipeline was run end-to-end against real captured MQL5 exports, producing 3000 promoted bars; every promoted value was compared against its source .txt. All 79 data columns covered — the other 4 are positional validation keys, checked by the validator itself.</a:t>
            </a:r>
            <a:endParaRPr lang="en-US" sz="900" dirty="0"/>
          </a:p>
        </p:txBody>
      </p:sp>
      <p:sp>
        <p:nvSpPr>
          <p:cNvPr id="13" name="Shape 11"/>
          <p:cNvSpPr/>
          <p:nvPr/>
        </p:nvSpPr>
        <p:spPr>
          <a:xfrm>
            <a:off x="6231636" y="1737360"/>
            <a:ext cx="5454396" cy="1600200"/>
          </a:xfrm>
          <a:prstGeom prst="roundRect">
            <a:avLst>
              <a:gd name="adj" fmla="val 3429"/>
            </a:avLst>
          </a:prstGeom>
          <a:solidFill>
            <a:srgbClr val="EEF1F7"/>
          </a:solidFill>
          <a:ln w="12700">
            <a:solidFill>
              <a:srgbClr val="DCE3EF"/>
            </a:solidFill>
            <a:prstDash val="solid"/>
          </a:ln>
        </p:spPr>
      </p:sp>
      <p:sp>
        <p:nvSpPr>
          <p:cNvPr id="14" name="Text 12"/>
          <p:cNvSpPr txBox="1"/>
          <p:nvPr/>
        </p:nvSpPr>
        <p:spPr>
          <a:xfrm>
            <a:off x="6432804" y="1865376"/>
            <a:ext cx="5052060" cy="457200"/>
          </a:xfrm>
          <a:prstGeom prst="rect">
            <a:avLst/>
          </a:prstGeom>
          <a:noFill/>
          <a:ln/>
        </p:spPr>
        <p:txBody>
          <a:bodyPr wrap="square" lIns="0" tIns="0" rIns="0" bIns="0" rtlCol="0" anchor="ctr"/>
          <a:lstStyle/>
          <a:p>
            <a:pPr indent="0" marL="0">
              <a:buNone/>
            </a:pPr>
            <a:r>
              <a:rPr lang="en-US" sz="2400" b="1" dirty="0">
                <a:solidFill>
                  <a:srgbClr val="12213E"/>
                </a:solidFill>
                <a:latin typeface="Cambria" pitchFamily="34" charset="0"/>
                <a:ea typeface="Cambria" pitchFamily="34" charset="-122"/>
                <a:cs typeface="Cambria" pitchFamily="34" charset="-120"/>
              </a:rPr>
              <a:t>38 → 0</a:t>
            </a:r>
            <a:endParaRPr lang="en-US" sz="2400" dirty="0"/>
          </a:p>
        </p:txBody>
      </p:sp>
      <p:sp>
        <p:nvSpPr>
          <p:cNvPr id="15" name="Text 13"/>
          <p:cNvSpPr txBox="1"/>
          <p:nvPr/>
        </p:nvSpPr>
        <p:spPr>
          <a:xfrm>
            <a:off x="6432804" y="2304288"/>
            <a:ext cx="5052060" cy="274320"/>
          </a:xfrm>
          <a:prstGeom prst="rect">
            <a:avLst/>
          </a:prstGeom>
          <a:noFill/>
          <a:ln/>
        </p:spPr>
        <p:txBody>
          <a:bodyPr wrap="square" lIns="0" tIns="0" rIns="0" bIns="0" rtlCol="0" anchor="ctr"/>
          <a:lstStyle/>
          <a:p>
            <a:pPr indent="0" marL="0">
              <a:buNone/>
            </a:pPr>
            <a:r>
              <a:rPr lang="en-US" sz="1050" b="1" dirty="0">
                <a:solidFill>
                  <a:srgbClr val="C1922C"/>
                </a:solidFill>
                <a:latin typeface="Calibri" pitchFamily="34" charset="0"/>
                <a:ea typeface="Calibri" pitchFamily="34" charset="-122"/>
                <a:cs typeface="Calibri" pitchFamily="34" charset="-120"/>
              </a:rPr>
              <a:t>columns added by the staging-schema migration, second run a no-op</a:t>
            </a:r>
            <a:endParaRPr lang="en-US" sz="1050" dirty="0"/>
          </a:p>
        </p:txBody>
      </p:sp>
      <p:sp>
        <p:nvSpPr>
          <p:cNvPr id="16" name="Text 14"/>
          <p:cNvSpPr txBox="1"/>
          <p:nvPr/>
        </p:nvSpPr>
        <p:spPr>
          <a:xfrm>
            <a:off x="6432804" y="2596896"/>
            <a:ext cx="5052060" cy="685800"/>
          </a:xfrm>
          <a:prstGeom prst="rect">
            <a:avLst/>
          </a:prstGeom>
          <a:noFill/>
          <a:ln/>
        </p:spPr>
        <p:txBody>
          <a:bodyPr wrap="square" lIns="0" tIns="0" rIns="0" bIns="0" rtlCol="0" anchor="t"/>
          <a:lstStyle/>
          <a:p>
            <a:pPr indent="0" marL="0">
              <a:buNone/>
            </a:pPr>
            <a:r>
              <a:rPr lang="en-US" sz="900" dirty="0">
                <a:solidFill>
                  <a:srgbClr val="63708C"/>
                </a:solidFill>
                <a:latin typeface="Calibri" pitchFamily="34" charset="0"/>
                <a:ea typeface="Calibri" pitchFamily="34" charset="-122"/>
                <a:cs typeface="Calibri" pitchFamily="34" charset="-120"/>
              </a:rPr>
              <a:t>Tested against a database built from the previous schema with real data in it: existing values preserved.</a:t>
            </a:r>
            <a:endParaRPr lang="en-US" sz="900" dirty="0"/>
          </a:p>
        </p:txBody>
      </p:sp>
      <p:sp>
        <p:nvSpPr>
          <p:cNvPr id="17" name="Shape 15"/>
          <p:cNvSpPr/>
          <p:nvPr/>
        </p:nvSpPr>
        <p:spPr>
          <a:xfrm>
            <a:off x="502920" y="3611880"/>
            <a:ext cx="5454396" cy="1600200"/>
          </a:xfrm>
          <a:prstGeom prst="roundRect">
            <a:avLst>
              <a:gd name="adj" fmla="val 3429"/>
            </a:avLst>
          </a:prstGeom>
          <a:solidFill>
            <a:srgbClr val="EEF1F7"/>
          </a:solidFill>
          <a:ln w="12700">
            <a:solidFill>
              <a:srgbClr val="DCE3EF"/>
            </a:solidFill>
            <a:prstDash val="solid"/>
          </a:ln>
        </p:spPr>
      </p:sp>
      <p:sp>
        <p:nvSpPr>
          <p:cNvPr id="18" name="Text 16"/>
          <p:cNvSpPr txBox="1"/>
          <p:nvPr/>
        </p:nvSpPr>
        <p:spPr>
          <a:xfrm>
            <a:off x="704088" y="3739896"/>
            <a:ext cx="5052060" cy="457200"/>
          </a:xfrm>
          <a:prstGeom prst="rect">
            <a:avLst/>
          </a:prstGeom>
          <a:noFill/>
          <a:ln/>
        </p:spPr>
        <p:txBody>
          <a:bodyPr wrap="square" lIns="0" tIns="0" rIns="0" bIns="0" rtlCol="0" anchor="ctr"/>
          <a:lstStyle/>
          <a:p>
            <a:pPr indent="0" marL="0">
              <a:buNone/>
            </a:pPr>
            <a:r>
              <a:rPr lang="en-US" sz="2400" b="1" dirty="0">
                <a:solidFill>
                  <a:srgbClr val="12213E"/>
                </a:solidFill>
                <a:latin typeface="Cambria" pitchFamily="34" charset="0"/>
                <a:ea typeface="Cambria" pitchFamily="34" charset="-122"/>
                <a:cs typeface="Cambria" pitchFamily="34" charset="-120"/>
              </a:rPr>
              <a:t>87 / 87</a:t>
            </a:r>
            <a:endParaRPr lang="en-US" sz="2400" dirty="0"/>
          </a:p>
        </p:txBody>
      </p:sp>
      <p:sp>
        <p:nvSpPr>
          <p:cNvPr id="19" name="Text 17"/>
          <p:cNvSpPr txBox="1"/>
          <p:nvPr/>
        </p:nvSpPr>
        <p:spPr>
          <a:xfrm>
            <a:off x="704088" y="4178808"/>
            <a:ext cx="5052060" cy="274320"/>
          </a:xfrm>
          <a:prstGeom prst="rect">
            <a:avLst/>
          </a:prstGeom>
          <a:noFill/>
          <a:ln/>
        </p:spPr>
        <p:txBody>
          <a:bodyPr wrap="square" lIns="0" tIns="0" rIns="0" bIns="0" rtlCol="0" anchor="ctr"/>
          <a:lstStyle/>
          <a:p>
            <a:pPr indent="0" marL="0">
              <a:buNone/>
            </a:pPr>
            <a:r>
              <a:rPr lang="en-US" sz="1050" b="1" dirty="0">
                <a:solidFill>
                  <a:srgbClr val="C1922C"/>
                </a:solidFill>
                <a:latin typeface="Calibri" pitchFamily="34" charset="0"/>
                <a:ea typeface="Calibri" pitchFamily="34" charset="-122"/>
                <a:cs typeface="Calibri" pitchFamily="34" charset="-120"/>
              </a:rPr>
              <a:t>contract fields — no missing, no extra</a:t>
            </a:r>
            <a:endParaRPr lang="en-US" sz="1050" dirty="0"/>
          </a:p>
        </p:txBody>
      </p:sp>
      <p:sp>
        <p:nvSpPr>
          <p:cNvPr id="20" name="Text 18"/>
          <p:cNvSpPr txBox="1"/>
          <p:nvPr/>
        </p:nvSpPr>
        <p:spPr>
          <a:xfrm>
            <a:off x="704088" y="4471416"/>
            <a:ext cx="5052060" cy="685800"/>
          </a:xfrm>
          <a:prstGeom prst="rect">
            <a:avLst/>
          </a:prstGeom>
          <a:noFill/>
          <a:ln/>
        </p:spPr>
        <p:txBody>
          <a:bodyPr wrap="square" lIns="0" tIns="0" rIns="0" bIns="0" rtlCol="0" anchor="t"/>
          <a:lstStyle/>
          <a:p>
            <a:pPr indent="0" marL="0">
              <a:buNone/>
            </a:pPr>
            <a:r>
              <a:rPr lang="en-US" sz="900" dirty="0">
                <a:solidFill>
                  <a:srgbClr val="63708C"/>
                </a:solidFill>
                <a:latin typeface="Calibri" pitchFamily="34" charset="0"/>
                <a:ea typeface="Calibri" pitchFamily="34" charset="-122"/>
                <a:cs typeface="Calibri" pitchFamily="34" charset="-120"/>
              </a:rPr>
              <a:t>The push worker's own built-in contract guard passes against the new database, and a real POST payload has exactly the 87 contract fields.</a:t>
            </a:r>
            <a:endParaRPr lang="en-US" sz="900" dirty="0"/>
          </a:p>
        </p:txBody>
      </p:sp>
      <p:sp>
        <p:nvSpPr>
          <p:cNvPr id="21" name="Shape 19"/>
          <p:cNvSpPr/>
          <p:nvPr/>
        </p:nvSpPr>
        <p:spPr>
          <a:xfrm>
            <a:off x="6231636" y="3611880"/>
            <a:ext cx="5454396" cy="1600200"/>
          </a:xfrm>
          <a:prstGeom prst="roundRect">
            <a:avLst>
              <a:gd name="adj" fmla="val 3429"/>
            </a:avLst>
          </a:prstGeom>
          <a:solidFill>
            <a:srgbClr val="EEF1F7"/>
          </a:solidFill>
          <a:ln w="12700">
            <a:solidFill>
              <a:srgbClr val="DCE3EF"/>
            </a:solidFill>
            <a:prstDash val="solid"/>
          </a:ln>
        </p:spPr>
      </p:sp>
      <p:sp>
        <p:nvSpPr>
          <p:cNvPr id="22" name="Text 20"/>
          <p:cNvSpPr txBox="1"/>
          <p:nvPr/>
        </p:nvSpPr>
        <p:spPr>
          <a:xfrm>
            <a:off x="6432804" y="3739896"/>
            <a:ext cx="5052060" cy="457200"/>
          </a:xfrm>
          <a:prstGeom prst="rect">
            <a:avLst/>
          </a:prstGeom>
          <a:noFill/>
          <a:ln/>
        </p:spPr>
        <p:txBody>
          <a:bodyPr wrap="square" lIns="0" tIns="0" rIns="0" bIns="0" rtlCol="0" anchor="ctr"/>
          <a:lstStyle/>
          <a:p>
            <a:pPr indent="0" marL="0">
              <a:buNone/>
            </a:pPr>
            <a:r>
              <a:rPr lang="en-US" sz="2400" b="1" dirty="0">
                <a:solidFill>
                  <a:srgbClr val="12213E"/>
                </a:solidFill>
                <a:latin typeface="Cambria" pitchFamily="34" charset="0"/>
                <a:ea typeface="Cambria" pitchFamily="34" charset="-122"/>
                <a:cs typeface="Cambria" pitchFamily="34" charset="-120"/>
              </a:rPr>
              <a:t>2,865 / 2,865</a:t>
            </a:r>
            <a:endParaRPr lang="en-US" sz="2400" dirty="0"/>
          </a:p>
        </p:txBody>
      </p:sp>
      <p:sp>
        <p:nvSpPr>
          <p:cNvPr id="23" name="Text 21"/>
          <p:cNvSpPr txBox="1"/>
          <p:nvPr/>
        </p:nvSpPr>
        <p:spPr>
          <a:xfrm>
            <a:off x="6432804" y="4178808"/>
            <a:ext cx="5052060" cy="274320"/>
          </a:xfrm>
          <a:prstGeom prst="rect">
            <a:avLst/>
          </a:prstGeom>
          <a:noFill/>
          <a:ln/>
        </p:spPr>
        <p:txBody>
          <a:bodyPr wrap="square" lIns="0" tIns="0" rIns="0" bIns="0" rtlCol="0" anchor="ctr"/>
          <a:lstStyle/>
          <a:p>
            <a:pPr indent="0" marL="0">
              <a:buNone/>
            </a:pPr>
            <a:r>
              <a:rPr lang="en-US" sz="1050" b="1" dirty="0">
                <a:solidFill>
                  <a:srgbClr val="C1922C"/>
                </a:solidFill>
                <a:latin typeface="Calibri" pitchFamily="34" charset="0"/>
                <a:ea typeface="Calibri" pitchFamily="34" charset="-122"/>
                <a:cs typeface="Calibri" pitchFamily="34" charset="-120"/>
              </a:rPr>
              <a:t>downstream tests unchanged</a:t>
            </a:r>
            <a:endParaRPr lang="en-US" sz="1050" dirty="0"/>
          </a:p>
        </p:txBody>
      </p:sp>
      <p:sp>
        <p:nvSpPr>
          <p:cNvPr id="24" name="Text 22"/>
          <p:cNvSpPr txBox="1"/>
          <p:nvPr/>
        </p:nvSpPr>
        <p:spPr>
          <a:xfrm>
            <a:off x="6432804" y="4471416"/>
            <a:ext cx="5052060" cy="685800"/>
          </a:xfrm>
          <a:prstGeom prst="rect">
            <a:avLst/>
          </a:prstGeom>
          <a:noFill/>
          <a:ln/>
        </p:spPr>
        <p:txBody>
          <a:bodyPr wrap="square" lIns="0" tIns="0" rIns="0" bIns="0" rtlCol="0" anchor="t"/>
          <a:lstStyle/>
          <a:p>
            <a:pPr indent="0" marL="0">
              <a:buNone/>
            </a:pPr>
            <a:r>
              <a:rPr lang="en-US" sz="900" dirty="0">
                <a:solidFill>
                  <a:srgbClr val="63708C"/>
                </a:solidFill>
                <a:latin typeface="Calibri" pitchFamily="34" charset="0"/>
                <a:ea typeface="Calibri" pitchFamily="34" charset="-122"/>
                <a:cs typeface="Calibri" pitchFamily="34" charset="-120"/>
              </a:rPr>
              <a:t>monolith 171/171 suites · 2416/2416 tests  ·  railway-gateway 31/31 + 17/17 e2e  ·  operation-service 43/43 · 401/401.</a:t>
            </a:r>
            <a:endParaRPr lang="en-US" sz="900" dirty="0"/>
          </a:p>
        </p:txBody>
      </p:sp>
      <p:sp>
        <p:nvSpPr>
          <p:cNvPr id="25" name="Shape 23"/>
          <p:cNvSpPr/>
          <p:nvPr/>
        </p:nvSpPr>
        <p:spPr>
          <a:xfrm>
            <a:off x="502920" y="5989320"/>
            <a:ext cx="11183112" cy="365760"/>
          </a:xfrm>
          <a:prstGeom prst="roundRect">
            <a:avLst>
              <a:gd name="adj" fmla="val 50000"/>
            </a:avLst>
          </a:prstGeom>
          <a:solidFill>
            <a:srgbClr val="F3DFDF"/>
          </a:solidFill>
          <a:ln/>
        </p:spPr>
      </p:sp>
      <p:sp>
        <p:nvSpPr>
          <p:cNvPr id="26" name="Text 24"/>
          <p:cNvSpPr txBox="1"/>
          <p:nvPr/>
        </p:nvSpPr>
        <p:spPr>
          <a:xfrm>
            <a:off x="502920" y="5989320"/>
            <a:ext cx="11183112" cy="365760"/>
          </a:xfrm>
          <a:prstGeom prst="rect">
            <a:avLst/>
          </a:prstGeom>
          <a:noFill/>
          <a:ln/>
        </p:spPr>
        <p:txBody>
          <a:bodyPr wrap="square" lIns="0" tIns="0" rIns="0" bIns="0" rtlCol="0" anchor="ctr"/>
          <a:lstStyle/>
          <a:p>
            <a:pPr algn="ctr" indent="0" marL="0">
              <a:buNone/>
            </a:pPr>
            <a:r>
              <a:rPr lang="en-US" sz="950" b="1" dirty="0">
                <a:solidFill>
                  <a:srgbClr val="AD3B3B"/>
                </a:solidFill>
                <a:latin typeface="Calibri" pitchFamily="34" charset="0"/>
                <a:ea typeface="Calibri" pitchFamily="34" charset="-122"/>
                <a:cs typeface="Calibri" pitchFamily="34" charset="-120"/>
              </a:rPr>
              <a:t>⚠  THE MQL5 CHANGES CANNOT BE COMPILED OR TESTED HERE — VERIFIED BY INSPECTION ONLY. THAT'S WHY ACTION ITEM 1 EXISTS.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12213E"/>
          </a:solidFill>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2000" b="1" dirty="0">
                <a:solidFill>
                  <a:srgbClr val="E7CE96"/>
                </a:solidFill>
                <a:latin typeface="Cambria" pitchFamily="34" charset="0"/>
                <a:ea typeface="Cambria" pitchFamily="34" charset="-122"/>
                <a:cs typeface="Cambria" pitchFamily="34" charset="-120"/>
              </a:rPr>
              <a:t>B</a:t>
            </a:r>
            <a:endParaRPr lang="en-US" sz="2000" dirty="0"/>
          </a:p>
        </p:txBody>
      </p:sp>
      <p:sp>
        <p:nvSpPr>
          <p:cNvPr id="4" name="Text 2"/>
          <p:cNvSpPr txBox="1"/>
          <p:nvPr/>
        </p:nvSpPr>
        <p:spPr>
          <a:xfrm>
            <a:off x="1216152" y="420624"/>
            <a:ext cx="8686800" cy="256032"/>
          </a:xfrm>
          <a:prstGeom prst="rect">
            <a:avLst/>
          </a:prstGeom>
          <a:noFill/>
          <a:ln/>
        </p:spPr>
        <p:txBody>
          <a:bodyPr wrap="square" lIns="0" tIns="0" rIns="0" bIns="0" rtlCol="0" anchor="ctr"/>
          <a:lstStyle/>
          <a:p>
            <a:pPr indent="0" marL="0">
              <a:buNone/>
            </a:pPr>
            <a:r>
              <a:rPr lang="en-US" sz="1100" b="1" spc="200" kern="0" dirty="0">
                <a:solidFill>
                  <a:srgbClr val="C1922C"/>
                </a:solidFill>
                <a:latin typeface="Calibri" pitchFamily="34" charset="0"/>
                <a:ea typeface="Calibri" pitchFamily="34" charset="-122"/>
                <a:cs typeface="Calibri" pitchFamily="34" charset="-120"/>
              </a:rPr>
              <a:t>APPENDIX B</a:t>
            </a:r>
            <a:endParaRPr lang="en-US" sz="1100" dirty="0"/>
          </a:p>
        </p:txBody>
      </p:sp>
      <p:sp>
        <p:nvSpPr>
          <p:cNvPr id="5" name="Text 3"/>
          <p:cNvSpPr txBox="1"/>
          <p:nvPr/>
        </p:nvSpPr>
        <p:spPr>
          <a:xfrm>
            <a:off x="1216152" y="658368"/>
            <a:ext cx="9601200" cy="502920"/>
          </a:xfrm>
          <a:prstGeom prst="rect">
            <a:avLst/>
          </a:prstGeom>
          <a:noFill/>
          <a:ln/>
        </p:spPr>
        <p:txBody>
          <a:bodyPr wrap="square" lIns="0" tIns="0" rIns="0" bIns="0" rtlCol="0" anchor="ctr"/>
          <a:lstStyle/>
          <a:p>
            <a:pPr indent="0" marL="0">
              <a:buNone/>
            </a:pPr>
            <a:r>
              <a:rPr lang="en-US" sz="2700" b="1" dirty="0">
                <a:solidFill>
                  <a:srgbClr val="12213E"/>
                </a:solidFill>
                <a:latin typeface="Cambria" pitchFamily="34" charset="0"/>
                <a:ea typeface="Cambria" pitchFamily="34" charset="-122"/>
                <a:cs typeface="Cambria" pitchFamily="34" charset="-120"/>
              </a:rPr>
              <a:t>Statistics Path Verification</a:t>
            </a:r>
            <a:endParaRPr lang="en-US" sz="2700" dirty="0"/>
          </a:p>
        </p:txBody>
      </p:sp>
      <p:sp>
        <p:nvSpPr>
          <p:cNvPr id="6" name="Text 4"/>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3708C"/>
                </a:solidFill>
                <a:latin typeface="Calibri" pitchFamily="34" charset="0"/>
                <a:ea typeface="Calibri" pitchFamily="34" charset="-122"/>
                <a:cs typeface="Calibri" pitchFamily="34" charset="-120"/>
              </a:rPr>
              <a:t>V2.29 Data Pipeline  ·  XAUUSD  M5 / M15</a:t>
            </a:r>
            <a:endParaRPr lang="en-US" sz="900" dirty="0"/>
          </a:p>
        </p:txBody>
      </p:sp>
      <p:sp>
        <p:nvSpPr>
          <p:cNvPr id="7" name="Text 5"/>
          <p:cNvSpPr txBox="1"/>
          <p:nvPr/>
        </p:nvSpPr>
        <p:spPr>
          <a:xfrm>
            <a:off x="10588752" y="6473952"/>
            <a:ext cx="1097280" cy="274320"/>
          </a:xfrm>
          <a:prstGeom prst="rect">
            <a:avLst/>
          </a:prstGeom>
          <a:noFill/>
          <a:ln/>
        </p:spPr>
        <p:txBody>
          <a:bodyPr wrap="square" lIns="0" tIns="0" rIns="0" bIns="0" rtlCol="0" anchor="ctr"/>
          <a:lstStyle/>
          <a:p>
            <a:pPr algn="r" indent="0" marL="0">
              <a:buNone/>
            </a:pPr>
            <a:r>
              <a:rPr lang="en-US" sz="900" dirty="0">
                <a:solidFill>
                  <a:srgbClr val="63708C"/>
                </a:solidFill>
                <a:latin typeface="Calibri" pitchFamily="34" charset="0"/>
                <a:ea typeface="Calibri" pitchFamily="34" charset="-122"/>
                <a:cs typeface="Calibri" pitchFamily="34" charset="-120"/>
              </a:rPr>
              <a:t>B</a:t>
            </a:r>
            <a:endParaRPr lang="en-US" sz="900" dirty="0"/>
          </a:p>
        </p:txBody>
      </p:sp>
      <p:sp>
        <p:nvSpPr>
          <p:cNvPr id="8" name="Text 6"/>
          <p:cNvSpPr txBox="1"/>
          <p:nvPr/>
        </p:nvSpPr>
        <p:spPr>
          <a:xfrm>
            <a:off x="502920" y="1298448"/>
            <a:ext cx="10789920" cy="292608"/>
          </a:xfrm>
          <a:prstGeom prst="rect">
            <a:avLst/>
          </a:prstGeom>
          <a:noFill/>
          <a:ln/>
        </p:spPr>
        <p:txBody>
          <a:bodyPr wrap="square" lIns="0" tIns="0" rIns="0" bIns="0" rtlCol="0" anchor="ctr"/>
          <a:lstStyle/>
          <a:p>
            <a:pPr indent="0" marL="0">
              <a:buNone/>
            </a:pPr>
            <a:r>
              <a:rPr lang="en-US" sz="1300" i="1" dirty="0">
                <a:solidFill>
                  <a:srgbClr val="63708C"/>
                </a:solidFill>
                <a:latin typeface="Calibri" pitchFamily="34" charset="0"/>
                <a:ea typeface="Calibri" pitchFamily="34" charset="-122"/>
                <a:cs typeface="Calibri" pitchFamily="34" charset="-120"/>
              </a:rPr>
              <a:t>Six checks run specifically on the new append-only lane:</a:t>
            </a:r>
            <a:endParaRPr lang="en-US" sz="1300" dirty="0"/>
          </a:p>
        </p:txBody>
      </p:sp>
      <p:sp>
        <p:nvSpPr>
          <p:cNvPr id="9" name="Shape 7"/>
          <p:cNvSpPr/>
          <p:nvPr/>
        </p:nvSpPr>
        <p:spPr>
          <a:xfrm>
            <a:off x="502920" y="1719072"/>
            <a:ext cx="5490972" cy="1389888"/>
          </a:xfrm>
          <a:prstGeom prst="roundRect">
            <a:avLst>
              <a:gd name="adj" fmla="val 3947"/>
            </a:avLst>
          </a:prstGeom>
          <a:solidFill>
            <a:srgbClr val="EEF1F7"/>
          </a:solidFill>
          <a:ln w="12700">
            <a:solidFill>
              <a:srgbClr val="DCE3EF"/>
            </a:solidFill>
            <a:prstDash val="solid"/>
          </a:ln>
        </p:spPr>
      </p:sp>
      <p:sp>
        <p:nvSpPr>
          <p:cNvPr id="10" name="Shape 8"/>
          <p:cNvSpPr/>
          <p:nvPr/>
        </p:nvSpPr>
        <p:spPr>
          <a:xfrm>
            <a:off x="685800" y="1883664"/>
            <a:ext cx="292608" cy="292608"/>
          </a:xfrm>
          <a:prstGeom prst="ellipse">
            <a:avLst/>
          </a:prstGeom>
          <a:solidFill>
            <a:srgbClr val="3E7C59"/>
          </a:solidFill>
          <a:ln/>
        </p:spPr>
      </p:sp>
      <p:sp>
        <p:nvSpPr>
          <p:cNvPr id="11" name="Text 9"/>
          <p:cNvSpPr txBox="1"/>
          <p:nvPr/>
        </p:nvSpPr>
        <p:spPr>
          <a:xfrm>
            <a:off x="685800" y="188366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txBox="1"/>
          <p:nvPr/>
        </p:nvSpPr>
        <p:spPr>
          <a:xfrm>
            <a:off x="1088136" y="1865376"/>
            <a:ext cx="4704588" cy="329184"/>
          </a:xfrm>
          <a:prstGeom prst="rect">
            <a:avLst/>
          </a:prstGeom>
          <a:noFill/>
          <a:ln/>
        </p:spPr>
        <p:txBody>
          <a:bodyPr wrap="square" lIns="0" tIns="0" rIns="0" bIns="0" rtlCol="0" anchor="ctr"/>
          <a:lstStyle/>
          <a:p>
            <a:pPr indent="0" marL="0">
              <a:buNone/>
            </a:pPr>
            <a:r>
              <a:rPr lang="en-US" sz="1100" b="1" dirty="0">
                <a:solidFill>
                  <a:srgbClr val="12213E"/>
                </a:solidFill>
                <a:latin typeface="Calibri" pitchFamily="34" charset="0"/>
                <a:ea typeface="Calibri" pitchFamily="34" charset="-122"/>
                <a:cs typeface="Calibri" pitchFamily="34" charset="-120"/>
              </a:rPr>
              <a:t>Append-only — proved, not assumed</a:t>
            </a:r>
            <a:endParaRPr lang="en-US" sz="1100" dirty="0"/>
          </a:p>
        </p:txBody>
      </p:sp>
      <p:sp>
        <p:nvSpPr>
          <p:cNvPr id="13" name="Text 11"/>
          <p:cNvSpPr txBox="1"/>
          <p:nvPr/>
        </p:nvSpPr>
        <p:spPr>
          <a:xfrm>
            <a:off x="685800" y="2249424"/>
            <a:ext cx="5125212" cy="731520"/>
          </a:xfrm>
          <a:prstGeom prst="rect">
            <a:avLst/>
          </a:prstGeom>
          <a:noFill/>
          <a:ln/>
        </p:spPr>
        <p:txBody>
          <a:bodyPr wrap="square" lIns="0" tIns="0" rIns="0" bIns="0" rtlCol="0" anchor="t"/>
          <a:lstStyle/>
          <a:p>
            <a:pPr indent="0" marL="0">
              <a:buNone/>
            </a:pPr>
            <a:r>
              <a:rPr lang="en-US" sz="870" dirty="0">
                <a:solidFill>
                  <a:srgbClr val="1B2436"/>
                </a:solidFill>
                <a:latin typeface="Calibri" pitchFamily="34" charset="0"/>
                <a:ea typeface="Calibri" pitchFamily="34" charset="-122"/>
                <a:cs typeface="Calibri" pitchFamily="34" charset="-120"/>
              </a:rPr>
              <a:t>Two cycles run with one indicator's R² changed mid-stream → 20 rows, not 10. First cycle's value unchanged; the new value is a separate row. Re-staging the same captured_at is idempotent — retries can't duplicate.</a:t>
            </a:r>
            <a:endParaRPr lang="en-US" sz="870" dirty="0"/>
          </a:p>
        </p:txBody>
      </p:sp>
      <p:sp>
        <p:nvSpPr>
          <p:cNvPr id="14" name="Shape 12"/>
          <p:cNvSpPr/>
          <p:nvPr/>
        </p:nvSpPr>
        <p:spPr>
          <a:xfrm>
            <a:off x="6195060" y="1719072"/>
            <a:ext cx="5490972" cy="1389888"/>
          </a:xfrm>
          <a:prstGeom prst="roundRect">
            <a:avLst>
              <a:gd name="adj" fmla="val 3947"/>
            </a:avLst>
          </a:prstGeom>
          <a:solidFill>
            <a:srgbClr val="EEF1F7"/>
          </a:solidFill>
          <a:ln w="12700">
            <a:solidFill>
              <a:srgbClr val="DCE3EF"/>
            </a:solidFill>
            <a:prstDash val="solid"/>
          </a:ln>
        </p:spPr>
      </p:sp>
      <p:sp>
        <p:nvSpPr>
          <p:cNvPr id="15" name="Shape 13"/>
          <p:cNvSpPr/>
          <p:nvPr/>
        </p:nvSpPr>
        <p:spPr>
          <a:xfrm>
            <a:off x="6377940" y="1883664"/>
            <a:ext cx="292608" cy="292608"/>
          </a:xfrm>
          <a:prstGeom prst="ellipse">
            <a:avLst/>
          </a:prstGeom>
          <a:solidFill>
            <a:srgbClr val="3E7C59"/>
          </a:solidFill>
          <a:ln/>
        </p:spPr>
      </p:sp>
      <p:sp>
        <p:nvSpPr>
          <p:cNvPr id="16" name="Text 14"/>
          <p:cNvSpPr txBox="1"/>
          <p:nvPr/>
        </p:nvSpPr>
        <p:spPr>
          <a:xfrm>
            <a:off x="6377940" y="188366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txBox="1"/>
          <p:nvPr/>
        </p:nvSpPr>
        <p:spPr>
          <a:xfrm>
            <a:off x="6780276" y="1865376"/>
            <a:ext cx="4704588" cy="329184"/>
          </a:xfrm>
          <a:prstGeom prst="rect">
            <a:avLst/>
          </a:prstGeom>
          <a:noFill/>
          <a:ln/>
        </p:spPr>
        <p:txBody>
          <a:bodyPr wrap="square" lIns="0" tIns="0" rIns="0" bIns="0" rtlCol="0" anchor="ctr"/>
          <a:lstStyle/>
          <a:p>
            <a:pPr indent="0" marL="0">
              <a:buNone/>
            </a:pPr>
            <a:r>
              <a:rPr lang="en-US" sz="1100" b="1" dirty="0">
                <a:solidFill>
                  <a:srgbClr val="12213E"/>
                </a:solidFill>
                <a:latin typeface="Calibri" pitchFamily="34" charset="0"/>
                <a:ea typeface="Calibri" pitchFamily="34" charset="-122"/>
                <a:cs typeface="Calibri" pitchFamily="34" charset="-120"/>
              </a:rPr>
              <a:t>Isolation — proved</a:t>
            </a:r>
            <a:endParaRPr lang="en-US" sz="1100" dirty="0"/>
          </a:p>
        </p:txBody>
      </p:sp>
      <p:sp>
        <p:nvSpPr>
          <p:cNvPr id="18" name="Text 16"/>
          <p:cNvSpPr txBox="1"/>
          <p:nvPr/>
        </p:nvSpPr>
        <p:spPr>
          <a:xfrm>
            <a:off x="6377940" y="2249424"/>
            <a:ext cx="5125212" cy="731520"/>
          </a:xfrm>
          <a:prstGeom prst="rect">
            <a:avLst/>
          </a:prstGeom>
          <a:noFill/>
          <a:ln/>
        </p:spPr>
        <p:txBody>
          <a:bodyPr wrap="square" lIns="0" tIns="0" rIns="0" bIns="0" rtlCol="0" anchor="t"/>
          <a:lstStyle/>
          <a:p>
            <a:pPr indent="0" marL="0">
              <a:buNone/>
            </a:pPr>
            <a:r>
              <a:rPr lang="en-US" sz="870" dirty="0">
                <a:solidFill>
                  <a:srgbClr val="1B2436"/>
                </a:solidFill>
                <a:latin typeface="Calibri" pitchFamily="34" charset="0"/>
                <a:ea typeface="Calibri" pitchFamily="34" charset="-122"/>
                <a:cs typeface="Calibri" pitchFamily="34" charset="-120"/>
              </a:rPr>
              <a:t>Statistics endpoint pointed at a dead port → failure swallowed, rows queued for retry, nothing lost. market_data drain completely untouched. This is what makes the second lane safe to add at all.</a:t>
            </a:r>
            <a:endParaRPr lang="en-US" sz="870" dirty="0"/>
          </a:p>
        </p:txBody>
      </p:sp>
      <p:sp>
        <p:nvSpPr>
          <p:cNvPr id="19" name="Shape 17"/>
          <p:cNvSpPr/>
          <p:nvPr/>
        </p:nvSpPr>
        <p:spPr>
          <a:xfrm>
            <a:off x="502920" y="3310128"/>
            <a:ext cx="5490972" cy="1389888"/>
          </a:xfrm>
          <a:prstGeom prst="roundRect">
            <a:avLst>
              <a:gd name="adj" fmla="val 3947"/>
            </a:avLst>
          </a:prstGeom>
          <a:solidFill>
            <a:srgbClr val="EEF1F7"/>
          </a:solidFill>
          <a:ln w="12700">
            <a:solidFill>
              <a:srgbClr val="DCE3EF"/>
            </a:solidFill>
            <a:prstDash val="solid"/>
          </a:ln>
        </p:spPr>
      </p:sp>
      <p:sp>
        <p:nvSpPr>
          <p:cNvPr id="20" name="Shape 18"/>
          <p:cNvSpPr/>
          <p:nvPr/>
        </p:nvSpPr>
        <p:spPr>
          <a:xfrm>
            <a:off x="685800" y="3474720"/>
            <a:ext cx="292608" cy="292608"/>
          </a:xfrm>
          <a:prstGeom prst="ellipse">
            <a:avLst/>
          </a:prstGeom>
          <a:solidFill>
            <a:srgbClr val="3E7C59"/>
          </a:solidFill>
          <a:ln/>
        </p:spPr>
      </p:sp>
      <p:sp>
        <p:nvSpPr>
          <p:cNvPr id="21" name="Text 19"/>
          <p:cNvSpPr txBox="1"/>
          <p:nvPr/>
        </p:nvSpPr>
        <p:spPr>
          <a:xfrm>
            <a:off x="685800" y="34747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txBox="1"/>
          <p:nvPr/>
        </p:nvSpPr>
        <p:spPr>
          <a:xfrm>
            <a:off x="1088136" y="3456432"/>
            <a:ext cx="4704588" cy="329184"/>
          </a:xfrm>
          <a:prstGeom prst="rect">
            <a:avLst/>
          </a:prstGeom>
          <a:noFill/>
          <a:ln/>
        </p:spPr>
        <p:txBody>
          <a:bodyPr wrap="square" lIns="0" tIns="0" rIns="0" bIns="0" rtlCol="0" anchor="ctr"/>
          <a:lstStyle/>
          <a:p>
            <a:pPr indent="0" marL="0">
              <a:buNone/>
            </a:pPr>
            <a:r>
              <a:rPr lang="en-US" sz="1100" b="1" dirty="0">
                <a:solidFill>
                  <a:srgbClr val="12213E"/>
                </a:solidFill>
                <a:latin typeface="Calibri" pitchFamily="34" charset="0"/>
                <a:ea typeface="Calibri" pitchFamily="34" charset="-122"/>
                <a:cs typeface="Calibri" pitchFamily="34" charset="-120"/>
              </a:rPr>
              <a:t>Parser — tested against real files</a:t>
            </a:r>
            <a:endParaRPr lang="en-US" sz="1100" dirty="0"/>
          </a:p>
        </p:txBody>
      </p:sp>
      <p:sp>
        <p:nvSpPr>
          <p:cNvPr id="23" name="Text 21"/>
          <p:cNvSpPr txBox="1"/>
          <p:nvPr/>
        </p:nvSpPr>
        <p:spPr>
          <a:xfrm>
            <a:off x="685800" y="3840480"/>
            <a:ext cx="5125212" cy="731520"/>
          </a:xfrm>
          <a:prstGeom prst="rect">
            <a:avLst/>
          </a:prstGeom>
          <a:noFill/>
          <a:ln/>
        </p:spPr>
        <p:txBody>
          <a:bodyPr wrap="square" lIns="0" tIns="0" rIns="0" bIns="0" rtlCol="0" anchor="t"/>
          <a:lstStyle/>
          <a:p>
            <a:pPr indent="0" marL="0">
              <a:buNone/>
            </a:pPr>
            <a:r>
              <a:rPr lang="en-US" sz="870" dirty="0">
                <a:solidFill>
                  <a:srgbClr val="1B2436"/>
                </a:solidFill>
                <a:latin typeface="Calibri" pitchFamily="34" charset="0"/>
                <a:ea typeface="Calibri" pitchFamily="34" charset="-122"/>
                <a:cs typeface="Calibri" pitchFamily="34" charset="-120"/>
              </a:rPr>
              <a:t>Pre-block _Statistic.txt captures correctly read the new fields as missing, not zero — the distinction that matters, since R² = 0.0 is a real measurement and a missing one is not.</a:t>
            </a:r>
            <a:endParaRPr lang="en-US" sz="870" dirty="0"/>
          </a:p>
        </p:txBody>
      </p:sp>
      <p:sp>
        <p:nvSpPr>
          <p:cNvPr id="24" name="Shape 22"/>
          <p:cNvSpPr/>
          <p:nvPr/>
        </p:nvSpPr>
        <p:spPr>
          <a:xfrm>
            <a:off x="6195060" y="3310128"/>
            <a:ext cx="5490972" cy="1389888"/>
          </a:xfrm>
          <a:prstGeom prst="roundRect">
            <a:avLst>
              <a:gd name="adj" fmla="val 3947"/>
            </a:avLst>
          </a:prstGeom>
          <a:solidFill>
            <a:srgbClr val="EEF1F7"/>
          </a:solidFill>
          <a:ln w="12700">
            <a:solidFill>
              <a:srgbClr val="DCE3EF"/>
            </a:solidFill>
            <a:prstDash val="solid"/>
          </a:ln>
        </p:spPr>
      </p:sp>
      <p:sp>
        <p:nvSpPr>
          <p:cNvPr id="25" name="Shape 23"/>
          <p:cNvSpPr/>
          <p:nvPr/>
        </p:nvSpPr>
        <p:spPr>
          <a:xfrm>
            <a:off x="6377940" y="3474720"/>
            <a:ext cx="292608" cy="292608"/>
          </a:xfrm>
          <a:prstGeom prst="ellipse">
            <a:avLst/>
          </a:prstGeom>
          <a:solidFill>
            <a:srgbClr val="3E7C59"/>
          </a:solidFill>
          <a:ln/>
        </p:spPr>
      </p:sp>
      <p:sp>
        <p:nvSpPr>
          <p:cNvPr id="26" name="Text 24"/>
          <p:cNvSpPr txBox="1"/>
          <p:nvPr/>
        </p:nvSpPr>
        <p:spPr>
          <a:xfrm>
            <a:off x="6377940" y="34747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txBox="1"/>
          <p:nvPr/>
        </p:nvSpPr>
        <p:spPr>
          <a:xfrm>
            <a:off x="6780276" y="3456432"/>
            <a:ext cx="4704588" cy="329184"/>
          </a:xfrm>
          <a:prstGeom prst="rect">
            <a:avLst/>
          </a:prstGeom>
          <a:noFill/>
          <a:ln/>
        </p:spPr>
        <p:txBody>
          <a:bodyPr wrap="square" lIns="0" tIns="0" rIns="0" bIns="0" rtlCol="0" anchor="ctr"/>
          <a:lstStyle/>
          <a:p>
            <a:pPr indent="0" marL="0">
              <a:buNone/>
            </a:pPr>
            <a:r>
              <a:rPr lang="en-US" sz="1100" b="1" dirty="0">
                <a:solidFill>
                  <a:srgbClr val="12213E"/>
                </a:solidFill>
                <a:latin typeface="Calibri" pitchFamily="34" charset="0"/>
                <a:ea typeface="Calibri" pitchFamily="34" charset="-122"/>
                <a:cs typeface="Calibri" pitchFamily="34" charset="-120"/>
              </a:rPr>
              <a:t>Config hashing — verified stable</a:t>
            </a:r>
            <a:endParaRPr lang="en-US" sz="1100" dirty="0"/>
          </a:p>
        </p:txBody>
      </p:sp>
      <p:sp>
        <p:nvSpPr>
          <p:cNvPr id="28" name="Text 26"/>
          <p:cNvSpPr txBox="1"/>
          <p:nvPr/>
        </p:nvSpPr>
        <p:spPr>
          <a:xfrm>
            <a:off x="6377940" y="3840480"/>
            <a:ext cx="5125212" cy="731520"/>
          </a:xfrm>
          <a:prstGeom prst="rect">
            <a:avLst/>
          </a:prstGeom>
          <a:noFill/>
          <a:ln/>
        </p:spPr>
        <p:txBody>
          <a:bodyPr wrap="square" lIns="0" tIns="0" rIns="0" bIns="0" rtlCol="0" anchor="t"/>
          <a:lstStyle/>
          <a:p>
            <a:pPr indent="0" marL="0">
              <a:buNone/>
            </a:pPr>
            <a:r>
              <a:rPr lang="en-US" sz="870" dirty="0">
                <a:solidFill>
                  <a:srgbClr val="1B2436"/>
                </a:solidFill>
                <a:latin typeface="Calibri" pitchFamily="34" charset="0"/>
                <a:ea typeface="Calibri" pitchFamily="34" charset="-122"/>
                <a:cs typeface="Calibri" pitchFamily="34" charset="-120"/>
              </a:rPr>
              <a:t>An unchanged indicator configuration produces a stable hash across cycles, so a new hash genuinely means a reconfiguration rather than noise.</a:t>
            </a:r>
            <a:endParaRPr lang="en-US" sz="870" dirty="0"/>
          </a:p>
        </p:txBody>
      </p:sp>
      <p:sp>
        <p:nvSpPr>
          <p:cNvPr id="29" name="Shape 27"/>
          <p:cNvSpPr/>
          <p:nvPr/>
        </p:nvSpPr>
        <p:spPr>
          <a:xfrm>
            <a:off x="502920" y="4901184"/>
            <a:ext cx="5490972" cy="1389888"/>
          </a:xfrm>
          <a:prstGeom prst="roundRect">
            <a:avLst>
              <a:gd name="adj" fmla="val 3947"/>
            </a:avLst>
          </a:prstGeom>
          <a:solidFill>
            <a:srgbClr val="EEF1F7"/>
          </a:solidFill>
          <a:ln w="12700">
            <a:solidFill>
              <a:srgbClr val="DCE3EF"/>
            </a:solidFill>
            <a:prstDash val="solid"/>
          </a:ln>
        </p:spPr>
      </p:sp>
      <p:sp>
        <p:nvSpPr>
          <p:cNvPr id="30" name="Shape 28"/>
          <p:cNvSpPr/>
          <p:nvPr/>
        </p:nvSpPr>
        <p:spPr>
          <a:xfrm>
            <a:off x="685800" y="5065776"/>
            <a:ext cx="292608" cy="292608"/>
          </a:xfrm>
          <a:prstGeom prst="ellipse">
            <a:avLst/>
          </a:prstGeom>
          <a:solidFill>
            <a:srgbClr val="3E7C59"/>
          </a:solidFill>
          <a:ln/>
        </p:spPr>
      </p:sp>
      <p:sp>
        <p:nvSpPr>
          <p:cNvPr id="31" name="Text 29"/>
          <p:cNvSpPr txBox="1"/>
          <p:nvPr/>
        </p:nvSpPr>
        <p:spPr>
          <a:xfrm>
            <a:off x="685800" y="506577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2" name="Text 30"/>
          <p:cNvSpPr txBox="1"/>
          <p:nvPr/>
        </p:nvSpPr>
        <p:spPr>
          <a:xfrm>
            <a:off x="1088136" y="5047488"/>
            <a:ext cx="4704588" cy="329184"/>
          </a:xfrm>
          <a:prstGeom prst="rect">
            <a:avLst/>
          </a:prstGeom>
          <a:noFill/>
          <a:ln/>
        </p:spPr>
        <p:txBody>
          <a:bodyPr wrap="square" lIns="0" tIns="0" rIns="0" bIns="0" rtlCol="0" anchor="ctr"/>
          <a:lstStyle/>
          <a:p>
            <a:pPr indent="0" marL="0">
              <a:buNone/>
            </a:pPr>
            <a:r>
              <a:rPr lang="en-US" sz="1100" b="1" dirty="0">
                <a:solidFill>
                  <a:srgbClr val="12213E"/>
                </a:solidFill>
                <a:latin typeface="Calibri" pitchFamily="34" charset="0"/>
                <a:ea typeface="Calibri" pitchFamily="34" charset="-122"/>
                <a:cs typeface="Calibri" pitchFamily="34" charset="-120"/>
              </a:rPr>
              <a:t>Design flaw caught &amp; fixed</a:t>
            </a:r>
            <a:endParaRPr lang="en-US" sz="1100" dirty="0"/>
          </a:p>
        </p:txBody>
      </p:sp>
      <p:sp>
        <p:nvSpPr>
          <p:cNvPr id="33" name="Text 31"/>
          <p:cNvSpPr txBox="1"/>
          <p:nvPr/>
        </p:nvSpPr>
        <p:spPr>
          <a:xfrm>
            <a:off x="685800" y="5431536"/>
            <a:ext cx="5125212" cy="731520"/>
          </a:xfrm>
          <a:prstGeom prst="rect">
            <a:avLst/>
          </a:prstGeom>
          <a:noFill/>
          <a:ln/>
        </p:spPr>
        <p:txBody>
          <a:bodyPr wrap="square" lIns="0" tIns="0" rIns="0" bIns="0" rtlCol="0" anchor="t"/>
          <a:lstStyle/>
          <a:p>
            <a:pPr indent="0" marL="0">
              <a:buNone/>
            </a:pPr>
            <a:r>
              <a:rPr lang="en-US" sz="870" dirty="0">
                <a:solidFill>
                  <a:srgbClr val="1B2436"/>
                </a:solidFill>
                <a:latin typeface="Calibri" pitchFamily="34" charset="0"/>
                <a:ea typeface="Calibri" pitchFamily="34" charset="-122"/>
                <a:cs typeface="Calibri" pitchFamily="34" charset="-120"/>
              </a:rPr>
              <a:t>Schema declared both a unique constraint and a plain index on the same 4 columns — duplicated write cost on a table meant to grow ~1M rows/year and never be updated. Removed.</a:t>
            </a:r>
            <a:endParaRPr lang="en-US" sz="870" dirty="0"/>
          </a:p>
        </p:txBody>
      </p:sp>
      <p:sp>
        <p:nvSpPr>
          <p:cNvPr id="34" name="Shape 32"/>
          <p:cNvSpPr/>
          <p:nvPr/>
        </p:nvSpPr>
        <p:spPr>
          <a:xfrm>
            <a:off x="6195060" y="4901184"/>
            <a:ext cx="5490972" cy="1389888"/>
          </a:xfrm>
          <a:prstGeom prst="roundRect">
            <a:avLst>
              <a:gd name="adj" fmla="val 3947"/>
            </a:avLst>
          </a:prstGeom>
          <a:solidFill>
            <a:srgbClr val="F3DFDF"/>
          </a:solidFill>
          <a:ln w="12700">
            <a:solidFill>
              <a:srgbClr val="DCE3EF"/>
            </a:solidFill>
            <a:prstDash val="solid"/>
          </a:ln>
        </p:spPr>
      </p:sp>
      <p:sp>
        <p:nvSpPr>
          <p:cNvPr id="35" name="Shape 33"/>
          <p:cNvSpPr/>
          <p:nvPr/>
        </p:nvSpPr>
        <p:spPr>
          <a:xfrm>
            <a:off x="6377940" y="5065776"/>
            <a:ext cx="292608" cy="292608"/>
          </a:xfrm>
          <a:prstGeom prst="ellipse">
            <a:avLst/>
          </a:prstGeom>
          <a:solidFill>
            <a:srgbClr val="AD3B3B"/>
          </a:solidFill>
          <a:ln/>
        </p:spPr>
      </p:sp>
      <p:sp>
        <p:nvSpPr>
          <p:cNvPr id="36" name="Text 34"/>
          <p:cNvSpPr txBox="1"/>
          <p:nvPr/>
        </p:nvSpPr>
        <p:spPr>
          <a:xfrm>
            <a:off x="6377940" y="506577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7" name="Text 35"/>
          <p:cNvSpPr txBox="1"/>
          <p:nvPr/>
        </p:nvSpPr>
        <p:spPr>
          <a:xfrm>
            <a:off x="6780276" y="5047488"/>
            <a:ext cx="4704588" cy="329184"/>
          </a:xfrm>
          <a:prstGeom prst="rect">
            <a:avLst/>
          </a:prstGeom>
          <a:noFill/>
          <a:ln/>
        </p:spPr>
        <p:txBody>
          <a:bodyPr wrap="square" lIns="0" tIns="0" rIns="0" bIns="0" rtlCol="0" anchor="ctr"/>
          <a:lstStyle/>
          <a:p>
            <a:pPr indent="0" marL="0">
              <a:buNone/>
            </a:pPr>
            <a:r>
              <a:rPr lang="en-US" sz="1100" b="1" dirty="0">
                <a:solidFill>
                  <a:srgbClr val="AD3B3B"/>
                </a:solidFill>
                <a:latin typeface="Calibri" pitchFamily="34" charset="0"/>
                <a:ea typeface="Calibri" pitchFamily="34" charset="-122"/>
                <a:cs typeface="Calibri" pitchFamily="34" charset="-120"/>
              </a:rPr>
              <a:t>Not yet verified</a:t>
            </a:r>
            <a:endParaRPr lang="en-US" sz="1100" dirty="0"/>
          </a:p>
        </p:txBody>
      </p:sp>
      <p:sp>
        <p:nvSpPr>
          <p:cNvPr id="38" name="Text 36"/>
          <p:cNvSpPr txBox="1"/>
          <p:nvPr/>
        </p:nvSpPr>
        <p:spPr>
          <a:xfrm>
            <a:off x="6377940" y="5431536"/>
            <a:ext cx="5125212" cy="731520"/>
          </a:xfrm>
          <a:prstGeom prst="rect">
            <a:avLst/>
          </a:prstGeom>
          <a:noFill/>
          <a:ln/>
        </p:spPr>
        <p:txBody>
          <a:bodyPr wrap="square" lIns="0" tIns="0" rIns="0" bIns="0" rtlCol="0" anchor="t"/>
          <a:lstStyle/>
          <a:p>
            <a:pPr indent="0" marL="0">
              <a:buNone/>
            </a:pPr>
            <a:r>
              <a:rPr lang="en-US" sz="870" dirty="0">
                <a:solidFill>
                  <a:srgbClr val="1B2436"/>
                </a:solidFill>
                <a:latin typeface="Calibri" pitchFamily="34" charset="0"/>
                <a:ea typeface="Calibri" pitchFamily="34" charset="-122"/>
                <a:cs typeface="Calibri" pitchFamily="34" charset="-120"/>
              </a:rPr>
              <a:t>A live MT5 → PostgreSQL round trip — gated on action item 1; the new statistic blocks aren't emitted until the recompiled .ex5 is deployed.</a:t>
            </a:r>
            <a:endParaRPr lang="en-US" sz="87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V2.29 Data Pipeline — Updated Architecture Summary</dc:title>
  <dc:subject>PptxGenJS Presentation</dc:subject>
  <dc:creator>Davin</dc:creator>
  <cp:lastModifiedBy>Davin</cp:lastModifiedBy>
  <cp:revision>1</cp:revision>
  <dcterms:created xsi:type="dcterms:W3CDTF">2026-09-09T17:22:47Z</dcterms:created>
  <dcterms:modified xsi:type="dcterms:W3CDTF">2026-09-09T17:22:47Z</dcterms:modified>
</cp:coreProperties>
</file>