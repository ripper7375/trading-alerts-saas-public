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2" r:id="rId2"/>
    <p:sldId id="263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50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537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965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756916" y="2103120"/>
            <a:ext cx="320040" cy="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6" name="Shape 4"/>
          <p:cNvSpPr/>
          <p:nvPr/>
        </p:nvSpPr>
        <p:spPr>
          <a:xfrm>
            <a:off x="3076956" y="1005840"/>
            <a:ext cx="0" cy="219456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7" name="Shape 5"/>
          <p:cNvSpPr/>
          <p:nvPr/>
        </p:nvSpPr>
        <p:spPr>
          <a:xfrm>
            <a:off x="3076956" y="100584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8" name="Shape 6"/>
          <p:cNvSpPr/>
          <p:nvPr/>
        </p:nvSpPr>
        <p:spPr>
          <a:xfrm>
            <a:off x="3076956" y="320040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9" name="Shape 7"/>
          <p:cNvSpPr/>
          <p:nvPr/>
        </p:nvSpPr>
        <p:spPr>
          <a:xfrm>
            <a:off x="5500116" y="1005840"/>
            <a:ext cx="320040" cy="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0" name="Shape 8"/>
          <p:cNvSpPr/>
          <p:nvPr/>
        </p:nvSpPr>
        <p:spPr>
          <a:xfrm>
            <a:off x="5500116" y="3200400"/>
            <a:ext cx="320040" cy="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1" name="Shape 9"/>
          <p:cNvSpPr/>
          <p:nvPr/>
        </p:nvSpPr>
        <p:spPr>
          <a:xfrm>
            <a:off x="5820156" y="1005840"/>
            <a:ext cx="0" cy="219456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2" name="Shape 10"/>
          <p:cNvSpPr/>
          <p:nvPr/>
        </p:nvSpPr>
        <p:spPr>
          <a:xfrm>
            <a:off x="5820156" y="210312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3" name="Shape 11"/>
          <p:cNvSpPr/>
          <p:nvPr/>
        </p:nvSpPr>
        <p:spPr>
          <a:xfrm>
            <a:off x="8426196" y="2103120"/>
            <a:ext cx="64008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4" name="Shape 12"/>
          <p:cNvSpPr/>
          <p:nvPr/>
        </p:nvSpPr>
        <p:spPr>
          <a:xfrm>
            <a:off x="653796" y="1280160"/>
            <a:ext cx="210312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13332" y="142646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51333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" y="1883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0100" y="224942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DavinTrade with a referral code at checkout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96996" y="2743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7171" y="651987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4271567" y="6454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88436" y="1024017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43300" y="12435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card payments &amp; subscriptions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456" y="2468879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32969" y="2884229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239739" y="28777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896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43300" y="34381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methods across 8 emerging markets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0196" y="128016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91172" y="142646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709117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163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86500" y="22494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attributed; commission earned &amp; tracked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66276" y="128016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17252" y="14264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01725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Calibri" pitchFamily="34" charset="0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5771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Wise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212580" y="22494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commissions and disburses globally — fiats in different currencies only</a:t>
            </a:r>
            <a:endParaRPr lang="en-US" sz="100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E9B2D4BD-1E8C-4BE2-A913-F63648919E16}"/>
              </a:ext>
            </a:extLst>
          </p:cNvPr>
          <p:cNvSpPr/>
          <p:nvPr/>
        </p:nvSpPr>
        <p:spPr>
          <a:xfrm>
            <a:off x="6142306" y="393192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  <p:txBody>
          <a:bodyPr/>
          <a:lstStyle/>
          <a:p>
            <a:endParaRPr lang="en-TZ" dirty="0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D27AC50F-4980-44C4-889C-F62FDCEF7ABE}"/>
              </a:ext>
            </a:extLst>
          </p:cNvPr>
          <p:cNvSpPr/>
          <p:nvPr/>
        </p:nvSpPr>
        <p:spPr>
          <a:xfrm>
            <a:off x="7093282" y="414950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TZ" sz="1600" b="1" dirty="0">
              <a:solidFill>
                <a:schemeClr val="bg1"/>
              </a:solidFill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96F5C4C3-46F4-42FD-9A6D-064CFEA7D67B}"/>
              </a:ext>
            </a:extLst>
          </p:cNvPr>
          <p:cNvSpPr/>
          <p:nvPr/>
        </p:nvSpPr>
        <p:spPr>
          <a:xfrm>
            <a:off x="6231636" y="4533548"/>
            <a:ext cx="2103120" cy="84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/>
              <a:t>Thai Bank Account</a:t>
            </a:r>
          </a:p>
          <a:p>
            <a:pPr marL="0" indent="0" algn="ctr">
              <a:buNone/>
            </a:pPr>
            <a:endParaRPr lang="en-US" sz="1350" b="1" dirty="0"/>
          </a:p>
          <a:p>
            <a:pPr marL="0" indent="0" algn="ctr">
              <a:buNone/>
            </a:pPr>
            <a:r>
              <a:rPr lang="en-US" sz="1350" b="1" dirty="0"/>
              <a:t>SCB 2092093045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223B4E2-B73B-4A0F-BC32-1DA923ED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209" y="3221997"/>
            <a:ext cx="594361" cy="59436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741C254-D918-4451-86E9-16B100697F1C}"/>
              </a:ext>
            </a:extLst>
          </p:cNvPr>
          <p:cNvSpPr txBox="1"/>
          <p:nvPr/>
        </p:nvSpPr>
        <p:spPr>
          <a:xfrm>
            <a:off x="6950802" y="6487755"/>
            <a:ext cx="80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Davin</a:t>
            </a:r>
            <a:endParaRPr lang="en-TZ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D517F3-BEDC-41D3-91E6-A583445D264A}"/>
              </a:ext>
            </a:extLst>
          </p:cNvPr>
          <p:cNvSpPr txBox="1"/>
          <p:nvPr/>
        </p:nvSpPr>
        <p:spPr>
          <a:xfrm>
            <a:off x="3564579" y="329007"/>
            <a:ext cx="1789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International Card Payment</a:t>
            </a:r>
            <a:endParaRPr lang="en-TZ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919116-E670-4391-9A14-223F4E8A8A94}"/>
              </a:ext>
            </a:extLst>
          </p:cNvPr>
          <p:cNvSpPr txBox="1"/>
          <p:nvPr/>
        </p:nvSpPr>
        <p:spPr>
          <a:xfrm>
            <a:off x="3387500" y="2482004"/>
            <a:ext cx="2103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Non-International Cards Payment (Emerging Markets)</a:t>
            </a:r>
            <a:endParaRPr lang="en-TZ" sz="1100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D1FDFFED-677B-400E-8B41-3D0D2D39CC48}"/>
              </a:ext>
            </a:extLst>
          </p:cNvPr>
          <p:cNvCxnSpPr/>
          <p:nvPr/>
        </p:nvCxnSpPr>
        <p:spPr>
          <a:xfrm>
            <a:off x="7904285" y="2926080"/>
            <a:ext cx="1393580" cy="19404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31A4BB8-C5F7-4B79-88B4-C0471704986C}"/>
              </a:ext>
            </a:extLst>
          </p:cNvPr>
          <p:cNvCxnSpPr>
            <a:cxnSpLocks/>
          </p:cNvCxnSpPr>
          <p:nvPr/>
        </p:nvCxnSpPr>
        <p:spPr>
          <a:xfrm flipH="1">
            <a:off x="7665222" y="4866542"/>
            <a:ext cx="1632644" cy="13672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1" name="Picture 70">
            <a:extLst>
              <a:ext uri="{FF2B5EF4-FFF2-40B4-BE49-F238E27FC236}">
                <a16:creationId xmlns:a16="http://schemas.microsoft.com/office/drawing/2014/main" id="{1C34C065-BB69-49DF-B693-EFF157610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70" y="4256004"/>
            <a:ext cx="625836" cy="625836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13D381C3-1F0B-4BA5-8230-3DFAADDEE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882" y="1802710"/>
            <a:ext cx="569566" cy="569566"/>
          </a:xfrm>
          <a:prstGeom prst="rect">
            <a:avLst/>
          </a:prstGeom>
        </p:spPr>
      </p:pic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9F69BB-5B23-4A6D-ACC8-0F92C4202032}"/>
              </a:ext>
            </a:extLst>
          </p:cNvPr>
          <p:cNvCxnSpPr/>
          <p:nvPr/>
        </p:nvCxnSpPr>
        <p:spPr>
          <a:xfrm>
            <a:off x="5292969" y="1737360"/>
            <a:ext cx="1248508" cy="219456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850B4C3-AF9B-44CD-9BDE-E08934479CD3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4541227" y="3991356"/>
            <a:ext cx="1601079" cy="76352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3AD4D06-9C1D-4B3B-98B4-04B7586241AB}"/>
              </a:ext>
            </a:extLst>
          </p:cNvPr>
          <p:cNvCxnSpPr>
            <a:cxnSpLocks/>
          </p:cNvCxnSpPr>
          <p:nvPr/>
        </p:nvCxnSpPr>
        <p:spPr>
          <a:xfrm flipV="1">
            <a:off x="7866119" y="952734"/>
            <a:ext cx="1161283" cy="29595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4" name="Picture 73">
            <a:extLst>
              <a:ext uri="{FF2B5EF4-FFF2-40B4-BE49-F238E27FC236}">
                <a16:creationId xmlns:a16="http://schemas.microsoft.com/office/drawing/2014/main" id="{9BBFAC8E-21AE-486B-896D-4BC123F42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0802" y="5901352"/>
            <a:ext cx="664788" cy="664788"/>
          </a:xfrm>
          <a:prstGeom prst="rect">
            <a:avLst/>
          </a:prstGeom>
        </p:spPr>
      </p:pic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FDEBA92-B6E8-43AA-9A74-EB1E0A1B67D3}"/>
              </a:ext>
            </a:extLst>
          </p:cNvPr>
          <p:cNvCxnSpPr>
            <a:stCxn id="74" idx="0"/>
            <a:endCxn id="41" idx="2"/>
          </p:cNvCxnSpPr>
          <p:nvPr/>
        </p:nvCxnSpPr>
        <p:spPr>
          <a:xfrm flipV="1">
            <a:off x="7283196" y="5577840"/>
            <a:ext cx="2110" cy="3235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C41C0742-509A-431D-AE12-71D0F844B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983" y="4984470"/>
            <a:ext cx="2265440" cy="1510293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C65200B7-7F0D-46C2-B5C9-3EB53FA8B1E3}"/>
              </a:ext>
            </a:extLst>
          </p:cNvPr>
          <p:cNvSpPr txBox="1"/>
          <p:nvPr/>
        </p:nvSpPr>
        <p:spPr>
          <a:xfrm>
            <a:off x="10075985" y="6540929"/>
            <a:ext cx="187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Bank’s Account of Affiliates</a:t>
            </a:r>
            <a:endParaRPr lang="en-TZ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8FCEBC8-D702-468C-AB4D-9C7B8E164F4B}"/>
              </a:ext>
            </a:extLst>
          </p:cNvPr>
          <p:cNvSpPr txBox="1"/>
          <p:nvPr/>
        </p:nvSpPr>
        <p:spPr>
          <a:xfrm>
            <a:off x="6172727" y="5670520"/>
            <a:ext cx="1208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Operate SCB account</a:t>
            </a:r>
          </a:p>
          <a:p>
            <a:r>
              <a:rPr lang="en-US" sz="900" dirty="0">
                <a:solidFill>
                  <a:schemeClr val="accent5">
                    <a:lumMod val="75000"/>
                  </a:schemeClr>
                </a:solidFill>
              </a:rPr>
              <a:t>By Davin</a:t>
            </a:r>
            <a:endParaRPr lang="en-TZ" sz="9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4C15850-58A0-4B72-9F68-299CB7AE896F}"/>
              </a:ext>
            </a:extLst>
          </p:cNvPr>
          <p:cNvCxnSpPr>
            <a:cxnSpLocks/>
          </p:cNvCxnSpPr>
          <p:nvPr/>
        </p:nvCxnSpPr>
        <p:spPr>
          <a:xfrm>
            <a:off x="415525" y="6161102"/>
            <a:ext cx="312127" cy="9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13335F5-2B13-46F8-8CB2-FC074AEA0302}"/>
              </a:ext>
            </a:extLst>
          </p:cNvPr>
          <p:cNvSpPr txBox="1"/>
          <p:nvPr/>
        </p:nvSpPr>
        <p:spPr>
          <a:xfrm>
            <a:off x="745236" y="6039852"/>
            <a:ext cx="1991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Blue arrow routes = dataflow</a:t>
            </a:r>
            <a:endParaRPr lang="en-TZ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196C329-3389-40AF-A3B4-8F6EFAD39798}"/>
              </a:ext>
            </a:extLst>
          </p:cNvPr>
          <p:cNvCxnSpPr>
            <a:cxnSpLocks/>
          </p:cNvCxnSpPr>
          <p:nvPr/>
        </p:nvCxnSpPr>
        <p:spPr>
          <a:xfrm>
            <a:off x="401119" y="6419079"/>
            <a:ext cx="312127" cy="9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0B0A7AA-990E-474C-80F1-0158516C613E}"/>
              </a:ext>
            </a:extLst>
          </p:cNvPr>
          <p:cNvSpPr txBox="1"/>
          <p:nvPr/>
        </p:nvSpPr>
        <p:spPr>
          <a:xfrm>
            <a:off x="730830" y="6297829"/>
            <a:ext cx="2273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</a:rPr>
              <a:t>Orange arrow routes = </a:t>
            </a:r>
            <a:r>
              <a:rPr lang="en-US" sz="1100" dirty="0" err="1">
                <a:solidFill>
                  <a:schemeClr val="accent2"/>
                </a:solidFill>
              </a:rPr>
              <a:t>moneyflow</a:t>
            </a:r>
            <a:endParaRPr lang="en-TZ" sz="1100" dirty="0">
              <a:solidFill>
                <a:schemeClr val="accent2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43AEEE2-23D5-40D1-B79B-84C24FB818D4}"/>
              </a:ext>
            </a:extLst>
          </p:cNvPr>
          <p:cNvSpPr txBox="1"/>
          <p:nvPr/>
        </p:nvSpPr>
        <p:spPr>
          <a:xfrm>
            <a:off x="3313393" y="1844268"/>
            <a:ext cx="1745272" cy="415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Transfer USD received from Stripe to SCB (either manual transfer by Davin or automatic transfer from Stripe to SCB)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5833D5-C22D-4D33-A8F0-9244F0B12A80}"/>
              </a:ext>
            </a:extLst>
          </p:cNvPr>
          <p:cNvSpPr txBox="1"/>
          <p:nvPr/>
        </p:nvSpPr>
        <p:spPr>
          <a:xfrm>
            <a:off x="3043019" y="4398818"/>
            <a:ext cx="1745272" cy="41549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Transfer USD received from </a:t>
            </a:r>
            <a:r>
              <a:rPr lang="en-US" sz="700" b="1" dirty="0" err="1">
                <a:ln/>
                <a:solidFill>
                  <a:schemeClr val="accent2">
                    <a:lumMod val="50000"/>
                  </a:schemeClr>
                </a:solidFill>
              </a:rPr>
              <a:t>dLocal</a:t>
            </a:r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 to SCB (either manual transfer by Davin or automatic transfer from </a:t>
            </a:r>
            <a:r>
              <a:rPr lang="en-US" sz="700" b="1" dirty="0" err="1">
                <a:ln/>
                <a:solidFill>
                  <a:schemeClr val="accent2">
                    <a:lumMod val="50000"/>
                  </a:schemeClr>
                </a:solidFill>
              </a:rPr>
              <a:t>dLocal</a:t>
            </a:r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 to SCB)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A808CDB1-1502-4162-BE0F-1A5FA02EE01D}"/>
              </a:ext>
            </a:extLst>
          </p:cNvPr>
          <p:cNvSpPr txBox="1"/>
          <p:nvPr/>
        </p:nvSpPr>
        <p:spPr>
          <a:xfrm rot="17506784">
            <a:off x="7865144" y="2579364"/>
            <a:ext cx="1319905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Transfer money from SCB to Money Transfer Agent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2CB717F-87E9-4EBE-A362-7AEB873402EA}"/>
              </a:ext>
            </a:extLst>
          </p:cNvPr>
          <p:cNvSpPr txBox="1"/>
          <p:nvPr/>
        </p:nvSpPr>
        <p:spPr>
          <a:xfrm rot="19183290">
            <a:off x="8273404" y="5455158"/>
            <a:ext cx="10676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5">
                    <a:lumMod val="75000"/>
                  </a:schemeClr>
                </a:solidFill>
              </a:rPr>
              <a:t>Davin is informed by Affiliate Program about amount of money need to transfer to Wise</a:t>
            </a:r>
            <a:endParaRPr lang="en-TZ" sz="8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176D39E-CA40-4191-8B6B-423677B111F5}"/>
              </a:ext>
            </a:extLst>
          </p:cNvPr>
          <p:cNvCxnSpPr/>
          <p:nvPr/>
        </p:nvCxnSpPr>
        <p:spPr>
          <a:xfrm>
            <a:off x="10739804" y="3069747"/>
            <a:ext cx="0" cy="35010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1923366-F862-43CB-9380-2D59BD8F8D74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10774703" y="4593297"/>
            <a:ext cx="0" cy="391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6" name="Shape 27">
            <a:extLst>
              <a:ext uri="{FF2B5EF4-FFF2-40B4-BE49-F238E27FC236}">
                <a16:creationId xmlns:a16="http://schemas.microsoft.com/office/drawing/2014/main" id="{8BBF809E-A152-43F7-BD36-D98A9429844E}"/>
              </a:ext>
            </a:extLst>
          </p:cNvPr>
          <p:cNvSpPr/>
          <p:nvPr/>
        </p:nvSpPr>
        <p:spPr>
          <a:xfrm>
            <a:off x="7652034" y="135208"/>
            <a:ext cx="2286000" cy="778225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  <p:txBody>
          <a:bodyPr/>
          <a:lstStyle/>
          <a:p>
            <a:endParaRPr lang="en-TZ" dirty="0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87297200-4F60-495B-BF5C-83C7168543CC}"/>
              </a:ext>
            </a:extLst>
          </p:cNvPr>
          <p:cNvSpPr/>
          <p:nvPr/>
        </p:nvSpPr>
        <p:spPr>
          <a:xfrm>
            <a:off x="8626754" y="19083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TZ" sz="1600" b="1" dirty="0">
              <a:solidFill>
                <a:schemeClr val="bg1"/>
              </a:solidFill>
            </a:endParaRPr>
          </a:p>
        </p:txBody>
      </p:sp>
      <p:sp>
        <p:nvSpPr>
          <p:cNvPr id="73" name="Text 30">
            <a:extLst>
              <a:ext uri="{FF2B5EF4-FFF2-40B4-BE49-F238E27FC236}">
                <a16:creationId xmlns:a16="http://schemas.microsoft.com/office/drawing/2014/main" id="{3A4E7C79-0CF4-4EA8-AEFE-AF9A68EED069}"/>
              </a:ext>
            </a:extLst>
          </p:cNvPr>
          <p:cNvSpPr/>
          <p:nvPr/>
        </p:nvSpPr>
        <p:spPr>
          <a:xfrm>
            <a:off x="7767218" y="628267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203D"/>
                </a:solidFill>
                <a:latin typeface="Calibri" pitchFamily="34" charset="0"/>
                <a:cs typeface="Calibri" pitchFamily="34" charset="-120"/>
              </a:rPr>
              <a:t>International Money Transfer Agent</a:t>
            </a:r>
            <a:endParaRPr lang="en-US" sz="105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0BC582E-1674-41E6-9A96-B3FA0F4601F3}"/>
              </a:ext>
            </a:extLst>
          </p:cNvPr>
          <p:cNvCxnSpPr/>
          <p:nvPr/>
        </p:nvCxnSpPr>
        <p:spPr>
          <a:xfrm>
            <a:off x="9443277" y="952734"/>
            <a:ext cx="198706" cy="32742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A6212FF-8DB0-44F7-BA27-4504E7E6493B}"/>
              </a:ext>
            </a:extLst>
          </p:cNvPr>
          <p:cNvSpPr txBox="1"/>
          <p:nvPr/>
        </p:nvSpPr>
        <p:spPr>
          <a:xfrm>
            <a:off x="9542630" y="989753"/>
            <a:ext cx="1745272" cy="2000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Wise is paid by Money Transfer Agent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3A89D9-3D4F-4F12-8F5B-743625E2748E}"/>
              </a:ext>
            </a:extLst>
          </p:cNvPr>
          <p:cNvCxnSpPr>
            <a:stCxn id="45" idx="0"/>
          </p:cNvCxnSpPr>
          <p:nvPr/>
        </p:nvCxnSpPr>
        <p:spPr>
          <a:xfrm flipH="1" flipV="1">
            <a:off x="9608389" y="2958612"/>
            <a:ext cx="1" cy="263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E4D933D-3794-4E87-BC3A-ED8AF873B206}"/>
              </a:ext>
            </a:extLst>
          </p:cNvPr>
          <p:cNvSpPr txBox="1"/>
          <p:nvPr/>
        </p:nvSpPr>
        <p:spPr>
          <a:xfrm>
            <a:off x="9641983" y="2977332"/>
            <a:ext cx="1208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5">
                    <a:lumMod val="75000"/>
                  </a:schemeClr>
                </a:solidFill>
              </a:rPr>
              <a:t>Operate Wise Balance account By Davin</a:t>
            </a:r>
            <a:endParaRPr lang="en-TZ" sz="7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7447826-C826-43DA-A9CC-1BAF5785A801}"/>
              </a:ext>
            </a:extLst>
          </p:cNvPr>
          <p:cNvSpPr txBox="1"/>
          <p:nvPr/>
        </p:nvSpPr>
        <p:spPr>
          <a:xfrm>
            <a:off x="10176033" y="3392968"/>
            <a:ext cx="1620512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900" b="1" dirty="0">
                <a:ln/>
                <a:solidFill>
                  <a:schemeClr val="accent2">
                    <a:lumMod val="50000"/>
                  </a:schemeClr>
                </a:solidFill>
              </a:rPr>
              <a:t>Money sending to Bank’s Account of Affiliates</a:t>
            </a:r>
          </a:p>
          <a:p>
            <a:r>
              <a:rPr lang="en-US" sz="900" b="1" dirty="0">
                <a:ln/>
                <a:solidFill>
                  <a:schemeClr val="accent2">
                    <a:lumMod val="50000"/>
                  </a:schemeClr>
                </a:solidFill>
              </a:rPr>
              <a:t>Note : 1) Disbursement is made as per schedule AND 2)</a:t>
            </a:r>
          </a:p>
          <a:p>
            <a:r>
              <a:rPr lang="en-US" sz="900" b="1" dirty="0">
                <a:ln/>
                <a:solidFill>
                  <a:schemeClr val="accent2">
                    <a:lumMod val="50000"/>
                  </a:schemeClr>
                </a:solidFill>
              </a:rPr>
              <a:t>Affiliates are paid in local currencies and bear exchange rate difference and money transfer fees.</a:t>
            </a:r>
            <a:endParaRPr lang="en-TZ" sz="9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>
            <a:off x="2756916" y="2103120"/>
            <a:ext cx="320040" cy="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6" name="Shape 4"/>
          <p:cNvSpPr/>
          <p:nvPr/>
        </p:nvSpPr>
        <p:spPr>
          <a:xfrm>
            <a:off x="3076956" y="1005840"/>
            <a:ext cx="0" cy="219456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7" name="Shape 5"/>
          <p:cNvSpPr/>
          <p:nvPr/>
        </p:nvSpPr>
        <p:spPr>
          <a:xfrm>
            <a:off x="3076956" y="100584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8" name="Shape 6"/>
          <p:cNvSpPr/>
          <p:nvPr/>
        </p:nvSpPr>
        <p:spPr>
          <a:xfrm>
            <a:off x="3076956" y="320040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9" name="Shape 7"/>
          <p:cNvSpPr/>
          <p:nvPr/>
        </p:nvSpPr>
        <p:spPr>
          <a:xfrm>
            <a:off x="5500116" y="1005840"/>
            <a:ext cx="320040" cy="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0" name="Shape 8"/>
          <p:cNvSpPr/>
          <p:nvPr/>
        </p:nvSpPr>
        <p:spPr>
          <a:xfrm>
            <a:off x="5500116" y="3200400"/>
            <a:ext cx="320040" cy="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1" name="Shape 9"/>
          <p:cNvSpPr/>
          <p:nvPr/>
        </p:nvSpPr>
        <p:spPr>
          <a:xfrm>
            <a:off x="5820156" y="1005840"/>
            <a:ext cx="0" cy="2194560"/>
          </a:xfrm>
          <a:prstGeom prst="line">
            <a:avLst/>
          </a:prstGeom>
          <a:ln>
            <a:tailEnd type="non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2" name="Shape 10"/>
          <p:cNvSpPr/>
          <p:nvPr/>
        </p:nvSpPr>
        <p:spPr>
          <a:xfrm>
            <a:off x="5820156" y="2103120"/>
            <a:ext cx="32004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3" name="Shape 11"/>
          <p:cNvSpPr/>
          <p:nvPr/>
        </p:nvSpPr>
        <p:spPr>
          <a:xfrm>
            <a:off x="8426196" y="2103120"/>
            <a:ext cx="640080" cy="0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14" name="Shape 12"/>
          <p:cNvSpPr/>
          <p:nvPr/>
        </p:nvSpPr>
        <p:spPr>
          <a:xfrm>
            <a:off x="653796" y="1280160"/>
            <a:ext cx="210312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13332" y="142646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51333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45236" y="188366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0100" y="2249424"/>
            <a:ext cx="18105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to DavinTrade with a referral code at checkout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96996" y="274320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67171" y="651987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4271567" y="64548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488436" y="1024017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3543300" y="124358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card payments &amp; subscriptions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83456" y="2468879"/>
            <a:ext cx="2103120" cy="1463040"/>
          </a:xfrm>
          <a:prstGeom prst="roundRect">
            <a:avLst>
              <a:gd name="adj" fmla="val 5625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32969" y="2884229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239739" y="287772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74896" y="323697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dLocal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543300" y="3438144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methods across 8 emerging markets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40196" y="128016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91172" y="1426464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709117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3163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22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 Program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286500" y="22494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attributed; commission earned &amp; tracked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66276" y="128016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92D050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017252" y="1426464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/>
          <p:nvPr/>
        </p:nvSpPr>
        <p:spPr>
          <a:xfrm>
            <a:off x="10017252" y="1426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226"/>
                </a:solidFill>
                <a:latin typeface="Calibri" pitchFamily="34" charset="0"/>
                <a:cs typeface="Calibri" pitchFamily="34" charset="-120"/>
              </a:rPr>
              <a:t>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157716" y="18836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Wise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9212580" y="2249424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commissions and disburses globally — fiats in different currencies only</a:t>
            </a:r>
            <a:endParaRPr lang="en-US" sz="1000" dirty="0"/>
          </a:p>
        </p:txBody>
      </p:sp>
      <p:sp>
        <p:nvSpPr>
          <p:cNvPr id="41" name="Shape 27">
            <a:extLst>
              <a:ext uri="{FF2B5EF4-FFF2-40B4-BE49-F238E27FC236}">
                <a16:creationId xmlns:a16="http://schemas.microsoft.com/office/drawing/2014/main" id="{E9B2D4BD-1E8C-4BE2-A913-F63648919E16}"/>
              </a:ext>
            </a:extLst>
          </p:cNvPr>
          <p:cNvSpPr/>
          <p:nvPr/>
        </p:nvSpPr>
        <p:spPr>
          <a:xfrm>
            <a:off x="6096000" y="475488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F3F6F8"/>
          </a:solidFill>
          <a:ln/>
          <a:effectLst>
            <a:outerShdw blurRad="88900" dist="25400" dir="5400000" algn="bl" rotWithShape="0">
              <a:srgbClr val="1A2A44">
                <a:alpha val="18000"/>
              </a:srgbClr>
            </a:outerShdw>
          </a:effectLst>
        </p:spPr>
        <p:txBody>
          <a:bodyPr/>
          <a:lstStyle/>
          <a:p>
            <a:endParaRPr lang="en-TZ" dirty="0"/>
          </a:p>
        </p:txBody>
      </p:sp>
      <p:sp>
        <p:nvSpPr>
          <p:cNvPr id="42" name="Shape 28">
            <a:extLst>
              <a:ext uri="{FF2B5EF4-FFF2-40B4-BE49-F238E27FC236}">
                <a16:creationId xmlns:a16="http://schemas.microsoft.com/office/drawing/2014/main" id="{D27AC50F-4980-44C4-889C-F62FDCEF7ABE}"/>
              </a:ext>
            </a:extLst>
          </p:cNvPr>
          <p:cNvSpPr/>
          <p:nvPr/>
        </p:nvSpPr>
        <p:spPr>
          <a:xfrm>
            <a:off x="7046976" y="497246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TZ" sz="1600" b="1" dirty="0">
              <a:solidFill>
                <a:schemeClr val="bg1"/>
              </a:solidFill>
            </a:endParaRPr>
          </a:p>
        </p:txBody>
      </p:sp>
      <p:sp>
        <p:nvSpPr>
          <p:cNvPr id="43" name="Text 30">
            <a:extLst>
              <a:ext uri="{FF2B5EF4-FFF2-40B4-BE49-F238E27FC236}">
                <a16:creationId xmlns:a16="http://schemas.microsoft.com/office/drawing/2014/main" id="{96F5C4C3-46F4-42FD-9A6D-064CFEA7D67B}"/>
              </a:ext>
            </a:extLst>
          </p:cNvPr>
          <p:cNvSpPr/>
          <p:nvPr/>
        </p:nvSpPr>
        <p:spPr>
          <a:xfrm>
            <a:off x="6185330" y="5356508"/>
            <a:ext cx="2103120" cy="842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/>
              <a:t>Thai Bank Account</a:t>
            </a:r>
          </a:p>
          <a:p>
            <a:pPr marL="0" indent="0" algn="ctr">
              <a:buNone/>
            </a:pPr>
            <a:r>
              <a:rPr lang="en-US" sz="1350" b="1" dirty="0"/>
              <a:t>In USD currency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0223B4E2-B73B-4A0F-BC32-1DA923EDE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1209" y="3221997"/>
            <a:ext cx="594361" cy="594361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741C254-D918-4451-86E9-16B100697F1C}"/>
              </a:ext>
            </a:extLst>
          </p:cNvPr>
          <p:cNvSpPr txBox="1"/>
          <p:nvPr/>
        </p:nvSpPr>
        <p:spPr>
          <a:xfrm>
            <a:off x="9267093" y="3747254"/>
            <a:ext cx="808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Davin</a:t>
            </a:r>
            <a:endParaRPr lang="en-TZ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AD517F3-BEDC-41D3-91E6-A583445D264A}"/>
              </a:ext>
            </a:extLst>
          </p:cNvPr>
          <p:cNvSpPr txBox="1"/>
          <p:nvPr/>
        </p:nvSpPr>
        <p:spPr>
          <a:xfrm>
            <a:off x="3564579" y="329007"/>
            <a:ext cx="17892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International Card Payment</a:t>
            </a:r>
            <a:endParaRPr lang="en-TZ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D919116-E670-4391-9A14-223F4E8A8A94}"/>
              </a:ext>
            </a:extLst>
          </p:cNvPr>
          <p:cNvSpPr txBox="1"/>
          <p:nvPr/>
        </p:nvSpPr>
        <p:spPr>
          <a:xfrm>
            <a:off x="3387500" y="2482004"/>
            <a:ext cx="21031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Non-International Cards Payment (Emerging Markets)</a:t>
            </a:r>
            <a:endParaRPr lang="en-TZ" sz="11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31A4BB8-C5F7-4B79-88B4-C0471704986C}"/>
              </a:ext>
            </a:extLst>
          </p:cNvPr>
          <p:cNvCxnSpPr>
            <a:cxnSpLocks/>
          </p:cNvCxnSpPr>
          <p:nvPr/>
        </p:nvCxnSpPr>
        <p:spPr>
          <a:xfrm flipH="1">
            <a:off x="7949532" y="2946566"/>
            <a:ext cx="1109947" cy="176171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559F69BB-5B23-4A6D-ACC8-0F92C4202032}"/>
              </a:ext>
            </a:extLst>
          </p:cNvPr>
          <p:cNvCxnSpPr>
            <a:cxnSpLocks/>
          </p:cNvCxnSpPr>
          <p:nvPr/>
        </p:nvCxnSpPr>
        <p:spPr>
          <a:xfrm>
            <a:off x="5547946" y="818148"/>
            <a:ext cx="3486150" cy="80948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850B4C3-AF9B-44CD-9BDE-E08934479CD3}"/>
              </a:ext>
            </a:extLst>
          </p:cNvPr>
          <p:cNvCxnSpPr>
            <a:cxnSpLocks/>
          </p:cNvCxnSpPr>
          <p:nvPr/>
        </p:nvCxnSpPr>
        <p:spPr>
          <a:xfrm flipV="1">
            <a:off x="5478859" y="2435538"/>
            <a:ext cx="3587417" cy="104847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9" name="Picture 78">
            <a:extLst>
              <a:ext uri="{FF2B5EF4-FFF2-40B4-BE49-F238E27FC236}">
                <a16:creationId xmlns:a16="http://schemas.microsoft.com/office/drawing/2014/main" id="{C41C0742-509A-431D-AE12-71D0F844B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1983" y="4984470"/>
            <a:ext cx="2265440" cy="1510293"/>
          </a:xfrm>
          <a:prstGeom prst="rect">
            <a:avLst/>
          </a:prstGeom>
        </p:spPr>
      </p:pic>
      <p:sp>
        <p:nvSpPr>
          <p:cNvPr id="86" name="TextBox 85">
            <a:extLst>
              <a:ext uri="{FF2B5EF4-FFF2-40B4-BE49-F238E27FC236}">
                <a16:creationId xmlns:a16="http://schemas.microsoft.com/office/drawing/2014/main" id="{C65200B7-7F0D-46C2-B5C9-3EB53FA8B1E3}"/>
              </a:ext>
            </a:extLst>
          </p:cNvPr>
          <p:cNvSpPr txBox="1"/>
          <p:nvPr/>
        </p:nvSpPr>
        <p:spPr>
          <a:xfrm>
            <a:off x="10075985" y="6540929"/>
            <a:ext cx="18776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Bank’s Account of Affiliates</a:t>
            </a:r>
            <a:endParaRPr lang="en-TZ" sz="1200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84C15850-58A0-4B72-9F68-299CB7AE896F}"/>
              </a:ext>
            </a:extLst>
          </p:cNvPr>
          <p:cNvCxnSpPr>
            <a:cxnSpLocks/>
          </p:cNvCxnSpPr>
          <p:nvPr/>
        </p:nvCxnSpPr>
        <p:spPr>
          <a:xfrm>
            <a:off x="415525" y="6161102"/>
            <a:ext cx="312127" cy="9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413335F5-2B13-46F8-8CB2-FC074AEA0302}"/>
              </a:ext>
            </a:extLst>
          </p:cNvPr>
          <p:cNvSpPr txBox="1"/>
          <p:nvPr/>
        </p:nvSpPr>
        <p:spPr>
          <a:xfrm>
            <a:off x="745236" y="6039852"/>
            <a:ext cx="19911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5">
                    <a:lumMod val="75000"/>
                  </a:schemeClr>
                </a:solidFill>
              </a:rPr>
              <a:t>Blue arrow routes = dataflow</a:t>
            </a:r>
            <a:endParaRPr lang="en-TZ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F196C329-3389-40AF-A3B4-8F6EFAD39798}"/>
              </a:ext>
            </a:extLst>
          </p:cNvPr>
          <p:cNvCxnSpPr>
            <a:cxnSpLocks/>
          </p:cNvCxnSpPr>
          <p:nvPr/>
        </p:nvCxnSpPr>
        <p:spPr>
          <a:xfrm>
            <a:off x="401119" y="6419079"/>
            <a:ext cx="312127" cy="95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0B0A7AA-990E-474C-80F1-0158516C613E}"/>
              </a:ext>
            </a:extLst>
          </p:cNvPr>
          <p:cNvSpPr txBox="1"/>
          <p:nvPr/>
        </p:nvSpPr>
        <p:spPr>
          <a:xfrm>
            <a:off x="730830" y="6297829"/>
            <a:ext cx="22736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accent2"/>
                </a:solidFill>
              </a:rPr>
              <a:t>Orange arrow routes = </a:t>
            </a:r>
            <a:r>
              <a:rPr lang="en-US" sz="1100" dirty="0" err="1">
                <a:solidFill>
                  <a:schemeClr val="accent2"/>
                </a:solidFill>
              </a:rPr>
              <a:t>moneyflow</a:t>
            </a:r>
            <a:endParaRPr lang="en-TZ" sz="1100" dirty="0">
              <a:solidFill>
                <a:schemeClr val="accent2"/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43AEEE2-23D5-40D1-B79B-84C24FB818D4}"/>
              </a:ext>
            </a:extLst>
          </p:cNvPr>
          <p:cNvSpPr txBox="1"/>
          <p:nvPr/>
        </p:nvSpPr>
        <p:spPr>
          <a:xfrm rot="748931">
            <a:off x="6576953" y="841037"/>
            <a:ext cx="1745272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Transfer USD received from Stripe to Wise Balance directly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2CB717F-87E9-4EBE-A362-7AEB873402EA}"/>
              </a:ext>
            </a:extLst>
          </p:cNvPr>
          <p:cNvSpPr txBox="1"/>
          <p:nvPr/>
        </p:nvSpPr>
        <p:spPr>
          <a:xfrm>
            <a:off x="7400571" y="3670309"/>
            <a:ext cx="109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5">
                    <a:lumMod val="75000"/>
                  </a:schemeClr>
                </a:solidFill>
              </a:rPr>
              <a:t>Davin is informed by Affiliate Program about amount of money need to transfer to Wise</a:t>
            </a:r>
            <a:endParaRPr lang="en-TZ" sz="7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E1C6C62-0200-4C11-AF24-BEC4ACE6DD1C}"/>
              </a:ext>
            </a:extLst>
          </p:cNvPr>
          <p:cNvSpPr txBox="1"/>
          <p:nvPr/>
        </p:nvSpPr>
        <p:spPr>
          <a:xfrm>
            <a:off x="10176033" y="3392968"/>
            <a:ext cx="1620512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900" b="1" dirty="0">
                <a:ln/>
                <a:solidFill>
                  <a:schemeClr val="accent2">
                    <a:lumMod val="50000"/>
                  </a:schemeClr>
                </a:solidFill>
              </a:rPr>
              <a:t>Money sending to Bank’s Account of Affiliates</a:t>
            </a:r>
          </a:p>
          <a:p>
            <a:r>
              <a:rPr lang="en-US" sz="900" b="1" dirty="0">
                <a:ln/>
                <a:solidFill>
                  <a:schemeClr val="accent2">
                    <a:lumMod val="50000"/>
                  </a:schemeClr>
                </a:solidFill>
              </a:rPr>
              <a:t>Note : 1) Disbursement is made as per schedule AND 2)</a:t>
            </a:r>
          </a:p>
          <a:p>
            <a:r>
              <a:rPr lang="en-US" sz="900" b="1" dirty="0">
                <a:ln/>
                <a:solidFill>
                  <a:schemeClr val="accent2">
                    <a:lumMod val="50000"/>
                  </a:schemeClr>
                </a:solidFill>
              </a:rPr>
              <a:t>Affiliates are paid in local currencies and bear exchange rate difference and money transfer fees.</a:t>
            </a:r>
            <a:endParaRPr lang="en-TZ" sz="9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3176D39E-CA40-4191-8B6B-423677B111F5}"/>
              </a:ext>
            </a:extLst>
          </p:cNvPr>
          <p:cNvCxnSpPr/>
          <p:nvPr/>
        </p:nvCxnSpPr>
        <p:spPr>
          <a:xfrm>
            <a:off x="10739804" y="3069747"/>
            <a:ext cx="0" cy="35010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1923366-F862-43CB-9380-2D59BD8F8D74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10774703" y="4593297"/>
            <a:ext cx="0" cy="3911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C3A89D9-3D4F-4F12-8F5B-743625E2748E}"/>
              </a:ext>
            </a:extLst>
          </p:cNvPr>
          <p:cNvCxnSpPr>
            <a:stCxn id="45" idx="0"/>
          </p:cNvCxnSpPr>
          <p:nvPr/>
        </p:nvCxnSpPr>
        <p:spPr>
          <a:xfrm flipH="1" flipV="1">
            <a:off x="9608389" y="2958612"/>
            <a:ext cx="1" cy="263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7E4D933D-3794-4E87-BC3A-ED8AF873B206}"/>
              </a:ext>
            </a:extLst>
          </p:cNvPr>
          <p:cNvSpPr txBox="1"/>
          <p:nvPr/>
        </p:nvSpPr>
        <p:spPr>
          <a:xfrm>
            <a:off x="9641983" y="2977332"/>
            <a:ext cx="1208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>
                <a:solidFill>
                  <a:schemeClr val="accent5">
                    <a:lumMod val="75000"/>
                  </a:schemeClr>
                </a:solidFill>
              </a:rPr>
              <a:t>Operate Wise Balance account By Davin</a:t>
            </a:r>
            <a:endParaRPr lang="en-TZ" sz="7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74139D-EB60-4ED6-851E-19995D66C67D}"/>
              </a:ext>
            </a:extLst>
          </p:cNvPr>
          <p:cNvSpPr txBox="1"/>
          <p:nvPr/>
        </p:nvSpPr>
        <p:spPr>
          <a:xfrm rot="20568757">
            <a:off x="6007917" y="3151686"/>
            <a:ext cx="1745272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Transfer USD received from </a:t>
            </a:r>
            <a:r>
              <a:rPr lang="en-US" sz="700" b="1" dirty="0" err="1">
                <a:ln/>
                <a:solidFill>
                  <a:schemeClr val="accent2">
                    <a:lumMod val="50000"/>
                  </a:schemeClr>
                </a:solidFill>
              </a:rPr>
              <a:t>dLocal</a:t>
            </a:r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 to Wise Balance directly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AABF4D90-558F-4A09-ACE2-A97585BB3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859" y="3648563"/>
            <a:ext cx="594361" cy="594361"/>
          </a:xfrm>
          <a:prstGeom prst="rect">
            <a:avLst/>
          </a:prstGeom>
        </p:spPr>
      </p:pic>
      <p:sp>
        <p:nvSpPr>
          <p:cNvPr id="83" name="Shape 11">
            <a:extLst>
              <a:ext uri="{FF2B5EF4-FFF2-40B4-BE49-F238E27FC236}">
                <a16:creationId xmlns:a16="http://schemas.microsoft.com/office/drawing/2014/main" id="{BD5CF01E-D21C-41C4-BA06-3ADF663BD7D5}"/>
              </a:ext>
            </a:extLst>
          </p:cNvPr>
          <p:cNvSpPr/>
          <p:nvPr/>
        </p:nvSpPr>
        <p:spPr>
          <a:xfrm>
            <a:off x="7967531" y="2973765"/>
            <a:ext cx="0" cy="705356"/>
          </a:xfrm>
          <a:prstGeom prst="line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27C3C40-7E81-430F-8321-72FBA51BA331}"/>
              </a:ext>
            </a:extLst>
          </p:cNvPr>
          <p:cNvSpPr txBox="1"/>
          <p:nvPr/>
        </p:nvSpPr>
        <p:spPr>
          <a:xfrm>
            <a:off x="8119905" y="4317917"/>
            <a:ext cx="914191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700" b="1" dirty="0">
                <a:ln/>
                <a:solidFill>
                  <a:schemeClr val="accent2">
                    <a:lumMod val="50000"/>
                  </a:schemeClr>
                </a:solidFill>
              </a:rPr>
              <a:t>USD remittance to Thai Bank Account</a:t>
            </a:r>
            <a:endParaRPr lang="en-TZ" sz="700" b="1" dirty="0">
              <a:ln/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5004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370</Words>
  <Application>Microsoft Office PowerPoint</Application>
  <PresentationFormat>Widescreen</PresentationFormat>
  <Paragraphs>72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Dhapanart Kevalee</cp:lastModifiedBy>
  <cp:revision>6</cp:revision>
  <dcterms:created xsi:type="dcterms:W3CDTF">2026-07-23T14:41:51Z</dcterms:created>
  <dcterms:modified xsi:type="dcterms:W3CDTF">2026-07-29T15:36:12Z</dcterms:modified>
</cp:coreProperties>
</file>