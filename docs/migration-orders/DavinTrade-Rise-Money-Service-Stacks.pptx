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62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504" y="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853708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2756916" y="2103120"/>
            <a:ext cx="320040" cy="0"/>
          </a:xfrm>
          <a:prstGeom prst="line">
            <a:avLst/>
          </a:prstGeom>
          <a:ln>
            <a:tailEnd type="non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sp>
      <p:sp>
        <p:nvSpPr>
          <p:cNvPr id="6" name="Shape 4"/>
          <p:cNvSpPr/>
          <p:nvPr/>
        </p:nvSpPr>
        <p:spPr>
          <a:xfrm>
            <a:off x="3076956" y="1005840"/>
            <a:ext cx="0" cy="2194560"/>
          </a:xfrm>
          <a:prstGeom prst="line">
            <a:avLst/>
          </a:prstGeom>
          <a:ln>
            <a:tailEnd type="non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sp>
      <p:sp>
        <p:nvSpPr>
          <p:cNvPr id="7" name="Shape 5"/>
          <p:cNvSpPr/>
          <p:nvPr/>
        </p:nvSpPr>
        <p:spPr>
          <a:xfrm>
            <a:off x="3076956" y="1005840"/>
            <a:ext cx="320040" cy="0"/>
          </a:xfrm>
          <a:prstGeom prst="line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sp>
      <p:sp>
        <p:nvSpPr>
          <p:cNvPr id="8" name="Shape 6"/>
          <p:cNvSpPr/>
          <p:nvPr/>
        </p:nvSpPr>
        <p:spPr>
          <a:xfrm>
            <a:off x="3076956" y="3200400"/>
            <a:ext cx="320040" cy="0"/>
          </a:xfrm>
          <a:prstGeom prst="line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sp>
      <p:sp>
        <p:nvSpPr>
          <p:cNvPr id="9" name="Shape 7"/>
          <p:cNvSpPr/>
          <p:nvPr/>
        </p:nvSpPr>
        <p:spPr>
          <a:xfrm>
            <a:off x="5500116" y="1005840"/>
            <a:ext cx="320040" cy="0"/>
          </a:xfrm>
          <a:prstGeom prst="line">
            <a:avLst/>
          </a:prstGeom>
          <a:ln>
            <a:tailEnd type="non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sp>
      <p:sp>
        <p:nvSpPr>
          <p:cNvPr id="10" name="Shape 8"/>
          <p:cNvSpPr/>
          <p:nvPr/>
        </p:nvSpPr>
        <p:spPr>
          <a:xfrm>
            <a:off x="5500116" y="3200400"/>
            <a:ext cx="320040" cy="0"/>
          </a:xfrm>
          <a:prstGeom prst="line">
            <a:avLst/>
          </a:prstGeom>
          <a:ln>
            <a:tailEnd type="non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sp>
      <p:sp>
        <p:nvSpPr>
          <p:cNvPr id="11" name="Shape 9"/>
          <p:cNvSpPr/>
          <p:nvPr/>
        </p:nvSpPr>
        <p:spPr>
          <a:xfrm>
            <a:off x="5820156" y="1005840"/>
            <a:ext cx="0" cy="2194560"/>
          </a:xfrm>
          <a:prstGeom prst="line">
            <a:avLst/>
          </a:prstGeom>
          <a:ln>
            <a:tailEnd type="non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sp>
      <p:sp>
        <p:nvSpPr>
          <p:cNvPr id="12" name="Shape 10"/>
          <p:cNvSpPr/>
          <p:nvPr/>
        </p:nvSpPr>
        <p:spPr>
          <a:xfrm>
            <a:off x="5820156" y="2103120"/>
            <a:ext cx="320040" cy="0"/>
          </a:xfrm>
          <a:prstGeom prst="line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sp>
      <p:sp>
        <p:nvSpPr>
          <p:cNvPr id="13" name="Shape 11"/>
          <p:cNvSpPr/>
          <p:nvPr/>
        </p:nvSpPr>
        <p:spPr>
          <a:xfrm>
            <a:off x="8426196" y="2103120"/>
            <a:ext cx="640080" cy="0"/>
          </a:xfrm>
          <a:prstGeom prst="line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sp>
      <p:sp>
        <p:nvSpPr>
          <p:cNvPr id="14" name="Shape 12"/>
          <p:cNvSpPr/>
          <p:nvPr/>
        </p:nvSpPr>
        <p:spPr>
          <a:xfrm>
            <a:off x="653796" y="1280160"/>
            <a:ext cx="2103120" cy="1645920"/>
          </a:xfrm>
          <a:prstGeom prst="roundRect">
            <a:avLst>
              <a:gd name="adj" fmla="val 5000"/>
            </a:avLst>
          </a:prstGeom>
          <a:solidFill>
            <a:srgbClr val="F3F6F8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513332" y="1426464"/>
            <a:ext cx="384048" cy="38404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6" name="Text 14"/>
          <p:cNvSpPr/>
          <p:nvPr/>
        </p:nvSpPr>
        <p:spPr>
          <a:xfrm>
            <a:off x="1513332" y="1426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45236" y="188366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00100" y="2249424"/>
            <a:ext cx="1810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Subscribes to DavinTrade with a referral code at checkout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396996" y="274320"/>
            <a:ext cx="2103120" cy="1463040"/>
          </a:xfrm>
          <a:prstGeom prst="roundRect">
            <a:avLst>
              <a:gd name="adj" fmla="val 5625"/>
            </a:avLst>
          </a:prstGeom>
          <a:solidFill>
            <a:srgbClr val="F3F6F8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267171" y="651987"/>
            <a:ext cx="384048" cy="38404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1" name="Text 19"/>
          <p:cNvSpPr/>
          <p:nvPr/>
        </p:nvSpPr>
        <p:spPr>
          <a:xfrm>
            <a:off x="4271567" y="64548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488436" y="1024017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543300" y="124358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card payments &amp; subscriptions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83456" y="2468879"/>
            <a:ext cx="2103120" cy="1463040"/>
          </a:xfrm>
          <a:prstGeom prst="roundRect">
            <a:avLst>
              <a:gd name="adj" fmla="val 5625"/>
            </a:avLst>
          </a:prstGeom>
          <a:solidFill>
            <a:srgbClr val="F3F6F8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232969" y="2884229"/>
            <a:ext cx="384048" cy="38404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6" name="Text 24"/>
          <p:cNvSpPr/>
          <p:nvPr/>
        </p:nvSpPr>
        <p:spPr>
          <a:xfrm>
            <a:off x="4239739" y="287772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474896" y="323697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dLocal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3543300" y="343814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payment methods across 8 emerging markets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40196" y="1280160"/>
            <a:ext cx="2286000" cy="1645920"/>
          </a:xfrm>
          <a:prstGeom prst="roundRect">
            <a:avLst>
              <a:gd name="adj" fmla="val 5000"/>
            </a:avLst>
          </a:prstGeom>
          <a:solidFill>
            <a:srgbClr val="F3F6F8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091172" y="1426464"/>
            <a:ext cx="384048" cy="38404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1" name="Text 29"/>
          <p:cNvSpPr/>
          <p:nvPr/>
        </p:nvSpPr>
        <p:spPr>
          <a:xfrm>
            <a:off x="7091172" y="1426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231636" y="188366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22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Affiliate Program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286500" y="2249424"/>
            <a:ext cx="1993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attributed; commission earned &amp; tracked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066276" y="1280160"/>
            <a:ext cx="2286000" cy="1645920"/>
          </a:xfrm>
          <a:prstGeom prst="roundRect">
            <a:avLst>
              <a:gd name="adj" fmla="val 5000"/>
            </a:avLst>
          </a:prstGeom>
          <a:solidFill>
            <a:srgbClr val="92D050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0017252" y="1426464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6" name="Text 34"/>
          <p:cNvSpPr/>
          <p:nvPr/>
        </p:nvSpPr>
        <p:spPr>
          <a:xfrm>
            <a:off x="10017252" y="1426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1226"/>
                </a:solidFill>
                <a:latin typeface="Calibri" pitchFamily="34" charset="0"/>
                <a:cs typeface="Calibri" pitchFamily="34" charset="-120"/>
              </a:rPr>
              <a:t>W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9157716" y="188366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Wise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9212580" y="2249424"/>
            <a:ext cx="1993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Aggregates commissions and disburses globally — fiats in different currencies only</a:t>
            </a:r>
            <a:endParaRPr lang="en-US" sz="1000" dirty="0"/>
          </a:p>
        </p:txBody>
      </p:sp>
      <p:sp>
        <p:nvSpPr>
          <p:cNvPr id="41" name="Shape 27">
            <a:extLst>
              <a:ext uri="{FF2B5EF4-FFF2-40B4-BE49-F238E27FC236}">
                <a16:creationId xmlns:a16="http://schemas.microsoft.com/office/drawing/2014/main" id="{E9B2D4BD-1E8C-4BE2-A913-F63648919E16}"/>
              </a:ext>
            </a:extLst>
          </p:cNvPr>
          <p:cNvSpPr/>
          <p:nvPr/>
        </p:nvSpPr>
        <p:spPr>
          <a:xfrm>
            <a:off x="6142306" y="3931920"/>
            <a:ext cx="2286000" cy="1645920"/>
          </a:xfrm>
          <a:prstGeom prst="roundRect">
            <a:avLst>
              <a:gd name="adj" fmla="val 5000"/>
            </a:avLst>
          </a:prstGeom>
          <a:solidFill>
            <a:srgbClr val="F3F6F8"/>
          </a:solidFill>
          <a:ln/>
          <a:effectLst>
            <a:outerShdw blurRad="88900" dist="25400" dir="5400000" algn="bl" rotWithShape="0">
              <a:srgbClr val="1A2A44">
                <a:alpha val="18000"/>
              </a:srgbClr>
            </a:outerShdw>
          </a:effectLst>
        </p:spPr>
        <p:txBody>
          <a:bodyPr/>
          <a:lstStyle/>
          <a:p>
            <a:endParaRPr lang="en-TZ" dirty="0"/>
          </a:p>
        </p:txBody>
      </p:sp>
      <p:sp>
        <p:nvSpPr>
          <p:cNvPr id="42" name="Shape 28">
            <a:extLst>
              <a:ext uri="{FF2B5EF4-FFF2-40B4-BE49-F238E27FC236}">
                <a16:creationId xmlns:a16="http://schemas.microsoft.com/office/drawing/2014/main" id="{D27AC50F-4980-44C4-889C-F62FDCEF7ABE}"/>
              </a:ext>
            </a:extLst>
          </p:cNvPr>
          <p:cNvSpPr/>
          <p:nvPr/>
        </p:nvSpPr>
        <p:spPr>
          <a:xfrm>
            <a:off x="7093282" y="4149500"/>
            <a:ext cx="384048" cy="38404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r>
              <a:rPr lang="en-US" sz="1600" b="1" dirty="0">
                <a:solidFill>
                  <a:schemeClr val="bg1"/>
                </a:solidFill>
              </a:rPr>
              <a:t>S</a:t>
            </a:r>
            <a:endParaRPr lang="en-TZ" sz="1600" b="1" dirty="0">
              <a:solidFill>
                <a:schemeClr val="bg1"/>
              </a:solidFill>
            </a:endParaRPr>
          </a:p>
        </p:txBody>
      </p:sp>
      <p:sp>
        <p:nvSpPr>
          <p:cNvPr id="43" name="Text 30">
            <a:extLst>
              <a:ext uri="{FF2B5EF4-FFF2-40B4-BE49-F238E27FC236}">
                <a16:creationId xmlns:a16="http://schemas.microsoft.com/office/drawing/2014/main" id="{96F5C4C3-46F4-42FD-9A6D-064CFEA7D67B}"/>
              </a:ext>
            </a:extLst>
          </p:cNvPr>
          <p:cNvSpPr/>
          <p:nvPr/>
        </p:nvSpPr>
        <p:spPr>
          <a:xfrm>
            <a:off x="6231636" y="4533548"/>
            <a:ext cx="2103120" cy="842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/>
              <a:t>Thai Bank Account</a:t>
            </a:r>
          </a:p>
          <a:p>
            <a:pPr marL="0" indent="0" algn="ctr">
              <a:buNone/>
            </a:pPr>
            <a:endParaRPr lang="en-US" sz="1350" b="1" dirty="0"/>
          </a:p>
          <a:p>
            <a:pPr marL="0" indent="0" algn="ctr">
              <a:buNone/>
            </a:pPr>
            <a:r>
              <a:rPr lang="en-US" sz="1350" b="1" dirty="0"/>
              <a:t>SCB 2092093045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0223B4E2-B73B-4A0F-BC32-1DA923EDE8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5003" y="3834412"/>
            <a:ext cx="594361" cy="594361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A741C254-D918-4451-86E9-16B100697F1C}"/>
              </a:ext>
            </a:extLst>
          </p:cNvPr>
          <p:cNvSpPr txBox="1"/>
          <p:nvPr/>
        </p:nvSpPr>
        <p:spPr>
          <a:xfrm>
            <a:off x="6950802" y="6487755"/>
            <a:ext cx="808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Davin</a:t>
            </a:r>
            <a:endParaRPr lang="en-TZ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AD517F3-BEDC-41D3-91E6-A583445D264A}"/>
              </a:ext>
            </a:extLst>
          </p:cNvPr>
          <p:cNvSpPr txBox="1"/>
          <p:nvPr/>
        </p:nvSpPr>
        <p:spPr>
          <a:xfrm>
            <a:off x="3564579" y="329007"/>
            <a:ext cx="17892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International Card Payment</a:t>
            </a:r>
            <a:endParaRPr lang="en-TZ" sz="11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919116-E670-4391-9A14-223F4E8A8A94}"/>
              </a:ext>
            </a:extLst>
          </p:cNvPr>
          <p:cNvSpPr txBox="1"/>
          <p:nvPr/>
        </p:nvSpPr>
        <p:spPr>
          <a:xfrm>
            <a:off x="3387500" y="2482004"/>
            <a:ext cx="210312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Non-International Cards Payment (Emerging Markets)</a:t>
            </a:r>
            <a:endParaRPr lang="en-TZ" sz="1100" dirty="0"/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1FDFFED-677B-400E-8B41-3D0D2D39CC48}"/>
              </a:ext>
            </a:extLst>
          </p:cNvPr>
          <p:cNvCxnSpPr/>
          <p:nvPr/>
        </p:nvCxnSpPr>
        <p:spPr>
          <a:xfrm>
            <a:off x="7904285" y="2926080"/>
            <a:ext cx="1393580" cy="1940462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31A4BB8-C5F7-4B79-88B4-C0471704986C}"/>
              </a:ext>
            </a:extLst>
          </p:cNvPr>
          <p:cNvCxnSpPr>
            <a:cxnSpLocks/>
          </p:cNvCxnSpPr>
          <p:nvPr/>
        </p:nvCxnSpPr>
        <p:spPr>
          <a:xfrm flipH="1">
            <a:off x="7665222" y="4866542"/>
            <a:ext cx="1632644" cy="136720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pic>
        <p:nvPicPr>
          <p:cNvPr id="71" name="Picture 70">
            <a:extLst>
              <a:ext uri="{FF2B5EF4-FFF2-40B4-BE49-F238E27FC236}">
                <a16:creationId xmlns:a16="http://schemas.microsoft.com/office/drawing/2014/main" id="{1C34C065-BB69-49DF-B693-EFF1576109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370" y="4256004"/>
            <a:ext cx="625836" cy="625836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13D381C3-1F0B-4BA5-8230-3DFAADDEE1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1882" y="1802710"/>
            <a:ext cx="569566" cy="569566"/>
          </a:xfrm>
          <a:prstGeom prst="rect">
            <a:avLst/>
          </a:prstGeom>
        </p:spPr>
      </p:pic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59F69BB-5B23-4A6D-ACC8-0F92C4202032}"/>
              </a:ext>
            </a:extLst>
          </p:cNvPr>
          <p:cNvCxnSpPr/>
          <p:nvPr/>
        </p:nvCxnSpPr>
        <p:spPr>
          <a:xfrm>
            <a:off x="5292969" y="1737360"/>
            <a:ext cx="1248508" cy="219456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6850B4C3-AF9B-44CD-9BDE-E08934479CD3}"/>
              </a:ext>
            </a:extLst>
          </p:cNvPr>
          <p:cNvCxnSpPr>
            <a:cxnSpLocks/>
            <a:endCxn id="41" idx="1"/>
          </p:cNvCxnSpPr>
          <p:nvPr/>
        </p:nvCxnSpPr>
        <p:spPr>
          <a:xfrm>
            <a:off x="4541227" y="3991356"/>
            <a:ext cx="1601079" cy="76352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3AD4D06-9C1D-4B3B-98B4-04B7586241AB}"/>
              </a:ext>
            </a:extLst>
          </p:cNvPr>
          <p:cNvCxnSpPr>
            <a:endCxn id="34" idx="2"/>
          </p:cNvCxnSpPr>
          <p:nvPr/>
        </p:nvCxnSpPr>
        <p:spPr>
          <a:xfrm flipV="1">
            <a:off x="8475784" y="2926080"/>
            <a:ext cx="1733492" cy="18288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74" name="Picture 73">
            <a:extLst>
              <a:ext uri="{FF2B5EF4-FFF2-40B4-BE49-F238E27FC236}">
                <a16:creationId xmlns:a16="http://schemas.microsoft.com/office/drawing/2014/main" id="{9BBFAC8E-21AE-486B-896D-4BC123F428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0802" y="5901352"/>
            <a:ext cx="664788" cy="664788"/>
          </a:xfrm>
          <a:prstGeom prst="rect">
            <a:avLst/>
          </a:prstGeom>
        </p:spPr>
      </p:pic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8FDEBA92-B6E8-43AA-9A74-EB1E0A1B67D3}"/>
              </a:ext>
            </a:extLst>
          </p:cNvPr>
          <p:cNvCxnSpPr>
            <a:stCxn id="74" idx="0"/>
            <a:endCxn id="41" idx="2"/>
          </p:cNvCxnSpPr>
          <p:nvPr/>
        </p:nvCxnSpPr>
        <p:spPr>
          <a:xfrm flipV="1">
            <a:off x="7283196" y="5577840"/>
            <a:ext cx="2110" cy="32351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pic>
        <p:nvPicPr>
          <p:cNvPr id="79" name="Picture 78">
            <a:extLst>
              <a:ext uri="{FF2B5EF4-FFF2-40B4-BE49-F238E27FC236}">
                <a16:creationId xmlns:a16="http://schemas.microsoft.com/office/drawing/2014/main" id="{C41C0742-509A-431D-AE12-71D0F844BB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1983" y="4984470"/>
            <a:ext cx="2265440" cy="1510293"/>
          </a:xfrm>
          <a:prstGeom prst="rect">
            <a:avLst/>
          </a:prstGeom>
        </p:spPr>
      </p:pic>
      <p:sp>
        <p:nvSpPr>
          <p:cNvPr id="86" name="TextBox 85">
            <a:extLst>
              <a:ext uri="{FF2B5EF4-FFF2-40B4-BE49-F238E27FC236}">
                <a16:creationId xmlns:a16="http://schemas.microsoft.com/office/drawing/2014/main" id="{C65200B7-7F0D-46C2-B5C9-3EB53FA8B1E3}"/>
              </a:ext>
            </a:extLst>
          </p:cNvPr>
          <p:cNvSpPr txBox="1"/>
          <p:nvPr/>
        </p:nvSpPr>
        <p:spPr>
          <a:xfrm>
            <a:off x="10075985" y="6540929"/>
            <a:ext cx="18776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Bank’s Account of Affiliates</a:t>
            </a:r>
            <a:endParaRPr lang="en-TZ" sz="12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8FCEBC8-D702-468C-AB4D-9C7B8E164F4B}"/>
              </a:ext>
            </a:extLst>
          </p:cNvPr>
          <p:cNvSpPr txBox="1"/>
          <p:nvPr/>
        </p:nvSpPr>
        <p:spPr>
          <a:xfrm>
            <a:off x="6172727" y="5670520"/>
            <a:ext cx="1208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accent5">
                    <a:lumMod val="75000"/>
                  </a:schemeClr>
                </a:solidFill>
              </a:rPr>
              <a:t>Operate SCB account</a:t>
            </a:r>
          </a:p>
          <a:p>
            <a:r>
              <a:rPr lang="en-US" sz="900" dirty="0">
                <a:solidFill>
                  <a:schemeClr val="accent5">
                    <a:lumMod val="75000"/>
                  </a:schemeClr>
                </a:solidFill>
              </a:rPr>
              <a:t>By Davin</a:t>
            </a:r>
            <a:endParaRPr lang="en-TZ" sz="9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84C15850-58A0-4B72-9F68-299CB7AE896F}"/>
              </a:ext>
            </a:extLst>
          </p:cNvPr>
          <p:cNvCxnSpPr>
            <a:cxnSpLocks/>
          </p:cNvCxnSpPr>
          <p:nvPr/>
        </p:nvCxnSpPr>
        <p:spPr>
          <a:xfrm>
            <a:off x="415525" y="6161102"/>
            <a:ext cx="312127" cy="955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413335F5-2B13-46F8-8CB2-FC074AEA0302}"/>
              </a:ext>
            </a:extLst>
          </p:cNvPr>
          <p:cNvSpPr txBox="1"/>
          <p:nvPr/>
        </p:nvSpPr>
        <p:spPr>
          <a:xfrm>
            <a:off x="745236" y="6039852"/>
            <a:ext cx="19911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5">
                    <a:lumMod val="75000"/>
                  </a:schemeClr>
                </a:solidFill>
              </a:rPr>
              <a:t>Blue arrow routes = dataflow</a:t>
            </a:r>
            <a:endParaRPr lang="en-TZ" sz="11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F196C329-3389-40AF-A3B4-8F6EFAD39798}"/>
              </a:ext>
            </a:extLst>
          </p:cNvPr>
          <p:cNvCxnSpPr>
            <a:cxnSpLocks/>
          </p:cNvCxnSpPr>
          <p:nvPr/>
        </p:nvCxnSpPr>
        <p:spPr>
          <a:xfrm>
            <a:off x="401119" y="6419079"/>
            <a:ext cx="312127" cy="955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D0B0A7AA-990E-474C-80F1-0158516C613E}"/>
              </a:ext>
            </a:extLst>
          </p:cNvPr>
          <p:cNvSpPr txBox="1"/>
          <p:nvPr/>
        </p:nvSpPr>
        <p:spPr>
          <a:xfrm>
            <a:off x="730830" y="6297829"/>
            <a:ext cx="22736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2"/>
                </a:solidFill>
              </a:rPr>
              <a:t>Orange arrow routes = </a:t>
            </a:r>
            <a:r>
              <a:rPr lang="en-US" sz="1100" dirty="0" err="1">
                <a:solidFill>
                  <a:schemeClr val="accent2"/>
                </a:solidFill>
              </a:rPr>
              <a:t>moneyflow</a:t>
            </a:r>
            <a:endParaRPr lang="en-TZ" sz="1100" dirty="0">
              <a:solidFill>
                <a:schemeClr val="accent2"/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43AEEE2-23D5-40D1-B79B-84C24FB818D4}"/>
              </a:ext>
            </a:extLst>
          </p:cNvPr>
          <p:cNvSpPr txBox="1"/>
          <p:nvPr/>
        </p:nvSpPr>
        <p:spPr>
          <a:xfrm>
            <a:off x="3312326" y="1862181"/>
            <a:ext cx="1745272" cy="41549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r>
              <a:rPr lang="en-US" sz="700" b="1" dirty="0">
                <a:ln/>
                <a:solidFill>
                  <a:schemeClr val="accent4"/>
                </a:solidFill>
              </a:rPr>
              <a:t>Transfer USD received from Stripe to SCB (either manual transfer by Davin or automatic transfer from Stripe to SCB)</a:t>
            </a:r>
            <a:endParaRPr lang="en-TZ" sz="700" b="1" dirty="0">
              <a:ln/>
              <a:solidFill>
                <a:schemeClr val="accent4"/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065833D5-C22D-4D33-A8F0-9244F0B12A80}"/>
              </a:ext>
            </a:extLst>
          </p:cNvPr>
          <p:cNvSpPr txBox="1"/>
          <p:nvPr/>
        </p:nvSpPr>
        <p:spPr>
          <a:xfrm>
            <a:off x="3043019" y="4398818"/>
            <a:ext cx="1745272" cy="41549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r>
              <a:rPr lang="en-US" sz="700" b="1" dirty="0">
                <a:ln/>
                <a:solidFill>
                  <a:schemeClr val="accent4"/>
                </a:solidFill>
              </a:rPr>
              <a:t>Transfer USD received from </a:t>
            </a:r>
            <a:r>
              <a:rPr lang="en-US" sz="700" b="1" dirty="0" err="1">
                <a:ln/>
                <a:solidFill>
                  <a:schemeClr val="accent4"/>
                </a:solidFill>
              </a:rPr>
              <a:t>dLocal</a:t>
            </a:r>
            <a:r>
              <a:rPr lang="en-US" sz="700" b="1" dirty="0">
                <a:ln/>
                <a:solidFill>
                  <a:schemeClr val="accent4"/>
                </a:solidFill>
              </a:rPr>
              <a:t> to SCB (either manual transfer by Davin or automatic transfer from </a:t>
            </a:r>
            <a:r>
              <a:rPr lang="en-US" sz="700" b="1" dirty="0" err="1">
                <a:ln/>
                <a:solidFill>
                  <a:schemeClr val="accent4"/>
                </a:solidFill>
              </a:rPr>
              <a:t>dLocal</a:t>
            </a:r>
            <a:r>
              <a:rPr lang="en-US" sz="700" b="1" dirty="0">
                <a:ln/>
                <a:solidFill>
                  <a:schemeClr val="accent4"/>
                </a:solidFill>
              </a:rPr>
              <a:t> to SCB)</a:t>
            </a:r>
            <a:endParaRPr lang="en-TZ" sz="700" b="1" dirty="0">
              <a:ln/>
              <a:solidFill>
                <a:schemeClr val="accent4"/>
              </a:solidFill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A808CDB1-1502-4162-BE0F-1A5FA02EE01D}"/>
              </a:ext>
            </a:extLst>
          </p:cNvPr>
          <p:cNvSpPr txBox="1"/>
          <p:nvPr/>
        </p:nvSpPr>
        <p:spPr>
          <a:xfrm rot="18861997">
            <a:off x="8541309" y="3394986"/>
            <a:ext cx="1555835" cy="41549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r>
              <a:rPr lang="en-US" sz="700" b="1" dirty="0">
                <a:ln/>
                <a:solidFill>
                  <a:schemeClr val="accent4"/>
                </a:solidFill>
              </a:rPr>
              <a:t>Transfer USD received from SCB to Wise (manual transfer by Davin Only)</a:t>
            </a:r>
            <a:endParaRPr lang="en-TZ" sz="700" b="1" dirty="0">
              <a:ln/>
              <a:solidFill>
                <a:schemeClr val="accent4"/>
              </a:solidFill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2CB717F-87E9-4EBE-A362-7AEB873402EA}"/>
              </a:ext>
            </a:extLst>
          </p:cNvPr>
          <p:cNvSpPr txBox="1"/>
          <p:nvPr/>
        </p:nvSpPr>
        <p:spPr>
          <a:xfrm rot="19183290">
            <a:off x="8273404" y="5455158"/>
            <a:ext cx="10676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accent5">
                    <a:lumMod val="75000"/>
                  </a:schemeClr>
                </a:solidFill>
              </a:rPr>
              <a:t>Davin is informed by Affiliate Program about amount of money need to transfer to Wise</a:t>
            </a:r>
            <a:endParaRPr lang="en-TZ" sz="8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2E1C6C62-0200-4C11-AF24-BEC4ACE6DD1C}"/>
              </a:ext>
            </a:extLst>
          </p:cNvPr>
          <p:cNvSpPr txBox="1"/>
          <p:nvPr/>
        </p:nvSpPr>
        <p:spPr>
          <a:xfrm>
            <a:off x="10176033" y="3392968"/>
            <a:ext cx="1620512" cy="138499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r>
              <a:rPr lang="en-US" sz="1050" b="1" dirty="0">
                <a:ln/>
                <a:solidFill>
                  <a:schemeClr val="accent4"/>
                </a:solidFill>
              </a:rPr>
              <a:t>Money sending to Bank’s Account of Affiliates</a:t>
            </a:r>
          </a:p>
          <a:p>
            <a:r>
              <a:rPr lang="en-US" sz="1050" b="1" dirty="0">
                <a:ln/>
                <a:solidFill>
                  <a:schemeClr val="accent4"/>
                </a:solidFill>
              </a:rPr>
              <a:t>Note : 1) Disbursement is immediately made after Wise was funded. 2)</a:t>
            </a:r>
          </a:p>
          <a:p>
            <a:r>
              <a:rPr lang="en-US" sz="1050" b="1" dirty="0">
                <a:ln/>
                <a:solidFill>
                  <a:schemeClr val="accent4"/>
                </a:solidFill>
              </a:rPr>
              <a:t>Affiliates bear exchange rate difference and money transfer fees.</a:t>
            </a:r>
            <a:endParaRPr lang="en-TZ" sz="1050" b="1" dirty="0">
              <a:ln/>
              <a:solidFill>
                <a:schemeClr val="accent4"/>
              </a:solidFill>
            </a:endParaRP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176D39E-CA40-4191-8B6B-423677B111F5}"/>
              </a:ext>
            </a:extLst>
          </p:cNvPr>
          <p:cNvCxnSpPr/>
          <p:nvPr/>
        </p:nvCxnSpPr>
        <p:spPr>
          <a:xfrm>
            <a:off x="10739804" y="3069747"/>
            <a:ext cx="0" cy="350109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1923366-F862-43CB-9380-2D59BD8F8D74}"/>
              </a:ext>
            </a:extLst>
          </p:cNvPr>
          <p:cNvCxnSpPr>
            <a:endCxn id="79" idx="0"/>
          </p:cNvCxnSpPr>
          <p:nvPr/>
        </p:nvCxnSpPr>
        <p:spPr>
          <a:xfrm>
            <a:off x="10774703" y="4814316"/>
            <a:ext cx="0" cy="1701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</TotalTime>
  <Words>190</Words>
  <Application>Microsoft Office PowerPoint</Application>
  <PresentationFormat>Widescreen</PresentationFormat>
  <Paragraphs>35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Dhapanart Kevalee</cp:lastModifiedBy>
  <cp:revision>5</cp:revision>
  <dcterms:created xsi:type="dcterms:W3CDTF">2026-07-23T14:41:51Z</dcterms:created>
  <dcterms:modified xsi:type="dcterms:W3CDTF">2026-07-27T07:11:46Z</dcterms:modified>
</cp:coreProperties>
</file>