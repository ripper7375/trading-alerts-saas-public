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63" r:id="rId5"/>
    <p:sldId id="258" r:id="rId6"/>
    <p:sldId id="264" r:id="rId7"/>
    <p:sldId id="259" r:id="rId8"/>
    <p:sldId id="260" r:id="rId9"/>
    <p:sldId id="261" r:id="rId10"/>
    <p:sldId id="265" r:id="rId11"/>
    <p:sldId id="266" r:id="rId12"/>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87" d="100"/>
          <a:sy n="87" d="100"/>
        </p:scale>
        <p:origin x="533" y="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FB6E-E103-4212-8EBC-A5FA6A5758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4D1D86E9-D288-4DD1-A003-B3E4886F27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955F9A2C-0176-4187-8C1D-0F70AF7DA94D}"/>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5" name="Footer Placeholder 4">
            <a:extLst>
              <a:ext uri="{FF2B5EF4-FFF2-40B4-BE49-F238E27FC236}">
                <a16:creationId xmlns:a16="http://schemas.microsoft.com/office/drawing/2014/main" id="{9646D534-38BC-4DB8-A681-01E00D63345A}"/>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7F0147A3-06D0-4607-9DF3-BD0D44EF446D}"/>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274633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408CB-6D40-4207-9674-B45CD3DF3CB1}"/>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903F2C03-62F7-42EC-BCC4-873A9D94D6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DF37880B-893D-4086-B449-38E67D3EC3CF}"/>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5" name="Footer Placeholder 4">
            <a:extLst>
              <a:ext uri="{FF2B5EF4-FFF2-40B4-BE49-F238E27FC236}">
                <a16:creationId xmlns:a16="http://schemas.microsoft.com/office/drawing/2014/main" id="{5520DDDE-B3FF-4050-BB62-9E16B8E26DF9}"/>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2B1B8E36-2F48-49E6-B219-6F746D921B6D}"/>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2283439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2B15A-C3CA-4231-B98E-1471C22998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82FBAE75-55AF-49A8-B9F1-40B3EB6D9D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20BD9D-AF10-42E0-81C6-D6104B8012BB}"/>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5" name="Footer Placeholder 4">
            <a:extLst>
              <a:ext uri="{FF2B5EF4-FFF2-40B4-BE49-F238E27FC236}">
                <a16:creationId xmlns:a16="http://schemas.microsoft.com/office/drawing/2014/main" id="{D215A9CB-B86C-4492-8F12-EAB763054107}"/>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A4BBB4D0-D6C8-4EDD-9C0F-D17ACDD899B4}"/>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62848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928A-2669-49EE-B8C9-AC347503FD74}"/>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CA3B4B26-0B63-4197-9B73-4CA5E70677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BD95ACF6-1768-4BB7-9401-469D8D7142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34513ED2-8FC6-4E5D-B93C-E2AD150467DE}"/>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6" name="Footer Placeholder 5">
            <a:extLst>
              <a:ext uri="{FF2B5EF4-FFF2-40B4-BE49-F238E27FC236}">
                <a16:creationId xmlns:a16="http://schemas.microsoft.com/office/drawing/2014/main" id="{C4C5DD8F-F29B-451A-8190-6A7B4DE45B88}"/>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876DF757-69B4-47D7-8489-B452D39CAE84}"/>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3290385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F41E2-F550-4F75-873E-00C3AC6CE613}"/>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F620F552-CF81-434F-AFCA-2285BFC941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F4336F-3591-4C99-9842-2702A0165C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0E6125A9-6BF1-40A7-994E-C5C89B347D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ACE78C-5878-4821-928E-AE5F3D7D6B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FF21C889-DA98-459A-844F-84A534850286}"/>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8" name="Footer Placeholder 7">
            <a:extLst>
              <a:ext uri="{FF2B5EF4-FFF2-40B4-BE49-F238E27FC236}">
                <a16:creationId xmlns:a16="http://schemas.microsoft.com/office/drawing/2014/main" id="{95E6AEB9-E32C-47D1-B09E-60E7F265B834}"/>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9289B9FD-588E-43AE-8A51-03176AD027CE}"/>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4080573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857E2-6D47-4A32-9C17-BD412B8E2E0D}"/>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C9FA2E0C-E720-4190-92A8-F363CEFD8204}"/>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4" name="Footer Placeholder 3">
            <a:extLst>
              <a:ext uri="{FF2B5EF4-FFF2-40B4-BE49-F238E27FC236}">
                <a16:creationId xmlns:a16="http://schemas.microsoft.com/office/drawing/2014/main" id="{2F022B34-6E56-4F96-B30B-9BE44F68BA64}"/>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5CF1F86D-D8B8-47BD-9260-FB9B4A1DB4E0}"/>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3640727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669270-6CAF-4CDF-83FD-9CF53D25BDB6}"/>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3" name="Footer Placeholder 2">
            <a:extLst>
              <a:ext uri="{FF2B5EF4-FFF2-40B4-BE49-F238E27FC236}">
                <a16:creationId xmlns:a16="http://schemas.microsoft.com/office/drawing/2014/main" id="{27873502-C6B2-40FA-8E78-1CD5F435B46C}"/>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08A67B86-2307-498E-8A3A-5460057A9214}"/>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3041456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976D3-9AED-432B-B994-1A6C851943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91484286-2647-4AE2-9275-B644E7F9CB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061A2BE4-63E9-4A5A-967D-77F77FD3D9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671EED-5903-4C64-B82A-E04C5D21AFBD}"/>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6" name="Footer Placeholder 5">
            <a:extLst>
              <a:ext uri="{FF2B5EF4-FFF2-40B4-BE49-F238E27FC236}">
                <a16:creationId xmlns:a16="http://schemas.microsoft.com/office/drawing/2014/main" id="{C66A8BF5-F0BE-43B6-9FA4-19C8157D3434}"/>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8A1D292B-DE5C-4B21-942B-F59A5643B9C7}"/>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3930102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C86B5-5AAF-4B30-AB7C-060F4D432D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6E9F289F-3919-4A32-94C6-3D6711E34D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56D43041-A070-4886-9F72-9E3549F81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66C280-51DB-430B-A8A2-C47664EA54B7}"/>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6" name="Footer Placeholder 5">
            <a:extLst>
              <a:ext uri="{FF2B5EF4-FFF2-40B4-BE49-F238E27FC236}">
                <a16:creationId xmlns:a16="http://schemas.microsoft.com/office/drawing/2014/main" id="{2261712A-DDE0-4B07-8CEB-98EA12B50F57}"/>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748229A8-F7FC-449D-A10A-21A9E3CB5F56}"/>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4117372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30B71-6A44-4D3C-B453-11AA8737144C}"/>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12DEB922-83FE-4753-8982-5E0B33390D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E0F9B772-EE0A-4F2D-B66F-A8060E5E6EF2}"/>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5" name="Footer Placeholder 4">
            <a:extLst>
              <a:ext uri="{FF2B5EF4-FFF2-40B4-BE49-F238E27FC236}">
                <a16:creationId xmlns:a16="http://schemas.microsoft.com/office/drawing/2014/main" id="{B2827D89-E807-4FEF-9D65-FD2492C786DD}"/>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55C8820F-DA81-4730-9FDB-05DB9CF7689F}"/>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660110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502461-67A4-4331-879F-82A99608F8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7EB8C7E0-21D6-4AF5-A30C-B0532925A7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2EF20DAB-6D5A-4032-B953-E137A5F19CC5}"/>
              </a:ext>
            </a:extLst>
          </p:cNvPr>
          <p:cNvSpPr>
            <a:spLocks noGrp="1"/>
          </p:cNvSpPr>
          <p:nvPr>
            <p:ph type="dt" sz="half" idx="10"/>
          </p:nvPr>
        </p:nvSpPr>
        <p:spPr/>
        <p:txBody>
          <a:bodyPr/>
          <a:lstStyle/>
          <a:p>
            <a:fld id="{6658B177-B7F3-4BBF-B431-5C6D2A4F7F63}" type="datetimeFigureOut">
              <a:rPr lang="en-TZ" smtClean="0"/>
              <a:t>27/08/2026</a:t>
            </a:fld>
            <a:endParaRPr lang="en-TZ"/>
          </a:p>
        </p:txBody>
      </p:sp>
      <p:sp>
        <p:nvSpPr>
          <p:cNvPr id="5" name="Footer Placeholder 4">
            <a:extLst>
              <a:ext uri="{FF2B5EF4-FFF2-40B4-BE49-F238E27FC236}">
                <a16:creationId xmlns:a16="http://schemas.microsoft.com/office/drawing/2014/main" id="{0B1D4C57-4B88-4180-BD3D-0A6E74978962}"/>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32D928DC-E7A9-4B43-8FDB-0D1065F7B5ED}"/>
              </a:ext>
            </a:extLst>
          </p:cNvPr>
          <p:cNvSpPr>
            <a:spLocks noGrp="1"/>
          </p:cNvSpPr>
          <p:nvPr>
            <p:ph type="sldNum" sz="quarter" idx="12"/>
          </p:nvPr>
        </p:nvSpPr>
        <p:spPr/>
        <p:txBody>
          <a:bodyPr/>
          <a:lstStyle/>
          <a:p>
            <a:fld id="{78CBCB20-CF94-4ED3-9E92-F8B5E41E2497}" type="slidenum">
              <a:rPr lang="en-TZ" smtClean="0"/>
              <a:t>‹#›</a:t>
            </a:fld>
            <a:endParaRPr lang="en-TZ"/>
          </a:p>
        </p:txBody>
      </p:sp>
    </p:spTree>
    <p:extLst>
      <p:ext uri="{BB962C8B-B14F-4D97-AF65-F5344CB8AC3E}">
        <p14:creationId xmlns:p14="http://schemas.microsoft.com/office/powerpoint/2010/main" val="2782171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6D0A38-A59A-4439-B035-03AA8005A9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D58BD50C-8EED-4447-9967-923FDCD2AC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AE9D212C-A25A-40A9-8BB5-2FF541BFD2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58B177-B7F3-4BBF-B431-5C6D2A4F7F63}" type="datetimeFigureOut">
              <a:rPr lang="en-TZ" smtClean="0"/>
              <a:t>27/08/2026</a:t>
            </a:fld>
            <a:endParaRPr lang="en-TZ"/>
          </a:p>
        </p:txBody>
      </p:sp>
      <p:sp>
        <p:nvSpPr>
          <p:cNvPr id="5" name="Footer Placeholder 4">
            <a:extLst>
              <a:ext uri="{FF2B5EF4-FFF2-40B4-BE49-F238E27FC236}">
                <a16:creationId xmlns:a16="http://schemas.microsoft.com/office/drawing/2014/main" id="{01DEC4B0-F7FF-41A4-B893-A7FCF0C62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Z"/>
          </a:p>
        </p:txBody>
      </p:sp>
      <p:sp>
        <p:nvSpPr>
          <p:cNvPr id="6" name="Slide Number Placeholder 5">
            <a:extLst>
              <a:ext uri="{FF2B5EF4-FFF2-40B4-BE49-F238E27FC236}">
                <a16:creationId xmlns:a16="http://schemas.microsoft.com/office/drawing/2014/main" id="{62142391-2146-4509-B457-602690462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CBCB20-CF94-4ED3-9E92-F8B5E41E2497}" type="slidenum">
              <a:rPr lang="en-TZ" smtClean="0"/>
              <a:t>‹#›</a:t>
            </a:fld>
            <a:endParaRPr lang="en-TZ"/>
          </a:p>
        </p:txBody>
      </p:sp>
    </p:spTree>
    <p:extLst>
      <p:ext uri="{BB962C8B-B14F-4D97-AF65-F5344CB8AC3E}">
        <p14:creationId xmlns:p14="http://schemas.microsoft.com/office/powerpoint/2010/main" val="2276787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1" name="Straight Arrow Connector 80">
            <a:extLst>
              <a:ext uri="{FF2B5EF4-FFF2-40B4-BE49-F238E27FC236}">
                <a16:creationId xmlns:a16="http://schemas.microsoft.com/office/drawing/2014/main" id="{1EB4440D-12A3-4651-820D-700E92ACFDB8}"/>
              </a:ext>
            </a:extLst>
          </p:cNvPr>
          <p:cNvCxnSpPr>
            <a:cxnSpLocks/>
            <a:endCxn id="49" idx="0"/>
          </p:cNvCxnSpPr>
          <p:nvPr/>
        </p:nvCxnSpPr>
        <p:spPr>
          <a:xfrm>
            <a:off x="4998427" y="3882284"/>
            <a:ext cx="168114" cy="919209"/>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9" name="Straight Arrow Connector 78">
            <a:extLst>
              <a:ext uri="{FF2B5EF4-FFF2-40B4-BE49-F238E27FC236}">
                <a16:creationId xmlns:a16="http://schemas.microsoft.com/office/drawing/2014/main" id="{EAEE0EA7-F6B2-4A84-B993-640CA388EA3C}"/>
              </a:ext>
            </a:extLst>
          </p:cNvPr>
          <p:cNvCxnSpPr>
            <a:cxnSpLocks/>
          </p:cNvCxnSpPr>
          <p:nvPr/>
        </p:nvCxnSpPr>
        <p:spPr>
          <a:xfrm>
            <a:off x="3884683" y="3884889"/>
            <a:ext cx="1036190" cy="937064"/>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67" name="Straight Arrow Connector 166">
            <a:extLst>
              <a:ext uri="{FF2B5EF4-FFF2-40B4-BE49-F238E27FC236}">
                <a16:creationId xmlns:a16="http://schemas.microsoft.com/office/drawing/2014/main" id="{F3EB47AA-E9C5-4D22-98A0-43FEE8A30B9D}"/>
              </a:ext>
            </a:extLst>
          </p:cNvPr>
          <p:cNvCxnSpPr>
            <a:cxnSpLocks/>
          </p:cNvCxnSpPr>
          <p:nvPr/>
        </p:nvCxnSpPr>
        <p:spPr>
          <a:xfrm flipV="1">
            <a:off x="835620" y="5646471"/>
            <a:ext cx="4083414" cy="42167"/>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Straight Arrow Connector 68">
            <a:extLst>
              <a:ext uri="{FF2B5EF4-FFF2-40B4-BE49-F238E27FC236}">
                <a16:creationId xmlns:a16="http://schemas.microsoft.com/office/drawing/2014/main" id="{469A206A-D93B-4370-90FA-A60584A00A7C}"/>
              </a:ext>
            </a:extLst>
          </p:cNvPr>
          <p:cNvCxnSpPr>
            <a:cxnSpLocks/>
            <a:endCxn id="56" idx="1"/>
          </p:cNvCxnSpPr>
          <p:nvPr/>
        </p:nvCxnSpPr>
        <p:spPr>
          <a:xfrm flipV="1">
            <a:off x="843777" y="5207983"/>
            <a:ext cx="2015356" cy="466456"/>
          </a:xfrm>
          <a:prstGeom prst="straightConnector1">
            <a:avLst/>
          </a:prstGeom>
          <a:ln w="38100" cap="flat" cmpd="sng" algn="ctr">
            <a:solidFill>
              <a:srgbClr val="00B050"/>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5" name="Straight Arrow Connector 114">
            <a:extLst>
              <a:ext uri="{FF2B5EF4-FFF2-40B4-BE49-F238E27FC236}">
                <a16:creationId xmlns:a16="http://schemas.microsoft.com/office/drawing/2014/main" id="{C1248623-BF01-4A06-B59F-5285FF0A92AD}"/>
              </a:ext>
            </a:extLst>
          </p:cNvPr>
          <p:cNvCxnSpPr>
            <a:cxnSpLocks/>
            <a:stCxn id="150" idx="3"/>
          </p:cNvCxnSpPr>
          <p:nvPr/>
        </p:nvCxnSpPr>
        <p:spPr>
          <a:xfrm flipV="1">
            <a:off x="2505250" y="6366726"/>
            <a:ext cx="708347" cy="18964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6" name="Rectangle: Rounded Corners 105">
            <a:extLst>
              <a:ext uri="{FF2B5EF4-FFF2-40B4-BE49-F238E27FC236}">
                <a16:creationId xmlns:a16="http://schemas.microsoft.com/office/drawing/2014/main" id="{9617B9DB-1A1A-4B48-A448-F28192092AC1}"/>
              </a:ext>
            </a:extLst>
          </p:cNvPr>
          <p:cNvSpPr/>
          <p:nvPr/>
        </p:nvSpPr>
        <p:spPr>
          <a:xfrm>
            <a:off x="337035" y="870404"/>
            <a:ext cx="1789393" cy="396886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TZ"/>
          </a:p>
        </p:txBody>
      </p:sp>
      <p:cxnSp>
        <p:nvCxnSpPr>
          <p:cNvPr id="67" name="Straight Arrow Connector 66">
            <a:extLst>
              <a:ext uri="{FF2B5EF4-FFF2-40B4-BE49-F238E27FC236}">
                <a16:creationId xmlns:a16="http://schemas.microsoft.com/office/drawing/2014/main" id="{146B04F4-2C99-459B-82ED-8951EE8D9C00}"/>
              </a:ext>
            </a:extLst>
          </p:cNvPr>
          <p:cNvCxnSpPr>
            <a:cxnSpLocks/>
            <a:stCxn id="55" idx="0"/>
          </p:cNvCxnSpPr>
          <p:nvPr/>
        </p:nvCxnSpPr>
        <p:spPr>
          <a:xfrm flipV="1">
            <a:off x="3056799" y="2254067"/>
            <a:ext cx="146046" cy="2624732"/>
          </a:xfrm>
          <a:prstGeom prst="straightConnector1">
            <a:avLst/>
          </a:prstGeom>
          <a:ln w="38100" cap="flat" cmpd="sng" algn="ctr">
            <a:solidFill>
              <a:srgbClr val="00B050"/>
            </a:solidFill>
            <a:prstDash val="sysDot"/>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 name="Shape 4">
            <a:extLst>
              <a:ext uri="{FF2B5EF4-FFF2-40B4-BE49-F238E27FC236}">
                <a16:creationId xmlns:a16="http://schemas.microsoft.com/office/drawing/2014/main" id="{DE104FF3-A74B-4A4A-AABE-184F05F080EC}"/>
              </a:ext>
            </a:extLst>
          </p:cNvPr>
          <p:cNvSpPr/>
          <p:nvPr/>
        </p:nvSpPr>
        <p:spPr>
          <a:xfrm>
            <a:off x="545933" y="1934716"/>
            <a:ext cx="1371600" cy="2732948"/>
          </a:xfrm>
          <a:prstGeom prst="roundRect">
            <a:avLst>
              <a:gd name="adj" fmla="val 6667"/>
            </a:avLst>
          </a:prstGeom>
          <a:solidFill>
            <a:srgbClr val="2A3878"/>
          </a:solidFill>
          <a:ln w="19050">
            <a:solidFill>
              <a:srgbClr val="CADCFC"/>
            </a:solidFill>
            <a:prstDash val="solid"/>
          </a:ln>
        </p:spPr>
      </p:sp>
      <p:sp>
        <p:nvSpPr>
          <p:cNvPr id="5" name="Text 5">
            <a:extLst>
              <a:ext uri="{FF2B5EF4-FFF2-40B4-BE49-F238E27FC236}">
                <a16:creationId xmlns:a16="http://schemas.microsoft.com/office/drawing/2014/main" id="{73CC72B3-C3FB-4286-81D6-79B4C8F53DA8}"/>
              </a:ext>
            </a:extLst>
          </p:cNvPr>
          <p:cNvSpPr/>
          <p:nvPr/>
        </p:nvSpPr>
        <p:spPr>
          <a:xfrm>
            <a:off x="553649" y="3072590"/>
            <a:ext cx="1371600" cy="457200"/>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ONE APP</a:t>
            </a:r>
            <a:endParaRPr lang="en-US" sz="1050" dirty="0"/>
          </a:p>
        </p:txBody>
      </p:sp>
      <p:sp>
        <p:nvSpPr>
          <p:cNvPr id="6" name="Shape 6">
            <a:extLst>
              <a:ext uri="{FF2B5EF4-FFF2-40B4-BE49-F238E27FC236}">
                <a16:creationId xmlns:a16="http://schemas.microsoft.com/office/drawing/2014/main" id="{FC7F87DC-021F-4745-9B07-C40DAB8A7DC4}"/>
              </a:ext>
            </a:extLst>
          </p:cNvPr>
          <p:cNvSpPr/>
          <p:nvPr/>
        </p:nvSpPr>
        <p:spPr>
          <a:xfrm>
            <a:off x="2301770" y="1017155"/>
            <a:ext cx="610760" cy="457200"/>
          </a:xfrm>
          <a:prstGeom prst="rightArrow">
            <a:avLst/>
          </a:prstGeom>
          <a:solidFill>
            <a:schemeClr val="tx1"/>
          </a:solidFill>
          <a:ln/>
        </p:spPr>
      </p:sp>
      <p:sp>
        <p:nvSpPr>
          <p:cNvPr id="7" name="Shape 7">
            <a:extLst>
              <a:ext uri="{FF2B5EF4-FFF2-40B4-BE49-F238E27FC236}">
                <a16:creationId xmlns:a16="http://schemas.microsoft.com/office/drawing/2014/main" id="{8F11BC0D-E799-4BF4-ACDA-37E181122B3E}"/>
              </a:ext>
            </a:extLst>
          </p:cNvPr>
          <p:cNvSpPr/>
          <p:nvPr/>
        </p:nvSpPr>
        <p:spPr>
          <a:xfrm>
            <a:off x="3030887" y="1858836"/>
            <a:ext cx="938840" cy="395231"/>
          </a:xfrm>
          <a:prstGeom prst="roundRect">
            <a:avLst>
              <a:gd name="adj" fmla="val 11111"/>
            </a:avLst>
          </a:prstGeom>
          <a:solidFill>
            <a:srgbClr val="2A3878"/>
          </a:solidFill>
          <a:ln w="19050">
            <a:solidFill>
              <a:srgbClr val="2EC4B6"/>
            </a:solidFill>
            <a:prstDash val="solid"/>
          </a:ln>
        </p:spPr>
      </p:sp>
      <p:sp>
        <p:nvSpPr>
          <p:cNvPr id="8" name="Text 8">
            <a:extLst>
              <a:ext uri="{FF2B5EF4-FFF2-40B4-BE49-F238E27FC236}">
                <a16:creationId xmlns:a16="http://schemas.microsoft.com/office/drawing/2014/main" id="{4B17F111-19B5-4185-A229-7FBBC276C5CF}"/>
              </a:ext>
            </a:extLst>
          </p:cNvPr>
          <p:cNvSpPr/>
          <p:nvPr/>
        </p:nvSpPr>
        <p:spPr>
          <a:xfrm>
            <a:off x="3093823" y="1896066"/>
            <a:ext cx="805272" cy="295361"/>
          </a:xfrm>
          <a:prstGeom prst="rect">
            <a:avLst/>
          </a:prstGeom>
          <a:noFill/>
          <a:ln/>
        </p:spPr>
        <p:txBody>
          <a:bodyPr wrap="square" lIns="0" tIns="0" rIns="0" bIns="0" rtlCol="0" anchor="ctr"/>
          <a:lstStyle/>
          <a:p>
            <a:pPr marL="0" indent="0" algn="ctr">
              <a:buNone/>
            </a:pPr>
            <a:r>
              <a:rPr lang="en-US" sz="1050" b="1" dirty="0">
                <a:solidFill>
                  <a:srgbClr val="FFFF00"/>
                </a:solidFill>
                <a:latin typeface="Calibri" pitchFamily="34" charset="0"/>
                <a:ea typeface="Calibri" pitchFamily="34" charset="-122"/>
                <a:cs typeface="Calibri" pitchFamily="34" charset="-120"/>
              </a:rPr>
              <a:t>Frontend UI</a:t>
            </a:r>
            <a:endParaRPr lang="en-US" sz="1050" dirty="0">
              <a:solidFill>
                <a:srgbClr val="FFFF00"/>
              </a:solidFill>
            </a:endParaRPr>
          </a:p>
        </p:txBody>
      </p:sp>
      <p:sp>
        <p:nvSpPr>
          <p:cNvPr id="9" name="Shape 9">
            <a:extLst>
              <a:ext uri="{FF2B5EF4-FFF2-40B4-BE49-F238E27FC236}">
                <a16:creationId xmlns:a16="http://schemas.microsoft.com/office/drawing/2014/main" id="{95298293-F980-4653-BFC6-47661A982361}"/>
              </a:ext>
            </a:extLst>
          </p:cNvPr>
          <p:cNvSpPr/>
          <p:nvPr/>
        </p:nvSpPr>
        <p:spPr>
          <a:xfrm>
            <a:off x="2898614" y="3440311"/>
            <a:ext cx="1107727" cy="439973"/>
          </a:xfrm>
          <a:prstGeom prst="roundRect">
            <a:avLst>
              <a:gd name="adj" fmla="val 11111"/>
            </a:avLst>
          </a:prstGeom>
          <a:solidFill>
            <a:srgbClr val="2A3878"/>
          </a:solidFill>
          <a:ln w="19050">
            <a:solidFill>
              <a:srgbClr val="2EC4B6"/>
            </a:solidFill>
            <a:prstDash val="solid"/>
          </a:ln>
        </p:spPr>
      </p:sp>
      <p:sp>
        <p:nvSpPr>
          <p:cNvPr id="10" name="Text 10">
            <a:extLst>
              <a:ext uri="{FF2B5EF4-FFF2-40B4-BE49-F238E27FC236}">
                <a16:creationId xmlns:a16="http://schemas.microsoft.com/office/drawing/2014/main" id="{AD86FD63-0EBC-4937-B0CA-67CC22040A72}"/>
              </a:ext>
            </a:extLst>
          </p:cNvPr>
          <p:cNvSpPr/>
          <p:nvPr/>
        </p:nvSpPr>
        <p:spPr>
          <a:xfrm>
            <a:off x="2890769" y="3514996"/>
            <a:ext cx="1107727" cy="295208"/>
          </a:xfrm>
          <a:prstGeom prst="rect">
            <a:avLst/>
          </a:prstGeom>
          <a:noFill/>
          <a:ln/>
        </p:spPr>
        <p:txBody>
          <a:bodyPr wrap="square" lIns="0" tIns="0" rIns="0" bIns="0" rtlCol="0" anchor="ctr"/>
          <a:lstStyle/>
          <a:p>
            <a:pPr marL="0" indent="0" algn="ctr">
              <a:buNone/>
            </a:pPr>
            <a:r>
              <a:rPr lang="en-US" sz="1050" b="1" dirty="0">
                <a:solidFill>
                  <a:srgbClr val="FFFF00"/>
                </a:solidFill>
                <a:latin typeface="Calibri" pitchFamily="34" charset="0"/>
                <a:ea typeface="Calibri" pitchFamily="34" charset="-122"/>
                <a:cs typeface="Calibri" pitchFamily="34" charset="-120"/>
              </a:rPr>
              <a:t>Operation-Service</a:t>
            </a:r>
          </a:p>
        </p:txBody>
      </p:sp>
      <p:sp>
        <p:nvSpPr>
          <p:cNvPr id="11" name="Shape 11">
            <a:extLst>
              <a:ext uri="{FF2B5EF4-FFF2-40B4-BE49-F238E27FC236}">
                <a16:creationId xmlns:a16="http://schemas.microsoft.com/office/drawing/2014/main" id="{1BE816B5-86D8-4931-867A-15BB89A13FCA}"/>
              </a:ext>
            </a:extLst>
          </p:cNvPr>
          <p:cNvSpPr/>
          <p:nvPr/>
        </p:nvSpPr>
        <p:spPr>
          <a:xfrm>
            <a:off x="4116263" y="3428480"/>
            <a:ext cx="1107727" cy="445511"/>
          </a:xfrm>
          <a:prstGeom prst="roundRect">
            <a:avLst>
              <a:gd name="adj" fmla="val 11111"/>
            </a:avLst>
          </a:prstGeom>
          <a:solidFill>
            <a:srgbClr val="2A3878"/>
          </a:solidFill>
          <a:ln w="19050">
            <a:solidFill>
              <a:srgbClr val="2EC4B6"/>
            </a:solidFill>
            <a:prstDash val="solid"/>
          </a:ln>
        </p:spPr>
      </p:sp>
      <p:sp>
        <p:nvSpPr>
          <p:cNvPr id="12" name="Text 12">
            <a:extLst>
              <a:ext uri="{FF2B5EF4-FFF2-40B4-BE49-F238E27FC236}">
                <a16:creationId xmlns:a16="http://schemas.microsoft.com/office/drawing/2014/main" id="{B368A97C-8984-418C-8016-A3083FFF045F}"/>
              </a:ext>
            </a:extLst>
          </p:cNvPr>
          <p:cNvSpPr/>
          <p:nvPr/>
        </p:nvSpPr>
        <p:spPr>
          <a:xfrm>
            <a:off x="4116263" y="3504408"/>
            <a:ext cx="1107727" cy="265690"/>
          </a:xfrm>
          <a:prstGeom prst="rect">
            <a:avLst/>
          </a:prstGeom>
          <a:noFill/>
          <a:ln/>
        </p:spPr>
        <p:txBody>
          <a:bodyPr wrap="square" lIns="0" tIns="0" rIns="0" bIns="0" rtlCol="0" anchor="ctr"/>
          <a:lstStyle/>
          <a:p>
            <a:pPr marL="0" indent="0" algn="ctr">
              <a:buNone/>
            </a:pPr>
            <a:r>
              <a:rPr lang="en-US" sz="1050" b="1" dirty="0">
                <a:solidFill>
                  <a:srgbClr val="FFFF00"/>
                </a:solidFill>
              </a:rPr>
              <a:t>Money-Service</a:t>
            </a:r>
          </a:p>
        </p:txBody>
      </p:sp>
      <p:sp>
        <p:nvSpPr>
          <p:cNvPr id="13" name="TextBox 12">
            <a:extLst>
              <a:ext uri="{FF2B5EF4-FFF2-40B4-BE49-F238E27FC236}">
                <a16:creationId xmlns:a16="http://schemas.microsoft.com/office/drawing/2014/main" id="{0E0385DB-A8A4-41FD-9C3B-FD788BFB0A07}"/>
              </a:ext>
            </a:extLst>
          </p:cNvPr>
          <p:cNvSpPr txBox="1"/>
          <p:nvPr/>
        </p:nvSpPr>
        <p:spPr>
          <a:xfrm>
            <a:off x="604548" y="879869"/>
            <a:ext cx="1254369" cy="830997"/>
          </a:xfrm>
          <a:prstGeom prst="rect">
            <a:avLst/>
          </a:prstGeom>
          <a:noFill/>
        </p:spPr>
        <p:txBody>
          <a:bodyPr wrap="square" rtlCol="0">
            <a:spAutoFit/>
          </a:bodyPr>
          <a:lstStyle/>
          <a:p>
            <a:pPr algn="ctr"/>
            <a:r>
              <a:rPr lang="en-US" sz="1200" b="1" i="1" dirty="0"/>
              <a:t>Monolith Architecture</a:t>
            </a:r>
          </a:p>
          <a:p>
            <a:pPr algn="ctr"/>
            <a:r>
              <a:rPr lang="en-US" sz="1200" b="1" i="1" dirty="0"/>
              <a:t>(BEFORE MIGRATION)</a:t>
            </a:r>
            <a:endParaRPr lang="en-TZ" sz="1200" b="1" i="1" dirty="0"/>
          </a:p>
        </p:txBody>
      </p:sp>
      <p:sp>
        <p:nvSpPr>
          <p:cNvPr id="14" name="Shape 9">
            <a:extLst>
              <a:ext uri="{FF2B5EF4-FFF2-40B4-BE49-F238E27FC236}">
                <a16:creationId xmlns:a16="http://schemas.microsoft.com/office/drawing/2014/main" id="{AE3A3FF8-54AC-4DE8-B86D-4A18AA8F2E2D}"/>
              </a:ext>
            </a:extLst>
          </p:cNvPr>
          <p:cNvSpPr/>
          <p:nvPr/>
        </p:nvSpPr>
        <p:spPr>
          <a:xfrm>
            <a:off x="168875" y="5645835"/>
            <a:ext cx="666745" cy="1009330"/>
          </a:xfrm>
          <a:prstGeom prst="roundRect">
            <a:avLst>
              <a:gd name="adj" fmla="val 11111"/>
            </a:avLst>
          </a:prstGeom>
          <a:solidFill>
            <a:srgbClr val="2A3878"/>
          </a:solidFill>
          <a:ln w="19050">
            <a:solidFill>
              <a:srgbClr val="2EC4B6"/>
            </a:solidFill>
            <a:prstDash val="solid"/>
          </a:ln>
        </p:spPr>
      </p:sp>
      <p:sp>
        <p:nvSpPr>
          <p:cNvPr id="15" name="Text 10">
            <a:extLst>
              <a:ext uri="{FF2B5EF4-FFF2-40B4-BE49-F238E27FC236}">
                <a16:creationId xmlns:a16="http://schemas.microsoft.com/office/drawing/2014/main" id="{48AE8058-0694-460F-84F4-810435AEF18E}"/>
              </a:ext>
            </a:extLst>
          </p:cNvPr>
          <p:cNvSpPr/>
          <p:nvPr/>
        </p:nvSpPr>
        <p:spPr>
          <a:xfrm>
            <a:off x="168875" y="5810958"/>
            <a:ext cx="666745" cy="7009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MT5 Terminals</a:t>
            </a:r>
          </a:p>
        </p:txBody>
      </p:sp>
      <p:sp>
        <p:nvSpPr>
          <p:cNvPr id="16" name="TextBox 15">
            <a:extLst>
              <a:ext uri="{FF2B5EF4-FFF2-40B4-BE49-F238E27FC236}">
                <a16:creationId xmlns:a16="http://schemas.microsoft.com/office/drawing/2014/main" id="{E1D7E30E-67AC-4B45-BADF-5069B7E4211C}"/>
              </a:ext>
            </a:extLst>
          </p:cNvPr>
          <p:cNvSpPr txBox="1"/>
          <p:nvPr/>
        </p:nvSpPr>
        <p:spPr>
          <a:xfrm>
            <a:off x="2861894" y="845422"/>
            <a:ext cx="1254369" cy="830997"/>
          </a:xfrm>
          <a:prstGeom prst="rect">
            <a:avLst/>
          </a:prstGeom>
          <a:noFill/>
        </p:spPr>
        <p:txBody>
          <a:bodyPr wrap="square" rtlCol="0">
            <a:spAutoFit/>
          </a:bodyPr>
          <a:lstStyle/>
          <a:p>
            <a:pPr algn="ctr"/>
            <a:r>
              <a:rPr lang="en-US" sz="1200" b="1" i="1" dirty="0"/>
              <a:t>Microservices Architecture</a:t>
            </a:r>
          </a:p>
          <a:p>
            <a:pPr algn="ctr"/>
            <a:r>
              <a:rPr lang="en-US" sz="1200" b="1" i="1" dirty="0"/>
              <a:t>(AFTER MIGRAION)</a:t>
            </a:r>
            <a:endParaRPr lang="en-TZ" sz="1200" b="1" i="1" dirty="0"/>
          </a:p>
        </p:txBody>
      </p:sp>
      <p:pic>
        <p:nvPicPr>
          <p:cNvPr id="17" name="Picture 16">
            <a:extLst>
              <a:ext uri="{FF2B5EF4-FFF2-40B4-BE49-F238E27FC236}">
                <a16:creationId xmlns:a16="http://schemas.microsoft.com/office/drawing/2014/main" id="{8E52E902-10BE-4369-9289-9F10B8D0C968}"/>
              </a:ext>
            </a:extLst>
          </p:cNvPr>
          <p:cNvPicPr>
            <a:picLocks noChangeAspect="1"/>
          </p:cNvPicPr>
          <p:nvPr/>
        </p:nvPicPr>
        <p:blipFill>
          <a:blip r:embed="rId2"/>
          <a:stretch>
            <a:fillRect/>
          </a:stretch>
        </p:blipFill>
        <p:spPr>
          <a:xfrm>
            <a:off x="6114069" y="2522711"/>
            <a:ext cx="5900428" cy="4232437"/>
          </a:xfrm>
          <a:prstGeom prst="rect">
            <a:avLst/>
          </a:prstGeom>
          <a:ln w="28575">
            <a:solidFill>
              <a:schemeClr val="tx1"/>
            </a:solidFill>
          </a:ln>
        </p:spPr>
      </p:pic>
      <p:pic>
        <p:nvPicPr>
          <p:cNvPr id="18" name="Picture 17">
            <a:extLst>
              <a:ext uri="{FF2B5EF4-FFF2-40B4-BE49-F238E27FC236}">
                <a16:creationId xmlns:a16="http://schemas.microsoft.com/office/drawing/2014/main" id="{B776CF5A-57A8-4E9D-BD67-89B85E9CA1AB}"/>
              </a:ext>
            </a:extLst>
          </p:cNvPr>
          <p:cNvPicPr>
            <a:picLocks noChangeAspect="1"/>
          </p:cNvPicPr>
          <p:nvPr/>
        </p:nvPicPr>
        <p:blipFill>
          <a:blip r:embed="rId3"/>
          <a:stretch>
            <a:fillRect/>
          </a:stretch>
        </p:blipFill>
        <p:spPr>
          <a:xfrm>
            <a:off x="5169876" y="182258"/>
            <a:ext cx="6835550" cy="2025718"/>
          </a:xfrm>
          <a:prstGeom prst="rect">
            <a:avLst/>
          </a:prstGeom>
          <a:ln w="28575">
            <a:solidFill>
              <a:schemeClr val="tx1"/>
            </a:solidFill>
          </a:ln>
        </p:spPr>
      </p:pic>
      <p:sp>
        <p:nvSpPr>
          <p:cNvPr id="30" name="Text 1">
            <a:extLst>
              <a:ext uri="{FF2B5EF4-FFF2-40B4-BE49-F238E27FC236}">
                <a16:creationId xmlns:a16="http://schemas.microsoft.com/office/drawing/2014/main" id="{E8511423-E4D2-4394-9266-4C868D1963E0}"/>
              </a:ext>
            </a:extLst>
          </p:cNvPr>
          <p:cNvSpPr/>
          <p:nvPr/>
        </p:nvSpPr>
        <p:spPr>
          <a:xfrm>
            <a:off x="522162" y="68046"/>
            <a:ext cx="4267779" cy="524505"/>
          </a:xfrm>
          <a:prstGeom prst="rect">
            <a:avLst/>
          </a:prstGeom>
          <a:noFill/>
          <a:ln/>
        </p:spPr>
        <p:txBody>
          <a:bodyPr wrap="square" lIns="0" tIns="0" rIns="0" bIns="0" rtlCol="0" anchor="ctr"/>
          <a:lstStyle/>
          <a:p>
            <a:pPr marL="0" indent="0">
              <a:lnSpc>
                <a:spcPts val="5400"/>
              </a:lnSpc>
              <a:buNone/>
            </a:pPr>
            <a:r>
              <a:rPr lang="en-US" sz="2400" dirty="0">
                <a:latin typeface="Cambria" pitchFamily="34" charset="0"/>
                <a:ea typeface="Cambria" pitchFamily="34" charset="-122"/>
                <a:cs typeface="Cambria" pitchFamily="34" charset="-120"/>
              </a:rPr>
              <a:t>From Monolith to Microservices</a:t>
            </a:r>
            <a:endParaRPr lang="en-US" sz="2400" dirty="0"/>
          </a:p>
        </p:txBody>
      </p:sp>
      <p:sp>
        <p:nvSpPr>
          <p:cNvPr id="35" name="Rectangle 34">
            <a:extLst>
              <a:ext uri="{FF2B5EF4-FFF2-40B4-BE49-F238E27FC236}">
                <a16:creationId xmlns:a16="http://schemas.microsoft.com/office/drawing/2014/main" id="{22D61E94-D67C-458D-9EF1-47FF15C3D560}"/>
              </a:ext>
            </a:extLst>
          </p:cNvPr>
          <p:cNvSpPr/>
          <p:nvPr/>
        </p:nvSpPr>
        <p:spPr>
          <a:xfrm>
            <a:off x="2802423" y="3363270"/>
            <a:ext cx="2542632" cy="7452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cxnSp>
        <p:nvCxnSpPr>
          <p:cNvPr id="38" name="Straight Arrow Connector 37">
            <a:extLst>
              <a:ext uri="{FF2B5EF4-FFF2-40B4-BE49-F238E27FC236}">
                <a16:creationId xmlns:a16="http://schemas.microsoft.com/office/drawing/2014/main" id="{D96F880D-B07C-4016-A3A7-E53A41CE9037}"/>
              </a:ext>
            </a:extLst>
          </p:cNvPr>
          <p:cNvCxnSpPr>
            <a:cxnSpLocks/>
          </p:cNvCxnSpPr>
          <p:nvPr/>
        </p:nvCxnSpPr>
        <p:spPr>
          <a:xfrm flipH="1">
            <a:off x="3581041" y="2237897"/>
            <a:ext cx="2987" cy="1125241"/>
          </a:xfrm>
          <a:prstGeom prst="straightConnector1">
            <a:avLst/>
          </a:prstGeom>
          <a:ln w="38100"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7" name="Shape 9">
            <a:extLst>
              <a:ext uri="{FF2B5EF4-FFF2-40B4-BE49-F238E27FC236}">
                <a16:creationId xmlns:a16="http://schemas.microsoft.com/office/drawing/2014/main" id="{29AF0ECB-1825-4F8A-BAFD-BCF2F0F54B9C}"/>
              </a:ext>
            </a:extLst>
          </p:cNvPr>
          <p:cNvSpPr/>
          <p:nvPr/>
        </p:nvSpPr>
        <p:spPr>
          <a:xfrm>
            <a:off x="4158285" y="5096464"/>
            <a:ext cx="511022" cy="327570"/>
          </a:xfrm>
          <a:prstGeom prst="roundRect">
            <a:avLst>
              <a:gd name="adj" fmla="val 11111"/>
            </a:avLst>
          </a:prstGeom>
          <a:solidFill>
            <a:srgbClr val="2A3878"/>
          </a:solidFill>
          <a:ln w="19050">
            <a:solidFill>
              <a:srgbClr val="2EC4B6"/>
            </a:solidFill>
            <a:prstDash val="solid"/>
          </a:ln>
        </p:spPr>
      </p:sp>
      <p:sp>
        <p:nvSpPr>
          <p:cNvPr id="48" name="Text 10">
            <a:extLst>
              <a:ext uri="{FF2B5EF4-FFF2-40B4-BE49-F238E27FC236}">
                <a16:creationId xmlns:a16="http://schemas.microsoft.com/office/drawing/2014/main" id="{B4F7A524-341A-473A-AB6A-49C0A75808AD}"/>
              </a:ext>
            </a:extLst>
          </p:cNvPr>
          <p:cNvSpPr/>
          <p:nvPr/>
        </p:nvSpPr>
        <p:spPr>
          <a:xfrm>
            <a:off x="4158285" y="5181831"/>
            <a:ext cx="511022" cy="15679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cs typeface="Calibri" pitchFamily="34" charset="-120"/>
              </a:rPr>
              <a:t>Postgres</a:t>
            </a:r>
            <a:endParaRPr lang="en-US" sz="800" dirty="0"/>
          </a:p>
        </p:txBody>
      </p:sp>
      <p:sp>
        <p:nvSpPr>
          <p:cNvPr id="49" name="Shape 9">
            <a:extLst>
              <a:ext uri="{FF2B5EF4-FFF2-40B4-BE49-F238E27FC236}">
                <a16:creationId xmlns:a16="http://schemas.microsoft.com/office/drawing/2014/main" id="{6C6BF204-98AB-42A9-8339-AB754C7714D2}"/>
              </a:ext>
            </a:extLst>
          </p:cNvPr>
          <p:cNvSpPr/>
          <p:nvPr/>
        </p:nvSpPr>
        <p:spPr>
          <a:xfrm>
            <a:off x="4922597" y="4801493"/>
            <a:ext cx="487888" cy="925921"/>
          </a:xfrm>
          <a:prstGeom prst="roundRect">
            <a:avLst>
              <a:gd name="adj" fmla="val 11111"/>
            </a:avLst>
          </a:prstGeom>
          <a:solidFill>
            <a:srgbClr val="2A3878"/>
          </a:solidFill>
          <a:ln w="19050">
            <a:solidFill>
              <a:srgbClr val="2EC4B6"/>
            </a:solidFill>
            <a:prstDash val="solid"/>
          </a:ln>
        </p:spPr>
        <p:txBody>
          <a:bodyPr/>
          <a:lstStyle/>
          <a:p>
            <a:r>
              <a:rPr lang="en-US" dirty="0"/>
              <a:t> </a:t>
            </a:r>
            <a:endParaRPr lang="en-TZ" dirty="0"/>
          </a:p>
        </p:txBody>
      </p:sp>
      <p:sp>
        <p:nvSpPr>
          <p:cNvPr id="50" name="Text 10">
            <a:extLst>
              <a:ext uri="{FF2B5EF4-FFF2-40B4-BE49-F238E27FC236}">
                <a16:creationId xmlns:a16="http://schemas.microsoft.com/office/drawing/2014/main" id="{280BFEC5-18B4-4C7F-B069-FFCA181F8212}"/>
              </a:ext>
            </a:extLst>
          </p:cNvPr>
          <p:cNvSpPr/>
          <p:nvPr/>
        </p:nvSpPr>
        <p:spPr>
          <a:xfrm>
            <a:off x="4891843" y="5070264"/>
            <a:ext cx="527436" cy="31953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cs typeface="Calibri" pitchFamily="34" charset="-120"/>
              </a:rPr>
              <a:t> Redis</a:t>
            </a:r>
            <a:endParaRPr lang="en-US" sz="1050" dirty="0"/>
          </a:p>
        </p:txBody>
      </p:sp>
      <p:sp>
        <p:nvSpPr>
          <p:cNvPr id="53" name="TextBox 52">
            <a:extLst>
              <a:ext uri="{FF2B5EF4-FFF2-40B4-BE49-F238E27FC236}">
                <a16:creationId xmlns:a16="http://schemas.microsoft.com/office/drawing/2014/main" id="{0DDC0400-C34C-417D-BEB0-0D643B71C0A8}"/>
              </a:ext>
            </a:extLst>
          </p:cNvPr>
          <p:cNvSpPr txBox="1"/>
          <p:nvPr/>
        </p:nvSpPr>
        <p:spPr>
          <a:xfrm>
            <a:off x="4062342" y="2381225"/>
            <a:ext cx="760534" cy="400110"/>
          </a:xfrm>
          <a:prstGeom prst="rect">
            <a:avLst/>
          </a:prstGeom>
          <a:noFill/>
        </p:spPr>
        <p:txBody>
          <a:bodyPr wrap="square" rtlCol="0">
            <a:spAutoFit/>
          </a:bodyPr>
          <a:lstStyle/>
          <a:p>
            <a:r>
              <a:rPr lang="en-US" sz="1000" b="1" dirty="0" err="1">
                <a:solidFill>
                  <a:srgbClr val="00B050"/>
                </a:solidFill>
              </a:rPr>
              <a:t>Vercel</a:t>
            </a:r>
            <a:r>
              <a:rPr lang="en-US" sz="1000" b="1" dirty="0">
                <a:solidFill>
                  <a:srgbClr val="00B050"/>
                </a:solidFill>
              </a:rPr>
              <a:t>; </a:t>
            </a:r>
            <a:r>
              <a:rPr lang="en-US" sz="1000" b="1" dirty="0" err="1">
                <a:solidFill>
                  <a:srgbClr val="00B050"/>
                </a:solidFill>
              </a:rPr>
              <a:t>Next.Js</a:t>
            </a:r>
            <a:r>
              <a:rPr lang="en-US" sz="1000" b="1" dirty="0">
                <a:solidFill>
                  <a:srgbClr val="00B050"/>
                </a:solidFill>
              </a:rPr>
              <a:t> 16</a:t>
            </a:r>
            <a:endParaRPr lang="en-TZ" sz="1000" b="1" dirty="0">
              <a:solidFill>
                <a:srgbClr val="00B050"/>
              </a:solidFill>
            </a:endParaRPr>
          </a:p>
        </p:txBody>
      </p:sp>
      <p:sp>
        <p:nvSpPr>
          <p:cNvPr id="55" name="Shape 9">
            <a:extLst>
              <a:ext uri="{FF2B5EF4-FFF2-40B4-BE49-F238E27FC236}">
                <a16:creationId xmlns:a16="http://schemas.microsoft.com/office/drawing/2014/main" id="{5A4B42FA-0F84-4D24-907B-691DD3032241}"/>
              </a:ext>
            </a:extLst>
          </p:cNvPr>
          <p:cNvSpPr/>
          <p:nvPr/>
        </p:nvSpPr>
        <p:spPr>
          <a:xfrm>
            <a:off x="2859132" y="4878799"/>
            <a:ext cx="395333" cy="658368"/>
          </a:xfrm>
          <a:prstGeom prst="roundRect">
            <a:avLst>
              <a:gd name="adj" fmla="val 11111"/>
            </a:avLst>
          </a:prstGeom>
          <a:solidFill>
            <a:srgbClr val="2A3878"/>
          </a:solidFill>
          <a:ln w="19050">
            <a:solidFill>
              <a:srgbClr val="2EC4B6"/>
            </a:solidFill>
            <a:prstDash val="solid"/>
          </a:ln>
        </p:spPr>
      </p:sp>
      <p:sp>
        <p:nvSpPr>
          <p:cNvPr id="56" name="Text 10">
            <a:extLst>
              <a:ext uri="{FF2B5EF4-FFF2-40B4-BE49-F238E27FC236}">
                <a16:creationId xmlns:a16="http://schemas.microsoft.com/office/drawing/2014/main" id="{0DA71F73-7470-4B26-B0E2-6E01DC560C74}"/>
              </a:ext>
            </a:extLst>
          </p:cNvPr>
          <p:cNvSpPr/>
          <p:nvPr/>
        </p:nvSpPr>
        <p:spPr>
          <a:xfrm>
            <a:off x="2859133" y="4979383"/>
            <a:ext cx="374806" cy="457200"/>
          </a:xfrm>
          <a:prstGeom prst="rect">
            <a:avLst/>
          </a:prstGeom>
          <a:noFill/>
          <a:ln/>
        </p:spPr>
        <p:txBody>
          <a:bodyPr wrap="square" lIns="0" tIns="0" rIns="0" bIns="0" rtlCol="0" anchor="ctr"/>
          <a:lstStyle/>
          <a:p>
            <a:pPr marL="0" indent="0" algn="ctr">
              <a:buNone/>
            </a:pPr>
            <a:r>
              <a:rPr lang="en-US" sz="900" b="1" dirty="0">
                <a:solidFill>
                  <a:schemeClr val="bg1"/>
                </a:solidFill>
              </a:rPr>
              <a:t>Flask-</a:t>
            </a:r>
            <a:r>
              <a:rPr lang="en-US" sz="900" b="1" dirty="0" err="1">
                <a:solidFill>
                  <a:schemeClr val="bg1"/>
                </a:solidFill>
              </a:rPr>
              <a:t>api</a:t>
            </a:r>
            <a:endParaRPr lang="en-US" sz="900" b="1" dirty="0">
              <a:solidFill>
                <a:schemeClr val="bg1"/>
              </a:solidFill>
            </a:endParaRPr>
          </a:p>
        </p:txBody>
      </p:sp>
      <p:sp>
        <p:nvSpPr>
          <p:cNvPr id="57" name="Rectangle 56">
            <a:extLst>
              <a:ext uri="{FF2B5EF4-FFF2-40B4-BE49-F238E27FC236}">
                <a16:creationId xmlns:a16="http://schemas.microsoft.com/office/drawing/2014/main" id="{4970030B-7C9E-476E-A63E-88497F30E410}"/>
              </a:ext>
            </a:extLst>
          </p:cNvPr>
          <p:cNvSpPr/>
          <p:nvPr/>
        </p:nvSpPr>
        <p:spPr>
          <a:xfrm>
            <a:off x="2669810" y="3122814"/>
            <a:ext cx="2816589" cy="3489001"/>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58" name="TextBox 57">
            <a:extLst>
              <a:ext uri="{FF2B5EF4-FFF2-40B4-BE49-F238E27FC236}">
                <a16:creationId xmlns:a16="http://schemas.microsoft.com/office/drawing/2014/main" id="{A4540CF9-D659-417D-9008-1814182FC7A3}"/>
              </a:ext>
            </a:extLst>
          </p:cNvPr>
          <p:cNvSpPr txBox="1"/>
          <p:nvPr/>
        </p:nvSpPr>
        <p:spPr>
          <a:xfrm>
            <a:off x="4899261" y="2891425"/>
            <a:ext cx="760534" cy="261610"/>
          </a:xfrm>
          <a:prstGeom prst="rect">
            <a:avLst/>
          </a:prstGeom>
          <a:noFill/>
        </p:spPr>
        <p:txBody>
          <a:bodyPr wrap="square" rtlCol="0">
            <a:spAutoFit/>
          </a:bodyPr>
          <a:lstStyle/>
          <a:p>
            <a:r>
              <a:rPr lang="en-US" sz="1100" b="1" dirty="0">
                <a:solidFill>
                  <a:srgbClr val="00B0F0"/>
                </a:solidFill>
              </a:rPr>
              <a:t>Railway</a:t>
            </a:r>
            <a:endParaRPr lang="en-TZ" sz="1100" b="1" dirty="0">
              <a:solidFill>
                <a:srgbClr val="00B0F0"/>
              </a:solidFill>
            </a:endParaRPr>
          </a:p>
        </p:txBody>
      </p:sp>
      <p:sp>
        <p:nvSpPr>
          <p:cNvPr id="59" name="Shape 9">
            <a:extLst>
              <a:ext uri="{FF2B5EF4-FFF2-40B4-BE49-F238E27FC236}">
                <a16:creationId xmlns:a16="http://schemas.microsoft.com/office/drawing/2014/main" id="{F8913059-8B21-47AB-B78F-A5082958E47E}"/>
              </a:ext>
            </a:extLst>
          </p:cNvPr>
          <p:cNvSpPr/>
          <p:nvPr/>
        </p:nvSpPr>
        <p:spPr>
          <a:xfrm>
            <a:off x="3355478" y="2508455"/>
            <a:ext cx="555000" cy="260446"/>
          </a:xfrm>
          <a:prstGeom prst="roundRect">
            <a:avLst>
              <a:gd name="adj" fmla="val 11111"/>
            </a:avLst>
          </a:prstGeom>
          <a:solidFill>
            <a:srgbClr val="2A3878"/>
          </a:solidFill>
          <a:ln w="19050">
            <a:solidFill>
              <a:srgbClr val="2EC4B6"/>
            </a:solidFill>
            <a:prstDash val="solid"/>
          </a:ln>
        </p:spPr>
      </p:sp>
      <p:sp>
        <p:nvSpPr>
          <p:cNvPr id="60" name="Text 10">
            <a:extLst>
              <a:ext uri="{FF2B5EF4-FFF2-40B4-BE49-F238E27FC236}">
                <a16:creationId xmlns:a16="http://schemas.microsoft.com/office/drawing/2014/main" id="{CD81F4B2-225B-4DA7-9B85-A4A30B8153E3}"/>
              </a:ext>
            </a:extLst>
          </p:cNvPr>
          <p:cNvSpPr/>
          <p:nvPr/>
        </p:nvSpPr>
        <p:spPr>
          <a:xfrm>
            <a:off x="3333018" y="2424852"/>
            <a:ext cx="566230" cy="457200"/>
          </a:xfrm>
          <a:prstGeom prst="rect">
            <a:avLst/>
          </a:prstGeom>
          <a:noFill/>
          <a:ln/>
        </p:spPr>
        <p:txBody>
          <a:bodyPr wrap="square" lIns="0" tIns="0" rIns="0" bIns="0" rtlCol="0" anchor="ctr"/>
          <a:lstStyle/>
          <a:p>
            <a:pPr marL="0" indent="0" algn="ctr">
              <a:buNone/>
            </a:pPr>
            <a:r>
              <a:rPr lang="en-US" sz="800" b="1" dirty="0">
                <a:solidFill>
                  <a:schemeClr val="bg1"/>
                </a:solidFill>
              </a:rPr>
              <a:t>API Client</a:t>
            </a:r>
          </a:p>
        </p:txBody>
      </p:sp>
      <p:sp>
        <p:nvSpPr>
          <p:cNvPr id="61" name="Shape 9">
            <a:extLst>
              <a:ext uri="{FF2B5EF4-FFF2-40B4-BE49-F238E27FC236}">
                <a16:creationId xmlns:a16="http://schemas.microsoft.com/office/drawing/2014/main" id="{4B5D3C76-BCCB-43E0-9D69-FBD4E7B8EFC8}"/>
              </a:ext>
            </a:extLst>
          </p:cNvPr>
          <p:cNvSpPr/>
          <p:nvPr/>
        </p:nvSpPr>
        <p:spPr>
          <a:xfrm>
            <a:off x="4164183" y="5952650"/>
            <a:ext cx="511022" cy="555716"/>
          </a:xfrm>
          <a:prstGeom prst="roundRect">
            <a:avLst>
              <a:gd name="adj" fmla="val 11111"/>
            </a:avLst>
          </a:prstGeom>
          <a:solidFill>
            <a:srgbClr val="2A3878"/>
          </a:solidFill>
          <a:ln w="19050">
            <a:solidFill>
              <a:srgbClr val="2EC4B6"/>
            </a:solidFill>
            <a:prstDash val="solid"/>
          </a:ln>
        </p:spPr>
      </p:sp>
      <p:sp>
        <p:nvSpPr>
          <p:cNvPr id="62" name="Text 10">
            <a:extLst>
              <a:ext uri="{FF2B5EF4-FFF2-40B4-BE49-F238E27FC236}">
                <a16:creationId xmlns:a16="http://schemas.microsoft.com/office/drawing/2014/main" id="{F9FB100E-A39F-46D5-AA90-2BF20DE23E06}"/>
              </a:ext>
            </a:extLst>
          </p:cNvPr>
          <p:cNvSpPr/>
          <p:nvPr/>
        </p:nvSpPr>
        <p:spPr>
          <a:xfrm>
            <a:off x="4164183" y="6044802"/>
            <a:ext cx="511022" cy="457200"/>
          </a:xfrm>
          <a:prstGeom prst="rect">
            <a:avLst/>
          </a:prstGeom>
          <a:noFill/>
          <a:ln/>
        </p:spPr>
        <p:txBody>
          <a:bodyPr wrap="square" lIns="0" tIns="0" rIns="0" bIns="0" rtlCol="0" anchor="ctr"/>
          <a:lstStyle/>
          <a:p>
            <a:pPr marL="0" indent="0" algn="ctr">
              <a:buNone/>
            </a:pPr>
            <a:r>
              <a:rPr lang="en-US" sz="800" b="1" dirty="0" err="1">
                <a:solidFill>
                  <a:srgbClr val="FFFFFF"/>
                </a:solidFill>
                <a:latin typeface="Calibri" pitchFamily="34" charset="0"/>
                <a:cs typeface="Calibri" pitchFamily="34" charset="-120"/>
              </a:rPr>
              <a:t>Pgbouncer</a:t>
            </a:r>
            <a:endParaRPr lang="en-US" sz="800" dirty="0"/>
          </a:p>
        </p:txBody>
      </p:sp>
      <p:sp>
        <p:nvSpPr>
          <p:cNvPr id="63" name="Shape 9">
            <a:extLst>
              <a:ext uri="{FF2B5EF4-FFF2-40B4-BE49-F238E27FC236}">
                <a16:creationId xmlns:a16="http://schemas.microsoft.com/office/drawing/2014/main" id="{C22AED8E-BA7A-4035-AFF0-B5DFD20780B8}"/>
              </a:ext>
            </a:extLst>
          </p:cNvPr>
          <p:cNvSpPr/>
          <p:nvPr/>
        </p:nvSpPr>
        <p:spPr>
          <a:xfrm>
            <a:off x="3213597" y="5868525"/>
            <a:ext cx="511023" cy="658368"/>
          </a:xfrm>
          <a:prstGeom prst="roundRect">
            <a:avLst>
              <a:gd name="adj" fmla="val 11111"/>
            </a:avLst>
          </a:prstGeom>
          <a:solidFill>
            <a:srgbClr val="2A3878"/>
          </a:solidFill>
          <a:ln w="19050">
            <a:solidFill>
              <a:srgbClr val="2EC4B6"/>
            </a:solidFill>
            <a:prstDash val="solid"/>
          </a:ln>
        </p:spPr>
      </p:sp>
      <p:sp>
        <p:nvSpPr>
          <p:cNvPr id="64" name="Text 10">
            <a:extLst>
              <a:ext uri="{FF2B5EF4-FFF2-40B4-BE49-F238E27FC236}">
                <a16:creationId xmlns:a16="http://schemas.microsoft.com/office/drawing/2014/main" id="{A4961206-32FA-4C71-B502-2ABC406437BB}"/>
              </a:ext>
            </a:extLst>
          </p:cNvPr>
          <p:cNvSpPr/>
          <p:nvPr/>
        </p:nvSpPr>
        <p:spPr>
          <a:xfrm>
            <a:off x="3213597" y="5969109"/>
            <a:ext cx="511023" cy="457200"/>
          </a:xfrm>
          <a:prstGeom prst="rect">
            <a:avLst/>
          </a:prstGeom>
          <a:noFill/>
          <a:ln/>
        </p:spPr>
        <p:txBody>
          <a:bodyPr wrap="square" lIns="0" tIns="0" rIns="0" bIns="0" rtlCol="0" anchor="ctr"/>
          <a:lstStyle/>
          <a:p>
            <a:pPr marL="0" indent="0" algn="ctr">
              <a:buNone/>
            </a:pPr>
            <a:r>
              <a:rPr lang="en-US" sz="900" b="1" dirty="0" err="1">
                <a:solidFill>
                  <a:schemeClr val="bg1"/>
                </a:solidFill>
              </a:rPr>
              <a:t>NestJS</a:t>
            </a:r>
            <a:endParaRPr lang="en-US" sz="900" b="1" dirty="0">
              <a:solidFill>
                <a:schemeClr val="bg1"/>
              </a:solidFill>
            </a:endParaRPr>
          </a:p>
          <a:p>
            <a:pPr marL="0" indent="0" algn="ctr">
              <a:buNone/>
            </a:pPr>
            <a:r>
              <a:rPr lang="en-US" sz="900" b="1" dirty="0">
                <a:solidFill>
                  <a:schemeClr val="bg1"/>
                </a:solidFill>
              </a:rPr>
              <a:t>API</a:t>
            </a:r>
          </a:p>
          <a:p>
            <a:pPr marL="0" indent="0" algn="ctr">
              <a:buNone/>
            </a:pPr>
            <a:r>
              <a:rPr lang="en-US" sz="900" b="1" dirty="0">
                <a:solidFill>
                  <a:schemeClr val="bg1"/>
                </a:solidFill>
              </a:rPr>
              <a:t>Gateway</a:t>
            </a:r>
          </a:p>
        </p:txBody>
      </p:sp>
      <p:cxnSp>
        <p:nvCxnSpPr>
          <p:cNvPr id="74" name="Straight Arrow Connector 73">
            <a:extLst>
              <a:ext uri="{FF2B5EF4-FFF2-40B4-BE49-F238E27FC236}">
                <a16:creationId xmlns:a16="http://schemas.microsoft.com/office/drawing/2014/main" id="{497F6F64-9B85-4D41-A10D-FA5C54A55C24}"/>
              </a:ext>
            </a:extLst>
          </p:cNvPr>
          <p:cNvCxnSpPr>
            <a:cxnSpLocks/>
            <a:stCxn id="64" idx="3"/>
            <a:endCxn id="62" idx="1"/>
          </p:cNvCxnSpPr>
          <p:nvPr/>
        </p:nvCxnSpPr>
        <p:spPr>
          <a:xfrm>
            <a:off x="3724620" y="6197709"/>
            <a:ext cx="439563" cy="75693"/>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7" name="Straight Arrow Connector 76">
            <a:extLst>
              <a:ext uri="{FF2B5EF4-FFF2-40B4-BE49-F238E27FC236}">
                <a16:creationId xmlns:a16="http://schemas.microsoft.com/office/drawing/2014/main" id="{D4D8C94C-B6E2-4C99-8311-117A69E32AE5}"/>
              </a:ext>
            </a:extLst>
          </p:cNvPr>
          <p:cNvCxnSpPr>
            <a:cxnSpLocks/>
            <a:stCxn id="61" idx="0"/>
            <a:endCxn id="47" idx="2"/>
          </p:cNvCxnSpPr>
          <p:nvPr/>
        </p:nvCxnSpPr>
        <p:spPr>
          <a:xfrm flipH="1" flipV="1">
            <a:off x="4413796" y="5424034"/>
            <a:ext cx="5898" cy="528616"/>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8" name="Text 10">
            <a:extLst>
              <a:ext uri="{FF2B5EF4-FFF2-40B4-BE49-F238E27FC236}">
                <a16:creationId xmlns:a16="http://schemas.microsoft.com/office/drawing/2014/main" id="{B7EB2807-CB49-4A93-B42D-1AD6A659427E}"/>
              </a:ext>
            </a:extLst>
          </p:cNvPr>
          <p:cNvSpPr/>
          <p:nvPr/>
        </p:nvSpPr>
        <p:spPr>
          <a:xfrm rot="20863950">
            <a:off x="1479623" y="5076162"/>
            <a:ext cx="1232431" cy="311102"/>
          </a:xfrm>
          <a:prstGeom prst="rect">
            <a:avLst/>
          </a:prstGeom>
          <a:noFill/>
          <a:ln/>
        </p:spPr>
        <p:txBody>
          <a:bodyPr wrap="square" lIns="0" tIns="0" rIns="0" bIns="0" rtlCol="0" anchor="ctr"/>
          <a:lstStyle/>
          <a:p>
            <a:pPr marL="0" indent="0" algn="ctr">
              <a:buNone/>
            </a:pPr>
            <a:r>
              <a:rPr lang="en-US" sz="700" b="1" dirty="0">
                <a:solidFill>
                  <a:srgbClr val="00B050"/>
                </a:solidFill>
              </a:rPr>
              <a:t>Real time OHLCV Data</a:t>
            </a:r>
          </a:p>
          <a:p>
            <a:pPr marL="0" indent="0" algn="ctr">
              <a:buNone/>
            </a:pPr>
            <a:r>
              <a:rPr lang="en-US" sz="700" b="1" dirty="0">
                <a:solidFill>
                  <a:srgbClr val="00B050"/>
                </a:solidFill>
              </a:rPr>
              <a:t>(Legacy Fallback)</a:t>
            </a:r>
          </a:p>
        </p:txBody>
      </p:sp>
      <p:sp>
        <p:nvSpPr>
          <p:cNvPr id="107" name="Shape 9">
            <a:extLst>
              <a:ext uri="{FF2B5EF4-FFF2-40B4-BE49-F238E27FC236}">
                <a16:creationId xmlns:a16="http://schemas.microsoft.com/office/drawing/2014/main" id="{C4A0E379-A093-4D91-92CF-72EFAB019422}"/>
              </a:ext>
            </a:extLst>
          </p:cNvPr>
          <p:cNvSpPr/>
          <p:nvPr/>
        </p:nvSpPr>
        <p:spPr>
          <a:xfrm>
            <a:off x="1892320" y="5840079"/>
            <a:ext cx="511022" cy="347449"/>
          </a:xfrm>
          <a:prstGeom prst="roundRect">
            <a:avLst>
              <a:gd name="adj" fmla="val 11111"/>
            </a:avLst>
          </a:prstGeom>
          <a:solidFill>
            <a:srgbClr val="2A3878"/>
          </a:solidFill>
          <a:ln w="19050">
            <a:solidFill>
              <a:srgbClr val="2EC4B6"/>
            </a:solidFill>
            <a:prstDash val="solid"/>
          </a:ln>
        </p:spPr>
      </p:sp>
      <p:sp>
        <p:nvSpPr>
          <p:cNvPr id="108" name="Text 10">
            <a:extLst>
              <a:ext uri="{FF2B5EF4-FFF2-40B4-BE49-F238E27FC236}">
                <a16:creationId xmlns:a16="http://schemas.microsoft.com/office/drawing/2014/main" id="{BE95088B-CFEB-48D2-84EA-973053F77D4F}"/>
              </a:ext>
            </a:extLst>
          </p:cNvPr>
          <p:cNvSpPr/>
          <p:nvPr/>
        </p:nvSpPr>
        <p:spPr>
          <a:xfrm>
            <a:off x="1892320" y="5840079"/>
            <a:ext cx="511022" cy="311102"/>
          </a:xfrm>
          <a:prstGeom prst="rect">
            <a:avLst/>
          </a:prstGeom>
          <a:noFill/>
          <a:ln/>
        </p:spPr>
        <p:txBody>
          <a:bodyPr wrap="square" lIns="0" tIns="0" rIns="0" bIns="0" rtlCol="0" anchor="ctr"/>
          <a:lstStyle/>
          <a:p>
            <a:pPr marL="0" indent="0" algn="ctr">
              <a:buNone/>
            </a:pPr>
            <a:r>
              <a:rPr lang="en-US" sz="700" b="1" dirty="0">
                <a:solidFill>
                  <a:schemeClr val="bg1"/>
                </a:solidFill>
              </a:rPr>
              <a:t>Indicator</a:t>
            </a:r>
          </a:p>
          <a:p>
            <a:pPr marL="0" indent="0" algn="ctr">
              <a:buNone/>
            </a:pPr>
            <a:r>
              <a:rPr lang="en-US" sz="700" b="1" dirty="0">
                <a:solidFill>
                  <a:schemeClr val="bg1"/>
                </a:solidFill>
              </a:rPr>
              <a:t>Text Exports</a:t>
            </a:r>
          </a:p>
        </p:txBody>
      </p:sp>
      <p:sp>
        <p:nvSpPr>
          <p:cNvPr id="109" name="Shape 9">
            <a:extLst>
              <a:ext uri="{FF2B5EF4-FFF2-40B4-BE49-F238E27FC236}">
                <a16:creationId xmlns:a16="http://schemas.microsoft.com/office/drawing/2014/main" id="{F874B6E8-3DBC-423C-9E2B-AD723C6DD7AA}"/>
              </a:ext>
            </a:extLst>
          </p:cNvPr>
          <p:cNvSpPr/>
          <p:nvPr/>
        </p:nvSpPr>
        <p:spPr>
          <a:xfrm>
            <a:off x="1085930" y="6377287"/>
            <a:ext cx="511022" cy="347449"/>
          </a:xfrm>
          <a:prstGeom prst="roundRect">
            <a:avLst>
              <a:gd name="adj" fmla="val 11111"/>
            </a:avLst>
          </a:prstGeom>
          <a:solidFill>
            <a:srgbClr val="2A3878"/>
          </a:solidFill>
          <a:ln w="19050">
            <a:solidFill>
              <a:srgbClr val="2EC4B6"/>
            </a:solidFill>
            <a:prstDash val="solid"/>
          </a:ln>
        </p:spPr>
      </p:sp>
      <p:sp>
        <p:nvSpPr>
          <p:cNvPr id="110" name="Text 10">
            <a:extLst>
              <a:ext uri="{FF2B5EF4-FFF2-40B4-BE49-F238E27FC236}">
                <a16:creationId xmlns:a16="http://schemas.microsoft.com/office/drawing/2014/main" id="{617EDF02-E0CA-43B7-BA40-3A634E4EEB75}"/>
              </a:ext>
            </a:extLst>
          </p:cNvPr>
          <p:cNvSpPr/>
          <p:nvPr/>
        </p:nvSpPr>
        <p:spPr>
          <a:xfrm>
            <a:off x="1085930" y="6377287"/>
            <a:ext cx="511022" cy="311102"/>
          </a:xfrm>
          <a:prstGeom prst="rect">
            <a:avLst/>
          </a:prstGeom>
          <a:noFill/>
          <a:ln/>
        </p:spPr>
        <p:txBody>
          <a:bodyPr wrap="square" lIns="0" tIns="0" rIns="0" bIns="0" rtlCol="0" anchor="ctr"/>
          <a:lstStyle/>
          <a:p>
            <a:pPr marL="0" indent="0" algn="ctr">
              <a:buNone/>
            </a:pPr>
            <a:r>
              <a:rPr lang="en-US" sz="900" b="1" dirty="0">
                <a:solidFill>
                  <a:schemeClr val="bg1"/>
                </a:solidFill>
              </a:rPr>
              <a:t>SQLite</a:t>
            </a:r>
          </a:p>
        </p:txBody>
      </p:sp>
      <p:sp>
        <p:nvSpPr>
          <p:cNvPr id="112" name="Rectangle 111">
            <a:extLst>
              <a:ext uri="{FF2B5EF4-FFF2-40B4-BE49-F238E27FC236}">
                <a16:creationId xmlns:a16="http://schemas.microsoft.com/office/drawing/2014/main" id="{68523DAD-FA97-4047-A967-56F6BCE6D7DF}"/>
              </a:ext>
            </a:extLst>
          </p:cNvPr>
          <p:cNvSpPr/>
          <p:nvPr/>
        </p:nvSpPr>
        <p:spPr>
          <a:xfrm>
            <a:off x="86277" y="5498681"/>
            <a:ext cx="2479012" cy="1300614"/>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13" name="TextBox 112">
            <a:extLst>
              <a:ext uri="{FF2B5EF4-FFF2-40B4-BE49-F238E27FC236}">
                <a16:creationId xmlns:a16="http://schemas.microsoft.com/office/drawing/2014/main" id="{070F1581-CCD0-491B-A706-E3377859D883}"/>
              </a:ext>
            </a:extLst>
          </p:cNvPr>
          <p:cNvSpPr txBox="1"/>
          <p:nvPr/>
        </p:nvSpPr>
        <p:spPr>
          <a:xfrm>
            <a:off x="63902" y="5061971"/>
            <a:ext cx="1589087" cy="415498"/>
          </a:xfrm>
          <a:prstGeom prst="rect">
            <a:avLst/>
          </a:prstGeom>
          <a:noFill/>
        </p:spPr>
        <p:txBody>
          <a:bodyPr wrap="square" rtlCol="0">
            <a:spAutoFit/>
          </a:bodyPr>
          <a:lstStyle/>
          <a:p>
            <a:r>
              <a:rPr lang="en-US" sz="1050" b="1" dirty="0">
                <a:solidFill>
                  <a:srgbClr val="7030A0"/>
                </a:solidFill>
              </a:rPr>
              <a:t>Contabo Windows VPS </a:t>
            </a:r>
          </a:p>
          <a:p>
            <a:r>
              <a:rPr lang="en-US" sz="1050" b="1" dirty="0">
                <a:solidFill>
                  <a:srgbClr val="7030A0"/>
                </a:solidFill>
              </a:rPr>
              <a:t>+ VPS storage disk</a:t>
            </a:r>
            <a:endParaRPr lang="en-TZ" sz="1050" b="1" dirty="0">
              <a:solidFill>
                <a:srgbClr val="7030A0"/>
              </a:solidFill>
            </a:endParaRPr>
          </a:p>
        </p:txBody>
      </p:sp>
      <p:cxnSp>
        <p:nvCxnSpPr>
          <p:cNvPr id="117" name="Straight Arrow Connector 116">
            <a:extLst>
              <a:ext uri="{FF2B5EF4-FFF2-40B4-BE49-F238E27FC236}">
                <a16:creationId xmlns:a16="http://schemas.microsoft.com/office/drawing/2014/main" id="{175F6083-096C-43EB-A645-7D87E84537BB}"/>
              </a:ext>
            </a:extLst>
          </p:cNvPr>
          <p:cNvCxnSpPr>
            <a:cxnSpLocks/>
            <a:endCxn id="108" idx="1"/>
          </p:cNvCxnSpPr>
          <p:nvPr/>
        </p:nvCxnSpPr>
        <p:spPr>
          <a:xfrm>
            <a:off x="843777" y="5995630"/>
            <a:ext cx="1048543" cy="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9" name="Straight Arrow Connector 118">
            <a:extLst>
              <a:ext uri="{FF2B5EF4-FFF2-40B4-BE49-F238E27FC236}">
                <a16:creationId xmlns:a16="http://schemas.microsoft.com/office/drawing/2014/main" id="{CCBB3186-E3CD-4CF6-9660-4F259CEBF93F}"/>
              </a:ext>
            </a:extLst>
          </p:cNvPr>
          <p:cNvCxnSpPr>
            <a:cxnSpLocks/>
          </p:cNvCxnSpPr>
          <p:nvPr/>
        </p:nvCxnSpPr>
        <p:spPr>
          <a:xfrm>
            <a:off x="827061" y="6316699"/>
            <a:ext cx="231039" cy="21019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5" name="Straight Arrow Connector 124">
            <a:extLst>
              <a:ext uri="{FF2B5EF4-FFF2-40B4-BE49-F238E27FC236}">
                <a16:creationId xmlns:a16="http://schemas.microsoft.com/office/drawing/2014/main" id="{7554FD26-A4E4-4357-9B4B-92FDF2ADF014}"/>
              </a:ext>
            </a:extLst>
          </p:cNvPr>
          <p:cNvCxnSpPr>
            <a:cxnSpLocks/>
            <a:endCxn id="140" idx="3"/>
          </p:cNvCxnSpPr>
          <p:nvPr/>
        </p:nvCxnSpPr>
        <p:spPr>
          <a:xfrm flipH="1">
            <a:off x="4073739" y="1367204"/>
            <a:ext cx="1096138" cy="93992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6" name="Straight Arrow Connector 125">
            <a:extLst>
              <a:ext uri="{FF2B5EF4-FFF2-40B4-BE49-F238E27FC236}">
                <a16:creationId xmlns:a16="http://schemas.microsoft.com/office/drawing/2014/main" id="{33D3FFA3-A833-4B7B-976F-60E4B986843C}"/>
              </a:ext>
            </a:extLst>
          </p:cNvPr>
          <p:cNvCxnSpPr>
            <a:cxnSpLocks/>
            <a:stCxn id="17" idx="1"/>
            <a:endCxn id="57" idx="3"/>
          </p:cNvCxnSpPr>
          <p:nvPr/>
        </p:nvCxnSpPr>
        <p:spPr>
          <a:xfrm flipH="1">
            <a:off x="5486399" y="4638930"/>
            <a:ext cx="627670" cy="22838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0" name="TextBox 129">
            <a:extLst>
              <a:ext uri="{FF2B5EF4-FFF2-40B4-BE49-F238E27FC236}">
                <a16:creationId xmlns:a16="http://schemas.microsoft.com/office/drawing/2014/main" id="{FD2A03A7-6D34-4447-85E7-5FCB44442E58}"/>
              </a:ext>
            </a:extLst>
          </p:cNvPr>
          <p:cNvSpPr txBox="1"/>
          <p:nvPr/>
        </p:nvSpPr>
        <p:spPr>
          <a:xfrm rot="19218490">
            <a:off x="4252278" y="1616912"/>
            <a:ext cx="675853" cy="215444"/>
          </a:xfrm>
          <a:prstGeom prst="rect">
            <a:avLst/>
          </a:prstGeom>
          <a:noFill/>
        </p:spPr>
        <p:txBody>
          <a:bodyPr wrap="square" rtlCol="0">
            <a:spAutoFit/>
          </a:bodyPr>
          <a:lstStyle/>
          <a:p>
            <a:r>
              <a:rPr lang="en-US" sz="800" b="1" dirty="0">
                <a:solidFill>
                  <a:schemeClr val="accent2"/>
                </a:solidFill>
              </a:rPr>
              <a:t>represent</a:t>
            </a:r>
            <a:endParaRPr lang="en-TZ" sz="800" b="1" dirty="0">
              <a:solidFill>
                <a:schemeClr val="accent2"/>
              </a:solidFill>
            </a:endParaRPr>
          </a:p>
        </p:txBody>
      </p:sp>
      <p:sp>
        <p:nvSpPr>
          <p:cNvPr id="132" name="TextBox 131">
            <a:extLst>
              <a:ext uri="{FF2B5EF4-FFF2-40B4-BE49-F238E27FC236}">
                <a16:creationId xmlns:a16="http://schemas.microsoft.com/office/drawing/2014/main" id="{2D97BF86-7632-4A0E-B6C4-0F622CEDF027}"/>
              </a:ext>
            </a:extLst>
          </p:cNvPr>
          <p:cNvSpPr txBox="1"/>
          <p:nvPr/>
        </p:nvSpPr>
        <p:spPr>
          <a:xfrm rot="20261230">
            <a:off x="5469339" y="4554953"/>
            <a:ext cx="675853" cy="215444"/>
          </a:xfrm>
          <a:prstGeom prst="rect">
            <a:avLst/>
          </a:prstGeom>
          <a:noFill/>
        </p:spPr>
        <p:txBody>
          <a:bodyPr wrap="square" rtlCol="0">
            <a:spAutoFit/>
          </a:bodyPr>
          <a:lstStyle/>
          <a:p>
            <a:r>
              <a:rPr lang="en-US" sz="800" b="1" dirty="0">
                <a:solidFill>
                  <a:schemeClr val="accent2"/>
                </a:solidFill>
              </a:rPr>
              <a:t>represent</a:t>
            </a:r>
            <a:endParaRPr lang="en-TZ" sz="800" b="1" dirty="0">
              <a:solidFill>
                <a:schemeClr val="accent2"/>
              </a:solidFill>
            </a:endParaRPr>
          </a:p>
        </p:txBody>
      </p:sp>
      <p:sp>
        <p:nvSpPr>
          <p:cNvPr id="140" name="Rectangle 139">
            <a:extLst>
              <a:ext uri="{FF2B5EF4-FFF2-40B4-BE49-F238E27FC236}">
                <a16:creationId xmlns:a16="http://schemas.microsoft.com/office/drawing/2014/main" id="{58834FF5-318A-4906-907B-6518CDFDE1AC}"/>
              </a:ext>
            </a:extLst>
          </p:cNvPr>
          <p:cNvSpPr/>
          <p:nvPr/>
        </p:nvSpPr>
        <p:spPr>
          <a:xfrm>
            <a:off x="2912531" y="1724634"/>
            <a:ext cx="1161208" cy="116497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50" name="Shape 9">
            <a:extLst>
              <a:ext uri="{FF2B5EF4-FFF2-40B4-BE49-F238E27FC236}">
                <a16:creationId xmlns:a16="http://schemas.microsoft.com/office/drawing/2014/main" id="{1E3A9933-9CEC-4C66-A203-361D197D5E2D}"/>
              </a:ext>
            </a:extLst>
          </p:cNvPr>
          <p:cNvSpPr/>
          <p:nvPr/>
        </p:nvSpPr>
        <p:spPr>
          <a:xfrm>
            <a:off x="1994228" y="6382645"/>
            <a:ext cx="511022" cy="347449"/>
          </a:xfrm>
          <a:prstGeom prst="roundRect">
            <a:avLst>
              <a:gd name="adj" fmla="val 11111"/>
            </a:avLst>
          </a:prstGeom>
          <a:solidFill>
            <a:srgbClr val="2A3878"/>
          </a:solidFill>
          <a:ln w="19050">
            <a:solidFill>
              <a:srgbClr val="2EC4B6"/>
            </a:solidFill>
            <a:prstDash val="solid"/>
          </a:ln>
        </p:spPr>
      </p:sp>
      <p:sp>
        <p:nvSpPr>
          <p:cNvPr id="151" name="Text 10">
            <a:extLst>
              <a:ext uri="{FF2B5EF4-FFF2-40B4-BE49-F238E27FC236}">
                <a16:creationId xmlns:a16="http://schemas.microsoft.com/office/drawing/2014/main" id="{BAD82516-1F0E-4878-9CE7-EC138BFA76FF}"/>
              </a:ext>
            </a:extLst>
          </p:cNvPr>
          <p:cNvSpPr/>
          <p:nvPr/>
        </p:nvSpPr>
        <p:spPr>
          <a:xfrm>
            <a:off x="1994228" y="6382645"/>
            <a:ext cx="511022" cy="311102"/>
          </a:xfrm>
          <a:prstGeom prst="rect">
            <a:avLst/>
          </a:prstGeom>
          <a:noFill/>
          <a:ln/>
        </p:spPr>
        <p:txBody>
          <a:bodyPr wrap="square" lIns="0" tIns="0" rIns="0" bIns="0" rtlCol="0" anchor="ctr"/>
          <a:lstStyle/>
          <a:p>
            <a:pPr marL="0" indent="0" algn="ctr">
              <a:buNone/>
            </a:pPr>
            <a:r>
              <a:rPr lang="en-US" sz="700" b="1" dirty="0">
                <a:solidFill>
                  <a:schemeClr val="bg1"/>
                </a:solidFill>
              </a:rPr>
              <a:t>Python Push Worker</a:t>
            </a:r>
          </a:p>
        </p:txBody>
      </p:sp>
      <p:cxnSp>
        <p:nvCxnSpPr>
          <p:cNvPr id="157" name="Straight Arrow Connector 156">
            <a:extLst>
              <a:ext uri="{FF2B5EF4-FFF2-40B4-BE49-F238E27FC236}">
                <a16:creationId xmlns:a16="http://schemas.microsoft.com/office/drawing/2014/main" id="{CA6026DE-7AEF-4D21-9C44-EE1074A7109D}"/>
              </a:ext>
            </a:extLst>
          </p:cNvPr>
          <p:cNvCxnSpPr>
            <a:cxnSpLocks/>
            <a:stCxn id="110" idx="3"/>
            <a:endCxn id="150" idx="1"/>
          </p:cNvCxnSpPr>
          <p:nvPr/>
        </p:nvCxnSpPr>
        <p:spPr>
          <a:xfrm>
            <a:off x="1596952" y="6532838"/>
            <a:ext cx="397276" cy="2353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2" name="Straight Arrow Connector 161">
            <a:extLst>
              <a:ext uri="{FF2B5EF4-FFF2-40B4-BE49-F238E27FC236}">
                <a16:creationId xmlns:a16="http://schemas.microsoft.com/office/drawing/2014/main" id="{01430290-65A7-4D20-B726-529AECEB8EBA}"/>
              </a:ext>
            </a:extLst>
          </p:cNvPr>
          <p:cNvCxnSpPr>
            <a:cxnSpLocks/>
          </p:cNvCxnSpPr>
          <p:nvPr/>
        </p:nvCxnSpPr>
        <p:spPr>
          <a:xfrm flipH="1">
            <a:off x="1377489" y="6134362"/>
            <a:ext cx="511021" cy="222136"/>
          </a:xfrm>
          <a:prstGeom prst="straightConnector1">
            <a:avLst/>
          </a:prstGeom>
          <a:ln w="2857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96" name="Text 10">
            <a:extLst>
              <a:ext uri="{FF2B5EF4-FFF2-40B4-BE49-F238E27FC236}">
                <a16:creationId xmlns:a16="http://schemas.microsoft.com/office/drawing/2014/main" id="{65815253-548F-46C9-A958-3C54D1C92042}"/>
              </a:ext>
            </a:extLst>
          </p:cNvPr>
          <p:cNvSpPr/>
          <p:nvPr/>
        </p:nvSpPr>
        <p:spPr>
          <a:xfrm>
            <a:off x="3105451" y="5421913"/>
            <a:ext cx="1232431" cy="311102"/>
          </a:xfrm>
          <a:prstGeom prst="rect">
            <a:avLst/>
          </a:prstGeom>
          <a:noFill/>
          <a:ln/>
        </p:spPr>
        <p:txBody>
          <a:bodyPr wrap="square" lIns="0" tIns="0" rIns="0" bIns="0" rtlCol="0" anchor="ctr"/>
          <a:lstStyle/>
          <a:p>
            <a:pPr marL="0" indent="0" algn="ctr">
              <a:buNone/>
            </a:pPr>
            <a:r>
              <a:rPr lang="en-US" sz="900" b="1" dirty="0">
                <a:solidFill>
                  <a:srgbClr val="00B050"/>
                </a:solidFill>
              </a:rPr>
              <a:t>Socket.IO</a:t>
            </a:r>
          </a:p>
        </p:txBody>
      </p:sp>
      <p:sp>
        <p:nvSpPr>
          <p:cNvPr id="206" name="Shape 9">
            <a:extLst>
              <a:ext uri="{FF2B5EF4-FFF2-40B4-BE49-F238E27FC236}">
                <a16:creationId xmlns:a16="http://schemas.microsoft.com/office/drawing/2014/main" id="{807E3612-7333-4045-883D-39D3E0351D41}"/>
              </a:ext>
            </a:extLst>
          </p:cNvPr>
          <p:cNvSpPr/>
          <p:nvPr/>
        </p:nvSpPr>
        <p:spPr>
          <a:xfrm>
            <a:off x="3373660" y="4555464"/>
            <a:ext cx="511023" cy="658368"/>
          </a:xfrm>
          <a:prstGeom prst="roundRect">
            <a:avLst>
              <a:gd name="adj" fmla="val 11111"/>
            </a:avLst>
          </a:prstGeom>
          <a:solidFill>
            <a:srgbClr val="2A3878"/>
          </a:solidFill>
          <a:ln w="19050">
            <a:solidFill>
              <a:srgbClr val="2EC4B6"/>
            </a:solidFill>
            <a:prstDash val="solid"/>
          </a:ln>
        </p:spPr>
      </p:sp>
      <p:sp>
        <p:nvSpPr>
          <p:cNvPr id="207" name="Text 10">
            <a:extLst>
              <a:ext uri="{FF2B5EF4-FFF2-40B4-BE49-F238E27FC236}">
                <a16:creationId xmlns:a16="http://schemas.microsoft.com/office/drawing/2014/main" id="{18149228-70BD-4035-879F-46137E64A299}"/>
              </a:ext>
            </a:extLst>
          </p:cNvPr>
          <p:cNvSpPr/>
          <p:nvPr/>
        </p:nvSpPr>
        <p:spPr>
          <a:xfrm>
            <a:off x="3373660" y="4656048"/>
            <a:ext cx="511023" cy="457200"/>
          </a:xfrm>
          <a:prstGeom prst="rect">
            <a:avLst/>
          </a:prstGeom>
          <a:noFill/>
          <a:ln/>
        </p:spPr>
        <p:txBody>
          <a:bodyPr wrap="square" lIns="0" tIns="0" rIns="0" bIns="0" rtlCol="0" anchor="ctr"/>
          <a:lstStyle/>
          <a:p>
            <a:pPr marL="0" indent="0" algn="ctr">
              <a:buNone/>
            </a:pPr>
            <a:r>
              <a:rPr lang="en-US" sz="700" b="1" dirty="0">
                <a:solidFill>
                  <a:schemeClr val="bg1"/>
                </a:solidFill>
              </a:rPr>
              <a:t>Operation-Service-Worker</a:t>
            </a:r>
          </a:p>
        </p:txBody>
      </p:sp>
      <p:sp>
        <p:nvSpPr>
          <p:cNvPr id="75" name="Shape 9">
            <a:extLst>
              <a:ext uri="{FF2B5EF4-FFF2-40B4-BE49-F238E27FC236}">
                <a16:creationId xmlns:a16="http://schemas.microsoft.com/office/drawing/2014/main" id="{D918FCE7-82BE-4ED4-851B-6559D6E431D6}"/>
              </a:ext>
            </a:extLst>
          </p:cNvPr>
          <p:cNvSpPr/>
          <p:nvPr/>
        </p:nvSpPr>
        <p:spPr>
          <a:xfrm>
            <a:off x="4358006" y="4400712"/>
            <a:ext cx="863872" cy="270265"/>
          </a:xfrm>
          <a:prstGeom prst="roundRect">
            <a:avLst>
              <a:gd name="adj" fmla="val 11111"/>
            </a:avLst>
          </a:prstGeom>
          <a:solidFill>
            <a:srgbClr val="2A3878"/>
          </a:solidFill>
          <a:ln w="19050">
            <a:solidFill>
              <a:srgbClr val="2EC4B6"/>
            </a:solidFill>
            <a:prstDash val="solid"/>
          </a:ln>
        </p:spPr>
      </p:sp>
      <p:sp>
        <p:nvSpPr>
          <p:cNvPr id="76" name="Text 10">
            <a:extLst>
              <a:ext uri="{FF2B5EF4-FFF2-40B4-BE49-F238E27FC236}">
                <a16:creationId xmlns:a16="http://schemas.microsoft.com/office/drawing/2014/main" id="{99B146B0-34C9-4C57-949E-CE6D6BFE4877}"/>
              </a:ext>
            </a:extLst>
          </p:cNvPr>
          <p:cNvSpPr/>
          <p:nvPr/>
        </p:nvSpPr>
        <p:spPr>
          <a:xfrm>
            <a:off x="4565133" y="4387991"/>
            <a:ext cx="481493" cy="260061"/>
          </a:xfrm>
          <a:prstGeom prst="rect">
            <a:avLst/>
          </a:prstGeom>
          <a:noFill/>
          <a:ln/>
        </p:spPr>
        <p:txBody>
          <a:bodyPr wrap="square" lIns="0" tIns="0" rIns="0" bIns="0" rtlCol="0" anchor="ctr"/>
          <a:lstStyle/>
          <a:p>
            <a:pPr marL="0" indent="0" algn="ctr">
              <a:buNone/>
            </a:pPr>
            <a:r>
              <a:rPr lang="en-US" sz="800" b="1" dirty="0" err="1">
                <a:solidFill>
                  <a:srgbClr val="FFFFFF"/>
                </a:solidFill>
                <a:latin typeface="Calibri" pitchFamily="34" charset="0"/>
                <a:cs typeface="Calibri" pitchFamily="34" charset="-120"/>
              </a:rPr>
              <a:t>Pgbouncer</a:t>
            </a:r>
            <a:endParaRPr lang="en-US" sz="800" dirty="0"/>
          </a:p>
        </p:txBody>
      </p:sp>
      <p:cxnSp>
        <p:nvCxnSpPr>
          <p:cNvPr id="78" name="Straight Arrow Connector 77">
            <a:extLst>
              <a:ext uri="{FF2B5EF4-FFF2-40B4-BE49-F238E27FC236}">
                <a16:creationId xmlns:a16="http://schemas.microsoft.com/office/drawing/2014/main" id="{0448ADE1-F263-4340-B040-27666C78FDC3}"/>
              </a:ext>
            </a:extLst>
          </p:cNvPr>
          <p:cNvCxnSpPr>
            <a:cxnSpLocks/>
          </p:cNvCxnSpPr>
          <p:nvPr/>
        </p:nvCxnSpPr>
        <p:spPr>
          <a:xfrm>
            <a:off x="3884683" y="4607169"/>
            <a:ext cx="1034351" cy="454802"/>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84" name="Straight Arrow Connector 83">
            <a:extLst>
              <a:ext uri="{FF2B5EF4-FFF2-40B4-BE49-F238E27FC236}">
                <a16:creationId xmlns:a16="http://schemas.microsoft.com/office/drawing/2014/main" id="{9D4B16E4-1A13-47EC-A5B9-09BA616987D1}"/>
              </a:ext>
            </a:extLst>
          </p:cNvPr>
          <p:cNvCxnSpPr>
            <a:cxnSpLocks/>
          </p:cNvCxnSpPr>
          <p:nvPr/>
        </p:nvCxnSpPr>
        <p:spPr>
          <a:xfrm flipV="1">
            <a:off x="3733706" y="5421098"/>
            <a:ext cx="1185328" cy="598410"/>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86" name="Straight Arrow Connector 85">
            <a:extLst>
              <a:ext uri="{FF2B5EF4-FFF2-40B4-BE49-F238E27FC236}">
                <a16:creationId xmlns:a16="http://schemas.microsoft.com/office/drawing/2014/main" id="{BD9E1169-9424-4EBE-A1DA-3F99DB94E46F}"/>
              </a:ext>
            </a:extLst>
          </p:cNvPr>
          <p:cNvCxnSpPr>
            <a:cxnSpLocks/>
            <a:stCxn id="207" idx="3"/>
            <a:endCxn id="75" idx="1"/>
          </p:cNvCxnSpPr>
          <p:nvPr/>
        </p:nvCxnSpPr>
        <p:spPr>
          <a:xfrm flipV="1">
            <a:off x="3884683" y="4535845"/>
            <a:ext cx="473323" cy="348803"/>
          </a:xfrm>
          <a:prstGeom prst="straightConnector1">
            <a:avLst/>
          </a:prstGeom>
          <a:ln w="38100" cap="flat" cmpd="sng" algn="ctr">
            <a:solidFill>
              <a:srgbClr val="FF66FF"/>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90" name="Straight Arrow Connector 89">
            <a:extLst>
              <a:ext uri="{FF2B5EF4-FFF2-40B4-BE49-F238E27FC236}">
                <a16:creationId xmlns:a16="http://schemas.microsoft.com/office/drawing/2014/main" id="{7CC21F55-C5CC-479C-83CD-DD31D9F8BB5E}"/>
              </a:ext>
            </a:extLst>
          </p:cNvPr>
          <p:cNvCxnSpPr>
            <a:cxnSpLocks/>
            <a:stCxn id="75" idx="0"/>
          </p:cNvCxnSpPr>
          <p:nvPr/>
        </p:nvCxnSpPr>
        <p:spPr>
          <a:xfrm flipV="1">
            <a:off x="4789942" y="3882284"/>
            <a:ext cx="0" cy="518428"/>
          </a:xfrm>
          <a:prstGeom prst="straightConnector1">
            <a:avLst/>
          </a:prstGeom>
          <a:ln w="38100" cap="flat" cmpd="sng" algn="ctr">
            <a:solidFill>
              <a:srgbClr val="00B0F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17" name="Straight Arrow Connector 216">
            <a:extLst>
              <a:ext uri="{FF2B5EF4-FFF2-40B4-BE49-F238E27FC236}">
                <a16:creationId xmlns:a16="http://schemas.microsoft.com/office/drawing/2014/main" id="{41A26977-50F7-43C9-A04E-7B1592CCE815}"/>
              </a:ext>
            </a:extLst>
          </p:cNvPr>
          <p:cNvCxnSpPr>
            <a:cxnSpLocks/>
          </p:cNvCxnSpPr>
          <p:nvPr/>
        </p:nvCxnSpPr>
        <p:spPr>
          <a:xfrm flipV="1">
            <a:off x="3527671" y="3882284"/>
            <a:ext cx="0" cy="654101"/>
          </a:xfrm>
          <a:prstGeom prst="straightConnector1">
            <a:avLst/>
          </a:prstGeom>
          <a:ln w="38100" cap="flat" cmpd="sng" algn="ctr">
            <a:solidFill>
              <a:srgbClr val="FF66FF"/>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96" name="Straight Arrow Connector 95">
            <a:extLst>
              <a:ext uri="{FF2B5EF4-FFF2-40B4-BE49-F238E27FC236}">
                <a16:creationId xmlns:a16="http://schemas.microsoft.com/office/drawing/2014/main" id="{8FD498B5-2912-4216-BF70-E591DFDE0D71}"/>
              </a:ext>
            </a:extLst>
          </p:cNvPr>
          <p:cNvCxnSpPr>
            <a:cxnSpLocks/>
            <a:stCxn id="47" idx="0"/>
          </p:cNvCxnSpPr>
          <p:nvPr/>
        </p:nvCxnSpPr>
        <p:spPr>
          <a:xfrm flipV="1">
            <a:off x="4413796" y="4648054"/>
            <a:ext cx="117858" cy="448410"/>
          </a:xfrm>
          <a:prstGeom prst="straightConnector1">
            <a:avLst/>
          </a:prstGeom>
          <a:ln w="38100" cap="flat" cmpd="sng" algn="ctr">
            <a:solidFill>
              <a:srgbClr val="00B05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6" name="Star: 5 Points 45">
            <a:extLst>
              <a:ext uri="{FF2B5EF4-FFF2-40B4-BE49-F238E27FC236}">
                <a16:creationId xmlns:a16="http://schemas.microsoft.com/office/drawing/2014/main" id="{B3507210-4098-4CBB-A04C-5C895FB491BC}"/>
              </a:ext>
            </a:extLst>
          </p:cNvPr>
          <p:cNvSpPr/>
          <p:nvPr/>
        </p:nvSpPr>
        <p:spPr>
          <a:xfrm>
            <a:off x="1515905" y="6157272"/>
            <a:ext cx="197193" cy="16809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04" name="Star: 5 Points 103">
            <a:extLst>
              <a:ext uri="{FF2B5EF4-FFF2-40B4-BE49-F238E27FC236}">
                <a16:creationId xmlns:a16="http://schemas.microsoft.com/office/drawing/2014/main" id="{EF6C0246-5625-4E60-9234-CC8084277DE0}"/>
              </a:ext>
            </a:extLst>
          </p:cNvPr>
          <p:cNvSpPr/>
          <p:nvPr/>
        </p:nvSpPr>
        <p:spPr>
          <a:xfrm>
            <a:off x="2701421" y="6643407"/>
            <a:ext cx="197193" cy="16809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51" name="TextBox 50">
            <a:extLst>
              <a:ext uri="{FF2B5EF4-FFF2-40B4-BE49-F238E27FC236}">
                <a16:creationId xmlns:a16="http://schemas.microsoft.com/office/drawing/2014/main" id="{E4F30B8C-A4CD-4284-AFEB-BE2B57E8257A}"/>
              </a:ext>
            </a:extLst>
          </p:cNvPr>
          <p:cNvSpPr txBox="1"/>
          <p:nvPr/>
        </p:nvSpPr>
        <p:spPr>
          <a:xfrm>
            <a:off x="2803516" y="6644499"/>
            <a:ext cx="3211651" cy="246221"/>
          </a:xfrm>
          <a:prstGeom prst="rect">
            <a:avLst/>
          </a:prstGeom>
          <a:noFill/>
        </p:spPr>
        <p:txBody>
          <a:bodyPr wrap="square" rtlCol="0">
            <a:spAutoFit/>
          </a:bodyPr>
          <a:lstStyle/>
          <a:p>
            <a:r>
              <a:rPr lang="en-US" sz="1000" b="1" dirty="0">
                <a:solidFill>
                  <a:srgbClr val="0070C0"/>
                </a:solidFill>
              </a:rPr>
              <a:t>= Cross verification &amp; Timestamp adjustment calculation</a:t>
            </a:r>
            <a:endParaRPr lang="en-TZ" sz="1000" b="1" dirty="0">
              <a:solidFill>
                <a:srgbClr val="0070C0"/>
              </a:solidFill>
            </a:endParaRPr>
          </a:p>
        </p:txBody>
      </p:sp>
      <p:cxnSp>
        <p:nvCxnSpPr>
          <p:cNvPr id="111" name="Straight Arrow Connector 110">
            <a:extLst>
              <a:ext uri="{FF2B5EF4-FFF2-40B4-BE49-F238E27FC236}">
                <a16:creationId xmlns:a16="http://schemas.microsoft.com/office/drawing/2014/main" id="{C8C2DB3C-62E5-41C3-95E5-B18C8FB221A1}"/>
              </a:ext>
            </a:extLst>
          </p:cNvPr>
          <p:cNvCxnSpPr>
            <a:cxnSpLocks/>
            <a:stCxn id="75" idx="1"/>
          </p:cNvCxnSpPr>
          <p:nvPr/>
        </p:nvCxnSpPr>
        <p:spPr>
          <a:xfrm flipH="1" flipV="1">
            <a:off x="3675185" y="3906675"/>
            <a:ext cx="682821" cy="629170"/>
          </a:xfrm>
          <a:prstGeom prst="straightConnector1">
            <a:avLst/>
          </a:prstGeom>
          <a:ln w="38100" cap="flat" cmpd="sng" algn="ctr">
            <a:solidFill>
              <a:srgbClr val="00B0F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136571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159A2C-2F1E-4899-91FE-549C725A16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87" y="1709262"/>
            <a:ext cx="8684234" cy="4638784"/>
          </a:xfrm>
          <a:prstGeom prst="rect">
            <a:avLst/>
          </a:prstGeom>
        </p:spPr>
      </p:pic>
      <p:sp>
        <p:nvSpPr>
          <p:cNvPr id="6" name="TextBox 5">
            <a:extLst>
              <a:ext uri="{FF2B5EF4-FFF2-40B4-BE49-F238E27FC236}">
                <a16:creationId xmlns:a16="http://schemas.microsoft.com/office/drawing/2014/main" id="{E91D486F-44DA-47F3-AFEA-0D98773C9A5B}"/>
              </a:ext>
            </a:extLst>
          </p:cNvPr>
          <p:cNvSpPr txBox="1"/>
          <p:nvPr/>
        </p:nvSpPr>
        <p:spPr>
          <a:xfrm>
            <a:off x="413238" y="404446"/>
            <a:ext cx="7957039" cy="523220"/>
          </a:xfrm>
          <a:prstGeom prst="rect">
            <a:avLst/>
          </a:prstGeom>
          <a:noFill/>
        </p:spPr>
        <p:txBody>
          <a:bodyPr wrap="square" rtlCol="0">
            <a:spAutoFit/>
          </a:bodyPr>
          <a:lstStyle/>
          <a:p>
            <a:r>
              <a:rPr lang="en-US" sz="2800" dirty="0"/>
              <a:t>Asynchronous Data Pipeline Architecture</a:t>
            </a:r>
            <a:endParaRPr lang="en-TZ" sz="2800" dirty="0"/>
          </a:p>
        </p:txBody>
      </p:sp>
      <p:sp>
        <p:nvSpPr>
          <p:cNvPr id="7" name="TextBox 6">
            <a:extLst>
              <a:ext uri="{FF2B5EF4-FFF2-40B4-BE49-F238E27FC236}">
                <a16:creationId xmlns:a16="http://schemas.microsoft.com/office/drawing/2014/main" id="{F0558CDC-EEEA-46A5-B70C-3B17CC8AC3BA}"/>
              </a:ext>
            </a:extLst>
          </p:cNvPr>
          <p:cNvSpPr txBox="1"/>
          <p:nvPr/>
        </p:nvSpPr>
        <p:spPr>
          <a:xfrm>
            <a:off x="9368204" y="2271970"/>
            <a:ext cx="2620108" cy="3323987"/>
          </a:xfrm>
          <a:prstGeom prst="rect">
            <a:avLst/>
          </a:prstGeom>
          <a:noFill/>
        </p:spPr>
        <p:txBody>
          <a:bodyPr wrap="square" rtlCol="0">
            <a:spAutoFit/>
          </a:bodyPr>
          <a:lstStyle/>
          <a:p>
            <a:r>
              <a:rPr lang="en-US" sz="1400" b="1" dirty="0"/>
              <a:t>1. Postgres Traffic (Database Reads &amp; Writes):</a:t>
            </a:r>
          </a:p>
          <a:p>
            <a:endParaRPr lang="en-US" sz="1400" dirty="0"/>
          </a:p>
          <a:p>
            <a:r>
              <a:rPr lang="en-US" sz="1400" dirty="0"/>
              <a:t>- MUST go through </a:t>
            </a:r>
            <a:r>
              <a:rPr lang="en-US" sz="1400" dirty="0" err="1"/>
              <a:t>PgBouncer</a:t>
            </a:r>
            <a:r>
              <a:rPr lang="en-US" sz="1400" dirty="0"/>
              <a:t> (e.g. port 6432 transaction pooling) to prevent database connection exhaustion.</a:t>
            </a:r>
          </a:p>
          <a:p>
            <a:pPr marL="342900" indent="-342900">
              <a:buAutoNum type="arabicPeriod"/>
            </a:pPr>
            <a:endParaRPr lang="en-US" sz="1400" dirty="0"/>
          </a:p>
          <a:p>
            <a:r>
              <a:rPr lang="en-US" sz="1400" b="1" dirty="0"/>
              <a:t>2. Redis Traffic (Caching, </a:t>
            </a:r>
            <a:r>
              <a:rPr lang="en-US" sz="1400" b="1" dirty="0" err="1"/>
              <a:t>BullMQ</a:t>
            </a:r>
            <a:r>
              <a:rPr lang="en-US" sz="1400" b="1" dirty="0"/>
              <a:t> Queues, Socket.IO): </a:t>
            </a:r>
          </a:p>
          <a:p>
            <a:pPr marL="342900" indent="-342900">
              <a:buAutoNum type="arabicPeriod"/>
            </a:pPr>
            <a:endParaRPr lang="en-US" sz="1400" dirty="0"/>
          </a:p>
          <a:p>
            <a:r>
              <a:rPr lang="en-US" sz="1400" dirty="0"/>
              <a:t>- Connects directly to Redis (e.g. port 6379), because </a:t>
            </a:r>
            <a:r>
              <a:rPr lang="en-US" sz="1400" dirty="0" err="1"/>
              <a:t>PgBouncer</a:t>
            </a:r>
            <a:r>
              <a:rPr lang="en-US" sz="1400" dirty="0"/>
              <a:t> is specifically a PostgreSQL-only connection pooler.</a:t>
            </a:r>
            <a:endParaRPr lang="en-TZ" sz="1400" dirty="0"/>
          </a:p>
        </p:txBody>
      </p:sp>
    </p:spTree>
    <p:extLst>
      <p:ext uri="{BB962C8B-B14F-4D97-AF65-F5344CB8AC3E}">
        <p14:creationId xmlns:p14="http://schemas.microsoft.com/office/powerpoint/2010/main" val="2183189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9" name="Straight Arrow Connector 78">
            <a:extLst>
              <a:ext uri="{FF2B5EF4-FFF2-40B4-BE49-F238E27FC236}">
                <a16:creationId xmlns:a16="http://schemas.microsoft.com/office/drawing/2014/main" id="{EAEE0EA7-F6B2-4A84-B993-640CA388EA3C}"/>
              </a:ext>
            </a:extLst>
          </p:cNvPr>
          <p:cNvCxnSpPr>
            <a:cxnSpLocks/>
          </p:cNvCxnSpPr>
          <p:nvPr/>
        </p:nvCxnSpPr>
        <p:spPr>
          <a:xfrm>
            <a:off x="7256533" y="3647497"/>
            <a:ext cx="1036190" cy="937064"/>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67" name="Straight Arrow Connector 166">
            <a:extLst>
              <a:ext uri="{FF2B5EF4-FFF2-40B4-BE49-F238E27FC236}">
                <a16:creationId xmlns:a16="http://schemas.microsoft.com/office/drawing/2014/main" id="{F3EB47AA-E9C5-4D22-98A0-43FEE8A30B9D}"/>
              </a:ext>
            </a:extLst>
          </p:cNvPr>
          <p:cNvCxnSpPr>
            <a:cxnSpLocks/>
          </p:cNvCxnSpPr>
          <p:nvPr/>
        </p:nvCxnSpPr>
        <p:spPr>
          <a:xfrm flipV="1">
            <a:off x="4207470" y="5409079"/>
            <a:ext cx="4083414" cy="42167"/>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Straight Arrow Connector 68">
            <a:extLst>
              <a:ext uri="{FF2B5EF4-FFF2-40B4-BE49-F238E27FC236}">
                <a16:creationId xmlns:a16="http://schemas.microsoft.com/office/drawing/2014/main" id="{469A206A-D93B-4370-90FA-A60584A00A7C}"/>
              </a:ext>
            </a:extLst>
          </p:cNvPr>
          <p:cNvCxnSpPr>
            <a:cxnSpLocks/>
            <a:endCxn id="56" idx="1"/>
          </p:cNvCxnSpPr>
          <p:nvPr/>
        </p:nvCxnSpPr>
        <p:spPr>
          <a:xfrm flipV="1">
            <a:off x="4215627" y="4970591"/>
            <a:ext cx="2015356" cy="466456"/>
          </a:xfrm>
          <a:prstGeom prst="straightConnector1">
            <a:avLst/>
          </a:prstGeom>
          <a:ln w="38100" cap="flat" cmpd="sng" algn="ctr">
            <a:solidFill>
              <a:srgbClr val="00B050"/>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7" name="Straight Arrow Connector 66">
            <a:extLst>
              <a:ext uri="{FF2B5EF4-FFF2-40B4-BE49-F238E27FC236}">
                <a16:creationId xmlns:a16="http://schemas.microsoft.com/office/drawing/2014/main" id="{146B04F4-2C99-459B-82ED-8951EE8D9C00}"/>
              </a:ext>
            </a:extLst>
          </p:cNvPr>
          <p:cNvCxnSpPr>
            <a:cxnSpLocks/>
            <a:stCxn id="55" idx="0"/>
          </p:cNvCxnSpPr>
          <p:nvPr/>
        </p:nvCxnSpPr>
        <p:spPr>
          <a:xfrm flipV="1">
            <a:off x="6428649" y="2016675"/>
            <a:ext cx="146046" cy="2624732"/>
          </a:xfrm>
          <a:prstGeom prst="straightConnector1">
            <a:avLst/>
          </a:prstGeom>
          <a:ln w="38100" cap="flat" cmpd="sng" algn="ctr">
            <a:solidFill>
              <a:srgbClr val="00B050"/>
            </a:solidFill>
            <a:prstDash val="sysDot"/>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Shape 7">
            <a:extLst>
              <a:ext uri="{FF2B5EF4-FFF2-40B4-BE49-F238E27FC236}">
                <a16:creationId xmlns:a16="http://schemas.microsoft.com/office/drawing/2014/main" id="{8F11BC0D-E799-4BF4-ACDA-37E181122B3E}"/>
              </a:ext>
            </a:extLst>
          </p:cNvPr>
          <p:cNvSpPr/>
          <p:nvPr/>
        </p:nvSpPr>
        <p:spPr>
          <a:xfrm>
            <a:off x="6402737" y="1621444"/>
            <a:ext cx="938840" cy="395231"/>
          </a:xfrm>
          <a:prstGeom prst="roundRect">
            <a:avLst>
              <a:gd name="adj" fmla="val 11111"/>
            </a:avLst>
          </a:prstGeom>
          <a:solidFill>
            <a:srgbClr val="2A3878"/>
          </a:solidFill>
          <a:ln w="19050">
            <a:solidFill>
              <a:srgbClr val="2EC4B6"/>
            </a:solidFill>
            <a:prstDash val="solid"/>
          </a:ln>
        </p:spPr>
      </p:sp>
      <p:sp>
        <p:nvSpPr>
          <p:cNvPr id="8" name="Text 8">
            <a:extLst>
              <a:ext uri="{FF2B5EF4-FFF2-40B4-BE49-F238E27FC236}">
                <a16:creationId xmlns:a16="http://schemas.microsoft.com/office/drawing/2014/main" id="{4B17F111-19B5-4185-A229-7FBBC276C5CF}"/>
              </a:ext>
            </a:extLst>
          </p:cNvPr>
          <p:cNvSpPr/>
          <p:nvPr/>
        </p:nvSpPr>
        <p:spPr>
          <a:xfrm>
            <a:off x="6465673" y="1658674"/>
            <a:ext cx="805272" cy="295361"/>
          </a:xfrm>
          <a:prstGeom prst="rect">
            <a:avLst/>
          </a:prstGeom>
          <a:noFill/>
          <a:ln/>
        </p:spPr>
        <p:txBody>
          <a:bodyPr wrap="square" lIns="0" tIns="0" rIns="0" bIns="0" rtlCol="0" anchor="ctr"/>
          <a:lstStyle/>
          <a:p>
            <a:pPr marL="0" indent="0" algn="ctr">
              <a:buNone/>
            </a:pPr>
            <a:r>
              <a:rPr lang="en-US" sz="1050" b="1" dirty="0">
                <a:solidFill>
                  <a:srgbClr val="FFFF00"/>
                </a:solidFill>
                <a:latin typeface="Calibri" pitchFamily="34" charset="0"/>
                <a:ea typeface="Calibri" pitchFamily="34" charset="-122"/>
                <a:cs typeface="Calibri" pitchFamily="34" charset="-120"/>
              </a:rPr>
              <a:t>Frontend UI</a:t>
            </a:r>
            <a:endParaRPr lang="en-US" sz="1050" dirty="0">
              <a:solidFill>
                <a:srgbClr val="FFFF00"/>
              </a:solidFill>
            </a:endParaRPr>
          </a:p>
        </p:txBody>
      </p:sp>
      <p:sp>
        <p:nvSpPr>
          <p:cNvPr id="9" name="Shape 9">
            <a:extLst>
              <a:ext uri="{FF2B5EF4-FFF2-40B4-BE49-F238E27FC236}">
                <a16:creationId xmlns:a16="http://schemas.microsoft.com/office/drawing/2014/main" id="{95298293-F980-4653-BFC6-47661A982361}"/>
              </a:ext>
            </a:extLst>
          </p:cNvPr>
          <p:cNvSpPr/>
          <p:nvPr/>
        </p:nvSpPr>
        <p:spPr>
          <a:xfrm>
            <a:off x="6270464" y="3202919"/>
            <a:ext cx="1107727" cy="439973"/>
          </a:xfrm>
          <a:prstGeom prst="roundRect">
            <a:avLst>
              <a:gd name="adj" fmla="val 11111"/>
            </a:avLst>
          </a:prstGeom>
          <a:solidFill>
            <a:srgbClr val="2A3878"/>
          </a:solidFill>
          <a:ln w="19050">
            <a:solidFill>
              <a:srgbClr val="2EC4B6"/>
            </a:solidFill>
            <a:prstDash val="solid"/>
          </a:ln>
        </p:spPr>
      </p:sp>
      <p:sp>
        <p:nvSpPr>
          <p:cNvPr id="10" name="Text 10">
            <a:extLst>
              <a:ext uri="{FF2B5EF4-FFF2-40B4-BE49-F238E27FC236}">
                <a16:creationId xmlns:a16="http://schemas.microsoft.com/office/drawing/2014/main" id="{AD86FD63-0EBC-4937-B0CA-67CC22040A72}"/>
              </a:ext>
            </a:extLst>
          </p:cNvPr>
          <p:cNvSpPr/>
          <p:nvPr/>
        </p:nvSpPr>
        <p:spPr>
          <a:xfrm>
            <a:off x="6262619" y="3277604"/>
            <a:ext cx="1107727" cy="295208"/>
          </a:xfrm>
          <a:prstGeom prst="rect">
            <a:avLst/>
          </a:prstGeom>
          <a:noFill/>
          <a:ln/>
        </p:spPr>
        <p:txBody>
          <a:bodyPr wrap="square" lIns="0" tIns="0" rIns="0" bIns="0" rtlCol="0" anchor="ctr"/>
          <a:lstStyle/>
          <a:p>
            <a:pPr marL="0" indent="0" algn="ctr">
              <a:buNone/>
            </a:pPr>
            <a:r>
              <a:rPr lang="en-US" sz="1050" b="1" dirty="0">
                <a:solidFill>
                  <a:srgbClr val="FFFF00"/>
                </a:solidFill>
                <a:latin typeface="Calibri" pitchFamily="34" charset="0"/>
                <a:ea typeface="Calibri" pitchFamily="34" charset="-122"/>
                <a:cs typeface="Calibri" pitchFamily="34" charset="-120"/>
              </a:rPr>
              <a:t>Operation-Service</a:t>
            </a:r>
          </a:p>
        </p:txBody>
      </p:sp>
      <p:sp>
        <p:nvSpPr>
          <p:cNvPr id="14" name="Shape 9">
            <a:extLst>
              <a:ext uri="{FF2B5EF4-FFF2-40B4-BE49-F238E27FC236}">
                <a16:creationId xmlns:a16="http://schemas.microsoft.com/office/drawing/2014/main" id="{AE3A3FF8-54AC-4DE8-B86D-4A18AA8F2E2D}"/>
              </a:ext>
            </a:extLst>
          </p:cNvPr>
          <p:cNvSpPr/>
          <p:nvPr/>
        </p:nvSpPr>
        <p:spPr>
          <a:xfrm>
            <a:off x="3540725" y="5408443"/>
            <a:ext cx="666745" cy="1009330"/>
          </a:xfrm>
          <a:prstGeom prst="roundRect">
            <a:avLst>
              <a:gd name="adj" fmla="val 11111"/>
            </a:avLst>
          </a:prstGeom>
          <a:solidFill>
            <a:srgbClr val="2A3878"/>
          </a:solidFill>
          <a:ln w="19050">
            <a:solidFill>
              <a:srgbClr val="2EC4B6"/>
            </a:solidFill>
            <a:prstDash val="solid"/>
          </a:ln>
        </p:spPr>
      </p:sp>
      <p:sp>
        <p:nvSpPr>
          <p:cNvPr id="15" name="Text 10">
            <a:extLst>
              <a:ext uri="{FF2B5EF4-FFF2-40B4-BE49-F238E27FC236}">
                <a16:creationId xmlns:a16="http://schemas.microsoft.com/office/drawing/2014/main" id="{48AE8058-0694-460F-84F4-810435AEF18E}"/>
              </a:ext>
            </a:extLst>
          </p:cNvPr>
          <p:cNvSpPr/>
          <p:nvPr/>
        </p:nvSpPr>
        <p:spPr>
          <a:xfrm>
            <a:off x="3540725" y="5573566"/>
            <a:ext cx="666745" cy="7009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MT5 Terminals</a:t>
            </a:r>
          </a:p>
        </p:txBody>
      </p:sp>
      <p:cxnSp>
        <p:nvCxnSpPr>
          <p:cNvPr id="38" name="Straight Arrow Connector 37">
            <a:extLst>
              <a:ext uri="{FF2B5EF4-FFF2-40B4-BE49-F238E27FC236}">
                <a16:creationId xmlns:a16="http://schemas.microsoft.com/office/drawing/2014/main" id="{D96F880D-B07C-4016-A3A7-E53A41CE9037}"/>
              </a:ext>
            </a:extLst>
          </p:cNvPr>
          <p:cNvCxnSpPr>
            <a:cxnSpLocks/>
          </p:cNvCxnSpPr>
          <p:nvPr/>
        </p:nvCxnSpPr>
        <p:spPr>
          <a:xfrm flipH="1">
            <a:off x="6952891" y="2000505"/>
            <a:ext cx="2987" cy="1125241"/>
          </a:xfrm>
          <a:prstGeom prst="straightConnector1">
            <a:avLst/>
          </a:prstGeom>
          <a:ln w="38100"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8" name="Text 10">
            <a:extLst>
              <a:ext uri="{FF2B5EF4-FFF2-40B4-BE49-F238E27FC236}">
                <a16:creationId xmlns:a16="http://schemas.microsoft.com/office/drawing/2014/main" id="{B4F7A524-341A-473A-AB6A-49C0A75808AD}"/>
              </a:ext>
            </a:extLst>
          </p:cNvPr>
          <p:cNvSpPr/>
          <p:nvPr/>
        </p:nvSpPr>
        <p:spPr>
          <a:xfrm>
            <a:off x="7530135" y="4944439"/>
            <a:ext cx="511022" cy="15679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cs typeface="Calibri" pitchFamily="34" charset="-120"/>
              </a:rPr>
              <a:t>Postgres</a:t>
            </a:r>
            <a:endParaRPr lang="en-US" sz="800" dirty="0"/>
          </a:p>
        </p:txBody>
      </p:sp>
      <p:sp>
        <p:nvSpPr>
          <p:cNvPr id="49" name="Shape 9">
            <a:extLst>
              <a:ext uri="{FF2B5EF4-FFF2-40B4-BE49-F238E27FC236}">
                <a16:creationId xmlns:a16="http://schemas.microsoft.com/office/drawing/2014/main" id="{6C6BF204-98AB-42A9-8339-AB754C7714D2}"/>
              </a:ext>
            </a:extLst>
          </p:cNvPr>
          <p:cNvSpPr/>
          <p:nvPr/>
        </p:nvSpPr>
        <p:spPr>
          <a:xfrm>
            <a:off x="8294447" y="4564101"/>
            <a:ext cx="487888" cy="925921"/>
          </a:xfrm>
          <a:prstGeom prst="roundRect">
            <a:avLst>
              <a:gd name="adj" fmla="val 11111"/>
            </a:avLst>
          </a:prstGeom>
          <a:solidFill>
            <a:srgbClr val="2A3878"/>
          </a:solidFill>
          <a:ln w="19050">
            <a:solidFill>
              <a:srgbClr val="2EC4B6"/>
            </a:solidFill>
            <a:prstDash val="solid"/>
          </a:ln>
        </p:spPr>
        <p:txBody>
          <a:bodyPr/>
          <a:lstStyle/>
          <a:p>
            <a:r>
              <a:rPr lang="en-US" dirty="0"/>
              <a:t> </a:t>
            </a:r>
            <a:endParaRPr lang="en-TZ" dirty="0"/>
          </a:p>
        </p:txBody>
      </p:sp>
      <p:sp>
        <p:nvSpPr>
          <p:cNvPr id="50" name="Text 10">
            <a:extLst>
              <a:ext uri="{FF2B5EF4-FFF2-40B4-BE49-F238E27FC236}">
                <a16:creationId xmlns:a16="http://schemas.microsoft.com/office/drawing/2014/main" id="{280BFEC5-18B4-4C7F-B069-FFCA181F8212}"/>
              </a:ext>
            </a:extLst>
          </p:cNvPr>
          <p:cNvSpPr/>
          <p:nvPr/>
        </p:nvSpPr>
        <p:spPr>
          <a:xfrm>
            <a:off x="8263693" y="4832872"/>
            <a:ext cx="527436" cy="31953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cs typeface="Calibri" pitchFamily="34" charset="-120"/>
              </a:rPr>
              <a:t> Redis</a:t>
            </a:r>
            <a:endParaRPr lang="en-US" sz="1050" dirty="0"/>
          </a:p>
        </p:txBody>
      </p:sp>
      <p:sp>
        <p:nvSpPr>
          <p:cNvPr id="53" name="TextBox 52">
            <a:extLst>
              <a:ext uri="{FF2B5EF4-FFF2-40B4-BE49-F238E27FC236}">
                <a16:creationId xmlns:a16="http://schemas.microsoft.com/office/drawing/2014/main" id="{0DDC0400-C34C-417D-BEB0-0D643B71C0A8}"/>
              </a:ext>
            </a:extLst>
          </p:cNvPr>
          <p:cNvSpPr txBox="1"/>
          <p:nvPr/>
        </p:nvSpPr>
        <p:spPr>
          <a:xfrm>
            <a:off x="6774589" y="1087132"/>
            <a:ext cx="760534" cy="400110"/>
          </a:xfrm>
          <a:prstGeom prst="rect">
            <a:avLst/>
          </a:prstGeom>
          <a:noFill/>
        </p:spPr>
        <p:txBody>
          <a:bodyPr wrap="square" rtlCol="0">
            <a:spAutoFit/>
          </a:bodyPr>
          <a:lstStyle/>
          <a:p>
            <a:r>
              <a:rPr lang="en-US" sz="1000" b="1" dirty="0" err="1">
                <a:solidFill>
                  <a:srgbClr val="00B050"/>
                </a:solidFill>
              </a:rPr>
              <a:t>Vercel</a:t>
            </a:r>
            <a:r>
              <a:rPr lang="en-US" sz="1000" b="1" dirty="0">
                <a:solidFill>
                  <a:srgbClr val="00B050"/>
                </a:solidFill>
              </a:rPr>
              <a:t>; </a:t>
            </a:r>
            <a:r>
              <a:rPr lang="en-US" sz="1000" b="1" dirty="0" err="1">
                <a:solidFill>
                  <a:srgbClr val="00B050"/>
                </a:solidFill>
              </a:rPr>
              <a:t>Next.Js</a:t>
            </a:r>
            <a:r>
              <a:rPr lang="en-US" sz="1000" b="1" dirty="0">
                <a:solidFill>
                  <a:srgbClr val="00B050"/>
                </a:solidFill>
              </a:rPr>
              <a:t> 16</a:t>
            </a:r>
            <a:endParaRPr lang="en-TZ" sz="1000" b="1" dirty="0">
              <a:solidFill>
                <a:srgbClr val="00B050"/>
              </a:solidFill>
            </a:endParaRPr>
          </a:p>
        </p:txBody>
      </p:sp>
      <p:sp>
        <p:nvSpPr>
          <p:cNvPr id="55" name="Shape 9">
            <a:extLst>
              <a:ext uri="{FF2B5EF4-FFF2-40B4-BE49-F238E27FC236}">
                <a16:creationId xmlns:a16="http://schemas.microsoft.com/office/drawing/2014/main" id="{5A4B42FA-0F84-4D24-907B-691DD3032241}"/>
              </a:ext>
            </a:extLst>
          </p:cNvPr>
          <p:cNvSpPr/>
          <p:nvPr/>
        </p:nvSpPr>
        <p:spPr>
          <a:xfrm>
            <a:off x="6230982" y="4641407"/>
            <a:ext cx="395333" cy="658368"/>
          </a:xfrm>
          <a:prstGeom prst="roundRect">
            <a:avLst>
              <a:gd name="adj" fmla="val 11111"/>
            </a:avLst>
          </a:prstGeom>
          <a:solidFill>
            <a:srgbClr val="2A3878"/>
          </a:solidFill>
          <a:ln w="19050">
            <a:solidFill>
              <a:srgbClr val="2EC4B6"/>
            </a:solidFill>
            <a:prstDash val="solid"/>
          </a:ln>
        </p:spPr>
      </p:sp>
      <p:sp>
        <p:nvSpPr>
          <p:cNvPr id="56" name="Text 10">
            <a:extLst>
              <a:ext uri="{FF2B5EF4-FFF2-40B4-BE49-F238E27FC236}">
                <a16:creationId xmlns:a16="http://schemas.microsoft.com/office/drawing/2014/main" id="{0DA71F73-7470-4B26-B0E2-6E01DC560C74}"/>
              </a:ext>
            </a:extLst>
          </p:cNvPr>
          <p:cNvSpPr/>
          <p:nvPr/>
        </p:nvSpPr>
        <p:spPr>
          <a:xfrm>
            <a:off x="6230983" y="4741991"/>
            <a:ext cx="374806" cy="457200"/>
          </a:xfrm>
          <a:prstGeom prst="rect">
            <a:avLst/>
          </a:prstGeom>
          <a:noFill/>
          <a:ln/>
        </p:spPr>
        <p:txBody>
          <a:bodyPr wrap="square" lIns="0" tIns="0" rIns="0" bIns="0" rtlCol="0" anchor="ctr"/>
          <a:lstStyle/>
          <a:p>
            <a:pPr marL="0" indent="0" algn="ctr">
              <a:buNone/>
            </a:pPr>
            <a:r>
              <a:rPr lang="en-US" sz="900" b="1" dirty="0">
                <a:solidFill>
                  <a:schemeClr val="bg1"/>
                </a:solidFill>
              </a:rPr>
              <a:t>Flask-</a:t>
            </a:r>
            <a:r>
              <a:rPr lang="en-US" sz="900" b="1" dirty="0" err="1">
                <a:solidFill>
                  <a:schemeClr val="bg1"/>
                </a:solidFill>
              </a:rPr>
              <a:t>api</a:t>
            </a:r>
            <a:endParaRPr lang="en-US" sz="900" b="1" dirty="0">
              <a:solidFill>
                <a:schemeClr val="bg1"/>
              </a:solidFill>
            </a:endParaRPr>
          </a:p>
        </p:txBody>
      </p:sp>
      <p:sp>
        <p:nvSpPr>
          <p:cNvPr id="57" name="Rectangle 56">
            <a:extLst>
              <a:ext uri="{FF2B5EF4-FFF2-40B4-BE49-F238E27FC236}">
                <a16:creationId xmlns:a16="http://schemas.microsoft.com/office/drawing/2014/main" id="{4970030B-7C9E-476E-A63E-88497F30E410}"/>
              </a:ext>
            </a:extLst>
          </p:cNvPr>
          <p:cNvSpPr/>
          <p:nvPr/>
        </p:nvSpPr>
        <p:spPr>
          <a:xfrm>
            <a:off x="6041660" y="2885422"/>
            <a:ext cx="2816589" cy="3489001"/>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58" name="TextBox 57">
            <a:extLst>
              <a:ext uri="{FF2B5EF4-FFF2-40B4-BE49-F238E27FC236}">
                <a16:creationId xmlns:a16="http://schemas.microsoft.com/office/drawing/2014/main" id="{A4540CF9-D659-417D-9008-1814182FC7A3}"/>
              </a:ext>
            </a:extLst>
          </p:cNvPr>
          <p:cNvSpPr txBox="1"/>
          <p:nvPr/>
        </p:nvSpPr>
        <p:spPr>
          <a:xfrm>
            <a:off x="8271111" y="2654033"/>
            <a:ext cx="760534" cy="261610"/>
          </a:xfrm>
          <a:prstGeom prst="rect">
            <a:avLst/>
          </a:prstGeom>
          <a:noFill/>
        </p:spPr>
        <p:txBody>
          <a:bodyPr wrap="square" rtlCol="0">
            <a:spAutoFit/>
          </a:bodyPr>
          <a:lstStyle/>
          <a:p>
            <a:r>
              <a:rPr lang="en-US" sz="1100" b="1" dirty="0">
                <a:solidFill>
                  <a:srgbClr val="00B0F0"/>
                </a:solidFill>
              </a:rPr>
              <a:t>Railway</a:t>
            </a:r>
            <a:endParaRPr lang="en-TZ" sz="1100" b="1" dirty="0">
              <a:solidFill>
                <a:srgbClr val="00B0F0"/>
              </a:solidFill>
            </a:endParaRPr>
          </a:p>
        </p:txBody>
      </p:sp>
      <p:sp>
        <p:nvSpPr>
          <p:cNvPr id="59" name="Shape 9">
            <a:extLst>
              <a:ext uri="{FF2B5EF4-FFF2-40B4-BE49-F238E27FC236}">
                <a16:creationId xmlns:a16="http://schemas.microsoft.com/office/drawing/2014/main" id="{F8913059-8B21-47AB-B78F-A5082958E47E}"/>
              </a:ext>
            </a:extLst>
          </p:cNvPr>
          <p:cNvSpPr/>
          <p:nvPr/>
        </p:nvSpPr>
        <p:spPr>
          <a:xfrm>
            <a:off x="6727328" y="2271063"/>
            <a:ext cx="555000" cy="260446"/>
          </a:xfrm>
          <a:prstGeom prst="roundRect">
            <a:avLst>
              <a:gd name="adj" fmla="val 11111"/>
            </a:avLst>
          </a:prstGeom>
          <a:solidFill>
            <a:srgbClr val="2A3878"/>
          </a:solidFill>
          <a:ln w="19050">
            <a:solidFill>
              <a:srgbClr val="2EC4B6"/>
            </a:solidFill>
            <a:prstDash val="solid"/>
          </a:ln>
        </p:spPr>
      </p:sp>
      <p:sp>
        <p:nvSpPr>
          <p:cNvPr id="60" name="Text 10">
            <a:extLst>
              <a:ext uri="{FF2B5EF4-FFF2-40B4-BE49-F238E27FC236}">
                <a16:creationId xmlns:a16="http://schemas.microsoft.com/office/drawing/2014/main" id="{CD81F4B2-225B-4DA7-9B85-A4A30B8153E3}"/>
              </a:ext>
            </a:extLst>
          </p:cNvPr>
          <p:cNvSpPr/>
          <p:nvPr/>
        </p:nvSpPr>
        <p:spPr>
          <a:xfrm>
            <a:off x="6704868" y="2187460"/>
            <a:ext cx="566230" cy="457200"/>
          </a:xfrm>
          <a:prstGeom prst="rect">
            <a:avLst/>
          </a:prstGeom>
          <a:noFill/>
          <a:ln/>
        </p:spPr>
        <p:txBody>
          <a:bodyPr wrap="square" lIns="0" tIns="0" rIns="0" bIns="0" rtlCol="0" anchor="ctr"/>
          <a:lstStyle/>
          <a:p>
            <a:pPr marL="0" indent="0" algn="ctr">
              <a:buNone/>
            </a:pPr>
            <a:r>
              <a:rPr lang="en-US" sz="800" b="1" dirty="0">
                <a:solidFill>
                  <a:schemeClr val="bg1"/>
                </a:solidFill>
              </a:rPr>
              <a:t>API Client</a:t>
            </a:r>
          </a:p>
        </p:txBody>
      </p:sp>
      <p:sp>
        <p:nvSpPr>
          <p:cNvPr id="98" name="Text 10">
            <a:extLst>
              <a:ext uri="{FF2B5EF4-FFF2-40B4-BE49-F238E27FC236}">
                <a16:creationId xmlns:a16="http://schemas.microsoft.com/office/drawing/2014/main" id="{B7EB2807-CB49-4A93-B42D-1AD6A659427E}"/>
              </a:ext>
            </a:extLst>
          </p:cNvPr>
          <p:cNvSpPr/>
          <p:nvPr/>
        </p:nvSpPr>
        <p:spPr>
          <a:xfrm rot="20863950">
            <a:off x="4851473" y="4838770"/>
            <a:ext cx="1232431" cy="311102"/>
          </a:xfrm>
          <a:prstGeom prst="rect">
            <a:avLst/>
          </a:prstGeom>
          <a:noFill/>
          <a:ln/>
        </p:spPr>
        <p:txBody>
          <a:bodyPr wrap="square" lIns="0" tIns="0" rIns="0" bIns="0" rtlCol="0" anchor="ctr"/>
          <a:lstStyle/>
          <a:p>
            <a:pPr marL="0" indent="0" algn="ctr">
              <a:buNone/>
            </a:pPr>
            <a:r>
              <a:rPr lang="en-US" sz="700" b="1" dirty="0">
                <a:solidFill>
                  <a:srgbClr val="00B050"/>
                </a:solidFill>
              </a:rPr>
              <a:t>Real time OHLCV Data</a:t>
            </a:r>
          </a:p>
          <a:p>
            <a:pPr marL="0" indent="0" algn="ctr">
              <a:buNone/>
            </a:pPr>
            <a:r>
              <a:rPr lang="en-US" sz="700" b="1" dirty="0">
                <a:solidFill>
                  <a:srgbClr val="00B050"/>
                </a:solidFill>
              </a:rPr>
              <a:t>(Legacy Fallback)</a:t>
            </a:r>
          </a:p>
        </p:txBody>
      </p:sp>
      <p:sp>
        <p:nvSpPr>
          <p:cNvPr id="112" name="Rectangle 111">
            <a:extLst>
              <a:ext uri="{FF2B5EF4-FFF2-40B4-BE49-F238E27FC236}">
                <a16:creationId xmlns:a16="http://schemas.microsoft.com/office/drawing/2014/main" id="{68523DAD-FA97-4047-A967-56F6BCE6D7DF}"/>
              </a:ext>
            </a:extLst>
          </p:cNvPr>
          <p:cNvSpPr/>
          <p:nvPr/>
        </p:nvSpPr>
        <p:spPr>
          <a:xfrm>
            <a:off x="3458127" y="5261289"/>
            <a:ext cx="2479012" cy="1300614"/>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13" name="TextBox 112">
            <a:extLst>
              <a:ext uri="{FF2B5EF4-FFF2-40B4-BE49-F238E27FC236}">
                <a16:creationId xmlns:a16="http://schemas.microsoft.com/office/drawing/2014/main" id="{070F1581-CCD0-491B-A706-E3377859D883}"/>
              </a:ext>
            </a:extLst>
          </p:cNvPr>
          <p:cNvSpPr txBox="1"/>
          <p:nvPr/>
        </p:nvSpPr>
        <p:spPr>
          <a:xfrm>
            <a:off x="3435752" y="4824579"/>
            <a:ext cx="1589087" cy="415498"/>
          </a:xfrm>
          <a:prstGeom prst="rect">
            <a:avLst/>
          </a:prstGeom>
          <a:noFill/>
        </p:spPr>
        <p:txBody>
          <a:bodyPr wrap="square" rtlCol="0">
            <a:spAutoFit/>
          </a:bodyPr>
          <a:lstStyle/>
          <a:p>
            <a:r>
              <a:rPr lang="en-US" sz="1050" b="1" dirty="0">
                <a:solidFill>
                  <a:srgbClr val="7030A0"/>
                </a:solidFill>
              </a:rPr>
              <a:t>Contabo Windows VPS </a:t>
            </a:r>
          </a:p>
          <a:p>
            <a:r>
              <a:rPr lang="en-US" sz="1050" b="1" dirty="0">
                <a:solidFill>
                  <a:srgbClr val="7030A0"/>
                </a:solidFill>
              </a:rPr>
              <a:t>+ VPS storage disk</a:t>
            </a:r>
            <a:endParaRPr lang="en-TZ" sz="1050" b="1" dirty="0">
              <a:solidFill>
                <a:srgbClr val="7030A0"/>
              </a:solidFill>
            </a:endParaRPr>
          </a:p>
        </p:txBody>
      </p:sp>
      <p:sp>
        <p:nvSpPr>
          <p:cNvPr id="140" name="Rectangle 139">
            <a:extLst>
              <a:ext uri="{FF2B5EF4-FFF2-40B4-BE49-F238E27FC236}">
                <a16:creationId xmlns:a16="http://schemas.microsoft.com/office/drawing/2014/main" id="{58834FF5-318A-4906-907B-6518CDFDE1AC}"/>
              </a:ext>
            </a:extLst>
          </p:cNvPr>
          <p:cNvSpPr/>
          <p:nvPr/>
        </p:nvSpPr>
        <p:spPr>
          <a:xfrm>
            <a:off x="6284381" y="1487242"/>
            <a:ext cx="1161208" cy="116497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51" name="Text 10">
            <a:extLst>
              <a:ext uri="{FF2B5EF4-FFF2-40B4-BE49-F238E27FC236}">
                <a16:creationId xmlns:a16="http://schemas.microsoft.com/office/drawing/2014/main" id="{BAD82516-1F0E-4878-9CE7-EC138BFA76FF}"/>
              </a:ext>
            </a:extLst>
          </p:cNvPr>
          <p:cNvSpPr/>
          <p:nvPr/>
        </p:nvSpPr>
        <p:spPr>
          <a:xfrm>
            <a:off x="5366078" y="6145253"/>
            <a:ext cx="511022" cy="311102"/>
          </a:xfrm>
          <a:prstGeom prst="rect">
            <a:avLst/>
          </a:prstGeom>
          <a:noFill/>
          <a:ln/>
        </p:spPr>
        <p:txBody>
          <a:bodyPr wrap="square" lIns="0" tIns="0" rIns="0" bIns="0" rtlCol="0" anchor="ctr"/>
          <a:lstStyle/>
          <a:p>
            <a:pPr marL="0" indent="0" algn="ctr">
              <a:buNone/>
            </a:pPr>
            <a:r>
              <a:rPr lang="en-US" sz="700" b="1" dirty="0">
                <a:solidFill>
                  <a:schemeClr val="bg1"/>
                </a:solidFill>
              </a:rPr>
              <a:t>Python Push Worker</a:t>
            </a:r>
          </a:p>
        </p:txBody>
      </p:sp>
      <p:sp>
        <p:nvSpPr>
          <p:cNvPr id="196" name="Text 10">
            <a:extLst>
              <a:ext uri="{FF2B5EF4-FFF2-40B4-BE49-F238E27FC236}">
                <a16:creationId xmlns:a16="http://schemas.microsoft.com/office/drawing/2014/main" id="{65815253-548F-46C9-A958-3C54D1C92042}"/>
              </a:ext>
            </a:extLst>
          </p:cNvPr>
          <p:cNvSpPr/>
          <p:nvPr/>
        </p:nvSpPr>
        <p:spPr>
          <a:xfrm>
            <a:off x="6477301" y="5184521"/>
            <a:ext cx="1232431" cy="311102"/>
          </a:xfrm>
          <a:prstGeom prst="rect">
            <a:avLst/>
          </a:prstGeom>
          <a:noFill/>
          <a:ln/>
        </p:spPr>
        <p:txBody>
          <a:bodyPr wrap="square" lIns="0" tIns="0" rIns="0" bIns="0" rtlCol="0" anchor="ctr"/>
          <a:lstStyle/>
          <a:p>
            <a:pPr marL="0" indent="0" algn="ctr">
              <a:buNone/>
            </a:pPr>
            <a:r>
              <a:rPr lang="en-US" sz="900" b="1" dirty="0">
                <a:solidFill>
                  <a:srgbClr val="00B050"/>
                </a:solidFill>
              </a:rPr>
              <a:t>Socket.IO</a:t>
            </a:r>
          </a:p>
        </p:txBody>
      </p:sp>
      <p:sp>
        <p:nvSpPr>
          <p:cNvPr id="207" name="Text 10">
            <a:extLst>
              <a:ext uri="{FF2B5EF4-FFF2-40B4-BE49-F238E27FC236}">
                <a16:creationId xmlns:a16="http://schemas.microsoft.com/office/drawing/2014/main" id="{18149228-70BD-4035-879F-46137E64A299}"/>
              </a:ext>
            </a:extLst>
          </p:cNvPr>
          <p:cNvSpPr/>
          <p:nvPr/>
        </p:nvSpPr>
        <p:spPr>
          <a:xfrm>
            <a:off x="6745510" y="4418656"/>
            <a:ext cx="511023" cy="457200"/>
          </a:xfrm>
          <a:prstGeom prst="rect">
            <a:avLst/>
          </a:prstGeom>
          <a:noFill/>
          <a:ln/>
        </p:spPr>
        <p:txBody>
          <a:bodyPr wrap="square" lIns="0" tIns="0" rIns="0" bIns="0" rtlCol="0" anchor="ctr"/>
          <a:lstStyle/>
          <a:p>
            <a:pPr marL="0" indent="0" algn="ctr">
              <a:buNone/>
            </a:pPr>
            <a:r>
              <a:rPr lang="en-US" sz="700" b="1" dirty="0">
                <a:solidFill>
                  <a:schemeClr val="bg1"/>
                </a:solidFill>
              </a:rPr>
              <a:t>Operation-Service-Worker</a:t>
            </a:r>
          </a:p>
        </p:txBody>
      </p:sp>
      <p:cxnSp>
        <p:nvCxnSpPr>
          <p:cNvPr id="3" name="Straight Arrow Connector 2">
            <a:extLst>
              <a:ext uri="{FF2B5EF4-FFF2-40B4-BE49-F238E27FC236}">
                <a16:creationId xmlns:a16="http://schemas.microsoft.com/office/drawing/2014/main" id="{8FA549AD-F6A1-4B3E-93FA-FC35402083D0}"/>
              </a:ext>
            </a:extLst>
          </p:cNvPr>
          <p:cNvCxnSpPr>
            <a:cxnSpLocks/>
          </p:cNvCxnSpPr>
          <p:nvPr/>
        </p:nvCxnSpPr>
        <p:spPr>
          <a:xfrm>
            <a:off x="5034500" y="4092912"/>
            <a:ext cx="352113" cy="811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43C4A20-03F4-41AF-AC7A-A5340F83B732}"/>
              </a:ext>
            </a:extLst>
          </p:cNvPr>
          <p:cNvSpPr txBox="1"/>
          <p:nvPr/>
        </p:nvSpPr>
        <p:spPr>
          <a:xfrm>
            <a:off x="3616964" y="3619087"/>
            <a:ext cx="2083777" cy="430887"/>
          </a:xfrm>
          <a:prstGeom prst="rect">
            <a:avLst/>
          </a:prstGeom>
          <a:noFill/>
        </p:spPr>
        <p:txBody>
          <a:bodyPr wrap="square" rtlCol="0">
            <a:spAutoFit/>
          </a:bodyPr>
          <a:lstStyle/>
          <a:p>
            <a:r>
              <a:rPr lang="en-US" sz="1100" dirty="0"/>
              <a:t>MT5 Python API</a:t>
            </a:r>
          </a:p>
          <a:p>
            <a:r>
              <a:rPr lang="en-US" sz="1100" dirty="0"/>
              <a:t>(Inter-Process Communication)</a:t>
            </a:r>
            <a:endParaRPr lang="en-TZ" sz="1100" dirty="0"/>
          </a:p>
        </p:txBody>
      </p:sp>
      <p:cxnSp>
        <p:nvCxnSpPr>
          <p:cNvPr id="26" name="Straight Arrow Connector 25">
            <a:extLst>
              <a:ext uri="{FF2B5EF4-FFF2-40B4-BE49-F238E27FC236}">
                <a16:creationId xmlns:a16="http://schemas.microsoft.com/office/drawing/2014/main" id="{1B5F80BA-768F-43A3-8AF8-7F293813FAEC}"/>
              </a:ext>
            </a:extLst>
          </p:cNvPr>
          <p:cNvCxnSpPr/>
          <p:nvPr/>
        </p:nvCxnSpPr>
        <p:spPr>
          <a:xfrm>
            <a:off x="5210556" y="2644660"/>
            <a:ext cx="1255117" cy="140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5A89228-161F-48C6-93C9-35BF30A1FDAF}"/>
              </a:ext>
            </a:extLst>
          </p:cNvPr>
          <p:cNvSpPr txBox="1"/>
          <p:nvPr/>
        </p:nvSpPr>
        <p:spPr>
          <a:xfrm>
            <a:off x="4292866" y="2490660"/>
            <a:ext cx="1407875" cy="430887"/>
          </a:xfrm>
          <a:prstGeom prst="rect">
            <a:avLst/>
          </a:prstGeom>
          <a:noFill/>
        </p:spPr>
        <p:txBody>
          <a:bodyPr wrap="square" rtlCol="0">
            <a:spAutoFit/>
          </a:bodyPr>
          <a:lstStyle/>
          <a:p>
            <a:r>
              <a:rPr lang="en-US" sz="1100" dirty="0"/>
              <a:t>WebSocket</a:t>
            </a:r>
          </a:p>
          <a:p>
            <a:r>
              <a:rPr lang="en-US" sz="1100" dirty="0"/>
              <a:t>Communication</a:t>
            </a:r>
            <a:endParaRPr lang="en-TZ" sz="1100" dirty="0"/>
          </a:p>
        </p:txBody>
      </p:sp>
      <p:cxnSp>
        <p:nvCxnSpPr>
          <p:cNvPr id="29" name="Straight Arrow Connector 28">
            <a:extLst>
              <a:ext uri="{FF2B5EF4-FFF2-40B4-BE49-F238E27FC236}">
                <a16:creationId xmlns:a16="http://schemas.microsoft.com/office/drawing/2014/main" id="{13E6E88B-D1EF-48D5-AE57-0F2026EDBA88}"/>
              </a:ext>
            </a:extLst>
          </p:cNvPr>
          <p:cNvCxnSpPr>
            <a:cxnSpLocks/>
          </p:cNvCxnSpPr>
          <p:nvPr/>
        </p:nvCxnSpPr>
        <p:spPr>
          <a:xfrm flipH="1">
            <a:off x="7033846" y="2185424"/>
            <a:ext cx="3244362" cy="599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1DFC470-7713-4C05-B0DB-0F9E0B06BC09}"/>
              </a:ext>
            </a:extLst>
          </p:cNvPr>
          <p:cNvSpPr txBox="1"/>
          <p:nvPr/>
        </p:nvSpPr>
        <p:spPr>
          <a:xfrm>
            <a:off x="10243038" y="1954509"/>
            <a:ext cx="1503485" cy="577081"/>
          </a:xfrm>
          <a:prstGeom prst="rect">
            <a:avLst/>
          </a:prstGeom>
          <a:noFill/>
        </p:spPr>
        <p:txBody>
          <a:bodyPr wrap="square" rtlCol="0">
            <a:spAutoFit/>
          </a:bodyPr>
          <a:lstStyle/>
          <a:p>
            <a:r>
              <a:rPr lang="en-US" sz="1050" i="0" dirty="0">
                <a:solidFill>
                  <a:srgbClr val="101010"/>
                </a:solidFill>
                <a:effectLst/>
                <a:latin typeface="ui-sans-serif"/>
              </a:rPr>
              <a:t>Dual-Mode (Hybrid) = HTTPS / REST API + WebSocket</a:t>
            </a:r>
            <a:endParaRPr lang="en-TZ" sz="1050" dirty="0"/>
          </a:p>
        </p:txBody>
      </p:sp>
      <p:sp>
        <p:nvSpPr>
          <p:cNvPr id="33" name="TextBox 32">
            <a:extLst>
              <a:ext uri="{FF2B5EF4-FFF2-40B4-BE49-F238E27FC236}">
                <a16:creationId xmlns:a16="http://schemas.microsoft.com/office/drawing/2014/main" id="{3F5F3AC1-26D8-4138-A514-39A39B103E11}"/>
              </a:ext>
            </a:extLst>
          </p:cNvPr>
          <p:cNvSpPr txBox="1"/>
          <p:nvPr/>
        </p:nvSpPr>
        <p:spPr>
          <a:xfrm>
            <a:off x="342900" y="296097"/>
            <a:ext cx="3714750" cy="523220"/>
          </a:xfrm>
          <a:prstGeom prst="rect">
            <a:avLst/>
          </a:prstGeom>
          <a:noFill/>
        </p:spPr>
        <p:txBody>
          <a:bodyPr wrap="square" rtlCol="0">
            <a:spAutoFit/>
          </a:bodyPr>
          <a:lstStyle/>
          <a:p>
            <a:r>
              <a:rPr lang="en-US" sz="2800" dirty="0"/>
              <a:t>MT5 Flask Data Pipeline</a:t>
            </a:r>
            <a:endParaRPr lang="en-TZ" sz="2800" dirty="0"/>
          </a:p>
        </p:txBody>
      </p:sp>
    </p:spTree>
    <p:extLst>
      <p:ext uri="{BB962C8B-B14F-4D97-AF65-F5344CB8AC3E}">
        <p14:creationId xmlns:p14="http://schemas.microsoft.com/office/powerpoint/2010/main" val="2255596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E63A82-A980-4D2D-A4F5-BF116A6537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694" y="2054503"/>
            <a:ext cx="8848612" cy="4262770"/>
          </a:xfrm>
          <a:prstGeom prst="rect">
            <a:avLst/>
          </a:prstGeom>
        </p:spPr>
      </p:pic>
      <p:sp>
        <p:nvSpPr>
          <p:cNvPr id="6" name="TextBox 5">
            <a:extLst>
              <a:ext uri="{FF2B5EF4-FFF2-40B4-BE49-F238E27FC236}">
                <a16:creationId xmlns:a16="http://schemas.microsoft.com/office/drawing/2014/main" id="{8C83C958-9D85-422E-98EF-34334C0254B2}"/>
              </a:ext>
            </a:extLst>
          </p:cNvPr>
          <p:cNvSpPr txBox="1"/>
          <p:nvPr/>
        </p:nvSpPr>
        <p:spPr>
          <a:xfrm>
            <a:off x="413238" y="404446"/>
            <a:ext cx="7957039" cy="523220"/>
          </a:xfrm>
          <a:prstGeom prst="rect">
            <a:avLst/>
          </a:prstGeom>
          <a:noFill/>
        </p:spPr>
        <p:txBody>
          <a:bodyPr wrap="square" rtlCol="0">
            <a:spAutoFit/>
          </a:bodyPr>
          <a:lstStyle/>
          <a:p>
            <a:r>
              <a:rPr lang="en-US" sz="2800" dirty="0"/>
              <a:t>Dual-Mode (Hybrid) </a:t>
            </a:r>
            <a:r>
              <a:rPr lang="en-US" sz="2800" i="0" dirty="0">
                <a:solidFill>
                  <a:srgbClr val="101010"/>
                </a:solidFill>
                <a:effectLst/>
                <a:latin typeface="ui-sans-serif"/>
              </a:rPr>
              <a:t>= HTTPS / REST API + WebSocket</a:t>
            </a:r>
            <a:endParaRPr lang="en-TZ" sz="2800" dirty="0"/>
          </a:p>
        </p:txBody>
      </p:sp>
    </p:spTree>
    <p:extLst>
      <p:ext uri="{BB962C8B-B14F-4D97-AF65-F5344CB8AC3E}">
        <p14:creationId xmlns:p14="http://schemas.microsoft.com/office/powerpoint/2010/main" val="127767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9" name="Straight Arrow Connector 78">
            <a:extLst>
              <a:ext uri="{FF2B5EF4-FFF2-40B4-BE49-F238E27FC236}">
                <a16:creationId xmlns:a16="http://schemas.microsoft.com/office/drawing/2014/main" id="{EAEE0EA7-F6B2-4A84-B993-640CA388EA3C}"/>
              </a:ext>
            </a:extLst>
          </p:cNvPr>
          <p:cNvCxnSpPr>
            <a:cxnSpLocks/>
          </p:cNvCxnSpPr>
          <p:nvPr/>
        </p:nvCxnSpPr>
        <p:spPr>
          <a:xfrm>
            <a:off x="7076291" y="3295804"/>
            <a:ext cx="1036190" cy="937064"/>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15" name="Straight Arrow Connector 114">
            <a:extLst>
              <a:ext uri="{FF2B5EF4-FFF2-40B4-BE49-F238E27FC236}">
                <a16:creationId xmlns:a16="http://schemas.microsoft.com/office/drawing/2014/main" id="{C1248623-BF01-4A06-B59F-5285FF0A92AD}"/>
              </a:ext>
            </a:extLst>
          </p:cNvPr>
          <p:cNvCxnSpPr>
            <a:cxnSpLocks/>
            <a:stCxn id="150" idx="3"/>
          </p:cNvCxnSpPr>
          <p:nvPr/>
        </p:nvCxnSpPr>
        <p:spPr>
          <a:xfrm flipV="1">
            <a:off x="5696858" y="5777641"/>
            <a:ext cx="708347" cy="18964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Shape 7">
            <a:extLst>
              <a:ext uri="{FF2B5EF4-FFF2-40B4-BE49-F238E27FC236}">
                <a16:creationId xmlns:a16="http://schemas.microsoft.com/office/drawing/2014/main" id="{8F11BC0D-E799-4BF4-ACDA-37E181122B3E}"/>
              </a:ext>
            </a:extLst>
          </p:cNvPr>
          <p:cNvSpPr/>
          <p:nvPr/>
        </p:nvSpPr>
        <p:spPr>
          <a:xfrm>
            <a:off x="6222495" y="1269751"/>
            <a:ext cx="938840" cy="395231"/>
          </a:xfrm>
          <a:prstGeom prst="roundRect">
            <a:avLst>
              <a:gd name="adj" fmla="val 11111"/>
            </a:avLst>
          </a:prstGeom>
          <a:solidFill>
            <a:srgbClr val="2A3878"/>
          </a:solidFill>
          <a:ln w="19050">
            <a:solidFill>
              <a:srgbClr val="2EC4B6"/>
            </a:solidFill>
            <a:prstDash val="solid"/>
          </a:ln>
        </p:spPr>
      </p:sp>
      <p:sp>
        <p:nvSpPr>
          <p:cNvPr id="8" name="Text 8">
            <a:extLst>
              <a:ext uri="{FF2B5EF4-FFF2-40B4-BE49-F238E27FC236}">
                <a16:creationId xmlns:a16="http://schemas.microsoft.com/office/drawing/2014/main" id="{4B17F111-19B5-4185-A229-7FBBC276C5CF}"/>
              </a:ext>
            </a:extLst>
          </p:cNvPr>
          <p:cNvSpPr/>
          <p:nvPr/>
        </p:nvSpPr>
        <p:spPr>
          <a:xfrm>
            <a:off x="6285431" y="1306981"/>
            <a:ext cx="805272" cy="295361"/>
          </a:xfrm>
          <a:prstGeom prst="rect">
            <a:avLst/>
          </a:prstGeom>
          <a:noFill/>
          <a:ln/>
        </p:spPr>
        <p:txBody>
          <a:bodyPr wrap="square" lIns="0" tIns="0" rIns="0" bIns="0" rtlCol="0" anchor="ctr"/>
          <a:lstStyle/>
          <a:p>
            <a:pPr marL="0" indent="0" algn="ctr">
              <a:buNone/>
            </a:pPr>
            <a:r>
              <a:rPr lang="en-US" sz="1050" b="1" dirty="0">
                <a:solidFill>
                  <a:srgbClr val="FFFF00"/>
                </a:solidFill>
                <a:latin typeface="Calibri" pitchFamily="34" charset="0"/>
                <a:ea typeface="Calibri" pitchFamily="34" charset="-122"/>
                <a:cs typeface="Calibri" pitchFamily="34" charset="-120"/>
              </a:rPr>
              <a:t>Frontend UI</a:t>
            </a:r>
            <a:endParaRPr lang="en-US" sz="1050" dirty="0">
              <a:solidFill>
                <a:srgbClr val="FFFF00"/>
              </a:solidFill>
            </a:endParaRPr>
          </a:p>
        </p:txBody>
      </p:sp>
      <p:sp>
        <p:nvSpPr>
          <p:cNvPr id="9" name="Shape 9">
            <a:extLst>
              <a:ext uri="{FF2B5EF4-FFF2-40B4-BE49-F238E27FC236}">
                <a16:creationId xmlns:a16="http://schemas.microsoft.com/office/drawing/2014/main" id="{95298293-F980-4653-BFC6-47661A982361}"/>
              </a:ext>
            </a:extLst>
          </p:cNvPr>
          <p:cNvSpPr/>
          <p:nvPr/>
        </p:nvSpPr>
        <p:spPr>
          <a:xfrm>
            <a:off x="6090222" y="2851226"/>
            <a:ext cx="1107727" cy="439973"/>
          </a:xfrm>
          <a:prstGeom prst="roundRect">
            <a:avLst>
              <a:gd name="adj" fmla="val 11111"/>
            </a:avLst>
          </a:prstGeom>
          <a:solidFill>
            <a:srgbClr val="2A3878"/>
          </a:solidFill>
          <a:ln w="19050">
            <a:solidFill>
              <a:srgbClr val="2EC4B6"/>
            </a:solidFill>
            <a:prstDash val="solid"/>
          </a:ln>
        </p:spPr>
      </p:sp>
      <p:sp>
        <p:nvSpPr>
          <p:cNvPr id="10" name="Text 10">
            <a:extLst>
              <a:ext uri="{FF2B5EF4-FFF2-40B4-BE49-F238E27FC236}">
                <a16:creationId xmlns:a16="http://schemas.microsoft.com/office/drawing/2014/main" id="{AD86FD63-0EBC-4937-B0CA-67CC22040A72}"/>
              </a:ext>
            </a:extLst>
          </p:cNvPr>
          <p:cNvSpPr/>
          <p:nvPr/>
        </p:nvSpPr>
        <p:spPr>
          <a:xfrm>
            <a:off x="6082377" y="2925911"/>
            <a:ext cx="1107727" cy="295208"/>
          </a:xfrm>
          <a:prstGeom prst="rect">
            <a:avLst/>
          </a:prstGeom>
          <a:noFill/>
          <a:ln/>
        </p:spPr>
        <p:txBody>
          <a:bodyPr wrap="square" lIns="0" tIns="0" rIns="0" bIns="0" rtlCol="0" anchor="ctr"/>
          <a:lstStyle/>
          <a:p>
            <a:pPr marL="0" indent="0" algn="ctr">
              <a:buNone/>
            </a:pPr>
            <a:r>
              <a:rPr lang="en-US" sz="1050" b="1" dirty="0">
                <a:solidFill>
                  <a:srgbClr val="FFFF00"/>
                </a:solidFill>
                <a:latin typeface="Calibri" pitchFamily="34" charset="0"/>
                <a:ea typeface="Calibri" pitchFamily="34" charset="-122"/>
                <a:cs typeface="Calibri" pitchFamily="34" charset="-120"/>
              </a:rPr>
              <a:t>Operation-Service</a:t>
            </a:r>
          </a:p>
        </p:txBody>
      </p:sp>
      <p:sp>
        <p:nvSpPr>
          <p:cNvPr id="14" name="Shape 9">
            <a:extLst>
              <a:ext uri="{FF2B5EF4-FFF2-40B4-BE49-F238E27FC236}">
                <a16:creationId xmlns:a16="http://schemas.microsoft.com/office/drawing/2014/main" id="{AE3A3FF8-54AC-4DE8-B86D-4A18AA8F2E2D}"/>
              </a:ext>
            </a:extLst>
          </p:cNvPr>
          <p:cNvSpPr/>
          <p:nvPr/>
        </p:nvSpPr>
        <p:spPr>
          <a:xfrm>
            <a:off x="3360483" y="5056750"/>
            <a:ext cx="666745" cy="1009330"/>
          </a:xfrm>
          <a:prstGeom prst="roundRect">
            <a:avLst>
              <a:gd name="adj" fmla="val 11111"/>
            </a:avLst>
          </a:prstGeom>
          <a:solidFill>
            <a:srgbClr val="2A3878"/>
          </a:solidFill>
          <a:ln w="19050">
            <a:solidFill>
              <a:srgbClr val="2EC4B6"/>
            </a:solidFill>
            <a:prstDash val="solid"/>
          </a:ln>
        </p:spPr>
      </p:sp>
      <p:sp>
        <p:nvSpPr>
          <p:cNvPr id="15" name="Text 10">
            <a:extLst>
              <a:ext uri="{FF2B5EF4-FFF2-40B4-BE49-F238E27FC236}">
                <a16:creationId xmlns:a16="http://schemas.microsoft.com/office/drawing/2014/main" id="{48AE8058-0694-460F-84F4-810435AEF18E}"/>
              </a:ext>
            </a:extLst>
          </p:cNvPr>
          <p:cNvSpPr/>
          <p:nvPr/>
        </p:nvSpPr>
        <p:spPr>
          <a:xfrm>
            <a:off x="3360483" y="5221873"/>
            <a:ext cx="666745" cy="7009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MT5 Terminals</a:t>
            </a:r>
          </a:p>
        </p:txBody>
      </p:sp>
      <p:cxnSp>
        <p:nvCxnSpPr>
          <p:cNvPr id="38" name="Straight Arrow Connector 37">
            <a:extLst>
              <a:ext uri="{FF2B5EF4-FFF2-40B4-BE49-F238E27FC236}">
                <a16:creationId xmlns:a16="http://schemas.microsoft.com/office/drawing/2014/main" id="{D96F880D-B07C-4016-A3A7-E53A41CE9037}"/>
              </a:ext>
            </a:extLst>
          </p:cNvPr>
          <p:cNvCxnSpPr>
            <a:cxnSpLocks/>
          </p:cNvCxnSpPr>
          <p:nvPr/>
        </p:nvCxnSpPr>
        <p:spPr>
          <a:xfrm flipH="1">
            <a:off x="6772649" y="1648812"/>
            <a:ext cx="2987" cy="1125241"/>
          </a:xfrm>
          <a:prstGeom prst="straightConnector1">
            <a:avLst/>
          </a:prstGeom>
          <a:ln w="38100"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8" name="Text 10">
            <a:extLst>
              <a:ext uri="{FF2B5EF4-FFF2-40B4-BE49-F238E27FC236}">
                <a16:creationId xmlns:a16="http://schemas.microsoft.com/office/drawing/2014/main" id="{B4F7A524-341A-473A-AB6A-49C0A75808AD}"/>
              </a:ext>
            </a:extLst>
          </p:cNvPr>
          <p:cNvSpPr/>
          <p:nvPr/>
        </p:nvSpPr>
        <p:spPr>
          <a:xfrm>
            <a:off x="7349893" y="4592746"/>
            <a:ext cx="511022" cy="15679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cs typeface="Calibri" pitchFamily="34" charset="-120"/>
              </a:rPr>
              <a:t>Postgres</a:t>
            </a:r>
            <a:endParaRPr lang="en-US" sz="800" dirty="0"/>
          </a:p>
        </p:txBody>
      </p:sp>
      <p:sp>
        <p:nvSpPr>
          <p:cNvPr id="49" name="Shape 9">
            <a:extLst>
              <a:ext uri="{FF2B5EF4-FFF2-40B4-BE49-F238E27FC236}">
                <a16:creationId xmlns:a16="http://schemas.microsoft.com/office/drawing/2014/main" id="{6C6BF204-98AB-42A9-8339-AB754C7714D2}"/>
              </a:ext>
            </a:extLst>
          </p:cNvPr>
          <p:cNvSpPr/>
          <p:nvPr/>
        </p:nvSpPr>
        <p:spPr>
          <a:xfrm>
            <a:off x="8114205" y="4212408"/>
            <a:ext cx="487888" cy="925921"/>
          </a:xfrm>
          <a:prstGeom prst="roundRect">
            <a:avLst>
              <a:gd name="adj" fmla="val 11111"/>
            </a:avLst>
          </a:prstGeom>
          <a:solidFill>
            <a:srgbClr val="2A3878"/>
          </a:solidFill>
          <a:ln w="19050">
            <a:solidFill>
              <a:srgbClr val="2EC4B6"/>
            </a:solidFill>
            <a:prstDash val="solid"/>
          </a:ln>
        </p:spPr>
        <p:txBody>
          <a:bodyPr/>
          <a:lstStyle/>
          <a:p>
            <a:r>
              <a:rPr lang="en-US" dirty="0"/>
              <a:t> </a:t>
            </a:r>
            <a:endParaRPr lang="en-TZ" dirty="0"/>
          </a:p>
        </p:txBody>
      </p:sp>
      <p:sp>
        <p:nvSpPr>
          <p:cNvPr id="50" name="Text 10">
            <a:extLst>
              <a:ext uri="{FF2B5EF4-FFF2-40B4-BE49-F238E27FC236}">
                <a16:creationId xmlns:a16="http://schemas.microsoft.com/office/drawing/2014/main" id="{280BFEC5-18B4-4C7F-B069-FFCA181F8212}"/>
              </a:ext>
            </a:extLst>
          </p:cNvPr>
          <p:cNvSpPr/>
          <p:nvPr/>
        </p:nvSpPr>
        <p:spPr>
          <a:xfrm>
            <a:off x="8083451" y="4481179"/>
            <a:ext cx="527436" cy="31953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cs typeface="Calibri" pitchFamily="34" charset="-120"/>
              </a:rPr>
              <a:t> Redis</a:t>
            </a:r>
            <a:endParaRPr lang="en-US" sz="1050" dirty="0"/>
          </a:p>
        </p:txBody>
      </p:sp>
      <p:sp>
        <p:nvSpPr>
          <p:cNvPr id="53" name="TextBox 52">
            <a:extLst>
              <a:ext uri="{FF2B5EF4-FFF2-40B4-BE49-F238E27FC236}">
                <a16:creationId xmlns:a16="http://schemas.microsoft.com/office/drawing/2014/main" id="{0DDC0400-C34C-417D-BEB0-0D643B71C0A8}"/>
              </a:ext>
            </a:extLst>
          </p:cNvPr>
          <p:cNvSpPr txBox="1"/>
          <p:nvPr/>
        </p:nvSpPr>
        <p:spPr>
          <a:xfrm>
            <a:off x="7253950" y="1792140"/>
            <a:ext cx="760534" cy="400110"/>
          </a:xfrm>
          <a:prstGeom prst="rect">
            <a:avLst/>
          </a:prstGeom>
          <a:noFill/>
        </p:spPr>
        <p:txBody>
          <a:bodyPr wrap="square" rtlCol="0">
            <a:spAutoFit/>
          </a:bodyPr>
          <a:lstStyle/>
          <a:p>
            <a:r>
              <a:rPr lang="en-US" sz="1000" b="1" dirty="0" err="1">
                <a:solidFill>
                  <a:srgbClr val="00B050"/>
                </a:solidFill>
              </a:rPr>
              <a:t>Vercel</a:t>
            </a:r>
            <a:r>
              <a:rPr lang="en-US" sz="1000" b="1" dirty="0">
                <a:solidFill>
                  <a:srgbClr val="00B050"/>
                </a:solidFill>
              </a:rPr>
              <a:t>; </a:t>
            </a:r>
            <a:r>
              <a:rPr lang="en-US" sz="1000" b="1" dirty="0" err="1">
                <a:solidFill>
                  <a:srgbClr val="00B050"/>
                </a:solidFill>
              </a:rPr>
              <a:t>Next.Js</a:t>
            </a:r>
            <a:r>
              <a:rPr lang="en-US" sz="1000" b="1" dirty="0">
                <a:solidFill>
                  <a:srgbClr val="00B050"/>
                </a:solidFill>
              </a:rPr>
              <a:t> 16</a:t>
            </a:r>
            <a:endParaRPr lang="en-TZ" sz="1000" b="1" dirty="0">
              <a:solidFill>
                <a:srgbClr val="00B050"/>
              </a:solidFill>
            </a:endParaRPr>
          </a:p>
        </p:txBody>
      </p:sp>
      <p:sp>
        <p:nvSpPr>
          <p:cNvPr id="57" name="Rectangle 56">
            <a:extLst>
              <a:ext uri="{FF2B5EF4-FFF2-40B4-BE49-F238E27FC236}">
                <a16:creationId xmlns:a16="http://schemas.microsoft.com/office/drawing/2014/main" id="{4970030B-7C9E-476E-A63E-88497F30E410}"/>
              </a:ext>
            </a:extLst>
          </p:cNvPr>
          <p:cNvSpPr/>
          <p:nvPr/>
        </p:nvSpPr>
        <p:spPr>
          <a:xfrm>
            <a:off x="5861418" y="2533729"/>
            <a:ext cx="2816589" cy="3489001"/>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58" name="TextBox 57">
            <a:extLst>
              <a:ext uri="{FF2B5EF4-FFF2-40B4-BE49-F238E27FC236}">
                <a16:creationId xmlns:a16="http://schemas.microsoft.com/office/drawing/2014/main" id="{A4540CF9-D659-417D-9008-1814182FC7A3}"/>
              </a:ext>
            </a:extLst>
          </p:cNvPr>
          <p:cNvSpPr txBox="1"/>
          <p:nvPr/>
        </p:nvSpPr>
        <p:spPr>
          <a:xfrm>
            <a:off x="8090869" y="2302340"/>
            <a:ext cx="760534" cy="261610"/>
          </a:xfrm>
          <a:prstGeom prst="rect">
            <a:avLst/>
          </a:prstGeom>
          <a:noFill/>
        </p:spPr>
        <p:txBody>
          <a:bodyPr wrap="square" rtlCol="0">
            <a:spAutoFit/>
          </a:bodyPr>
          <a:lstStyle/>
          <a:p>
            <a:r>
              <a:rPr lang="en-US" sz="1100" b="1" dirty="0">
                <a:solidFill>
                  <a:srgbClr val="00B0F0"/>
                </a:solidFill>
              </a:rPr>
              <a:t>Railway</a:t>
            </a:r>
            <a:endParaRPr lang="en-TZ" sz="1100" b="1" dirty="0">
              <a:solidFill>
                <a:srgbClr val="00B0F0"/>
              </a:solidFill>
            </a:endParaRPr>
          </a:p>
        </p:txBody>
      </p:sp>
      <p:sp>
        <p:nvSpPr>
          <p:cNvPr id="59" name="Shape 9">
            <a:extLst>
              <a:ext uri="{FF2B5EF4-FFF2-40B4-BE49-F238E27FC236}">
                <a16:creationId xmlns:a16="http://schemas.microsoft.com/office/drawing/2014/main" id="{F8913059-8B21-47AB-B78F-A5082958E47E}"/>
              </a:ext>
            </a:extLst>
          </p:cNvPr>
          <p:cNvSpPr/>
          <p:nvPr/>
        </p:nvSpPr>
        <p:spPr>
          <a:xfrm>
            <a:off x="6547086" y="1919370"/>
            <a:ext cx="555000" cy="260446"/>
          </a:xfrm>
          <a:prstGeom prst="roundRect">
            <a:avLst>
              <a:gd name="adj" fmla="val 11111"/>
            </a:avLst>
          </a:prstGeom>
          <a:solidFill>
            <a:srgbClr val="2A3878"/>
          </a:solidFill>
          <a:ln w="19050">
            <a:solidFill>
              <a:srgbClr val="2EC4B6"/>
            </a:solidFill>
            <a:prstDash val="solid"/>
          </a:ln>
        </p:spPr>
      </p:sp>
      <p:sp>
        <p:nvSpPr>
          <p:cNvPr id="60" name="Text 10">
            <a:extLst>
              <a:ext uri="{FF2B5EF4-FFF2-40B4-BE49-F238E27FC236}">
                <a16:creationId xmlns:a16="http://schemas.microsoft.com/office/drawing/2014/main" id="{CD81F4B2-225B-4DA7-9B85-A4A30B8153E3}"/>
              </a:ext>
            </a:extLst>
          </p:cNvPr>
          <p:cNvSpPr/>
          <p:nvPr/>
        </p:nvSpPr>
        <p:spPr>
          <a:xfrm>
            <a:off x="6524626" y="1835767"/>
            <a:ext cx="566230" cy="457200"/>
          </a:xfrm>
          <a:prstGeom prst="rect">
            <a:avLst/>
          </a:prstGeom>
          <a:noFill/>
          <a:ln/>
        </p:spPr>
        <p:txBody>
          <a:bodyPr wrap="square" lIns="0" tIns="0" rIns="0" bIns="0" rtlCol="0" anchor="ctr"/>
          <a:lstStyle/>
          <a:p>
            <a:pPr marL="0" indent="0" algn="ctr">
              <a:buNone/>
            </a:pPr>
            <a:r>
              <a:rPr lang="en-US" sz="800" b="1" dirty="0">
                <a:solidFill>
                  <a:schemeClr val="bg1"/>
                </a:solidFill>
              </a:rPr>
              <a:t>API Client</a:t>
            </a:r>
          </a:p>
        </p:txBody>
      </p:sp>
      <p:sp>
        <p:nvSpPr>
          <p:cNvPr id="63" name="Shape 9">
            <a:extLst>
              <a:ext uri="{FF2B5EF4-FFF2-40B4-BE49-F238E27FC236}">
                <a16:creationId xmlns:a16="http://schemas.microsoft.com/office/drawing/2014/main" id="{C22AED8E-BA7A-4035-AFF0-B5DFD20780B8}"/>
              </a:ext>
            </a:extLst>
          </p:cNvPr>
          <p:cNvSpPr/>
          <p:nvPr/>
        </p:nvSpPr>
        <p:spPr>
          <a:xfrm>
            <a:off x="6405205" y="5279440"/>
            <a:ext cx="511023" cy="658368"/>
          </a:xfrm>
          <a:prstGeom prst="roundRect">
            <a:avLst>
              <a:gd name="adj" fmla="val 11111"/>
            </a:avLst>
          </a:prstGeom>
          <a:solidFill>
            <a:srgbClr val="2A3878"/>
          </a:solidFill>
          <a:ln w="19050">
            <a:solidFill>
              <a:srgbClr val="2EC4B6"/>
            </a:solidFill>
            <a:prstDash val="solid"/>
          </a:ln>
        </p:spPr>
      </p:sp>
      <p:sp>
        <p:nvSpPr>
          <p:cNvPr id="64" name="Text 10">
            <a:extLst>
              <a:ext uri="{FF2B5EF4-FFF2-40B4-BE49-F238E27FC236}">
                <a16:creationId xmlns:a16="http://schemas.microsoft.com/office/drawing/2014/main" id="{A4961206-32FA-4C71-B502-2ABC406437BB}"/>
              </a:ext>
            </a:extLst>
          </p:cNvPr>
          <p:cNvSpPr/>
          <p:nvPr/>
        </p:nvSpPr>
        <p:spPr>
          <a:xfrm>
            <a:off x="6405205" y="5380024"/>
            <a:ext cx="511023" cy="457200"/>
          </a:xfrm>
          <a:prstGeom prst="rect">
            <a:avLst/>
          </a:prstGeom>
          <a:noFill/>
          <a:ln/>
        </p:spPr>
        <p:txBody>
          <a:bodyPr wrap="square" lIns="0" tIns="0" rIns="0" bIns="0" rtlCol="0" anchor="ctr"/>
          <a:lstStyle/>
          <a:p>
            <a:pPr marL="0" indent="0" algn="ctr">
              <a:buNone/>
            </a:pPr>
            <a:r>
              <a:rPr lang="en-US" sz="900" b="1" dirty="0" err="1">
                <a:solidFill>
                  <a:schemeClr val="bg1"/>
                </a:solidFill>
              </a:rPr>
              <a:t>NestJS</a:t>
            </a:r>
            <a:endParaRPr lang="en-US" sz="900" b="1" dirty="0">
              <a:solidFill>
                <a:schemeClr val="bg1"/>
              </a:solidFill>
            </a:endParaRPr>
          </a:p>
          <a:p>
            <a:pPr marL="0" indent="0" algn="ctr">
              <a:buNone/>
            </a:pPr>
            <a:r>
              <a:rPr lang="en-US" sz="900" b="1" dirty="0">
                <a:solidFill>
                  <a:schemeClr val="bg1"/>
                </a:solidFill>
              </a:rPr>
              <a:t>API</a:t>
            </a:r>
          </a:p>
          <a:p>
            <a:pPr marL="0" indent="0" algn="ctr">
              <a:buNone/>
            </a:pPr>
            <a:r>
              <a:rPr lang="en-US" sz="900" b="1" dirty="0">
                <a:solidFill>
                  <a:schemeClr val="bg1"/>
                </a:solidFill>
              </a:rPr>
              <a:t>Gateway</a:t>
            </a:r>
          </a:p>
        </p:txBody>
      </p:sp>
      <p:sp>
        <p:nvSpPr>
          <p:cNvPr id="107" name="Shape 9">
            <a:extLst>
              <a:ext uri="{FF2B5EF4-FFF2-40B4-BE49-F238E27FC236}">
                <a16:creationId xmlns:a16="http://schemas.microsoft.com/office/drawing/2014/main" id="{C4A0E379-A093-4D91-92CF-72EFAB019422}"/>
              </a:ext>
            </a:extLst>
          </p:cNvPr>
          <p:cNvSpPr/>
          <p:nvPr/>
        </p:nvSpPr>
        <p:spPr>
          <a:xfrm>
            <a:off x="5083928" y="5250994"/>
            <a:ext cx="511022" cy="347449"/>
          </a:xfrm>
          <a:prstGeom prst="roundRect">
            <a:avLst>
              <a:gd name="adj" fmla="val 11111"/>
            </a:avLst>
          </a:prstGeom>
          <a:solidFill>
            <a:srgbClr val="2A3878"/>
          </a:solidFill>
          <a:ln w="19050">
            <a:solidFill>
              <a:srgbClr val="2EC4B6"/>
            </a:solidFill>
            <a:prstDash val="solid"/>
          </a:ln>
        </p:spPr>
      </p:sp>
      <p:sp>
        <p:nvSpPr>
          <p:cNvPr id="108" name="Text 10">
            <a:extLst>
              <a:ext uri="{FF2B5EF4-FFF2-40B4-BE49-F238E27FC236}">
                <a16:creationId xmlns:a16="http://schemas.microsoft.com/office/drawing/2014/main" id="{BE95088B-CFEB-48D2-84EA-973053F77D4F}"/>
              </a:ext>
            </a:extLst>
          </p:cNvPr>
          <p:cNvSpPr/>
          <p:nvPr/>
        </p:nvSpPr>
        <p:spPr>
          <a:xfrm>
            <a:off x="5083928" y="5250994"/>
            <a:ext cx="511022" cy="311102"/>
          </a:xfrm>
          <a:prstGeom prst="rect">
            <a:avLst/>
          </a:prstGeom>
          <a:noFill/>
          <a:ln/>
        </p:spPr>
        <p:txBody>
          <a:bodyPr wrap="square" lIns="0" tIns="0" rIns="0" bIns="0" rtlCol="0" anchor="ctr"/>
          <a:lstStyle/>
          <a:p>
            <a:pPr marL="0" indent="0" algn="ctr">
              <a:buNone/>
            </a:pPr>
            <a:r>
              <a:rPr lang="en-US" sz="700" b="1" dirty="0">
                <a:solidFill>
                  <a:schemeClr val="bg1"/>
                </a:solidFill>
              </a:rPr>
              <a:t>Indicator</a:t>
            </a:r>
          </a:p>
          <a:p>
            <a:pPr marL="0" indent="0" algn="ctr">
              <a:buNone/>
            </a:pPr>
            <a:r>
              <a:rPr lang="en-US" sz="700" b="1" dirty="0">
                <a:solidFill>
                  <a:schemeClr val="bg1"/>
                </a:solidFill>
              </a:rPr>
              <a:t>Text Exports</a:t>
            </a:r>
          </a:p>
        </p:txBody>
      </p:sp>
      <p:sp>
        <p:nvSpPr>
          <p:cNvPr id="109" name="Shape 9">
            <a:extLst>
              <a:ext uri="{FF2B5EF4-FFF2-40B4-BE49-F238E27FC236}">
                <a16:creationId xmlns:a16="http://schemas.microsoft.com/office/drawing/2014/main" id="{F874B6E8-3DBC-423C-9E2B-AD723C6DD7AA}"/>
              </a:ext>
            </a:extLst>
          </p:cNvPr>
          <p:cNvSpPr/>
          <p:nvPr/>
        </p:nvSpPr>
        <p:spPr>
          <a:xfrm>
            <a:off x="4277538" y="5788202"/>
            <a:ext cx="511022" cy="347449"/>
          </a:xfrm>
          <a:prstGeom prst="roundRect">
            <a:avLst>
              <a:gd name="adj" fmla="val 11111"/>
            </a:avLst>
          </a:prstGeom>
          <a:solidFill>
            <a:srgbClr val="2A3878"/>
          </a:solidFill>
          <a:ln w="19050">
            <a:solidFill>
              <a:srgbClr val="2EC4B6"/>
            </a:solidFill>
            <a:prstDash val="solid"/>
          </a:ln>
        </p:spPr>
      </p:sp>
      <p:sp>
        <p:nvSpPr>
          <p:cNvPr id="110" name="Text 10">
            <a:extLst>
              <a:ext uri="{FF2B5EF4-FFF2-40B4-BE49-F238E27FC236}">
                <a16:creationId xmlns:a16="http://schemas.microsoft.com/office/drawing/2014/main" id="{617EDF02-E0CA-43B7-BA40-3A634E4EEB75}"/>
              </a:ext>
            </a:extLst>
          </p:cNvPr>
          <p:cNvSpPr/>
          <p:nvPr/>
        </p:nvSpPr>
        <p:spPr>
          <a:xfrm>
            <a:off x="4277538" y="5788202"/>
            <a:ext cx="511022" cy="311102"/>
          </a:xfrm>
          <a:prstGeom prst="rect">
            <a:avLst/>
          </a:prstGeom>
          <a:noFill/>
          <a:ln/>
        </p:spPr>
        <p:txBody>
          <a:bodyPr wrap="square" lIns="0" tIns="0" rIns="0" bIns="0" rtlCol="0" anchor="ctr"/>
          <a:lstStyle/>
          <a:p>
            <a:pPr marL="0" indent="0" algn="ctr">
              <a:buNone/>
            </a:pPr>
            <a:r>
              <a:rPr lang="en-US" sz="900" b="1" dirty="0">
                <a:solidFill>
                  <a:schemeClr val="bg1"/>
                </a:solidFill>
              </a:rPr>
              <a:t>SQLite</a:t>
            </a:r>
          </a:p>
        </p:txBody>
      </p:sp>
      <p:sp>
        <p:nvSpPr>
          <p:cNvPr id="112" name="Rectangle 111">
            <a:extLst>
              <a:ext uri="{FF2B5EF4-FFF2-40B4-BE49-F238E27FC236}">
                <a16:creationId xmlns:a16="http://schemas.microsoft.com/office/drawing/2014/main" id="{68523DAD-FA97-4047-A967-56F6BCE6D7DF}"/>
              </a:ext>
            </a:extLst>
          </p:cNvPr>
          <p:cNvSpPr/>
          <p:nvPr/>
        </p:nvSpPr>
        <p:spPr>
          <a:xfrm>
            <a:off x="3277885" y="4909596"/>
            <a:ext cx="2479012" cy="1300614"/>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13" name="TextBox 112">
            <a:extLst>
              <a:ext uri="{FF2B5EF4-FFF2-40B4-BE49-F238E27FC236}">
                <a16:creationId xmlns:a16="http://schemas.microsoft.com/office/drawing/2014/main" id="{070F1581-CCD0-491B-A706-E3377859D883}"/>
              </a:ext>
            </a:extLst>
          </p:cNvPr>
          <p:cNvSpPr txBox="1"/>
          <p:nvPr/>
        </p:nvSpPr>
        <p:spPr>
          <a:xfrm>
            <a:off x="3255510" y="4472886"/>
            <a:ext cx="1589087" cy="415498"/>
          </a:xfrm>
          <a:prstGeom prst="rect">
            <a:avLst/>
          </a:prstGeom>
          <a:noFill/>
        </p:spPr>
        <p:txBody>
          <a:bodyPr wrap="square" rtlCol="0">
            <a:spAutoFit/>
          </a:bodyPr>
          <a:lstStyle/>
          <a:p>
            <a:r>
              <a:rPr lang="en-US" sz="1050" b="1" dirty="0">
                <a:solidFill>
                  <a:srgbClr val="7030A0"/>
                </a:solidFill>
              </a:rPr>
              <a:t>Contabo Windows VPS </a:t>
            </a:r>
          </a:p>
          <a:p>
            <a:r>
              <a:rPr lang="en-US" sz="1050" b="1" dirty="0">
                <a:solidFill>
                  <a:srgbClr val="7030A0"/>
                </a:solidFill>
              </a:rPr>
              <a:t>+ VPS storage disk</a:t>
            </a:r>
            <a:endParaRPr lang="en-TZ" sz="1050" b="1" dirty="0">
              <a:solidFill>
                <a:srgbClr val="7030A0"/>
              </a:solidFill>
            </a:endParaRPr>
          </a:p>
        </p:txBody>
      </p:sp>
      <p:cxnSp>
        <p:nvCxnSpPr>
          <p:cNvPr id="117" name="Straight Arrow Connector 116">
            <a:extLst>
              <a:ext uri="{FF2B5EF4-FFF2-40B4-BE49-F238E27FC236}">
                <a16:creationId xmlns:a16="http://schemas.microsoft.com/office/drawing/2014/main" id="{175F6083-096C-43EB-A645-7D87E84537BB}"/>
              </a:ext>
            </a:extLst>
          </p:cNvPr>
          <p:cNvCxnSpPr>
            <a:cxnSpLocks/>
            <a:endCxn id="108" idx="1"/>
          </p:cNvCxnSpPr>
          <p:nvPr/>
        </p:nvCxnSpPr>
        <p:spPr>
          <a:xfrm>
            <a:off x="4035385" y="5406545"/>
            <a:ext cx="1048543" cy="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9" name="Straight Arrow Connector 118">
            <a:extLst>
              <a:ext uri="{FF2B5EF4-FFF2-40B4-BE49-F238E27FC236}">
                <a16:creationId xmlns:a16="http://schemas.microsoft.com/office/drawing/2014/main" id="{CCBB3186-E3CD-4CF6-9660-4F259CEBF93F}"/>
              </a:ext>
            </a:extLst>
          </p:cNvPr>
          <p:cNvCxnSpPr>
            <a:cxnSpLocks/>
          </p:cNvCxnSpPr>
          <p:nvPr/>
        </p:nvCxnSpPr>
        <p:spPr>
          <a:xfrm>
            <a:off x="4018669" y="5727614"/>
            <a:ext cx="231039" cy="21019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0" name="Rectangle 139">
            <a:extLst>
              <a:ext uri="{FF2B5EF4-FFF2-40B4-BE49-F238E27FC236}">
                <a16:creationId xmlns:a16="http://schemas.microsoft.com/office/drawing/2014/main" id="{58834FF5-318A-4906-907B-6518CDFDE1AC}"/>
              </a:ext>
            </a:extLst>
          </p:cNvPr>
          <p:cNvSpPr/>
          <p:nvPr/>
        </p:nvSpPr>
        <p:spPr>
          <a:xfrm>
            <a:off x="6104139" y="1135549"/>
            <a:ext cx="1161208" cy="116497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50" name="Shape 9">
            <a:extLst>
              <a:ext uri="{FF2B5EF4-FFF2-40B4-BE49-F238E27FC236}">
                <a16:creationId xmlns:a16="http://schemas.microsoft.com/office/drawing/2014/main" id="{1E3A9933-9CEC-4C66-A203-361D197D5E2D}"/>
              </a:ext>
            </a:extLst>
          </p:cNvPr>
          <p:cNvSpPr/>
          <p:nvPr/>
        </p:nvSpPr>
        <p:spPr>
          <a:xfrm>
            <a:off x="5185836" y="5793560"/>
            <a:ext cx="511022" cy="347449"/>
          </a:xfrm>
          <a:prstGeom prst="roundRect">
            <a:avLst>
              <a:gd name="adj" fmla="val 11111"/>
            </a:avLst>
          </a:prstGeom>
          <a:solidFill>
            <a:srgbClr val="2A3878"/>
          </a:solidFill>
          <a:ln w="19050">
            <a:solidFill>
              <a:srgbClr val="2EC4B6"/>
            </a:solidFill>
            <a:prstDash val="solid"/>
          </a:ln>
        </p:spPr>
      </p:sp>
      <p:sp>
        <p:nvSpPr>
          <p:cNvPr id="151" name="Text 10">
            <a:extLst>
              <a:ext uri="{FF2B5EF4-FFF2-40B4-BE49-F238E27FC236}">
                <a16:creationId xmlns:a16="http://schemas.microsoft.com/office/drawing/2014/main" id="{BAD82516-1F0E-4878-9CE7-EC138BFA76FF}"/>
              </a:ext>
            </a:extLst>
          </p:cNvPr>
          <p:cNvSpPr/>
          <p:nvPr/>
        </p:nvSpPr>
        <p:spPr>
          <a:xfrm>
            <a:off x="5185836" y="5793560"/>
            <a:ext cx="511022" cy="311102"/>
          </a:xfrm>
          <a:prstGeom prst="rect">
            <a:avLst/>
          </a:prstGeom>
          <a:noFill/>
          <a:ln/>
        </p:spPr>
        <p:txBody>
          <a:bodyPr wrap="square" lIns="0" tIns="0" rIns="0" bIns="0" rtlCol="0" anchor="ctr"/>
          <a:lstStyle/>
          <a:p>
            <a:pPr marL="0" indent="0" algn="ctr">
              <a:buNone/>
            </a:pPr>
            <a:r>
              <a:rPr lang="en-US" sz="700" b="1" dirty="0">
                <a:solidFill>
                  <a:schemeClr val="bg1"/>
                </a:solidFill>
              </a:rPr>
              <a:t>Python Push Worker</a:t>
            </a:r>
          </a:p>
        </p:txBody>
      </p:sp>
      <p:cxnSp>
        <p:nvCxnSpPr>
          <p:cNvPr id="157" name="Straight Arrow Connector 156">
            <a:extLst>
              <a:ext uri="{FF2B5EF4-FFF2-40B4-BE49-F238E27FC236}">
                <a16:creationId xmlns:a16="http://schemas.microsoft.com/office/drawing/2014/main" id="{CA6026DE-7AEF-4D21-9C44-EE1074A7109D}"/>
              </a:ext>
            </a:extLst>
          </p:cNvPr>
          <p:cNvCxnSpPr>
            <a:cxnSpLocks/>
            <a:stCxn id="110" idx="3"/>
            <a:endCxn id="150" idx="1"/>
          </p:cNvCxnSpPr>
          <p:nvPr/>
        </p:nvCxnSpPr>
        <p:spPr>
          <a:xfrm>
            <a:off x="4788560" y="5943753"/>
            <a:ext cx="397276" cy="2353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2" name="Straight Arrow Connector 161">
            <a:extLst>
              <a:ext uri="{FF2B5EF4-FFF2-40B4-BE49-F238E27FC236}">
                <a16:creationId xmlns:a16="http://schemas.microsoft.com/office/drawing/2014/main" id="{01430290-65A7-4D20-B726-529AECEB8EBA}"/>
              </a:ext>
            </a:extLst>
          </p:cNvPr>
          <p:cNvCxnSpPr>
            <a:cxnSpLocks/>
          </p:cNvCxnSpPr>
          <p:nvPr/>
        </p:nvCxnSpPr>
        <p:spPr>
          <a:xfrm flipH="1">
            <a:off x="4569097" y="5545277"/>
            <a:ext cx="511021" cy="222136"/>
          </a:xfrm>
          <a:prstGeom prst="straightConnector1">
            <a:avLst/>
          </a:prstGeom>
          <a:ln w="2857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84" name="Straight Arrow Connector 83">
            <a:extLst>
              <a:ext uri="{FF2B5EF4-FFF2-40B4-BE49-F238E27FC236}">
                <a16:creationId xmlns:a16="http://schemas.microsoft.com/office/drawing/2014/main" id="{9D4B16E4-1A13-47EC-A5B9-09BA616987D1}"/>
              </a:ext>
            </a:extLst>
          </p:cNvPr>
          <p:cNvCxnSpPr>
            <a:cxnSpLocks/>
          </p:cNvCxnSpPr>
          <p:nvPr/>
        </p:nvCxnSpPr>
        <p:spPr>
          <a:xfrm flipV="1">
            <a:off x="6925314" y="4832013"/>
            <a:ext cx="1185328" cy="598410"/>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6" name="Star: 5 Points 45">
            <a:extLst>
              <a:ext uri="{FF2B5EF4-FFF2-40B4-BE49-F238E27FC236}">
                <a16:creationId xmlns:a16="http://schemas.microsoft.com/office/drawing/2014/main" id="{B3507210-4098-4CBB-A04C-5C895FB491BC}"/>
              </a:ext>
            </a:extLst>
          </p:cNvPr>
          <p:cNvSpPr/>
          <p:nvPr/>
        </p:nvSpPr>
        <p:spPr>
          <a:xfrm>
            <a:off x="4707513" y="5568187"/>
            <a:ext cx="197193" cy="16809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04" name="Star: 5 Points 103">
            <a:extLst>
              <a:ext uri="{FF2B5EF4-FFF2-40B4-BE49-F238E27FC236}">
                <a16:creationId xmlns:a16="http://schemas.microsoft.com/office/drawing/2014/main" id="{EF6C0246-5625-4E60-9234-CC8084277DE0}"/>
              </a:ext>
            </a:extLst>
          </p:cNvPr>
          <p:cNvSpPr/>
          <p:nvPr/>
        </p:nvSpPr>
        <p:spPr>
          <a:xfrm>
            <a:off x="5893029" y="6054322"/>
            <a:ext cx="197193" cy="16809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51" name="TextBox 50">
            <a:extLst>
              <a:ext uri="{FF2B5EF4-FFF2-40B4-BE49-F238E27FC236}">
                <a16:creationId xmlns:a16="http://schemas.microsoft.com/office/drawing/2014/main" id="{E4F30B8C-A4CD-4284-AFEB-BE2B57E8257A}"/>
              </a:ext>
            </a:extLst>
          </p:cNvPr>
          <p:cNvSpPr txBox="1"/>
          <p:nvPr/>
        </p:nvSpPr>
        <p:spPr>
          <a:xfrm>
            <a:off x="5995124" y="6055414"/>
            <a:ext cx="3211651" cy="246221"/>
          </a:xfrm>
          <a:prstGeom prst="rect">
            <a:avLst/>
          </a:prstGeom>
          <a:noFill/>
        </p:spPr>
        <p:txBody>
          <a:bodyPr wrap="square" rtlCol="0">
            <a:spAutoFit/>
          </a:bodyPr>
          <a:lstStyle/>
          <a:p>
            <a:r>
              <a:rPr lang="en-US" sz="1000" b="1" dirty="0">
                <a:solidFill>
                  <a:srgbClr val="0070C0"/>
                </a:solidFill>
              </a:rPr>
              <a:t>= Cross verification &amp; Timestamp adjustment calculation</a:t>
            </a:r>
            <a:endParaRPr lang="en-TZ" sz="1000" b="1" dirty="0">
              <a:solidFill>
                <a:srgbClr val="0070C0"/>
              </a:solidFill>
            </a:endParaRPr>
          </a:p>
        </p:txBody>
      </p:sp>
      <p:cxnSp>
        <p:nvCxnSpPr>
          <p:cNvPr id="3" name="Straight Arrow Connector 2">
            <a:extLst>
              <a:ext uri="{FF2B5EF4-FFF2-40B4-BE49-F238E27FC236}">
                <a16:creationId xmlns:a16="http://schemas.microsoft.com/office/drawing/2014/main" id="{EEF5FEBA-5622-4A6F-8651-296AC3050EC3}"/>
              </a:ext>
            </a:extLst>
          </p:cNvPr>
          <p:cNvCxnSpPr>
            <a:endCxn id="7" idx="3"/>
          </p:cNvCxnSpPr>
          <p:nvPr/>
        </p:nvCxnSpPr>
        <p:spPr>
          <a:xfrm flipH="1">
            <a:off x="7161335" y="1041888"/>
            <a:ext cx="1516672" cy="4254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8D65F2B-CDF5-4979-8EA8-FA42884635D0}"/>
              </a:ext>
            </a:extLst>
          </p:cNvPr>
          <p:cNvSpPr txBox="1"/>
          <p:nvPr/>
        </p:nvSpPr>
        <p:spPr>
          <a:xfrm>
            <a:off x="8748639" y="720050"/>
            <a:ext cx="2448658" cy="1200329"/>
          </a:xfrm>
          <a:prstGeom prst="rect">
            <a:avLst/>
          </a:prstGeom>
          <a:noFill/>
        </p:spPr>
        <p:txBody>
          <a:bodyPr wrap="square" rtlCol="0">
            <a:spAutoFit/>
          </a:bodyPr>
          <a:lstStyle/>
          <a:p>
            <a:r>
              <a:rPr lang="en-US" sz="1200" dirty="0"/>
              <a:t>Apart from OHLC data display on </a:t>
            </a:r>
            <a:r>
              <a:rPr lang="en-US" sz="1200" dirty="0" err="1"/>
              <a:t>TradingView</a:t>
            </a:r>
            <a:r>
              <a:rPr lang="en-US" sz="1200" dirty="0"/>
              <a:t> Lightweight Charts, Do Indicator Data in the form of line plots, moving averages, symbols, etc. are displayed on </a:t>
            </a:r>
            <a:r>
              <a:rPr lang="en-US" sz="1200" dirty="0" err="1"/>
              <a:t>TradingView</a:t>
            </a:r>
            <a:r>
              <a:rPr lang="en-US" sz="1200" dirty="0"/>
              <a:t> Lightweight Charts ? </a:t>
            </a:r>
            <a:endParaRPr lang="en-TZ" sz="1200" dirty="0"/>
          </a:p>
        </p:txBody>
      </p:sp>
      <p:sp>
        <p:nvSpPr>
          <p:cNvPr id="80" name="TextBox 79">
            <a:extLst>
              <a:ext uri="{FF2B5EF4-FFF2-40B4-BE49-F238E27FC236}">
                <a16:creationId xmlns:a16="http://schemas.microsoft.com/office/drawing/2014/main" id="{3970BEA6-C3BB-407A-BDFC-90606964F8DC}"/>
              </a:ext>
            </a:extLst>
          </p:cNvPr>
          <p:cNvSpPr txBox="1"/>
          <p:nvPr/>
        </p:nvSpPr>
        <p:spPr>
          <a:xfrm>
            <a:off x="342900" y="296097"/>
            <a:ext cx="4737218" cy="523220"/>
          </a:xfrm>
          <a:prstGeom prst="rect">
            <a:avLst/>
          </a:prstGeom>
          <a:noFill/>
        </p:spPr>
        <p:txBody>
          <a:bodyPr wrap="square" rtlCol="0">
            <a:spAutoFit/>
          </a:bodyPr>
          <a:lstStyle/>
          <a:p>
            <a:r>
              <a:rPr lang="en-US" sz="2800" dirty="0"/>
              <a:t>OHLC WebSocket Data Pipeline</a:t>
            </a:r>
            <a:endParaRPr lang="en-TZ" sz="2800" dirty="0"/>
          </a:p>
        </p:txBody>
      </p:sp>
    </p:spTree>
    <p:extLst>
      <p:ext uri="{BB962C8B-B14F-4D97-AF65-F5344CB8AC3E}">
        <p14:creationId xmlns:p14="http://schemas.microsoft.com/office/powerpoint/2010/main" val="96951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1D49B4C-B9DA-429C-B135-1E018B48A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674" y="1126347"/>
            <a:ext cx="7444598" cy="5440576"/>
          </a:xfrm>
          <a:prstGeom prst="rect">
            <a:avLst/>
          </a:prstGeom>
        </p:spPr>
      </p:pic>
      <p:sp>
        <p:nvSpPr>
          <p:cNvPr id="8" name="TextBox 7">
            <a:extLst>
              <a:ext uri="{FF2B5EF4-FFF2-40B4-BE49-F238E27FC236}">
                <a16:creationId xmlns:a16="http://schemas.microsoft.com/office/drawing/2014/main" id="{BBA8B3B9-876F-4508-80F6-C09A8650DA95}"/>
              </a:ext>
            </a:extLst>
          </p:cNvPr>
          <p:cNvSpPr txBox="1"/>
          <p:nvPr/>
        </p:nvSpPr>
        <p:spPr>
          <a:xfrm>
            <a:off x="342899" y="296097"/>
            <a:ext cx="6418385" cy="523220"/>
          </a:xfrm>
          <a:prstGeom prst="rect">
            <a:avLst/>
          </a:prstGeom>
          <a:noFill/>
        </p:spPr>
        <p:txBody>
          <a:bodyPr wrap="square" rtlCol="0">
            <a:spAutoFit/>
          </a:bodyPr>
          <a:lstStyle/>
          <a:p>
            <a:r>
              <a:rPr lang="en-US" sz="2800" dirty="0"/>
              <a:t>Switching between Socket.IO and Flask-</a:t>
            </a:r>
            <a:r>
              <a:rPr lang="en-US" sz="2800" dirty="0" err="1"/>
              <a:t>api</a:t>
            </a:r>
            <a:endParaRPr lang="en-TZ" sz="2800" dirty="0"/>
          </a:p>
        </p:txBody>
      </p:sp>
      <p:sp>
        <p:nvSpPr>
          <p:cNvPr id="9" name="TextBox 8">
            <a:extLst>
              <a:ext uri="{FF2B5EF4-FFF2-40B4-BE49-F238E27FC236}">
                <a16:creationId xmlns:a16="http://schemas.microsoft.com/office/drawing/2014/main" id="{0EFD68CD-CE32-4E8A-8EC2-CE8833066D3C}"/>
              </a:ext>
            </a:extLst>
          </p:cNvPr>
          <p:cNvSpPr txBox="1"/>
          <p:nvPr/>
        </p:nvSpPr>
        <p:spPr>
          <a:xfrm>
            <a:off x="8291146" y="1521069"/>
            <a:ext cx="3556488" cy="4524315"/>
          </a:xfrm>
          <a:prstGeom prst="rect">
            <a:avLst/>
          </a:prstGeom>
          <a:noFill/>
        </p:spPr>
        <p:txBody>
          <a:bodyPr wrap="square" rtlCol="0">
            <a:spAutoFit/>
          </a:bodyPr>
          <a:lstStyle/>
          <a:p>
            <a:r>
              <a:rPr lang="en-US" sz="1200" b="1" dirty="0"/>
              <a:t>Step 1 </a:t>
            </a:r>
            <a:r>
              <a:rPr lang="en-US" sz="1200" dirty="0"/>
              <a:t>(Try Gateway / Socket.IO First): When checking price alert conditions for XAUUSD, </a:t>
            </a:r>
            <a:r>
              <a:rPr lang="en-US" sz="1200" dirty="0" err="1"/>
              <a:t>fetchCurrentPrice</a:t>
            </a:r>
            <a:r>
              <a:rPr lang="en-US" sz="1200" dirty="0"/>
              <a:t>() queries market_data_v6 (populated in real-time via </a:t>
            </a:r>
            <a:r>
              <a:rPr lang="en-US" sz="1200" dirty="0" err="1"/>
              <a:t>NestJS</a:t>
            </a:r>
            <a:r>
              <a:rPr lang="en-US" sz="1200" dirty="0"/>
              <a:t> Gateway &amp; Redis Socket.IO stream).</a:t>
            </a:r>
          </a:p>
          <a:p>
            <a:endParaRPr lang="en-US" sz="1200" dirty="0"/>
          </a:p>
          <a:p>
            <a:r>
              <a:rPr lang="en-US" sz="1200" b="1" dirty="0"/>
              <a:t>Step 2 </a:t>
            </a:r>
            <a:r>
              <a:rPr lang="en-US" sz="1200" dirty="0"/>
              <a:t>(Null Check): If </a:t>
            </a:r>
            <a:r>
              <a:rPr lang="en-US" sz="1200" dirty="0" err="1"/>
              <a:t>gatewayPrice</a:t>
            </a:r>
            <a:r>
              <a:rPr lang="en-US" sz="1200" dirty="0"/>
              <a:t> !== null, it immediately returns the real-time pipeline price. Flask-</a:t>
            </a:r>
            <a:r>
              <a:rPr lang="en-US" sz="1200" dirty="0" err="1"/>
              <a:t>api</a:t>
            </a:r>
            <a:r>
              <a:rPr lang="en-US" sz="1200" dirty="0"/>
              <a:t> is bypassed.</a:t>
            </a:r>
          </a:p>
          <a:p>
            <a:endParaRPr lang="en-US" sz="1200" dirty="0"/>
          </a:p>
          <a:p>
            <a:r>
              <a:rPr lang="en-US" sz="1200" b="1" dirty="0"/>
              <a:t>Step 3 </a:t>
            </a:r>
            <a:r>
              <a:rPr lang="en-US" sz="1200" dirty="0"/>
              <a:t>(Automatic Fallback to Flask-</a:t>
            </a:r>
            <a:r>
              <a:rPr lang="en-US" sz="1200" dirty="0" err="1"/>
              <a:t>api</a:t>
            </a:r>
            <a:r>
              <a:rPr lang="en-US" sz="1200" dirty="0"/>
              <a:t>): If </a:t>
            </a:r>
            <a:r>
              <a:rPr lang="en-US" sz="1200" dirty="0" err="1"/>
              <a:t>gatewayPrice</a:t>
            </a:r>
            <a:r>
              <a:rPr lang="en-US" sz="1200" dirty="0"/>
              <a:t> === null (meaning the Socket.IO stream is disconnected, unpopulated, or delayed), execution automatically falls through to:</a:t>
            </a:r>
          </a:p>
          <a:p>
            <a:endParaRPr lang="en-US" sz="1200" dirty="0"/>
          </a:p>
          <a:p>
            <a:r>
              <a:rPr lang="en-US" sz="1200" b="1" dirty="0"/>
              <a:t>Typescript</a:t>
            </a:r>
          </a:p>
          <a:p>
            <a:endParaRPr lang="en-US" sz="1200" dirty="0"/>
          </a:p>
          <a:p>
            <a:r>
              <a:rPr lang="en-US" sz="1200" dirty="0"/>
              <a:t>const response = await fetch(`${MT5_API_URL}/</a:t>
            </a:r>
            <a:r>
              <a:rPr lang="en-US" sz="1200" dirty="0" err="1"/>
              <a:t>api</a:t>
            </a:r>
            <a:r>
              <a:rPr lang="en-US" sz="1200" dirty="0"/>
              <a:t>/indicators/${symbol}/${timeframe}?bars=100`);</a:t>
            </a:r>
          </a:p>
          <a:p>
            <a:endParaRPr lang="en-US" sz="1200" dirty="0"/>
          </a:p>
          <a:p>
            <a:r>
              <a:rPr lang="en-US" sz="1200" dirty="0"/>
              <a:t>The alert checker automatically switches to query http://localhost:5000 (Flask-</a:t>
            </a:r>
            <a:r>
              <a:rPr lang="en-US" sz="1200" dirty="0" err="1"/>
              <a:t>api</a:t>
            </a:r>
            <a:r>
              <a:rPr lang="en-US" sz="1200" dirty="0"/>
              <a:t>) to fetch OHLCV prices directly from the MT5 terminal connection, ensuring price alert monitoring never halts!</a:t>
            </a:r>
            <a:endParaRPr lang="en-TZ" sz="1200" dirty="0"/>
          </a:p>
        </p:txBody>
      </p:sp>
    </p:spTree>
    <p:extLst>
      <p:ext uri="{BB962C8B-B14F-4D97-AF65-F5344CB8AC3E}">
        <p14:creationId xmlns:p14="http://schemas.microsoft.com/office/powerpoint/2010/main" val="3012049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FEFF70-586D-4632-B756-7858B6CB23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23739"/>
            <a:ext cx="12192000" cy="5206276"/>
          </a:xfrm>
          <a:prstGeom prst="rect">
            <a:avLst/>
          </a:prstGeom>
        </p:spPr>
      </p:pic>
      <p:sp>
        <p:nvSpPr>
          <p:cNvPr id="6" name="TextBox 5">
            <a:extLst>
              <a:ext uri="{FF2B5EF4-FFF2-40B4-BE49-F238E27FC236}">
                <a16:creationId xmlns:a16="http://schemas.microsoft.com/office/drawing/2014/main" id="{7CBE9170-1BB2-4FC5-A962-38EDCA66FA11}"/>
              </a:ext>
            </a:extLst>
          </p:cNvPr>
          <p:cNvSpPr txBox="1"/>
          <p:nvPr/>
        </p:nvSpPr>
        <p:spPr>
          <a:xfrm>
            <a:off x="342899" y="296097"/>
            <a:ext cx="10537582" cy="523220"/>
          </a:xfrm>
          <a:prstGeom prst="rect">
            <a:avLst/>
          </a:prstGeom>
          <a:noFill/>
        </p:spPr>
        <p:txBody>
          <a:bodyPr wrap="square" rtlCol="0">
            <a:spAutoFit/>
          </a:bodyPr>
          <a:lstStyle/>
          <a:p>
            <a:r>
              <a:rPr lang="en-US" sz="2800" dirty="0"/>
              <a:t>Types of Line &amp; Symbol Plots Display on </a:t>
            </a:r>
            <a:r>
              <a:rPr lang="en-US" sz="2800" dirty="0" err="1"/>
              <a:t>TradingView</a:t>
            </a:r>
            <a:r>
              <a:rPr lang="en-US" sz="2800" dirty="0"/>
              <a:t> Lightweight Charts</a:t>
            </a:r>
            <a:endParaRPr lang="en-TZ" sz="2800" dirty="0"/>
          </a:p>
        </p:txBody>
      </p:sp>
    </p:spTree>
    <p:extLst>
      <p:ext uri="{BB962C8B-B14F-4D97-AF65-F5344CB8AC3E}">
        <p14:creationId xmlns:p14="http://schemas.microsoft.com/office/powerpoint/2010/main" val="85339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5" name="Straight Arrow Connector 114">
            <a:extLst>
              <a:ext uri="{FF2B5EF4-FFF2-40B4-BE49-F238E27FC236}">
                <a16:creationId xmlns:a16="http://schemas.microsoft.com/office/drawing/2014/main" id="{C1248623-BF01-4A06-B59F-5285FF0A92AD}"/>
              </a:ext>
            </a:extLst>
          </p:cNvPr>
          <p:cNvCxnSpPr>
            <a:cxnSpLocks/>
            <a:stCxn id="150" idx="3"/>
          </p:cNvCxnSpPr>
          <p:nvPr/>
        </p:nvCxnSpPr>
        <p:spPr>
          <a:xfrm flipV="1">
            <a:off x="5732027" y="6010638"/>
            <a:ext cx="708347" cy="18964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Shape 9">
            <a:extLst>
              <a:ext uri="{FF2B5EF4-FFF2-40B4-BE49-F238E27FC236}">
                <a16:creationId xmlns:a16="http://schemas.microsoft.com/office/drawing/2014/main" id="{AE3A3FF8-54AC-4DE8-B86D-4A18AA8F2E2D}"/>
              </a:ext>
            </a:extLst>
          </p:cNvPr>
          <p:cNvSpPr/>
          <p:nvPr/>
        </p:nvSpPr>
        <p:spPr>
          <a:xfrm>
            <a:off x="3395652" y="5289747"/>
            <a:ext cx="666745" cy="1009330"/>
          </a:xfrm>
          <a:prstGeom prst="roundRect">
            <a:avLst>
              <a:gd name="adj" fmla="val 11111"/>
            </a:avLst>
          </a:prstGeom>
          <a:solidFill>
            <a:srgbClr val="2A3878"/>
          </a:solidFill>
          <a:ln w="19050">
            <a:solidFill>
              <a:srgbClr val="2EC4B6"/>
            </a:solidFill>
            <a:prstDash val="solid"/>
          </a:ln>
        </p:spPr>
      </p:sp>
      <p:sp>
        <p:nvSpPr>
          <p:cNvPr id="15" name="Text 10">
            <a:extLst>
              <a:ext uri="{FF2B5EF4-FFF2-40B4-BE49-F238E27FC236}">
                <a16:creationId xmlns:a16="http://schemas.microsoft.com/office/drawing/2014/main" id="{48AE8058-0694-460F-84F4-810435AEF18E}"/>
              </a:ext>
            </a:extLst>
          </p:cNvPr>
          <p:cNvSpPr/>
          <p:nvPr/>
        </p:nvSpPr>
        <p:spPr>
          <a:xfrm>
            <a:off x="3395652" y="5454870"/>
            <a:ext cx="666745" cy="7009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MT5 Terminals</a:t>
            </a:r>
          </a:p>
        </p:txBody>
      </p:sp>
      <p:sp>
        <p:nvSpPr>
          <p:cNvPr id="47" name="Shape 9">
            <a:extLst>
              <a:ext uri="{FF2B5EF4-FFF2-40B4-BE49-F238E27FC236}">
                <a16:creationId xmlns:a16="http://schemas.microsoft.com/office/drawing/2014/main" id="{29AF0ECB-1825-4F8A-BAFD-BCF2F0F54B9C}"/>
              </a:ext>
            </a:extLst>
          </p:cNvPr>
          <p:cNvSpPr/>
          <p:nvPr/>
        </p:nvSpPr>
        <p:spPr>
          <a:xfrm>
            <a:off x="7385062" y="4740376"/>
            <a:ext cx="511022" cy="327570"/>
          </a:xfrm>
          <a:prstGeom prst="roundRect">
            <a:avLst>
              <a:gd name="adj" fmla="val 11111"/>
            </a:avLst>
          </a:prstGeom>
          <a:solidFill>
            <a:srgbClr val="2A3878"/>
          </a:solidFill>
          <a:ln w="19050">
            <a:solidFill>
              <a:srgbClr val="2EC4B6"/>
            </a:solidFill>
            <a:prstDash val="solid"/>
          </a:ln>
        </p:spPr>
      </p:sp>
      <p:sp>
        <p:nvSpPr>
          <p:cNvPr id="48" name="Text 10">
            <a:extLst>
              <a:ext uri="{FF2B5EF4-FFF2-40B4-BE49-F238E27FC236}">
                <a16:creationId xmlns:a16="http://schemas.microsoft.com/office/drawing/2014/main" id="{B4F7A524-341A-473A-AB6A-49C0A75808AD}"/>
              </a:ext>
            </a:extLst>
          </p:cNvPr>
          <p:cNvSpPr/>
          <p:nvPr/>
        </p:nvSpPr>
        <p:spPr>
          <a:xfrm>
            <a:off x="7385062" y="4825743"/>
            <a:ext cx="511022" cy="15679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cs typeface="Calibri" pitchFamily="34" charset="-120"/>
              </a:rPr>
              <a:t>Postgres</a:t>
            </a:r>
            <a:endParaRPr lang="en-US" sz="800" dirty="0"/>
          </a:p>
        </p:txBody>
      </p:sp>
      <p:sp>
        <p:nvSpPr>
          <p:cNvPr id="57" name="Rectangle 56">
            <a:extLst>
              <a:ext uri="{FF2B5EF4-FFF2-40B4-BE49-F238E27FC236}">
                <a16:creationId xmlns:a16="http://schemas.microsoft.com/office/drawing/2014/main" id="{4970030B-7C9E-476E-A63E-88497F30E410}"/>
              </a:ext>
            </a:extLst>
          </p:cNvPr>
          <p:cNvSpPr/>
          <p:nvPr/>
        </p:nvSpPr>
        <p:spPr>
          <a:xfrm>
            <a:off x="5896587" y="2766726"/>
            <a:ext cx="2816589" cy="3489001"/>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58" name="TextBox 57">
            <a:extLst>
              <a:ext uri="{FF2B5EF4-FFF2-40B4-BE49-F238E27FC236}">
                <a16:creationId xmlns:a16="http://schemas.microsoft.com/office/drawing/2014/main" id="{A4540CF9-D659-417D-9008-1814182FC7A3}"/>
              </a:ext>
            </a:extLst>
          </p:cNvPr>
          <p:cNvSpPr txBox="1"/>
          <p:nvPr/>
        </p:nvSpPr>
        <p:spPr>
          <a:xfrm>
            <a:off x="8126038" y="2535337"/>
            <a:ext cx="760534" cy="261610"/>
          </a:xfrm>
          <a:prstGeom prst="rect">
            <a:avLst/>
          </a:prstGeom>
          <a:noFill/>
        </p:spPr>
        <p:txBody>
          <a:bodyPr wrap="square" rtlCol="0">
            <a:spAutoFit/>
          </a:bodyPr>
          <a:lstStyle/>
          <a:p>
            <a:r>
              <a:rPr lang="en-US" sz="1100" b="1" dirty="0">
                <a:solidFill>
                  <a:srgbClr val="00B0F0"/>
                </a:solidFill>
              </a:rPr>
              <a:t>Railway</a:t>
            </a:r>
            <a:endParaRPr lang="en-TZ" sz="1100" b="1" dirty="0">
              <a:solidFill>
                <a:srgbClr val="00B0F0"/>
              </a:solidFill>
            </a:endParaRPr>
          </a:p>
        </p:txBody>
      </p:sp>
      <p:sp>
        <p:nvSpPr>
          <p:cNvPr id="60" name="Text 10">
            <a:extLst>
              <a:ext uri="{FF2B5EF4-FFF2-40B4-BE49-F238E27FC236}">
                <a16:creationId xmlns:a16="http://schemas.microsoft.com/office/drawing/2014/main" id="{CD81F4B2-225B-4DA7-9B85-A4A30B8153E3}"/>
              </a:ext>
            </a:extLst>
          </p:cNvPr>
          <p:cNvSpPr/>
          <p:nvPr/>
        </p:nvSpPr>
        <p:spPr>
          <a:xfrm>
            <a:off x="6559795" y="2068764"/>
            <a:ext cx="566230" cy="457200"/>
          </a:xfrm>
          <a:prstGeom prst="rect">
            <a:avLst/>
          </a:prstGeom>
          <a:noFill/>
          <a:ln/>
        </p:spPr>
        <p:txBody>
          <a:bodyPr wrap="square" lIns="0" tIns="0" rIns="0" bIns="0" rtlCol="0" anchor="ctr"/>
          <a:lstStyle/>
          <a:p>
            <a:pPr marL="0" indent="0" algn="ctr">
              <a:buNone/>
            </a:pPr>
            <a:r>
              <a:rPr lang="en-US" sz="800" b="1" dirty="0">
                <a:solidFill>
                  <a:schemeClr val="bg1"/>
                </a:solidFill>
              </a:rPr>
              <a:t>API Client</a:t>
            </a:r>
          </a:p>
        </p:txBody>
      </p:sp>
      <p:sp>
        <p:nvSpPr>
          <p:cNvPr id="61" name="Shape 9">
            <a:extLst>
              <a:ext uri="{FF2B5EF4-FFF2-40B4-BE49-F238E27FC236}">
                <a16:creationId xmlns:a16="http://schemas.microsoft.com/office/drawing/2014/main" id="{4B5D3C76-BCCB-43E0-9D69-FBD4E7B8EFC8}"/>
              </a:ext>
            </a:extLst>
          </p:cNvPr>
          <p:cNvSpPr/>
          <p:nvPr/>
        </p:nvSpPr>
        <p:spPr>
          <a:xfrm>
            <a:off x="7390960" y="5596562"/>
            <a:ext cx="511022" cy="555716"/>
          </a:xfrm>
          <a:prstGeom prst="roundRect">
            <a:avLst>
              <a:gd name="adj" fmla="val 11111"/>
            </a:avLst>
          </a:prstGeom>
          <a:solidFill>
            <a:srgbClr val="2A3878"/>
          </a:solidFill>
          <a:ln w="19050">
            <a:solidFill>
              <a:srgbClr val="2EC4B6"/>
            </a:solidFill>
            <a:prstDash val="solid"/>
          </a:ln>
        </p:spPr>
      </p:sp>
      <p:sp>
        <p:nvSpPr>
          <p:cNvPr id="62" name="Text 10">
            <a:extLst>
              <a:ext uri="{FF2B5EF4-FFF2-40B4-BE49-F238E27FC236}">
                <a16:creationId xmlns:a16="http://schemas.microsoft.com/office/drawing/2014/main" id="{F9FB100E-A39F-46D5-AA90-2BF20DE23E06}"/>
              </a:ext>
            </a:extLst>
          </p:cNvPr>
          <p:cNvSpPr/>
          <p:nvPr/>
        </p:nvSpPr>
        <p:spPr>
          <a:xfrm>
            <a:off x="7390960" y="5688714"/>
            <a:ext cx="511022" cy="457200"/>
          </a:xfrm>
          <a:prstGeom prst="rect">
            <a:avLst/>
          </a:prstGeom>
          <a:noFill/>
          <a:ln/>
        </p:spPr>
        <p:txBody>
          <a:bodyPr wrap="square" lIns="0" tIns="0" rIns="0" bIns="0" rtlCol="0" anchor="ctr"/>
          <a:lstStyle/>
          <a:p>
            <a:pPr marL="0" indent="0" algn="ctr">
              <a:buNone/>
            </a:pPr>
            <a:r>
              <a:rPr lang="en-US" sz="800" b="1" dirty="0" err="1">
                <a:solidFill>
                  <a:srgbClr val="FFFFFF"/>
                </a:solidFill>
                <a:latin typeface="Calibri" pitchFamily="34" charset="0"/>
                <a:cs typeface="Calibri" pitchFamily="34" charset="-120"/>
              </a:rPr>
              <a:t>Pgbouncer</a:t>
            </a:r>
            <a:endParaRPr lang="en-US" sz="800" dirty="0"/>
          </a:p>
        </p:txBody>
      </p:sp>
      <p:sp>
        <p:nvSpPr>
          <p:cNvPr id="63" name="Shape 9">
            <a:extLst>
              <a:ext uri="{FF2B5EF4-FFF2-40B4-BE49-F238E27FC236}">
                <a16:creationId xmlns:a16="http://schemas.microsoft.com/office/drawing/2014/main" id="{C22AED8E-BA7A-4035-AFF0-B5DFD20780B8}"/>
              </a:ext>
            </a:extLst>
          </p:cNvPr>
          <p:cNvSpPr/>
          <p:nvPr/>
        </p:nvSpPr>
        <p:spPr>
          <a:xfrm>
            <a:off x="6440374" y="5512437"/>
            <a:ext cx="511023" cy="658368"/>
          </a:xfrm>
          <a:prstGeom prst="roundRect">
            <a:avLst>
              <a:gd name="adj" fmla="val 11111"/>
            </a:avLst>
          </a:prstGeom>
          <a:solidFill>
            <a:srgbClr val="2A3878"/>
          </a:solidFill>
          <a:ln w="19050">
            <a:solidFill>
              <a:srgbClr val="2EC4B6"/>
            </a:solidFill>
            <a:prstDash val="solid"/>
          </a:ln>
        </p:spPr>
      </p:sp>
      <p:sp>
        <p:nvSpPr>
          <p:cNvPr id="64" name="Text 10">
            <a:extLst>
              <a:ext uri="{FF2B5EF4-FFF2-40B4-BE49-F238E27FC236}">
                <a16:creationId xmlns:a16="http://schemas.microsoft.com/office/drawing/2014/main" id="{A4961206-32FA-4C71-B502-2ABC406437BB}"/>
              </a:ext>
            </a:extLst>
          </p:cNvPr>
          <p:cNvSpPr/>
          <p:nvPr/>
        </p:nvSpPr>
        <p:spPr>
          <a:xfrm>
            <a:off x="6440374" y="5613021"/>
            <a:ext cx="511023" cy="457200"/>
          </a:xfrm>
          <a:prstGeom prst="rect">
            <a:avLst/>
          </a:prstGeom>
          <a:noFill/>
          <a:ln/>
        </p:spPr>
        <p:txBody>
          <a:bodyPr wrap="square" lIns="0" tIns="0" rIns="0" bIns="0" rtlCol="0" anchor="ctr"/>
          <a:lstStyle/>
          <a:p>
            <a:pPr marL="0" indent="0" algn="ctr">
              <a:buNone/>
            </a:pPr>
            <a:r>
              <a:rPr lang="en-US" sz="900" b="1" dirty="0" err="1">
                <a:solidFill>
                  <a:schemeClr val="bg1"/>
                </a:solidFill>
              </a:rPr>
              <a:t>NestJS</a:t>
            </a:r>
            <a:endParaRPr lang="en-US" sz="900" b="1" dirty="0">
              <a:solidFill>
                <a:schemeClr val="bg1"/>
              </a:solidFill>
            </a:endParaRPr>
          </a:p>
          <a:p>
            <a:pPr marL="0" indent="0" algn="ctr">
              <a:buNone/>
            </a:pPr>
            <a:r>
              <a:rPr lang="en-US" sz="900" b="1" dirty="0">
                <a:solidFill>
                  <a:schemeClr val="bg1"/>
                </a:solidFill>
              </a:rPr>
              <a:t>API</a:t>
            </a:r>
          </a:p>
          <a:p>
            <a:pPr marL="0" indent="0" algn="ctr">
              <a:buNone/>
            </a:pPr>
            <a:r>
              <a:rPr lang="en-US" sz="900" b="1" dirty="0">
                <a:solidFill>
                  <a:schemeClr val="bg1"/>
                </a:solidFill>
              </a:rPr>
              <a:t>Gateway</a:t>
            </a:r>
          </a:p>
        </p:txBody>
      </p:sp>
      <p:cxnSp>
        <p:nvCxnSpPr>
          <p:cNvPr id="74" name="Straight Arrow Connector 73">
            <a:extLst>
              <a:ext uri="{FF2B5EF4-FFF2-40B4-BE49-F238E27FC236}">
                <a16:creationId xmlns:a16="http://schemas.microsoft.com/office/drawing/2014/main" id="{497F6F64-9B85-4D41-A10D-FA5C54A55C24}"/>
              </a:ext>
            </a:extLst>
          </p:cNvPr>
          <p:cNvCxnSpPr>
            <a:cxnSpLocks/>
            <a:stCxn id="64" idx="3"/>
            <a:endCxn id="62" idx="1"/>
          </p:cNvCxnSpPr>
          <p:nvPr/>
        </p:nvCxnSpPr>
        <p:spPr>
          <a:xfrm>
            <a:off x="6951397" y="5841621"/>
            <a:ext cx="439563" cy="75693"/>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7" name="Straight Arrow Connector 76">
            <a:extLst>
              <a:ext uri="{FF2B5EF4-FFF2-40B4-BE49-F238E27FC236}">
                <a16:creationId xmlns:a16="http://schemas.microsoft.com/office/drawing/2014/main" id="{D4D8C94C-B6E2-4C99-8311-117A69E32AE5}"/>
              </a:ext>
            </a:extLst>
          </p:cNvPr>
          <p:cNvCxnSpPr>
            <a:cxnSpLocks/>
            <a:stCxn id="61" idx="0"/>
            <a:endCxn id="47" idx="2"/>
          </p:cNvCxnSpPr>
          <p:nvPr/>
        </p:nvCxnSpPr>
        <p:spPr>
          <a:xfrm flipH="1" flipV="1">
            <a:off x="7640573" y="5067946"/>
            <a:ext cx="5898" cy="528616"/>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7" name="Shape 9">
            <a:extLst>
              <a:ext uri="{FF2B5EF4-FFF2-40B4-BE49-F238E27FC236}">
                <a16:creationId xmlns:a16="http://schemas.microsoft.com/office/drawing/2014/main" id="{C4A0E379-A093-4D91-92CF-72EFAB019422}"/>
              </a:ext>
            </a:extLst>
          </p:cNvPr>
          <p:cNvSpPr/>
          <p:nvPr/>
        </p:nvSpPr>
        <p:spPr>
          <a:xfrm>
            <a:off x="5119097" y="5483991"/>
            <a:ext cx="511022" cy="347449"/>
          </a:xfrm>
          <a:prstGeom prst="roundRect">
            <a:avLst>
              <a:gd name="adj" fmla="val 11111"/>
            </a:avLst>
          </a:prstGeom>
          <a:solidFill>
            <a:srgbClr val="2A3878"/>
          </a:solidFill>
          <a:ln w="19050">
            <a:solidFill>
              <a:srgbClr val="2EC4B6"/>
            </a:solidFill>
            <a:prstDash val="solid"/>
          </a:ln>
        </p:spPr>
      </p:sp>
      <p:sp>
        <p:nvSpPr>
          <p:cNvPr id="108" name="Text 10">
            <a:extLst>
              <a:ext uri="{FF2B5EF4-FFF2-40B4-BE49-F238E27FC236}">
                <a16:creationId xmlns:a16="http://schemas.microsoft.com/office/drawing/2014/main" id="{BE95088B-CFEB-48D2-84EA-973053F77D4F}"/>
              </a:ext>
            </a:extLst>
          </p:cNvPr>
          <p:cNvSpPr/>
          <p:nvPr/>
        </p:nvSpPr>
        <p:spPr>
          <a:xfrm>
            <a:off x="5119097" y="5483991"/>
            <a:ext cx="511022" cy="311102"/>
          </a:xfrm>
          <a:prstGeom prst="rect">
            <a:avLst/>
          </a:prstGeom>
          <a:noFill/>
          <a:ln/>
        </p:spPr>
        <p:txBody>
          <a:bodyPr wrap="square" lIns="0" tIns="0" rIns="0" bIns="0" rtlCol="0" anchor="ctr"/>
          <a:lstStyle/>
          <a:p>
            <a:pPr marL="0" indent="0" algn="ctr">
              <a:buNone/>
            </a:pPr>
            <a:r>
              <a:rPr lang="en-US" sz="700" b="1" dirty="0">
                <a:solidFill>
                  <a:schemeClr val="bg1"/>
                </a:solidFill>
              </a:rPr>
              <a:t>Indicator</a:t>
            </a:r>
          </a:p>
          <a:p>
            <a:pPr marL="0" indent="0" algn="ctr">
              <a:buNone/>
            </a:pPr>
            <a:r>
              <a:rPr lang="en-US" sz="700" b="1" dirty="0">
                <a:solidFill>
                  <a:schemeClr val="bg1"/>
                </a:solidFill>
              </a:rPr>
              <a:t>Text Exports</a:t>
            </a:r>
          </a:p>
        </p:txBody>
      </p:sp>
      <p:sp>
        <p:nvSpPr>
          <p:cNvPr id="109" name="Shape 9">
            <a:extLst>
              <a:ext uri="{FF2B5EF4-FFF2-40B4-BE49-F238E27FC236}">
                <a16:creationId xmlns:a16="http://schemas.microsoft.com/office/drawing/2014/main" id="{F874B6E8-3DBC-423C-9E2B-AD723C6DD7AA}"/>
              </a:ext>
            </a:extLst>
          </p:cNvPr>
          <p:cNvSpPr/>
          <p:nvPr/>
        </p:nvSpPr>
        <p:spPr>
          <a:xfrm>
            <a:off x="4312707" y="6021199"/>
            <a:ext cx="511022" cy="347449"/>
          </a:xfrm>
          <a:prstGeom prst="roundRect">
            <a:avLst>
              <a:gd name="adj" fmla="val 11111"/>
            </a:avLst>
          </a:prstGeom>
          <a:solidFill>
            <a:srgbClr val="2A3878"/>
          </a:solidFill>
          <a:ln w="19050">
            <a:solidFill>
              <a:srgbClr val="2EC4B6"/>
            </a:solidFill>
            <a:prstDash val="solid"/>
          </a:ln>
        </p:spPr>
      </p:sp>
      <p:sp>
        <p:nvSpPr>
          <p:cNvPr id="110" name="Text 10">
            <a:extLst>
              <a:ext uri="{FF2B5EF4-FFF2-40B4-BE49-F238E27FC236}">
                <a16:creationId xmlns:a16="http://schemas.microsoft.com/office/drawing/2014/main" id="{617EDF02-E0CA-43B7-BA40-3A634E4EEB75}"/>
              </a:ext>
            </a:extLst>
          </p:cNvPr>
          <p:cNvSpPr/>
          <p:nvPr/>
        </p:nvSpPr>
        <p:spPr>
          <a:xfrm>
            <a:off x="4312707" y="6021199"/>
            <a:ext cx="511022" cy="311102"/>
          </a:xfrm>
          <a:prstGeom prst="rect">
            <a:avLst/>
          </a:prstGeom>
          <a:noFill/>
          <a:ln/>
        </p:spPr>
        <p:txBody>
          <a:bodyPr wrap="square" lIns="0" tIns="0" rIns="0" bIns="0" rtlCol="0" anchor="ctr"/>
          <a:lstStyle/>
          <a:p>
            <a:pPr marL="0" indent="0" algn="ctr">
              <a:buNone/>
            </a:pPr>
            <a:r>
              <a:rPr lang="en-US" sz="900" b="1" dirty="0">
                <a:solidFill>
                  <a:schemeClr val="bg1"/>
                </a:solidFill>
              </a:rPr>
              <a:t>SQLite</a:t>
            </a:r>
          </a:p>
        </p:txBody>
      </p:sp>
      <p:sp>
        <p:nvSpPr>
          <p:cNvPr id="112" name="Rectangle 111">
            <a:extLst>
              <a:ext uri="{FF2B5EF4-FFF2-40B4-BE49-F238E27FC236}">
                <a16:creationId xmlns:a16="http://schemas.microsoft.com/office/drawing/2014/main" id="{68523DAD-FA97-4047-A967-56F6BCE6D7DF}"/>
              </a:ext>
            </a:extLst>
          </p:cNvPr>
          <p:cNvSpPr/>
          <p:nvPr/>
        </p:nvSpPr>
        <p:spPr>
          <a:xfrm>
            <a:off x="3313054" y="5142593"/>
            <a:ext cx="2479012" cy="1300614"/>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13" name="TextBox 112">
            <a:extLst>
              <a:ext uri="{FF2B5EF4-FFF2-40B4-BE49-F238E27FC236}">
                <a16:creationId xmlns:a16="http://schemas.microsoft.com/office/drawing/2014/main" id="{070F1581-CCD0-491B-A706-E3377859D883}"/>
              </a:ext>
            </a:extLst>
          </p:cNvPr>
          <p:cNvSpPr txBox="1"/>
          <p:nvPr/>
        </p:nvSpPr>
        <p:spPr>
          <a:xfrm>
            <a:off x="3290679" y="4705883"/>
            <a:ext cx="1589087" cy="415498"/>
          </a:xfrm>
          <a:prstGeom prst="rect">
            <a:avLst/>
          </a:prstGeom>
          <a:noFill/>
        </p:spPr>
        <p:txBody>
          <a:bodyPr wrap="square" rtlCol="0">
            <a:spAutoFit/>
          </a:bodyPr>
          <a:lstStyle/>
          <a:p>
            <a:r>
              <a:rPr lang="en-US" sz="1050" b="1" dirty="0">
                <a:solidFill>
                  <a:srgbClr val="7030A0"/>
                </a:solidFill>
              </a:rPr>
              <a:t>Contabo Windows VPS </a:t>
            </a:r>
          </a:p>
          <a:p>
            <a:r>
              <a:rPr lang="en-US" sz="1050" b="1" dirty="0">
                <a:solidFill>
                  <a:srgbClr val="7030A0"/>
                </a:solidFill>
              </a:rPr>
              <a:t>+ VPS storage disk</a:t>
            </a:r>
            <a:endParaRPr lang="en-TZ" sz="1050" b="1" dirty="0">
              <a:solidFill>
                <a:srgbClr val="7030A0"/>
              </a:solidFill>
            </a:endParaRPr>
          </a:p>
        </p:txBody>
      </p:sp>
      <p:cxnSp>
        <p:nvCxnSpPr>
          <p:cNvPr id="117" name="Straight Arrow Connector 116">
            <a:extLst>
              <a:ext uri="{FF2B5EF4-FFF2-40B4-BE49-F238E27FC236}">
                <a16:creationId xmlns:a16="http://schemas.microsoft.com/office/drawing/2014/main" id="{175F6083-096C-43EB-A645-7D87E84537BB}"/>
              </a:ext>
            </a:extLst>
          </p:cNvPr>
          <p:cNvCxnSpPr>
            <a:cxnSpLocks/>
            <a:endCxn id="108" idx="1"/>
          </p:cNvCxnSpPr>
          <p:nvPr/>
        </p:nvCxnSpPr>
        <p:spPr>
          <a:xfrm>
            <a:off x="4070554" y="5639542"/>
            <a:ext cx="1048543" cy="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9" name="Straight Arrow Connector 118">
            <a:extLst>
              <a:ext uri="{FF2B5EF4-FFF2-40B4-BE49-F238E27FC236}">
                <a16:creationId xmlns:a16="http://schemas.microsoft.com/office/drawing/2014/main" id="{CCBB3186-E3CD-4CF6-9660-4F259CEBF93F}"/>
              </a:ext>
            </a:extLst>
          </p:cNvPr>
          <p:cNvCxnSpPr>
            <a:cxnSpLocks/>
          </p:cNvCxnSpPr>
          <p:nvPr/>
        </p:nvCxnSpPr>
        <p:spPr>
          <a:xfrm>
            <a:off x="4053838" y="5960611"/>
            <a:ext cx="231039" cy="21019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0" name="Shape 9">
            <a:extLst>
              <a:ext uri="{FF2B5EF4-FFF2-40B4-BE49-F238E27FC236}">
                <a16:creationId xmlns:a16="http://schemas.microsoft.com/office/drawing/2014/main" id="{1E3A9933-9CEC-4C66-A203-361D197D5E2D}"/>
              </a:ext>
            </a:extLst>
          </p:cNvPr>
          <p:cNvSpPr/>
          <p:nvPr/>
        </p:nvSpPr>
        <p:spPr>
          <a:xfrm>
            <a:off x="5221005" y="6026557"/>
            <a:ext cx="511022" cy="347449"/>
          </a:xfrm>
          <a:prstGeom prst="roundRect">
            <a:avLst>
              <a:gd name="adj" fmla="val 11111"/>
            </a:avLst>
          </a:prstGeom>
          <a:solidFill>
            <a:srgbClr val="2A3878"/>
          </a:solidFill>
          <a:ln w="19050">
            <a:solidFill>
              <a:srgbClr val="2EC4B6"/>
            </a:solidFill>
            <a:prstDash val="solid"/>
          </a:ln>
        </p:spPr>
      </p:sp>
      <p:sp>
        <p:nvSpPr>
          <p:cNvPr id="151" name="Text 10">
            <a:extLst>
              <a:ext uri="{FF2B5EF4-FFF2-40B4-BE49-F238E27FC236}">
                <a16:creationId xmlns:a16="http://schemas.microsoft.com/office/drawing/2014/main" id="{BAD82516-1F0E-4878-9CE7-EC138BFA76FF}"/>
              </a:ext>
            </a:extLst>
          </p:cNvPr>
          <p:cNvSpPr/>
          <p:nvPr/>
        </p:nvSpPr>
        <p:spPr>
          <a:xfrm>
            <a:off x="5221005" y="6026557"/>
            <a:ext cx="511022" cy="311102"/>
          </a:xfrm>
          <a:prstGeom prst="rect">
            <a:avLst/>
          </a:prstGeom>
          <a:noFill/>
          <a:ln/>
        </p:spPr>
        <p:txBody>
          <a:bodyPr wrap="square" lIns="0" tIns="0" rIns="0" bIns="0" rtlCol="0" anchor="ctr"/>
          <a:lstStyle/>
          <a:p>
            <a:pPr marL="0" indent="0" algn="ctr">
              <a:buNone/>
            </a:pPr>
            <a:r>
              <a:rPr lang="en-US" sz="700" b="1" dirty="0">
                <a:solidFill>
                  <a:schemeClr val="bg1"/>
                </a:solidFill>
              </a:rPr>
              <a:t>Python Push Worker</a:t>
            </a:r>
          </a:p>
        </p:txBody>
      </p:sp>
      <p:cxnSp>
        <p:nvCxnSpPr>
          <p:cNvPr id="157" name="Straight Arrow Connector 156">
            <a:extLst>
              <a:ext uri="{FF2B5EF4-FFF2-40B4-BE49-F238E27FC236}">
                <a16:creationId xmlns:a16="http://schemas.microsoft.com/office/drawing/2014/main" id="{CA6026DE-7AEF-4D21-9C44-EE1074A7109D}"/>
              </a:ext>
            </a:extLst>
          </p:cNvPr>
          <p:cNvCxnSpPr>
            <a:cxnSpLocks/>
            <a:stCxn id="110" idx="3"/>
            <a:endCxn id="150" idx="1"/>
          </p:cNvCxnSpPr>
          <p:nvPr/>
        </p:nvCxnSpPr>
        <p:spPr>
          <a:xfrm>
            <a:off x="4823729" y="6176750"/>
            <a:ext cx="397276" cy="2353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2" name="Straight Arrow Connector 161">
            <a:extLst>
              <a:ext uri="{FF2B5EF4-FFF2-40B4-BE49-F238E27FC236}">
                <a16:creationId xmlns:a16="http://schemas.microsoft.com/office/drawing/2014/main" id="{01430290-65A7-4D20-B726-529AECEB8EBA}"/>
              </a:ext>
            </a:extLst>
          </p:cNvPr>
          <p:cNvCxnSpPr>
            <a:cxnSpLocks/>
          </p:cNvCxnSpPr>
          <p:nvPr/>
        </p:nvCxnSpPr>
        <p:spPr>
          <a:xfrm flipH="1">
            <a:off x="4604266" y="5778274"/>
            <a:ext cx="511021" cy="222136"/>
          </a:xfrm>
          <a:prstGeom prst="straightConnector1">
            <a:avLst/>
          </a:prstGeom>
          <a:ln w="2857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6" name="Star: 5 Points 45">
            <a:extLst>
              <a:ext uri="{FF2B5EF4-FFF2-40B4-BE49-F238E27FC236}">
                <a16:creationId xmlns:a16="http://schemas.microsoft.com/office/drawing/2014/main" id="{B3507210-4098-4CBB-A04C-5C895FB491BC}"/>
              </a:ext>
            </a:extLst>
          </p:cNvPr>
          <p:cNvSpPr/>
          <p:nvPr/>
        </p:nvSpPr>
        <p:spPr>
          <a:xfrm>
            <a:off x="4742682" y="5801184"/>
            <a:ext cx="197193" cy="16809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104" name="Star: 5 Points 103">
            <a:extLst>
              <a:ext uri="{FF2B5EF4-FFF2-40B4-BE49-F238E27FC236}">
                <a16:creationId xmlns:a16="http://schemas.microsoft.com/office/drawing/2014/main" id="{EF6C0246-5625-4E60-9234-CC8084277DE0}"/>
              </a:ext>
            </a:extLst>
          </p:cNvPr>
          <p:cNvSpPr/>
          <p:nvPr/>
        </p:nvSpPr>
        <p:spPr>
          <a:xfrm>
            <a:off x="5928198" y="6287319"/>
            <a:ext cx="197193" cy="16809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Z"/>
          </a:p>
        </p:txBody>
      </p:sp>
      <p:sp>
        <p:nvSpPr>
          <p:cNvPr id="51" name="TextBox 50">
            <a:extLst>
              <a:ext uri="{FF2B5EF4-FFF2-40B4-BE49-F238E27FC236}">
                <a16:creationId xmlns:a16="http://schemas.microsoft.com/office/drawing/2014/main" id="{E4F30B8C-A4CD-4284-AFEB-BE2B57E8257A}"/>
              </a:ext>
            </a:extLst>
          </p:cNvPr>
          <p:cNvSpPr txBox="1"/>
          <p:nvPr/>
        </p:nvSpPr>
        <p:spPr>
          <a:xfrm>
            <a:off x="6030293" y="6288411"/>
            <a:ext cx="3211651" cy="246221"/>
          </a:xfrm>
          <a:prstGeom prst="rect">
            <a:avLst/>
          </a:prstGeom>
          <a:noFill/>
        </p:spPr>
        <p:txBody>
          <a:bodyPr wrap="square" rtlCol="0">
            <a:spAutoFit/>
          </a:bodyPr>
          <a:lstStyle/>
          <a:p>
            <a:r>
              <a:rPr lang="en-US" sz="1000" b="1" dirty="0">
                <a:solidFill>
                  <a:srgbClr val="0070C0"/>
                </a:solidFill>
              </a:rPr>
              <a:t>= Cross verification &amp; Timestamp adjustment calculation</a:t>
            </a:r>
            <a:endParaRPr lang="en-TZ" sz="1000" b="1" dirty="0">
              <a:solidFill>
                <a:srgbClr val="0070C0"/>
              </a:solidFill>
            </a:endParaRPr>
          </a:p>
        </p:txBody>
      </p:sp>
      <p:cxnSp>
        <p:nvCxnSpPr>
          <p:cNvPr id="3" name="Straight Arrow Connector 2">
            <a:extLst>
              <a:ext uri="{FF2B5EF4-FFF2-40B4-BE49-F238E27FC236}">
                <a16:creationId xmlns:a16="http://schemas.microsoft.com/office/drawing/2014/main" id="{DBB6AD10-5B76-433A-B703-8F330DB7C384}"/>
              </a:ext>
            </a:extLst>
          </p:cNvPr>
          <p:cNvCxnSpPr/>
          <p:nvPr/>
        </p:nvCxnSpPr>
        <p:spPr>
          <a:xfrm flipH="1">
            <a:off x="7983415" y="3160835"/>
            <a:ext cx="1543050" cy="1579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ABB0978-607E-4C65-B3D1-FFF16195FDB8}"/>
              </a:ext>
            </a:extLst>
          </p:cNvPr>
          <p:cNvSpPr txBox="1"/>
          <p:nvPr/>
        </p:nvSpPr>
        <p:spPr>
          <a:xfrm>
            <a:off x="9526465" y="2936632"/>
            <a:ext cx="1947496" cy="1107996"/>
          </a:xfrm>
          <a:prstGeom prst="rect">
            <a:avLst/>
          </a:prstGeom>
          <a:noFill/>
          <a:ln>
            <a:solidFill>
              <a:schemeClr val="tx1"/>
            </a:solidFill>
          </a:ln>
        </p:spPr>
        <p:txBody>
          <a:bodyPr wrap="square" rtlCol="0">
            <a:spAutoFit/>
          </a:bodyPr>
          <a:lstStyle/>
          <a:p>
            <a:r>
              <a:rPr lang="en-US" sz="1100" dirty="0"/>
              <a:t>Every single data field required for these 13 plots is already calculated and stored in the 79-column </a:t>
            </a:r>
            <a:r>
              <a:rPr lang="en-US" sz="1100" dirty="0" err="1"/>
              <a:t>market_data</a:t>
            </a:r>
            <a:r>
              <a:rPr lang="en-US" sz="1100" dirty="0"/>
              <a:t> table (</a:t>
            </a:r>
            <a:r>
              <a:rPr lang="en-US" sz="1100" dirty="0" err="1"/>
              <a:t>xauusd.db</a:t>
            </a:r>
            <a:r>
              <a:rPr lang="en-US" sz="1100" dirty="0"/>
              <a:t> / PostgreSQL market_data_v6)</a:t>
            </a:r>
            <a:endParaRPr lang="en-TZ" sz="1100" dirty="0"/>
          </a:p>
        </p:txBody>
      </p:sp>
      <p:sp>
        <p:nvSpPr>
          <p:cNvPr id="20" name="TextBox 19">
            <a:extLst>
              <a:ext uri="{FF2B5EF4-FFF2-40B4-BE49-F238E27FC236}">
                <a16:creationId xmlns:a16="http://schemas.microsoft.com/office/drawing/2014/main" id="{265F5805-0F86-4B77-AB8F-1F75C07C90D7}"/>
              </a:ext>
            </a:extLst>
          </p:cNvPr>
          <p:cNvSpPr txBox="1"/>
          <p:nvPr/>
        </p:nvSpPr>
        <p:spPr>
          <a:xfrm>
            <a:off x="318880" y="305392"/>
            <a:ext cx="9620824" cy="461665"/>
          </a:xfrm>
          <a:prstGeom prst="rect">
            <a:avLst/>
          </a:prstGeom>
          <a:noFill/>
        </p:spPr>
        <p:txBody>
          <a:bodyPr wrap="square" rtlCol="0">
            <a:spAutoFit/>
          </a:bodyPr>
          <a:lstStyle/>
          <a:p>
            <a:r>
              <a:rPr lang="en-US" sz="2400" dirty="0"/>
              <a:t>Only most recent 3000 bars are constantly updated in PostgreSQL Database</a:t>
            </a:r>
            <a:endParaRPr lang="en-TZ" sz="2400" dirty="0"/>
          </a:p>
        </p:txBody>
      </p:sp>
      <p:sp>
        <p:nvSpPr>
          <p:cNvPr id="21" name="TextBox 20">
            <a:extLst>
              <a:ext uri="{FF2B5EF4-FFF2-40B4-BE49-F238E27FC236}">
                <a16:creationId xmlns:a16="http://schemas.microsoft.com/office/drawing/2014/main" id="{DCE4EB4D-29E4-4902-861E-0F75BCA65102}"/>
              </a:ext>
            </a:extLst>
          </p:cNvPr>
          <p:cNvSpPr txBox="1"/>
          <p:nvPr/>
        </p:nvSpPr>
        <p:spPr>
          <a:xfrm>
            <a:off x="518746" y="1143000"/>
            <a:ext cx="4862146" cy="2862322"/>
          </a:xfrm>
          <a:prstGeom prst="rect">
            <a:avLst/>
          </a:prstGeom>
          <a:noFill/>
        </p:spPr>
        <p:txBody>
          <a:bodyPr wrap="square" rtlCol="0">
            <a:spAutoFit/>
          </a:bodyPr>
          <a:lstStyle/>
          <a:p>
            <a:r>
              <a:rPr lang="en-US" sz="1200" dirty="0"/>
              <a:t>In SQLite on the Contabo VPS, the database does NOT grow indefinitely. It is restricted to the most recent 3000 bars per timeframe (M5 and M15) matching the MT5 indicator export window.</a:t>
            </a:r>
          </a:p>
          <a:p>
            <a:endParaRPr lang="en-US" sz="1200" dirty="0"/>
          </a:p>
          <a:p>
            <a:r>
              <a:rPr lang="en-US" sz="1200" dirty="0"/>
              <a:t>Explanation: Every time a new collection cycle finishes, SQLite automatically deletes older rows beyond the 3000-bar window (once they have been synced to Railway).</a:t>
            </a:r>
          </a:p>
          <a:p>
            <a:endParaRPr lang="en-US" sz="1200" dirty="0"/>
          </a:p>
          <a:p>
            <a:r>
              <a:rPr lang="en-US" sz="1200" dirty="0"/>
              <a:t>Because indicators (such as SSA, Centroid Regression lines, and </a:t>
            </a:r>
            <a:r>
              <a:rPr lang="en-US" sz="1200" dirty="0" err="1"/>
              <a:t>ZigZag</a:t>
            </a:r>
            <a:r>
              <a:rPr lang="en-US" sz="1200" dirty="0"/>
              <a:t> pivots) recalculate across the lookback window on MT5, existing bars are updated/replaced in-place with their newly recalculated values.</a:t>
            </a:r>
          </a:p>
          <a:p>
            <a:endParaRPr lang="en-US" sz="1200" dirty="0"/>
          </a:p>
          <a:p>
            <a:r>
              <a:rPr lang="en-US" sz="1200" dirty="0"/>
              <a:t>When the Python Push Worker sends the rows across the internet to Railway, </a:t>
            </a:r>
            <a:r>
              <a:rPr lang="en-US" sz="1200" dirty="0" err="1"/>
              <a:t>NestJS</a:t>
            </a:r>
            <a:r>
              <a:rPr lang="en-US" sz="1200" dirty="0"/>
              <a:t> receives them and executes an UPSERT on PostgreSQL market_data_v6.</a:t>
            </a:r>
            <a:endParaRPr lang="en-TZ" sz="1200" dirty="0"/>
          </a:p>
        </p:txBody>
      </p:sp>
    </p:spTree>
    <p:extLst>
      <p:ext uri="{BB962C8B-B14F-4D97-AF65-F5344CB8AC3E}">
        <p14:creationId xmlns:p14="http://schemas.microsoft.com/office/powerpoint/2010/main" val="1096402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59D596-D519-4823-8D3F-EFB8907F2E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9327" y="1157403"/>
            <a:ext cx="8109074" cy="5358823"/>
          </a:xfrm>
          <a:prstGeom prst="rect">
            <a:avLst/>
          </a:prstGeom>
        </p:spPr>
      </p:pic>
      <p:sp>
        <p:nvSpPr>
          <p:cNvPr id="6" name="TextBox 5">
            <a:extLst>
              <a:ext uri="{FF2B5EF4-FFF2-40B4-BE49-F238E27FC236}">
                <a16:creationId xmlns:a16="http://schemas.microsoft.com/office/drawing/2014/main" id="{189E54AC-F6EB-4CE8-9DBF-F5625E2458DB}"/>
              </a:ext>
            </a:extLst>
          </p:cNvPr>
          <p:cNvSpPr txBox="1"/>
          <p:nvPr/>
        </p:nvSpPr>
        <p:spPr>
          <a:xfrm>
            <a:off x="318880" y="305392"/>
            <a:ext cx="9620824" cy="461665"/>
          </a:xfrm>
          <a:prstGeom prst="rect">
            <a:avLst/>
          </a:prstGeom>
          <a:noFill/>
        </p:spPr>
        <p:txBody>
          <a:bodyPr wrap="square" rtlCol="0">
            <a:spAutoFit/>
          </a:bodyPr>
          <a:lstStyle/>
          <a:p>
            <a:r>
              <a:rPr lang="en-US" sz="2400" dirty="0"/>
              <a:t>Only most recent 3000 bars are constantly updated in PostgreSQL Database</a:t>
            </a:r>
            <a:endParaRPr lang="en-TZ" sz="2400" dirty="0"/>
          </a:p>
        </p:txBody>
      </p:sp>
    </p:spTree>
    <p:extLst>
      <p:ext uri="{BB962C8B-B14F-4D97-AF65-F5344CB8AC3E}">
        <p14:creationId xmlns:p14="http://schemas.microsoft.com/office/powerpoint/2010/main" val="856525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98C859-9B8F-48BF-BD65-385535BCF916}"/>
              </a:ext>
            </a:extLst>
          </p:cNvPr>
          <p:cNvPicPr>
            <a:picLocks noChangeAspect="1"/>
          </p:cNvPicPr>
          <p:nvPr/>
        </p:nvPicPr>
        <p:blipFill>
          <a:blip r:embed="rId2"/>
          <a:stretch>
            <a:fillRect/>
          </a:stretch>
        </p:blipFill>
        <p:spPr>
          <a:xfrm>
            <a:off x="1851160" y="724838"/>
            <a:ext cx="9052387" cy="6050164"/>
          </a:xfrm>
          <a:prstGeom prst="rect">
            <a:avLst/>
          </a:prstGeom>
        </p:spPr>
      </p:pic>
      <p:sp>
        <p:nvSpPr>
          <p:cNvPr id="6" name="TextBox 5">
            <a:extLst>
              <a:ext uri="{FF2B5EF4-FFF2-40B4-BE49-F238E27FC236}">
                <a16:creationId xmlns:a16="http://schemas.microsoft.com/office/drawing/2014/main" id="{F69767BB-E6AB-4B9A-BE4E-FA12FB9C9256}"/>
              </a:ext>
            </a:extLst>
          </p:cNvPr>
          <p:cNvSpPr txBox="1"/>
          <p:nvPr/>
        </p:nvSpPr>
        <p:spPr>
          <a:xfrm>
            <a:off x="334107" y="189034"/>
            <a:ext cx="4914900" cy="461665"/>
          </a:xfrm>
          <a:prstGeom prst="rect">
            <a:avLst/>
          </a:prstGeom>
          <a:noFill/>
        </p:spPr>
        <p:txBody>
          <a:bodyPr wrap="square" rtlCol="0">
            <a:spAutoFit/>
          </a:bodyPr>
          <a:lstStyle/>
          <a:p>
            <a:r>
              <a:rPr lang="en-US" sz="2400" b="1" dirty="0"/>
              <a:t>V2.29 Data Pipeline Architecture</a:t>
            </a:r>
            <a:endParaRPr lang="en-TZ" sz="2400" b="1" dirty="0"/>
          </a:p>
        </p:txBody>
      </p:sp>
    </p:spTree>
    <p:extLst>
      <p:ext uri="{BB962C8B-B14F-4D97-AF65-F5344CB8AC3E}">
        <p14:creationId xmlns:p14="http://schemas.microsoft.com/office/powerpoint/2010/main" val="21351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151896-75D5-4374-A996-1FD9C9244B85}"/>
              </a:ext>
            </a:extLst>
          </p:cNvPr>
          <p:cNvPicPr>
            <a:picLocks noChangeAspect="1"/>
          </p:cNvPicPr>
          <p:nvPr/>
        </p:nvPicPr>
        <p:blipFill>
          <a:blip r:embed="rId2"/>
          <a:stretch>
            <a:fillRect/>
          </a:stretch>
        </p:blipFill>
        <p:spPr>
          <a:xfrm>
            <a:off x="1966039" y="1528442"/>
            <a:ext cx="8259922" cy="4838607"/>
          </a:xfrm>
          <a:prstGeom prst="rect">
            <a:avLst/>
          </a:prstGeom>
        </p:spPr>
      </p:pic>
      <p:sp>
        <p:nvSpPr>
          <p:cNvPr id="6" name="TextBox 5">
            <a:extLst>
              <a:ext uri="{FF2B5EF4-FFF2-40B4-BE49-F238E27FC236}">
                <a16:creationId xmlns:a16="http://schemas.microsoft.com/office/drawing/2014/main" id="{D92E674D-7A4E-4708-A9DD-FCE1153E12FB}"/>
              </a:ext>
            </a:extLst>
          </p:cNvPr>
          <p:cNvSpPr txBox="1"/>
          <p:nvPr/>
        </p:nvSpPr>
        <p:spPr>
          <a:xfrm>
            <a:off x="369276" y="490951"/>
            <a:ext cx="10928839" cy="461665"/>
          </a:xfrm>
          <a:prstGeom prst="rect">
            <a:avLst/>
          </a:prstGeom>
          <a:noFill/>
        </p:spPr>
        <p:txBody>
          <a:bodyPr wrap="square" rtlCol="0">
            <a:spAutoFit/>
          </a:bodyPr>
          <a:lstStyle/>
          <a:p>
            <a:r>
              <a:rPr lang="en-US" sz="2400" dirty="0"/>
              <a:t>Contabo VPS </a:t>
            </a:r>
            <a:r>
              <a:rPr lang="en-US" sz="2400" dirty="0">
                <a:sym typeface="Wingdings" panose="05000000000000000000" pitchFamily="2" charset="2"/>
              </a:rPr>
              <a:t> Railway Gateway  PostgreSQL  Prisma ORM  Nest.JS  </a:t>
            </a:r>
            <a:r>
              <a:rPr lang="en-US" sz="2400" dirty="0" err="1">
                <a:sym typeface="Wingdings" panose="05000000000000000000" pitchFamily="2" charset="2"/>
              </a:rPr>
              <a:t>Textai</a:t>
            </a:r>
            <a:endParaRPr lang="en-TZ" sz="2400" dirty="0"/>
          </a:p>
        </p:txBody>
      </p:sp>
    </p:spTree>
    <p:extLst>
      <p:ext uri="{BB962C8B-B14F-4D97-AF65-F5344CB8AC3E}">
        <p14:creationId xmlns:p14="http://schemas.microsoft.com/office/powerpoint/2010/main" val="2587939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4289</TotalTime>
  <Words>714</Words>
  <Application>Microsoft Office PowerPoint</Application>
  <PresentationFormat>Widescreen</PresentationFormat>
  <Paragraphs>128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Cambria</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Dhapanart Kevalee</dc:creator>
  <cp:lastModifiedBy>Dhapanart Kevalee</cp:lastModifiedBy>
  <cp:revision>16</cp:revision>
  <dcterms:created xsi:type="dcterms:W3CDTF">2026-08-04T08:30:58Z</dcterms:created>
  <dcterms:modified xsi:type="dcterms:W3CDTF">2026-08-29T10:34:05Z</dcterms:modified>
</cp:coreProperties>
</file>