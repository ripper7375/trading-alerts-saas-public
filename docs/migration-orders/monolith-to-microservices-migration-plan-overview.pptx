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explains the migration implementation plan in plain language: what changes, the order of the 9 phases, the cross-cutting Track CC, and your role as the human in the loop when working with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monolith = one building where everyone works. The target = a campus of specialized buildings. 128 files are already separate services (gateway, MT5, backend-stack-c). The migration moves the 143 backend files into two new NestJS services while the UI stays on Vercel.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six concepts are the backbone of the whole plan. If you understand 'contract', 'strangler', 'shadow-run', 'cutover/rollback', 'flag' and 'exit criteria', you can follow every conversation with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Execution order: 7 -&gt; 6 -&gt; 2 -&gt; 5 -&gt; 4 -&gt; 3 -&gt; 1 in workstream numbers, shown here as Phases 0-8. Phase 5 (Next.js 16) runs in parallel with Phase 4. Track CC is not a phase — it runs continuously and 'gates' several phases (a phase cannot start until its CC prerequisites are live).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 = preparation only. Key human inputs: confirm access to Railway/Vercel dashboards, and answer flags F1-F3 (route inventory, version pins, where the current database actually lives).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human input: Flag F3 — Claude Code must first find out WHERE the current database is hosted; if it's not on Railway yet, a careful move (with rehearsed backup/restore, CC-G) is added. Phase 2 starts with step 2.0: upgrading Prisma from the outdated 5-era version to 7.8.0 in isolation (Flag F19 — a two-major-version jump needing a breaking-change audit), THEN the schema split. Other Phase 2 human input: approve the model census (F4) and schema file layout (F5).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JWT: with several services, a session store would need to be shared by all of them (slow, fragile). A signed token lets every service verify identity locally in ~1ms. The festival-wristband analogy: issued once at the gate, checked at every stage by looking at it — no radio call to the ticket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strangler loop is the heart of the migration. Your role: approve each flag-flip, especially slice 4 of money-service (write APIs — real payments). Never let a cutover proceed without seeing the shadow-run diff summary and knowing the rollback. CC-F rule: once a slice enters shadow-run, its old code is frozen except mirrored bugfixes.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5 touches config and framework code only, which is why it can overlap Phase 4. Phase 6 is where you'll be most involved creatively: reviewing the gap matrix and deciding which missing features matter (F11 is partly a product decision, not just a technical 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7 honors the two deferral flags in migration-stack-analysis.md. Phase 8's 30-day window is a patience test — resist the urge to declare success early. The physical money-database split (blueprint Phase 2) is intentionally OUT of scope; it happens later only if operational triggers fire.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Track CC is the difference between 'the migration worked' and 'the new system is pleasant to operate'. Highest-leverage items: CC-B (tracing — debugging 3 services without it is archaeology) and CC-C (the outbox pattern protecting payment/tier consistency).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five gates are written into the plan (§13, 'Where Track CC gates the phases'). When Claude Code asks to start a gated step, your first question should be: 'show me that the gate requirements are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protocol: docs/migration-orders/00-SKELETON-AND-RULES.md section 1, and the development-chain-protocol_v3.jpg diagram. The Advisor prompt is one line: 'Here's the PRE-DRAFT from session N — produce the DRAFT for session N+1 per 00-SKELETON-AND-RULES.md.'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seven live in docs/migration-orders/ except CLAUDE.md (repo root, auto-read by Claude Code every session). This is the artifacts-are-the-only-channel rule made concrete: Deviations + CLAUDE.md are mandatory in the Executor's handoff.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plan is designed for exactly this collaboration: flags mark every uncertainty, gates mark every irreversible-ish moment, and the Decision Log records what was decided and why. Your four jobs: answer flags, approve gates (including every DRAFT order), provide access, protect the timelines.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prompt patterns keep you firmly in control without needing deep technical knowledge. The exhaustive situational guide - including emergencies, cutover approvals, anti-patterns and a quick-reference card - is docs/migration-orders/HOW-TO-TALK-TO-CLAUDE-CODE.md.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ALERTS SAAS  ·  MIGRATION BLUEPRINT, EXPLAINED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78308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Monolith to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Microservices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39776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plain-language guide to the 9 phases (0–8) and the Track CC engineering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that Claude Code will execute — and the decisions where it needs you.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docs/migration-orders/ — plan v1.2 · session playbook · chain protocol v3 · executor protocol   ·   July 2026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138160" y="1920240"/>
            <a:ext cx="1371600" cy="2377440"/>
          </a:xfrm>
          <a:prstGeom prst="roundRect">
            <a:avLst>
              <a:gd name="adj" fmla="val 6667"/>
            </a:avLst>
          </a:prstGeom>
          <a:solidFill>
            <a:srgbClr val="2A3878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0" y="2880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692640" y="2880360"/>
            <a:ext cx="685800" cy="45720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920240"/>
            <a:ext cx="1371600" cy="658368"/>
          </a:xfrm>
          <a:prstGeom prst="roundRect">
            <a:avLst>
              <a:gd name="adj" fmla="val 11111"/>
            </a:avLst>
          </a:prstGeom>
          <a:solidFill>
            <a:srgbClr val="2A3878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61320" y="202082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561320" y="2788920"/>
            <a:ext cx="1371600" cy="658368"/>
          </a:xfrm>
          <a:prstGeom prst="roundRect">
            <a:avLst>
              <a:gd name="adj" fmla="val 11111"/>
            </a:avLst>
          </a:prstGeom>
          <a:solidFill>
            <a:srgbClr val="2A3878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61320" y="288950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0561320" y="3657600"/>
            <a:ext cx="1371600" cy="658368"/>
          </a:xfrm>
          <a:prstGeom prst="roundRect">
            <a:avLst>
              <a:gd name="adj" fmla="val 11111"/>
            </a:avLst>
          </a:prstGeom>
          <a:solidFill>
            <a:srgbClr val="2A3878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61320" y="37581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building becomes a campus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074920" cy="3931920"/>
          </a:xfrm>
          <a:prstGeom prst="roundRect">
            <a:avLst>
              <a:gd name="adj" fmla="val 2093"/>
            </a:avLst>
          </a:prstGeom>
          <a:solidFill>
            <a:srgbClr val="F2F6F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7276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— THE MONOLITH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Next.js app on Vercel does everything: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pages, all 99 APIs, cron jobs, payments, and login — plus one shared PostgreSQL database behind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5528" y="3063240"/>
            <a:ext cx="128016" cy="128016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94436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bug anywhere can take down everything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95528" y="3630168"/>
            <a:ext cx="128016" cy="128016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1129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and trading logic deploy together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5528" y="4197096"/>
            <a:ext cx="128016" cy="128016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07822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scale busy parts independently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0760" y="1371600"/>
            <a:ext cx="5577840" cy="3931920"/>
          </a:xfrm>
          <a:prstGeom prst="roundRect">
            <a:avLst>
              <a:gd name="adj" fmla="val 2093"/>
            </a:avLst>
          </a:prstGeom>
          <a:solidFill>
            <a:srgbClr val="E2F4F1"/>
          </a:solidFill>
          <a:ln/>
        </p:spPr>
      </p:sp>
      <p:sp>
        <p:nvSpPr>
          <p:cNvPr id="14" name="Text 12"/>
          <p:cNvSpPr/>
          <p:nvPr/>
        </p:nvSpPr>
        <p:spPr>
          <a:xfrm>
            <a:off x="6355080" y="157276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— SPECIALIZED SERVICES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55080" y="193852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— Next.js 16  —  </a:t>
            </a:r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only: pages, charts, forms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55080" y="24963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— operation-service  —  </a:t>
            </a:r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drawings, users, login (NestJS)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55080" y="30540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— money-service  —  </a:t>
            </a:r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Stripe, dLocal, affiliates, payouts (NestJS)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55080" y="36118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— gateway + PostgreSQL  —  </a:t>
            </a:r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Market-data ingest (already live) + one DB, strict roles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355080" y="41696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Contabo — EA / MT5 stacks  —  </a:t>
            </a:r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 — already separate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2920" y="5623560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independent scaling · payments isolated from product code · smaller, safer deploys · clear ownership per service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THE LANGUAGE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words you will hear constantly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75888" cy="1828800"/>
          </a:xfrm>
          <a:prstGeom prst="roundRect">
            <a:avLst>
              <a:gd name="adj" fmla="val 4500"/>
            </a:avLst>
          </a:prstGeom>
          <a:solidFill>
            <a:srgbClr val="F2F6FC"/>
          </a:solidFill>
          <a:ln/>
        </p:spPr>
      </p:sp>
      <p:sp>
        <p:nvSpPr>
          <p:cNvPr id="5" name="Shape 3"/>
          <p:cNvSpPr/>
          <p:nvPr/>
        </p:nvSpPr>
        <p:spPr>
          <a:xfrm>
            <a:off x="704088" y="161848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60020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61848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(OpenAPI)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22376" y="2075688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promise of exactly what each API accepts and returns. New services must match it byte-for-byte — so nothing else notices the swap.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417320"/>
            <a:ext cx="3675888" cy="1828800"/>
          </a:xfrm>
          <a:prstGeom prst="roundRect">
            <a:avLst>
              <a:gd name="adj" fmla="val 4500"/>
            </a:avLst>
          </a:prstGeom>
          <a:solidFill>
            <a:srgbClr val="F2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36008" y="161848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4636008" y="160020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0" y="161848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Strangler pattern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54296" y="2075688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rewrite everything at once. Replace one slice at a time while the old system keeps running, until the monolith is 'strangled' away.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366760" y="1417320"/>
            <a:ext cx="3675888" cy="1828800"/>
          </a:xfrm>
          <a:prstGeom prst="roundRect">
            <a:avLst>
              <a:gd name="adj" fmla="val 4500"/>
            </a:avLst>
          </a:prstGeom>
          <a:solidFill>
            <a:srgbClr val="F2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8567928" y="161848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567928" y="160020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052560" y="161848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Shadow-run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86216" y="2075688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old and new side by side for 48h, send both the same requests, and compare answers. Only cut over when the diff is clean.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593592"/>
            <a:ext cx="3675888" cy="1828800"/>
          </a:xfrm>
          <a:prstGeom prst="roundRect">
            <a:avLst>
              <a:gd name="adj" fmla="val 4500"/>
            </a:avLst>
          </a:prstGeom>
          <a:solidFill>
            <a:srgbClr val="F2F6FC"/>
          </a:solidFill>
          <a:ln/>
        </p:spPr>
      </p:sp>
      <p:sp>
        <p:nvSpPr>
          <p:cNvPr id="20" name="Shape 18"/>
          <p:cNvSpPr/>
          <p:nvPr/>
        </p:nvSpPr>
        <p:spPr>
          <a:xfrm>
            <a:off x="704088" y="379476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" y="37764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3794760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Cutover &amp; rollback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22376" y="425196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Flipping a switch (env flag) so traffic uses the new service. Every cutover has a tested way to flip back instantly.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34840" y="3593592"/>
            <a:ext cx="3675888" cy="1828800"/>
          </a:xfrm>
          <a:prstGeom prst="roundRect">
            <a:avLst>
              <a:gd name="adj" fmla="val 4500"/>
            </a:avLst>
          </a:prstGeom>
          <a:solidFill>
            <a:srgbClr val="F2F6FC"/>
          </a:solidFill>
          <a:ln/>
        </p:spPr>
      </p:sp>
      <p:sp>
        <p:nvSpPr>
          <p:cNvPr id="25" name="Shape 23"/>
          <p:cNvSpPr/>
          <p:nvPr/>
        </p:nvSpPr>
        <p:spPr>
          <a:xfrm>
            <a:off x="4636008" y="379476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6" name="Text 24"/>
          <p:cNvSpPr/>
          <p:nvPr/>
        </p:nvSpPr>
        <p:spPr>
          <a:xfrm>
            <a:off x="4636008" y="37764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120640" y="3794760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(F1–F18)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54296" y="425196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marked uncertainty in the plan. Claude Code must stop, investigate, and record the decision — often it needs YOUR answer.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366760" y="3593592"/>
            <a:ext cx="3675888" cy="1828800"/>
          </a:xfrm>
          <a:prstGeom prst="roundRect">
            <a:avLst>
              <a:gd name="adj" fmla="val 4500"/>
            </a:avLst>
          </a:prstGeom>
          <a:solidFill>
            <a:srgbClr val="F2F6FC"/>
          </a:solidFill>
          <a:ln/>
        </p:spPr>
      </p:sp>
      <p:sp>
        <p:nvSpPr>
          <p:cNvPr id="30" name="Shape 28"/>
          <p:cNvSpPr/>
          <p:nvPr/>
        </p:nvSpPr>
        <p:spPr>
          <a:xfrm>
            <a:off x="8567928" y="379476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567928" y="37764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052560" y="3794760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criteria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586216" y="4251960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a phase must pass before the next begins. If it isn't met, the phase is not done — no exceptions.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phases, one parallel track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675888" cy="1170432"/>
          </a:xfrm>
          <a:prstGeom prst="roundRect">
            <a:avLst>
              <a:gd name="adj" fmla="val 7031"/>
            </a:avLst>
          </a:prstGeom>
          <a:solidFill>
            <a:srgbClr val="F2F6FC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5544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36192"/>
            <a:ext cx="384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79576" y="151790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179576" y="19202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Contracts, staging, baselines — freeze the ground truth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1371600"/>
            <a:ext cx="3675888" cy="1170432"/>
          </a:xfrm>
          <a:prstGeom prst="roundRect">
            <a:avLst>
              <a:gd name="adj" fmla="val 7031"/>
            </a:avLst>
          </a:prstGeom>
          <a:solidFill>
            <a:srgbClr val="F2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17720" y="15544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536192"/>
            <a:ext cx="384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11496" y="151790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PostgreSQL  (WS 7)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111496" y="19202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database, three strict access roles + pooling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66760" y="1371600"/>
            <a:ext cx="3675888" cy="1170432"/>
          </a:xfrm>
          <a:prstGeom prst="roundRect">
            <a:avLst>
              <a:gd name="adj" fmla="val 7031"/>
            </a:avLst>
          </a:prstGeom>
          <a:solidFill>
            <a:srgbClr val="F2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8549640" y="15544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1536192"/>
            <a:ext cx="384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43416" y="151790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non_market_data schema  (WS 6)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043416" y="19202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Prisma to v7.8.0, then split the data model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2761488"/>
            <a:ext cx="3675888" cy="1170432"/>
          </a:xfrm>
          <a:prstGeom prst="roundRect">
            <a:avLst>
              <a:gd name="adj" fmla="val 7031"/>
            </a:avLst>
          </a:prstGeom>
          <a:solidFill>
            <a:srgbClr val="F2F6FC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29443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926080"/>
            <a:ext cx="384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79576" y="2907792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JWT auth  (WS 2)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79576" y="331012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secure token that every service accepts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434840" y="2761488"/>
            <a:ext cx="3675888" cy="1170432"/>
          </a:xfrm>
          <a:prstGeom prst="roundRect">
            <a:avLst>
              <a:gd name="adj" fmla="val 7031"/>
            </a:avLst>
          </a:prstGeom>
          <a:solidFill>
            <a:srgbClr val="F2F6FC"/>
          </a:solidFill>
          <a:ln/>
        </p:spPr>
      </p:sp>
      <p:sp>
        <p:nvSpPr>
          <p:cNvPr id="25" name="Shape 23"/>
          <p:cNvSpPr/>
          <p:nvPr/>
        </p:nvSpPr>
        <p:spPr>
          <a:xfrm>
            <a:off x="4617720" y="29443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4617720" y="2926080"/>
            <a:ext cx="384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11496" y="2907792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move to NestJS  (WS 5)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111496" y="331012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files migrate slice-by-slice (strangler)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366760" y="2761488"/>
            <a:ext cx="3675888" cy="1170432"/>
          </a:xfrm>
          <a:prstGeom prst="roundRect">
            <a:avLst>
              <a:gd name="adj" fmla="val 7031"/>
            </a:avLst>
          </a:prstGeom>
          <a:solidFill>
            <a:srgbClr val="FFF6E8"/>
          </a:solidFill>
          <a:ln/>
        </p:spPr>
      </p:sp>
      <p:sp>
        <p:nvSpPr>
          <p:cNvPr id="30" name="Shape 28"/>
          <p:cNvSpPr/>
          <p:nvPr/>
        </p:nvSpPr>
        <p:spPr>
          <a:xfrm>
            <a:off x="8549640" y="29443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549640" y="2926080"/>
            <a:ext cx="384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043416" y="2907792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upgrade  (WS 4)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043416" y="331012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PARALLEL with Phase 4 — frontend plumbing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4151376"/>
            <a:ext cx="3675888" cy="1170432"/>
          </a:xfrm>
          <a:prstGeom prst="roundRect">
            <a:avLst>
              <a:gd name="adj" fmla="val 7031"/>
            </a:avLst>
          </a:prstGeom>
          <a:solidFill>
            <a:srgbClr val="F2F6FC"/>
          </a:solidFill>
          <a:ln/>
        </p:spPr>
      </p:sp>
      <p:sp>
        <p:nvSpPr>
          <p:cNvPr id="35" name="Shape 33"/>
          <p:cNvSpPr/>
          <p:nvPr/>
        </p:nvSpPr>
        <p:spPr>
          <a:xfrm>
            <a:off x="685800" y="4334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4315968"/>
            <a:ext cx="384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79576" y="42976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redesign  (WS 3)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179576" y="470001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catches up with the new backend features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434840" y="4151376"/>
            <a:ext cx="3675888" cy="1170432"/>
          </a:xfrm>
          <a:prstGeom prst="roundRect">
            <a:avLst>
              <a:gd name="adj" fmla="val 7031"/>
            </a:avLst>
          </a:prstGeom>
          <a:solidFill>
            <a:srgbClr val="F2F6FC"/>
          </a:solidFill>
          <a:ln/>
        </p:spPr>
      </p:sp>
      <p:sp>
        <p:nvSpPr>
          <p:cNvPr id="40" name="Shape 38"/>
          <p:cNvSpPr/>
          <p:nvPr/>
        </p:nvSpPr>
        <p:spPr>
          <a:xfrm>
            <a:off x="4617720" y="4334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1" name="Text 39"/>
          <p:cNvSpPr/>
          <p:nvPr/>
        </p:nvSpPr>
        <p:spPr>
          <a:xfrm>
            <a:off x="4617720" y="4315968"/>
            <a:ext cx="384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111496" y="42976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client rewrite  (WS 1)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5111496" y="470001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LAST — it wraps everything else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366760" y="4151376"/>
            <a:ext cx="3675888" cy="1170432"/>
          </a:xfrm>
          <a:prstGeom prst="roundRect">
            <a:avLst>
              <a:gd name="adj" fmla="val 7031"/>
            </a:avLst>
          </a:prstGeom>
          <a:solidFill>
            <a:srgbClr val="F2F6FC"/>
          </a:solidFill>
          <a:ln/>
        </p:spPr>
      </p:sp>
      <p:sp>
        <p:nvSpPr>
          <p:cNvPr id="45" name="Shape 43"/>
          <p:cNvSpPr/>
          <p:nvPr/>
        </p:nvSpPr>
        <p:spPr>
          <a:xfrm>
            <a:off x="8549640" y="4334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6" name="Text 44"/>
          <p:cNvSpPr/>
          <p:nvPr/>
        </p:nvSpPr>
        <p:spPr>
          <a:xfrm>
            <a:off x="8549640" y="4315968"/>
            <a:ext cx="384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9043416" y="42976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 &amp; verify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9043416" y="470001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old routes, full e2e, 30-day stability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02920" y="5614416"/>
            <a:ext cx="11183112" cy="731520"/>
          </a:xfrm>
          <a:prstGeom prst="roundRect">
            <a:avLst>
              <a:gd name="adj" fmla="val 11250"/>
            </a:avLst>
          </a:prstGeom>
          <a:solidFill>
            <a:srgbClr val="0E8C81"/>
          </a:solidFill>
          <a:ln/>
        </p:spPr>
      </p:sp>
      <p:sp>
        <p:nvSpPr>
          <p:cNvPr id="50" name="Text 48"/>
          <p:cNvSpPr/>
          <p:nvPr/>
        </p:nvSpPr>
        <p:spPr>
          <a:xfrm>
            <a:off x="777240" y="5742432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CC — ENGINEERING FOUNDATIONS   </a:t>
            </a:r>
            <a:pPr indent="0" marL="0">
              <a:buNone/>
            </a:pPr>
            <a:r>
              <a:rPr lang="en-US" sz="1250" dirty="0">
                <a:solidFill>
                  <a:srgbClr val="D8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alongside ALL phases: environments &amp; CI/CD, monitoring, resilience, security, backups, runbooks…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Foundations: measure twice, cut once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2F6FC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600200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8191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61288" y="157276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the working example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61288" y="19202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railway-gateway/ is already a NestJS service on Railway — it's the template every new service copies.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417320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2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1600200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58191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13448" y="157276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contracts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013448" y="19202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OpenAPI spec for all 99 existing API routes. This becomes the law every new service must obey.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916936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2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099816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08152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1288" y="3072384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the secrets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161288" y="3419856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service needs which keys (Stripe, dLocal, database, JWT…) — a matrix, before anything moves.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2916936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2F6FC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099816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08152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13448" y="3072384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baseline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13448" y="3419856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every existing test and save the results. 'No worse than this' is the bar for every later phase.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4416552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2F6FC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4599432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458114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1288" y="457200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the versions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161288" y="491947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Next.js 16.2.10 / NestJS 11.1.28 / Prisma 7.8.0 exist on npm and lock them (Flags F2, F19).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5080" y="4416552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2F6FC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4599432"/>
            <a:ext cx="365760" cy="3657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458114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13448" y="457200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Track CC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013448" y="491947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environment + local dev stack come alive now — later phases assume they exist.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02920" y="617220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built or moved in Phase 0. </a:t>
            </a:r>
            <a:pPr algn="ct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whole job is making every later phase boring and predictable.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·  WORKSTREAMS 7 &amp;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first: one vault, three different keys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349240" cy="4160520"/>
          </a:xfrm>
          <a:prstGeom prst="roundRect">
            <a:avLst>
              <a:gd name="adj" fmla="val 1978"/>
            </a:avLst>
          </a:prstGeom>
          <a:solidFill>
            <a:srgbClr val="F2F6FC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002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81912"/>
            <a:ext cx="402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60934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PostgreSQL + access roles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240280"/>
            <a:ext cx="480060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30428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money_svc 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opens ONLY the 10 money tables (payments, commissions, payouts)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081528"/>
            <a:ext cx="480060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314553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core_app 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opens everything EXCEPT the money tables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922776"/>
            <a:ext cx="480060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398678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gateway_ingest 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writes ONLY market data (formalizes what already runs)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480060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before services split, the DATABASE enforces who may touch what — mistakes become impossible, not just forbidden. PgBouncer (a connection 'reception desk') keeps hundreds of visitors from overwhelming it.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09360" y="1371600"/>
            <a:ext cx="5715000" cy="4160520"/>
          </a:xfrm>
          <a:prstGeom prst="roundRect">
            <a:avLst>
              <a:gd name="adj" fmla="val 1978"/>
            </a:avLst>
          </a:prstGeom>
          <a:solidFill>
            <a:srgbClr val="F2F6FC"/>
          </a:solidFill>
          <a:ln/>
        </p:spPr>
      </p:sp>
      <p:sp>
        <p:nvSpPr>
          <p:cNvPr id="16" name="Shape 14"/>
          <p:cNvSpPr/>
          <p:nvPr/>
        </p:nvSpPr>
        <p:spPr>
          <a:xfrm>
            <a:off x="6537960" y="16002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581912"/>
            <a:ext cx="402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86600" y="1609344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the data model (Prisma)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83680" y="217627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→ v7.8.0 first  —  </a:t>
            </a:r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Upgraded as its own fully-tested step BEFORE any splitting (Flag F19) — one variable at a time.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87121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market_data schema  —  </a:t>
            </a:r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trading candles table only — already built, untouched.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0" y="356616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non_market_data schema  —  </a:t>
            </a:r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else: users, alerts, subscriptions, payments… — NEW build.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4261104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RefreshToken table  —  </a:t>
            </a:r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now because Phase 3's login system will need it.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0" y="495604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behavior change  —  </a:t>
            </a:r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runs as before; first migration is a no-op baseline, never a 'create'.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580644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notice nothing as a user during these phases — that is the point.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WORKSTREAM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wristband, every door: hybrid JWT login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2395728" cy="1463040"/>
          </a:xfrm>
          <a:prstGeom prst="roundRect">
            <a:avLst>
              <a:gd name="adj" fmla="val 5625"/>
            </a:avLst>
          </a:prstGeom>
          <a:solidFill>
            <a:srgbClr val="F2F6FC"/>
          </a:solidFill>
          <a:ln/>
        </p:spPr>
      </p:sp>
      <p:sp>
        <p:nvSpPr>
          <p:cNvPr id="5" name="Text 3"/>
          <p:cNvSpPr/>
          <p:nvPr/>
        </p:nvSpPr>
        <p:spPr>
          <a:xfrm>
            <a:off x="667512" y="1636776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log in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67512" y="196596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password (+2FA) go to the NestJS auth service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71800" y="2075688"/>
            <a:ext cx="365760" cy="310896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3401568" y="1508760"/>
            <a:ext cx="2395728" cy="1463040"/>
          </a:xfrm>
          <a:prstGeom prst="roundRect">
            <a:avLst>
              <a:gd name="adj" fmla="val 5625"/>
            </a:avLst>
          </a:prstGeom>
          <a:solidFill>
            <a:srgbClr val="F2F6FC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636776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token (JWT)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0" y="196596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'wristband' with your identity, role &amp; tier inside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70448" y="2075688"/>
            <a:ext cx="365760" cy="310896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0216" y="1508760"/>
            <a:ext cx="2395728" cy="1463040"/>
          </a:xfrm>
          <a:prstGeom prst="roundRect">
            <a:avLst>
              <a:gd name="adj" fmla="val 5625"/>
            </a:avLst>
          </a:prstGeom>
          <a:solidFill>
            <a:srgbClr val="F2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6464808" y="1636776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safely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64808" y="196596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httpOnly cookie — JavaScript (and attackers) can't read it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769096" y="2075688"/>
            <a:ext cx="365760" cy="310896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9198864" y="1508760"/>
            <a:ext cx="2395728" cy="1463040"/>
          </a:xfrm>
          <a:prstGeom prst="roundRect">
            <a:avLst>
              <a:gd name="adj" fmla="val 5625"/>
            </a:avLst>
          </a:prstGeom>
          <a:solidFill>
            <a:srgbClr val="E2F4F1"/>
          </a:solidFill>
          <a:ln/>
        </p:spPr>
      </p:sp>
      <p:sp>
        <p:nvSpPr>
          <p:cNvPr id="17" name="Text 15"/>
          <p:cNvSpPr/>
          <p:nvPr/>
        </p:nvSpPr>
        <p:spPr>
          <a:xfrm>
            <a:off x="9363456" y="1636776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door opens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363456" y="196596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service checks the signature itself — instantly, no phone call to a central session store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429000"/>
            <a:ext cx="3611880" cy="1737360"/>
          </a:xfrm>
          <a:prstGeom prst="roundRect">
            <a:avLst>
              <a:gd name="adj" fmla="val 4737"/>
            </a:avLst>
          </a:prstGeom>
          <a:solidFill>
            <a:srgbClr val="F2F6FC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35935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tokens, not 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4088" y="3995928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token lives ~15 minutes; a refresh token (stored in the database, revocable) quietly renews it. Stolen tokens die fast.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25112" y="3429000"/>
            <a:ext cx="3611880" cy="1737360"/>
          </a:xfrm>
          <a:prstGeom prst="roundRect">
            <a:avLst>
              <a:gd name="adj" fmla="val 4737"/>
            </a:avLst>
          </a:prstGeom>
          <a:solidFill>
            <a:srgbClr val="F2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4526280" y="35935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all 3 directions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26280" y="3995928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Server-rendered pages, the browser directly, and service-to-service calls all use the same mechanism.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147304" y="3429000"/>
            <a:ext cx="3611880" cy="1737360"/>
          </a:xfrm>
          <a:prstGeom prst="roundRect">
            <a:avLst>
              <a:gd name="adj" fmla="val 4737"/>
            </a:avLst>
          </a:prstGeom>
          <a:solidFill>
            <a:srgbClr val="F2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8348472" y="35935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first, replace later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48472" y="3995928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login (NextAuth) keeps working the whole time; the new system runs alongside it and takes over only at the end of Phase 4.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5532120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BEAE9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55138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325880" y="55046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call: adopt the OpenAuth library or hand-roll on @nestjs/jwt (plan recommends bridge-first).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132320" y="5532120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BEAE9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0" y="55138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F7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955280" y="550468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call: when to upgrade key management (shared secret → JWKS).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WORKSTREAM 5  ·  THE LONG MIDDLE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big move — one reversible slice at a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2F6FC"/>
          </a:solidFill>
          <a:ln/>
        </p:spPr>
      </p:sp>
      <p:sp>
        <p:nvSpPr>
          <p:cNvPr id="5" name="Shape 3"/>
          <p:cNvSpPr/>
          <p:nvPr/>
        </p:nvSpPr>
        <p:spPr>
          <a:xfrm>
            <a:off x="649224" y="159105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49224" y="1572768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33272" y="158191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" y="193852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one slice (e.g. 'alerts') in NestJS to match its contract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96312" y="1920240"/>
            <a:ext cx="301752" cy="29260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2816352" y="146304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2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2962656" y="159105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2962656" y="1572768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46704" y="158191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Shadow-run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62656" y="193852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+ new answer the same requests for 48h in parallel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09744" y="1920240"/>
            <a:ext cx="301752" cy="29260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9784" y="146304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2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5276088" y="159105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5276088" y="1572768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0136" y="158191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76088" y="193852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every response; investigate every mismatch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123176" y="1920240"/>
            <a:ext cx="301752" cy="29260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2" name="Shape 20"/>
          <p:cNvSpPr/>
          <p:nvPr/>
        </p:nvSpPr>
        <p:spPr>
          <a:xfrm>
            <a:off x="7443216" y="146304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2F6FC"/>
          </a:solidFill>
          <a:ln/>
        </p:spPr>
      </p:sp>
      <p:sp>
        <p:nvSpPr>
          <p:cNvPr id="23" name="Shape 21"/>
          <p:cNvSpPr/>
          <p:nvPr/>
        </p:nvSpPr>
        <p:spPr>
          <a:xfrm>
            <a:off x="7589520" y="159105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7589520" y="1572768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973568" y="158191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the flag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193852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switches to the new service — one env variable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436608" y="1920240"/>
            <a:ext cx="301752" cy="29260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8" name="Shape 26"/>
          <p:cNvSpPr/>
          <p:nvPr/>
        </p:nvSpPr>
        <p:spPr>
          <a:xfrm>
            <a:off x="9756648" y="146304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2F6FC"/>
          </a:solidFill>
          <a:ln/>
        </p:spPr>
      </p:sp>
      <p:sp>
        <p:nvSpPr>
          <p:cNvPr id="29" name="Shape 27"/>
          <p:cNvSpPr/>
          <p:nvPr/>
        </p:nvSpPr>
        <p:spPr>
          <a:xfrm>
            <a:off x="9902952" y="159105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9902952" y="1572768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287000" y="158191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902952" y="193852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route deleted only after the slice proves stable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283464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⟲  Rollback at any step = flip the flag back. Every slice is reversible until it's proven.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5440680" cy="2286000"/>
          </a:xfrm>
          <a:prstGeom prst="roundRect">
            <a:avLst>
              <a:gd name="adj" fmla="val 3600"/>
            </a:avLst>
          </a:prstGeom>
          <a:solidFill>
            <a:srgbClr val="F2F6FC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359359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money-service  (71 files)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731520" y="3959352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its own pre-written blueprint: 5 slices in order — cron jobs → payout/payment webhooks → read APIs → write APIs (Stripe/dLocal) → tier-update events. Exit bar: 30 days live, error rate &lt; 0.1%.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309360" y="3429000"/>
            <a:ext cx="5376672" cy="2286000"/>
          </a:xfrm>
          <a:prstGeom prst="roundRect">
            <a:avLst>
              <a:gd name="adj" fmla="val 3600"/>
            </a:avLst>
          </a:prstGeom>
          <a:solidFill>
            <a:srgbClr val="F2F6FC"/>
          </a:solidFill>
          <a:ln/>
        </p:spPr>
      </p:sp>
      <p:sp>
        <p:nvSpPr>
          <p:cNvPr id="38" name="Text 36"/>
          <p:cNvSpPr/>
          <p:nvPr/>
        </p:nvSpPr>
        <p:spPr>
          <a:xfrm>
            <a:off x="6537960" y="359359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operation-service  (72 files)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6537960" y="3959352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Easiest first, riskiest last: the alert engine (already nearly independent) → shared plumbing → alerts, drawings, notifications, tiers, user settings → and only at the very end, the login system cutover (retiring NextAuth).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02920" y="59436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longest phase — expect many small approvals from you, one per cutover, tracked in a single cutover table.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5–6  ·  WORKSTREAMS 4 &amp;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frontend catches up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349240" cy="4114800"/>
          </a:xfrm>
          <a:prstGeom prst="roundRect">
            <a:avLst>
              <a:gd name="adj" fmla="val 2000"/>
            </a:avLst>
          </a:prstGeom>
          <a:solidFill>
            <a:srgbClr val="FFF6E8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002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81912"/>
            <a:ext cx="402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627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→ 16 upgrade  (parallel with Phase 4)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95528" y="2395728"/>
            <a:ext cx="118872" cy="1188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25856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plumbing only — no feature changes, so it can safely run while the backend moves.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3328416"/>
            <a:ext cx="118872" cy="1188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191256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your prepared optimization docs: bundle-size reduction, font optimization, streaming.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5528" y="4261104"/>
            <a:ext cx="118872" cy="1188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12394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gate: bundle size and page-speed must be equal or better than before. (Flag F10: fetch the official 15→16 breaking-changes guide first.)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1371600"/>
            <a:ext cx="5715000" cy="4114800"/>
          </a:xfrm>
          <a:prstGeom prst="roundRect">
            <a:avLst>
              <a:gd name="adj" fmla="val 2000"/>
            </a:avLst>
          </a:prstGeom>
          <a:solidFill>
            <a:srgbClr val="F2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537960" y="16002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581912"/>
            <a:ext cx="402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086600" y="16276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redesign — close the gap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01968" y="2395728"/>
            <a:ext cx="118872" cy="118872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225856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with a GAP MATRIX (Flag F11): every backend capability is checked — does the UI expose it? Missing pieces become the redesign backlog.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01968" y="3328416"/>
            <a:ext cx="118872" cy="118872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3191256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Unifies the three separate shells (dashboard / admin / affiliate) with shared layouts and role-aware navigation from the JWT.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01968" y="4261104"/>
            <a:ext cx="118872" cy="118872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4123944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v16 idioms, against the new services' contracts — so it's built once, correctly.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57607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upgrade BEFORE redesign, so new screens are never built twice.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7–8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finish 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349240" cy="4114800"/>
          </a:xfrm>
          <a:prstGeom prst="roundRect">
            <a:avLst>
              <a:gd name="adj" fmla="val 2000"/>
            </a:avLst>
          </a:prstGeom>
          <a:solidFill>
            <a:srgbClr val="F2F6FC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002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81912"/>
            <a:ext cx="402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627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client rewrite — deliberately last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lib/api/index.ts is the app's 'universal remote' for talking to the backend. It has been known-broken (and unused) for months — on purpose. Auth (P3), the data split (P2) and the backend move (P4) each change what 'correct' means, so fixing it early = fixing it three times.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374904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it's GENERATED from the OpenAPI contracts instead of hand-written, tested against real recorded responses, and every screen switches to it. A lint rule bans stray fetch() calls forever.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715000" cy="4114800"/>
          </a:xfrm>
          <a:prstGeom prst="roundRect">
            <a:avLst>
              <a:gd name="adj" fmla="val 2000"/>
            </a:avLst>
          </a:prstGeom>
          <a:solidFill>
            <a:srgbClr val="E2F4F1"/>
          </a:solidFill>
          <a:ln/>
        </p:spPr>
      </p:sp>
      <p:sp>
        <p:nvSpPr>
          <p:cNvPr id="11" name="Shape 9"/>
          <p:cNvSpPr/>
          <p:nvPr/>
        </p:nvSpPr>
        <p:spPr>
          <a:xfrm>
            <a:off x="6537960" y="1600200"/>
            <a:ext cx="402336" cy="402336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1581912"/>
            <a:ext cx="402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86600" y="16276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 &amp; final verification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0" y="2194560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migrated routes and transitional mirror code from the monolith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83680" y="2816352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end-to-end journey tests: signup → alert fires → notification; checkout → payout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83680" y="3438144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 the split system; verify connection pools hold under burst traffic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83680" y="4059936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stability window across BOTH services before declaring victory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83680" y="4681728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 the architecture docs so the map matches the new territory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CC — RUNS ALONGSIDE EVERY PHASE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foundations that make it robust, not just done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675888" cy="1353312"/>
          </a:xfrm>
          <a:prstGeom prst="roundRect">
            <a:avLst>
              <a:gd name="adj" fmla="val 6081"/>
            </a:avLst>
          </a:prstGeom>
          <a:solidFill>
            <a:srgbClr val="E2F4F1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517904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0E8C81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499616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344168" y="1490472"/>
            <a:ext cx="2715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Environments &amp; CI/CD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883664"/>
            <a:ext cx="33101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staging twin of production + automated per-service test pipelines; contracts checked on every change, forever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371600"/>
            <a:ext cx="3675888" cy="1353312"/>
          </a:xfrm>
          <a:prstGeom prst="roundRect">
            <a:avLst>
              <a:gd name="adj" fmla="val 6081"/>
            </a:avLst>
          </a:prstGeom>
          <a:solidFill>
            <a:srgbClr val="E2F4F1"/>
          </a:solidFill>
          <a:ln/>
        </p:spPr>
      </p:sp>
      <p:sp>
        <p:nvSpPr>
          <p:cNvPr id="10" name="Shape 8"/>
          <p:cNvSpPr/>
          <p:nvPr/>
        </p:nvSpPr>
        <p:spPr>
          <a:xfrm>
            <a:off x="4599432" y="1517904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0E8C81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1499616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CC-B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276088" y="1490472"/>
            <a:ext cx="2715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17720" y="1883664"/>
            <a:ext cx="33101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carries an ID traceable across all services; dashboards &amp; alarms before the first cutover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366760" y="1371600"/>
            <a:ext cx="3675888" cy="1353312"/>
          </a:xfrm>
          <a:prstGeom prst="roundRect">
            <a:avLst>
              <a:gd name="adj" fmla="val 6081"/>
            </a:avLst>
          </a:prstGeom>
          <a:solidFill>
            <a:srgbClr val="E2F4F1"/>
          </a:solidFill>
          <a:ln/>
        </p:spPr>
      </p:sp>
      <p:sp>
        <p:nvSpPr>
          <p:cNvPr id="15" name="Shape 13"/>
          <p:cNvSpPr/>
          <p:nvPr/>
        </p:nvSpPr>
        <p:spPr>
          <a:xfrm>
            <a:off x="8531352" y="1517904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0E8C81"/>
          </a:solidFill>
          <a:ln/>
        </p:spPr>
      </p:sp>
      <p:sp>
        <p:nvSpPr>
          <p:cNvPr id="16" name="Text 14"/>
          <p:cNvSpPr/>
          <p:nvPr/>
        </p:nvSpPr>
        <p:spPr>
          <a:xfrm>
            <a:off x="8531352" y="1499616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CC-C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208008" y="1490472"/>
            <a:ext cx="2715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9640" y="1883664"/>
            <a:ext cx="33101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Timeouts, retries, idempotency ('safe to repeat'), and an outbox so a payment and its tier upgrade can never disagree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2907792"/>
            <a:ext cx="3675888" cy="1353312"/>
          </a:xfrm>
          <a:prstGeom prst="roundRect">
            <a:avLst>
              <a:gd name="adj" fmla="val 6081"/>
            </a:avLst>
          </a:prstGeom>
          <a:solidFill>
            <a:srgbClr val="E2F4F1"/>
          </a:solidFill>
          <a:ln/>
        </p:spPr>
      </p:sp>
      <p:sp>
        <p:nvSpPr>
          <p:cNvPr id="20" name="Shape 18"/>
          <p:cNvSpPr/>
          <p:nvPr/>
        </p:nvSpPr>
        <p:spPr>
          <a:xfrm>
            <a:off x="667512" y="3054096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0E8C81"/>
          </a:solidFill>
          <a:ln/>
        </p:spPr>
      </p:sp>
      <p:sp>
        <p:nvSpPr>
          <p:cNvPr id="21" name="Text 19"/>
          <p:cNvSpPr/>
          <p:nvPr/>
        </p:nvSpPr>
        <p:spPr>
          <a:xfrm>
            <a:off x="667512" y="3035808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344168" y="3026664"/>
            <a:ext cx="2715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edge &amp; security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3419856"/>
            <a:ext cx="33101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 scheme with /v1 versioning decided once; rate limits on login; uniform input validation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34840" y="2907792"/>
            <a:ext cx="3675888" cy="1353312"/>
          </a:xfrm>
          <a:prstGeom prst="roundRect">
            <a:avLst>
              <a:gd name="adj" fmla="val 6081"/>
            </a:avLst>
          </a:prstGeom>
          <a:solidFill>
            <a:srgbClr val="E2F4F1"/>
          </a:solidFill>
          <a:ln/>
        </p:spPr>
      </p:sp>
      <p:sp>
        <p:nvSpPr>
          <p:cNvPr id="25" name="Shape 23"/>
          <p:cNvSpPr/>
          <p:nvPr/>
        </p:nvSpPr>
        <p:spPr>
          <a:xfrm>
            <a:off x="4599432" y="3054096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0E8C81"/>
          </a:solidFill>
          <a:ln/>
        </p:spPr>
      </p:sp>
      <p:sp>
        <p:nvSpPr>
          <p:cNvPr id="26" name="Text 24"/>
          <p:cNvSpPr/>
          <p:nvPr/>
        </p:nvSpPr>
        <p:spPr>
          <a:xfrm>
            <a:off x="4599432" y="3035808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276088" y="3026664"/>
            <a:ext cx="2715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&amp; queues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17720" y="3419856"/>
            <a:ext cx="33101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Redis, disciplined namespaces (op.* / money.*); each queue owned by exactly one service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366760" y="2907792"/>
            <a:ext cx="3675888" cy="1353312"/>
          </a:xfrm>
          <a:prstGeom prst="roundRect">
            <a:avLst>
              <a:gd name="adj" fmla="val 6081"/>
            </a:avLst>
          </a:prstGeom>
          <a:solidFill>
            <a:srgbClr val="E2F4F1"/>
          </a:solidFill>
          <a:ln/>
        </p:spPr>
      </p:sp>
      <p:sp>
        <p:nvSpPr>
          <p:cNvPr id="30" name="Shape 28"/>
          <p:cNvSpPr/>
          <p:nvPr/>
        </p:nvSpPr>
        <p:spPr>
          <a:xfrm>
            <a:off x="8531352" y="3054096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0E8C81"/>
          </a:solidFill>
          <a:ln/>
        </p:spPr>
      </p:sp>
      <p:sp>
        <p:nvSpPr>
          <p:cNvPr id="31" name="Text 29"/>
          <p:cNvSpPr/>
          <p:nvPr/>
        </p:nvSpPr>
        <p:spPr>
          <a:xfrm>
            <a:off x="8531352" y="3035808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CC-F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208008" y="3026664"/>
            <a:ext cx="2715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workflow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549640" y="3419856"/>
            <a:ext cx="33101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 + feature flags; drift-freeze: once a slice shadow-runs, its old code only gets mirrored bugfixes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4443984"/>
            <a:ext cx="3675888" cy="1353312"/>
          </a:xfrm>
          <a:prstGeom prst="roundRect">
            <a:avLst>
              <a:gd name="adj" fmla="val 6081"/>
            </a:avLst>
          </a:prstGeom>
          <a:solidFill>
            <a:srgbClr val="E2F4F1"/>
          </a:solidFill>
          <a:ln/>
        </p:spPr>
      </p:sp>
      <p:sp>
        <p:nvSpPr>
          <p:cNvPr id="35" name="Shape 33"/>
          <p:cNvSpPr/>
          <p:nvPr/>
        </p:nvSpPr>
        <p:spPr>
          <a:xfrm>
            <a:off x="667512" y="4590288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0E8C81"/>
          </a:solidFill>
          <a:ln/>
        </p:spPr>
      </p:sp>
      <p:sp>
        <p:nvSpPr>
          <p:cNvPr id="36" name="Text 34"/>
          <p:cNvSpPr/>
          <p:nvPr/>
        </p:nvSpPr>
        <p:spPr>
          <a:xfrm>
            <a:off x="667512" y="457200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CC-G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344168" y="4562856"/>
            <a:ext cx="2715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Backup, DR &amp; runbooks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85800" y="4956048"/>
            <a:ext cx="33101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REHEARSED before anything moves; per-service runbooks; stuck payouts page a human, never retry silently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34840" y="4443984"/>
            <a:ext cx="3675888" cy="1353312"/>
          </a:xfrm>
          <a:prstGeom prst="roundRect">
            <a:avLst>
              <a:gd name="adj" fmla="val 6081"/>
            </a:avLst>
          </a:prstGeom>
          <a:solidFill>
            <a:srgbClr val="E2F4F1"/>
          </a:solidFill>
          <a:ln/>
        </p:spPr>
      </p:sp>
      <p:sp>
        <p:nvSpPr>
          <p:cNvPr id="40" name="Shape 38"/>
          <p:cNvSpPr/>
          <p:nvPr/>
        </p:nvSpPr>
        <p:spPr>
          <a:xfrm>
            <a:off x="4599432" y="4590288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0E8C81"/>
          </a:solidFill>
          <a:ln/>
        </p:spPr>
      </p:sp>
      <p:sp>
        <p:nvSpPr>
          <p:cNvPr id="41" name="Text 39"/>
          <p:cNvSpPr/>
          <p:nvPr/>
        </p:nvSpPr>
        <p:spPr>
          <a:xfrm>
            <a:off x="4599432" y="457200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CC-H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276088" y="4562856"/>
            <a:ext cx="2715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capacity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617720" y="4956048"/>
            <a:ext cx="33101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Railway bill before committing; size replicas from the load test, not guesses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366760" y="4443984"/>
            <a:ext cx="3675888" cy="1353312"/>
          </a:xfrm>
          <a:prstGeom prst="roundRect">
            <a:avLst>
              <a:gd name="adj" fmla="val 6081"/>
            </a:avLst>
          </a:prstGeom>
          <a:solidFill>
            <a:srgbClr val="E2F4F1"/>
          </a:solidFill>
          <a:ln/>
        </p:spPr>
      </p:sp>
      <p:sp>
        <p:nvSpPr>
          <p:cNvPr id="45" name="Shape 43"/>
          <p:cNvSpPr/>
          <p:nvPr/>
        </p:nvSpPr>
        <p:spPr>
          <a:xfrm>
            <a:off x="8531352" y="4590288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0E8C81"/>
          </a:solidFill>
          <a:ln/>
        </p:spPr>
      </p:sp>
      <p:sp>
        <p:nvSpPr>
          <p:cNvPr id="46" name="Text 44"/>
          <p:cNvSpPr/>
          <p:nvPr/>
        </p:nvSpPr>
        <p:spPr>
          <a:xfrm>
            <a:off x="8531352" y="457200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CC-I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08008" y="4562856"/>
            <a:ext cx="2715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development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549640" y="4956048"/>
            <a:ext cx="33101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docker-compose boots the whole system on any machine — no environment archaeology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CC AS GATEKEEPER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risky starts before its safety net exists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1247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THIS CAN HAPPEN…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434840" y="11247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…THIS MUST ALREADY BE LIVE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006840" y="1124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611880" cy="896112"/>
          </a:xfrm>
          <a:prstGeom prst="roundRect">
            <a:avLst>
              <a:gd name="adj" fmla="val 9184"/>
            </a:avLst>
          </a:prstGeom>
          <a:solidFill>
            <a:srgbClr val="F2F6FC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417320"/>
            <a:ext cx="3291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the database (P1)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06240" y="1737360"/>
            <a:ext cx="292608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417320"/>
            <a:ext cx="4206240" cy="896112"/>
          </a:xfrm>
          <a:prstGeom prst="roundRect">
            <a:avLst>
              <a:gd name="adj" fmla="val 9184"/>
            </a:avLst>
          </a:prstGeom>
          <a:solidFill>
            <a:srgbClr val="E2F4F1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417320"/>
            <a:ext cx="3886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restore rehearsed on a scratch copy (CC-G)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006840" y="1417320"/>
            <a:ext cx="2697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untested backup is a hope, not a plan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423160"/>
            <a:ext cx="3611880" cy="896112"/>
          </a:xfrm>
          <a:prstGeom prst="roundRect">
            <a:avLst>
              <a:gd name="adj" fmla="val 9184"/>
            </a:avLst>
          </a:prstGeom>
          <a:solidFill>
            <a:srgbClr val="F2F6F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423160"/>
            <a:ext cx="3291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shadow-run (P4)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06240" y="2743200"/>
            <a:ext cx="292608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423160"/>
            <a:ext cx="4206240" cy="896112"/>
          </a:xfrm>
          <a:prstGeom prst="roundRect">
            <a:avLst>
              <a:gd name="adj" fmla="val 9184"/>
            </a:avLst>
          </a:prstGeom>
          <a:solidFill>
            <a:srgbClr val="E2F4F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423160"/>
            <a:ext cx="3886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env + contract tests (CC-A), request tracing &amp; alarms (CC-B), drift-freeze rule (CC-F)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006840" y="2423160"/>
            <a:ext cx="2697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compare old vs new if you can't observe them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429000"/>
            <a:ext cx="3611880" cy="896112"/>
          </a:xfrm>
          <a:prstGeom prst="roundRect">
            <a:avLst>
              <a:gd name="adj" fmla="val 9184"/>
            </a:avLst>
          </a:prstGeom>
          <a:solidFill>
            <a:srgbClr val="F2F6FC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29000"/>
            <a:ext cx="3291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WRITE cutover (P4, money)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06240" y="3749040"/>
            <a:ext cx="292608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0" y="3429000"/>
            <a:ext cx="4206240" cy="896112"/>
          </a:xfrm>
          <a:prstGeom prst="roundRect">
            <a:avLst>
              <a:gd name="adj" fmla="val 9184"/>
            </a:avLst>
          </a:prstGeom>
          <a:solidFill>
            <a:srgbClr val="E2F4F1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3429000"/>
            <a:ext cx="3886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+ outbox decision (CC-C), rate limits live (CC-D)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006840" y="3429000"/>
            <a:ext cx="2697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payments: repeats and races must be harmless first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434840"/>
            <a:ext cx="3611880" cy="896112"/>
          </a:xfrm>
          <a:prstGeom prst="roundRect">
            <a:avLst>
              <a:gd name="adj" fmla="val 9184"/>
            </a:avLst>
          </a:prstGeom>
          <a:solidFill>
            <a:srgbClr val="F2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4434840"/>
            <a:ext cx="3291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data layer (P6)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06240" y="4754880"/>
            <a:ext cx="292608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0" y="4434840"/>
            <a:ext cx="4206240" cy="896112"/>
          </a:xfrm>
          <a:prstGeom prst="roundRect">
            <a:avLst>
              <a:gd name="adj" fmla="val 9184"/>
            </a:avLst>
          </a:prstGeom>
          <a:solidFill>
            <a:srgbClr val="E2F4F1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4434840"/>
            <a:ext cx="3886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/ retry / fallback policy codified (CC-C)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006840" y="4434840"/>
            <a:ext cx="2697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slow service should dim one panel, not the whole app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5440680"/>
            <a:ext cx="3611880" cy="896112"/>
          </a:xfrm>
          <a:prstGeom prst="roundRect">
            <a:avLst>
              <a:gd name="adj" fmla="val 9184"/>
            </a:avLst>
          </a:prstGeom>
          <a:solidFill>
            <a:srgbClr val="F2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40680"/>
            <a:ext cx="3291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sign-off (P8)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206240" y="5760720"/>
            <a:ext cx="292608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5440680"/>
            <a:ext cx="4206240" cy="896112"/>
          </a:xfrm>
          <a:prstGeom prst="roundRect">
            <a:avLst>
              <a:gd name="adj" fmla="val 9184"/>
            </a:avLst>
          </a:prstGeom>
          <a:solidFill>
            <a:srgbClr val="E2F4F1"/>
          </a:solidFill>
          <a:ln/>
        </p:spPr>
      </p:sp>
      <p:sp>
        <p:nvSpPr>
          <p:cNvPr id="35" name="Text 33"/>
          <p:cNvSpPr/>
          <p:nvPr/>
        </p:nvSpPr>
        <p:spPr>
          <a:xfrm>
            <a:off x="4754880" y="5440680"/>
            <a:ext cx="3886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 complete (CC-G), cost verified under load (CC-H)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006840" y="5440680"/>
            <a:ext cx="2697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Operations, not code, is what you live with afterwards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EVERY SESSION ACTUALLY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Development Chain Protocol — three roles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675888" cy="2468880"/>
          </a:xfrm>
          <a:prstGeom prst="roundRect">
            <a:avLst>
              <a:gd name="adj" fmla="val 3333"/>
            </a:avLst>
          </a:prstGeom>
          <a:solidFill>
            <a:srgbClr val="F2F6FC"/>
          </a:solidFill>
          <a:ln/>
        </p:spPr>
      </p:sp>
      <p:sp>
        <p:nvSpPr>
          <p:cNvPr id="5" name="Text 3"/>
          <p:cNvSpPr/>
          <p:nvPr/>
        </p:nvSpPr>
        <p:spPr>
          <a:xfrm>
            <a:off x="704088" y="153619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/ PLANNER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04088" y="182880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 (Fable 5 / Opus)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04088" y="2176272"/>
            <a:ext cx="3273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the Executor's PRE-DRAFT + the strategy docs (plan, playbook, file inventory, templates) into the authoritative DRAFT order — best mix of template sections, skeleton as minimum content. Also maintains the playbook when sessions split or shift.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34840" y="1371600"/>
            <a:ext cx="3675888" cy="2468880"/>
          </a:xfrm>
          <a:prstGeom prst="roundRect">
            <a:avLst>
              <a:gd name="adj" fmla="val 3333"/>
            </a:avLst>
          </a:prstGeom>
          <a:solidFill>
            <a:srgbClr val="E2F4F1"/>
          </a:solidFill>
          <a:ln/>
        </p:spPr>
      </p:sp>
      <p:sp>
        <p:nvSpPr>
          <p:cNvPr id="9" name="Text 7"/>
          <p:cNvSpPr/>
          <p:nvPr/>
        </p:nvSpPr>
        <p:spPr>
          <a:xfrm>
            <a:off x="4636008" y="153619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36008" y="182880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Davin (you)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36008" y="2176272"/>
            <a:ext cx="3273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every DRAFT order between sessions, every cutover flag-flip, every production deploy, and the owner-level flags (F16–F18). Your approval is the only human gate — read the one page before granting it.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366760" y="1371600"/>
            <a:ext cx="3675888" cy="2468880"/>
          </a:xfrm>
          <a:prstGeom prst="roundRect">
            <a:avLst>
              <a:gd name="adj" fmla="val 3333"/>
            </a:avLst>
          </a:prstGeom>
          <a:solidFill>
            <a:srgbClr val="F2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8567928" y="153619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567928" y="182880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(Sonnet)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567928" y="2176272"/>
            <a:ext cx="3273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approved order against code + runtime state, executes it with tests and commits, records every deviation, updates the memory artifacts, then PRE-DRAFTs the next session's order.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LIFECYCLE — never skip a state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251960"/>
            <a:ext cx="1828800" cy="566928"/>
          </a:xfrm>
          <a:prstGeom prst="roundRect">
            <a:avLst>
              <a:gd name="adj" fmla="val 14516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7939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PRE-DRAFT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2920" y="45628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Executor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23160" y="4407408"/>
            <a:ext cx="329184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1" name="Shape 19"/>
          <p:cNvSpPr/>
          <p:nvPr/>
        </p:nvSpPr>
        <p:spPr>
          <a:xfrm>
            <a:off x="2834640" y="4251960"/>
            <a:ext cx="1828800" cy="566928"/>
          </a:xfrm>
          <a:prstGeom prst="roundRect">
            <a:avLst>
              <a:gd name="adj" fmla="val 14516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2834640" y="427939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834640" y="45628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Advisor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4407408"/>
            <a:ext cx="329184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5" name="Shape 23"/>
          <p:cNvSpPr/>
          <p:nvPr/>
        </p:nvSpPr>
        <p:spPr>
          <a:xfrm>
            <a:off x="5166360" y="4251960"/>
            <a:ext cx="1828800" cy="566928"/>
          </a:xfrm>
          <a:prstGeom prst="roundRect">
            <a:avLst>
              <a:gd name="adj" fmla="val 14516"/>
            </a:avLst>
          </a:prstGeom>
          <a:solidFill>
            <a:srgbClr val="0E8C81"/>
          </a:solidFill>
          <a:ln/>
        </p:spPr>
      </p:sp>
      <p:sp>
        <p:nvSpPr>
          <p:cNvPr id="26" name="Text 24"/>
          <p:cNvSpPr/>
          <p:nvPr/>
        </p:nvSpPr>
        <p:spPr>
          <a:xfrm>
            <a:off x="5166360" y="427939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166360" y="45628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Davin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86600" y="4407408"/>
            <a:ext cx="329184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4251960"/>
            <a:ext cx="1828800" cy="566928"/>
          </a:xfrm>
          <a:prstGeom prst="roundRect">
            <a:avLst>
              <a:gd name="adj" fmla="val 14516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0" y="427939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498080" y="45628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Executor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418320" y="4407408"/>
            <a:ext cx="329184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33" name="Shape 31"/>
          <p:cNvSpPr/>
          <p:nvPr/>
        </p:nvSpPr>
        <p:spPr>
          <a:xfrm>
            <a:off x="9829800" y="4251960"/>
            <a:ext cx="1828800" cy="566928"/>
          </a:xfrm>
          <a:prstGeom prst="roundRect">
            <a:avLst>
              <a:gd name="adj" fmla="val 14516"/>
            </a:avLst>
          </a:prstGeom>
          <a:solidFill>
            <a:srgbClr val="1E2761"/>
          </a:solidFill>
          <a:ln/>
        </p:spPr>
      </p:sp>
      <p:sp>
        <p:nvSpPr>
          <p:cNvPr id="34" name="Text 32"/>
          <p:cNvSpPr/>
          <p:nvPr/>
        </p:nvSpPr>
        <p:spPr>
          <a:xfrm>
            <a:off x="9829800" y="427939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829800" y="45628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Executor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52578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Fast-path: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VERIFY-RETIRE checklists (cutovers, deletions) skip the Advisor — PRE-DRAFT goes straight to Davin. 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length: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exactly one session ahead — never draft further.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PAPERWORK IS NOT OPTIONAL HERE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are the only memory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forgets everything between sessions, and the Advisor never sees its transcript. These seven files ARE the project's memory — if it isn't written in them, it didn't happen.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847088"/>
            <a:ext cx="5532120" cy="969264"/>
          </a:xfrm>
          <a:prstGeom prst="roundRect">
            <a:avLst>
              <a:gd name="adj" fmla="val 8491"/>
            </a:avLst>
          </a:prstGeom>
          <a:solidFill>
            <a:srgbClr val="F2F6FC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929384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  (repo root)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04088" y="2194560"/>
            <a:ext cx="5129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block: current session, current order + status, waiting-on clocks, open flags. Executor updates it at EVERY session close — it's what any fresh session reads first.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55080" y="1847088"/>
            <a:ext cx="5532120" cy="969264"/>
          </a:xfrm>
          <a:prstGeom prst="roundRect">
            <a:avLst>
              <a:gd name="adj" fmla="val 8491"/>
            </a:avLst>
          </a:prstGeom>
          <a:solidFill>
            <a:srgbClr val="F2F6FC"/>
          </a:solidFill>
          <a:ln/>
        </p:spPr>
      </p:sp>
      <p:sp>
        <p:nvSpPr>
          <p:cNvPr id="9" name="Text 7"/>
          <p:cNvSpPr/>
          <p:nvPr/>
        </p:nvSpPr>
        <p:spPr>
          <a:xfrm>
            <a:off x="6556248" y="1929384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EXECUTOR-PROTOCOL.md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56248" y="2194560"/>
            <a:ext cx="5129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Code's rulebook: session open/execute/close lifecycle, stop-and-ask triggers, do-not-touch list, escalation rules. Effectively frozen — changing it is changing the rules of the game.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962656"/>
            <a:ext cx="5532120" cy="969264"/>
          </a:xfrm>
          <a:prstGeom prst="roundRect">
            <a:avLst>
              <a:gd name="adj" fmla="val 8491"/>
            </a:avLst>
          </a:prstGeom>
          <a:solidFill>
            <a:srgbClr val="F2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044952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&lt;session&gt;.migration-order.md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04088" y="3310128"/>
            <a:ext cx="5129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session: the approved work plan, its Deviations (filled during execution), and the handoff. Status in the header tracks the lifecycle.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55080" y="2962656"/>
            <a:ext cx="5532120" cy="969264"/>
          </a:xfrm>
          <a:prstGeom prst="roundRect">
            <a:avLst>
              <a:gd name="adj" fmla="val 8491"/>
            </a:avLst>
          </a:prstGeom>
          <a:solidFill>
            <a:srgbClr val="F2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6556248" y="3044952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DECISION-LOG.md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56248" y="3310128"/>
            <a:ext cx="5129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flag resolution (F1–F19) with evidence and who approved. Your audit trail for every judgment call made across months of work.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5532120" cy="969264"/>
          </a:xfrm>
          <a:prstGeom prst="roundRect">
            <a:avLst>
              <a:gd name="adj" fmla="val 8491"/>
            </a:avLst>
          </a:prstGeom>
          <a:solidFill>
            <a:srgbClr val="F2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4160520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migration-cutover-table.md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4088" y="4425696"/>
            <a:ext cx="5129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where, right now: MONOLITH → BUILT → SHADOW-RUNNING → CUT-OVER → RETIRED per slice. The Executor updates it the same session anything moves.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355080" y="4078224"/>
            <a:ext cx="5532120" cy="969264"/>
          </a:xfrm>
          <a:prstGeom prst="roundRect">
            <a:avLst>
              <a:gd name="adj" fmla="val 8491"/>
            </a:avLst>
          </a:prstGeom>
          <a:solidFill>
            <a:srgbClr val="F2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556248" y="4160520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migration-stack-analysis.md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56248" y="4425696"/>
            <a:ext cx="5129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653-file inventory the Advisor plans from. Executor touches affected entries whenever a session creates, moves, or deletes files.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5193792"/>
            <a:ext cx="5532120" cy="969264"/>
          </a:xfrm>
          <a:prstGeom prst="roundRect">
            <a:avLst>
              <a:gd name="adj" fmla="val 8491"/>
            </a:avLst>
          </a:prstGeom>
          <a:solidFill>
            <a:srgbClr val="FFF6E8"/>
          </a:solidFill>
          <a:ln/>
        </p:spPr>
      </p:sp>
      <p:sp>
        <p:nvSpPr>
          <p:cNvPr id="24" name="Text 22"/>
          <p:cNvSpPr/>
          <p:nvPr/>
        </p:nvSpPr>
        <p:spPr>
          <a:xfrm>
            <a:off x="704088" y="5276088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LESSONS-LEARNED.md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04088" y="5541264"/>
            <a:ext cx="5129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memory: rules distilled from failures (L1, L2, ...) — read at every open, harvested at close, capped and consolidated so the reflexes stay sharp.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the human in the loop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40680" cy="1810512"/>
          </a:xfrm>
          <a:prstGeom prst="roundRect">
            <a:avLst>
              <a:gd name="adj" fmla="val 4545"/>
            </a:avLst>
          </a:prstGeom>
          <a:solidFill>
            <a:srgbClr val="2A3878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" y="1682496"/>
            <a:ext cx="384048" cy="384048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1664208"/>
            <a:ext cx="384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52728" y="168249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flags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252728" y="2084832"/>
            <a:ext cx="44805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18+ numbered decisions (F1-F19) where the plan says 'not sure - check'. Some are technical (Claude Code investigates &amp; proposes), some are YOURS alone: F16 public URL names, F17 what data staging may use, F18 how much data-loss/downtime is tolerable.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440680" cy="1810512"/>
          </a:xfrm>
          <a:prstGeom prst="roundRect">
            <a:avLst>
              <a:gd name="adj" fmla="val 4545"/>
            </a:avLst>
          </a:prstGeom>
          <a:solidFill>
            <a:srgbClr val="2A3878"/>
          </a:solidFill>
          <a:ln/>
        </p:spPr>
      </p:sp>
      <p:sp>
        <p:nvSpPr>
          <p:cNvPr id="10" name="Shape 8"/>
          <p:cNvSpPr/>
          <p:nvPr/>
        </p:nvSpPr>
        <p:spPr>
          <a:xfrm>
            <a:off x="6483096" y="1682496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664208"/>
            <a:ext cx="384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13448" y="168249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gates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013448" y="2084832"/>
            <a:ext cx="44805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DRAFT order between sessions, phase exits, every cutover flag-flip, anything touching real money. Ask for the shadow-run diff and the rollback plan every single time - make it a ritual.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547872"/>
            <a:ext cx="5440680" cy="1810512"/>
          </a:xfrm>
          <a:prstGeom prst="roundRect">
            <a:avLst>
              <a:gd name="adj" fmla="val 4545"/>
            </a:avLst>
          </a:prstGeom>
          <a:solidFill>
            <a:srgbClr val="2A3878"/>
          </a:solidFill>
          <a:ln/>
        </p:spPr>
      </p:sp>
      <p:sp>
        <p:nvSpPr>
          <p:cNvPr id="15" name="Shape 13"/>
          <p:cNvSpPr/>
          <p:nvPr/>
        </p:nvSpPr>
        <p:spPr>
          <a:xfrm>
            <a:off x="722376" y="3767328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" y="3749040"/>
            <a:ext cx="384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52728" y="376732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access &amp; facts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252728" y="4169664"/>
            <a:ext cx="44805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Railway, Vercel, Stripe, dLocal, RiseWorks dashboards; where the current database lives (F3); provider webhook consoles at slice 2. Claude Code can't see what it isn't given.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3547872"/>
            <a:ext cx="5440680" cy="1810512"/>
          </a:xfrm>
          <a:prstGeom prst="roundRect">
            <a:avLst>
              <a:gd name="adj" fmla="val 4545"/>
            </a:avLst>
          </a:prstGeom>
          <a:solidFill>
            <a:srgbClr val="2A387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3096" y="3767328"/>
            <a:ext cx="384048" cy="384048"/>
          </a:xfrm>
          <a:prstGeom prst="ellipse">
            <a:avLst/>
          </a:prstGeom>
          <a:solidFill>
            <a:srgbClr val="F9E795"/>
          </a:solidFill>
          <a:ln/>
        </p:spPr>
      </p:sp>
      <p:sp>
        <p:nvSpPr>
          <p:cNvPr id="21" name="Text 19"/>
          <p:cNvSpPr/>
          <p:nvPr/>
        </p:nvSpPr>
        <p:spPr>
          <a:xfrm>
            <a:off x="6483096" y="3749040"/>
            <a:ext cx="384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13448" y="376732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clock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013448" y="4169664"/>
            <a:ext cx="44805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Shadow-runs need their 48 hours; both services need their 30-day stability windows. The plan fails fastest when a human rushes it.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598932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executes; you decide. Every flag resolution is written to the Decision Log - your audit trail.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TOGETHER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talk to Claude Code - copy these patterns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532120" cy="1042416"/>
          </a:xfrm>
          <a:prstGeom prst="roundRect">
            <a:avLst>
              <a:gd name="adj" fmla="val 7895"/>
            </a:avLst>
          </a:prstGeom>
          <a:solidFill>
            <a:srgbClr val="F2F6FC"/>
          </a:solidFill>
          <a:ln/>
        </p:spPr>
      </p:sp>
      <p:sp>
        <p:nvSpPr>
          <p:cNvPr id="5" name="Text 3"/>
          <p:cNvSpPr/>
          <p:nvPr/>
        </p:nvSpPr>
        <p:spPr>
          <a:xfrm>
            <a:off x="704088" y="14813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A SESSION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04088" y="1719072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“Read CLAUDE.md and EXECUTOR-PROTOCOL.md. CONFIRM this session's APPROVED order vs code + runtime state. Show me what changed - don't execute until I say go.”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55080" y="1371600"/>
            <a:ext cx="5532120" cy="1042416"/>
          </a:xfrm>
          <a:prstGeom prst="roundRect">
            <a:avLst>
              <a:gd name="adj" fmla="val 7895"/>
            </a:avLst>
          </a:prstGeom>
          <a:solidFill>
            <a:srgbClr val="F2F6FC"/>
          </a:solidFill>
          <a:ln/>
        </p:spPr>
      </p:sp>
      <p:sp>
        <p:nvSpPr>
          <p:cNvPr id="8" name="Text 6"/>
          <p:cNvSpPr/>
          <p:nvPr/>
        </p:nvSpPr>
        <p:spPr>
          <a:xfrm>
            <a:off x="6556248" y="14813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A SESSION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56248" y="1719072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“Wrap up per protocol: tests + results, fill Deviations, update the artifacts, then PRE-DRAFT the next order for my approval.”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578608"/>
            <a:ext cx="5532120" cy="1042416"/>
          </a:xfrm>
          <a:prstGeom prst="roundRect">
            <a:avLst>
              <a:gd name="adj" fmla="val 7895"/>
            </a:avLst>
          </a:prstGeom>
          <a:solidFill>
            <a:srgbClr val="F2F6FC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268833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ANYTHING RISKY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04088" y="2926080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exactly is the rollback if this fails? Show me it was verified in staging - then wait for my go.”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55080" y="2578608"/>
            <a:ext cx="5532120" cy="1042416"/>
          </a:xfrm>
          <a:prstGeom prst="roundRect">
            <a:avLst>
              <a:gd name="adj" fmla="val 7895"/>
            </a:avLst>
          </a:prstGeom>
          <a:solidFill>
            <a:srgbClr val="F2F6FC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48" y="268833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SHADOW-RUN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556248" y="2926080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“Show the diff summary and EVERY mismatch with your explanation. An unexplained mismatch means no cutover.”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785616"/>
            <a:ext cx="5532120" cy="1042416"/>
          </a:xfrm>
          <a:prstGeom prst="roundRect">
            <a:avLst>
              <a:gd name="adj" fmla="val 7895"/>
            </a:avLst>
          </a:prstGeom>
          <a:solidFill>
            <a:srgbClr val="F2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DONE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04088" y="4133088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“Show me: the test command, its full output, and the commit hashes. Done means I can see it.”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55080" y="3785616"/>
            <a:ext cx="5532120" cy="1042416"/>
          </a:xfrm>
          <a:prstGeom prst="roundRect">
            <a:avLst>
              <a:gd name="adj" fmla="val 7895"/>
            </a:avLst>
          </a:prstGeom>
          <a:solidFill>
            <a:srgbClr val="F2F6FC"/>
          </a:solidFill>
          <a:ln/>
        </p:spPr>
      </p:sp>
      <p:sp>
        <p:nvSpPr>
          <p:cNvPr id="20" name="Text 18"/>
          <p:cNvSpPr/>
          <p:nvPr/>
        </p:nvSpPr>
        <p:spPr>
          <a:xfrm>
            <a:off x="6556248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GUARDING SCOPE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56248" y="4133088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“Quote me the order step that covers this change. If you can't, it's out of scope - backlog it.”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5084064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193792"/>
            <a:ext cx="10634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RULES: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execute a non-CONFIRMED order  ·  one session, one goal  ·  evidence, not confidence  ·  no cutover without a clean shadow-run  ·  artifacts updated before any session ends        Full guide: docs/migration-orders/HOW-TO-TALK-TO-CLAUDE-CODE.md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2026-07-12T06:19:04Z</dcterms:created>
  <dcterms:modified xsi:type="dcterms:W3CDTF">2026-07-12T06:19:04Z</dcterms:modified>
</cp:coreProperties>
</file>