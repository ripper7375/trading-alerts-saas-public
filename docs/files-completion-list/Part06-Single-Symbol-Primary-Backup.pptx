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533" y="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7904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SINGLE-SYMBOL ARCHITECTURE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06: XAUUSD Only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CFE8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monolithic process, primary + backup MT5 terminals — no Redis, no worker VPS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 resilience for a single symbol: protect against one terminal dropping, not against many symbols colliding.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709160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132D46"/>
          </a:solidFill>
          <a:ln w="12700">
            <a:solidFill>
              <a:srgbClr val="24506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95604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47091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Terminal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520440" y="4709160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132D46"/>
          </a:solidFill>
          <a:ln w="12700">
            <a:solidFill>
              <a:srgbClr val="24506E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032" y="4956048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60520" y="47091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Auto-Failover to Backup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217920" y="4709160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132D46"/>
          </a:solidFill>
          <a:ln w="12700">
            <a:solidFill>
              <a:srgbClr val="24506E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4956048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58000" y="47091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Flask Process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915400" y="4709160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132D46"/>
          </a:solidFill>
          <a:ln w="12700">
            <a:solidFill>
              <a:srgbClr val="24506E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992" y="4956048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555480" y="47091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API Contract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822960" y="6217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Alerts SaaS  |  Backend Architecture Deck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Process, Two Terminals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connection-pool logic just needs a second credential set to fail over to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132D46"/>
          </a:solidFill>
          <a:ln w="15875">
            <a:solidFill>
              <a:srgbClr val="24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545336"/>
            <a:ext cx="457200" cy="457200"/>
          </a:xfrm>
          <a:prstGeom prst="ellipse">
            <a:avLst/>
          </a:prstGeom>
          <a:solidFill>
            <a:srgbClr val="12B88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624" y="164592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07568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Terminal — Primary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2423160"/>
            <a:ext cx="19202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8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login A</a:t>
            </a:r>
            <a:endParaRPr lang="en-US" sz="88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88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by default</a:t>
            </a:r>
            <a:endParaRPr lang="en-US" sz="880" dirty="0"/>
          </a:p>
        </p:txBody>
      </p:sp>
      <p:sp>
        <p:nvSpPr>
          <p:cNvPr id="9" name="Shape 6"/>
          <p:cNvSpPr/>
          <p:nvPr/>
        </p:nvSpPr>
        <p:spPr>
          <a:xfrm>
            <a:off x="640080" y="260604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132D46"/>
          </a:solidFill>
          <a:ln w="15875">
            <a:solidFill>
              <a:srgbClr val="2450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63040" y="2734056"/>
            <a:ext cx="457200" cy="457200"/>
          </a:xfrm>
          <a:prstGeom prst="ellipse">
            <a:avLst/>
          </a:prstGeom>
          <a:solidFill>
            <a:srgbClr val="5B7285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624" y="283464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" y="326440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Terminal — Backup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31520" y="3611880"/>
            <a:ext cx="19202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8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login B</a:t>
            </a:r>
            <a:endParaRPr lang="en-US" sz="88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88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Standby, same symbol</a:t>
            </a:r>
            <a:endParaRPr lang="en-US" sz="880" dirty="0"/>
          </a:p>
        </p:txBody>
      </p:sp>
      <p:sp>
        <p:nvSpPr>
          <p:cNvPr id="14" name="Shape 10"/>
          <p:cNvSpPr/>
          <p:nvPr/>
        </p:nvSpPr>
        <p:spPr>
          <a:xfrm>
            <a:off x="2743200" y="1897380"/>
            <a:ext cx="274320" cy="0"/>
          </a:xfrm>
          <a:prstGeom prst="line">
            <a:avLst/>
          </a:prstGeom>
          <a:noFill/>
          <a:ln w="28575">
            <a:solidFill>
              <a:srgbClr val="12B886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2743200" y="3086100"/>
            <a:ext cx="274320" cy="0"/>
          </a:xfrm>
          <a:prstGeom prst="line">
            <a:avLst/>
          </a:prstGeom>
          <a:noFill/>
          <a:ln w="28575">
            <a:solidFill>
              <a:srgbClr val="5B7285"/>
            </a:solidFill>
            <a:prstDash val="dash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3017520" y="1417320"/>
            <a:ext cx="4206240" cy="2148840"/>
          </a:xfrm>
          <a:prstGeom prst="roundRect">
            <a:avLst>
              <a:gd name="adj" fmla="val 3404"/>
            </a:avLst>
          </a:prstGeom>
          <a:solidFill>
            <a:srgbClr val="132D46"/>
          </a:solidFill>
          <a:ln w="15875">
            <a:solidFill>
              <a:srgbClr val="24506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828032" y="1600200"/>
            <a:ext cx="585216" cy="585216"/>
          </a:xfrm>
          <a:prstGeom prst="ellipse">
            <a:avLst/>
          </a:prstGeom>
          <a:solidFill>
            <a:srgbClr val="0B5D8C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780" y="1728948"/>
            <a:ext cx="327721" cy="327721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839712" y="1271016"/>
            <a:ext cx="512064" cy="512064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20" name="Text 15"/>
          <p:cNvSpPr/>
          <p:nvPr/>
        </p:nvSpPr>
        <p:spPr>
          <a:xfrm>
            <a:off x="6839712" y="12710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3090672" y="2286000"/>
            <a:ext cx="4059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Flask Process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3108960" y="26517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8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manager: primary + backup session</a:t>
            </a:r>
            <a:endParaRPr lang="en-US" sz="88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88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+ auto-switch after N failures</a:t>
            </a:r>
            <a:endParaRPr lang="en-US" sz="88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88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REST API + Socket.IO — no separate worker</a:t>
            </a:r>
            <a:endParaRPr lang="en-US" sz="880" dirty="0"/>
          </a:p>
        </p:txBody>
      </p:sp>
      <p:sp>
        <p:nvSpPr>
          <p:cNvPr id="23" name="Shape 18"/>
          <p:cNvSpPr/>
          <p:nvPr/>
        </p:nvSpPr>
        <p:spPr>
          <a:xfrm>
            <a:off x="7223760" y="2491740"/>
            <a:ext cx="274320" cy="0"/>
          </a:xfrm>
          <a:prstGeom prst="line">
            <a:avLst/>
          </a:prstGeom>
          <a:noFill/>
          <a:ln w="28575">
            <a:solidFill>
              <a:srgbClr val="12B886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7498080" y="146304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132D46"/>
          </a:solidFill>
          <a:ln w="15875">
            <a:solidFill>
              <a:srgbClr val="24506E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366760" y="153619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12" y="1609344"/>
            <a:ext cx="219456" cy="21945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552944" y="1920240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07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7552944" y="2130552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Routes API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7498080" y="269748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132D46"/>
          </a:solidFill>
          <a:ln w="15875">
            <a:solidFill>
              <a:srgbClr val="24506E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366760" y="2770632"/>
            <a:ext cx="365760" cy="365760"/>
          </a:xfrm>
          <a:prstGeom prst="ellipse">
            <a:avLst/>
          </a:prstGeom>
          <a:solidFill>
            <a:srgbClr val="12B886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9912" y="2843784"/>
            <a:ext cx="219456" cy="21945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552944" y="3154680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7552944" y="3364992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</a:t>
            </a:r>
            <a:endParaRPr lang="en-US" sz="850" dirty="0"/>
          </a:p>
        </p:txBody>
      </p:sp>
      <p:sp>
        <p:nvSpPr>
          <p:cNvPr id="34" name="Shape 27"/>
          <p:cNvSpPr/>
          <p:nvPr/>
        </p:nvSpPr>
        <p:spPr>
          <a:xfrm>
            <a:off x="640080" y="388620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0F332B"/>
          </a:solidFill>
          <a:ln w="12700">
            <a:solidFill>
              <a:srgbClr val="1E5C4A"/>
            </a:solidFill>
            <a:prstDash val="solid"/>
          </a:ln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087368"/>
            <a:ext cx="384048" cy="38404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371600" y="40599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fits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868680" y="44348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one symbol, one MT5 session is all the ingestion side ever needed — the primary/backup pair only protects against that one session dropping, not against many sessions colliding in one interpreter. No Redis, no second VPS, no NestJS Gateway required — just a second credential set the existing pool can fail over to.</a:t>
            </a:r>
            <a:endParaRPr lang="en-US" sz="1150" dirty="0"/>
          </a:p>
        </p:txBody>
      </p:sp>
      <p:sp>
        <p:nvSpPr>
          <p:cNvPr id="38" name="Text 30"/>
          <p:cNvSpPr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</a:t>
            </a:r>
            <a:r>
              <a:rPr lang="en-US" sz="11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3.0  ·  flask-socketio  ·  eventlet  ·  MetaTrader5 Python API (2 sessions: primary + backup)  ·  gunicorn + gevent — no Redis, no NestJS, no second VPS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Failover, Step by Step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the primary MT5 terminal drops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34924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blurRad="101600" dist="38100" dir="5400000" algn="bl" rotWithShape="0">
              <a:srgbClr val="0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55648"/>
            <a:ext cx="457200" cy="457200"/>
          </a:xfrm>
          <a:prstGeom prst="ellipse">
            <a:avLst/>
          </a:prstGeom>
          <a:solidFill>
            <a:srgbClr val="0B5D8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5270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operation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17320" y="1801368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connects to the Primary MT5 terminal (XAUUSD) and serves REST + Socket.IO as usual.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34924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blurRad="101600" dist="38100" dir="5400000" algn="bl" rotWithShape="0">
              <a:srgbClr val="0B2A4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755648"/>
            <a:ext cx="457200" cy="457200"/>
          </a:xfrm>
          <a:prstGeom prst="ellipse">
            <a:avLst/>
          </a:prstGeom>
          <a:solidFill>
            <a:srgbClr val="0B5D8C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15270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runs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86600" y="1801368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connection manager pings the primary session on a timer — the same reconnect logic already in the pool today.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40080" y="2697480"/>
            <a:ext cx="534924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blurRad="101600" dist="38100" dir="5400000" algn="bl" rotWithShape="0">
              <a:srgbClr val="0B2A4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0358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28072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fails N times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17320" y="3081528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configurable number of consecutive failed reconnects, the primary session is marked down.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309360" y="2697480"/>
            <a:ext cx="534924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blurRad="101600" dist="38100" dir="5400000" algn="bl" rotWithShape="0">
              <a:srgbClr val="0B2A4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30358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86600" y="28072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Auto-switch to backup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86600" y="3081528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 logs into the Backup terminal (same symbol, separate broker login) and resumes copy_rates_from_pos() from there.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40080" y="3977640"/>
            <a:ext cx="534924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blurRad="101600" dist="38100" dir="5400000" algn="bl" rotWithShape="0">
              <a:srgbClr val="0B2A4A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4315968"/>
            <a:ext cx="457200" cy="457200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40873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keep working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17320" y="4361688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and Socket.IO contracts don't change — a brief data gap bounded by the health-check interval, then updates resume.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6309360" y="3977640"/>
            <a:ext cx="534924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blurRad="101600" dist="38100" dir="5400000" algn="bl" rotWithShape="0">
              <a:srgbClr val="0B2A4A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92240" y="4315968"/>
            <a:ext cx="457200" cy="457200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86600" y="40873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(optional)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86600" y="4361688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Primary is healthy again, an admin can force a switch back, or the manager can auto-detect and revert.</a:t>
            </a:r>
            <a:endParaRPr lang="en-US" sz="9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You'd Need More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design is right-sized today — here's the trigger for revisiting it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blurRad="101600" dist="38100" dir="5400000" algn="bl" rotWithShape="0">
              <a:srgbClr val="0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673352"/>
            <a:ext cx="457200" cy="457200"/>
          </a:xfrm>
          <a:prstGeom prst="ellipse">
            <a:avLst/>
          </a:prstGeom>
          <a:solidFill>
            <a:srgbClr val="12B88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78308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58191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design fits when...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14400" y="23317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symbol (or a small, fixed number)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295351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protecting against one terminal/session dropping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357530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is modest enough for one process to serve directly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419709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overhead should stay minimal — one VPS, one process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309360" y="14173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blurRad="101600" dist="38100" dir="5400000" algn="bl" rotWithShape="0">
              <a:srgbClr val="0B2A4A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83680" y="167335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1783080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78040" y="158191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the decomposed pipeline when...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583680" y="23317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add symbol #2, #3... and blast-radius risk returns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583680" y="295351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serving layer needs to scale independently of MT5 ingestion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583680" y="357530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count grows enough that per-symbol failover isn't sufficient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583680" y="419709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See: Part06-Before-After-v3-Dedicated-Worker-VPS.pptx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40080" y="5532120"/>
            <a:ext cx="10881360" cy="685800"/>
          </a:xfrm>
          <a:prstGeom prst="roundRect">
            <a:avLst>
              <a:gd name="adj" fmla="val 9333"/>
            </a:avLst>
          </a:prstGeom>
          <a:solidFill>
            <a:srgbClr val="132D46"/>
          </a:solidFill>
          <a:ln w="12700">
            <a:solidFill>
              <a:srgbClr val="24506E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705856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80160" y="55321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and decomposition solve different problems: primary/backup protects one symbol's connection; the worker-VPS pipeline isolates many symbols from each other. Pick based on symbol count, not on how important the one symbol is.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551</Words>
  <Application>Microsoft Office PowerPoint</Application>
  <PresentationFormat>Widescreen</PresentationFormat>
  <Paragraphs>66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 06: Single-Symbol Primary/Backup Architecture (XAUUSD)</dc:title>
  <dc:subject>PptxGenJS Presentation</dc:subject>
  <dc:creator>Trading Alerts SaaS</dc:creator>
  <cp:lastModifiedBy>Dhapanart Kevalee</cp:lastModifiedBy>
  <cp:revision>1</cp:revision>
  <dcterms:created xsi:type="dcterms:W3CDTF">2026-07-03T11:30:44Z</dcterms:created>
  <dcterms:modified xsi:type="dcterms:W3CDTF">2026-07-03T13:35:18Z</dcterms:modified>
</cp:coreProperties>
</file>