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2B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COMPARISON — v2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17830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06: Before vs After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22960" y="265176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CFE8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Railway + NestJS + the EA you've already built — no Python bridge required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822960" y="3474720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MQL5 EA pushes live OHLCV over HTTPS; Redis Pub/Sub and Socket.IO handle the fan-out on Railway.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4709160"/>
            <a:ext cx="2514600" cy="868680"/>
          </a:xfrm>
          <a:prstGeom prst="roundRect">
            <a:avLst>
              <a:gd name="adj" fmla="val 9474"/>
            </a:avLst>
          </a:prstGeom>
          <a:solidFill>
            <a:srgbClr val="132D46"/>
          </a:solidFill>
          <a:ln w="12700">
            <a:solidFill>
              <a:srgbClr val="24506E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4956048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470916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 Pushes via HTTPS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520440" y="4709160"/>
            <a:ext cx="2514600" cy="868680"/>
          </a:xfrm>
          <a:prstGeom prst="roundRect">
            <a:avLst>
              <a:gd name="adj" fmla="val 9474"/>
            </a:avLst>
          </a:prstGeom>
          <a:solidFill>
            <a:srgbClr val="132D46"/>
          </a:solidFill>
          <a:ln w="12700">
            <a:solidFill>
              <a:srgbClr val="24506E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5032" y="4956048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160520" y="470916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Pub/Sub Fan-out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217920" y="4709160"/>
            <a:ext cx="2514600" cy="868680"/>
          </a:xfrm>
          <a:prstGeom prst="roundRect">
            <a:avLst>
              <a:gd name="adj" fmla="val 9474"/>
            </a:avLst>
          </a:prstGeom>
          <a:solidFill>
            <a:srgbClr val="132D46"/>
          </a:solidFill>
          <a:ln w="12700">
            <a:solidFill>
              <a:srgbClr val="24506E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2" y="4956048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858000" y="470916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on Railway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8915400" y="4709160"/>
            <a:ext cx="2514600" cy="868680"/>
          </a:xfrm>
          <a:prstGeom prst="roundRect">
            <a:avLst>
              <a:gd name="adj" fmla="val 9474"/>
            </a:avLst>
          </a:prstGeom>
          <a:solidFill>
            <a:srgbClr val="132D46"/>
          </a:solidFill>
          <a:ln w="12700">
            <a:solidFill>
              <a:srgbClr val="24506E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9992" y="4956048"/>
            <a:ext cx="384048" cy="38404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555480" y="470916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API Contract</a:t>
            </a:r>
            <a:endParaRPr lang="en-US" sz="1250" dirty="0"/>
          </a:p>
        </p:txBody>
      </p:sp>
      <p:sp>
        <p:nvSpPr>
          <p:cNvPr id="18" name="Text 12"/>
          <p:cNvSpPr/>
          <p:nvPr/>
        </p:nvSpPr>
        <p:spPr>
          <a:xfrm>
            <a:off x="822960" y="6217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Alerts SaaS  |  Backend Architecture Deck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— Monolithic Flask Process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A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MT5 connections and the public API all live inside one Python process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920240" cy="2148840"/>
          </a:xfrm>
          <a:prstGeom prst="roundRect">
            <a:avLst>
              <a:gd name="adj" fmla="val 3810"/>
            </a:avLst>
          </a:prstGeom>
          <a:solidFill>
            <a:srgbClr val="132D46"/>
          </a:solidFill>
          <a:ln w="15875">
            <a:solidFill>
              <a:srgbClr val="2450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07592" y="1600200"/>
            <a:ext cx="585216" cy="585216"/>
          </a:xfrm>
          <a:prstGeom prst="ellipse">
            <a:avLst/>
          </a:prstGeom>
          <a:solidFill>
            <a:srgbClr val="0B5D8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3896" y="1746504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2286000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MT5 Terminals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31520" y="274320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A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×15 (one per symbol)</a:t>
            </a:r>
            <a:endParaRPr lang="en-US" sz="9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A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VPS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560320" y="2491740"/>
            <a:ext cx="274320" cy="0"/>
          </a:xfrm>
          <a:prstGeom prst="line">
            <a:avLst/>
          </a:prstGeom>
          <a:noFill/>
          <a:ln w="28575">
            <a:solidFill>
              <a:srgbClr val="C0392B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2834640" y="1417320"/>
            <a:ext cx="4206240" cy="2148840"/>
          </a:xfrm>
          <a:prstGeom prst="roundRect">
            <a:avLst>
              <a:gd name="adj" fmla="val 3404"/>
            </a:avLst>
          </a:prstGeom>
          <a:solidFill>
            <a:srgbClr val="132D46"/>
          </a:solidFill>
          <a:ln w="15875">
            <a:solidFill>
              <a:srgbClr val="24506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45152" y="1600200"/>
            <a:ext cx="585216" cy="585216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1456" y="1746504"/>
            <a:ext cx="292608" cy="292608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656832" y="1271016"/>
            <a:ext cx="512064" cy="51206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4" name="Text 10"/>
          <p:cNvSpPr/>
          <p:nvPr/>
        </p:nvSpPr>
        <p:spPr>
          <a:xfrm>
            <a:off x="6656832" y="127101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2907792" y="2286000"/>
            <a:ext cx="4059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Flask Process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2926080" y="274320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A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Pool (15 MT5 sessions)</a:t>
            </a:r>
            <a:endParaRPr lang="en-US" sz="9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A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REST API + Socket.IO server</a:t>
            </a:r>
            <a:endParaRPr lang="en-US" sz="9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A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all sharing one Python interpreter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7040880" y="2491740"/>
            <a:ext cx="274320" cy="0"/>
          </a:xfrm>
          <a:prstGeom prst="line">
            <a:avLst/>
          </a:prstGeom>
          <a:noFill/>
          <a:ln w="28575">
            <a:solidFill>
              <a:srgbClr val="12B886"/>
            </a:solidFill>
            <a:prstDash val="solid"/>
            <a:tailEnd type="triangle"/>
          </a:ln>
        </p:spPr>
      </p:sp>
      <p:sp>
        <p:nvSpPr>
          <p:cNvPr id="18" name="Shape 14"/>
          <p:cNvSpPr/>
          <p:nvPr/>
        </p:nvSpPr>
        <p:spPr>
          <a:xfrm>
            <a:off x="7315200" y="1463040"/>
            <a:ext cx="2103120" cy="868680"/>
          </a:xfrm>
          <a:prstGeom prst="roundRect">
            <a:avLst>
              <a:gd name="adj" fmla="val 8421"/>
            </a:avLst>
          </a:prstGeom>
          <a:solidFill>
            <a:srgbClr val="132D46"/>
          </a:solidFill>
          <a:ln w="15875">
            <a:solidFill>
              <a:srgbClr val="24506E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183880" y="1536192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7032" y="1609344"/>
            <a:ext cx="219456" cy="21945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370064" y="1920240"/>
            <a:ext cx="199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07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7370064" y="2130552"/>
            <a:ext cx="1993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A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Routes API</a:t>
            </a:r>
            <a:endParaRPr lang="en-US" sz="850" dirty="0"/>
          </a:p>
        </p:txBody>
      </p:sp>
      <p:sp>
        <p:nvSpPr>
          <p:cNvPr id="23" name="Shape 18"/>
          <p:cNvSpPr/>
          <p:nvPr/>
        </p:nvSpPr>
        <p:spPr>
          <a:xfrm>
            <a:off x="7315200" y="2697480"/>
            <a:ext cx="2103120" cy="868680"/>
          </a:xfrm>
          <a:prstGeom prst="roundRect">
            <a:avLst>
              <a:gd name="adj" fmla="val 8421"/>
            </a:avLst>
          </a:prstGeom>
          <a:solidFill>
            <a:srgbClr val="132D46"/>
          </a:solidFill>
          <a:ln w="15875">
            <a:solidFill>
              <a:srgbClr val="24506E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8183880" y="2770632"/>
            <a:ext cx="365760" cy="365760"/>
          </a:xfrm>
          <a:prstGeom prst="ellipse">
            <a:avLst/>
          </a:prstGeom>
          <a:solidFill>
            <a:srgbClr val="12B886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7032" y="2843784"/>
            <a:ext cx="219456" cy="21945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370064" y="3154680"/>
            <a:ext cx="199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7370064" y="3364992"/>
            <a:ext cx="1993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A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+ Socket.IO client</a:t>
            </a:r>
            <a:endParaRPr lang="en-US" sz="850" dirty="0"/>
          </a:p>
        </p:txBody>
      </p:sp>
      <p:sp>
        <p:nvSpPr>
          <p:cNvPr id="28" name="Shape 22"/>
          <p:cNvSpPr/>
          <p:nvPr/>
        </p:nvSpPr>
        <p:spPr>
          <a:xfrm>
            <a:off x="640080" y="388620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3A1A1E"/>
          </a:solidFill>
          <a:ln w="12700">
            <a:solidFill>
              <a:srgbClr val="6B2A30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087368"/>
            <a:ext cx="384048" cy="38404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371600" y="4059936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risky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868680" y="443484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8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MetaTrader5 Python package is built for one terminal per process — 15 sessions sharing one interpreter can interfere with each other. One crash or restart takes down all 15 symbols at once, and the API layer cannot scale separately from MT5 connectivity.</a:t>
            </a:r>
            <a:endParaRPr lang="en-US" sz="1150" dirty="0"/>
          </a:p>
        </p:txBody>
      </p:sp>
      <p:sp>
        <p:nvSpPr>
          <p:cNvPr id="32" name="Text 25"/>
          <p:cNvSpPr/>
          <p:nvPr/>
        </p:nvSpPr>
        <p:spPr>
          <a:xfrm>
            <a:off x="640080" y="55321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B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</a:t>
            </a:r>
            <a:pPr indent="0" marL="0">
              <a:buNone/>
            </a:pPr>
            <a:r>
              <a:rPr lang="en-US" sz="1150" dirty="0">
                <a:solidFill>
                  <a:srgbClr val="A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3.0  ·  flask-socketio 5.3  ·  eventlet  ·  MetaTrader5 Python API  ·  gunicorn + gevent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 — EA-Driven Realtime Pipeline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A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MQL5 EA pushes ticks over HTTPS; Railway fans them out — no Python, no per-terminal process limit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1965960" cy="2148840"/>
          </a:xfrm>
          <a:prstGeom prst="roundRect">
            <a:avLst>
              <a:gd name="adj" fmla="val 3721"/>
            </a:avLst>
          </a:prstGeom>
          <a:solidFill>
            <a:srgbClr val="132D46"/>
          </a:solidFill>
          <a:ln w="15875">
            <a:solidFill>
              <a:srgbClr val="2450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84732" y="1600200"/>
            <a:ext cx="585216" cy="585216"/>
          </a:xfrm>
          <a:prstGeom prst="ellipse">
            <a:avLst/>
          </a:prstGeom>
          <a:solidFill>
            <a:srgbClr val="0B5D8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1036" y="1746504"/>
            <a:ext cx="292608" cy="29260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176272" y="1271016"/>
            <a:ext cx="512064" cy="512064"/>
          </a:xfrm>
          <a:prstGeom prst="ellipse">
            <a:avLst/>
          </a:prstGeom>
          <a:solidFill>
            <a:srgbClr val="0B5D8C"/>
          </a:solidFill>
          <a:ln/>
        </p:spPr>
      </p:sp>
      <p:sp>
        <p:nvSpPr>
          <p:cNvPr id="8" name="Text 5"/>
          <p:cNvSpPr/>
          <p:nvPr/>
        </p:nvSpPr>
        <p:spPr>
          <a:xfrm>
            <a:off x="2176272" y="127101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67512" y="2286000"/>
            <a:ext cx="1819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MT5 Terminals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85800" y="274320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A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×5 (Contabo VPS)</a:t>
            </a:r>
            <a:endParaRPr lang="en-US" sz="9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A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 loops symbols via</a:t>
            </a:r>
            <a:endParaRPr lang="en-US" sz="9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A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OnTimer()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560320" y="2491740"/>
            <a:ext cx="256032" cy="0"/>
          </a:xfrm>
          <a:prstGeom prst="line">
            <a:avLst/>
          </a:prstGeom>
          <a:noFill/>
          <a:ln w="28575">
            <a:solidFill>
              <a:srgbClr val="12B886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2816352" y="1417320"/>
            <a:ext cx="1965960" cy="2148840"/>
          </a:xfrm>
          <a:prstGeom prst="roundRect">
            <a:avLst>
              <a:gd name="adj" fmla="val 3721"/>
            </a:avLst>
          </a:prstGeom>
          <a:solidFill>
            <a:srgbClr val="132D46"/>
          </a:solidFill>
          <a:ln w="15875">
            <a:solidFill>
              <a:srgbClr val="24506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506724" y="1600200"/>
            <a:ext cx="585216" cy="58521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3028" y="1746504"/>
            <a:ext cx="292608" cy="29260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889504" y="2286000"/>
            <a:ext cx="1819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MQL5 EA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2907792" y="274320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A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inside terminal</a:t>
            </a:r>
            <a:endParaRPr lang="en-US" sz="9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A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WebRequest() HTTPS POST</a:t>
            </a:r>
            <a:endParaRPr lang="en-US" sz="9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A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OHLCV only, ~0.25s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4782312" y="2491740"/>
            <a:ext cx="256032" cy="0"/>
          </a:xfrm>
          <a:prstGeom prst="line">
            <a:avLst/>
          </a:prstGeom>
          <a:noFill/>
          <a:ln w="28575">
            <a:solidFill>
              <a:srgbClr val="12B886"/>
            </a:solidFill>
            <a:prstDash val="solid"/>
            <a:tailEnd type="triangle"/>
          </a:ln>
        </p:spPr>
      </p:sp>
      <p:sp>
        <p:nvSpPr>
          <p:cNvPr id="18" name="Shape 14"/>
          <p:cNvSpPr/>
          <p:nvPr/>
        </p:nvSpPr>
        <p:spPr>
          <a:xfrm>
            <a:off x="5038344" y="1417320"/>
            <a:ext cx="1965960" cy="2148840"/>
          </a:xfrm>
          <a:prstGeom prst="roundRect">
            <a:avLst>
              <a:gd name="adj" fmla="val 3721"/>
            </a:avLst>
          </a:prstGeom>
          <a:solidFill>
            <a:srgbClr val="132D46"/>
          </a:solidFill>
          <a:ln w="15875">
            <a:solidFill>
              <a:srgbClr val="24506E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728716" y="1600200"/>
            <a:ext cx="585216" cy="585216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5020" y="1746504"/>
            <a:ext cx="292608" cy="29260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111496" y="2286000"/>
            <a:ext cx="1819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5129784" y="274320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A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Pub/Sub channel per</a:t>
            </a:r>
            <a:endParaRPr lang="en-US" sz="9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A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 + timeframe</a:t>
            </a:r>
            <a:endParaRPr lang="en-US" sz="9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A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network (Railway)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7004304" y="2491740"/>
            <a:ext cx="256032" cy="0"/>
          </a:xfrm>
          <a:prstGeom prst="line">
            <a:avLst/>
          </a:prstGeom>
          <a:noFill/>
          <a:ln w="28575">
            <a:solidFill>
              <a:srgbClr val="12B886"/>
            </a:solidFill>
            <a:prstDash val="solid"/>
            <a:tailEnd type="triangle"/>
          </a:ln>
        </p:spPr>
      </p:sp>
      <p:sp>
        <p:nvSpPr>
          <p:cNvPr id="24" name="Shape 19"/>
          <p:cNvSpPr/>
          <p:nvPr/>
        </p:nvSpPr>
        <p:spPr>
          <a:xfrm>
            <a:off x="7260336" y="1417320"/>
            <a:ext cx="1965960" cy="2148840"/>
          </a:xfrm>
          <a:prstGeom prst="roundRect">
            <a:avLst>
              <a:gd name="adj" fmla="val 3721"/>
            </a:avLst>
          </a:prstGeom>
          <a:solidFill>
            <a:srgbClr val="132D46"/>
          </a:solidFill>
          <a:ln w="15875">
            <a:solidFill>
              <a:srgbClr val="24506E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7950708" y="1600200"/>
            <a:ext cx="585216" cy="585216"/>
          </a:xfrm>
          <a:prstGeom prst="ellipse">
            <a:avLst/>
          </a:prstGeom>
          <a:solidFill>
            <a:srgbClr val="12B886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7012" y="1746504"/>
            <a:ext cx="292608" cy="292608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8842248" y="1271016"/>
            <a:ext cx="512064" cy="512064"/>
          </a:xfrm>
          <a:prstGeom prst="ellipse">
            <a:avLst/>
          </a:prstGeom>
          <a:solidFill>
            <a:srgbClr val="12B886"/>
          </a:solidFill>
          <a:ln/>
        </p:spPr>
      </p:sp>
      <p:sp>
        <p:nvSpPr>
          <p:cNvPr id="28" name="Text 22"/>
          <p:cNvSpPr/>
          <p:nvPr/>
        </p:nvSpPr>
        <p:spPr>
          <a:xfrm>
            <a:off x="8842248" y="127101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7333488" y="2286000"/>
            <a:ext cx="1819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Realtime Gateway</a:t>
            </a:r>
            <a:endParaRPr lang="en-US" sz="1250" dirty="0"/>
          </a:p>
        </p:txBody>
      </p:sp>
      <p:sp>
        <p:nvSpPr>
          <p:cNvPr id="30" name="Text 24"/>
          <p:cNvSpPr/>
          <p:nvPr/>
        </p:nvSpPr>
        <p:spPr>
          <a:xfrm>
            <a:off x="7351776" y="274320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A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NestJS + Socket.IO</a:t>
            </a:r>
            <a:endParaRPr lang="en-US" sz="9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A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×N replicas (Railway)</a:t>
            </a:r>
            <a:endParaRPr lang="en-US" sz="9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A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REST/WS contract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9226296" y="2491740"/>
            <a:ext cx="256032" cy="0"/>
          </a:xfrm>
          <a:prstGeom prst="line">
            <a:avLst/>
          </a:prstGeom>
          <a:noFill/>
          <a:ln w="28575">
            <a:solidFill>
              <a:srgbClr val="12B886"/>
            </a:solidFill>
            <a:prstDash val="solid"/>
            <a:tailEnd type="triangle"/>
          </a:ln>
        </p:spPr>
      </p:sp>
      <p:sp>
        <p:nvSpPr>
          <p:cNvPr id="32" name="Shape 26"/>
          <p:cNvSpPr/>
          <p:nvPr/>
        </p:nvSpPr>
        <p:spPr>
          <a:xfrm>
            <a:off x="9482328" y="1463040"/>
            <a:ext cx="1965960" cy="868680"/>
          </a:xfrm>
          <a:prstGeom prst="roundRect">
            <a:avLst>
              <a:gd name="adj" fmla="val 8421"/>
            </a:avLst>
          </a:prstGeom>
          <a:solidFill>
            <a:srgbClr val="132D46"/>
          </a:solidFill>
          <a:ln w="15875">
            <a:solidFill>
              <a:srgbClr val="24506E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10282428" y="1536192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55580" y="1609344"/>
            <a:ext cx="219456" cy="219456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9537192" y="1920240"/>
            <a:ext cx="1856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07</a:t>
            </a:r>
            <a:endParaRPr lang="en-US" sz="1150" dirty="0"/>
          </a:p>
        </p:txBody>
      </p:sp>
      <p:sp>
        <p:nvSpPr>
          <p:cNvPr id="36" name="Text 29"/>
          <p:cNvSpPr/>
          <p:nvPr/>
        </p:nvSpPr>
        <p:spPr>
          <a:xfrm>
            <a:off x="9537192" y="2130552"/>
            <a:ext cx="1856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A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Routes API</a:t>
            </a:r>
            <a:endParaRPr lang="en-US" sz="850" dirty="0"/>
          </a:p>
        </p:txBody>
      </p:sp>
      <p:sp>
        <p:nvSpPr>
          <p:cNvPr id="37" name="Shape 30"/>
          <p:cNvSpPr/>
          <p:nvPr/>
        </p:nvSpPr>
        <p:spPr>
          <a:xfrm>
            <a:off x="9482328" y="2697480"/>
            <a:ext cx="1965960" cy="868680"/>
          </a:xfrm>
          <a:prstGeom prst="roundRect">
            <a:avLst>
              <a:gd name="adj" fmla="val 8421"/>
            </a:avLst>
          </a:prstGeom>
          <a:solidFill>
            <a:srgbClr val="132D46"/>
          </a:solidFill>
          <a:ln w="15875">
            <a:solidFill>
              <a:srgbClr val="24506E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10282428" y="2770632"/>
            <a:ext cx="365760" cy="365760"/>
          </a:xfrm>
          <a:prstGeom prst="ellipse">
            <a:avLst/>
          </a:prstGeom>
          <a:solidFill>
            <a:srgbClr val="12B886"/>
          </a:solidFill>
          <a:ln/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55580" y="2843784"/>
            <a:ext cx="219456" cy="219456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9537192" y="3154680"/>
            <a:ext cx="1856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150" dirty="0"/>
          </a:p>
        </p:txBody>
      </p:sp>
      <p:sp>
        <p:nvSpPr>
          <p:cNvPr id="41" name="Text 33"/>
          <p:cNvSpPr/>
          <p:nvPr/>
        </p:nvSpPr>
        <p:spPr>
          <a:xfrm>
            <a:off x="9537192" y="3364992"/>
            <a:ext cx="1856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A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unchanged</a:t>
            </a:r>
            <a:endParaRPr lang="en-US" sz="850" dirty="0"/>
          </a:p>
        </p:txBody>
      </p:sp>
      <p:sp>
        <p:nvSpPr>
          <p:cNvPr id="42" name="Shape 34"/>
          <p:cNvSpPr/>
          <p:nvPr/>
        </p:nvSpPr>
        <p:spPr>
          <a:xfrm>
            <a:off x="640080" y="388620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0F332B"/>
          </a:solidFill>
          <a:ln w="12700">
            <a:solidFill>
              <a:srgbClr val="1E5C4A"/>
            </a:solidFill>
            <a:prstDash val="solid"/>
          </a:ln>
        </p:spPr>
      </p:sp>
      <p:pic>
        <p:nvPicPr>
          <p:cNvPr id="4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680" y="4087368"/>
            <a:ext cx="384048" cy="384048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1371600" y="4059936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C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works</a:t>
            </a:r>
            <a:endParaRPr lang="en-US" sz="1300" dirty="0"/>
          </a:p>
        </p:txBody>
      </p:sp>
      <p:sp>
        <p:nvSpPr>
          <p:cNvPr id="45" name="Text 36"/>
          <p:cNvSpPr/>
          <p:nvPr/>
        </p:nvSpPr>
        <p:spPr>
          <a:xfrm>
            <a:off x="868680" y="443484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7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EA already multiplexes symbols per terminal, so the 15-terminal Python constraint disappears — 5 terminals can cover all 15 symbols. Redis stays fully private on Railway; only the Gateway's HTTPS endpoint is public. No queue in this path — it's fire-and-forget, latency-first, exactly what a live chart needs.</a:t>
            </a:r>
            <a:endParaRPr lang="en-US" sz="1150" dirty="0"/>
          </a:p>
        </p:txBody>
      </p:sp>
      <p:sp>
        <p:nvSpPr>
          <p:cNvPr id="46" name="Text 37"/>
          <p:cNvSpPr/>
          <p:nvPr/>
        </p:nvSpPr>
        <p:spPr>
          <a:xfrm>
            <a:off x="640080" y="55321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B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</a:t>
            </a:r>
            <a:pPr indent="0" marL="0">
              <a:buNone/>
            </a:pPr>
            <a:r>
              <a:rPr lang="en-US" sz="1150" dirty="0">
                <a:solidFill>
                  <a:srgbClr val="A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MQL5 WebRequest() (EA)  ·  NestJS 11 + @nestjs/platform-socket.io  ·  ioredis (pub/sub)  ·  @socket.io/redis-adapter  ·  Railway (Gateway public, Redis private)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vs After, at a Glance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actually changes for Part 06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5349240" cy="502920"/>
          </a:xfrm>
          <a:prstGeom prst="roundRect">
            <a:avLst>
              <a:gd name="adj" fmla="val 12727"/>
            </a:avLst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1732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309360" y="1417320"/>
            <a:ext cx="5349240" cy="502920"/>
          </a:xfrm>
          <a:prstGeom prst="roundRect">
            <a:avLst>
              <a:gd name="adj" fmla="val 12727"/>
            </a:avLst>
          </a:prstGeom>
          <a:solidFill>
            <a:srgbClr val="12B886"/>
          </a:solidFill>
          <a:ln/>
        </p:spPr>
      </p:sp>
      <p:sp>
        <p:nvSpPr>
          <p:cNvPr id="7" name="Text 5"/>
          <p:cNvSpPr/>
          <p:nvPr/>
        </p:nvSpPr>
        <p:spPr>
          <a:xfrm>
            <a:off x="6309360" y="141732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11018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to MT5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2249424"/>
            <a:ext cx="534924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CE9EE"/>
            </a:solidFill>
            <a:prstDash val="solid"/>
          </a:ln>
          <a:effectLst>
            <a:outerShdw sx="100000" sy="100000" kx="0" ky="0" algn="bl" rotWithShape="0" blurRad="101600" dist="38100" dir="5400000">
              <a:srgbClr val="0B2A4A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2249424"/>
            <a:ext cx="4983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process calling MetaTrader5 API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309360" y="2249424"/>
            <a:ext cx="534924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CE9EE"/>
            </a:solidFill>
            <a:prstDash val="solid"/>
          </a:ln>
          <a:effectLst>
            <a:outerShdw sx="100000" sy="100000" kx="0" ky="0" algn="bl" rotWithShape="0" blurRad="101600" dist="38100" dir="5400000">
              <a:srgbClr val="0B2A4A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92240" y="2249424"/>
            <a:ext cx="4983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MQL5 EA inside the terminal, WebRequest() over HTTPS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0080" y="2779776"/>
            <a:ext cx="11018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fleet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3017520"/>
            <a:ext cx="534924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CE9EE"/>
            </a:solidFill>
            <a:prstDash val="solid"/>
          </a:ln>
          <a:effectLst>
            <a:outerShdw sx="100000" sy="100000" kx="0" ky="0" algn="bl" rotWithShape="0" blurRad="101600" dist="38100" dir="5400000">
              <a:srgbClr val="0B2A4A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2960" y="3017520"/>
            <a:ext cx="4983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terminals (1 per symbol, Python API limit)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309360" y="3017520"/>
            <a:ext cx="534924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CE9EE"/>
            </a:solidFill>
            <a:prstDash val="solid"/>
          </a:ln>
          <a:effectLst>
            <a:outerShdw sx="100000" sy="100000" kx="0" ky="0" algn="bl" rotWithShape="0" blurRad="101600" dist="38100" dir="5400000">
              <a:srgbClr val="0B2A4A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92240" y="3017520"/>
            <a:ext cx="4983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 terminals (EA multiplexes symbols, no process limit)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0080" y="3547872"/>
            <a:ext cx="11018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tick transport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3785616"/>
            <a:ext cx="534924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CE9EE"/>
            </a:solidFill>
            <a:prstDash val="solid"/>
          </a:ln>
          <a:effectLst>
            <a:outerShdw sx="100000" sy="100000" kx="0" ky="0" algn="bl" rotWithShape="0" blurRad="101600" dist="38100" dir="5400000">
              <a:srgbClr val="0B2A4A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22960" y="3785616"/>
            <a:ext cx="4983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polls MT5 in-process every 0.25s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309360" y="3785616"/>
            <a:ext cx="534924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CE9EE"/>
            </a:solidFill>
            <a:prstDash val="solid"/>
          </a:ln>
          <a:effectLst>
            <a:outerShdw sx="100000" sy="100000" kx="0" ky="0" algn="bl" rotWithShape="0" blurRad="101600" dist="38100" dir="5400000">
              <a:srgbClr val="0B2A4A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92240" y="3785616"/>
            <a:ext cx="4983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 pushes; Redis Pub/Sub + Socket.IO fan out on Railway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0080" y="4315968"/>
            <a:ext cx="11018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in the hot path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" y="4553712"/>
            <a:ext cx="534924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CE9EE"/>
            </a:solidFill>
            <a:prstDash val="solid"/>
          </a:ln>
          <a:effectLst>
            <a:outerShdw sx="100000" sy="100000" kx="0" ky="0" algn="bl" rotWithShape="0" blurRad="101600" dist="38100" dir="5400000">
              <a:srgbClr val="0B2A4A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22960" y="4553712"/>
            <a:ext cx="4983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(but no isolation either)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309360" y="4553712"/>
            <a:ext cx="534924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CE9EE"/>
            </a:solidFill>
            <a:prstDash val="solid"/>
          </a:ln>
          <a:effectLst>
            <a:outerShdw sx="100000" sy="100000" kx="0" ky="0" algn="bl" rotWithShape="0" blurRad="101600" dist="38100" dir="5400000">
              <a:srgbClr val="0B2A4A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492240" y="4553712"/>
            <a:ext cx="4983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— fire-and-forget, latency-first by design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40080" y="5084064"/>
            <a:ext cx="11018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" y="5321808"/>
            <a:ext cx="534924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CE9EE"/>
            </a:solidFill>
            <a:prstDash val="solid"/>
          </a:ln>
          <a:effectLst>
            <a:outerShdw sx="100000" sy="100000" kx="0" ky="0" algn="bl" rotWithShape="0" blurRad="101600" dist="38100" dir="5400000">
              <a:srgbClr val="0B2A4A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22960" y="5321808"/>
            <a:ext cx="4983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pinned to one Windows box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309360" y="5321808"/>
            <a:ext cx="534924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CE9EE"/>
            </a:solidFill>
            <a:prstDash val="solid"/>
          </a:ln>
          <a:effectLst>
            <a:outerShdw sx="100000" sy="100000" kx="0" ky="0" algn="bl" rotWithShape="0" blurRad="101600" dist="38100" dir="5400000">
              <a:srgbClr val="0B2A4A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492240" y="5321808"/>
            <a:ext cx="4983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Terminals on Contabo VPS; Gateway + Redis on Railway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40080" y="5852160"/>
            <a:ext cx="11018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API contract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40080" y="6089904"/>
            <a:ext cx="534924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CE9EE"/>
            </a:solidFill>
            <a:prstDash val="solid"/>
          </a:ln>
          <a:effectLst>
            <a:outerShdw sx="100000" sy="100000" kx="0" ky="0" algn="bl" rotWithShape="0" blurRad="101600" dist="38100" dir="5400000">
              <a:srgbClr val="0B2A4A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822960" y="6089904"/>
            <a:ext cx="4983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+ Socket.IO (Part 07 / Browser)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309360" y="6089904"/>
            <a:ext cx="534924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CE9EE"/>
            </a:solidFill>
            <a:prstDash val="solid"/>
          </a:ln>
          <a:effectLst>
            <a:outerShdw sx="100000" sy="100000" kx="0" ky="0" algn="bl" rotWithShape="0" blurRad="101600" dist="38100" dir="5400000">
              <a:srgbClr val="0B2A4A">
                <a:alpha val="1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492240" y="6089904"/>
            <a:ext cx="4983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Unchanged — same REST + Socket.IO contract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Pipelines, Not One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06 (live chart) and the historical/indicator sync are separate systems sharing infrastructure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CE9EE"/>
            </a:solidFill>
            <a:prstDash val="solid"/>
          </a:ln>
          <a:effectLst>
            <a:outerShdw sx="100000" sy="100000" kx="0" ky="0" algn="bl" rotWithShape="0" blurRad="101600" dist="38100" dir="5400000">
              <a:srgbClr val="0B2A4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627632"/>
            <a:ext cx="457200" cy="457200"/>
          </a:xfrm>
          <a:prstGeom prst="ellipse">
            <a:avLst/>
          </a:prstGeom>
          <a:solidFill>
            <a:srgbClr val="0B5D8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1737360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591056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06 — Live Chart Feed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914400" y="2267712"/>
            <a:ext cx="4800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0B5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914400" y="2450592"/>
            <a:ext cx="4800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price on the chart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914400" y="2798064"/>
            <a:ext cx="4800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0B5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914400" y="2980944"/>
            <a:ext cx="4800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~0.25s — every tick / intra-bar change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914400" y="3328416"/>
            <a:ext cx="4800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0B5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914400" y="3511296"/>
            <a:ext cx="4800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 -&gt; NestJS Gateway -&gt; Redis Pub/Sub -&gt; Socket.IO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914400" y="3858768"/>
            <a:ext cx="4800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0B5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914400" y="4041648"/>
            <a:ext cx="4800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— fire-and-forget, latency-first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914400" y="4389120"/>
            <a:ext cx="4800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0B5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914400" y="4572000"/>
            <a:ext cx="4800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— ephemeral, browser renders live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914400" y="4919472"/>
            <a:ext cx="4800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0B5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914400" y="5102352"/>
            <a:ext cx="4800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via WebSocket, tier-gated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309360" y="137160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CE9EE"/>
            </a:solidFill>
            <a:prstDash val="solid"/>
          </a:ln>
          <a:effectLst>
            <a:outerShdw sx="100000" sy="100000" kx="0" ky="0" algn="bl" rotWithShape="0" blurRad="101600" dist="38100" dir="5400000">
              <a:srgbClr val="0B2A4A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583680" y="162763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408" y="1737360"/>
            <a:ext cx="237744" cy="237744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7178040" y="1591056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/ Indicator Sync</a:t>
            </a:r>
            <a:endParaRPr lang="en-US" sz="1450" dirty="0"/>
          </a:p>
        </p:txBody>
      </p:sp>
      <p:sp>
        <p:nvSpPr>
          <p:cNvPr id="24" name="Text 20"/>
          <p:cNvSpPr/>
          <p:nvPr/>
        </p:nvSpPr>
        <p:spPr>
          <a:xfrm>
            <a:off x="6583680" y="2267712"/>
            <a:ext cx="4800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6583680" y="2450592"/>
            <a:ext cx="4800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 OHLC + indicator record per closed bar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6583680" y="2798064"/>
            <a:ext cx="4800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6583680" y="2980944"/>
            <a:ext cx="4800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bar close — 5-15 min+ timeframes</a:t>
            </a:r>
            <a:endParaRPr lang="en-US" sz="1050" dirty="0"/>
          </a:p>
        </p:txBody>
      </p:sp>
      <p:sp>
        <p:nvSpPr>
          <p:cNvPr id="28" name="Text 24"/>
          <p:cNvSpPr/>
          <p:nvPr/>
        </p:nvSpPr>
        <p:spPr>
          <a:xfrm>
            <a:off x="6583680" y="3328416"/>
            <a:ext cx="4800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6583680" y="3511296"/>
            <a:ext cx="4800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 -&gt; NestJS API Gateway -&gt; Bull Queue</a:t>
            </a:r>
            <a:endParaRPr lang="en-US" sz="1050" dirty="0"/>
          </a:p>
        </p:txBody>
      </p:sp>
      <p:sp>
        <p:nvSpPr>
          <p:cNvPr id="30" name="Text 26"/>
          <p:cNvSpPr/>
          <p:nvPr/>
        </p:nvSpPr>
        <p:spPr>
          <a:xfrm>
            <a:off x="6583680" y="3858768"/>
            <a:ext cx="4800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</a:t>
            </a:r>
            <a:endParaRPr lang="en-US" sz="950" dirty="0"/>
          </a:p>
        </p:txBody>
      </p:sp>
      <p:sp>
        <p:nvSpPr>
          <p:cNvPr id="31" name="Text 27"/>
          <p:cNvSpPr/>
          <p:nvPr/>
        </p:nvSpPr>
        <p:spPr>
          <a:xfrm>
            <a:off x="6583680" y="4041648"/>
            <a:ext cx="4800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 — retries, backoff, rate-limited</a:t>
            </a:r>
            <a:endParaRPr lang="en-US" sz="1050" dirty="0"/>
          </a:p>
        </p:txBody>
      </p:sp>
      <p:sp>
        <p:nvSpPr>
          <p:cNvPr id="32" name="Text 28"/>
          <p:cNvSpPr/>
          <p:nvPr/>
        </p:nvSpPr>
        <p:spPr>
          <a:xfrm>
            <a:off x="6583680" y="4389120"/>
            <a:ext cx="4800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950" dirty="0"/>
          </a:p>
        </p:txBody>
      </p:sp>
      <p:sp>
        <p:nvSpPr>
          <p:cNvPr id="33" name="Text 29"/>
          <p:cNvSpPr/>
          <p:nvPr/>
        </p:nvSpPr>
        <p:spPr>
          <a:xfrm>
            <a:off x="6583680" y="4572000"/>
            <a:ext cx="4800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— persisted, queryable</a:t>
            </a:r>
            <a:endParaRPr lang="en-US" sz="1050" dirty="0"/>
          </a:p>
        </p:txBody>
      </p:sp>
      <p:sp>
        <p:nvSpPr>
          <p:cNvPr id="34" name="Text 30"/>
          <p:cNvSpPr/>
          <p:nvPr/>
        </p:nvSpPr>
        <p:spPr>
          <a:xfrm>
            <a:off x="6583680" y="4919472"/>
            <a:ext cx="4800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</a:t>
            </a:r>
            <a:endParaRPr lang="en-US" sz="950" dirty="0"/>
          </a:p>
        </p:txBody>
      </p:sp>
      <p:sp>
        <p:nvSpPr>
          <p:cNvPr id="35" name="Text 31"/>
          <p:cNvSpPr/>
          <p:nvPr/>
        </p:nvSpPr>
        <p:spPr>
          <a:xfrm>
            <a:off x="6583680" y="5102352"/>
            <a:ext cx="4800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workers, downstream analytics</a:t>
            </a:r>
            <a:endParaRPr lang="en-US" sz="1050" dirty="0"/>
          </a:p>
        </p:txBody>
      </p:sp>
      <p:sp>
        <p:nvSpPr>
          <p:cNvPr id="36" name="Shape 32"/>
          <p:cNvSpPr/>
          <p:nvPr/>
        </p:nvSpPr>
        <p:spPr>
          <a:xfrm>
            <a:off x="640080" y="5760720"/>
            <a:ext cx="10881360" cy="685800"/>
          </a:xfrm>
          <a:prstGeom prst="roundRect">
            <a:avLst>
              <a:gd name="adj" fmla="val 9333"/>
            </a:avLst>
          </a:prstGeom>
          <a:solidFill>
            <a:srgbClr val="132D46"/>
          </a:solidFill>
          <a:ln w="12700">
            <a:solidFill>
              <a:srgbClr val="24506E"/>
            </a:solidFill>
            <a:prstDash val="solid"/>
          </a:ln>
        </p:spPr>
      </p:sp>
      <p:pic>
        <p:nvPicPr>
          <p:cNvPr id="3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5934456"/>
            <a:ext cx="329184" cy="329184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1280160" y="57607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infrastructure, separate paths: both pipelines run from the same Contabo VPS terminals and the same Railway project — but different endpoints, different transport, and no shared queue.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Part 06 v2: Before vs After (Railway + NestJS + EA)</dc:title>
  <dc:subject>PptxGenJS Presentation</dc:subject>
  <dc:creator>Trading Alerts SaaS</dc:creator>
  <cp:lastModifiedBy>Trading Alerts SaaS</cp:lastModifiedBy>
  <cp:revision>1</cp:revision>
  <dcterms:created xsi:type="dcterms:W3CDTF">2026-07-03T06:50:09Z</dcterms:created>
  <dcterms:modified xsi:type="dcterms:W3CDTF">2026-07-03T06:50:09Z</dcterms:modified>
</cp:coreProperties>
</file>