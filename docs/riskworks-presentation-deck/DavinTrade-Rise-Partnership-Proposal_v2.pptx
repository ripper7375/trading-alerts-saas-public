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504" y="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853708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96596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3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 PROPOSAL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0" y="2331720"/>
            <a:ext cx="121916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DavinTrade </a:t>
            </a:r>
            <a:r>
              <a:rPr lang="en-US" sz="4600" b="1" dirty="0">
                <a:solidFill>
                  <a:srgbClr val="8FA3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Rise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0" y="3337560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C9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Powering Global Affiliate Payouts, Together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0" y="388620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F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money-service integration overview  ·  Parts 12 · 17 · 18 · 19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50512" y="4617720"/>
            <a:ext cx="566928" cy="5669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550512" y="4617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391760" y="4617720"/>
            <a:ext cx="566928" cy="5669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9" name="Text 7"/>
          <p:cNvSpPr/>
          <p:nvPr/>
        </p:nvSpPr>
        <p:spPr>
          <a:xfrm>
            <a:off x="5391760" y="4617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33008" y="4617720"/>
            <a:ext cx="566928" cy="5669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1" name="Text 9"/>
          <p:cNvSpPr/>
          <p:nvPr/>
        </p:nvSpPr>
        <p:spPr>
          <a:xfrm>
            <a:off x="6233008" y="4617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074256" y="4617720"/>
            <a:ext cx="566928" cy="5669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7074256" y="4617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F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to Riseworks.io   |   July 23, 2026   |   Davin, Founder — DavinTrade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84048" cy="38404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33856" y="1453896"/>
            <a:ext cx="10021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DavinTrade at a Glance</a:t>
            </a:r>
            <a:endParaRPr lang="en-US" sz="135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product, and the growth engine built around it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075688"/>
            <a:ext cx="384048" cy="38404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33856" y="2020824"/>
            <a:ext cx="10021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Product</a:t>
            </a:r>
            <a:endParaRPr lang="en-US" sz="135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quick look at the live app affiliates are promoting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2642616"/>
            <a:ext cx="384048" cy="38404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642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33856" y="2587752"/>
            <a:ext cx="10021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Money Pipeline</a:t>
            </a:r>
            <a:endParaRPr lang="en-US" sz="135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business parts, one transaction boundary — money-service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3209544"/>
            <a:ext cx="384048" cy="38404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209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33856" y="3154680"/>
            <a:ext cx="10021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All Connects</a:t>
            </a:r>
            <a:endParaRPr lang="en-US" sz="135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end-to-end workflow, and where Rise fits in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3776472"/>
            <a:ext cx="384048" cy="38404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776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33856" y="3721608"/>
            <a:ext cx="10021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Global Payouts Are Hard</a:t>
            </a:r>
            <a:endParaRPr lang="en-US" sz="135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compliance problem we chose not to build ourselves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4343400"/>
            <a:ext cx="384048" cy="38404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33856" y="4288536"/>
            <a:ext cx="10021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Rise</a:t>
            </a:r>
            <a:endParaRPr lang="en-US" sz="135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our disbursement engine is already built around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48640" y="4910328"/>
            <a:ext cx="384048" cy="38404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910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33856" y="4855464"/>
            <a:ext cx="10021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We've Already Built</a:t>
            </a:r>
            <a:endParaRPr lang="en-US" sz="135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depth — not a roadmap promise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548640" y="5477256"/>
            <a:ext cx="384048" cy="38404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33856" y="5422392"/>
            <a:ext cx="10021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&amp; Next Steps</a:t>
            </a:r>
            <a:endParaRPr lang="en-US" sz="135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Rise today to go live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COMPANY SNAPSHOT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DavinTrade at a Glance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916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50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DavinTrade is a SaaS trading-alerts platform built around XAUUSD (Gold) — real-time technical alerts, chart drawing tools, and tiered subscriptions for retail traders. Growth runs through a referral affiliate program: affiliates bring in subscribers, and are paid a commission on every conversion.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2606040" cy="1737360"/>
          </a:xfrm>
          <a:prstGeom prst="roundRect">
            <a:avLst>
              <a:gd name="adj" fmla="val 4737"/>
            </a:avLst>
          </a:prstGeom>
          <a:solidFill>
            <a:srgbClr val="F3F6F8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306324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XAUUSD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85800" y="3904488"/>
            <a:ext cx="23317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Single-symbol gold specialist product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2880360"/>
            <a:ext cx="2606040" cy="1737360"/>
          </a:xfrm>
          <a:prstGeom prst="roundRect">
            <a:avLst>
              <a:gd name="adj" fmla="val 4737"/>
            </a:avLst>
          </a:prstGeom>
          <a:solidFill>
            <a:srgbClr val="F3F6F8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29000" y="306324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74720" y="3904488"/>
            <a:ext cx="23317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payment rails — Stripe + dLocal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26480" y="2880360"/>
            <a:ext cx="2606040" cy="1737360"/>
          </a:xfrm>
          <a:prstGeom prst="roundRect">
            <a:avLst>
              <a:gd name="adj" fmla="val 4737"/>
            </a:avLst>
          </a:prstGeom>
          <a:solidFill>
            <a:srgbClr val="F3F6F8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17920" y="306324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263640" y="3904488"/>
            <a:ext cx="23317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Local-currency markets served (dLocal)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15400" y="2880360"/>
            <a:ext cx="2606040" cy="1737360"/>
          </a:xfrm>
          <a:prstGeom prst="roundRect">
            <a:avLst>
              <a:gd name="adj" fmla="val 4737"/>
            </a:avLst>
          </a:prstGeom>
          <a:solidFill>
            <a:srgbClr val="F3F6F8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006840" y="306324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9052560" y="3904488"/>
            <a:ext cx="23317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Affiliate network, paid where they live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4937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50" i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referral engine is the reason this partnership matters: every new affiliate we sign is a new payee who needs to be paid, reliably, in their own currency.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PRODUCT TOUR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the Product — Meet DavinTrade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affiliate-referred trader lands here first — a conversational, AI-first entry point, not a static dashboard.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84048" cy="38404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33856" y="2093976"/>
            <a:ext cx="44439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Chat-first onboarding</a:t>
            </a:r>
            <a:endParaRPr lang="en-US" sz="13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Traders open a conversation with DavinTrade's AI, not a menu of settings.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063240"/>
            <a:ext cx="384048" cy="38404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33856" y="3008376"/>
            <a:ext cx="44439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history, saved</a:t>
            </a:r>
            <a:endParaRPr lang="en-US" sz="1300" dirty="0"/>
          </a:p>
          <a:p>
            <a:pPr algn="l"/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analyses are kept and revisited anytime </a:t>
            </a:r>
            <a:endParaRPr lang="en-TZ" sz="1800" b="0" i="0" u="none" strike="noStrike" baseline="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R="106990" algn="l"/>
            <a:r>
              <a:rPr lang="en-US" sz="1050" b="0" i="0" u="none" strike="noStrike" baseline="0" dirty="0">
                <a:solidFill>
                  <a:srgbClr val="5B6B82"/>
                </a:solidFill>
                <a:latin typeface="Calibri" panose="020F0502020204030204" pitchFamily="34" charset="0"/>
              </a:rPr>
              <a:t>(Remark : XAUUSD is only symbol initially lunched in introductory phase while Cryptos, Forex, equities would be added in later phases)</a:t>
            </a: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384048" cy="38404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33856" y="3922776"/>
            <a:ext cx="44439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tier, visible in-product</a:t>
            </a:r>
            <a:endParaRPr lang="en-US" sz="13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“Pro Plan” badge ties directly to the Stripe/dLocal billing covered earlier.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892040"/>
            <a:ext cx="384048" cy="38404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892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33856" y="4837176"/>
            <a:ext cx="44439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focused navigation</a:t>
            </a:r>
            <a:endParaRPr lang="en-US" sz="13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Chart Analysis, Portfolio, and Market News — nothing extraneous.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715000" y="1783080"/>
            <a:ext cx="5943600" cy="3063240"/>
          </a:xfrm>
          <a:prstGeom prst="roundRect">
            <a:avLst>
              <a:gd name="adj" fmla="val 2687"/>
            </a:avLst>
          </a:prstGeom>
          <a:solidFill>
            <a:srgbClr val="F3F6F8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pic>
        <p:nvPicPr>
          <p:cNvPr id="18" name="Image 0" descr="/sessions/funny-hopeful-allen/mnt/trading-alerts-saas-public/docs/riskworks-presentation-deck/davin-landing-chat-p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1934528"/>
            <a:ext cx="5760720" cy="2760345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5715000" y="49834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DavinTrade's AI-first landing &amp; chat page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PRODUCT TOUR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the Product — Live Analysis in Action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50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Chart Analysis workspace pairs a symbol-aware AI Analyst with live, multi-timeframe XAUUSD charts and a proprietary signal engine — trend channels, a Bullish Flag pattern alert with a live price target, a flagged resistance level, and custom indicators (EDT Slope, Extreme Candle, Extreme Zigzag, SSA Stochastic) surfaced in real 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889608" y="2286000"/>
            <a:ext cx="8412480" cy="4133088"/>
          </a:xfrm>
          <a:prstGeom prst="roundRect">
            <a:avLst>
              <a:gd name="adj" fmla="val 1991"/>
            </a:avLst>
          </a:prstGeom>
          <a:solidFill>
            <a:srgbClr val="F3F6F8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pic>
        <p:nvPicPr>
          <p:cNvPr id="6" name="Image 0" descr="/sessions/funny-hopeful-allen/mnt/trading-alerts-saas-public/docs/riskworks-presentation-deck/davin-main-page-rev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1048" y="2377654"/>
            <a:ext cx="8229600" cy="394977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Money Pipeline — Four Parts, One System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lives in one purpose-built backend microservice: money-service (NestJS, on Railway).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F3F6F8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194560"/>
            <a:ext cx="502920" cy="5029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17320" y="216712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(Stripe)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83464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card checkout, subscriptions, cancellations, invoices.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965960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F3F6F8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0" y="2194560"/>
            <a:ext cx="502920" cy="5029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40880" y="216712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Affiliate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46520" y="283464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codes, commission engine, payout eligibility, reporting.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069080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F3F6F8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297680"/>
            <a:ext cx="502920" cy="5029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17320" y="427024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dLocal Payments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2960" y="493776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payment methods across 8 emerging markets, fraud checks.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72200" y="4069080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F3F6F8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0" y="4297680"/>
            <a:ext cx="502920" cy="5029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0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40880" y="427024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RiseWorks Disbursement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46520" y="493776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Batches affiliate commissions and pays them out globally via Rise.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THE FULL WORKFLOW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All Connects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99032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transaction boundary, five moving parts — and Rise closes the loop.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2848356" y="3566160"/>
            <a:ext cx="320040" cy="0"/>
          </a:xfrm>
          <a:prstGeom prst="line">
            <a:avLst/>
          </a:prstGeom>
          <a:noFill/>
          <a:ln w="22225">
            <a:solidFill>
              <a:srgbClr val="9AA9C0"/>
            </a:solidFill>
            <a:prstDash val="solid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3168396" y="2468880"/>
            <a:ext cx="0" cy="2194560"/>
          </a:xfrm>
          <a:prstGeom prst="line">
            <a:avLst/>
          </a:prstGeom>
          <a:noFill/>
          <a:ln w="22225">
            <a:solidFill>
              <a:srgbClr val="9AA9C0"/>
            </a:solidFill>
            <a:prstDash val="solid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3168396" y="2468880"/>
            <a:ext cx="320040" cy="0"/>
          </a:xfrm>
          <a:prstGeom prst="line">
            <a:avLst/>
          </a:prstGeom>
          <a:noFill/>
          <a:ln w="22225">
            <a:solidFill>
              <a:srgbClr val="9AA9C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168396" y="4663440"/>
            <a:ext cx="320040" cy="0"/>
          </a:xfrm>
          <a:prstGeom prst="line">
            <a:avLst/>
          </a:prstGeom>
          <a:noFill/>
          <a:ln w="22225">
            <a:solidFill>
              <a:srgbClr val="9AA9C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591556" y="2468880"/>
            <a:ext cx="320040" cy="0"/>
          </a:xfrm>
          <a:prstGeom prst="line">
            <a:avLst/>
          </a:prstGeom>
          <a:noFill/>
          <a:ln w="22225">
            <a:solidFill>
              <a:srgbClr val="9AA9C0"/>
            </a:solidFill>
            <a:prstDash val="solid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5591556" y="4663440"/>
            <a:ext cx="320040" cy="0"/>
          </a:xfrm>
          <a:prstGeom prst="line">
            <a:avLst/>
          </a:prstGeom>
          <a:noFill/>
          <a:ln w="22225">
            <a:solidFill>
              <a:srgbClr val="9AA9C0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5911596" y="2468880"/>
            <a:ext cx="0" cy="2194560"/>
          </a:xfrm>
          <a:prstGeom prst="line">
            <a:avLst/>
          </a:prstGeom>
          <a:noFill/>
          <a:ln w="22225">
            <a:solidFill>
              <a:srgbClr val="9AA9C0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5911596" y="3566160"/>
            <a:ext cx="320040" cy="0"/>
          </a:xfrm>
          <a:prstGeom prst="line">
            <a:avLst/>
          </a:prstGeom>
          <a:noFill/>
          <a:ln w="22225">
            <a:solidFill>
              <a:srgbClr val="9AA9C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517636" y="3566160"/>
            <a:ext cx="640080" cy="0"/>
          </a:xfrm>
          <a:prstGeom prst="line">
            <a:avLst/>
          </a:prstGeom>
          <a:noFill/>
          <a:ln w="22225">
            <a:solidFill>
              <a:srgbClr val="9AA9C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45236" y="2743200"/>
            <a:ext cx="2103120" cy="1645920"/>
          </a:xfrm>
          <a:prstGeom prst="roundRect">
            <a:avLst>
              <a:gd name="adj" fmla="val 5000"/>
            </a:avLst>
          </a:prstGeom>
          <a:solidFill>
            <a:srgbClr val="F3F6F8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604772" y="2889504"/>
            <a:ext cx="384048" cy="38404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6" name="Text 14"/>
          <p:cNvSpPr/>
          <p:nvPr/>
        </p:nvSpPr>
        <p:spPr>
          <a:xfrm>
            <a:off x="1604772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6676" y="334670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91540" y="3712464"/>
            <a:ext cx="1810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Subscribes to DavinTrade with a referral code at checkout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488436" y="1737360"/>
            <a:ext cx="2103120" cy="1463040"/>
          </a:xfrm>
          <a:prstGeom prst="roundRect">
            <a:avLst>
              <a:gd name="adj" fmla="val 5625"/>
            </a:avLst>
          </a:prstGeom>
          <a:solidFill>
            <a:srgbClr val="F3F6F8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47972" y="1883664"/>
            <a:ext cx="384048" cy="38404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1" name="Text 19"/>
          <p:cNvSpPr/>
          <p:nvPr/>
        </p:nvSpPr>
        <p:spPr>
          <a:xfrm>
            <a:off x="4347972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79876" y="234086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634740" y="27066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card payments &amp; subscriptions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488436" y="3931920"/>
            <a:ext cx="2103120" cy="1463040"/>
          </a:xfrm>
          <a:prstGeom prst="roundRect">
            <a:avLst>
              <a:gd name="adj" fmla="val 5625"/>
            </a:avLst>
          </a:prstGeom>
          <a:solidFill>
            <a:srgbClr val="F3F6F8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47972" y="4078224"/>
            <a:ext cx="384048" cy="38404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6" name="Text 24"/>
          <p:cNvSpPr/>
          <p:nvPr/>
        </p:nvSpPr>
        <p:spPr>
          <a:xfrm>
            <a:off x="4347972" y="4078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79876" y="453542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dLocal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3634740" y="490118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payment methods across 8 emerging markets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31636" y="2743200"/>
            <a:ext cx="2286000" cy="1645920"/>
          </a:xfrm>
          <a:prstGeom prst="roundRect">
            <a:avLst>
              <a:gd name="adj" fmla="val 5000"/>
            </a:avLst>
          </a:prstGeom>
          <a:solidFill>
            <a:srgbClr val="F3F6F8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82612" y="2889504"/>
            <a:ext cx="384048" cy="38404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1" name="Text 29"/>
          <p:cNvSpPr/>
          <p:nvPr/>
        </p:nvSpPr>
        <p:spPr>
          <a:xfrm>
            <a:off x="7182612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323076" y="334670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Affiliate Program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377940" y="3712464"/>
            <a:ext cx="1993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attributed; commission earned &amp; tracked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157716" y="2743200"/>
            <a:ext cx="2286000" cy="1645920"/>
          </a:xfrm>
          <a:prstGeom prst="roundRect">
            <a:avLst>
              <a:gd name="adj" fmla="val 5000"/>
            </a:avLst>
          </a:prstGeom>
          <a:solidFill>
            <a:srgbClr val="0A1226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0108692" y="2889504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6" name="Text 34"/>
          <p:cNvSpPr/>
          <p:nvPr/>
        </p:nvSpPr>
        <p:spPr>
          <a:xfrm>
            <a:off x="10108692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1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9249156" y="334670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RiseWorks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9304020" y="3712464"/>
            <a:ext cx="1993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000" dirty="0">
                <a:solidFill>
                  <a:srgbClr val="C9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Aggregates commissions and disburses globally — fiat, stablecoin, or crypto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48640" y="56235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commission DavinTrade calculates has to end up in an affiliate's hands, somewhere in the world. Rise is the only node in this chain that makes that last step possible.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Paying a Global Affiliate Network Isn't a Feature —</a:t>
            </a:r>
            <a:endParaRPr lang="en-US" sz="3200" dirty="0"/>
          </a:p>
          <a:p>
            <a:pPr marL="0" indent="0" algn="l">
              <a:buNone/>
            </a:pPr>
            <a:r>
              <a:rPr lang="en-US" sz="32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a Compliance Problem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457200" cy="45720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07008" y="2002536"/>
            <a:ext cx="102229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country, different rules</a:t>
            </a:r>
            <a:endParaRPr lang="en-US" sz="15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KYC/AML checks, tax documentation, and local banking rails all differ by jurisdiction.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457200" cy="45720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07008" y="2962656"/>
            <a:ext cx="102229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Currency risk on both sides</a:t>
            </a:r>
            <a:endParaRPr lang="en-US" sz="15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Commissions are earned in USD but owed in 90+ local currencies — someone has to absorb the conversion.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457200" cy="45720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07008" y="3922776"/>
            <a:ext cx="102229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payout doesn't scale</a:t>
            </a:r>
            <a:endParaRPr lang="en-US" sz="15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processing, retry logic, and reconciliation are required the moment there's more than a handful of affiliates.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937760"/>
            <a:ext cx="457200" cy="45720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937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07008" y="4882896"/>
            <a:ext cx="102229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this ourselves means becoming a money-service business</a:t>
            </a:r>
            <a:endParaRPr lang="en-US" sz="15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custody, compliance registration, and settlement rails are not our core product — they're Rise's.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THE PARTNER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Built Around Rise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06040" cy="1828800"/>
          </a:xfrm>
          <a:prstGeom prst="roundRect">
            <a:avLst>
              <a:gd name="adj" fmla="val 4500"/>
            </a:avLst>
          </a:prstGeom>
          <a:solidFill>
            <a:srgbClr val="EDF6F5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87452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$650M+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715768"/>
            <a:ext cx="23317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Disbursed globally to date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1691640"/>
            <a:ext cx="2606040" cy="1828800"/>
          </a:xfrm>
          <a:prstGeom prst="roundRect">
            <a:avLst>
              <a:gd name="adj" fmla="val 4500"/>
            </a:avLst>
          </a:prstGeom>
          <a:solidFill>
            <a:srgbClr val="EDF6F5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87452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190+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474720" y="2715768"/>
            <a:ext cx="23317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supported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691640"/>
            <a:ext cx="2606040" cy="1828800"/>
          </a:xfrm>
          <a:prstGeom prst="roundRect">
            <a:avLst>
              <a:gd name="adj" fmla="val 4500"/>
            </a:avLst>
          </a:prstGeom>
          <a:solidFill>
            <a:srgbClr val="EDF6F5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0" y="187452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90+ / 100+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263640" y="2715768"/>
            <a:ext cx="23317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currencies / cryptocurrencies supported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15400" y="1691640"/>
            <a:ext cx="2606040" cy="1828800"/>
          </a:xfrm>
          <a:prstGeom prst="roundRect">
            <a:avLst>
              <a:gd name="adj" fmla="val 4500"/>
            </a:avLst>
          </a:prstGeom>
          <a:solidFill>
            <a:srgbClr val="EDF6F5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06840" y="187452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Registered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052560" y="2715768"/>
            <a:ext cx="23317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Money Service Business (FinCEN)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79476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500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Rise's SIWE (Sign-In with Ethereum) wallet authentication, automated KYC/AML onboarding, and USDC/Arbitrum settlement rails are exactly the primitives our disbursement engine is already designed around — affiliates choose fiat, stablecoins, or crypto, and Rise handles the compliance underneath.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— 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Commission to Payout — Fully Automated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691640"/>
            <a:ext cx="420624" cy="42062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17904" y="1618488"/>
            <a:ext cx="9692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subscribes</a:t>
            </a:r>
            <a:endParaRPr lang="en-US" sz="14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Stripe or dLocal, with a referral code applied at checkout.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33272" y="2112264"/>
            <a:ext cx="0" cy="338328"/>
          </a:xfrm>
          <a:prstGeom prst="line">
            <a:avLst/>
          </a:prstGeom>
          <a:noFill/>
          <a:ln w="19050">
            <a:solidFill>
              <a:srgbClr val="C7D2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450592"/>
            <a:ext cx="420624" cy="42062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4505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17904" y="2377440"/>
            <a:ext cx="9692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created (PENDING)</a:t>
            </a:r>
            <a:endParaRPr lang="en-US" sz="14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Instantly, atomically, and idempotent against webhook retries.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33272" y="2871216"/>
            <a:ext cx="0" cy="338328"/>
          </a:xfrm>
          <a:prstGeom prst="line">
            <a:avLst/>
          </a:prstGeom>
          <a:noFill/>
          <a:ln w="19050">
            <a:solidFill>
              <a:srgbClr val="C7D2D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209544"/>
            <a:ext cx="420624" cy="42062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2095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17904" y="3136392"/>
            <a:ext cx="9692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Auto-approved after 14 days</a:t>
            </a:r>
            <a:endParaRPr lang="en-US" sz="14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configurable maturation window — no manual sign-off needed for the happy path.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33272" y="3630168"/>
            <a:ext cx="0" cy="338328"/>
          </a:xfrm>
          <a:prstGeom prst="line">
            <a:avLst/>
          </a:prstGeom>
          <a:noFill/>
          <a:ln w="19050">
            <a:solidFill>
              <a:srgbClr val="C7D2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3968496"/>
            <a:ext cx="420624" cy="42062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968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17904" y="3895344"/>
            <a:ext cx="9692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across affiliates</a:t>
            </a:r>
            <a:endParaRPr lang="en-US" sz="14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together once a payee's approved balance crosses a $50 threshold.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033272" y="4389120"/>
            <a:ext cx="0" cy="338328"/>
          </a:xfrm>
          <a:prstGeom prst="line">
            <a:avLst/>
          </a:prstGeom>
          <a:noFill/>
          <a:ln w="19050">
            <a:solidFill>
              <a:srgbClr val="C7D2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727448"/>
            <a:ext cx="420624" cy="42062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47274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17904" y="4654296"/>
            <a:ext cx="9692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submitted to Rise</a:t>
            </a:r>
            <a:endParaRPr lang="en-US" sz="14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100 payments per batch, with automatic retry on failure.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033272" y="5148072"/>
            <a:ext cx="0" cy="338328"/>
          </a:xfrm>
          <a:prstGeom prst="line">
            <a:avLst/>
          </a:prstGeom>
          <a:noFill/>
          <a:ln w="19050">
            <a:solidFill>
              <a:srgbClr val="C7D2D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" y="5486400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5486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517904" y="5413248"/>
            <a:ext cx="9692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 confirms via webhook</a:t>
            </a:r>
            <a:endParaRPr lang="en-US" sz="14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marked PAID, balances reconciled, dashboards updated in real time.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— ENGINEERING DEPTH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Isn't a Concept — It's Already Built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20624" cy="42062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70432" y="1636776"/>
            <a:ext cx="46360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disbursement module</a:t>
            </a:r>
            <a:endParaRPr lang="en-US" sz="135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our production NestJS money-service, deployed on Railway.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420624" cy="42062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651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70432" y="2596896"/>
            <a:ext cx="46360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abstraction layer</a:t>
            </a:r>
            <a:endParaRPr lang="en-US" sz="135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 is integrated behind a swappable interface, not hardcoded.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611880"/>
            <a:ext cx="420624" cy="42062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611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70432" y="3557016"/>
            <a:ext cx="46360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SIWE authentication client</a:t>
            </a:r>
            <a:endParaRPr lang="en-US" sz="135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Wired end-to-end to Rise's Sign-In with Ethereum flow.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572000"/>
            <a:ext cx="420624" cy="42062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572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70432" y="4517136"/>
            <a:ext cx="46360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 signature verification</a:t>
            </a:r>
            <a:endParaRPr lang="en-US" sz="135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today; being finalized against Rise's current v2 spec.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126480" y="1691640"/>
            <a:ext cx="420624" cy="42062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748272" y="1636776"/>
            <a:ext cx="46360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orchestration engine</a:t>
            </a:r>
            <a:endParaRPr lang="en-US" sz="135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retries and idempotent processing on every payout batch.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126480" y="2651760"/>
            <a:ext cx="420624" cy="42062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0" name="Text 18"/>
          <p:cNvSpPr/>
          <p:nvPr/>
        </p:nvSpPr>
        <p:spPr>
          <a:xfrm>
            <a:off x="6126480" y="2651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748272" y="2596896"/>
            <a:ext cx="46360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logging</a:t>
            </a:r>
            <a:endParaRPr lang="en-US" sz="135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disbursement action is logged for financial traceability.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126480" y="3611880"/>
            <a:ext cx="420624" cy="42062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0" y="3611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748272" y="3557016"/>
            <a:ext cx="46360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9-page admin dashboard</a:t>
            </a:r>
            <a:endParaRPr lang="en-US" sz="135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Batches, transactions, accounts, audit logs, config, and health, live.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126480" y="4572000"/>
            <a:ext cx="420624" cy="42062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4572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748272" y="4517136"/>
            <a:ext cx="46360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automation</a:t>
            </a:r>
            <a:endParaRPr lang="en-US" sz="135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 jobs handle payout batching and account sync on a fixed schedule.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— ENGINEERING DEPTH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Handle Money Correctly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438912" cy="43891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28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1773936"/>
            <a:ext cx="10241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HMAC-SHA256 verification on Stripe &amp; dLocal webhooks</a:t>
            </a:r>
            <a:endParaRPr lang="en-US" sz="145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signature-verified before processing; Rise verification is being finalized against their current v2 spec.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2670048"/>
            <a:ext cx="438912" cy="43891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6700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88720" y="2615184"/>
            <a:ext cx="10241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Role-gated, JWT-authenticated admin APIs</a:t>
            </a:r>
            <a:endParaRPr lang="en-US" sz="145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Disbursement actions require an authenticated admin session.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3511296"/>
            <a:ext cx="438912" cy="43891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51129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88720" y="3456432"/>
            <a:ext cx="10241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KYC-gated payouts</a:t>
            </a:r>
            <a:endParaRPr lang="en-US" sz="145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disbursement executes without a verified Rise account (RiseID) on file.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4352544"/>
            <a:ext cx="438912" cy="43891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3525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88720" y="4297680"/>
            <a:ext cx="10241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</a:t>
            </a:r>
            <a:endParaRPr lang="en-US" sz="145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mutating action is written to an immutable disbursement audit log.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48640" y="5193792"/>
            <a:ext cx="438912" cy="43891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1937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8720" y="5138928"/>
            <a:ext cx="10241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limiting, fail-open by design</a:t>
            </a:r>
            <a:endParaRPr lang="en-US" sz="145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hiccups never block a customer checkout.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— 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Are Today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606040" cy="1920240"/>
          </a:xfrm>
          <a:prstGeom prst="roundRect">
            <a:avLst>
              <a:gd name="adj" fmla="val 4286"/>
            </a:avLst>
          </a:prstGeom>
          <a:solidFill>
            <a:srgbClr val="F3F6F8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723644" y="2148840"/>
            <a:ext cx="256032" cy="25603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5603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&amp; Tested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31089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pipeline against a mock-provider harness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37560" y="1920240"/>
            <a:ext cx="2606040" cy="1920240"/>
          </a:xfrm>
          <a:prstGeom prst="roundRect">
            <a:avLst>
              <a:gd name="adj" fmla="val 4286"/>
            </a:avLst>
          </a:prstGeom>
          <a:solidFill>
            <a:srgbClr val="F3F6F8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12564" y="2148840"/>
            <a:ext cx="256032" cy="25603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25603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Validation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74720" y="31089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Batches, retries, reconciliation confirmed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1920240"/>
            <a:ext cx="2606040" cy="1920240"/>
          </a:xfrm>
          <a:prstGeom prst="roundRect">
            <a:avLst>
              <a:gd name="adj" fmla="val 4286"/>
            </a:avLst>
          </a:prstGeom>
          <a:solidFill>
            <a:srgbClr val="FDF3E3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01484" y="2148840"/>
            <a:ext cx="256032" cy="25603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6263640" y="25603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Awaiting Production Access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263640" y="31089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Rise comes in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915400" y="1920240"/>
            <a:ext cx="2606040" cy="1920240"/>
          </a:xfrm>
          <a:prstGeom prst="roundRect">
            <a:avLst>
              <a:gd name="adj" fmla="val 4286"/>
            </a:avLst>
          </a:prstGeom>
          <a:solidFill>
            <a:srgbClr val="F3F6F8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0090404" y="2148840"/>
            <a:ext cx="256032" cy="25603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8" name="Text 16"/>
          <p:cNvSpPr/>
          <p:nvPr/>
        </p:nvSpPr>
        <p:spPr>
          <a:xfrm>
            <a:off x="9052560" y="25603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Cutover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052560" y="31089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traffic, monitored rollout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42519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disbursement pipeline — batching, retries, reconciliation, admin tooling — is built and tested end-to-end against a mock-provider harness. What's left: live production access, and confirming our webhook verification matches Rise's current v2 spec.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Need From Rise Today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728216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our company for B2B API — both environments</a:t>
            </a:r>
            <a:endParaRPr lang="en-US" sz="155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C9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support request with our company name + RiseID; staging and production are enabled separately.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596896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 on webhooks v1 vs. v2</a:t>
            </a:r>
            <a:endParaRPr lang="en-US" sz="155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C9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docs reference both — confirm which we should target, the current event schema, and v1's retirement timeline.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48640" y="352044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3465576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production webhook signing secret, once on v2</a:t>
            </a:r>
            <a:endParaRPr lang="en-US" sz="155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C9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the exact signature header format, so we verify events against the right spec.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48640" y="438912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389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4334256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Batch-payment &amp; rate limits sized for our volume</a:t>
            </a:r>
            <a:endParaRPr lang="en-US" sz="155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C9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appropriately for our affiliate network's payout cadence.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548640" y="525780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5202936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technical contact for go-live</a:t>
            </a:r>
            <a:endParaRPr lang="en-US" sz="155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C9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point of contact to unblock issues during rollout.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— 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Path to Production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06040" cy="2377440"/>
          </a:xfrm>
          <a:prstGeom prst="roundRect">
            <a:avLst>
              <a:gd name="adj" fmla="val 3462"/>
            </a:avLst>
          </a:prstGeom>
          <a:solidFill>
            <a:srgbClr val="F3F6F8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0116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Enablement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306324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enabled for staging + production; our API wallet authorized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37560" y="1828800"/>
            <a:ext cx="2606040" cy="2377440"/>
          </a:xfrm>
          <a:prstGeom prst="roundRect">
            <a:avLst>
              <a:gd name="adj" fmla="val 3462"/>
            </a:avLst>
          </a:prstGeom>
          <a:solidFill>
            <a:srgbClr val="F3F6F8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20440" y="20116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520440" y="237744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 Spec Confirmation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20440" y="306324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v2 event schema &amp; secret; test against real signed payloads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26480" y="1828800"/>
            <a:ext cx="2606040" cy="2377440"/>
          </a:xfrm>
          <a:prstGeom prst="roundRect">
            <a:avLst>
              <a:gd name="adj" fmla="val 3462"/>
            </a:avLst>
          </a:prstGeom>
          <a:solidFill>
            <a:srgbClr val="F3F6F8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09360" y="20116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237744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 Cutover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09360" y="306324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Single, reversible slice — point Rise's dashboard at production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915400" y="1828800"/>
            <a:ext cx="2606040" cy="2377440"/>
          </a:xfrm>
          <a:prstGeom prst="roundRect">
            <a:avLst>
              <a:gd name="adj" fmla="val 3462"/>
            </a:avLst>
          </a:prstGeom>
          <a:solidFill>
            <a:srgbClr val="F3F6F8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098280" y="20116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098280" y="237744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Go-Live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098280" y="306324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payouts on, with active monitoring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— WHY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Partnership Works Both Ways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206240"/>
          </a:xfrm>
          <a:prstGeom prst="roundRect">
            <a:avLst>
              <a:gd name="adj" fmla="val 1957"/>
            </a:avLst>
          </a:prstGeom>
          <a:solidFill>
            <a:srgbClr val="F3F6F8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9202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DavinTrade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89888" y="2459736"/>
            <a:ext cx="4233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endParaRPr lang="en-US" sz="14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global payouts without becoming a compliance operation ourselves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474720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89888" y="3419856"/>
            <a:ext cx="4233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endParaRPr lang="en-US" sz="14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integrated provider for fiat, stablecoin, and crypto payout preference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4434840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434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89888" y="4379976"/>
            <a:ext cx="4233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endParaRPr lang="en-US" sz="14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disbursement pipeline already built and tested against Rise's API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72200" y="1691640"/>
            <a:ext cx="5349240" cy="4206240"/>
          </a:xfrm>
          <a:prstGeom prst="roundRect">
            <a:avLst>
              <a:gd name="adj" fmla="val 1957"/>
            </a:avLst>
          </a:prstGeom>
          <a:solidFill>
            <a:srgbClr val="EDF6F5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46520" y="19202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Rise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46520" y="2514600"/>
            <a:ext cx="365760" cy="365760"/>
          </a:xfrm>
          <a:prstGeom prst="ellipse">
            <a:avLst/>
          </a:prstGeom>
          <a:solidFill>
            <a:srgbClr val="0A5F67"/>
          </a:solidFill>
          <a:ln/>
        </p:spPr>
      </p:sp>
      <p:sp>
        <p:nvSpPr>
          <p:cNvPr id="18" name="Text 16"/>
          <p:cNvSpPr/>
          <p:nvPr/>
        </p:nvSpPr>
        <p:spPr>
          <a:xfrm>
            <a:off x="644652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13448" y="2459736"/>
            <a:ext cx="4233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endParaRPr lang="en-US" sz="14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growing, recurring-revenue affiliate network as new disbursement volume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46520" y="3474720"/>
            <a:ext cx="365760" cy="365760"/>
          </a:xfrm>
          <a:prstGeom prst="ellipse">
            <a:avLst/>
          </a:prstGeom>
          <a:solidFill>
            <a:srgbClr val="0A5F67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013448" y="3419856"/>
            <a:ext cx="4233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endParaRPr lang="en-US" sz="14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partner already integrated at the code level — not evaluating alternatives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46520" y="4434840"/>
            <a:ext cx="365760" cy="365760"/>
          </a:xfrm>
          <a:prstGeom prst="ellipse">
            <a:avLst/>
          </a:prstGeom>
          <a:solidFill>
            <a:srgbClr val="0A5F67"/>
          </a:solidFill>
          <a:ln/>
        </p:spPr>
      </p:sp>
      <p:sp>
        <p:nvSpPr>
          <p:cNvPr id="24" name="Text 22"/>
          <p:cNvSpPr/>
          <p:nvPr/>
        </p:nvSpPr>
        <p:spPr>
          <a:xfrm>
            <a:off x="6446520" y="4434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013448" y="4379976"/>
            <a:ext cx="4233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endParaRPr lang="en-US" sz="14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reference integration: SaaS billing plus affiliate payouts, done right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46888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Build This Together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0" y="32461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9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your time today.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411480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Dhapanart (Davin)  ·  Founder, </a:t>
            </a:r>
            <a:r>
              <a:rPr lang="en-US" sz="15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DavinTrade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Startup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0" y="44805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 err="1">
                <a:solidFill>
                  <a:srgbClr val="8F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dhapanart.kevalee@davintrade.app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1639</Words>
  <Application>Microsoft Office PowerPoint</Application>
  <PresentationFormat>Widescreen</PresentationFormat>
  <Paragraphs>290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Dhapanart Kevalee</cp:lastModifiedBy>
  <cp:revision>3</cp:revision>
  <dcterms:created xsi:type="dcterms:W3CDTF">2026-07-23T14:41:51Z</dcterms:created>
  <dcterms:modified xsi:type="dcterms:W3CDTF">2026-07-23T14:58:25Z</dcterms:modified>
</cp:coreProperties>
</file>