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p:bgPr>
    </p:bg>
    <p:spTree>
      <p:nvGrpSpPr>
        <p:cNvPr id="1" name=""/>
        <p:cNvGrpSpPr/>
        <p:nvPr/>
      </p:nvGrpSpPr>
      <p:grpSpPr>
        <a:xfrm>
          <a:off x="0" y="0"/>
          <a:ext cx="0" cy="0"/>
          <a:chOff x="0" y="0"/>
          <a:chExt cx="0" cy="0"/>
        </a:xfrm>
      </p:grpSpPr>
      <p:sp>
        <p:nvSpPr>
          <p:cNvPr id="2"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1400" b="1" spc="300" kern="0" dirty="0">
                <a:solidFill>
                  <a:srgbClr val="12B886"/>
                </a:solidFill>
                <a:latin typeface="Calibri" pitchFamily="34" charset="0"/>
                <a:ea typeface="Calibri" pitchFamily="34" charset="-122"/>
                <a:cs typeface="Calibri" pitchFamily="34" charset="-120"/>
              </a:rPr>
              <a:t>ARCHITECTURE COMPARISON — v3</a:t>
            </a:r>
            <a:endParaRPr lang="en-US" sz="1400" dirty="0"/>
          </a:p>
        </p:txBody>
      </p:sp>
      <p:sp>
        <p:nvSpPr>
          <p:cNvPr id="3" name="Text 1"/>
          <p:cNvSpPr/>
          <p:nvPr/>
        </p:nvSpPr>
        <p:spPr>
          <a:xfrm>
            <a:off x="822960" y="178308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Part 06: Before vs After</a:t>
            </a:r>
            <a:endParaRPr lang="en-US" sz="4200" dirty="0"/>
          </a:p>
        </p:txBody>
      </p:sp>
      <p:sp>
        <p:nvSpPr>
          <p:cNvPr id="4" name="Text 2"/>
          <p:cNvSpPr/>
          <p:nvPr/>
        </p:nvSpPr>
        <p:spPr>
          <a:xfrm>
            <a:off x="822960" y="2651760"/>
            <a:ext cx="10332720" cy="640080"/>
          </a:xfrm>
          <a:prstGeom prst="rect">
            <a:avLst/>
          </a:prstGeom>
          <a:noFill/>
          <a:ln/>
        </p:spPr>
        <p:txBody>
          <a:bodyPr wrap="square" lIns="0" tIns="0" rIns="0" bIns="0" rtlCol="0" anchor="ctr"/>
          <a:lstStyle/>
          <a:p>
            <a:pPr indent="0" marL="0">
              <a:buNone/>
            </a:pPr>
            <a:r>
              <a:rPr lang="en-US" sz="2100" i="1" dirty="0">
                <a:solidFill>
                  <a:srgbClr val="CFE8F3"/>
                </a:solidFill>
                <a:latin typeface="Cambria" pitchFamily="34" charset="0"/>
                <a:ea typeface="Cambria" pitchFamily="34" charset="-122"/>
                <a:cs typeface="Cambria" pitchFamily="34" charset="-120"/>
              </a:rPr>
              <a:t>A dedicated worker VPS — fully isolated from the EA and the indicator pipeline</a:t>
            </a:r>
            <a:endParaRPr lang="en-US" sz="2100" dirty="0"/>
          </a:p>
        </p:txBody>
      </p:sp>
      <p:sp>
        <p:nvSpPr>
          <p:cNvPr id="5" name="Text 3"/>
          <p:cNvSpPr/>
          <p:nvPr/>
        </p:nvSpPr>
        <p:spPr>
          <a:xfrm>
            <a:off x="822960" y="3474720"/>
            <a:ext cx="9418320" cy="548640"/>
          </a:xfrm>
          <a:prstGeom prst="rect">
            <a:avLst/>
          </a:prstGeom>
          <a:noFill/>
          <a:ln/>
        </p:spPr>
        <p:txBody>
          <a:bodyPr wrap="square" lIns="0" tIns="0" rIns="0" bIns="0" rtlCol="0" anchor="ctr"/>
          <a:lstStyle/>
          <a:p>
            <a:pPr indent="0" marL="0">
              <a:buNone/>
            </a:pPr>
            <a:r>
              <a:rPr lang="en-US" sz="1400" dirty="0">
                <a:solidFill>
                  <a:srgbClr val="AFC9D6"/>
                </a:solidFill>
                <a:latin typeface="Calibri" pitchFamily="34" charset="0"/>
                <a:ea typeface="Calibri" pitchFamily="34" charset="-122"/>
                <a:cs typeface="Calibri" pitchFamily="34" charset="-120"/>
              </a:rPr>
              <a:t>A Python process reads MT5 directly on its own Contabo VPS; Redis and Socket.IO on Railway handle the fan-out.</a:t>
            </a:r>
            <a:endParaRPr lang="en-US" sz="1400" dirty="0"/>
          </a:p>
        </p:txBody>
      </p:sp>
      <p:sp>
        <p:nvSpPr>
          <p:cNvPr id="6" name="Shape 4"/>
          <p:cNvSpPr/>
          <p:nvPr/>
        </p:nvSpPr>
        <p:spPr>
          <a:xfrm>
            <a:off x="822960" y="4709160"/>
            <a:ext cx="2514600" cy="868680"/>
          </a:xfrm>
          <a:prstGeom prst="roundRect">
            <a:avLst>
              <a:gd name="adj" fmla="val 9474"/>
            </a:avLst>
          </a:prstGeom>
          <a:solidFill>
            <a:srgbClr val="132D46"/>
          </a:solidFill>
          <a:ln w="12700">
            <a:solidFill>
              <a:srgbClr val="24506E"/>
            </a:solidFill>
            <a:prstDash val="solid"/>
          </a:ln>
        </p:spPr>
      </p:sp>
      <p:pic>
        <p:nvPicPr>
          <p:cNvPr id="7" name="Image 0" descr="preencoded.png">    </p:cNvPr>
          <p:cNvPicPr>
            <a:picLocks noChangeAspect="1"/>
          </p:cNvPicPr>
          <p:nvPr/>
        </p:nvPicPr>
        <p:blipFill>
          <a:blip r:embed="rId1"/>
          <a:stretch>
            <a:fillRect/>
          </a:stretch>
        </p:blipFill>
        <p:spPr>
          <a:xfrm>
            <a:off x="987552" y="4956048"/>
            <a:ext cx="384048" cy="384048"/>
          </a:xfrm>
          <a:prstGeom prst="rect">
            <a:avLst/>
          </a:prstGeom>
        </p:spPr>
      </p:pic>
      <p:sp>
        <p:nvSpPr>
          <p:cNvPr id="8" name="Text 5"/>
          <p:cNvSpPr/>
          <p:nvPr/>
        </p:nvSpPr>
        <p:spPr>
          <a:xfrm>
            <a:off x="1463040" y="4709160"/>
            <a:ext cx="1783080" cy="8686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Dedicated Worker VPS</a:t>
            </a:r>
            <a:endParaRPr lang="en-US" sz="1250" dirty="0"/>
          </a:p>
        </p:txBody>
      </p:sp>
      <p:sp>
        <p:nvSpPr>
          <p:cNvPr id="9" name="Shape 6"/>
          <p:cNvSpPr/>
          <p:nvPr/>
        </p:nvSpPr>
        <p:spPr>
          <a:xfrm>
            <a:off x="3520440" y="4709160"/>
            <a:ext cx="2514600" cy="868680"/>
          </a:xfrm>
          <a:prstGeom prst="roundRect">
            <a:avLst>
              <a:gd name="adj" fmla="val 9474"/>
            </a:avLst>
          </a:prstGeom>
          <a:solidFill>
            <a:srgbClr val="132D46"/>
          </a:solidFill>
          <a:ln w="12700">
            <a:solidFill>
              <a:srgbClr val="24506E"/>
            </a:solidFill>
            <a:prstDash val="solid"/>
          </a:ln>
        </p:spPr>
      </p:sp>
      <p:pic>
        <p:nvPicPr>
          <p:cNvPr id="10" name="Image 1" descr="preencoded.png">    </p:cNvPr>
          <p:cNvPicPr>
            <a:picLocks noChangeAspect="1"/>
          </p:cNvPicPr>
          <p:nvPr/>
        </p:nvPicPr>
        <p:blipFill>
          <a:blip r:embed="rId2"/>
          <a:stretch>
            <a:fillRect/>
          </a:stretch>
        </p:blipFill>
        <p:spPr>
          <a:xfrm>
            <a:off x="3685032" y="4956048"/>
            <a:ext cx="384048" cy="384048"/>
          </a:xfrm>
          <a:prstGeom prst="rect">
            <a:avLst/>
          </a:prstGeom>
        </p:spPr>
      </p:pic>
      <p:sp>
        <p:nvSpPr>
          <p:cNvPr id="11" name="Text 7"/>
          <p:cNvSpPr/>
          <p:nvPr/>
        </p:nvSpPr>
        <p:spPr>
          <a:xfrm>
            <a:off x="4160520" y="4709160"/>
            <a:ext cx="1783080" cy="8686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Redis Pub/Sub Fan-out</a:t>
            </a:r>
            <a:endParaRPr lang="en-US" sz="1250" dirty="0"/>
          </a:p>
        </p:txBody>
      </p:sp>
      <p:sp>
        <p:nvSpPr>
          <p:cNvPr id="12" name="Shape 8"/>
          <p:cNvSpPr/>
          <p:nvPr/>
        </p:nvSpPr>
        <p:spPr>
          <a:xfrm>
            <a:off x="6217920" y="4709160"/>
            <a:ext cx="2514600" cy="868680"/>
          </a:xfrm>
          <a:prstGeom prst="roundRect">
            <a:avLst>
              <a:gd name="adj" fmla="val 9474"/>
            </a:avLst>
          </a:prstGeom>
          <a:solidFill>
            <a:srgbClr val="132D46"/>
          </a:solidFill>
          <a:ln w="12700">
            <a:solidFill>
              <a:srgbClr val="24506E"/>
            </a:solidFill>
            <a:prstDash val="solid"/>
          </a:ln>
        </p:spPr>
      </p:sp>
      <p:pic>
        <p:nvPicPr>
          <p:cNvPr id="13" name="Image 2" descr="preencoded.png">    </p:cNvPr>
          <p:cNvPicPr>
            <a:picLocks noChangeAspect="1"/>
          </p:cNvPicPr>
          <p:nvPr/>
        </p:nvPicPr>
        <p:blipFill>
          <a:blip r:embed="rId3"/>
          <a:stretch>
            <a:fillRect/>
          </a:stretch>
        </p:blipFill>
        <p:spPr>
          <a:xfrm>
            <a:off x="6382512" y="4956048"/>
            <a:ext cx="384048" cy="384048"/>
          </a:xfrm>
          <a:prstGeom prst="rect">
            <a:avLst/>
          </a:prstGeom>
        </p:spPr>
      </p:pic>
      <p:sp>
        <p:nvSpPr>
          <p:cNvPr id="14" name="Text 9"/>
          <p:cNvSpPr/>
          <p:nvPr/>
        </p:nvSpPr>
        <p:spPr>
          <a:xfrm>
            <a:off x="6858000" y="4709160"/>
            <a:ext cx="1783080" cy="8686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Socket.IO on Railway</a:t>
            </a:r>
            <a:endParaRPr lang="en-US" sz="1250" dirty="0"/>
          </a:p>
        </p:txBody>
      </p:sp>
      <p:sp>
        <p:nvSpPr>
          <p:cNvPr id="15" name="Shape 10"/>
          <p:cNvSpPr/>
          <p:nvPr/>
        </p:nvSpPr>
        <p:spPr>
          <a:xfrm>
            <a:off x="8915400" y="4709160"/>
            <a:ext cx="2514600" cy="868680"/>
          </a:xfrm>
          <a:prstGeom prst="roundRect">
            <a:avLst>
              <a:gd name="adj" fmla="val 9474"/>
            </a:avLst>
          </a:prstGeom>
          <a:solidFill>
            <a:srgbClr val="132D46"/>
          </a:solidFill>
          <a:ln w="12700">
            <a:solidFill>
              <a:srgbClr val="24506E"/>
            </a:solidFill>
            <a:prstDash val="solid"/>
          </a:ln>
        </p:spPr>
      </p:sp>
      <p:pic>
        <p:nvPicPr>
          <p:cNvPr id="16" name="Image 3" descr="preencoded.png">    </p:cNvPr>
          <p:cNvPicPr>
            <a:picLocks noChangeAspect="1"/>
          </p:cNvPicPr>
          <p:nvPr/>
        </p:nvPicPr>
        <p:blipFill>
          <a:blip r:embed="rId4"/>
          <a:stretch>
            <a:fillRect/>
          </a:stretch>
        </p:blipFill>
        <p:spPr>
          <a:xfrm>
            <a:off x="9079992" y="4956048"/>
            <a:ext cx="384048" cy="384048"/>
          </a:xfrm>
          <a:prstGeom prst="rect">
            <a:avLst/>
          </a:prstGeom>
        </p:spPr>
      </p:pic>
      <p:sp>
        <p:nvSpPr>
          <p:cNvPr id="17" name="Text 11"/>
          <p:cNvSpPr/>
          <p:nvPr/>
        </p:nvSpPr>
        <p:spPr>
          <a:xfrm>
            <a:off x="9555480" y="4709160"/>
            <a:ext cx="1783080" cy="8686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Same API Contract</a:t>
            </a:r>
            <a:endParaRPr lang="en-US" sz="1250" dirty="0"/>
          </a:p>
        </p:txBody>
      </p:sp>
      <p:sp>
        <p:nvSpPr>
          <p:cNvPr id="18" name="Text 12"/>
          <p:cNvSpPr/>
          <p:nvPr/>
        </p:nvSpPr>
        <p:spPr>
          <a:xfrm>
            <a:off x="822960" y="6217920"/>
            <a:ext cx="7315200" cy="320040"/>
          </a:xfrm>
          <a:prstGeom prst="rect">
            <a:avLst/>
          </a:prstGeom>
          <a:noFill/>
          <a:ln/>
        </p:spPr>
        <p:txBody>
          <a:bodyPr wrap="square" lIns="0" tIns="0" rIns="0" bIns="0" rtlCol="0" anchor="ctr"/>
          <a:lstStyle/>
          <a:p>
            <a:pPr indent="0" marL="0">
              <a:buNone/>
            </a:pPr>
            <a:r>
              <a:rPr lang="en-US" sz="1050" dirty="0">
                <a:solidFill>
                  <a:srgbClr val="6E8CA0"/>
                </a:solidFill>
                <a:latin typeface="Calibri" pitchFamily="34" charset="0"/>
                <a:ea typeface="Calibri" pitchFamily="34" charset="-122"/>
                <a:cs typeface="Calibri" pitchFamily="34" charset="-120"/>
              </a:rPr>
              <a:t>Trading Alerts SaaS  |  Backend Architecture Deck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A4A"/>
        </a:solidFill>
      </p:bgPr>
    </p:bg>
    <p:spTree>
      <p:nvGrpSpPr>
        <p:cNvPr id="1" name=""/>
        <p:cNvGrpSpPr/>
        <p:nvPr/>
      </p:nvGrpSpPr>
      <p:grpSpPr>
        <a:xfrm>
          <a:off x="0" y="0"/>
          <a:ext cx="0" cy="0"/>
          <a:chOff x="0" y="0"/>
          <a:chExt cx="0" cy="0"/>
        </a:xfrm>
      </p:grpSpPr>
      <p:sp>
        <p:nvSpPr>
          <p:cNvPr id="2" name="Text 0"/>
          <p:cNvSpPr/>
          <p:nvPr/>
        </p:nvSpPr>
        <p:spPr>
          <a:xfrm>
            <a:off x="640080" y="320040"/>
            <a:ext cx="10058400"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BEFORE — Monolithic Flask Process</a:t>
            </a:r>
            <a:endParaRPr lang="en-US" sz="2700" dirty="0"/>
          </a:p>
        </p:txBody>
      </p:sp>
      <p:sp>
        <p:nvSpPr>
          <p:cNvPr id="3" name="Text 1"/>
          <p:cNvSpPr/>
          <p:nvPr/>
        </p:nvSpPr>
        <p:spPr>
          <a:xfrm>
            <a:off x="640080" y="786384"/>
            <a:ext cx="10515600" cy="365760"/>
          </a:xfrm>
          <a:prstGeom prst="rect">
            <a:avLst/>
          </a:prstGeom>
          <a:noFill/>
          <a:ln/>
        </p:spPr>
        <p:txBody>
          <a:bodyPr wrap="square" lIns="0" tIns="0" rIns="0" bIns="0" rtlCol="0" anchor="ctr"/>
          <a:lstStyle/>
          <a:p>
            <a:pPr indent="0" marL="0">
              <a:buNone/>
            </a:pPr>
            <a:r>
              <a:rPr lang="en-US" sz="1350" i="1" dirty="0">
                <a:solidFill>
                  <a:srgbClr val="AFC9D6"/>
                </a:solidFill>
                <a:latin typeface="Calibri" pitchFamily="34" charset="0"/>
                <a:ea typeface="Calibri" pitchFamily="34" charset="-122"/>
                <a:cs typeface="Calibri" pitchFamily="34" charset="-120"/>
              </a:rPr>
              <a:t>15 MT5 connections and the public API all live inside one Python process</a:t>
            </a:r>
            <a:endParaRPr lang="en-US" sz="1350" dirty="0"/>
          </a:p>
        </p:txBody>
      </p:sp>
      <p:sp>
        <p:nvSpPr>
          <p:cNvPr id="4" name="Shape 2"/>
          <p:cNvSpPr/>
          <p:nvPr/>
        </p:nvSpPr>
        <p:spPr>
          <a:xfrm>
            <a:off x="640080" y="1417320"/>
            <a:ext cx="1920240" cy="2148840"/>
          </a:xfrm>
          <a:prstGeom prst="roundRect">
            <a:avLst>
              <a:gd name="adj" fmla="val 3810"/>
            </a:avLst>
          </a:prstGeom>
          <a:solidFill>
            <a:srgbClr val="132D46"/>
          </a:solidFill>
          <a:ln w="15875">
            <a:solidFill>
              <a:srgbClr val="24506E"/>
            </a:solidFill>
            <a:prstDash val="solid"/>
          </a:ln>
        </p:spPr>
      </p:sp>
      <p:sp>
        <p:nvSpPr>
          <p:cNvPr id="5" name="Shape 3"/>
          <p:cNvSpPr/>
          <p:nvPr/>
        </p:nvSpPr>
        <p:spPr>
          <a:xfrm>
            <a:off x="1307592" y="1600200"/>
            <a:ext cx="585216" cy="585216"/>
          </a:xfrm>
          <a:prstGeom prst="ellipse">
            <a:avLst/>
          </a:prstGeom>
          <a:solidFill>
            <a:srgbClr val="0B5D8C"/>
          </a:solidFill>
          <a:ln/>
        </p:spPr>
      </p:sp>
      <p:pic>
        <p:nvPicPr>
          <p:cNvPr id="6" name="Image 0" descr="preencoded.png">    </p:cNvPr>
          <p:cNvPicPr>
            <a:picLocks noChangeAspect="1"/>
          </p:cNvPicPr>
          <p:nvPr/>
        </p:nvPicPr>
        <p:blipFill>
          <a:blip r:embed="rId1"/>
          <a:stretch>
            <a:fillRect/>
          </a:stretch>
        </p:blipFill>
        <p:spPr>
          <a:xfrm>
            <a:off x="1453896" y="1746504"/>
            <a:ext cx="292608" cy="292608"/>
          </a:xfrm>
          <a:prstGeom prst="rect">
            <a:avLst/>
          </a:prstGeom>
        </p:spPr>
      </p:pic>
      <p:sp>
        <p:nvSpPr>
          <p:cNvPr id="7" name="Text 4"/>
          <p:cNvSpPr/>
          <p:nvPr/>
        </p:nvSpPr>
        <p:spPr>
          <a:xfrm>
            <a:off x="713232" y="2286000"/>
            <a:ext cx="177393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MT5 Terminals</a:t>
            </a:r>
            <a:endParaRPr lang="en-US" sz="1250" dirty="0"/>
          </a:p>
        </p:txBody>
      </p:sp>
      <p:sp>
        <p:nvSpPr>
          <p:cNvPr id="8" name="Text 5"/>
          <p:cNvSpPr/>
          <p:nvPr/>
        </p:nvSpPr>
        <p:spPr>
          <a:xfrm>
            <a:off x="731520" y="2743200"/>
            <a:ext cx="173736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×15 (one per symbol)</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Windows VPS</a:t>
            </a:r>
            <a:endParaRPr lang="en-US" sz="900" dirty="0"/>
          </a:p>
        </p:txBody>
      </p:sp>
      <p:sp>
        <p:nvSpPr>
          <p:cNvPr id="9" name="Shape 6"/>
          <p:cNvSpPr/>
          <p:nvPr/>
        </p:nvSpPr>
        <p:spPr>
          <a:xfrm>
            <a:off x="2560320" y="2491740"/>
            <a:ext cx="274320" cy="0"/>
          </a:xfrm>
          <a:prstGeom prst="line">
            <a:avLst/>
          </a:prstGeom>
          <a:noFill/>
          <a:ln w="28575">
            <a:solidFill>
              <a:srgbClr val="C0392B"/>
            </a:solidFill>
            <a:prstDash val="solid"/>
            <a:tailEnd type="triangle"/>
          </a:ln>
        </p:spPr>
      </p:sp>
      <p:sp>
        <p:nvSpPr>
          <p:cNvPr id="10" name="Shape 7"/>
          <p:cNvSpPr/>
          <p:nvPr/>
        </p:nvSpPr>
        <p:spPr>
          <a:xfrm>
            <a:off x="2834640" y="1417320"/>
            <a:ext cx="4206240" cy="2148840"/>
          </a:xfrm>
          <a:prstGeom prst="roundRect">
            <a:avLst>
              <a:gd name="adj" fmla="val 3404"/>
            </a:avLst>
          </a:prstGeom>
          <a:solidFill>
            <a:srgbClr val="132D46"/>
          </a:solidFill>
          <a:ln w="15875">
            <a:solidFill>
              <a:srgbClr val="24506E"/>
            </a:solidFill>
            <a:prstDash val="solid"/>
          </a:ln>
        </p:spPr>
      </p:sp>
      <p:sp>
        <p:nvSpPr>
          <p:cNvPr id="11" name="Shape 8"/>
          <p:cNvSpPr/>
          <p:nvPr/>
        </p:nvSpPr>
        <p:spPr>
          <a:xfrm>
            <a:off x="4645152" y="1600200"/>
            <a:ext cx="585216" cy="585216"/>
          </a:xfrm>
          <a:prstGeom prst="ellipse">
            <a:avLst/>
          </a:prstGeom>
          <a:solidFill>
            <a:srgbClr val="C0392B"/>
          </a:solidFill>
          <a:ln/>
        </p:spPr>
      </p:sp>
      <p:pic>
        <p:nvPicPr>
          <p:cNvPr id="12" name="Image 1" descr="preencoded.png">    </p:cNvPr>
          <p:cNvPicPr>
            <a:picLocks noChangeAspect="1"/>
          </p:cNvPicPr>
          <p:nvPr/>
        </p:nvPicPr>
        <p:blipFill>
          <a:blip r:embed="rId2"/>
          <a:stretch>
            <a:fillRect/>
          </a:stretch>
        </p:blipFill>
        <p:spPr>
          <a:xfrm>
            <a:off x="4791456" y="1746504"/>
            <a:ext cx="292608" cy="292608"/>
          </a:xfrm>
          <a:prstGeom prst="rect">
            <a:avLst/>
          </a:prstGeom>
        </p:spPr>
      </p:pic>
      <p:sp>
        <p:nvSpPr>
          <p:cNvPr id="13" name="Shape 9"/>
          <p:cNvSpPr/>
          <p:nvPr/>
        </p:nvSpPr>
        <p:spPr>
          <a:xfrm>
            <a:off x="6656832" y="1271016"/>
            <a:ext cx="512064" cy="512064"/>
          </a:xfrm>
          <a:prstGeom prst="ellipse">
            <a:avLst/>
          </a:prstGeom>
          <a:solidFill>
            <a:srgbClr val="C0392B"/>
          </a:solidFill>
          <a:ln/>
        </p:spPr>
      </p:sp>
      <p:sp>
        <p:nvSpPr>
          <p:cNvPr id="14" name="Text 10"/>
          <p:cNvSpPr/>
          <p:nvPr/>
        </p:nvSpPr>
        <p:spPr>
          <a:xfrm>
            <a:off x="6656832" y="127101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1"/>
          <p:cNvSpPr/>
          <p:nvPr/>
        </p:nvSpPr>
        <p:spPr>
          <a:xfrm>
            <a:off x="2907792" y="2286000"/>
            <a:ext cx="405993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Single Flask Process</a:t>
            </a:r>
            <a:endParaRPr lang="en-US" sz="1250" dirty="0"/>
          </a:p>
        </p:txBody>
      </p:sp>
      <p:sp>
        <p:nvSpPr>
          <p:cNvPr id="16" name="Text 12"/>
          <p:cNvSpPr/>
          <p:nvPr/>
        </p:nvSpPr>
        <p:spPr>
          <a:xfrm>
            <a:off x="2926080" y="2743200"/>
            <a:ext cx="402336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Connection Pool (15 MT5 sessions)</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 REST API + Socket.IO server</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 all sharing one Python interpreter</a:t>
            </a:r>
            <a:endParaRPr lang="en-US" sz="900" dirty="0"/>
          </a:p>
        </p:txBody>
      </p:sp>
      <p:sp>
        <p:nvSpPr>
          <p:cNvPr id="17" name="Shape 13"/>
          <p:cNvSpPr/>
          <p:nvPr/>
        </p:nvSpPr>
        <p:spPr>
          <a:xfrm>
            <a:off x="7040880" y="2491740"/>
            <a:ext cx="274320" cy="0"/>
          </a:xfrm>
          <a:prstGeom prst="line">
            <a:avLst/>
          </a:prstGeom>
          <a:noFill/>
          <a:ln w="28575">
            <a:solidFill>
              <a:srgbClr val="12B886"/>
            </a:solidFill>
            <a:prstDash val="solid"/>
            <a:tailEnd type="triangle"/>
          </a:ln>
        </p:spPr>
      </p:sp>
      <p:sp>
        <p:nvSpPr>
          <p:cNvPr id="18" name="Shape 14"/>
          <p:cNvSpPr/>
          <p:nvPr/>
        </p:nvSpPr>
        <p:spPr>
          <a:xfrm>
            <a:off x="7315200" y="1463040"/>
            <a:ext cx="2103120" cy="868680"/>
          </a:xfrm>
          <a:prstGeom prst="roundRect">
            <a:avLst>
              <a:gd name="adj" fmla="val 8421"/>
            </a:avLst>
          </a:prstGeom>
          <a:solidFill>
            <a:srgbClr val="132D46"/>
          </a:solidFill>
          <a:ln w="15875">
            <a:solidFill>
              <a:srgbClr val="24506E"/>
            </a:solidFill>
            <a:prstDash val="solid"/>
          </a:ln>
        </p:spPr>
      </p:sp>
      <p:sp>
        <p:nvSpPr>
          <p:cNvPr id="19" name="Shape 15"/>
          <p:cNvSpPr/>
          <p:nvPr/>
        </p:nvSpPr>
        <p:spPr>
          <a:xfrm>
            <a:off x="8183880" y="1536192"/>
            <a:ext cx="365760" cy="365760"/>
          </a:xfrm>
          <a:prstGeom prst="ellipse">
            <a:avLst/>
          </a:prstGeom>
          <a:solidFill>
            <a:srgbClr val="1C7293"/>
          </a:solidFill>
          <a:ln/>
        </p:spPr>
      </p:sp>
      <p:pic>
        <p:nvPicPr>
          <p:cNvPr id="20" name="Image 2" descr="preencoded.png">    </p:cNvPr>
          <p:cNvPicPr>
            <a:picLocks noChangeAspect="1"/>
          </p:cNvPicPr>
          <p:nvPr/>
        </p:nvPicPr>
        <p:blipFill>
          <a:blip r:embed="rId3"/>
          <a:stretch>
            <a:fillRect/>
          </a:stretch>
        </p:blipFill>
        <p:spPr>
          <a:xfrm>
            <a:off x="8257032" y="1609344"/>
            <a:ext cx="219456" cy="219456"/>
          </a:xfrm>
          <a:prstGeom prst="rect">
            <a:avLst/>
          </a:prstGeom>
        </p:spPr>
      </p:pic>
      <p:sp>
        <p:nvSpPr>
          <p:cNvPr id="21" name="Text 16"/>
          <p:cNvSpPr/>
          <p:nvPr/>
        </p:nvSpPr>
        <p:spPr>
          <a:xfrm>
            <a:off x="7370064" y="1920240"/>
            <a:ext cx="1993392" cy="219456"/>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Part 07</a:t>
            </a:r>
            <a:endParaRPr lang="en-US" sz="1150" dirty="0"/>
          </a:p>
        </p:txBody>
      </p:sp>
      <p:sp>
        <p:nvSpPr>
          <p:cNvPr id="22" name="Text 17"/>
          <p:cNvSpPr/>
          <p:nvPr/>
        </p:nvSpPr>
        <p:spPr>
          <a:xfrm>
            <a:off x="7370064" y="2130552"/>
            <a:ext cx="1993392" cy="182880"/>
          </a:xfrm>
          <a:prstGeom prst="rect">
            <a:avLst/>
          </a:prstGeom>
          <a:noFill/>
          <a:ln/>
        </p:spPr>
        <p:txBody>
          <a:bodyPr wrap="square" lIns="0" tIns="0" rIns="0" bIns="0" rtlCol="0" anchor="t"/>
          <a:lstStyle/>
          <a:p>
            <a:pPr algn="ctr" indent="0" marL="0">
              <a:buNone/>
            </a:pPr>
            <a:r>
              <a:rPr lang="en-US" sz="850" dirty="0">
                <a:solidFill>
                  <a:srgbClr val="AFC9D6"/>
                </a:solidFill>
                <a:latin typeface="Calibri" pitchFamily="34" charset="0"/>
                <a:ea typeface="Calibri" pitchFamily="34" charset="-122"/>
                <a:cs typeface="Calibri" pitchFamily="34" charset="-120"/>
              </a:rPr>
              <a:t>Tier Routes API</a:t>
            </a:r>
            <a:endParaRPr lang="en-US" sz="850" dirty="0"/>
          </a:p>
        </p:txBody>
      </p:sp>
      <p:sp>
        <p:nvSpPr>
          <p:cNvPr id="23" name="Shape 18"/>
          <p:cNvSpPr/>
          <p:nvPr/>
        </p:nvSpPr>
        <p:spPr>
          <a:xfrm>
            <a:off x="7315200" y="2697480"/>
            <a:ext cx="2103120" cy="868680"/>
          </a:xfrm>
          <a:prstGeom prst="roundRect">
            <a:avLst>
              <a:gd name="adj" fmla="val 8421"/>
            </a:avLst>
          </a:prstGeom>
          <a:solidFill>
            <a:srgbClr val="132D46"/>
          </a:solidFill>
          <a:ln w="15875">
            <a:solidFill>
              <a:srgbClr val="24506E"/>
            </a:solidFill>
            <a:prstDash val="solid"/>
          </a:ln>
        </p:spPr>
      </p:sp>
      <p:sp>
        <p:nvSpPr>
          <p:cNvPr id="24" name="Shape 19"/>
          <p:cNvSpPr/>
          <p:nvPr/>
        </p:nvSpPr>
        <p:spPr>
          <a:xfrm>
            <a:off x="8183880" y="2770632"/>
            <a:ext cx="365760" cy="365760"/>
          </a:xfrm>
          <a:prstGeom prst="ellipse">
            <a:avLst/>
          </a:prstGeom>
          <a:solidFill>
            <a:srgbClr val="12B886"/>
          </a:solidFill>
          <a:ln/>
        </p:spPr>
      </p:sp>
      <p:pic>
        <p:nvPicPr>
          <p:cNvPr id="25" name="Image 3" descr="preencoded.png">    </p:cNvPr>
          <p:cNvPicPr>
            <a:picLocks noChangeAspect="1"/>
          </p:cNvPicPr>
          <p:nvPr/>
        </p:nvPicPr>
        <p:blipFill>
          <a:blip r:embed="rId4"/>
          <a:stretch>
            <a:fillRect/>
          </a:stretch>
        </p:blipFill>
        <p:spPr>
          <a:xfrm>
            <a:off x="8257032" y="2843784"/>
            <a:ext cx="219456" cy="219456"/>
          </a:xfrm>
          <a:prstGeom prst="rect">
            <a:avLst/>
          </a:prstGeom>
        </p:spPr>
      </p:pic>
      <p:sp>
        <p:nvSpPr>
          <p:cNvPr id="26" name="Text 20"/>
          <p:cNvSpPr/>
          <p:nvPr/>
        </p:nvSpPr>
        <p:spPr>
          <a:xfrm>
            <a:off x="7370064" y="3154680"/>
            <a:ext cx="1993392" cy="219456"/>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Browser</a:t>
            </a:r>
            <a:endParaRPr lang="en-US" sz="1150" dirty="0"/>
          </a:p>
        </p:txBody>
      </p:sp>
      <p:sp>
        <p:nvSpPr>
          <p:cNvPr id="27" name="Text 21"/>
          <p:cNvSpPr/>
          <p:nvPr/>
        </p:nvSpPr>
        <p:spPr>
          <a:xfrm>
            <a:off x="7370064" y="3364992"/>
            <a:ext cx="1993392" cy="182880"/>
          </a:xfrm>
          <a:prstGeom prst="rect">
            <a:avLst/>
          </a:prstGeom>
          <a:noFill/>
          <a:ln/>
        </p:spPr>
        <p:txBody>
          <a:bodyPr wrap="square" lIns="0" tIns="0" rIns="0" bIns="0" rtlCol="0" anchor="t"/>
          <a:lstStyle/>
          <a:p>
            <a:pPr algn="ctr" indent="0" marL="0">
              <a:buNone/>
            </a:pPr>
            <a:r>
              <a:rPr lang="en-US" sz="850" dirty="0">
                <a:solidFill>
                  <a:srgbClr val="AFC9D6"/>
                </a:solidFill>
                <a:latin typeface="Calibri" pitchFamily="34" charset="0"/>
                <a:ea typeface="Calibri" pitchFamily="34" charset="-122"/>
                <a:cs typeface="Calibri" pitchFamily="34" charset="-120"/>
              </a:rPr>
              <a:t>Chart + Socket.IO client</a:t>
            </a:r>
            <a:endParaRPr lang="en-US" sz="850" dirty="0"/>
          </a:p>
        </p:txBody>
      </p:sp>
      <p:sp>
        <p:nvSpPr>
          <p:cNvPr id="28" name="Shape 22"/>
          <p:cNvSpPr/>
          <p:nvPr/>
        </p:nvSpPr>
        <p:spPr>
          <a:xfrm>
            <a:off x="640080" y="3886200"/>
            <a:ext cx="10881360" cy="1417320"/>
          </a:xfrm>
          <a:prstGeom prst="roundRect">
            <a:avLst>
              <a:gd name="adj" fmla="val 5161"/>
            </a:avLst>
          </a:prstGeom>
          <a:solidFill>
            <a:srgbClr val="3A1A1E"/>
          </a:solidFill>
          <a:ln w="12700">
            <a:solidFill>
              <a:srgbClr val="6B2A30"/>
            </a:solidFill>
            <a:prstDash val="solid"/>
          </a:ln>
        </p:spPr>
      </p:sp>
      <p:pic>
        <p:nvPicPr>
          <p:cNvPr id="29" name="Image 4" descr="preencoded.png">    </p:cNvPr>
          <p:cNvPicPr>
            <a:picLocks noChangeAspect="1"/>
          </p:cNvPicPr>
          <p:nvPr/>
        </p:nvPicPr>
        <p:blipFill>
          <a:blip r:embed="rId5"/>
          <a:stretch>
            <a:fillRect/>
          </a:stretch>
        </p:blipFill>
        <p:spPr>
          <a:xfrm>
            <a:off x="868680" y="4087368"/>
            <a:ext cx="384048" cy="384048"/>
          </a:xfrm>
          <a:prstGeom prst="rect">
            <a:avLst/>
          </a:prstGeom>
        </p:spPr>
      </p:pic>
      <p:sp>
        <p:nvSpPr>
          <p:cNvPr id="30" name="Text 23"/>
          <p:cNvSpPr/>
          <p:nvPr/>
        </p:nvSpPr>
        <p:spPr>
          <a:xfrm>
            <a:off x="1371600" y="4059936"/>
            <a:ext cx="5486400" cy="320040"/>
          </a:xfrm>
          <a:prstGeom prst="rect">
            <a:avLst/>
          </a:prstGeom>
          <a:noFill/>
          <a:ln/>
        </p:spPr>
        <p:txBody>
          <a:bodyPr wrap="square" lIns="0" tIns="0" rIns="0" bIns="0" rtlCol="0" anchor="ctr"/>
          <a:lstStyle/>
          <a:p>
            <a:pPr indent="0" marL="0">
              <a:buNone/>
            </a:pPr>
            <a:r>
              <a:rPr lang="en-US" sz="1300" b="1" dirty="0">
                <a:solidFill>
                  <a:srgbClr val="F0A8A8"/>
                </a:solidFill>
                <a:latin typeface="Calibri" pitchFamily="34" charset="0"/>
                <a:ea typeface="Calibri" pitchFamily="34" charset="-122"/>
                <a:cs typeface="Calibri" pitchFamily="34" charset="-120"/>
              </a:rPr>
              <a:t>Why this is risky</a:t>
            </a:r>
            <a:endParaRPr lang="en-US" sz="1300" dirty="0"/>
          </a:p>
        </p:txBody>
      </p:sp>
      <p:sp>
        <p:nvSpPr>
          <p:cNvPr id="31" name="Text 24"/>
          <p:cNvSpPr/>
          <p:nvPr/>
        </p:nvSpPr>
        <p:spPr>
          <a:xfrm>
            <a:off x="868680" y="4434840"/>
            <a:ext cx="10332720" cy="822960"/>
          </a:xfrm>
          <a:prstGeom prst="rect">
            <a:avLst/>
          </a:prstGeom>
          <a:noFill/>
          <a:ln/>
        </p:spPr>
        <p:txBody>
          <a:bodyPr wrap="square" lIns="0" tIns="0" rIns="0" bIns="0" rtlCol="0" anchor="ctr"/>
          <a:lstStyle/>
          <a:p>
            <a:pPr indent="0" marL="0">
              <a:lnSpc>
                <a:spcPct val="120000"/>
              </a:lnSpc>
              <a:buNone/>
            </a:pPr>
            <a:r>
              <a:rPr lang="en-US" sz="1150" dirty="0">
                <a:solidFill>
                  <a:srgbClr val="E8C9C9"/>
                </a:solidFill>
                <a:latin typeface="Calibri" pitchFamily="34" charset="0"/>
                <a:ea typeface="Calibri" pitchFamily="34" charset="-122"/>
                <a:cs typeface="Calibri" pitchFamily="34" charset="-120"/>
              </a:rPr>
              <a:t>The MetaTrader5 Python package is built for one terminal per process — 15 sessions sharing one interpreter can interfere with each other. One crash or restart takes down all 15 symbols at once, and the API layer cannot scale separately from MT5 connectivity.</a:t>
            </a:r>
            <a:endParaRPr lang="en-US" sz="1150" dirty="0"/>
          </a:p>
        </p:txBody>
      </p:sp>
      <p:sp>
        <p:nvSpPr>
          <p:cNvPr id="32" name="Text 25"/>
          <p:cNvSpPr/>
          <p:nvPr/>
        </p:nvSpPr>
        <p:spPr>
          <a:xfrm>
            <a:off x="640080" y="5532120"/>
            <a:ext cx="10881360" cy="365760"/>
          </a:xfrm>
          <a:prstGeom prst="rect">
            <a:avLst/>
          </a:prstGeom>
          <a:noFill/>
          <a:ln/>
        </p:spPr>
        <p:txBody>
          <a:bodyPr wrap="square" lIns="0" tIns="0" rIns="0" bIns="0" rtlCol="0" anchor="ctr"/>
          <a:lstStyle/>
          <a:p>
            <a:pPr indent="0" marL="0">
              <a:buNone/>
            </a:pPr>
            <a:r>
              <a:rPr lang="en-US" sz="1150" b="1" dirty="0">
                <a:solidFill>
                  <a:srgbClr val="12B886"/>
                </a:solidFill>
                <a:latin typeface="Calibri" pitchFamily="34" charset="0"/>
                <a:ea typeface="Calibri" pitchFamily="34" charset="-122"/>
                <a:cs typeface="Calibri" pitchFamily="34" charset="-120"/>
              </a:rPr>
              <a:t>Stack: </a:t>
            </a:r>
            <a:pPr indent="0" marL="0">
              <a:buNone/>
            </a:pPr>
            <a:r>
              <a:rPr lang="en-US" sz="1150" dirty="0">
                <a:solidFill>
                  <a:srgbClr val="AFC9D6"/>
                </a:solidFill>
                <a:latin typeface="Calibri" pitchFamily="34" charset="0"/>
                <a:ea typeface="Calibri" pitchFamily="34" charset="-122"/>
                <a:cs typeface="Calibri" pitchFamily="34" charset="-120"/>
              </a:rPr>
              <a:t>Flask 3.0  ·  flask-socketio 5.3  ·  eventlet  ·  MetaTrader5 Python API  ·  gunicorn + gevent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A4A"/>
        </a:solidFill>
      </p:bgPr>
    </p:bg>
    <p:spTree>
      <p:nvGrpSpPr>
        <p:cNvPr id="1" name=""/>
        <p:cNvGrpSpPr/>
        <p:nvPr/>
      </p:nvGrpSpPr>
      <p:grpSpPr>
        <a:xfrm>
          <a:off x="0" y="0"/>
          <a:ext cx="0" cy="0"/>
          <a:chOff x="0" y="0"/>
          <a:chExt cx="0" cy="0"/>
        </a:xfrm>
      </p:grpSpPr>
      <p:sp>
        <p:nvSpPr>
          <p:cNvPr id="2" name="Text 0"/>
          <p:cNvSpPr/>
          <p:nvPr/>
        </p:nvSpPr>
        <p:spPr>
          <a:xfrm>
            <a:off x="640080" y="320040"/>
            <a:ext cx="106070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AFTER — Dedicated Worker VPS Pipeline</a:t>
            </a:r>
            <a:endParaRPr lang="en-US" sz="2600" dirty="0"/>
          </a:p>
        </p:txBody>
      </p:sp>
      <p:sp>
        <p:nvSpPr>
          <p:cNvPr id="3" name="Text 1"/>
          <p:cNvSpPr/>
          <p:nvPr/>
        </p:nvSpPr>
        <p:spPr>
          <a:xfrm>
            <a:off x="640080" y="786384"/>
            <a:ext cx="10789920" cy="365760"/>
          </a:xfrm>
          <a:prstGeom prst="rect">
            <a:avLst/>
          </a:prstGeom>
          <a:noFill/>
          <a:ln/>
        </p:spPr>
        <p:txBody>
          <a:bodyPr wrap="square" lIns="0" tIns="0" rIns="0" bIns="0" rtlCol="0" anchor="ctr"/>
          <a:lstStyle/>
          <a:p>
            <a:pPr indent="0" marL="0">
              <a:buNone/>
            </a:pPr>
            <a:r>
              <a:rPr lang="en-US" sz="1300" i="1" dirty="0">
                <a:solidFill>
                  <a:srgbClr val="AFC9D6"/>
                </a:solidFill>
                <a:latin typeface="Calibri" pitchFamily="34" charset="0"/>
                <a:ea typeface="Calibri" pitchFamily="34" charset="-122"/>
                <a:cs typeface="Calibri" pitchFamily="34" charset="-120"/>
              </a:rPr>
              <a:t>A Python worker on its own VPS reads MT5 directly — the EA and indicator pipeline are never touched</a:t>
            </a:r>
            <a:endParaRPr lang="en-US" sz="1300" dirty="0"/>
          </a:p>
        </p:txBody>
      </p:sp>
      <p:sp>
        <p:nvSpPr>
          <p:cNvPr id="4" name="Shape 2"/>
          <p:cNvSpPr/>
          <p:nvPr/>
        </p:nvSpPr>
        <p:spPr>
          <a:xfrm>
            <a:off x="594360" y="1417320"/>
            <a:ext cx="1965960" cy="2148840"/>
          </a:xfrm>
          <a:prstGeom prst="roundRect">
            <a:avLst>
              <a:gd name="adj" fmla="val 3721"/>
            </a:avLst>
          </a:prstGeom>
          <a:solidFill>
            <a:srgbClr val="132D46"/>
          </a:solidFill>
          <a:ln w="15875">
            <a:solidFill>
              <a:srgbClr val="24506E"/>
            </a:solidFill>
            <a:prstDash val="solid"/>
          </a:ln>
        </p:spPr>
      </p:sp>
      <p:sp>
        <p:nvSpPr>
          <p:cNvPr id="5" name="Shape 3"/>
          <p:cNvSpPr/>
          <p:nvPr/>
        </p:nvSpPr>
        <p:spPr>
          <a:xfrm>
            <a:off x="1284732" y="1600200"/>
            <a:ext cx="585216" cy="585216"/>
          </a:xfrm>
          <a:prstGeom prst="ellipse">
            <a:avLst/>
          </a:prstGeom>
          <a:solidFill>
            <a:srgbClr val="0B5D8C"/>
          </a:solidFill>
          <a:ln/>
        </p:spPr>
      </p:sp>
      <p:pic>
        <p:nvPicPr>
          <p:cNvPr id="6" name="Image 0" descr="preencoded.png">    </p:cNvPr>
          <p:cNvPicPr>
            <a:picLocks noChangeAspect="1"/>
          </p:cNvPicPr>
          <p:nvPr/>
        </p:nvPicPr>
        <p:blipFill>
          <a:blip r:embed="rId1"/>
          <a:stretch>
            <a:fillRect/>
          </a:stretch>
        </p:blipFill>
        <p:spPr>
          <a:xfrm>
            <a:off x="1431036" y="1746504"/>
            <a:ext cx="292608" cy="292608"/>
          </a:xfrm>
          <a:prstGeom prst="rect">
            <a:avLst/>
          </a:prstGeom>
        </p:spPr>
      </p:pic>
      <p:sp>
        <p:nvSpPr>
          <p:cNvPr id="7" name="Shape 4"/>
          <p:cNvSpPr/>
          <p:nvPr/>
        </p:nvSpPr>
        <p:spPr>
          <a:xfrm>
            <a:off x="2176272" y="1271016"/>
            <a:ext cx="512064" cy="512064"/>
          </a:xfrm>
          <a:prstGeom prst="ellipse">
            <a:avLst/>
          </a:prstGeom>
          <a:solidFill>
            <a:srgbClr val="12B886"/>
          </a:solidFill>
          <a:ln/>
        </p:spPr>
      </p:sp>
      <p:sp>
        <p:nvSpPr>
          <p:cNvPr id="8" name="Text 5"/>
          <p:cNvSpPr/>
          <p:nvPr/>
        </p:nvSpPr>
        <p:spPr>
          <a:xfrm>
            <a:off x="2176272" y="1271016"/>
            <a:ext cx="512064"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NEW</a:t>
            </a:r>
            <a:endParaRPr lang="en-US" sz="950" dirty="0"/>
          </a:p>
        </p:txBody>
      </p:sp>
      <p:sp>
        <p:nvSpPr>
          <p:cNvPr id="9" name="Text 6"/>
          <p:cNvSpPr/>
          <p:nvPr/>
        </p:nvSpPr>
        <p:spPr>
          <a:xfrm>
            <a:off x="667512" y="2286000"/>
            <a:ext cx="181965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MT5 Terminals</a:t>
            </a:r>
            <a:endParaRPr lang="en-US" sz="1250" dirty="0"/>
          </a:p>
        </p:txBody>
      </p:sp>
      <p:sp>
        <p:nvSpPr>
          <p:cNvPr id="10" name="Text 7"/>
          <p:cNvSpPr/>
          <p:nvPr/>
        </p:nvSpPr>
        <p:spPr>
          <a:xfrm>
            <a:off x="685800" y="2743200"/>
            <a:ext cx="178308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Dedicated VPS #2</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separate from EA terminals</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no indicator EA installed</a:t>
            </a:r>
            <a:endParaRPr lang="en-US" sz="900" dirty="0"/>
          </a:p>
        </p:txBody>
      </p:sp>
      <p:sp>
        <p:nvSpPr>
          <p:cNvPr id="11" name="Shape 8"/>
          <p:cNvSpPr/>
          <p:nvPr/>
        </p:nvSpPr>
        <p:spPr>
          <a:xfrm>
            <a:off x="2560320" y="2491740"/>
            <a:ext cx="256032" cy="0"/>
          </a:xfrm>
          <a:prstGeom prst="line">
            <a:avLst/>
          </a:prstGeom>
          <a:noFill/>
          <a:ln w="28575">
            <a:solidFill>
              <a:srgbClr val="12B886"/>
            </a:solidFill>
            <a:prstDash val="solid"/>
            <a:tailEnd type="triangle"/>
          </a:ln>
        </p:spPr>
      </p:sp>
      <p:sp>
        <p:nvSpPr>
          <p:cNvPr id="12" name="Shape 9"/>
          <p:cNvSpPr/>
          <p:nvPr/>
        </p:nvSpPr>
        <p:spPr>
          <a:xfrm>
            <a:off x="2816352" y="1417320"/>
            <a:ext cx="1965960" cy="2148840"/>
          </a:xfrm>
          <a:prstGeom prst="roundRect">
            <a:avLst>
              <a:gd name="adj" fmla="val 3721"/>
            </a:avLst>
          </a:prstGeom>
          <a:solidFill>
            <a:srgbClr val="132D46"/>
          </a:solidFill>
          <a:ln w="15875">
            <a:solidFill>
              <a:srgbClr val="24506E"/>
            </a:solidFill>
            <a:prstDash val="solid"/>
          </a:ln>
        </p:spPr>
      </p:sp>
      <p:sp>
        <p:nvSpPr>
          <p:cNvPr id="13" name="Shape 10"/>
          <p:cNvSpPr/>
          <p:nvPr/>
        </p:nvSpPr>
        <p:spPr>
          <a:xfrm>
            <a:off x="3506724" y="1600200"/>
            <a:ext cx="585216" cy="585216"/>
          </a:xfrm>
          <a:prstGeom prst="ellipse">
            <a:avLst/>
          </a:prstGeom>
          <a:solidFill>
            <a:srgbClr val="1C7293"/>
          </a:solidFill>
          <a:ln/>
        </p:spPr>
      </p:sp>
      <p:pic>
        <p:nvPicPr>
          <p:cNvPr id="14" name="Image 1" descr="preencoded.png">    </p:cNvPr>
          <p:cNvPicPr>
            <a:picLocks noChangeAspect="1"/>
          </p:cNvPicPr>
          <p:nvPr/>
        </p:nvPicPr>
        <p:blipFill>
          <a:blip r:embed="rId2"/>
          <a:stretch>
            <a:fillRect/>
          </a:stretch>
        </p:blipFill>
        <p:spPr>
          <a:xfrm>
            <a:off x="3653028" y="1746504"/>
            <a:ext cx="292608" cy="292608"/>
          </a:xfrm>
          <a:prstGeom prst="rect">
            <a:avLst/>
          </a:prstGeom>
        </p:spPr>
      </p:pic>
      <p:sp>
        <p:nvSpPr>
          <p:cNvPr id="15" name="Text 11"/>
          <p:cNvSpPr/>
          <p:nvPr/>
        </p:nvSpPr>
        <p:spPr>
          <a:xfrm>
            <a:off x="2889504" y="2286000"/>
            <a:ext cx="181965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Python Worker</a:t>
            </a:r>
            <a:endParaRPr lang="en-US" sz="1250" dirty="0"/>
          </a:p>
        </p:txBody>
      </p:sp>
      <p:sp>
        <p:nvSpPr>
          <p:cNvPr id="16" name="Text 12"/>
          <p:cNvSpPr/>
          <p:nvPr/>
        </p:nvSpPr>
        <p:spPr>
          <a:xfrm>
            <a:off x="2907792" y="2743200"/>
            <a:ext cx="178308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MetaTrader5 API +</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redis-py, no EA</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no WebRequest blocking</a:t>
            </a:r>
            <a:endParaRPr lang="en-US" sz="900" dirty="0"/>
          </a:p>
        </p:txBody>
      </p:sp>
      <p:sp>
        <p:nvSpPr>
          <p:cNvPr id="17" name="Shape 13"/>
          <p:cNvSpPr/>
          <p:nvPr/>
        </p:nvSpPr>
        <p:spPr>
          <a:xfrm>
            <a:off x="4782312" y="2491740"/>
            <a:ext cx="256032" cy="0"/>
          </a:xfrm>
          <a:prstGeom prst="line">
            <a:avLst/>
          </a:prstGeom>
          <a:noFill/>
          <a:ln w="28575">
            <a:solidFill>
              <a:srgbClr val="12B886"/>
            </a:solidFill>
            <a:prstDash val="solid"/>
            <a:tailEnd type="triangle"/>
          </a:ln>
        </p:spPr>
      </p:sp>
      <p:sp>
        <p:nvSpPr>
          <p:cNvPr id="18" name="Shape 14"/>
          <p:cNvSpPr/>
          <p:nvPr/>
        </p:nvSpPr>
        <p:spPr>
          <a:xfrm>
            <a:off x="5038344" y="1417320"/>
            <a:ext cx="1965960" cy="2148840"/>
          </a:xfrm>
          <a:prstGeom prst="roundRect">
            <a:avLst>
              <a:gd name="adj" fmla="val 3721"/>
            </a:avLst>
          </a:prstGeom>
          <a:solidFill>
            <a:srgbClr val="132D46"/>
          </a:solidFill>
          <a:ln w="15875">
            <a:solidFill>
              <a:srgbClr val="24506E"/>
            </a:solidFill>
            <a:prstDash val="solid"/>
          </a:ln>
        </p:spPr>
      </p:sp>
      <p:sp>
        <p:nvSpPr>
          <p:cNvPr id="19" name="Shape 15"/>
          <p:cNvSpPr/>
          <p:nvPr/>
        </p:nvSpPr>
        <p:spPr>
          <a:xfrm>
            <a:off x="5728716" y="1600200"/>
            <a:ext cx="585216" cy="585216"/>
          </a:xfrm>
          <a:prstGeom prst="ellipse">
            <a:avLst/>
          </a:prstGeom>
          <a:solidFill>
            <a:srgbClr val="C0392B"/>
          </a:solidFill>
          <a:ln/>
        </p:spPr>
      </p:sp>
      <p:pic>
        <p:nvPicPr>
          <p:cNvPr id="20" name="Image 2" descr="preencoded.png">    </p:cNvPr>
          <p:cNvPicPr>
            <a:picLocks noChangeAspect="1"/>
          </p:cNvPicPr>
          <p:nvPr/>
        </p:nvPicPr>
        <p:blipFill>
          <a:blip r:embed="rId3"/>
          <a:stretch>
            <a:fillRect/>
          </a:stretch>
        </p:blipFill>
        <p:spPr>
          <a:xfrm>
            <a:off x="5875020" y="1746504"/>
            <a:ext cx="292608" cy="292608"/>
          </a:xfrm>
          <a:prstGeom prst="rect">
            <a:avLst/>
          </a:prstGeom>
        </p:spPr>
      </p:pic>
      <p:sp>
        <p:nvSpPr>
          <p:cNvPr id="21" name="Text 16"/>
          <p:cNvSpPr/>
          <p:nvPr/>
        </p:nvSpPr>
        <p:spPr>
          <a:xfrm>
            <a:off x="5111496" y="2286000"/>
            <a:ext cx="181965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Redis</a:t>
            </a:r>
            <a:endParaRPr lang="en-US" sz="1250" dirty="0"/>
          </a:p>
        </p:txBody>
      </p:sp>
      <p:sp>
        <p:nvSpPr>
          <p:cNvPr id="22" name="Text 17"/>
          <p:cNvSpPr/>
          <p:nvPr/>
        </p:nvSpPr>
        <p:spPr>
          <a:xfrm>
            <a:off x="5129784" y="2743200"/>
            <a:ext cx="178308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Pub/Sub channel per</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symbol + timeframe</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private network (Railway)</a:t>
            </a:r>
            <a:endParaRPr lang="en-US" sz="900" dirty="0"/>
          </a:p>
        </p:txBody>
      </p:sp>
      <p:sp>
        <p:nvSpPr>
          <p:cNvPr id="23" name="Shape 18"/>
          <p:cNvSpPr/>
          <p:nvPr/>
        </p:nvSpPr>
        <p:spPr>
          <a:xfrm>
            <a:off x="7004304" y="2491740"/>
            <a:ext cx="256032" cy="0"/>
          </a:xfrm>
          <a:prstGeom prst="line">
            <a:avLst/>
          </a:prstGeom>
          <a:noFill/>
          <a:ln w="28575">
            <a:solidFill>
              <a:srgbClr val="12B886"/>
            </a:solidFill>
            <a:prstDash val="solid"/>
            <a:tailEnd type="triangle"/>
          </a:ln>
        </p:spPr>
      </p:sp>
      <p:sp>
        <p:nvSpPr>
          <p:cNvPr id="24" name="Shape 19"/>
          <p:cNvSpPr/>
          <p:nvPr/>
        </p:nvSpPr>
        <p:spPr>
          <a:xfrm>
            <a:off x="7260336" y="1417320"/>
            <a:ext cx="1965960" cy="2148840"/>
          </a:xfrm>
          <a:prstGeom prst="roundRect">
            <a:avLst>
              <a:gd name="adj" fmla="val 3721"/>
            </a:avLst>
          </a:prstGeom>
          <a:solidFill>
            <a:srgbClr val="132D46"/>
          </a:solidFill>
          <a:ln w="15875">
            <a:solidFill>
              <a:srgbClr val="24506E"/>
            </a:solidFill>
            <a:prstDash val="solid"/>
          </a:ln>
        </p:spPr>
      </p:sp>
      <p:sp>
        <p:nvSpPr>
          <p:cNvPr id="25" name="Shape 20"/>
          <p:cNvSpPr/>
          <p:nvPr/>
        </p:nvSpPr>
        <p:spPr>
          <a:xfrm>
            <a:off x="7950708" y="1600200"/>
            <a:ext cx="585216" cy="585216"/>
          </a:xfrm>
          <a:prstGeom prst="ellipse">
            <a:avLst/>
          </a:prstGeom>
          <a:solidFill>
            <a:srgbClr val="12B886"/>
          </a:solidFill>
          <a:ln/>
        </p:spPr>
      </p:sp>
      <p:pic>
        <p:nvPicPr>
          <p:cNvPr id="26" name="Image 3" descr="preencoded.png">    </p:cNvPr>
          <p:cNvPicPr>
            <a:picLocks noChangeAspect="1"/>
          </p:cNvPicPr>
          <p:nvPr/>
        </p:nvPicPr>
        <p:blipFill>
          <a:blip r:embed="rId4"/>
          <a:stretch>
            <a:fillRect/>
          </a:stretch>
        </p:blipFill>
        <p:spPr>
          <a:xfrm>
            <a:off x="8097012" y="1746504"/>
            <a:ext cx="292608" cy="292608"/>
          </a:xfrm>
          <a:prstGeom prst="rect">
            <a:avLst/>
          </a:prstGeom>
        </p:spPr>
      </p:pic>
      <p:sp>
        <p:nvSpPr>
          <p:cNvPr id="27" name="Shape 21"/>
          <p:cNvSpPr/>
          <p:nvPr/>
        </p:nvSpPr>
        <p:spPr>
          <a:xfrm>
            <a:off x="8842248" y="1271016"/>
            <a:ext cx="512064" cy="512064"/>
          </a:xfrm>
          <a:prstGeom prst="ellipse">
            <a:avLst/>
          </a:prstGeom>
          <a:solidFill>
            <a:srgbClr val="12B886"/>
          </a:solidFill>
          <a:ln/>
        </p:spPr>
      </p:sp>
      <p:sp>
        <p:nvSpPr>
          <p:cNvPr id="28" name="Text 22"/>
          <p:cNvSpPr/>
          <p:nvPr/>
        </p:nvSpPr>
        <p:spPr>
          <a:xfrm>
            <a:off x="8842248" y="127101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29" name="Text 23"/>
          <p:cNvSpPr/>
          <p:nvPr/>
        </p:nvSpPr>
        <p:spPr>
          <a:xfrm>
            <a:off x="7333488" y="2286000"/>
            <a:ext cx="1819656"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Realtime Gateway</a:t>
            </a:r>
            <a:endParaRPr lang="en-US" sz="1250" dirty="0"/>
          </a:p>
        </p:txBody>
      </p:sp>
      <p:sp>
        <p:nvSpPr>
          <p:cNvPr id="30" name="Text 24"/>
          <p:cNvSpPr/>
          <p:nvPr/>
        </p:nvSpPr>
        <p:spPr>
          <a:xfrm>
            <a:off x="7351776" y="2743200"/>
            <a:ext cx="1783080" cy="731520"/>
          </a:xfrm>
          <a:prstGeom prst="rect">
            <a:avLst/>
          </a:prstGeom>
          <a:noFill/>
          <a:ln/>
        </p:spPr>
        <p:txBody>
          <a:bodyPr wrap="square" lIns="0" tIns="0" rIns="0" bIns="0" rtlCol="0" anchor="t"/>
          <a:lstStyle/>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NestJS + Socket.IO</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×N replicas (Railway)</a:t>
            </a:r>
            <a:endParaRPr lang="en-US" sz="900" dirty="0"/>
          </a:p>
          <a:p>
            <a:pPr algn="ctr" indent="0" marL="0">
              <a:lnSpc>
                <a:spcPct val="115000"/>
              </a:lnSpc>
              <a:buNone/>
            </a:pPr>
            <a:r>
              <a:rPr lang="en-US" sz="900" dirty="0">
                <a:solidFill>
                  <a:srgbClr val="AFC9D6"/>
                </a:solidFill>
                <a:latin typeface="Calibri" pitchFamily="34" charset="0"/>
                <a:ea typeface="Calibri" pitchFamily="34" charset="-122"/>
                <a:cs typeface="Calibri" pitchFamily="34" charset="-120"/>
              </a:rPr>
              <a:t>same REST/WS contract</a:t>
            </a:r>
            <a:endParaRPr lang="en-US" sz="900" dirty="0"/>
          </a:p>
        </p:txBody>
      </p:sp>
      <p:sp>
        <p:nvSpPr>
          <p:cNvPr id="31" name="Shape 25"/>
          <p:cNvSpPr/>
          <p:nvPr/>
        </p:nvSpPr>
        <p:spPr>
          <a:xfrm>
            <a:off x="9226296" y="2491740"/>
            <a:ext cx="256032" cy="0"/>
          </a:xfrm>
          <a:prstGeom prst="line">
            <a:avLst/>
          </a:prstGeom>
          <a:noFill/>
          <a:ln w="28575">
            <a:solidFill>
              <a:srgbClr val="12B886"/>
            </a:solidFill>
            <a:prstDash val="solid"/>
            <a:tailEnd type="triangle"/>
          </a:ln>
        </p:spPr>
      </p:sp>
      <p:sp>
        <p:nvSpPr>
          <p:cNvPr id="32" name="Shape 26"/>
          <p:cNvSpPr/>
          <p:nvPr/>
        </p:nvSpPr>
        <p:spPr>
          <a:xfrm>
            <a:off x="9482328" y="1463040"/>
            <a:ext cx="1965960" cy="868680"/>
          </a:xfrm>
          <a:prstGeom prst="roundRect">
            <a:avLst>
              <a:gd name="adj" fmla="val 8421"/>
            </a:avLst>
          </a:prstGeom>
          <a:solidFill>
            <a:srgbClr val="132D46"/>
          </a:solidFill>
          <a:ln w="15875">
            <a:solidFill>
              <a:srgbClr val="24506E"/>
            </a:solidFill>
            <a:prstDash val="solid"/>
          </a:ln>
        </p:spPr>
      </p:sp>
      <p:sp>
        <p:nvSpPr>
          <p:cNvPr id="33" name="Shape 27"/>
          <p:cNvSpPr/>
          <p:nvPr/>
        </p:nvSpPr>
        <p:spPr>
          <a:xfrm>
            <a:off x="10282428" y="1536192"/>
            <a:ext cx="365760" cy="365760"/>
          </a:xfrm>
          <a:prstGeom prst="ellipse">
            <a:avLst/>
          </a:prstGeom>
          <a:solidFill>
            <a:srgbClr val="1C7293"/>
          </a:solidFill>
          <a:ln/>
        </p:spPr>
      </p:sp>
      <p:pic>
        <p:nvPicPr>
          <p:cNvPr id="34" name="Image 4" descr="preencoded.png">    </p:cNvPr>
          <p:cNvPicPr>
            <a:picLocks noChangeAspect="1"/>
          </p:cNvPicPr>
          <p:nvPr/>
        </p:nvPicPr>
        <p:blipFill>
          <a:blip r:embed="rId5"/>
          <a:stretch>
            <a:fillRect/>
          </a:stretch>
        </p:blipFill>
        <p:spPr>
          <a:xfrm>
            <a:off x="10355580" y="1609344"/>
            <a:ext cx="219456" cy="219456"/>
          </a:xfrm>
          <a:prstGeom prst="rect">
            <a:avLst/>
          </a:prstGeom>
        </p:spPr>
      </p:pic>
      <p:sp>
        <p:nvSpPr>
          <p:cNvPr id="35" name="Text 28"/>
          <p:cNvSpPr/>
          <p:nvPr/>
        </p:nvSpPr>
        <p:spPr>
          <a:xfrm>
            <a:off x="9537192" y="1920240"/>
            <a:ext cx="1856232" cy="219456"/>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Part 07</a:t>
            </a:r>
            <a:endParaRPr lang="en-US" sz="1150" dirty="0"/>
          </a:p>
        </p:txBody>
      </p:sp>
      <p:sp>
        <p:nvSpPr>
          <p:cNvPr id="36" name="Text 29"/>
          <p:cNvSpPr/>
          <p:nvPr/>
        </p:nvSpPr>
        <p:spPr>
          <a:xfrm>
            <a:off x="9537192" y="2130552"/>
            <a:ext cx="1856232" cy="182880"/>
          </a:xfrm>
          <a:prstGeom prst="rect">
            <a:avLst/>
          </a:prstGeom>
          <a:noFill/>
          <a:ln/>
        </p:spPr>
        <p:txBody>
          <a:bodyPr wrap="square" lIns="0" tIns="0" rIns="0" bIns="0" rtlCol="0" anchor="t"/>
          <a:lstStyle/>
          <a:p>
            <a:pPr algn="ctr" indent="0" marL="0">
              <a:buNone/>
            </a:pPr>
            <a:r>
              <a:rPr lang="en-US" sz="850" dirty="0">
                <a:solidFill>
                  <a:srgbClr val="AFC9D6"/>
                </a:solidFill>
                <a:latin typeface="Calibri" pitchFamily="34" charset="0"/>
                <a:ea typeface="Calibri" pitchFamily="34" charset="-122"/>
                <a:cs typeface="Calibri" pitchFamily="34" charset="-120"/>
              </a:rPr>
              <a:t>Tier Routes API</a:t>
            </a:r>
            <a:endParaRPr lang="en-US" sz="850" dirty="0"/>
          </a:p>
        </p:txBody>
      </p:sp>
      <p:sp>
        <p:nvSpPr>
          <p:cNvPr id="37" name="Shape 30"/>
          <p:cNvSpPr/>
          <p:nvPr/>
        </p:nvSpPr>
        <p:spPr>
          <a:xfrm>
            <a:off x="9482328" y="2697480"/>
            <a:ext cx="1965960" cy="868680"/>
          </a:xfrm>
          <a:prstGeom prst="roundRect">
            <a:avLst>
              <a:gd name="adj" fmla="val 8421"/>
            </a:avLst>
          </a:prstGeom>
          <a:solidFill>
            <a:srgbClr val="132D46"/>
          </a:solidFill>
          <a:ln w="15875">
            <a:solidFill>
              <a:srgbClr val="24506E"/>
            </a:solidFill>
            <a:prstDash val="solid"/>
          </a:ln>
        </p:spPr>
      </p:sp>
      <p:sp>
        <p:nvSpPr>
          <p:cNvPr id="38" name="Shape 31"/>
          <p:cNvSpPr/>
          <p:nvPr/>
        </p:nvSpPr>
        <p:spPr>
          <a:xfrm>
            <a:off x="10282428" y="2770632"/>
            <a:ext cx="365760" cy="365760"/>
          </a:xfrm>
          <a:prstGeom prst="ellipse">
            <a:avLst/>
          </a:prstGeom>
          <a:solidFill>
            <a:srgbClr val="12B886"/>
          </a:solidFill>
          <a:ln/>
        </p:spPr>
      </p:sp>
      <p:pic>
        <p:nvPicPr>
          <p:cNvPr id="39" name="Image 5" descr="preencoded.png">    </p:cNvPr>
          <p:cNvPicPr>
            <a:picLocks noChangeAspect="1"/>
          </p:cNvPicPr>
          <p:nvPr/>
        </p:nvPicPr>
        <p:blipFill>
          <a:blip r:embed="rId6"/>
          <a:stretch>
            <a:fillRect/>
          </a:stretch>
        </p:blipFill>
        <p:spPr>
          <a:xfrm>
            <a:off x="10355580" y="2843784"/>
            <a:ext cx="219456" cy="219456"/>
          </a:xfrm>
          <a:prstGeom prst="rect">
            <a:avLst/>
          </a:prstGeom>
        </p:spPr>
      </p:pic>
      <p:sp>
        <p:nvSpPr>
          <p:cNvPr id="40" name="Text 32"/>
          <p:cNvSpPr/>
          <p:nvPr/>
        </p:nvSpPr>
        <p:spPr>
          <a:xfrm>
            <a:off x="9537192" y="3154680"/>
            <a:ext cx="1856232" cy="219456"/>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Browser</a:t>
            </a:r>
            <a:endParaRPr lang="en-US" sz="1150" dirty="0"/>
          </a:p>
        </p:txBody>
      </p:sp>
      <p:sp>
        <p:nvSpPr>
          <p:cNvPr id="41" name="Text 33"/>
          <p:cNvSpPr/>
          <p:nvPr/>
        </p:nvSpPr>
        <p:spPr>
          <a:xfrm>
            <a:off x="9537192" y="3364992"/>
            <a:ext cx="1856232" cy="182880"/>
          </a:xfrm>
          <a:prstGeom prst="rect">
            <a:avLst/>
          </a:prstGeom>
          <a:noFill/>
          <a:ln/>
        </p:spPr>
        <p:txBody>
          <a:bodyPr wrap="square" lIns="0" tIns="0" rIns="0" bIns="0" rtlCol="0" anchor="t"/>
          <a:lstStyle/>
          <a:p>
            <a:pPr algn="ctr" indent="0" marL="0">
              <a:buNone/>
            </a:pPr>
            <a:r>
              <a:rPr lang="en-US" sz="850" dirty="0">
                <a:solidFill>
                  <a:srgbClr val="AFC9D6"/>
                </a:solidFill>
                <a:latin typeface="Calibri" pitchFamily="34" charset="0"/>
                <a:ea typeface="Calibri" pitchFamily="34" charset="-122"/>
                <a:cs typeface="Calibri" pitchFamily="34" charset="-120"/>
              </a:rPr>
              <a:t>unchanged</a:t>
            </a:r>
            <a:endParaRPr lang="en-US" sz="850" dirty="0"/>
          </a:p>
        </p:txBody>
      </p:sp>
      <p:sp>
        <p:nvSpPr>
          <p:cNvPr id="42" name="Shape 34"/>
          <p:cNvSpPr/>
          <p:nvPr/>
        </p:nvSpPr>
        <p:spPr>
          <a:xfrm>
            <a:off x="640080" y="3886200"/>
            <a:ext cx="10881360" cy="1417320"/>
          </a:xfrm>
          <a:prstGeom prst="roundRect">
            <a:avLst>
              <a:gd name="adj" fmla="val 5161"/>
            </a:avLst>
          </a:prstGeom>
          <a:solidFill>
            <a:srgbClr val="0F332B"/>
          </a:solidFill>
          <a:ln w="12700">
            <a:solidFill>
              <a:srgbClr val="1E5C4A"/>
            </a:solidFill>
            <a:prstDash val="solid"/>
          </a:ln>
        </p:spPr>
      </p:sp>
      <p:pic>
        <p:nvPicPr>
          <p:cNvPr id="43" name="Image 6" descr="preencoded.png">    </p:cNvPr>
          <p:cNvPicPr>
            <a:picLocks noChangeAspect="1"/>
          </p:cNvPicPr>
          <p:nvPr/>
        </p:nvPicPr>
        <p:blipFill>
          <a:blip r:embed="rId7"/>
          <a:stretch>
            <a:fillRect/>
          </a:stretch>
        </p:blipFill>
        <p:spPr>
          <a:xfrm>
            <a:off x="868680" y="4087368"/>
            <a:ext cx="384048" cy="384048"/>
          </a:xfrm>
          <a:prstGeom prst="rect">
            <a:avLst/>
          </a:prstGeom>
        </p:spPr>
      </p:pic>
      <p:sp>
        <p:nvSpPr>
          <p:cNvPr id="44" name="Text 35"/>
          <p:cNvSpPr/>
          <p:nvPr/>
        </p:nvSpPr>
        <p:spPr>
          <a:xfrm>
            <a:off x="1371600" y="4059936"/>
            <a:ext cx="5486400" cy="320040"/>
          </a:xfrm>
          <a:prstGeom prst="rect">
            <a:avLst/>
          </a:prstGeom>
          <a:noFill/>
          <a:ln/>
        </p:spPr>
        <p:txBody>
          <a:bodyPr wrap="square" lIns="0" tIns="0" rIns="0" bIns="0" rtlCol="0" anchor="ctr"/>
          <a:lstStyle/>
          <a:p>
            <a:pPr indent="0" marL="0">
              <a:buNone/>
            </a:pPr>
            <a:r>
              <a:rPr lang="en-US" sz="1300" b="1" dirty="0">
                <a:solidFill>
                  <a:srgbClr val="8CE0C4"/>
                </a:solidFill>
                <a:latin typeface="Calibri" pitchFamily="34" charset="0"/>
                <a:ea typeface="Calibri" pitchFamily="34" charset="-122"/>
                <a:cs typeface="Calibri" pitchFamily="34" charset="-120"/>
              </a:rPr>
              <a:t>Why this works</a:t>
            </a:r>
            <a:endParaRPr lang="en-US" sz="1300" dirty="0"/>
          </a:p>
        </p:txBody>
      </p:sp>
      <p:sp>
        <p:nvSpPr>
          <p:cNvPr id="45" name="Text 36"/>
          <p:cNvSpPr/>
          <p:nvPr/>
        </p:nvSpPr>
        <p:spPr>
          <a:xfrm>
            <a:off x="868680" y="4434840"/>
            <a:ext cx="10332720" cy="822960"/>
          </a:xfrm>
          <a:prstGeom prst="rect">
            <a:avLst/>
          </a:prstGeom>
          <a:noFill/>
          <a:ln/>
        </p:spPr>
        <p:txBody>
          <a:bodyPr wrap="square" lIns="0" tIns="0" rIns="0" bIns="0" rtlCol="0" anchor="ctr"/>
          <a:lstStyle/>
          <a:p>
            <a:pPr indent="0" marL="0">
              <a:lnSpc>
                <a:spcPct val="120000"/>
              </a:lnSpc>
              <a:buNone/>
            </a:pPr>
            <a:r>
              <a:rPr lang="en-US" sz="1150" dirty="0">
                <a:solidFill>
                  <a:srgbClr val="C7E8DA"/>
                </a:solidFill>
                <a:latin typeface="Calibri" pitchFamily="34" charset="0"/>
                <a:ea typeface="Calibri" pitchFamily="34" charset="-122"/>
                <a:cs typeface="Calibri" pitchFamily="34" charset="-120"/>
              </a:rPr>
              <a:t>Running on its own VPS, the Python worker never competes with the EA's indicator math or its blocking WebRequest() calls — a slowdown on one machine can't freeze the other. The worker talks to MT5 the same way the current Part 06 service does today, just isolated onto dedicated hardware and paired with Redis + Socket.IO for fan-out.</a:t>
            </a:r>
            <a:endParaRPr lang="en-US" sz="1150" dirty="0"/>
          </a:p>
        </p:txBody>
      </p:sp>
      <p:sp>
        <p:nvSpPr>
          <p:cNvPr id="46" name="Text 37"/>
          <p:cNvSpPr/>
          <p:nvPr/>
        </p:nvSpPr>
        <p:spPr>
          <a:xfrm>
            <a:off x="640080" y="5532120"/>
            <a:ext cx="10881360" cy="365760"/>
          </a:xfrm>
          <a:prstGeom prst="rect">
            <a:avLst/>
          </a:prstGeom>
          <a:noFill/>
          <a:ln/>
        </p:spPr>
        <p:txBody>
          <a:bodyPr wrap="square" lIns="0" tIns="0" rIns="0" bIns="0" rtlCol="0" anchor="ctr"/>
          <a:lstStyle/>
          <a:p>
            <a:pPr indent="0" marL="0">
              <a:buNone/>
            </a:pPr>
            <a:r>
              <a:rPr lang="en-US" sz="1150" b="1" dirty="0">
                <a:solidFill>
                  <a:srgbClr val="12B886"/>
                </a:solidFill>
                <a:latin typeface="Calibri" pitchFamily="34" charset="0"/>
                <a:ea typeface="Calibri" pitchFamily="34" charset="-122"/>
                <a:cs typeface="Calibri" pitchFamily="34" charset="-120"/>
              </a:rPr>
              <a:t>Stack: </a:t>
            </a:r>
            <a:pPr indent="0" marL="0">
              <a:buNone/>
            </a:pPr>
            <a:r>
              <a:rPr lang="en-US" sz="1150" dirty="0">
                <a:solidFill>
                  <a:srgbClr val="AFC9D6"/>
                </a:solidFill>
                <a:latin typeface="Calibri" pitchFamily="34" charset="0"/>
                <a:ea typeface="Calibri" pitchFamily="34" charset="-122"/>
                <a:cs typeface="Calibri" pitchFamily="34" charset="-120"/>
              </a:rPr>
              <a:t>Python + MetaTrader5 API (dedicated VPS)  ·  redis-py  ·  Redis Pub/Sub (Railway, private)  ·  NestJS 11 + Socket.IO + redis-adapter (Railway, public)</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lIns="0" tIns="0" rIns="0" bIns="0" rtlCol="0" anchor="ctr"/>
          <a:lstStyle/>
          <a:p>
            <a:pPr indent="0" marL="0">
              <a:buNone/>
            </a:pPr>
            <a:r>
              <a:rPr lang="en-US" sz="3000" b="1" dirty="0">
                <a:solidFill>
                  <a:srgbClr val="17293D"/>
                </a:solidFill>
                <a:latin typeface="Cambria" pitchFamily="34" charset="0"/>
                <a:ea typeface="Cambria" pitchFamily="34" charset="-122"/>
                <a:cs typeface="Cambria" pitchFamily="34" charset="-120"/>
              </a:rPr>
              <a:t>Why Two VPS, Not One</a:t>
            </a:r>
            <a:endParaRPr lang="en-US" sz="3000" dirty="0"/>
          </a:p>
        </p:txBody>
      </p:sp>
      <p:sp>
        <p:nvSpPr>
          <p:cNvPr id="3" name="Text 1"/>
          <p:cNvSpPr/>
          <p:nvPr/>
        </p:nvSpPr>
        <p:spPr>
          <a:xfrm>
            <a:off x="640080" y="914400"/>
            <a:ext cx="10515600" cy="365760"/>
          </a:xfrm>
          <a:prstGeom prst="rect">
            <a:avLst/>
          </a:prstGeom>
          <a:noFill/>
          <a:ln/>
        </p:spPr>
        <p:txBody>
          <a:bodyPr wrap="square" lIns="0" tIns="0" rIns="0" bIns="0" rtlCol="0" anchor="ctr"/>
          <a:lstStyle/>
          <a:p>
            <a:pPr indent="0" marL="0">
              <a:buNone/>
            </a:pPr>
            <a:r>
              <a:rPr lang="en-US" sz="1350" i="1" dirty="0">
                <a:solidFill>
                  <a:srgbClr val="5B7285"/>
                </a:solidFill>
                <a:latin typeface="Calibri" pitchFamily="34" charset="0"/>
                <a:ea typeface="Calibri" pitchFamily="34" charset="-122"/>
                <a:cs typeface="Calibri" pitchFamily="34" charset="-120"/>
              </a:rPr>
              <a:t>Physical isolation between the EA workload and the Part 06 live feed</a:t>
            </a:r>
            <a:endParaRPr lang="en-US" sz="1350" dirty="0"/>
          </a:p>
        </p:txBody>
      </p:sp>
      <p:sp>
        <p:nvSpPr>
          <p:cNvPr id="4" name="Shape 2"/>
          <p:cNvSpPr/>
          <p:nvPr/>
        </p:nvSpPr>
        <p:spPr>
          <a:xfrm>
            <a:off x="640080" y="1371600"/>
            <a:ext cx="5349240" cy="4206240"/>
          </a:xfrm>
          <a:prstGeom prst="roundRect">
            <a:avLst>
              <a:gd name="adj" fmla="val 1739"/>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5" name="Shape 3"/>
          <p:cNvSpPr/>
          <p:nvPr/>
        </p:nvSpPr>
        <p:spPr>
          <a:xfrm>
            <a:off x="914400" y="1627632"/>
            <a:ext cx="457200" cy="45720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1024128" y="1737360"/>
            <a:ext cx="237744" cy="237744"/>
          </a:xfrm>
          <a:prstGeom prst="rect">
            <a:avLst/>
          </a:prstGeom>
        </p:spPr>
      </p:pic>
      <p:sp>
        <p:nvSpPr>
          <p:cNvPr id="7" name="Text 4"/>
          <p:cNvSpPr/>
          <p:nvPr/>
        </p:nvSpPr>
        <p:spPr>
          <a:xfrm>
            <a:off x="1508760" y="1554480"/>
            <a:ext cx="4297680" cy="548640"/>
          </a:xfrm>
          <a:prstGeom prst="rect">
            <a:avLst/>
          </a:prstGeom>
          <a:noFill/>
          <a:ln/>
        </p:spPr>
        <p:txBody>
          <a:bodyPr wrap="square" lIns="0" tIns="0" rIns="0" bIns="0" rtlCol="0" anchor="ctr"/>
          <a:lstStyle/>
          <a:p>
            <a:pPr indent="0" marL="0">
              <a:buNone/>
            </a:pPr>
            <a:r>
              <a:rPr lang="en-US" sz="1350" b="1" dirty="0">
                <a:solidFill>
                  <a:srgbClr val="17293D"/>
                </a:solidFill>
                <a:latin typeface="Calibri" pitchFamily="34" charset="0"/>
                <a:ea typeface="Calibri" pitchFamily="34" charset="-122"/>
                <a:cs typeface="Calibri" pitchFamily="34" charset="-120"/>
              </a:rPr>
              <a:t>VPS #1 — Indicator Pipeline (existing)</a:t>
            </a:r>
            <a:endParaRPr lang="en-US" sz="1350" dirty="0"/>
          </a:p>
        </p:txBody>
      </p:sp>
      <p:sp>
        <p:nvSpPr>
          <p:cNvPr id="8" name="Text 5"/>
          <p:cNvSpPr/>
          <p:nvPr/>
        </p:nvSpPr>
        <p:spPr>
          <a:xfrm>
            <a:off x="914400" y="2267712"/>
            <a:ext cx="4800600" cy="182880"/>
          </a:xfrm>
          <a:prstGeom prst="rect">
            <a:avLst/>
          </a:prstGeom>
          <a:noFill/>
          <a:ln/>
        </p:spPr>
        <p:txBody>
          <a:bodyPr wrap="square" lIns="0" tIns="0" rIns="0" bIns="0" rtlCol="0" anchor="ctr"/>
          <a:lstStyle/>
          <a:p>
            <a:pPr indent="0" marL="0">
              <a:buNone/>
            </a:pPr>
            <a:r>
              <a:rPr lang="en-US" sz="950" b="1" spc="50" kern="0" dirty="0">
                <a:solidFill>
                  <a:srgbClr val="1C7293"/>
                </a:solidFill>
                <a:latin typeface="Calibri" pitchFamily="34" charset="0"/>
                <a:ea typeface="Calibri" pitchFamily="34" charset="-122"/>
                <a:cs typeface="Calibri" pitchFamily="34" charset="-120"/>
              </a:rPr>
              <a:t>ROLE</a:t>
            </a:r>
            <a:endParaRPr lang="en-US" sz="950" dirty="0"/>
          </a:p>
        </p:txBody>
      </p:sp>
      <p:sp>
        <p:nvSpPr>
          <p:cNvPr id="9" name="Text 6"/>
          <p:cNvSpPr/>
          <p:nvPr/>
        </p:nvSpPr>
        <p:spPr>
          <a:xfrm>
            <a:off x="914400" y="2450592"/>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Historical OHLC + 42 indicator columns per closed bar</a:t>
            </a:r>
            <a:endParaRPr lang="en-US" sz="1050" dirty="0"/>
          </a:p>
        </p:txBody>
      </p:sp>
      <p:sp>
        <p:nvSpPr>
          <p:cNvPr id="10" name="Text 7"/>
          <p:cNvSpPr/>
          <p:nvPr/>
        </p:nvSpPr>
        <p:spPr>
          <a:xfrm>
            <a:off x="914400" y="2798064"/>
            <a:ext cx="4800600" cy="182880"/>
          </a:xfrm>
          <a:prstGeom prst="rect">
            <a:avLst/>
          </a:prstGeom>
          <a:noFill/>
          <a:ln/>
        </p:spPr>
        <p:txBody>
          <a:bodyPr wrap="square" lIns="0" tIns="0" rIns="0" bIns="0" rtlCol="0" anchor="ctr"/>
          <a:lstStyle/>
          <a:p>
            <a:pPr indent="0" marL="0">
              <a:buNone/>
            </a:pPr>
            <a:r>
              <a:rPr lang="en-US" sz="950" b="1" spc="50" kern="0" dirty="0">
                <a:solidFill>
                  <a:srgbClr val="1C7293"/>
                </a:solidFill>
                <a:latin typeface="Calibri" pitchFamily="34" charset="0"/>
                <a:ea typeface="Calibri" pitchFamily="34" charset="-122"/>
                <a:cs typeface="Calibri" pitchFamily="34" charset="-120"/>
              </a:rPr>
              <a:t>RUNS</a:t>
            </a:r>
            <a:endParaRPr lang="en-US" sz="950" dirty="0"/>
          </a:p>
        </p:txBody>
      </p:sp>
      <p:sp>
        <p:nvSpPr>
          <p:cNvPr id="11" name="Text 8"/>
          <p:cNvSpPr/>
          <p:nvPr/>
        </p:nvSpPr>
        <p:spPr>
          <a:xfrm>
            <a:off x="914400" y="2980944"/>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MT5 terminals + MQL5 EA (WebRequest, blocking)</a:t>
            </a:r>
            <a:endParaRPr lang="en-US" sz="1050" dirty="0"/>
          </a:p>
        </p:txBody>
      </p:sp>
      <p:sp>
        <p:nvSpPr>
          <p:cNvPr id="12" name="Text 9"/>
          <p:cNvSpPr/>
          <p:nvPr/>
        </p:nvSpPr>
        <p:spPr>
          <a:xfrm>
            <a:off x="914400" y="3328416"/>
            <a:ext cx="4800600" cy="182880"/>
          </a:xfrm>
          <a:prstGeom prst="rect">
            <a:avLst/>
          </a:prstGeom>
          <a:noFill/>
          <a:ln/>
        </p:spPr>
        <p:txBody>
          <a:bodyPr wrap="square" lIns="0" tIns="0" rIns="0" bIns="0" rtlCol="0" anchor="ctr"/>
          <a:lstStyle/>
          <a:p>
            <a:pPr indent="0" marL="0">
              <a:buNone/>
            </a:pPr>
            <a:r>
              <a:rPr lang="en-US" sz="950" b="1" spc="50" kern="0" dirty="0">
                <a:solidFill>
                  <a:srgbClr val="1C7293"/>
                </a:solidFill>
                <a:latin typeface="Calibri" pitchFamily="34" charset="0"/>
                <a:ea typeface="Calibri" pitchFamily="34" charset="-122"/>
                <a:cs typeface="Calibri" pitchFamily="34" charset="-120"/>
              </a:rPr>
              <a:t>CADENCE</a:t>
            </a:r>
            <a:endParaRPr lang="en-US" sz="950" dirty="0"/>
          </a:p>
        </p:txBody>
      </p:sp>
      <p:sp>
        <p:nvSpPr>
          <p:cNvPr id="13" name="Text 10"/>
          <p:cNvSpPr/>
          <p:nvPr/>
        </p:nvSpPr>
        <p:spPr>
          <a:xfrm>
            <a:off x="914400" y="3511296"/>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Per bar close — 5-15 min+ timeframes</a:t>
            </a:r>
            <a:endParaRPr lang="en-US" sz="1050" dirty="0"/>
          </a:p>
        </p:txBody>
      </p:sp>
      <p:sp>
        <p:nvSpPr>
          <p:cNvPr id="14" name="Text 11"/>
          <p:cNvSpPr/>
          <p:nvPr/>
        </p:nvSpPr>
        <p:spPr>
          <a:xfrm>
            <a:off x="914400" y="3858768"/>
            <a:ext cx="4800600" cy="182880"/>
          </a:xfrm>
          <a:prstGeom prst="rect">
            <a:avLst/>
          </a:prstGeom>
          <a:noFill/>
          <a:ln/>
        </p:spPr>
        <p:txBody>
          <a:bodyPr wrap="square" lIns="0" tIns="0" rIns="0" bIns="0" rtlCol="0" anchor="ctr"/>
          <a:lstStyle/>
          <a:p>
            <a:pPr indent="0" marL="0">
              <a:buNone/>
            </a:pPr>
            <a:r>
              <a:rPr lang="en-US" sz="950" b="1" spc="50" kern="0" dirty="0">
                <a:solidFill>
                  <a:srgbClr val="1C7293"/>
                </a:solidFill>
                <a:latin typeface="Calibri" pitchFamily="34" charset="0"/>
                <a:ea typeface="Calibri" pitchFamily="34" charset="-122"/>
                <a:cs typeface="Calibri" pitchFamily="34" charset="-120"/>
              </a:rPr>
              <a:t>DESTINATION</a:t>
            </a:r>
            <a:endParaRPr lang="en-US" sz="950" dirty="0"/>
          </a:p>
        </p:txBody>
      </p:sp>
      <p:sp>
        <p:nvSpPr>
          <p:cNvPr id="15" name="Text 12"/>
          <p:cNvSpPr/>
          <p:nvPr/>
        </p:nvSpPr>
        <p:spPr>
          <a:xfrm>
            <a:off x="914400" y="4041648"/>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NestJS API Gateway -&gt; Bull Queue -&gt; PostgreSQL</a:t>
            </a:r>
            <a:endParaRPr lang="en-US" sz="1050" dirty="0"/>
          </a:p>
        </p:txBody>
      </p:sp>
      <p:sp>
        <p:nvSpPr>
          <p:cNvPr id="16" name="Text 13"/>
          <p:cNvSpPr/>
          <p:nvPr/>
        </p:nvSpPr>
        <p:spPr>
          <a:xfrm>
            <a:off x="914400" y="4389120"/>
            <a:ext cx="4800600" cy="182880"/>
          </a:xfrm>
          <a:prstGeom prst="rect">
            <a:avLst/>
          </a:prstGeom>
          <a:noFill/>
          <a:ln/>
        </p:spPr>
        <p:txBody>
          <a:bodyPr wrap="square" lIns="0" tIns="0" rIns="0" bIns="0" rtlCol="0" anchor="ctr"/>
          <a:lstStyle/>
          <a:p>
            <a:pPr indent="0" marL="0">
              <a:buNone/>
            </a:pPr>
            <a:r>
              <a:rPr lang="en-US" sz="950" b="1" spc="50" kern="0" dirty="0">
                <a:solidFill>
                  <a:srgbClr val="1C7293"/>
                </a:solidFill>
                <a:latin typeface="Calibri" pitchFamily="34" charset="0"/>
                <a:ea typeface="Calibri" pitchFamily="34" charset="-122"/>
                <a:cs typeface="Calibri" pitchFamily="34" charset="-120"/>
              </a:rPr>
              <a:t>LOAD PROFILE</a:t>
            </a:r>
            <a:endParaRPr lang="en-US" sz="950" dirty="0"/>
          </a:p>
        </p:txBody>
      </p:sp>
      <p:sp>
        <p:nvSpPr>
          <p:cNvPr id="17" name="Text 14"/>
          <p:cNvSpPr/>
          <p:nvPr/>
        </p:nvSpPr>
        <p:spPr>
          <a:xfrm>
            <a:off x="914400" y="4572000"/>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Heavier — indicator math + periodic HTTP pushes</a:t>
            </a:r>
            <a:endParaRPr lang="en-US" sz="1050" dirty="0"/>
          </a:p>
        </p:txBody>
      </p:sp>
      <p:sp>
        <p:nvSpPr>
          <p:cNvPr id="18" name="Shape 15"/>
          <p:cNvSpPr/>
          <p:nvPr/>
        </p:nvSpPr>
        <p:spPr>
          <a:xfrm>
            <a:off x="6309360" y="1371600"/>
            <a:ext cx="5349240" cy="4206240"/>
          </a:xfrm>
          <a:prstGeom prst="roundRect">
            <a:avLst>
              <a:gd name="adj" fmla="val 1739"/>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19" name="Shape 16"/>
          <p:cNvSpPr/>
          <p:nvPr/>
        </p:nvSpPr>
        <p:spPr>
          <a:xfrm>
            <a:off x="6583680" y="1627632"/>
            <a:ext cx="457200" cy="457200"/>
          </a:xfrm>
          <a:prstGeom prst="ellipse">
            <a:avLst/>
          </a:prstGeom>
          <a:solidFill>
            <a:srgbClr val="0B5D8C"/>
          </a:solidFill>
          <a:ln/>
        </p:spPr>
      </p:sp>
      <p:pic>
        <p:nvPicPr>
          <p:cNvPr id="20" name="Image 1" descr="preencoded.png">    </p:cNvPr>
          <p:cNvPicPr>
            <a:picLocks noChangeAspect="1"/>
          </p:cNvPicPr>
          <p:nvPr/>
        </p:nvPicPr>
        <p:blipFill>
          <a:blip r:embed="rId2"/>
          <a:stretch>
            <a:fillRect/>
          </a:stretch>
        </p:blipFill>
        <p:spPr>
          <a:xfrm>
            <a:off x="6693408" y="1737360"/>
            <a:ext cx="237744" cy="237744"/>
          </a:xfrm>
          <a:prstGeom prst="rect">
            <a:avLst/>
          </a:prstGeom>
        </p:spPr>
      </p:pic>
      <p:sp>
        <p:nvSpPr>
          <p:cNvPr id="21" name="Text 17"/>
          <p:cNvSpPr/>
          <p:nvPr/>
        </p:nvSpPr>
        <p:spPr>
          <a:xfrm>
            <a:off x="7178040" y="1554480"/>
            <a:ext cx="4297680" cy="548640"/>
          </a:xfrm>
          <a:prstGeom prst="rect">
            <a:avLst/>
          </a:prstGeom>
          <a:noFill/>
          <a:ln/>
        </p:spPr>
        <p:txBody>
          <a:bodyPr wrap="square" lIns="0" tIns="0" rIns="0" bIns="0" rtlCol="0" anchor="ctr"/>
          <a:lstStyle/>
          <a:p>
            <a:pPr indent="0" marL="0">
              <a:buNone/>
            </a:pPr>
            <a:r>
              <a:rPr lang="en-US" sz="1350" b="1" dirty="0">
                <a:solidFill>
                  <a:srgbClr val="17293D"/>
                </a:solidFill>
                <a:latin typeface="Calibri" pitchFamily="34" charset="0"/>
                <a:ea typeface="Calibri" pitchFamily="34" charset="-122"/>
                <a:cs typeface="Calibri" pitchFamily="34" charset="-120"/>
              </a:rPr>
              <a:t>VPS #2 — Part 06 Live Feed (new)</a:t>
            </a:r>
            <a:endParaRPr lang="en-US" sz="1350" dirty="0"/>
          </a:p>
        </p:txBody>
      </p:sp>
      <p:sp>
        <p:nvSpPr>
          <p:cNvPr id="22" name="Text 18"/>
          <p:cNvSpPr/>
          <p:nvPr/>
        </p:nvSpPr>
        <p:spPr>
          <a:xfrm>
            <a:off x="6583680" y="2267712"/>
            <a:ext cx="4800600" cy="182880"/>
          </a:xfrm>
          <a:prstGeom prst="rect">
            <a:avLst/>
          </a:prstGeom>
          <a:noFill/>
          <a:ln/>
        </p:spPr>
        <p:txBody>
          <a:bodyPr wrap="square" lIns="0" tIns="0" rIns="0" bIns="0" rtlCol="0" anchor="ctr"/>
          <a:lstStyle/>
          <a:p>
            <a:pPr indent="0" marL="0">
              <a:buNone/>
            </a:pPr>
            <a:r>
              <a:rPr lang="en-US" sz="950" b="1" spc="50" kern="0" dirty="0">
                <a:solidFill>
                  <a:srgbClr val="0B5D8C"/>
                </a:solidFill>
                <a:latin typeface="Calibri" pitchFamily="34" charset="0"/>
                <a:ea typeface="Calibri" pitchFamily="34" charset="-122"/>
                <a:cs typeface="Calibri" pitchFamily="34" charset="-120"/>
              </a:rPr>
              <a:t>ROLE</a:t>
            </a:r>
            <a:endParaRPr lang="en-US" sz="950" dirty="0"/>
          </a:p>
        </p:txBody>
      </p:sp>
      <p:sp>
        <p:nvSpPr>
          <p:cNvPr id="23" name="Text 19"/>
          <p:cNvSpPr/>
          <p:nvPr/>
        </p:nvSpPr>
        <p:spPr>
          <a:xfrm>
            <a:off x="6583680" y="2450592"/>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Real-time OHLCV for the live chart</a:t>
            </a:r>
            <a:endParaRPr lang="en-US" sz="1050" dirty="0"/>
          </a:p>
        </p:txBody>
      </p:sp>
      <p:sp>
        <p:nvSpPr>
          <p:cNvPr id="24" name="Text 20"/>
          <p:cNvSpPr/>
          <p:nvPr/>
        </p:nvSpPr>
        <p:spPr>
          <a:xfrm>
            <a:off x="6583680" y="2798064"/>
            <a:ext cx="4800600" cy="182880"/>
          </a:xfrm>
          <a:prstGeom prst="rect">
            <a:avLst/>
          </a:prstGeom>
          <a:noFill/>
          <a:ln/>
        </p:spPr>
        <p:txBody>
          <a:bodyPr wrap="square" lIns="0" tIns="0" rIns="0" bIns="0" rtlCol="0" anchor="ctr"/>
          <a:lstStyle/>
          <a:p>
            <a:pPr indent="0" marL="0">
              <a:buNone/>
            </a:pPr>
            <a:r>
              <a:rPr lang="en-US" sz="950" b="1" spc="50" kern="0" dirty="0">
                <a:solidFill>
                  <a:srgbClr val="0B5D8C"/>
                </a:solidFill>
                <a:latin typeface="Calibri" pitchFamily="34" charset="0"/>
                <a:ea typeface="Calibri" pitchFamily="34" charset="-122"/>
                <a:cs typeface="Calibri" pitchFamily="34" charset="-120"/>
              </a:rPr>
              <a:t>RUNS</a:t>
            </a:r>
            <a:endParaRPr lang="en-US" sz="950" dirty="0"/>
          </a:p>
        </p:txBody>
      </p:sp>
      <p:sp>
        <p:nvSpPr>
          <p:cNvPr id="25" name="Text 21"/>
          <p:cNvSpPr/>
          <p:nvPr/>
        </p:nvSpPr>
        <p:spPr>
          <a:xfrm>
            <a:off x="6583680" y="2980944"/>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MT5 terminals + Python worker (no EA involved)</a:t>
            </a:r>
            <a:endParaRPr lang="en-US" sz="1050" dirty="0"/>
          </a:p>
        </p:txBody>
      </p:sp>
      <p:sp>
        <p:nvSpPr>
          <p:cNvPr id="26" name="Text 22"/>
          <p:cNvSpPr/>
          <p:nvPr/>
        </p:nvSpPr>
        <p:spPr>
          <a:xfrm>
            <a:off x="6583680" y="3328416"/>
            <a:ext cx="4800600" cy="182880"/>
          </a:xfrm>
          <a:prstGeom prst="rect">
            <a:avLst/>
          </a:prstGeom>
          <a:noFill/>
          <a:ln/>
        </p:spPr>
        <p:txBody>
          <a:bodyPr wrap="square" lIns="0" tIns="0" rIns="0" bIns="0" rtlCol="0" anchor="ctr"/>
          <a:lstStyle/>
          <a:p>
            <a:pPr indent="0" marL="0">
              <a:buNone/>
            </a:pPr>
            <a:r>
              <a:rPr lang="en-US" sz="950" b="1" spc="50" kern="0" dirty="0">
                <a:solidFill>
                  <a:srgbClr val="0B5D8C"/>
                </a:solidFill>
                <a:latin typeface="Calibri" pitchFamily="34" charset="0"/>
                <a:ea typeface="Calibri" pitchFamily="34" charset="-122"/>
                <a:cs typeface="Calibri" pitchFamily="34" charset="-120"/>
              </a:rPr>
              <a:t>CADENCE</a:t>
            </a:r>
            <a:endParaRPr lang="en-US" sz="950" dirty="0"/>
          </a:p>
        </p:txBody>
      </p:sp>
      <p:sp>
        <p:nvSpPr>
          <p:cNvPr id="27" name="Text 23"/>
          <p:cNvSpPr/>
          <p:nvPr/>
        </p:nvSpPr>
        <p:spPr>
          <a:xfrm>
            <a:off x="6583680" y="3511296"/>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~0.25s — every tick / intra-bar change</a:t>
            </a:r>
            <a:endParaRPr lang="en-US" sz="1050" dirty="0"/>
          </a:p>
        </p:txBody>
      </p:sp>
      <p:sp>
        <p:nvSpPr>
          <p:cNvPr id="28" name="Text 24"/>
          <p:cNvSpPr/>
          <p:nvPr/>
        </p:nvSpPr>
        <p:spPr>
          <a:xfrm>
            <a:off x="6583680" y="3858768"/>
            <a:ext cx="4800600" cy="182880"/>
          </a:xfrm>
          <a:prstGeom prst="rect">
            <a:avLst/>
          </a:prstGeom>
          <a:noFill/>
          <a:ln/>
        </p:spPr>
        <p:txBody>
          <a:bodyPr wrap="square" lIns="0" tIns="0" rIns="0" bIns="0" rtlCol="0" anchor="ctr"/>
          <a:lstStyle/>
          <a:p>
            <a:pPr indent="0" marL="0">
              <a:buNone/>
            </a:pPr>
            <a:r>
              <a:rPr lang="en-US" sz="950" b="1" spc="50" kern="0" dirty="0">
                <a:solidFill>
                  <a:srgbClr val="0B5D8C"/>
                </a:solidFill>
                <a:latin typeface="Calibri" pitchFamily="34" charset="0"/>
                <a:ea typeface="Calibri" pitchFamily="34" charset="-122"/>
                <a:cs typeface="Calibri" pitchFamily="34" charset="-120"/>
              </a:rPr>
              <a:t>DESTINATION</a:t>
            </a:r>
            <a:endParaRPr lang="en-US" sz="950" dirty="0"/>
          </a:p>
        </p:txBody>
      </p:sp>
      <p:sp>
        <p:nvSpPr>
          <p:cNvPr id="29" name="Text 25"/>
          <p:cNvSpPr/>
          <p:nvPr/>
        </p:nvSpPr>
        <p:spPr>
          <a:xfrm>
            <a:off x="6583680" y="4041648"/>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redis-py -&gt; Redis Pub/Sub (Railway) -&gt; Socket.IO</a:t>
            </a:r>
            <a:endParaRPr lang="en-US" sz="1050" dirty="0"/>
          </a:p>
        </p:txBody>
      </p:sp>
      <p:sp>
        <p:nvSpPr>
          <p:cNvPr id="30" name="Text 26"/>
          <p:cNvSpPr/>
          <p:nvPr/>
        </p:nvSpPr>
        <p:spPr>
          <a:xfrm>
            <a:off x="6583680" y="4389120"/>
            <a:ext cx="4800600" cy="182880"/>
          </a:xfrm>
          <a:prstGeom prst="rect">
            <a:avLst/>
          </a:prstGeom>
          <a:noFill/>
          <a:ln/>
        </p:spPr>
        <p:txBody>
          <a:bodyPr wrap="square" lIns="0" tIns="0" rIns="0" bIns="0" rtlCol="0" anchor="ctr"/>
          <a:lstStyle/>
          <a:p>
            <a:pPr indent="0" marL="0">
              <a:buNone/>
            </a:pPr>
            <a:r>
              <a:rPr lang="en-US" sz="950" b="1" spc="50" kern="0" dirty="0">
                <a:solidFill>
                  <a:srgbClr val="0B5D8C"/>
                </a:solidFill>
                <a:latin typeface="Calibri" pitchFamily="34" charset="0"/>
                <a:ea typeface="Calibri" pitchFamily="34" charset="-122"/>
                <a:cs typeface="Calibri" pitchFamily="34" charset="-120"/>
              </a:rPr>
              <a:t>LOAD PROFILE</a:t>
            </a:r>
            <a:endParaRPr lang="en-US" sz="950" dirty="0"/>
          </a:p>
        </p:txBody>
      </p:sp>
      <p:sp>
        <p:nvSpPr>
          <p:cNvPr id="31" name="Text 27"/>
          <p:cNvSpPr/>
          <p:nvPr/>
        </p:nvSpPr>
        <p:spPr>
          <a:xfrm>
            <a:off x="6583680" y="4572000"/>
            <a:ext cx="4800600" cy="310896"/>
          </a:xfrm>
          <a:prstGeom prst="rect">
            <a:avLst/>
          </a:prstGeom>
          <a:noFill/>
          <a:ln/>
        </p:spPr>
        <p:txBody>
          <a:bodyPr wrap="square" lIns="0" tIns="0" rIns="0" bIns="0" rtlCol="0" anchor="ctr"/>
          <a:lstStyle/>
          <a:p>
            <a:pPr indent="0" marL="0">
              <a:lnSpc>
                <a:spcPct val="110000"/>
              </a:lnSpc>
              <a:buNone/>
            </a:pPr>
            <a:r>
              <a:rPr lang="en-US" sz="1050" dirty="0">
                <a:solidFill>
                  <a:srgbClr val="17293D"/>
                </a:solidFill>
                <a:latin typeface="Calibri" pitchFamily="34" charset="0"/>
                <a:ea typeface="Calibri" pitchFamily="34" charset="-122"/>
                <a:cs typeface="Calibri" pitchFamily="34" charset="-120"/>
              </a:rPr>
              <a:t>Higher frequency, but isolated — can't stall the EA</a:t>
            </a:r>
            <a:endParaRPr lang="en-US" sz="1050" dirty="0"/>
          </a:p>
        </p:txBody>
      </p:sp>
      <p:sp>
        <p:nvSpPr>
          <p:cNvPr id="32" name="Shape 28"/>
          <p:cNvSpPr/>
          <p:nvPr/>
        </p:nvSpPr>
        <p:spPr>
          <a:xfrm>
            <a:off x="640080" y="5760720"/>
            <a:ext cx="10881360" cy="685800"/>
          </a:xfrm>
          <a:prstGeom prst="roundRect">
            <a:avLst>
              <a:gd name="adj" fmla="val 9333"/>
            </a:avLst>
          </a:prstGeom>
          <a:solidFill>
            <a:srgbClr val="132D46"/>
          </a:solidFill>
          <a:ln w="12700">
            <a:solidFill>
              <a:srgbClr val="24506E"/>
            </a:solidFill>
            <a:prstDash val="solid"/>
          </a:ln>
        </p:spPr>
      </p:sp>
      <p:pic>
        <p:nvPicPr>
          <p:cNvPr id="33" name="Image 2" descr="preencoded.png">    </p:cNvPr>
          <p:cNvPicPr>
            <a:picLocks noChangeAspect="1"/>
          </p:cNvPicPr>
          <p:nvPr/>
        </p:nvPicPr>
        <p:blipFill>
          <a:blip r:embed="rId3"/>
          <a:stretch>
            <a:fillRect/>
          </a:stretch>
        </p:blipFill>
        <p:spPr>
          <a:xfrm>
            <a:off x="841248" y="5934456"/>
            <a:ext cx="329184" cy="329184"/>
          </a:xfrm>
          <a:prstGeom prst="rect">
            <a:avLst/>
          </a:prstGeom>
        </p:spPr>
      </p:pic>
      <p:sp>
        <p:nvSpPr>
          <p:cNvPr id="34" name="Text 29"/>
          <p:cNvSpPr/>
          <p:nvPr/>
        </p:nvSpPr>
        <p:spPr>
          <a:xfrm>
            <a:off x="1280160" y="5760720"/>
            <a:ext cx="10058400" cy="685800"/>
          </a:xfrm>
          <a:prstGeom prst="rect">
            <a:avLst/>
          </a:prstGeom>
          <a:noFill/>
          <a:ln/>
        </p:spPr>
        <p:txBody>
          <a:bodyPr wrap="square" lIns="0" tIns="0" rIns="0" bIns="0" rtlCol="0" anchor="ctr"/>
          <a:lstStyle/>
          <a:p>
            <a:pPr indent="0" marL="0">
              <a:lnSpc>
                <a:spcPct val="115000"/>
              </a:lnSpc>
              <a:buNone/>
            </a:pPr>
            <a:r>
              <a:rPr lang="en-US" sz="1050" dirty="0">
                <a:solidFill>
                  <a:srgbClr val="CFE8F3"/>
                </a:solidFill>
                <a:latin typeface="Calibri" pitchFamily="34" charset="0"/>
                <a:ea typeface="Calibri" pitchFamily="34" charset="-122"/>
                <a:cs typeface="Calibri" pitchFamily="34" charset="-120"/>
              </a:rPr>
              <a:t>Physical isolation, not just logical: a freeze or crash on VPS #2 never reaches the EA/indicator terminals on VPS #1, and vice versa. Two smaller Contabo instances cost a little more than one — but that's the single point of failure you were trying to remove.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B"/>
        </a:solidFill>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lIns="0" tIns="0" rIns="0" bIns="0" rtlCol="0" anchor="ctr"/>
          <a:lstStyle/>
          <a:p>
            <a:pPr indent="0" marL="0">
              <a:buNone/>
            </a:pPr>
            <a:r>
              <a:rPr lang="en-US" sz="3000" b="1" dirty="0">
                <a:solidFill>
                  <a:srgbClr val="17293D"/>
                </a:solidFill>
                <a:latin typeface="Cambria" pitchFamily="34" charset="0"/>
                <a:ea typeface="Cambria" pitchFamily="34" charset="-122"/>
                <a:cs typeface="Cambria" pitchFamily="34" charset="-120"/>
              </a:rPr>
              <a:t>Before vs After, at a Glance</a:t>
            </a:r>
            <a:endParaRPr lang="en-US" sz="3000" dirty="0"/>
          </a:p>
        </p:txBody>
      </p:sp>
      <p:sp>
        <p:nvSpPr>
          <p:cNvPr id="3" name="Text 1"/>
          <p:cNvSpPr/>
          <p:nvPr/>
        </p:nvSpPr>
        <p:spPr>
          <a:xfrm>
            <a:off x="640080" y="914400"/>
            <a:ext cx="9601200" cy="365760"/>
          </a:xfrm>
          <a:prstGeom prst="rect">
            <a:avLst/>
          </a:prstGeom>
          <a:noFill/>
          <a:ln/>
        </p:spPr>
        <p:txBody>
          <a:bodyPr wrap="square" lIns="0" tIns="0" rIns="0" bIns="0" rtlCol="0" anchor="ctr"/>
          <a:lstStyle/>
          <a:p>
            <a:pPr indent="0" marL="0">
              <a:buNone/>
            </a:pPr>
            <a:r>
              <a:rPr lang="en-US" sz="1400" i="1" dirty="0">
                <a:solidFill>
                  <a:srgbClr val="5B7285"/>
                </a:solidFill>
                <a:latin typeface="Calibri" pitchFamily="34" charset="0"/>
                <a:ea typeface="Calibri" pitchFamily="34" charset="-122"/>
                <a:cs typeface="Calibri" pitchFamily="34" charset="-120"/>
              </a:rPr>
              <a:t>What actually changes for Part 06</a:t>
            </a:r>
            <a:endParaRPr lang="en-US" sz="1400" dirty="0"/>
          </a:p>
        </p:txBody>
      </p:sp>
      <p:sp>
        <p:nvSpPr>
          <p:cNvPr id="4" name="Shape 2"/>
          <p:cNvSpPr/>
          <p:nvPr/>
        </p:nvSpPr>
        <p:spPr>
          <a:xfrm>
            <a:off x="640080" y="1417320"/>
            <a:ext cx="5349240" cy="502920"/>
          </a:xfrm>
          <a:prstGeom prst="roundRect">
            <a:avLst>
              <a:gd name="adj" fmla="val 12727"/>
            </a:avLst>
          </a:prstGeom>
          <a:solidFill>
            <a:srgbClr val="C0392B"/>
          </a:solidFill>
          <a:ln/>
        </p:spPr>
      </p:sp>
      <p:sp>
        <p:nvSpPr>
          <p:cNvPr id="5" name="Text 3"/>
          <p:cNvSpPr/>
          <p:nvPr/>
        </p:nvSpPr>
        <p:spPr>
          <a:xfrm>
            <a:off x="640080" y="1417320"/>
            <a:ext cx="53492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BEFORE</a:t>
            </a:r>
            <a:endParaRPr lang="en-US" sz="1500" dirty="0"/>
          </a:p>
        </p:txBody>
      </p:sp>
      <p:sp>
        <p:nvSpPr>
          <p:cNvPr id="6" name="Shape 4"/>
          <p:cNvSpPr/>
          <p:nvPr/>
        </p:nvSpPr>
        <p:spPr>
          <a:xfrm>
            <a:off x="6309360" y="1417320"/>
            <a:ext cx="5349240" cy="502920"/>
          </a:xfrm>
          <a:prstGeom prst="roundRect">
            <a:avLst>
              <a:gd name="adj" fmla="val 12727"/>
            </a:avLst>
          </a:prstGeom>
          <a:solidFill>
            <a:srgbClr val="12B886"/>
          </a:solidFill>
          <a:ln/>
        </p:spPr>
      </p:sp>
      <p:sp>
        <p:nvSpPr>
          <p:cNvPr id="7" name="Text 5"/>
          <p:cNvSpPr/>
          <p:nvPr/>
        </p:nvSpPr>
        <p:spPr>
          <a:xfrm>
            <a:off x="6309360" y="1417320"/>
            <a:ext cx="53492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AFTER</a:t>
            </a:r>
            <a:endParaRPr lang="en-US" sz="1500" dirty="0"/>
          </a:p>
        </p:txBody>
      </p:sp>
      <p:sp>
        <p:nvSpPr>
          <p:cNvPr id="8" name="Text 6"/>
          <p:cNvSpPr/>
          <p:nvPr/>
        </p:nvSpPr>
        <p:spPr>
          <a:xfrm>
            <a:off x="640080" y="2011680"/>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Bridge to MT5</a:t>
            </a:r>
            <a:endParaRPr lang="en-US" sz="1000" dirty="0"/>
          </a:p>
        </p:txBody>
      </p:sp>
      <p:sp>
        <p:nvSpPr>
          <p:cNvPr id="9" name="Shape 7"/>
          <p:cNvSpPr/>
          <p:nvPr/>
        </p:nvSpPr>
        <p:spPr>
          <a:xfrm>
            <a:off x="640080" y="2249424"/>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10" name="Text 8"/>
          <p:cNvSpPr/>
          <p:nvPr/>
        </p:nvSpPr>
        <p:spPr>
          <a:xfrm>
            <a:off x="822960" y="2249424"/>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Python process calling MetaTrader5 API, bundled with REST/WS</a:t>
            </a:r>
            <a:endParaRPr lang="en-US" sz="1050" dirty="0"/>
          </a:p>
        </p:txBody>
      </p:sp>
      <p:sp>
        <p:nvSpPr>
          <p:cNvPr id="11" name="Shape 9"/>
          <p:cNvSpPr/>
          <p:nvPr/>
        </p:nvSpPr>
        <p:spPr>
          <a:xfrm>
            <a:off x="6309360" y="2249424"/>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12" name="Text 10"/>
          <p:cNvSpPr/>
          <p:nvPr/>
        </p:nvSpPr>
        <p:spPr>
          <a:xfrm>
            <a:off x="6492240" y="2249424"/>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Dedicated Python worker process, isolated on its own VPS</a:t>
            </a:r>
            <a:endParaRPr lang="en-US" sz="1050" dirty="0"/>
          </a:p>
        </p:txBody>
      </p:sp>
      <p:sp>
        <p:nvSpPr>
          <p:cNvPr id="13" name="Text 11"/>
          <p:cNvSpPr/>
          <p:nvPr/>
        </p:nvSpPr>
        <p:spPr>
          <a:xfrm>
            <a:off x="640080" y="2779776"/>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Terminal hosting</a:t>
            </a:r>
            <a:endParaRPr lang="en-US" sz="1000" dirty="0"/>
          </a:p>
        </p:txBody>
      </p:sp>
      <p:sp>
        <p:nvSpPr>
          <p:cNvPr id="14" name="Shape 12"/>
          <p:cNvSpPr/>
          <p:nvPr/>
        </p:nvSpPr>
        <p:spPr>
          <a:xfrm>
            <a:off x="640080" y="3017520"/>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15" name="Text 13"/>
          <p:cNvSpPr/>
          <p:nvPr/>
        </p:nvSpPr>
        <p:spPr>
          <a:xfrm>
            <a:off x="822960" y="3017520"/>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15 terminals, 1 shared Windows box</a:t>
            </a:r>
            <a:endParaRPr lang="en-US" sz="1050" dirty="0"/>
          </a:p>
        </p:txBody>
      </p:sp>
      <p:sp>
        <p:nvSpPr>
          <p:cNvPr id="16" name="Shape 14"/>
          <p:cNvSpPr/>
          <p:nvPr/>
        </p:nvSpPr>
        <p:spPr>
          <a:xfrm>
            <a:off x="6309360" y="3017520"/>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17" name="Text 15"/>
          <p:cNvSpPr/>
          <p:nvPr/>
        </p:nvSpPr>
        <p:spPr>
          <a:xfrm>
            <a:off x="6492240" y="3017520"/>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Terminals dedicated to Part 06 on a separate Contabo VPS</a:t>
            </a:r>
            <a:endParaRPr lang="en-US" sz="1050" dirty="0"/>
          </a:p>
        </p:txBody>
      </p:sp>
      <p:sp>
        <p:nvSpPr>
          <p:cNvPr id="18" name="Text 16"/>
          <p:cNvSpPr/>
          <p:nvPr/>
        </p:nvSpPr>
        <p:spPr>
          <a:xfrm>
            <a:off x="640080" y="3547872"/>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Live tick transport</a:t>
            </a:r>
            <a:endParaRPr lang="en-US" sz="1000" dirty="0"/>
          </a:p>
        </p:txBody>
      </p:sp>
      <p:sp>
        <p:nvSpPr>
          <p:cNvPr id="19" name="Shape 17"/>
          <p:cNvSpPr/>
          <p:nvPr/>
        </p:nvSpPr>
        <p:spPr>
          <a:xfrm>
            <a:off x="640080" y="3785616"/>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20" name="Text 18"/>
          <p:cNvSpPr/>
          <p:nvPr/>
        </p:nvSpPr>
        <p:spPr>
          <a:xfrm>
            <a:off x="822960" y="3785616"/>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Flask polls MT5 in-process every 0.25s</a:t>
            </a:r>
            <a:endParaRPr lang="en-US" sz="1050" dirty="0"/>
          </a:p>
        </p:txBody>
      </p:sp>
      <p:sp>
        <p:nvSpPr>
          <p:cNvPr id="21" name="Shape 19"/>
          <p:cNvSpPr/>
          <p:nvPr/>
        </p:nvSpPr>
        <p:spPr>
          <a:xfrm>
            <a:off x="6309360" y="3785616"/>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22" name="Text 20"/>
          <p:cNvSpPr/>
          <p:nvPr/>
        </p:nvSpPr>
        <p:spPr>
          <a:xfrm>
            <a:off x="6492240" y="3785616"/>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Worker publishes to Redis Pub/Sub; NestJS + Socket.IO fan out</a:t>
            </a:r>
            <a:endParaRPr lang="en-US" sz="1050" dirty="0"/>
          </a:p>
        </p:txBody>
      </p:sp>
      <p:sp>
        <p:nvSpPr>
          <p:cNvPr id="23" name="Text 21"/>
          <p:cNvSpPr/>
          <p:nvPr/>
        </p:nvSpPr>
        <p:spPr>
          <a:xfrm>
            <a:off x="640080" y="4315968"/>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Isolation from EA pipeline</a:t>
            </a:r>
            <a:endParaRPr lang="en-US" sz="1000" dirty="0"/>
          </a:p>
        </p:txBody>
      </p:sp>
      <p:sp>
        <p:nvSpPr>
          <p:cNvPr id="24" name="Shape 22"/>
          <p:cNvSpPr/>
          <p:nvPr/>
        </p:nvSpPr>
        <p:spPr>
          <a:xfrm>
            <a:off x="640080" y="4553712"/>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25" name="Text 23"/>
          <p:cNvSpPr/>
          <p:nvPr/>
        </p:nvSpPr>
        <p:spPr>
          <a:xfrm>
            <a:off x="822960" y="4553712"/>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N/A — Part 06 never touched indicators</a:t>
            </a:r>
            <a:endParaRPr lang="en-US" sz="1050" dirty="0"/>
          </a:p>
        </p:txBody>
      </p:sp>
      <p:sp>
        <p:nvSpPr>
          <p:cNvPr id="26" name="Shape 24"/>
          <p:cNvSpPr/>
          <p:nvPr/>
        </p:nvSpPr>
        <p:spPr>
          <a:xfrm>
            <a:off x="6309360" y="4553712"/>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27" name="Text 25"/>
          <p:cNvSpPr/>
          <p:nvPr/>
        </p:nvSpPr>
        <p:spPr>
          <a:xfrm>
            <a:off x="6492240" y="4553712"/>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Physically separate VPS; EA and worker never share a machine</a:t>
            </a:r>
            <a:endParaRPr lang="en-US" sz="1050" dirty="0"/>
          </a:p>
        </p:txBody>
      </p:sp>
      <p:sp>
        <p:nvSpPr>
          <p:cNvPr id="28" name="Text 26"/>
          <p:cNvSpPr/>
          <p:nvPr/>
        </p:nvSpPr>
        <p:spPr>
          <a:xfrm>
            <a:off x="640080" y="5084064"/>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Hosting</a:t>
            </a:r>
            <a:endParaRPr lang="en-US" sz="1000" dirty="0"/>
          </a:p>
        </p:txBody>
      </p:sp>
      <p:sp>
        <p:nvSpPr>
          <p:cNvPr id="29" name="Shape 27"/>
          <p:cNvSpPr/>
          <p:nvPr/>
        </p:nvSpPr>
        <p:spPr>
          <a:xfrm>
            <a:off x="640080" y="5321808"/>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30" name="Text 28"/>
          <p:cNvSpPr/>
          <p:nvPr/>
        </p:nvSpPr>
        <p:spPr>
          <a:xfrm>
            <a:off x="822960" y="5321808"/>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Everything pinned to one Windows box</a:t>
            </a:r>
            <a:endParaRPr lang="en-US" sz="1050" dirty="0"/>
          </a:p>
        </p:txBody>
      </p:sp>
      <p:sp>
        <p:nvSpPr>
          <p:cNvPr id="31" name="Shape 29"/>
          <p:cNvSpPr/>
          <p:nvPr/>
        </p:nvSpPr>
        <p:spPr>
          <a:xfrm>
            <a:off x="6309360" y="5321808"/>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32" name="Text 30"/>
          <p:cNvSpPr/>
          <p:nvPr/>
        </p:nvSpPr>
        <p:spPr>
          <a:xfrm>
            <a:off x="6492240" y="5321808"/>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2 VPS (EA + worker) + Railway (Gateway + Redis)</a:t>
            </a:r>
            <a:endParaRPr lang="en-US" sz="1050" dirty="0"/>
          </a:p>
        </p:txBody>
      </p:sp>
      <p:sp>
        <p:nvSpPr>
          <p:cNvPr id="33" name="Text 31"/>
          <p:cNvSpPr/>
          <p:nvPr/>
        </p:nvSpPr>
        <p:spPr>
          <a:xfrm>
            <a:off x="640080" y="5852160"/>
            <a:ext cx="11018520" cy="18288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External API contract</a:t>
            </a:r>
            <a:endParaRPr lang="en-US" sz="1000" dirty="0"/>
          </a:p>
        </p:txBody>
      </p:sp>
      <p:sp>
        <p:nvSpPr>
          <p:cNvPr id="34" name="Shape 32"/>
          <p:cNvSpPr/>
          <p:nvPr/>
        </p:nvSpPr>
        <p:spPr>
          <a:xfrm>
            <a:off x="640080" y="6089904"/>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35" name="Text 33"/>
          <p:cNvSpPr/>
          <p:nvPr/>
        </p:nvSpPr>
        <p:spPr>
          <a:xfrm>
            <a:off x="822960" y="6089904"/>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REST + Socket.IO (Part 07 / Browser)</a:t>
            </a:r>
            <a:endParaRPr lang="en-US" sz="1050" dirty="0"/>
          </a:p>
        </p:txBody>
      </p:sp>
      <p:sp>
        <p:nvSpPr>
          <p:cNvPr id="36" name="Shape 34"/>
          <p:cNvSpPr/>
          <p:nvPr/>
        </p:nvSpPr>
        <p:spPr>
          <a:xfrm>
            <a:off x="6309360" y="6089904"/>
            <a:ext cx="5349240" cy="493776"/>
          </a:xfrm>
          <a:prstGeom prst="roundRect">
            <a:avLst>
              <a:gd name="adj" fmla="val 11111"/>
            </a:avLst>
          </a:prstGeom>
          <a:solidFill>
            <a:srgbClr val="FFFFFF"/>
          </a:solidFill>
          <a:ln w="12700">
            <a:solidFill>
              <a:srgbClr val="DCE9EE"/>
            </a:solidFill>
            <a:prstDash val="solid"/>
          </a:ln>
          <a:effectLst>
            <a:outerShdw sx="100000" sy="100000" kx="0" ky="0" algn="bl" rotWithShape="0" blurRad="101600" dist="38100" dir="5400000">
              <a:srgbClr val="0B2A4A">
                <a:alpha val="10000"/>
              </a:srgbClr>
            </a:outerShdw>
          </a:effectLst>
        </p:spPr>
      </p:sp>
      <p:sp>
        <p:nvSpPr>
          <p:cNvPr id="37" name="Text 35"/>
          <p:cNvSpPr/>
          <p:nvPr/>
        </p:nvSpPr>
        <p:spPr>
          <a:xfrm>
            <a:off x="6492240" y="6089904"/>
            <a:ext cx="4983480" cy="493776"/>
          </a:xfrm>
          <a:prstGeom prst="rect">
            <a:avLst/>
          </a:prstGeom>
          <a:noFill/>
          <a:ln/>
        </p:spPr>
        <p:txBody>
          <a:bodyPr wrap="square" lIns="0" tIns="0" rIns="0" bIns="0" rtlCol="0" anchor="ctr"/>
          <a:lstStyle/>
          <a:p>
            <a:pPr indent="0" marL="0">
              <a:buNone/>
            </a:pPr>
            <a:r>
              <a:rPr lang="en-US" sz="1050" dirty="0">
                <a:solidFill>
                  <a:srgbClr val="17293D"/>
                </a:solidFill>
                <a:latin typeface="Calibri" pitchFamily="34" charset="0"/>
                <a:ea typeface="Calibri" pitchFamily="34" charset="-122"/>
                <a:cs typeface="Calibri" pitchFamily="34" charset="-120"/>
              </a:rPr>
              <a:t>Unchanged — same REST + Socket.IO contract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06 v3: Before vs After (Dedicated Worker VPS)</dc:title>
  <dc:subject>PptxGenJS Presentation</dc:subject>
  <dc:creator>Trading Alerts SaaS</dc:creator>
  <cp:lastModifiedBy>Trading Alerts SaaS</cp:lastModifiedBy>
  <cp:revision>1</cp:revision>
  <dcterms:created xsi:type="dcterms:W3CDTF">2026-07-03T10:56:33Z</dcterms:created>
  <dcterms:modified xsi:type="dcterms:W3CDTF">2026-07-03T10:56:33Z</dcterms:modified>
</cp:coreProperties>
</file>